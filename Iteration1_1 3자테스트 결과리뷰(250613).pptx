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</p:sldMasterIdLst>
  <p:notesMasterIdLst>
    <p:notesMasterId r:id="rId10"/>
  </p:notesMasterIdLst>
  <p:sldIdLst>
    <p:sldId id="289" r:id="rId3"/>
    <p:sldId id="325" r:id="rId4"/>
    <p:sldId id="324" r:id="rId5"/>
    <p:sldId id="319" r:id="rId6"/>
    <p:sldId id="322" r:id="rId7"/>
    <p:sldId id="326" r:id="rId8"/>
    <p:sldId id="327" r:id="rId9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2421" autoAdjust="0"/>
  </p:normalViewPr>
  <p:slideViewPr>
    <p:cSldViewPr snapToGrid="0">
      <p:cViewPr varScale="1">
        <p:scale>
          <a:sx n="104" d="100"/>
          <a:sy n="104" d="100"/>
        </p:scale>
        <p:origin x="7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F5DBC-2D43-4714-A011-1B997A865431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2C630-A325-4356-BDAD-28F4716C49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78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B41CC7-FE31-4B6D-A108-F4AA61656A6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904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990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956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845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521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767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3407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83985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97178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15479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한쪽 모서리 20">
            <a:extLst>
              <a:ext uri="{FF2B5EF4-FFF2-40B4-BE49-F238E27FC236}">
                <a16:creationId xmlns:a16="http://schemas.microsoft.com/office/drawing/2014/main" id="{ECF79BE5-BD41-D2A8-271E-758B9CCD8DAE}"/>
              </a:ext>
            </a:extLst>
          </p:cNvPr>
          <p:cNvSpPr/>
          <p:nvPr userDrawn="1"/>
        </p:nvSpPr>
        <p:spPr>
          <a:xfrm flipV="1">
            <a:off x="0" y="0"/>
            <a:ext cx="12192000" cy="584200"/>
          </a:xfrm>
          <a:prstGeom prst="round1Rect">
            <a:avLst>
              <a:gd name="adj" fmla="val 0"/>
            </a:avLst>
          </a:prstGeom>
          <a:solidFill>
            <a:srgbClr val="0034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800" noProof="0" dirty="0">
              <a:solidFill>
                <a:schemeClr val="lt1"/>
              </a:solidFill>
            </a:endParaRPr>
          </a:p>
        </p:txBody>
      </p:sp>
      <p:sp>
        <p:nvSpPr>
          <p:cNvPr id="4" name="Rectangle 59">
            <a:extLst>
              <a:ext uri="{FF2B5EF4-FFF2-40B4-BE49-F238E27FC236}">
                <a16:creationId xmlns:a16="http://schemas.microsoft.com/office/drawing/2014/main" id="{77B1A52D-67D2-512A-F1CD-8B280133AD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31880" y="6587714"/>
            <a:ext cx="12824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fld id="{B9BD96D4-FBDC-4909-BFD7-96760582A1EC}" type="slidenum">
              <a:rPr kumimoji="1" lang="en-US" altLang="ko-KR" sz="800" smtClean="0">
                <a:ln>
                  <a:solidFill>
                    <a:srgbClr val="00609F">
                      <a:alpha val="0"/>
                    </a:srgbClr>
                  </a:solidFill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ctr"/>
              <a:t>‹#›</a:t>
            </a:fld>
            <a:endParaRPr kumimoji="1" lang="en-US" altLang="ko-KR" sz="800" dirty="0">
              <a:ln>
                <a:solidFill>
                  <a:srgbClr val="00609F">
                    <a:alpha val="0"/>
                  </a:srgbClr>
                </a:solidFill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9115F56-5BC3-861C-344B-286546EA85EA}"/>
              </a:ext>
            </a:extLst>
          </p:cNvPr>
          <p:cNvGrpSpPr/>
          <p:nvPr userDrawn="1"/>
        </p:nvGrpSpPr>
        <p:grpSpPr>
          <a:xfrm>
            <a:off x="468299" y="6571423"/>
            <a:ext cx="3048858" cy="155693"/>
            <a:chOff x="299815" y="6545448"/>
            <a:chExt cx="2477197" cy="155693"/>
          </a:xfrm>
        </p:grpSpPr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1A4676B3-4BA9-E359-B49F-A03AFC7065DA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323489" y="6585448"/>
              <a:ext cx="1453523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defTabSz="95747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| </a:t>
              </a:r>
              <a:r>
                <a:rPr kumimoji="1" lang="ko-KR" altLang="en-US" sz="700" dirty="0" smtClean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인천국제공항</a:t>
              </a:r>
              <a:r>
                <a:rPr kumimoji="1" lang="ko-KR" altLang="en-US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　통합정보시스템 고도화 구축 사업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D4A54F2-3B65-0FFC-4B3D-42D54653A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299815" y="6545448"/>
              <a:ext cx="955164" cy="155693"/>
            </a:xfrm>
            <a:prstGeom prst="rect">
              <a:avLst/>
            </a:prstGeom>
          </p:spPr>
        </p:pic>
      </p:grp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685" y="6511501"/>
            <a:ext cx="1450873" cy="242937"/>
          </a:xfrm>
          <a:prstGeom prst="rect">
            <a:avLst/>
          </a:prstGeom>
        </p:spPr>
      </p:pic>
      <p:grpSp>
        <p:nvGrpSpPr>
          <p:cNvPr id="2" name="그룹 1"/>
          <p:cNvGrpSpPr/>
          <p:nvPr userDrawn="1"/>
        </p:nvGrpSpPr>
        <p:grpSpPr>
          <a:xfrm>
            <a:off x="10499790" y="77413"/>
            <a:ext cx="1342769" cy="443379"/>
            <a:chOff x="10499790" y="77413"/>
            <a:chExt cx="1342769" cy="443379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34A100D-B537-B83E-0F2C-531635203217}"/>
                </a:ext>
              </a:extLst>
            </p:cNvPr>
            <p:cNvGrpSpPr/>
            <p:nvPr userDrawn="1"/>
          </p:nvGrpSpPr>
          <p:grpSpPr>
            <a:xfrm>
              <a:off x="10499790" y="77413"/>
              <a:ext cx="1342769" cy="443379"/>
              <a:chOff x="8110620" y="0"/>
              <a:chExt cx="1342769" cy="443379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32C599-D17E-32B6-1EE9-346065250115}"/>
                  </a:ext>
                </a:extLst>
              </p:cNvPr>
              <p:cNvSpPr txBox="1"/>
              <p:nvPr/>
            </p:nvSpPr>
            <p:spPr>
              <a:xfrm>
                <a:off x="8110620" y="270441"/>
                <a:ext cx="1264770" cy="1538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>
                <a:defPPr>
                  <a:defRPr lang="ko-KR"/>
                </a:defPPr>
                <a:lvl1pPr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1100" spc="-2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marR="0" lvl="0" indent="0" algn="r" defTabSz="9141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40" normalizeH="0" baseline="0" noProof="0" dirty="0" smtClean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3</a:t>
                </a:r>
                <a:r>
                  <a:rPr kumimoji="0" lang="ko-KR" altLang="en-US" sz="1000" b="0" i="0" u="none" strike="noStrike" kern="1200" cap="none" spc="-40" normalizeH="0" baseline="0" noProof="0" dirty="0" smtClean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자 </a:t>
                </a:r>
                <a:r>
                  <a:rPr kumimoji="0" lang="ko-KR" altLang="en-US" sz="1000" b="0" i="0" u="none" strike="noStrike" kern="1200" cap="none" spc="-40" normalizeH="0" baseline="0" noProof="0" dirty="0" err="1" smtClean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단위테스트</a:t>
                </a:r>
                <a:r>
                  <a:rPr kumimoji="0" lang="ko-KR" altLang="en-US" sz="1000" b="0" i="0" u="none" strike="noStrike" kern="1200" cap="none" spc="-40" normalizeH="0" baseline="0" noProof="0" dirty="0" smtClean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 결과 리뷰 </a:t>
                </a:r>
                <a:endParaRPr kumimoji="0" lang="ko-KR" altLang="en-US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endParaRPr>
              </a:p>
            </p:txBody>
          </p:sp>
          <p:cxnSp>
            <p:nvCxnSpPr>
              <p:cNvPr id="19" name="직선 연결선 109">
                <a:extLst>
                  <a:ext uri="{FF2B5EF4-FFF2-40B4-BE49-F238E27FC236}">
                    <a16:creationId xmlns:a16="http://schemas.microsoft.com/office/drawing/2014/main" id="{056C6A96-585D-F666-8E00-9B0A66536827}"/>
                  </a:ext>
                </a:extLst>
              </p:cNvPr>
              <p:cNvCxnSpPr/>
              <p:nvPr/>
            </p:nvCxnSpPr>
            <p:spPr>
              <a:xfrm>
                <a:off x="9453389" y="0"/>
                <a:ext cx="0" cy="443379"/>
              </a:xfrm>
              <a:prstGeom prst="line">
                <a:avLst/>
              </a:prstGeom>
              <a:ln w="9525" cap="flat">
                <a:solidFill>
                  <a:srgbClr val="9AA3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AC935BD-F940-7942-B750-837F8997D518}"/>
                </a:ext>
              </a:extLst>
            </p:cNvPr>
            <p:cNvSpPr/>
            <p:nvPr userDrawn="1"/>
          </p:nvSpPr>
          <p:spPr>
            <a:xfrm>
              <a:off x="116410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9B34389-9A8F-1649-6284-ACFAD5A8DA15}"/>
                </a:ext>
              </a:extLst>
            </p:cNvPr>
            <p:cNvSpPr/>
            <p:nvPr userDrawn="1"/>
          </p:nvSpPr>
          <p:spPr>
            <a:xfrm>
              <a:off x="114262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F3E9267-D3B0-F322-8BDD-60A1AFD00E47}"/>
                </a:ext>
              </a:extLst>
            </p:cNvPr>
            <p:cNvSpPr/>
            <p:nvPr userDrawn="1"/>
          </p:nvSpPr>
          <p:spPr>
            <a:xfrm>
              <a:off x="115336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402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20">
          <p15:clr>
            <a:srgbClr val="F26B43"/>
          </p15:clr>
        </p15:guide>
        <p15:guide id="3" pos="240">
          <p15:clr>
            <a:srgbClr val="F26B43"/>
          </p15:clr>
        </p15:guide>
        <p15:guide id="4" pos="6000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9">
            <a:extLst>
              <a:ext uri="{FF2B5EF4-FFF2-40B4-BE49-F238E27FC236}">
                <a16:creationId xmlns:a16="http://schemas.microsoft.com/office/drawing/2014/main" id="{9F82B906-B480-0852-246F-922BDA4EF5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31880" y="6587714"/>
            <a:ext cx="12824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fld id="{B9BD96D4-FBDC-4909-BFD7-96760582A1EC}" type="slidenum">
              <a:rPr kumimoji="1" lang="en-US" altLang="ko-KR" sz="800" smtClean="0">
                <a:ln>
                  <a:solidFill>
                    <a:srgbClr val="00609F">
                      <a:alpha val="0"/>
                    </a:srgbClr>
                  </a:solidFill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ctr"/>
              <a:t>‹#›</a:t>
            </a:fld>
            <a:endParaRPr kumimoji="1" lang="en-US" altLang="ko-KR" sz="800" dirty="0">
              <a:ln>
                <a:solidFill>
                  <a:srgbClr val="00609F">
                    <a:alpha val="0"/>
                  </a:srgbClr>
                </a:solidFill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FE9D500-9CDC-13D5-156A-5731D9325E66}"/>
              </a:ext>
            </a:extLst>
          </p:cNvPr>
          <p:cNvGrpSpPr/>
          <p:nvPr userDrawn="1"/>
        </p:nvGrpSpPr>
        <p:grpSpPr>
          <a:xfrm>
            <a:off x="468298" y="6571423"/>
            <a:ext cx="2994356" cy="155693"/>
            <a:chOff x="299815" y="6545448"/>
            <a:chExt cx="2432914" cy="155693"/>
          </a:xfrm>
        </p:grpSpPr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3780E697-AC35-EDDF-4E4B-ED4F63A09AFD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323489" y="6585448"/>
              <a:ext cx="1409240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defTabSz="95747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| </a:t>
              </a:r>
              <a:r>
                <a:rPr kumimoji="1" lang="ko-KR" altLang="en-US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인천국제공항 통합정보시스템 고도화 구축 사업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867C7DB-6F2F-8438-8EB6-1EE2223D2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 bwMode="gray">
            <a:xfrm>
              <a:off x="299815" y="6545448"/>
              <a:ext cx="955164" cy="155693"/>
            </a:xfrm>
            <a:prstGeom prst="rect">
              <a:avLst/>
            </a:prstGeom>
          </p:spPr>
        </p:pic>
      </p:grpSp>
      <p:sp>
        <p:nvSpPr>
          <p:cNvPr id="22" name="Line 4"/>
          <p:cNvSpPr>
            <a:spLocks noChangeShapeType="1"/>
          </p:cNvSpPr>
          <p:nvPr userDrawn="1"/>
        </p:nvSpPr>
        <p:spPr bwMode="auto">
          <a:xfrm>
            <a:off x="0" y="571500"/>
            <a:ext cx="1219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endParaRPr lang="ko-KR" altLang="en-US" sz="180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4A100D-B537-B83E-0F2C-531635203217}"/>
              </a:ext>
            </a:extLst>
          </p:cNvPr>
          <p:cNvGrpSpPr/>
          <p:nvPr userDrawn="1"/>
        </p:nvGrpSpPr>
        <p:grpSpPr>
          <a:xfrm>
            <a:off x="10719335" y="1"/>
            <a:ext cx="1153026" cy="443379"/>
            <a:chOff x="8516556" y="0"/>
            <a:chExt cx="936833" cy="44337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A32C599-D17E-32B6-1EE9-346065250115}"/>
                </a:ext>
              </a:extLst>
            </p:cNvPr>
            <p:cNvSpPr txBox="1"/>
            <p:nvPr/>
          </p:nvSpPr>
          <p:spPr>
            <a:xfrm>
              <a:off x="8516556" y="270441"/>
              <a:ext cx="858829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defTabSz="914125" fontAlgn="base" latinLnBrk="0">
                <a:spcBef>
                  <a:spcPct val="0"/>
                </a:spcBef>
                <a:spcAft>
                  <a:spcPts val="200"/>
                </a:spcAft>
                <a:defRPr sz="1100" spc="-2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charset="0"/>
                </a:defRPr>
              </a:lvl1pPr>
            </a:lstStyle>
            <a:p>
              <a:pPr marL="0" marR="0" lvl="0" indent="0" algn="r" defTabSz="9141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40" normalizeH="0" baseline="0" noProof="0" dirty="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제</a:t>
              </a:r>
              <a:r>
                <a:rPr kumimoji="0" lang="en-US" altLang="ko-KR" sz="1000" b="0" i="0" u="none" strike="noStrike" kern="1200" cap="none" spc="-40" normalizeH="0" baseline="0" noProof="0" dirty="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3</a:t>
              </a:r>
              <a:r>
                <a:rPr kumimoji="0" lang="ko-KR" altLang="en-US" sz="1000" b="0" i="0" u="none" strike="noStrike" kern="1200" cap="none" spc="-40" normalizeH="0" baseline="0" noProof="0" dirty="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자 테스트 계획</a:t>
              </a:r>
              <a:r>
                <a:rPr kumimoji="0" lang="en-US" altLang="ko-KR" sz="1000" b="0" i="0" u="none" strike="noStrike" kern="1200" cap="none" spc="-40" normalizeH="0" baseline="0" noProof="0" dirty="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(</a:t>
              </a:r>
              <a:r>
                <a:rPr kumimoji="0" lang="ko-KR" altLang="en-US" sz="1000" b="0" i="0" u="none" strike="noStrike" kern="1200" cap="none" spc="-40" normalizeH="0" baseline="0" noProof="0" dirty="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안</a:t>
              </a:r>
              <a:r>
                <a:rPr kumimoji="0" lang="en-US" altLang="ko-KR" sz="1000" b="0" i="0" u="none" strike="noStrike" kern="1200" cap="none" spc="-40" normalizeH="0" baseline="0" noProof="0" dirty="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)</a:t>
              </a:r>
            </a:p>
          </p:txBody>
        </p:sp>
        <p:cxnSp>
          <p:nvCxnSpPr>
            <p:cNvPr id="30" name="직선 연결선 109">
              <a:extLst>
                <a:ext uri="{FF2B5EF4-FFF2-40B4-BE49-F238E27FC236}">
                  <a16:creationId xmlns:a16="http://schemas.microsoft.com/office/drawing/2014/main" id="{056C6A96-585D-F666-8E00-9B0A66536827}"/>
                </a:ext>
              </a:extLst>
            </p:cNvPr>
            <p:cNvCxnSpPr/>
            <p:nvPr/>
          </p:nvCxnSpPr>
          <p:spPr>
            <a:xfrm>
              <a:off x="9453389" y="0"/>
              <a:ext cx="0" cy="443379"/>
            </a:xfrm>
            <a:prstGeom prst="line">
              <a:avLst/>
            </a:prstGeom>
            <a:ln w="9525" cap="flat">
              <a:solidFill>
                <a:srgbClr val="9AA3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5AC935BD-F940-7942-B750-837F8997D518}"/>
              </a:ext>
            </a:extLst>
          </p:cNvPr>
          <p:cNvSpPr/>
          <p:nvPr userDrawn="1"/>
        </p:nvSpPr>
        <p:spPr>
          <a:xfrm>
            <a:off x="11624348" y="171485"/>
            <a:ext cx="70892" cy="57600"/>
          </a:xfrm>
          <a:prstGeom prst="ellipse">
            <a:avLst/>
          </a:prstGeom>
          <a:solidFill>
            <a:srgbClr val="EEF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9B34389-9A8F-1649-6284-ACFAD5A8DA15}"/>
              </a:ext>
            </a:extLst>
          </p:cNvPr>
          <p:cNvSpPr/>
          <p:nvPr userDrawn="1"/>
        </p:nvSpPr>
        <p:spPr>
          <a:xfrm>
            <a:off x="11359979" y="171485"/>
            <a:ext cx="70892" cy="57600"/>
          </a:xfrm>
          <a:prstGeom prst="ellipse">
            <a:avLst/>
          </a:prstGeom>
          <a:solidFill>
            <a:srgbClr val="D8D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F3E9267-D3B0-F322-8BDD-60A1AFD00E47}"/>
              </a:ext>
            </a:extLst>
          </p:cNvPr>
          <p:cNvSpPr/>
          <p:nvPr userDrawn="1"/>
        </p:nvSpPr>
        <p:spPr>
          <a:xfrm>
            <a:off x="11492164" y="171485"/>
            <a:ext cx="70892" cy="57600"/>
          </a:xfrm>
          <a:prstGeom prst="ellipse">
            <a:avLst/>
          </a:prstGeom>
          <a:solidFill>
            <a:srgbClr val="1774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685" y="6511501"/>
            <a:ext cx="1450873" cy="24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3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40">
          <p15:clr>
            <a:srgbClr val="F26B43"/>
          </p15:clr>
        </p15:guide>
        <p15:guide id="2" pos="6000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572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01AADF5-7B5D-4FC5-24AD-4BFEA5EC92B6}"/>
              </a:ext>
            </a:extLst>
          </p:cNvPr>
          <p:cNvSpPr/>
          <p:nvPr/>
        </p:nvSpPr>
        <p:spPr bwMode="gray">
          <a:xfrm>
            <a:off x="628206" y="1568095"/>
            <a:ext cx="5256584" cy="169277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685800" fontAlgn="base" latinLnBrk="0">
              <a:lnSpc>
                <a:spcPct val="110000"/>
              </a:lnSpc>
              <a:defRPr/>
            </a:pPr>
            <a:r>
              <a:rPr lang="ko-KR" altLang="en-US" sz="28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인천국제공항</a:t>
            </a:r>
          </a:p>
          <a:p>
            <a:pPr defTabSz="685800" fontAlgn="base" latinLnBrk="0">
              <a:lnSpc>
                <a:spcPct val="110000"/>
              </a:lnSpc>
              <a:defRPr/>
            </a:pPr>
            <a:r>
              <a:rPr lang="ko-KR" altLang="en-US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통합정보시스템 고도화</a:t>
            </a:r>
            <a:r>
              <a:rPr lang="en-US" altLang="ko-KR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/>
            </a:r>
            <a:br>
              <a:rPr lang="en-US" altLang="ko-KR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ko-KR" altLang="en-US" sz="3600" spc="-30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구축사업</a:t>
            </a:r>
            <a:endParaRPr lang="en-US" altLang="ko-KR" sz="3600" spc="-30" dirty="0">
              <a:ln>
                <a:solidFill>
                  <a:srgbClr val="9933FF">
                    <a:alpha val="0"/>
                  </a:srgbClr>
                </a:solidFill>
              </a:ln>
              <a:solidFill>
                <a:srgbClr val="4472C4">
                  <a:lumMod val="7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23B5E8-A9CC-1E60-922D-D50CC07BB63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8207" y="707036"/>
            <a:ext cx="1922885" cy="30969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0C92C1E-EAB5-2D3E-D989-AC05435A2A9A}"/>
              </a:ext>
            </a:extLst>
          </p:cNvPr>
          <p:cNvSpPr/>
          <p:nvPr/>
        </p:nvSpPr>
        <p:spPr bwMode="gray">
          <a:xfrm>
            <a:off x="645457" y="3382871"/>
            <a:ext cx="7308097" cy="24622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685800" fontAlgn="base" latinLnBrk="0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ko-KR" sz="1600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</a:t>
            </a:r>
            <a:r>
              <a:rPr lang="ko-KR" altLang="en-US" sz="1600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 </a:t>
            </a:r>
            <a:r>
              <a:rPr lang="ko-KR" altLang="en-US" sz="1600" dirty="0" err="1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단위테스트</a:t>
            </a:r>
            <a:r>
              <a:rPr lang="ko-KR" altLang="en-US" sz="1600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결과 리뷰｜</a:t>
            </a:r>
            <a:r>
              <a:rPr lang="en-US" altLang="ko-KR" sz="1600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2025.06.13(</a:t>
            </a:r>
            <a:r>
              <a:rPr lang="ko-KR" altLang="en-US" sz="1600" dirty="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금</a:t>
            </a:r>
            <a:r>
              <a:rPr lang="en-US" altLang="ko-KR" sz="1600" smtClean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14:00~</a:t>
            </a:r>
            <a:endParaRPr lang="en-US" altLang="ko-KR" sz="1600" dirty="0" smtClean="0">
              <a:ln>
                <a:solidFill>
                  <a:srgbClr val="9933FF">
                    <a:alpha val="0"/>
                  </a:srgbClr>
                </a:solidFill>
              </a:ln>
              <a:solidFill>
                <a:prstClr val="white">
                  <a:lumMod val="50000"/>
                </a:prst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90814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1.</a:t>
            </a: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 smtClean="0">
                <a:solidFill>
                  <a:prstClr val="white"/>
                </a:solidFill>
              </a:rPr>
              <a:t>개요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TextBox 27"/>
          <p:cNvSpPr txBox="1">
            <a:spLocks noChangeArrowheads="1"/>
          </p:cNvSpPr>
          <p:nvPr/>
        </p:nvSpPr>
        <p:spPr bwMode="auto">
          <a:xfrm>
            <a:off x="399351" y="692696"/>
            <a:ext cx="11470595" cy="605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ts val="2000"/>
              </a:lnSpc>
              <a:spcBef>
                <a:spcPct val="30000"/>
              </a:spcBef>
            </a:pP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통합정보시스템 개발완료 된 기능에 대해 </a:t>
            </a:r>
            <a:r>
              <a:rPr lang="en-US" altLang="ko-KR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 단위테스트를 통해 기능 적합성 및 사용자 사용성 측면에서 취약한 부분을 재점검하고 보완하여 개발 품질 수준을 높이고자 함</a:t>
            </a:r>
            <a:endParaRPr lang="ko-KR" altLang="en-US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71360" y="1661045"/>
            <a:ext cx="5242872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en-US" altLang="ko-KR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3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자 관점의 독립적인 테스트를 통한 현재 품질수준을 확인</a:t>
            </a:r>
            <a:endParaRPr kumimoji="1" lang="en-US" altLang="ko-KR" sz="1400" dirty="0" smtClean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ko-KR" altLang="en-US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주요 기능에 대한 취약점을 사전 노출하여 고객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release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전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/>
            </a:r>
            <a:br>
              <a:rPr kumimoji="1" lang="en-US" altLang="ko-KR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</a:br>
            <a:r>
              <a:rPr kumimoji="1" lang="en-US" altLang="ko-KR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신뢰성 있는 품질 수준의 확보 </a:t>
            </a:r>
            <a:endParaRPr kumimoji="1" lang="en-US" altLang="ko-KR" sz="1400" dirty="0" smtClean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471360" y="3295674"/>
            <a:ext cx="496855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기능 확인</a:t>
            </a:r>
            <a:endParaRPr kumimoji="1" lang="en-US" altLang="ko-KR" sz="1400" b="1" dirty="0" smtClean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  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테스트 시나리오 기반한 기능 및 정상 동작 여부 확인</a:t>
            </a: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\</a:t>
            </a:r>
            <a:endParaRPr kumimoji="1" lang="en-US" altLang="ko-KR" sz="1400" dirty="0" smtClean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사용성 검증</a:t>
            </a:r>
            <a:endParaRPr kumimoji="1" lang="en-US" altLang="ko-KR" sz="1400" b="1" dirty="0" smtClean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   실 사용자 관점에서 사용 편의성 및 직관성</a:t>
            </a:r>
            <a:r>
              <a:rPr kumimoji="1"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, </a:t>
            </a:r>
            <a:r>
              <a:rPr kumimoji="1"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사용성 검증</a:t>
            </a:r>
            <a:endParaRPr kumimoji="1" lang="en-US" altLang="ko-KR" sz="1400" dirty="0" smtClean="0"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1360" y="1338511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</a:t>
            </a:r>
            <a:r>
              <a:rPr lang="ko-KR" altLang="en-US" sz="1600" b="1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목적</a:t>
            </a:r>
            <a:endParaRPr lang="en-US" altLang="ko-KR" sz="1600" b="1" dirty="0" smtClean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58938" y="1618379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1360" y="2997101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품질 측면의 검증 사항</a:t>
            </a:r>
            <a:endParaRPr lang="en-US" altLang="ko-KR" sz="1600" b="1" dirty="0" smtClean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558938" y="3276969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85166" y="2997101"/>
            <a:ext cx="316835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테스트 일정 및 조직</a:t>
            </a:r>
            <a:endParaRPr lang="en-US" altLang="ko-KR" sz="1600" b="1" dirty="0" smtClean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6172744" y="3276969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85165" y="3295674"/>
            <a:ext cx="4904887" cy="32437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87313" indent="-87313" latinLnBrk="0">
              <a:lnSpc>
                <a:spcPct val="120000"/>
              </a:lnSpc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일정 </a:t>
            </a:r>
            <a:r>
              <a:rPr lang="en-US" altLang="ko-KR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 6/2 ~ 6/13 (5</a:t>
            </a:r>
            <a:r>
              <a:rPr lang="ko-KR" altLang="en-US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명</a:t>
            </a:r>
            <a:r>
              <a:rPr lang="en-US" altLang="ko-KR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8</a:t>
            </a:r>
            <a:r>
              <a:rPr lang="ko-KR" altLang="en-US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</a:t>
            </a:r>
            <a:r>
              <a:rPr lang="en-US" altLang="ko-KR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.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기능검증 수행 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(6/2 ~ 6/13) 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</a:t>
            </a:r>
            <a:r>
              <a:rPr lang="en-US" altLang="ko-KR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 </a:t>
            </a:r>
            <a:r>
              <a:rPr lang="ko-KR" altLang="en-US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성공률 및 결함 현황</a:t>
            </a:r>
            <a:r>
              <a:rPr lang="en-US" altLang="ko-KR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(6/13, 18:00 </a:t>
            </a:r>
            <a:r>
              <a:rPr lang="ko-KR" altLang="en-US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기준</a:t>
            </a:r>
            <a:r>
              <a:rPr lang="en-US" altLang="ko-KR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.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리뷰 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(6/13)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endParaRPr lang="en-US" altLang="ko-KR" sz="1400" dirty="0" smtClean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.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결과 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follow-up (~6/30)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검증인원</a:t>
            </a:r>
            <a:endParaRPr lang="en-US" altLang="ko-KR" sz="1400" b="1" dirty="0" smtClean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82563" lvl="1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김인호 차장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윤성훈 차장 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아시아나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IDT)</a:t>
            </a:r>
            <a:endParaRPr lang="en-US" altLang="ko-KR" sz="1400" dirty="0" smtClean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95250" lvl="1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- </a:t>
            </a:r>
            <a:r>
              <a:rPr lang="ko-KR" altLang="en-US" sz="1400" dirty="0" err="1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김승무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위원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스마트포트테크놀로지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95250" lvl="1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</a:t>
            </a:r>
            <a:r>
              <a:rPr lang="ko-KR" altLang="en-US" sz="1400" dirty="0" err="1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임홍규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사원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400" dirty="0" err="1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제이케이데이터시스템즈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</a:p>
          <a:p>
            <a:pPr marL="95250" lvl="1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정수현 주임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400" dirty="0" err="1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우리엘소프트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6085166" y="1661045"/>
            <a:ext cx="5491481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총 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12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업무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kumimoji="1"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온라인</a:t>
            </a:r>
            <a:r>
              <a:rPr kumimoji="1"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(</a:t>
            </a:r>
            <a:r>
              <a:rPr kumimoji="1" lang="ko-KR" altLang="en-US" sz="1400" dirty="0" err="1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화면기준</a:t>
            </a:r>
            <a:r>
              <a:rPr kumimoji="1"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), </a:t>
            </a:r>
            <a:r>
              <a:rPr kumimoji="1"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함수</a:t>
            </a:r>
            <a:r>
              <a:rPr kumimoji="1"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/</a:t>
            </a:r>
            <a:r>
              <a:rPr kumimoji="1"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프로시저</a:t>
            </a:r>
            <a:endParaRPr lang="en-US" altLang="ko-KR" sz="1400" dirty="0" smtClean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-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운항계획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자원배정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A-CDM, </a:t>
            </a:r>
            <a:r>
              <a:rPr lang="ko-KR" altLang="en-US" sz="1400" dirty="0" err="1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항공기관제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err="1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공통관리</a:t>
            </a:r>
            <a:endParaRPr lang="en-US" altLang="ko-KR" sz="1400" dirty="0" smtClean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항공보안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공항운영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WES, MES, </a:t>
            </a:r>
            <a:r>
              <a:rPr lang="en-US" altLang="ko-KR" sz="14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PUSH, SLOT</a:t>
            </a:r>
            <a:endParaRPr lang="en-US" altLang="ko-KR" sz="1400" dirty="0" smtClean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85166" y="1338507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테스트 대상</a:t>
            </a:r>
            <a:endParaRPr lang="en-US" altLang="ko-KR" sz="1600" b="1" dirty="0" smtClean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6172744" y="1618375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0929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2.</a:t>
            </a: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 smtClean="0">
                <a:solidFill>
                  <a:prstClr val="white"/>
                </a:solidFill>
              </a:rPr>
              <a:t>테스트 방법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TextBox 27"/>
          <p:cNvSpPr txBox="1">
            <a:spLocks noChangeArrowheads="1"/>
          </p:cNvSpPr>
          <p:nvPr/>
        </p:nvSpPr>
        <p:spPr bwMode="auto">
          <a:xfrm>
            <a:off x="399352" y="692696"/>
            <a:ext cx="10567198" cy="369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모듈별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테스트결과서를 기반으로 테스트 시나리오에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대하여 전수 테스트를 진행함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509" y="1460714"/>
            <a:ext cx="8056436" cy="461033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8787384" y="2889504"/>
            <a:ext cx="1051561" cy="31815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5478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302968" y="754685"/>
            <a:ext cx="93305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■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kumimoji="1" lang="en-US" altLang="ko-KR" sz="1600" kern="0" spc="-3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Segoe UI" panose="020B0502040204020203" pitchFamily="34" charset="0"/>
              </a:rPr>
              <a:t>3</a:t>
            </a:r>
            <a:r>
              <a:rPr kumimoji="1" lang="ko-KR" altLang="en-US" sz="1600" kern="0" spc="-3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Segoe UI" panose="020B0502040204020203" pitchFamily="34" charset="0"/>
              </a:rPr>
              <a:t>자 테스트 수행</a:t>
            </a:r>
            <a:r>
              <a:rPr kumimoji="1" lang="en-US" altLang="ko-KR" sz="1600" kern="0" spc="-3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Segoe UI" panose="020B0502040204020203" pitchFamily="34" charset="0"/>
              </a:rPr>
              <a:t>(6/2~6/13) </a:t>
            </a:r>
          </a:p>
        </p:txBody>
      </p:sp>
      <p:sp>
        <p:nvSpPr>
          <p:cNvPr id="22" name="Text Box 56" descr="엠보싱 작은상자(Gray_Ver)"/>
          <p:cNvSpPr txBox="1">
            <a:spLocks noChangeArrowheads="1"/>
          </p:cNvSpPr>
          <p:nvPr/>
        </p:nvSpPr>
        <p:spPr bwMode="auto">
          <a:xfrm>
            <a:off x="10911686" y="719399"/>
            <a:ext cx="948998" cy="13859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r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2025. 06. 13.</a:t>
            </a:r>
            <a:endParaRPr kumimoji="1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3</a:t>
            </a:r>
            <a:r>
              <a:rPr kumimoji="0" lang="en-US" altLang="ko-KR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 smtClean="0">
                <a:solidFill>
                  <a:prstClr val="white"/>
                </a:solidFill>
              </a:rPr>
              <a:t>테스트 결과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5" name="양쪽 모서리가 둥근 사각형 312">
            <a:extLst>
              <a:ext uri="{FF2B5EF4-FFF2-40B4-BE49-F238E27FC236}">
                <a16:creationId xmlns:a16="http://schemas.microsoft.com/office/drawing/2014/main" id="{16F45F6F-E26D-BC44-A7D0-FB6D18E0655A}"/>
              </a:ext>
            </a:extLst>
          </p:cNvPr>
          <p:cNvSpPr/>
          <p:nvPr/>
        </p:nvSpPr>
        <p:spPr bwMode="auto">
          <a:xfrm rot="10800000" flipV="1">
            <a:off x="288866" y="1206823"/>
            <a:ext cx="11544784" cy="5229344"/>
          </a:xfrm>
          <a:prstGeom prst="round2SameRect">
            <a:avLst>
              <a:gd name="adj1" fmla="val 0"/>
              <a:gd name="adj2" fmla="val 0"/>
            </a:avLst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1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-71" normalizeH="0" baseline="0" noProof="0" dirty="0">
              <a:ln w="1270">
                <a:solidFill>
                  <a:srgbClr val="5B9BD5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489346"/>
            <a:ext cx="1798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1) </a:t>
            </a:r>
            <a:r>
              <a:rPr lang="ko-KR" altLang="en-US" sz="16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결과 집계</a:t>
            </a:r>
            <a:endParaRPr lang="ko-KR" alt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3484" y="1520119"/>
            <a:ext cx="3686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kumimoji="1" lang="en-US" altLang="ko-KR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※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성공률 및 결함 현황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en-US" altLang="ko-KR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6/13, 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18:00 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기준</a:t>
            </a:r>
            <a:r>
              <a:rPr lang="en-US" altLang="ko-KR" sz="14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endParaRPr lang="en-US" altLang="ko-KR" sz="14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27228"/>
              </p:ext>
            </p:extLst>
          </p:nvPr>
        </p:nvGraphicFramePr>
        <p:xfrm>
          <a:off x="302966" y="2020529"/>
          <a:ext cx="11530681" cy="4415640"/>
        </p:xfrm>
        <a:graphic>
          <a:graphicData uri="http://schemas.openxmlformats.org/drawingml/2006/table">
            <a:tbl>
              <a:tblPr/>
              <a:tblGrid>
                <a:gridCol w="948070">
                  <a:extLst>
                    <a:ext uri="{9D8B030D-6E8A-4147-A177-3AD203B41FA5}">
                      <a16:colId xmlns:a16="http://schemas.microsoft.com/office/drawing/2014/main" val="1260463431"/>
                    </a:ext>
                  </a:extLst>
                </a:gridCol>
                <a:gridCol w="1502603">
                  <a:extLst>
                    <a:ext uri="{9D8B030D-6E8A-4147-A177-3AD203B41FA5}">
                      <a16:colId xmlns:a16="http://schemas.microsoft.com/office/drawing/2014/main" val="994001598"/>
                    </a:ext>
                  </a:extLst>
                </a:gridCol>
                <a:gridCol w="751301">
                  <a:extLst>
                    <a:ext uri="{9D8B030D-6E8A-4147-A177-3AD203B41FA5}">
                      <a16:colId xmlns:a16="http://schemas.microsoft.com/office/drawing/2014/main" val="2860788388"/>
                    </a:ext>
                  </a:extLst>
                </a:gridCol>
                <a:gridCol w="751301">
                  <a:extLst>
                    <a:ext uri="{9D8B030D-6E8A-4147-A177-3AD203B41FA5}">
                      <a16:colId xmlns:a16="http://schemas.microsoft.com/office/drawing/2014/main" val="927133824"/>
                    </a:ext>
                  </a:extLst>
                </a:gridCol>
                <a:gridCol w="751301">
                  <a:extLst>
                    <a:ext uri="{9D8B030D-6E8A-4147-A177-3AD203B41FA5}">
                      <a16:colId xmlns:a16="http://schemas.microsoft.com/office/drawing/2014/main" val="3635510222"/>
                    </a:ext>
                  </a:extLst>
                </a:gridCol>
                <a:gridCol w="751301">
                  <a:extLst>
                    <a:ext uri="{9D8B030D-6E8A-4147-A177-3AD203B41FA5}">
                      <a16:colId xmlns:a16="http://schemas.microsoft.com/office/drawing/2014/main" val="3293661779"/>
                    </a:ext>
                  </a:extLst>
                </a:gridCol>
                <a:gridCol w="751301">
                  <a:extLst>
                    <a:ext uri="{9D8B030D-6E8A-4147-A177-3AD203B41FA5}">
                      <a16:colId xmlns:a16="http://schemas.microsoft.com/office/drawing/2014/main" val="1479620187"/>
                    </a:ext>
                  </a:extLst>
                </a:gridCol>
                <a:gridCol w="751301">
                  <a:extLst>
                    <a:ext uri="{9D8B030D-6E8A-4147-A177-3AD203B41FA5}">
                      <a16:colId xmlns:a16="http://schemas.microsoft.com/office/drawing/2014/main" val="1443578432"/>
                    </a:ext>
                  </a:extLst>
                </a:gridCol>
                <a:gridCol w="751301">
                  <a:extLst>
                    <a:ext uri="{9D8B030D-6E8A-4147-A177-3AD203B41FA5}">
                      <a16:colId xmlns:a16="http://schemas.microsoft.com/office/drawing/2014/main" val="1907277886"/>
                    </a:ext>
                  </a:extLst>
                </a:gridCol>
                <a:gridCol w="751301">
                  <a:extLst>
                    <a:ext uri="{9D8B030D-6E8A-4147-A177-3AD203B41FA5}">
                      <a16:colId xmlns:a16="http://schemas.microsoft.com/office/drawing/2014/main" val="2724355628"/>
                    </a:ext>
                  </a:extLst>
                </a:gridCol>
                <a:gridCol w="751301">
                  <a:extLst>
                    <a:ext uri="{9D8B030D-6E8A-4147-A177-3AD203B41FA5}">
                      <a16:colId xmlns:a16="http://schemas.microsoft.com/office/drawing/2014/main" val="3017494246"/>
                    </a:ext>
                  </a:extLst>
                </a:gridCol>
                <a:gridCol w="837164">
                  <a:extLst>
                    <a:ext uri="{9D8B030D-6E8A-4147-A177-3AD203B41FA5}">
                      <a16:colId xmlns:a16="http://schemas.microsoft.com/office/drawing/2014/main" val="4019070494"/>
                    </a:ext>
                  </a:extLst>
                </a:gridCol>
                <a:gridCol w="1481135">
                  <a:extLst>
                    <a:ext uri="{9D8B030D-6E8A-4147-A177-3AD203B41FA5}">
                      <a16:colId xmlns:a16="http://schemas.microsoft.com/office/drawing/2014/main" val="1615492175"/>
                    </a:ext>
                  </a:extLst>
                </a:gridCol>
              </a:tblGrid>
              <a:tr h="294376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업무 구분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현황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 현황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041879"/>
                  </a:ext>
                </a:extLst>
              </a:tr>
              <a:tr h="29437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계획건수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완료건수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진척률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실패건수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성공건수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성공률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결함건수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조치건수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조치율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잔여건수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조치계획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613630"/>
                  </a:ext>
                </a:extLst>
              </a:tr>
              <a:tr h="294376"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FIMS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운항계획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FP)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79.3%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341050"/>
                  </a:ext>
                </a:extLst>
              </a:tr>
              <a:tr h="2943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자원배정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RS)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46.2%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604010"/>
                  </a:ext>
                </a:extLst>
              </a:tr>
              <a:tr h="2943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A-CDM(CM)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58.6%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52.9%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576461"/>
                  </a:ext>
                </a:extLst>
              </a:tr>
              <a:tr h="2943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항공기관제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AC)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62.5%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7572"/>
                  </a:ext>
                </a:extLst>
              </a:tr>
              <a:tr h="2943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공통관리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CA)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97.6%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63.6%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빠른 조치 예정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360437"/>
                  </a:ext>
                </a:extLst>
              </a:tr>
              <a:tr h="294376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AOMS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항공보안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FS)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95.7%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8148817"/>
                  </a:ext>
                </a:extLst>
              </a:tr>
              <a:tr h="2943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공항운영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GO)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84.4%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29.6%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빠른 조치 예정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6118444"/>
                  </a:ext>
                </a:extLst>
              </a:tr>
              <a:tr h="2943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공통관리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CA)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88.6%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28.2%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12.0%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빠른 조치 예정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6486695"/>
                  </a:ext>
                </a:extLst>
              </a:tr>
              <a:tr h="29437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IIS-ES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및</a:t>
                      </a:r>
                      <a:b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모바일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WES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407423"/>
                  </a:ext>
                </a:extLst>
              </a:tr>
              <a:tr h="2943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8.3%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빠른 조치 예정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363951"/>
                  </a:ext>
                </a:extLst>
              </a:tr>
              <a:tr h="29437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상용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S/W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PUSH(PUSH)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981142"/>
                  </a:ext>
                </a:extLst>
              </a:tr>
              <a:tr h="2943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SLOT(SLOT)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11.1%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빠른 조치 예정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88867"/>
                  </a:ext>
                </a:extLst>
              </a:tr>
              <a:tr h="29437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총합계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243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86.5%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49.8%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64.3%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646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4712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302968" y="754685"/>
            <a:ext cx="93305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■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kumimoji="1" lang="en-US" altLang="ko-KR" sz="1600" kern="0" spc="-3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Segoe UI" panose="020B0502040204020203" pitchFamily="34" charset="0"/>
              </a:rPr>
              <a:t>3</a:t>
            </a:r>
            <a:r>
              <a:rPr kumimoji="1" lang="ko-KR" altLang="en-US" sz="1600" kern="0" spc="-3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Segoe UI" panose="020B0502040204020203" pitchFamily="34" charset="0"/>
              </a:rPr>
              <a:t>자 테스트 수행</a:t>
            </a:r>
            <a:r>
              <a:rPr kumimoji="1" lang="en-US" altLang="ko-KR" sz="1600" kern="0" spc="-3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Segoe UI" panose="020B0502040204020203" pitchFamily="34" charset="0"/>
              </a:rPr>
              <a:t>(6/2~6/13)</a:t>
            </a:r>
            <a:endParaRPr kumimoji="1" lang="ko-KR" altLang="en-US" sz="16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Segoe UI" panose="020B0502040204020203" pitchFamily="34" charset="0"/>
            </a:endParaRPr>
          </a:p>
        </p:txBody>
      </p:sp>
      <p:sp>
        <p:nvSpPr>
          <p:cNvPr id="22" name="Text Box 56" descr="엠보싱 작은상자(Gray_Ver)"/>
          <p:cNvSpPr txBox="1">
            <a:spLocks noChangeArrowheads="1"/>
          </p:cNvSpPr>
          <p:nvPr/>
        </p:nvSpPr>
        <p:spPr bwMode="auto">
          <a:xfrm>
            <a:off x="10911686" y="719399"/>
            <a:ext cx="948998" cy="13859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r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2025. 06. 13.</a:t>
            </a:r>
            <a:endParaRPr kumimoji="1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3.</a:t>
            </a:r>
            <a:r>
              <a:rPr lang="ko-KR" altLang="en-US" sz="2000" b="1" dirty="0">
                <a:solidFill>
                  <a:prstClr val="white"/>
                </a:solidFill>
              </a:rPr>
              <a:t> 테스트 결과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5" name="양쪽 모서리가 둥근 사각형 312">
            <a:extLst>
              <a:ext uri="{FF2B5EF4-FFF2-40B4-BE49-F238E27FC236}">
                <a16:creationId xmlns:a16="http://schemas.microsoft.com/office/drawing/2014/main" id="{16F45F6F-E26D-BC44-A7D0-FB6D18E0655A}"/>
              </a:ext>
            </a:extLst>
          </p:cNvPr>
          <p:cNvSpPr/>
          <p:nvPr/>
        </p:nvSpPr>
        <p:spPr bwMode="auto">
          <a:xfrm rot="10800000" flipV="1">
            <a:off x="288866" y="1206823"/>
            <a:ext cx="11544784" cy="5229344"/>
          </a:xfrm>
          <a:prstGeom prst="round2SameRect">
            <a:avLst>
              <a:gd name="adj1" fmla="val 0"/>
              <a:gd name="adj2" fmla="val 0"/>
            </a:avLst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1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-71" normalizeH="0" baseline="0" noProof="0" dirty="0">
              <a:ln w="1270">
                <a:solidFill>
                  <a:srgbClr val="5B9BD5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489346"/>
            <a:ext cx="2576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</a:t>
            </a:r>
            <a:r>
              <a:rPr lang="en-US" altLang="ko-KR" sz="16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600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공통체크리스트 결함 집계</a:t>
            </a:r>
            <a:endParaRPr lang="ko-KR" alt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236786"/>
              </p:ext>
            </p:extLst>
          </p:nvPr>
        </p:nvGraphicFramePr>
        <p:xfrm>
          <a:off x="302964" y="1909916"/>
          <a:ext cx="11557724" cy="4523327"/>
        </p:xfrm>
        <a:graphic>
          <a:graphicData uri="http://schemas.openxmlformats.org/drawingml/2006/table">
            <a:tbl>
              <a:tblPr/>
              <a:tblGrid>
                <a:gridCol w="499057">
                  <a:extLst>
                    <a:ext uri="{9D8B030D-6E8A-4147-A177-3AD203B41FA5}">
                      <a16:colId xmlns:a16="http://schemas.microsoft.com/office/drawing/2014/main" val="1339575887"/>
                    </a:ext>
                  </a:extLst>
                </a:gridCol>
                <a:gridCol w="623821">
                  <a:extLst>
                    <a:ext uri="{9D8B030D-6E8A-4147-A177-3AD203B41FA5}">
                      <a16:colId xmlns:a16="http://schemas.microsoft.com/office/drawing/2014/main" val="3651781985"/>
                    </a:ext>
                  </a:extLst>
                </a:gridCol>
                <a:gridCol w="2449920">
                  <a:extLst>
                    <a:ext uri="{9D8B030D-6E8A-4147-A177-3AD203B41FA5}">
                      <a16:colId xmlns:a16="http://schemas.microsoft.com/office/drawing/2014/main" val="2640935777"/>
                    </a:ext>
                  </a:extLst>
                </a:gridCol>
                <a:gridCol w="657849">
                  <a:extLst>
                    <a:ext uri="{9D8B030D-6E8A-4147-A177-3AD203B41FA5}">
                      <a16:colId xmlns:a16="http://schemas.microsoft.com/office/drawing/2014/main" val="525445046"/>
                    </a:ext>
                  </a:extLst>
                </a:gridCol>
                <a:gridCol w="657849">
                  <a:extLst>
                    <a:ext uri="{9D8B030D-6E8A-4147-A177-3AD203B41FA5}">
                      <a16:colId xmlns:a16="http://schemas.microsoft.com/office/drawing/2014/main" val="4097197981"/>
                    </a:ext>
                  </a:extLst>
                </a:gridCol>
                <a:gridCol w="657849">
                  <a:extLst>
                    <a:ext uri="{9D8B030D-6E8A-4147-A177-3AD203B41FA5}">
                      <a16:colId xmlns:a16="http://schemas.microsoft.com/office/drawing/2014/main" val="2941788708"/>
                    </a:ext>
                  </a:extLst>
                </a:gridCol>
                <a:gridCol w="748587">
                  <a:extLst>
                    <a:ext uri="{9D8B030D-6E8A-4147-A177-3AD203B41FA5}">
                      <a16:colId xmlns:a16="http://schemas.microsoft.com/office/drawing/2014/main" val="826729647"/>
                    </a:ext>
                  </a:extLst>
                </a:gridCol>
                <a:gridCol w="657849">
                  <a:extLst>
                    <a:ext uri="{9D8B030D-6E8A-4147-A177-3AD203B41FA5}">
                      <a16:colId xmlns:a16="http://schemas.microsoft.com/office/drawing/2014/main" val="959538546"/>
                    </a:ext>
                  </a:extLst>
                </a:gridCol>
                <a:gridCol w="657849">
                  <a:extLst>
                    <a:ext uri="{9D8B030D-6E8A-4147-A177-3AD203B41FA5}">
                      <a16:colId xmlns:a16="http://schemas.microsoft.com/office/drawing/2014/main" val="428537411"/>
                    </a:ext>
                  </a:extLst>
                </a:gridCol>
                <a:gridCol w="657849">
                  <a:extLst>
                    <a:ext uri="{9D8B030D-6E8A-4147-A177-3AD203B41FA5}">
                      <a16:colId xmlns:a16="http://schemas.microsoft.com/office/drawing/2014/main" val="1384160038"/>
                    </a:ext>
                  </a:extLst>
                </a:gridCol>
                <a:gridCol w="657849">
                  <a:extLst>
                    <a:ext uri="{9D8B030D-6E8A-4147-A177-3AD203B41FA5}">
                      <a16:colId xmlns:a16="http://schemas.microsoft.com/office/drawing/2014/main" val="3379599505"/>
                    </a:ext>
                  </a:extLst>
                </a:gridCol>
                <a:gridCol w="657849">
                  <a:extLst>
                    <a:ext uri="{9D8B030D-6E8A-4147-A177-3AD203B41FA5}">
                      <a16:colId xmlns:a16="http://schemas.microsoft.com/office/drawing/2014/main" val="2380894197"/>
                    </a:ext>
                  </a:extLst>
                </a:gridCol>
                <a:gridCol w="657849">
                  <a:extLst>
                    <a:ext uri="{9D8B030D-6E8A-4147-A177-3AD203B41FA5}">
                      <a16:colId xmlns:a16="http://schemas.microsoft.com/office/drawing/2014/main" val="492710990"/>
                    </a:ext>
                  </a:extLst>
                </a:gridCol>
                <a:gridCol w="657849">
                  <a:extLst>
                    <a:ext uri="{9D8B030D-6E8A-4147-A177-3AD203B41FA5}">
                      <a16:colId xmlns:a16="http://schemas.microsoft.com/office/drawing/2014/main" val="4080077424"/>
                    </a:ext>
                  </a:extLst>
                </a:gridCol>
                <a:gridCol w="657849">
                  <a:extLst>
                    <a:ext uri="{9D8B030D-6E8A-4147-A177-3AD203B41FA5}">
                      <a16:colId xmlns:a16="http://schemas.microsoft.com/office/drawing/2014/main" val="2392986159"/>
                    </a:ext>
                  </a:extLst>
                </a:gridCol>
              </a:tblGrid>
              <a:tr h="33495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 구분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시험케이스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FP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RS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CM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AC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FIMS</a:t>
                      </a:r>
                    </a:p>
                    <a:p>
                      <a:pPr algn="ctr" rtl="0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FS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GO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AOMS</a:t>
                      </a:r>
                    </a:p>
                    <a:p>
                      <a:pPr algn="ctr" rtl="0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WES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MES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PUSH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SLOT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862108"/>
                  </a:ext>
                </a:extLst>
              </a:tr>
              <a:tr h="25036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표준준수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화면간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UI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는 일관성이 있는가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?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668009"/>
                  </a:ext>
                </a:extLst>
              </a:tr>
              <a:tr h="25036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표준준수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필수입력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항목이 구분되어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있는가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?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881890"/>
                  </a:ext>
                </a:extLst>
              </a:tr>
              <a:tr h="33495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표준준수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화면의 첫 째 필드에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커서가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Set focus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되어 있는가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?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6413991"/>
                  </a:ext>
                </a:extLst>
              </a:tr>
              <a:tr h="33495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표준준수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버튼의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Enable/Disable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처리가 제대로 수행되는가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?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3245472"/>
                  </a:ext>
                </a:extLst>
              </a:tr>
              <a:tr h="25036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표준준수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TAB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은 정상적으로 적용되어 있는가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?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6192" marR="6192" marT="61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881498"/>
                  </a:ext>
                </a:extLst>
              </a:tr>
              <a:tr h="33347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신뢰성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파일 첨부에 텍스트가 입력되지 않도록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alert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메시지를 주는가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?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463700"/>
                  </a:ext>
                </a:extLst>
              </a:tr>
              <a:tr h="45926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사용성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금액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수량 등을 입력하거나 보여줄 때 자릿수를 구분하는 표식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(,)-masking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처리를 했는가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?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5858437"/>
                  </a:ext>
                </a:extLst>
              </a:tr>
              <a:tr h="49791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사용성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날짜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우편번호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전화번호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이메일 등을 입력하거나 보여줄 때 각 양식에 맞는 표식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 - , @)-masking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처리를 했는가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?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684" marR="4684" marT="46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9303485"/>
                  </a:ext>
                </a:extLst>
              </a:tr>
              <a:tr h="5537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사용성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Disable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된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(Read only)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필드의 경우에는 회색 톤의 컬러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공통표준에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따름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로 표시하고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사용자가 직접 입력 불가능 한가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?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7233575"/>
                  </a:ext>
                </a:extLst>
              </a:tr>
              <a:tr h="27846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사용성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에러 메시지는 이해하기 쉽게 작성되었는가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?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572249"/>
                  </a:ext>
                </a:extLst>
              </a:tr>
              <a:tr h="27846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사용성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에러와 에러 메시지의 내용은 일치하는가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?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5602657"/>
                  </a:ext>
                </a:extLst>
              </a:tr>
              <a:tr h="281994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총합계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249" marR="4249" marT="42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15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3409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56" descr="엠보싱 작은상자(Gray_Ver)"/>
          <p:cNvSpPr txBox="1">
            <a:spLocks noChangeArrowheads="1"/>
          </p:cNvSpPr>
          <p:nvPr/>
        </p:nvSpPr>
        <p:spPr bwMode="auto">
          <a:xfrm>
            <a:off x="10911686" y="719399"/>
            <a:ext cx="948998" cy="13859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r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2025. 06. 13.</a:t>
            </a:r>
            <a:endParaRPr kumimoji="1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 smtClean="0">
                <a:solidFill>
                  <a:prstClr val="white"/>
                </a:solidFill>
              </a:rPr>
              <a:t>결함 유형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252927"/>
              </p:ext>
            </p:extLst>
          </p:nvPr>
        </p:nvGraphicFramePr>
        <p:xfrm>
          <a:off x="324464" y="1340678"/>
          <a:ext cx="11437375" cy="4760463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311013">
                  <a:extLst>
                    <a:ext uri="{9D8B030D-6E8A-4147-A177-3AD203B41FA5}">
                      <a16:colId xmlns:a16="http://schemas.microsoft.com/office/drawing/2014/main" val="4234438739"/>
                    </a:ext>
                  </a:extLst>
                </a:gridCol>
                <a:gridCol w="8126362">
                  <a:extLst>
                    <a:ext uri="{9D8B030D-6E8A-4147-A177-3AD203B41FA5}">
                      <a16:colId xmlns:a16="http://schemas.microsoft.com/office/drawing/2014/main" val="2323507257"/>
                    </a:ext>
                  </a:extLst>
                </a:gridCol>
              </a:tblGrid>
              <a:tr h="4070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결함유형</a:t>
                      </a:r>
                      <a:endParaRPr lang="ko-KR" altLang="en-US" sz="1400" b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사례</a:t>
                      </a:r>
                      <a:endParaRPr lang="ko-KR" altLang="en-US" sz="1400" b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793833"/>
                  </a:ext>
                </a:extLst>
              </a:tr>
              <a:tr h="193933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기능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오류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후처리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기능 결함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세션 만료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중복데이터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오류 메시지 출력 후 확인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클릭시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해당행이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삭제되어야 하는데 그대로 남아 있음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닫기버튼이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보이지 않음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엔터키를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쳐도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선택확인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창이 뜨지 않는다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신규입력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저장시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오류가 났는데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일부데이터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입력 됨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삭제를 하였으나 반영 되지 않음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SEARCH 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아이콘이 반응을 하지 않음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엑셀다운로드시 값이 다르게 나옴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프린트를 하고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다시 화면에 돌아와서 다시 조회 하려고 하면 세션이 만료되었다는 메시지가 나옴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432683"/>
                  </a:ext>
                </a:extLst>
              </a:tr>
              <a:tr h="112087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필수항목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오류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/Validation check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상태색상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항목은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필수항목이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아님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FLT#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미입력후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저장시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에러남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필수입력항목 중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범위시작값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범위끝값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사용여부 는 체크하지 않고 있음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Date Range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에 </a:t>
                      </a:r>
                      <a:r>
                        <a:rPr lang="en-US" altLang="ko-KR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LastDate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가 </a:t>
                      </a:r>
                      <a:r>
                        <a:rPr lang="en-US" altLang="ko-KR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FirstDate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보다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앞선경우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체크 안함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</a:t>
                      </a:r>
                      <a:endParaRPr lang="ko-KR" altLang="en-US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60519"/>
                  </a:ext>
                </a:extLst>
              </a:tr>
              <a:tr h="7742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사용성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/UI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 사이즈를 조절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(Ctrl + 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스크롤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 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  숨겨졌던 화면이 화면에 표시됨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 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설정저장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버튼 변경 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: 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저장 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action 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인데 돋보기 모양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225306"/>
                  </a:ext>
                </a:extLst>
              </a:tr>
              <a:tr h="51887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오류메시지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중복 존재  오류 메시지 표출됨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  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그러나 조회화면에서 보여지듯이 해당 데이터는 중복되지 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않은것으로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판단됨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1094043"/>
                  </a:ext>
                </a:extLst>
              </a:tr>
            </a:tbl>
          </a:graphicData>
        </a:graphic>
      </p:graphicFrame>
      <p:sp>
        <p:nvSpPr>
          <p:cNvPr id="13" name="TextBox 27"/>
          <p:cNvSpPr txBox="1">
            <a:spLocks noChangeArrowheads="1"/>
          </p:cNvSpPr>
          <p:nvPr/>
        </p:nvSpPr>
        <p:spPr bwMode="auto">
          <a:xfrm>
            <a:off x="399352" y="692696"/>
            <a:ext cx="10567198" cy="369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기능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오류</a:t>
            </a:r>
            <a:r>
              <a:rPr lang="en-US" altLang="ko-KR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 err="1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체크로직</a:t>
            </a:r>
            <a:r>
              <a:rPr lang="en-US" altLang="ko-KR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사용성</a:t>
            </a:r>
            <a:r>
              <a:rPr lang="en-US" altLang="ko-KR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/UI  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등의 결함 처리</a:t>
            </a:r>
            <a:r>
              <a:rPr lang="en-US" altLang="ko-KR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개선 진행 필요함</a:t>
            </a:r>
            <a:endParaRPr lang="ko-KR" altLang="en-US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24365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56" descr="엠보싱 작은상자(Gray_Ver)"/>
          <p:cNvSpPr txBox="1">
            <a:spLocks noChangeArrowheads="1"/>
          </p:cNvSpPr>
          <p:nvPr/>
        </p:nvSpPr>
        <p:spPr bwMode="auto">
          <a:xfrm>
            <a:off x="10911686" y="719399"/>
            <a:ext cx="948998" cy="13859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r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2025. 06. 13.</a:t>
            </a:r>
            <a:endParaRPr kumimoji="1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noProof="0" dirty="0" smtClean="0">
                <a:solidFill>
                  <a:prstClr val="white"/>
                </a:solidFill>
              </a:rPr>
              <a:t>5</a:t>
            </a:r>
            <a:r>
              <a:rPr kumimoji="0" lang="en-US" altLang="ko-KR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총평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79109"/>
              </p:ext>
            </p:extLst>
          </p:nvPr>
        </p:nvGraphicFramePr>
        <p:xfrm>
          <a:off x="324464" y="1340678"/>
          <a:ext cx="11536219" cy="335701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130459">
                  <a:extLst>
                    <a:ext uri="{9D8B030D-6E8A-4147-A177-3AD203B41FA5}">
                      <a16:colId xmlns:a16="http://schemas.microsoft.com/office/drawing/2014/main" val="4234438739"/>
                    </a:ext>
                  </a:extLst>
                </a:gridCol>
                <a:gridCol w="4782051">
                  <a:extLst>
                    <a:ext uri="{9D8B030D-6E8A-4147-A177-3AD203B41FA5}">
                      <a16:colId xmlns:a16="http://schemas.microsoft.com/office/drawing/2014/main" val="2323507257"/>
                    </a:ext>
                  </a:extLst>
                </a:gridCol>
                <a:gridCol w="3623709">
                  <a:extLst>
                    <a:ext uri="{9D8B030D-6E8A-4147-A177-3AD203B41FA5}">
                      <a16:colId xmlns:a16="http://schemas.microsoft.com/office/drawing/2014/main" val="3191043330"/>
                    </a:ext>
                  </a:extLst>
                </a:gridCol>
              </a:tblGrid>
              <a:tr h="4070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구분</a:t>
                      </a:r>
                      <a:endParaRPr lang="ko-KR" altLang="en-US" sz="1400" b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내용</a:t>
                      </a:r>
                      <a:endParaRPr lang="ko-KR" altLang="en-US" sz="1400" b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참고</a:t>
                      </a:r>
                      <a:endParaRPr lang="ko-KR" altLang="en-US" sz="1400" b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793833"/>
                  </a:ext>
                </a:extLst>
              </a:tr>
              <a:tr h="10839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결함 처리 방법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결함관리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: 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결함관리대장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엑셀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 OR TMS 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등록관리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     (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공사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현업 </a:t>
                      </a:r>
                      <a:r>
                        <a:rPr lang="ko-KR" altLang="en-US" sz="1400" baseline="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테스트시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결함 처리 방법 선택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      → TMS 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등록관리 방법으로 진행 확정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결과 기록은 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PL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단테결과서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기반 공항 테스트 결과 기록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수행사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 테스트와 동일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개발자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/PL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: TMS 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등록관리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 테스트 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: 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결함관리대장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엑셀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endParaRPr lang="ko-KR" altLang="en-US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432683"/>
                  </a:ext>
                </a:extLst>
              </a:tr>
              <a:tr h="933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소감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애로 사항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개선 사항</a:t>
                      </a:r>
                      <a:endParaRPr lang="en-US" altLang="ko-KR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김인호 차장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아시아나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IDT)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김승무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위원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스마트포트테크놀로지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3819825"/>
                  </a:ext>
                </a:extLst>
              </a:tr>
              <a:tr h="933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시사점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 테스트 범위 고려 필요 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: 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프로시저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배치 실효성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의문</a:t>
                      </a:r>
                      <a:endParaRPr lang="en-US" altLang="ko-KR" sz="1400" baseline="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공통체크리스트 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내실화</a:t>
                      </a:r>
                      <a:r>
                        <a:rPr lang="en-US" altLang="ko-KR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</a:t>
                      </a:r>
                      <a:r>
                        <a:rPr lang="ko-KR" altLang="en-US" sz="1400" baseline="0" dirty="0" err="1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간략화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baseline="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필요</a:t>
                      </a:r>
                      <a:endParaRPr lang="ko-KR" altLang="en-US" sz="1400" dirty="0" smtClean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 테스트 범위 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: 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온라인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프로시저</a:t>
                      </a:r>
                      <a:r>
                        <a:rPr lang="en-US" altLang="ko-KR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</a:t>
                      </a:r>
                      <a:r>
                        <a:rPr lang="ko-KR" altLang="en-US" sz="1400" dirty="0" smtClean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배치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0519"/>
                  </a:ext>
                </a:extLst>
              </a:tr>
            </a:tbl>
          </a:graphicData>
        </a:graphic>
      </p:graphicFrame>
      <p:sp>
        <p:nvSpPr>
          <p:cNvPr id="13" name="TextBox 27"/>
          <p:cNvSpPr txBox="1">
            <a:spLocks noChangeArrowheads="1"/>
          </p:cNvSpPr>
          <p:nvPr/>
        </p:nvSpPr>
        <p:spPr bwMode="auto">
          <a:xfrm>
            <a:off x="399352" y="692696"/>
            <a:ext cx="10567198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진행 방법</a:t>
            </a:r>
            <a:r>
              <a:rPr lang="en-US" altLang="ko-KR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 smtClean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시사점에 대한 논의 진행</a:t>
            </a:r>
            <a:endParaRPr lang="ko-KR" altLang="en-US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64874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9190</TotalTime>
  <Words>1132</Words>
  <Application>Microsoft Office PowerPoint</Application>
  <PresentationFormat>와이드스크린</PresentationFormat>
  <Paragraphs>413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17" baseType="lpstr">
      <vt:lpstr>KoPub돋움체 Bold</vt:lpstr>
      <vt:lpstr>KoPub돋움체 Medium</vt:lpstr>
      <vt:lpstr>굴림</vt:lpstr>
      <vt:lpstr>맑은 고딕</vt:lpstr>
      <vt:lpstr>Arial</vt:lpstr>
      <vt:lpstr>Calibri</vt:lpstr>
      <vt:lpstr>Segoe UI</vt:lpstr>
      <vt:lpstr>Wingdings</vt:lpstr>
      <vt:lpstr>1_Office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IDT-D-0001</dc:creator>
  <cp:lastModifiedBy>장홍석</cp:lastModifiedBy>
  <cp:revision>749</cp:revision>
  <cp:lastPrinted>2025-06-13T01:30:37Z</cp:lastPrinted>
  <dcterms:created xsi:type="dcterms:W3CDTF">2024-06-13T01:42:00Z</dcterms:created>
  <dcterms:modified xsi:type="dcterms:W3CDTF">2025-06-16T08:57:57Z</dcterms:modified>
</cp:coreProperties>
</file>