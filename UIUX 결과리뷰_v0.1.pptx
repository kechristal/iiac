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7"/>
  </p:notesMasterIdLst>
  <p:sldIdLst>
    <p:sldId id="289" r:id="rId3"/>
    <p:sldId id="257" r:id="rId4"/>
    <p:sldId id="325" r:id="rId5"/>
    <p:sldId id="328" r:id="rId6"/>
    <p:sldId id="319" r:id="rId7"/>
    <p:sldId id="258" r:id="rId8"/>
    <p:sldId id="329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83" userDrawn="1">
          <p15:clr>
            <a:srgbClr val="A4A3A4"/>
          </p15:clr>
        </p15:guide>
        <p15:guide id="2" pos="1504" userDrawn="1">
          <p15:clr>
            <a:srgbClr val="A4A3A4"/>
          </p15:clr>
        </p15:guide>
        <p15:guide id="3" pos="7174" userDrawn="1">
          <p15:clr>
            <a:srgbClr val="A4A3A4"/>
          </p15:clr>
        </p15:guide>
        <p15:guide id="4" pos="6584" userDrawn="1">
          <p15:clr>
            <a:srgbClr val="A4A3A4"/>
          </p15:clr>
        </p15:guide>
        <p15:guide id="5" orient="horz" pos="1344" userDrawn="1">
          <p15:clr>
            <a:srgbClr val="A4A3A4"/>
          </p15:clr>
        </p15:guide>
        <p15:guide id="6" orient="horz" pos="1629" userDrawn="1">
          <p15:clr>
            <a:srgbClr val="A4A3A4"/>
          </p15:clr>
        </p15:guide>
        <p15:guide id="7" orient="horz" pos="3566" userDrawn="1">
          <p15:clr>
            <a:srgbClr val="A4A3A4"/>
          </p15:clr>
        </p15:guide>
        <p15:guide id="8" orient="horz" pos="595" userDrawn="1">
          <p15:clr>
            <a:srgbClr val="A4A3A4"/>
          </p15:clr>
        </p15:guide>
        <p15:guide id="9" orient="horz" pos="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421" autoAdjust="0"/>
  </p:normalViewPr>
  <p:slideViewPr>
    <p:cSldViewPr snapToGrid="0">
      <p:cViewPr varScale="1">
        <p:scale>
          <a:sx n="103" d="100"/>
          <a:sy n="103" d="100"/>
        </p:scale>
        <p:origin x="138" y="132"/>
      </p:cViewPr>
      <p:guideLst>
        <p:guide pos="483"/>
        <p:guide pos="1504"/>
        <p:guide pos="7174"/>
        <p:guide pos="6584"/>
        <p:guide orient="horz" pos="1344"/>
        <p:guide orient="horz" pos="1629"/>
        <p:guide orient="horz" pos="3566"/>
        <p:guide orient="horz" pos="595"/>
        <p:guide orient="horz" pos="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1.%20file%20trans\&#44208;&#54632;&#48516;&#49437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pPr>
            <a:r>
              <a:rPr lang="ko-KR" altLang="en-US" sz="1300" b="0" i="0" u="none" strike="noStrike" dirty="0" err="1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업무모듈별</a:t>
            </a:r>
            <a:r>
              <a:rPr lang="ko-KR" altLang="en-US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결함</a:t>
            </a:r>
            <a:r>
              <a:rPr lang="en-US" altLang="ko-KR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기각 현황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rgbClr val="2D52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공항운영(GO)</c:v>
                </c:pt>
                <c:pt idx="1">
                  <c:v>예측관리(PM)</c:v>
                </c:pt>
                <c:pt idx="2">
                  <c:v>공통관리(CA)</c:v>
                </c:pt>
                <c:pt idx="3">
                  <c:v>항공보안(FS)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234</c:v>
                </c:pt>
                <c:pt idx="1">
                  <c:v>173</c:v>
                </c:pt>
                <c:pt idx="2">
                  <c:v>128</c:v>
                </c:pt>
                <c:pt idx="3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16-480D-AB33-A17D70CDD3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기각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/>
                      <a:t>63</a:t>
                    </a:r>
                    <a:endParaRPr lang="en-US" altLang="ko-KR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FFD-4F20-A545-AED9F220027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공항운영(GO)</c:v>
                </c:pt>
                <c:pt idx="1">
                  <c:v>예측관리(PM)</c:v>
                </c:pt>
                <c:pt idx="2">
                  <c:v>공통관리(CA)</c:v>
                </c:pt>
                <c:pt idx="3">
                  <c:v>항공보안(FS)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65</c:v>
                </c:pt>
                <c:pt idx="2">
                  <c:v>85</c:v>
                </c:pt>
                <c:pt idx="3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16-480D-AB33-A17D70CDD3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분석요약!$K$2:$K$16</c:f>
              <c:strCache>
                <c:ptCount val="15"/>
                <c:pt idx="0">
                  <c:v>조회 조건/검색 결과 불일치</c:v>
                </c:pt>
                <c:pt idx="1">
                  <c:v>다운로드/출력</c:v>
                </c:pt>
                <c:pt idx="2">
                  <c:v>날짜/기간 처리</c:v>
                </c:pt>
                <c:pt idx="3">
                  <c:v>데이터 정합성/매핑</c:v>
                </c:pt>
                <c:pt idx="4">
                  <c:v>개선요청/정책반영</c:v>
                </c:pt>
                <c:pt idx="5">
                  <c:v>상태값/버튼 동작</c:v>
                </c:pt>
                <c:pt idx="6">
                  <c:v>기타</c:v>
                </c:pt>
                <c:pt idx="7">
                  <c:v>시각화/그래프 표시</c:v>
                </c:pt>
                <c:pt idx="8">
                  <c:v>입력 검증/유효성</c:v>
                </c:pt>
                <c:pt idx="9">
                  <c:v>화면 레이아웃/정렬/가독성</c:v>
                </c:pt>
                <c:pt idx="10">
                  <c:v>메시지/가이드 부족</c:v>
                </c:pt>
                <c:pt idx="11">
                  <c:v>용어/라벨/문구</c:v>
                </c:pt>
                <c:pt idx="12">
                  <c:v>예외처리/오류 대응</c:v>
                </c:pt>
                <c:pt idx="13">
                  <c:v>권한/접근/노출</c:v>
                </c:pt>
                <c:pt idx="14">
                  <c:v>문서/요건 불일치</c:v>
                </c:pt>
              </c:strCache>
            </c:strRef>
          </c:cat>
          <c:val>
            <c:numRef>
              <c:f>분석요약!$L$2:$L$16</c:f>
              <c:numCache>
                <c:formatCode>General</c:formatCode>
                <c:ptCount val="15"/>
                <c:pt idx="0">
                  <c:v>110</c:v>
                </c:pt>
                <c:pt idx="1">
                  <c:v>97</c:v>
                </c:pt>
                <c:pt idx="2">
                  <c:v>93</c:v>
                </c:pt>
                <c:pt idx="3">
                  <c:v>57</c:v>
                </c:pt>
                <c:pt idx="4">
                  <c:v>54</c:v>
                </c:pt>
                <c:pt idx="5">
                  <c:v>45</c:v>
                </c:pt>
                <c:pt idx="6">
                  <c:v>42</c:v>
                </c:pt>
                <c:pt idx="7">
                  <c:v>38</c:v>
                </c:pt>
                <c:pt idx="8">
                  <c:v>34</c:v>
                </c:pt>
                <c:pt idx="9">
                  <c:v>30</c:v>
                </c:pt>
                <c:pt idx="10">
                  <c:v>24</c:v>
                </c:pt>
                <c:pt idx="11">
                  <c:v>11</c:v>
                </c:pt>
                <c:pt idx="12">
                  <c:v>11</c:v>
                </c:pt>
                <c:pt idx="13">
                  <c:v>7</c:v>
                </c:pt>
                <c:pt idx="1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57-41AB-9810-380E373AEAB1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분석요약!$K$2:$K$16</c:f>
              <c:strCache>
                <c:ptCount val="15"/>
                <c:pt idx="0">
                  <c:v>조회 조건/검색 결과 불일치</c:v>
                </c:pt>
                <c:pt idx="1">
                  <c:v>다운로드/출력</c:v>
                </c:pt>
                <c:pt idx="2">
                  <c:v>날짜/기간 처리</c:v>
                </c:pt>
                <c:pt idx="3">
                  <c:v>데이터 정합성/매핑</c:v>
                </c:pt>
                <c:pt idx="4">
                  <c:v>개선요청/정책반영</c:v>
                </c:pt>
                <c:pt idx="5">
                  <c:v>상태값/버튼 동작</c:v>
                </c:pt>
                <c:pt idx="6">
                  <c:v>기타</c:v>
                </c:pt>
                <c:pt idx="7">
                  <c:v>시각화/그래프 표시</c:v>
                </c:pt>
                <c:pt idx="8">
                  <c:v>입력 검증/유효성</c:v>
                </c:pt>
                <c:pt idx="9">
                  <c:v>화면 레이아웃/정렬/가독성</c:v>
                </c:pt>
                <c:pt idx="10">
                  <c:v>메시지/가이드 부족</c:v>
                </c:pt>
                <c:pt idx="11">
                  <c:v>용어/라벨/문구</c:v>
                </c:pt>
                <c:pt idx="12">
                  <c:v>예외처리/오류 대응</c:v>
                </c:pt>
                <c:pt idx="13">
                  <c:v>권한/접근/노출</c:v>
                </c:pt>
                <c:pt idx="14">
                  <c:v>문서/요건 불일치</c:v>
                </c:pt>
              </c:strCache>
            </c:strRef>
          </c:cat>
          <c:val>
            <c:numRef>
              <c:f>분석요약!$M$2:$M$16</c:f>
              <c:numCache>
                <c:formatCode>0.0%</c:formatCode>
                <c:ptCount val="15"/>
                <c:pt idx="0">
                  <c:v>0.16819571865443425</c:v>
                </c:pt>
                <c:pt idx="1">
                  <c:v>0.14831804281345565</c:v>
                </c:pt>
                <c:pt idx="2">
                  <c:v>0.14220183486238533</c:v>
                </c:pt>
                <c:pt idx="3">
                  <c:v>8.7155963302752298E-2</c:v>
                </c:pt>
                <c:pt idx="4">
                  <c:v>8.2568807339449546E-2</c:v>
                </c:pt>
                <c:pt idx="5">
                  <c:v>6.8807339449541288E-2</c:v>
                </c:pt>
                <c:pt idx="6">
                  <c:v>6.4220183486238536E-2</c:v>
                </c:pt>
                <c:pt idx="7">
                  <c:v>5.8103975535168197E-2</c:v>
                </c:pt>
                <c:pt idx="8">
                  <c:v>5.1987767584097858E-2</c:v>
                </c:pt>
                <c:pt idx="9">
                  <c:v>4.5871559633027525E-2</c:v>
                </c:pt>
                <c:pt idx="10">
                  <c:v>3.669724770642202E-2</c:v>
                </c:pt>
                <c:pt idx="11">
                  <c:v>1.6819571865443424E-2</c:v>
                </c:pt>
                <c:pt idx="12">
                  <c:v>1.6819571865443424E-2</c:v>
                </c:pt>
                <c:pt idx="13">
                  <c:v>1.0703363914373088E-2</c:v>
                </c:pt>
                <c:pt idx="14">
                  <c:v>1.5290519877675841E-3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57-41AB-9810-380E373AEA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50213967"/>
        <c:axId val="1850214383"/>
      </c:barChart>
      <c:catAx>
        <c:axId val="18502139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1850214383"/>
        <c:crosses val="autoZero"/>
        <c:auto val="1"/>
        <c:lblAlgn val="ctr"/>
        <c:lblOffset val="100"/>
        <c:noMultiLvlLbl val="0"/>
      </c:catAx>
      <c:valAx>
        <c:axId val="1850214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1850213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KoPub돋움체 Medium" panose="00000600000000000000" pitchFamily="2" charset="-127"/>
          <a:ea typeface="KoPub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Arial"/>
              </a:defRPr>
            </a:pPr>
            <a:r>
              <a:rPr lang="ko-KR" altLang="en-US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</a:rPr>
              <a:t>중분류 </a:t>
            </a:r>
            <a:r>
              <a:rPr lang="en-US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</a:rPr>
              <a:t>Top 10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2D52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조회 조건 처리</c:v>
                </c:pt>
                <c:pt idx="1">
                  <c:v>엑셀 다운로드 오류</c:v>
                </c:pt>
                <c:pt idx="2">
                  <c:v>개선/변경 요청</c:v>
                </c:pt>
                <c:pt idx="3">
                  <c:v>데이터 정합성</c:v>
                </c:pt>
                <c:pt idx="4">
                  <c:v>날짜 표시/포맷</c:v>
                </c:pt>
                <c:pt idx="5">
                  <c:v>기간 범위 처리</c:v>
                </c:pt>
                <c:pt idx="6">
                  <c:v>차트 표시 오류</c:v>
                </c:pt>
                <c:pt idx="7">
                  <c:v>상태값 처리</c:v>
                </c:pt>
                <c:pt idx="8">
                  <c:v>파일 출력/다운로드</c:v>
                </c:pt>
                <c:pt idx="9">
                  <c:v>레이아웃/UI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</c:v>
                </c:pt>
                <c:pt idx="1">
                  <c:v>71</c:v>
                </c:pt>
                <c:pt idx="2">
                  <c:v>54</c:v>
                </c:pt>
                <c:pt idx="3">
                  <c:v>46</c:v>
                </c:pt>
                <c:pt idx="4">
                  <c:v>44</c:v>
                </c:pt>
                <c:pt idx="5">
                  <c:v>29</c:v>
                </c:pt>
                <c:pt idx="6">
                  <c:v>25</c:v>
                </c:pt>
                <c:pt idx="7">
                  <c:v>22</c:v>
                </c:pt>
                <c:pt idx="8">
                  <c:v>21</c:v>
                </c:pt>
                <c:pt idx="9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96-4744-9205-1DB4310FA65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Arial"/>
              </a:defRPr>
            </a:pPr>
            <a:r>
              <a:rPr lang="ko-KR" altLang="en-US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</a:rPr>
              <a:t>기각사유 분류 </a:t>
            </a:r>
            <a:r>
              <a:rPr lang="en-US" altLang="ko-KR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</a:rPr>
              <a:t>(219</a:t>
            </a:r>
            <a:r>
              <a:rPr lang="ko-KR" altLang="en-US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</a:rPr>
              <a:t>건</a:t>
            </a:r>
            <a:r>
              <a:rPr lang="en-US" altLang="ko-KR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</a:rPr>
              <a:t>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기각사유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3CE-4D12-84C5-694C1986C8B3}"/>
              </c:ext>
            </c:extLst>
          </c:dPt>
          <c:dPt>
            <c:idx val="1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CE-4D12-84C5-694C1986C8B3}"/>
              </c:ext>
            </c:extLst>
          </c:dPt>
          <c:dPt>
            <c:idx val="2"/>
            <c:bubble3D val="0"/>
            <c:spPr>
              <a:solidFill>
                <a:srgbClr val="4A7A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CE-4D12-84C5-694C1986C8B3}"/>
              </c:ext>
            </c:extLst>
          </c:dPt>
          <c:dPt>
            <c:idx val="3"/>
            <c:bubble3D val="0"/>
            <c:spPr>
              <a:solidFill>
                <a:srgbClr val="2F85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CE-4D12-84C5-694C1986C8B3}"/>
              </c:ext>
            </c:extLst>
          </c:dPt>
          <c:dPt>
            <c:idx val="4"/>
            <c:bubble3D val="0"/>
            <c:spPr>
              <a:solidFill>
                <a:srgbClr val="9F7A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CE-4D12-84C5-694C1986C8B3}"/>
              </c:ext>
            </c:extLst>
          </c:dPt>
          <c:dPt>
            <c:idx val="5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3CE-4D12-84C5-694C1986C8B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69AC8344-3717-48D7-8B89-AC4E2F2D52EE}" type="PERCENTAGE">
                      <a:rPr lang="en-US" altLang="ko-KR">
                        <a:latin typeface="KoPub돋움체 Medium" panose="00000600000000000000" pitchFamily="2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3CE-4D12-84C5-694C1986C8B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34C1CD5F-2DD5-4718-B64D-699432670D26}" type="PERCENTAGE">
                      <a:rPr lang="en-US" altLang="ko-KR">
                        <a:latin typeface="KoPub돋움체 Medium" panose="00000600000000000000" pitchFamily="2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3CE-4D12-84C5-694C1986C8B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FA97A687-8CE8-448C-BE22-4A67654D236D}" type="PERCENTAGE">
                      <a:rPr lang="en-US" altLang="ko-KR">
                        <a:latin typeface="KoPub돋움체 Medium" panose="00000600000000000000" pitchFamily="2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3CE-4D12-84C5-694C1986C8B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E19197BC-FFBD-4DAA-8B2C-390E0778E275}" type="PERCENTAGE">
                      <a:rPr lang="en-US" altLang="ko-KR">
                        <a:latin typeface="KoPub돋움체 Medium" panose="00000600000000000000" pitchFamily="2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93CE-4D12-84C5-694C1986C8B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B0EE3FA0-1191-4E01-B908-CF3EF730B6E0}" type="PERCENTAGE">
                      <a:rPr lang="en-US" altLang="ko-KR">
                        <a:latin typeface="KoPub돋움체 Medium" panose="00000600000000000000" pitchFamily="2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93CE-4D12-84C5-694C1986C8B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3EAB5ECA-B175-47CF-953D-7745BD2E6CAE}" type="PERCENTAGE">
                      <a:rPr lang="en-US" altLang="ko-KR">
                        <a:latin typeface="KoPub돋움체 Medium" panose="00000600000000000000" pitchFamily="2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93CE-4D12-84C5-694C1986C8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기타 기각(130)</c:v>
                </c:pt>
                <c:pt idx="1">
                  <c:v>정상동작(63)</c:v>
                </c:pt>
                <c:pt idx="2">
                  <c:v>중복(16)</c:v>
                </c:pt>
                <c:pt idx="3">
                  <c:v>개선이관(6)</c:v>
                </c:pt>
                <c:pt idx="4">
                  <c:v>협의보류(3)</c:v>
                </c:pt>
                <c:pt idx="5">
                  <c:v>정책외(1)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130</c:v>
                </c:pt>
                <c:pt idx="1">
                  <c:v>63</c:v>
                </c:pt>
                <c:pt idx="2">
                  <c:v>16</c:v>
                </c:pt>
                <c:pt idx="3">
                  <c:v>6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3CE-4D12-84C5-694C1986C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Arial"/>
              </a:defRPr>
            </a:pPr>
            <a:r>
              <a:rPr lang="ko-KR" altLang="en-US" sz="1300" b="0" i="0" u="none" strike="noStrike" dirty="0" err="1">
                <a:solidFill>
                  <a:srgbClr val="1A202C"/>
                </a:solidFill>
                <a:latin typeface="KoPub돋움체 Medium" panose="00000600000000000000" pitchFamily="2" charset="-127"/>
              </a:rPr>
              <a:t>모듈별</a:t>
            </a:r>
            <a:r>
              <a:rPr lang="ko-KR" altLang="en-US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</a:rPr>
              <a:t> 유효 결함 </a:t>
            </a:r>
            <a:r>
              <a:rPr lang="en-US" altLang="ko-KR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</a:rPr>
              <a:t>vs </a:t>
            </a:r>
            <a:r>
              <a:rPr lang="ko-KR" altLang="en-US" sz="1300" b="0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</a:rPr>
              <a:t>기각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유효 결함</c:v>
                </c:pt>
              </c:strCache>
            </c:strRef>
          </c:tx>
          <c:spPr>
            <a:solidFill>
              <a:srgbClr val="4A7AB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공통관리(CA)</c:v>
                </c:pt>
                <c:pt idx="1">
                  <c:v>항공보안(FS)</c:v>
                </c:pt>
                <c:pt idx="2">
                  <c:v>예측관리(PM)</c:v>
                </c:pt>
                <c:pt idx="3">
                  <c:v>공항운영(GO)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</c:v>
                </c:pt>
                <c:pt idx="1">
                  <c:v>65</c:v>
                </c:pt>
                <c:pt idx="2">
                  <c:v>108</c:v>
                </c:pt>
                <c:pt idx="3">
                  <c:v>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AB-4817-AA8E-559F61FFC8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기각 건수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공통관리(CA)</c:v>
                </c:pt>
                <c:pt idx="1">
                  <c:v>항공보안(FS)</c:v>
                </c:pt>
                <c:pt idx="2">
                  <c:v>예측관리(PM)</c:v>
                </c:pt>
                <c:pt idx="3">
                  <c:v>공항운영(GO)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54</c:v>
                </c:pt>
                <c:pt idx="2">
                  <c:v>65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AB-4817-AA8E-559F61FFC8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F5DBC-2D43-4714-A011-1B997A86543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2C630-A325-4356-BDAD-28F4716C4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8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B41CC7-FE31-4B6D-A108-F4AA61656A6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0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990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956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767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3407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02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39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71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547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468299" y="6571423"/>
            <a:ext cx="3048858" cy="155693"/>
            <a:chOff x="299815" y="6545448"/>
            <a:chExt cx="2477197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53523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10717478" y="77413"/>
            <a:ext cx="1125081" cy="443379"/>
            <a:chOff x="10717478" y="77413"/>
            <a:chExt cx="1125081" cy="4433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4A100D-B537-B83E-0F2C-531635203217}"/>
                </a:ext>
              </a:extLst>
            </p:cNvPr>
            <p:cNvGrpSpPr/>
            <p:nvPr userDrawn="1"/>
          </p:nvGrpSpPr>
          <p:grpSpPr>
            <a:xfrm>
              <a:off x="10717478" y="77413"/>
              <a:ext cx="1125081" cy="443379"/>
              <a:chOff x="8328308" y="0"/>
              <a:chExt cx="1125081" cy="44337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2C599-D17E-32B6-1EE9-346065250115}"/>
                  </a:ext>
                </a:extLst>
              </p:cNvPr>
              <p:cNvSpPr txBox="1"/>
              <p:nvPr/>
            </p:nvSpPr>
            <p:spPr>
              <a:xfrm>
                <a:off x="8328308" y="270441"/>
                <a:ext cx="1047082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1100" spc="-2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marR="0" lvl="0" indent="0" algn="r" defTabSz="9141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UIUX 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점검결과 리뷰 </a:t>
                </a:r>
              </a:p>
            </p:txBody>
          </p:sp>
          <p:cxnSp>
            <p:nvCxnSpPr>
              <p:cNvPr id="19" name="직선 연결선 109">
                <a:extLst>
                  <a:ext uri="{FF2B5EF4-FFF2-40B4-BE49-F238E27FC236}">
                    <a16:creationId xmlns:a16="http://schemas.microsoft.com/office/drawing/2014/main" id="{056C6A96-585D-F666-8E00-9B0A66536827}"/>
                  </a:ext>
                </a:extLst>
              </p:cNvPr>
              <p:cNvCxnSpPr/>
              <p:nvPr/>
            </p:nvCxnSpPr>
            <p:spPr>
              <a:xfrm>
                <a:off x="9453389" y="0"/>
                <a:ext cx="0" cy="443379"/>
              </a:xfrm>
              <a:prstGeom prst="line">
                <a:avLst/>
              </a:prstGeom>
              <a:ln w="9525" cap="flat">
                <a:solidFill>
                  <a:srgbClr val="9AA3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9">
            <a:extLst>
              <a:ext uri="{FF2B5EF4-FFF2-40B4-BE49-F238E27FC236}">
                <a16:creationId xmlns:a16="http://schemas.microsoft.com/office/drawing/2014/main" id="{9F82B906-B480-0852-246F-922BDA4EF5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E9D500-9CDC-13D5-156A-5731D9325E66}"/>
              </a:ext>
            </a:extLst>
          </p:cNvPr>
          <p:cNvGrpSpPr/>
          <p:nvPr userDrawn="1"/>
        </p:nvGrpSpPr>
        <p:grpSpPr>
          <a:xfrm>
            <a:off x="468298" y="6571423"/>
            <a:ext cx="2994356" cy="155693"/>
            <a:chOff x="299815" y="6545448"/>
            <a:chExt cx="2432914" cy="155693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780E697-AC35-EDDF-4E4B-ED4F63A09AFD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09240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 통합정보시스템 고도화 구축 사업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867C7DB-6F2F-8438-8EB6-1EE2223D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sp>
        <p:nvSpPr>
          <p:cNvPr id="22" name="Line 4"/>
          <p:cNvSpPr>
            <a:spLocks noChangeShapeType="1"/>
          </p:cNvSpPr>
          <p:nvPr userDrawn="1"/>
        </p:nvSpPr>
        <p:spPr bwMode="auto">
          <a:xfrm>
            <a:off x="0" y="5715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180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A100D-B537-B83E-0F2C-531635203217}"/>
              </a:ext>
            </a:extLst>
          </p:cNvPr>
          <p:cNvGrpSpPr/>
          <p:nvPr userDrawn="1"/>
        </p:nvGrpSpPr>
        <p:grpSpPr>
          <a:xfrm>
            <a:off x="10719335" y="1"/>
            <a:ext cx="1153026" cy="443379"/>
            <a:chOff x="8516556" y="0"/>
            <a:chExt cx="936833" cy="4433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32C599-D17E-32B6-1EE9-346065250115}"/>
                </a:ext>
              </a:extLst>
            </p:cNvPr>
            <p:cNvSpPr txBox="1"/>
            <p:nvPr/>
          </p:nvSpPr>
          <p:spPr>
            <a:xfrm>
              <a:off x="8516556" y="270441"/>
              <a:ext cx="858829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defTabSz="914125" fontAlgn="base" latinLnBrk="0">
                <a:spcBef>
                  <a:spcPct val="0"/>
                </a:spcBef>
                <a:spcAft>
                  <a:spcPts val="200"/>
                </a:spcAft>
                <a:defRPr sz="1100" spc="-2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marR="0" lvl="0" indent="0" algn="r" defTabSz="9141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제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3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자 테스트 계획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(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안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)</a:t>
              </a:r>
            </a:p>
          </p:txBody>
        </p:sp>
        <p:cxnSp>
          <p:nvCxnSpPr>
            <p:cNvPr id="30" name="직선 연결선 109">
              <a:extLst>
                <a:ext uri="{FF2B5EF4-FFF2-40B4-BE49-F238E27FC236}">
                  <a16:creationId xmlns:a16="http://schemas.microsoft.com/office/drawing/2014/main" id="{056C6A96-585D-F666-8E00-9B0A66536827}"/>
                </a:ext>
              </a:extLst>
            </p:cNvPr>
            <p:cNvCxnSpPr/>
            <p:nvPr/>
          </p:nvCxnSpPr>
          <p:spPr>
            <a:xfrm>
              <a:off x="9453389" y="0"/>
              <a:ext cx="0" cy="443379"/>
            </a:xfrm>
            <a:prstGeom prst="line">
              <a:avLst/>
            </a:prstGeom>
            <a:ln w="9525" cap="flat">
              <a:solidFill>
                <a:srgbClr val="9AA3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5AC935BD-F940-7942-B750-837F8997D518}"/>
              </a:ext>
            </a:extLst>
          </p:cNvPr>
          <p:cNvSpPr/>
          <p:nvPr userDrawn="1"/>
        </p:nvSpPr>
        <p:spPr>
          <a:xfrm>
            <a:off x="11624348" y="171485"/>
            <a:ext cx="70892" cy="57600"/>
          </a:xfrm>
          <a:prstGeom prst="ellipse">
            <a:avLst/>
          </a:prstGeom>
          <a:solidFill>
            <a:srgbClr val="EE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9B34389-9A8F-1649-6284-ACFAD5A8DA15}"/>
              </a:ext>
            </a:extLst>
          </p:cNvPr>
          <p:cNvSpPr/>
          <p:nvPr userDrawn="1"/>
        </p:nvSpPr>
        <p:spPr>
          <a:xfrm>
            <a:off x="11359979" y="171485"/>
            <a:ext cx="70892" cy="57600"/>
          </a:xfrm>
          <a:prstGeom prst="ellipse">
            <a:avLst/>
          </a:prstGeom>
          <a:solidFill>
            <a:srgbClr val="D8D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F3E9267-D3B0-F322-8BDD-60A1AFD00E47}"/>
              </a:ext>
            </a:extLst>
          </p:cNvPr>
          <p:cNvSpPr/>
          <p:nvPr userDrawn="1"/>
        </p:nvSpPr>
        <p:spPr>
          <a:xfrm>
            <a:off x="11492164" y="171485"/>
            <a:ext cx="70892" cy="57600"/>
          </a:xfrm>
          <a:prstGeom prst="ellipse">
            <a:avLst/>
          </a:prstGeom>
          <a:solidFill>
            <a:srgbClr val="1774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6000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57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1AADF5-7B5D-4FC5-24AD-4BFEA5EC92B6}"/>
              </a:ext>
            </a:extLst>
          </p:cNvPr>
          <p:cNvSpPr/>
          <p:nvPr/>
        </p:nvSpPr>
        <p:spPr bwMode="gray">
          <a:xfrm>
            <a:off x="628206" y="1568095"/>
            <a:ext cx="5256584" cy="169277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28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인천국제공항</a:t>
            </a:r>
          </a:p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통합정보시스템 고도화</a:t>
            </a:r>
            <a:b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구축사업</a:t>
            </a:r>
            <a:endParaRPr lang="en-US" altLang="ko-KR" sz="36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rgbClr val="4472C4">
                  <a:lumMod val="7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3B5E8-A9CC-1E60-922D-D50CC07BB6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8207" y="707036"/>
            <a:ext cx="1922885" cy="3096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2C1E-EAB5-2D3E-D989-AC05435A2A9A}"/>
              </a:ext>
            </a:extLst>
          </p:cNvPr>
          <p:cNvSpPr/>
          <p:nvPr/>
        </p:nvSpPr>
        <p:spPr bwMode="gray">
          <a:xfrm>
            <a:off x="628206" y="3590583"/>
            <a:ext cx="7308097" cy="24622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AOMS UIUX 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점검 결과 보고 </a:t>
            </a: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( 2026.05.11)</a:t>
            </a:r>
          </a:p>
        </p:txBody>
      </p:sp>
    </p:spTree>
    <p:extLst>
      <p:ext uri="{BB962C8B-B14F-4D97-AF65-F5344CB8AC3E}">
        <p14:creationId xmlns:p14="http://schemas.microsoft.com/office/powerpoint/2010/main" val="37390814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7993"/>
            <a:ext cx="182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 차</a:t>
            </a:r>
            <a:endParaRPr lang="en-US" sz="2933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07755" y="2123784"/>
            <a:ext cx="6109063" cy="675187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07756" y="2123784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7756" y="2178378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02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1197" y="2216401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분석 개요 및 현황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1196" y="2523579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 결함 현황, 심각도 분포, 모듈별 현황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7755" y="2954992"/>
            <a:ext cx="6109063" cy="67518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7756" y="2954992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7756" y="3009586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03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1197" y="3047609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패턴 분석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1196" y="3354787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대분류/중분류별 패턴, 상위 결함 유형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07755" y="3786200"/>
            <a:ext cx="6109063" cy="675187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7756" y="3786200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7756" y="3840794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04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1197" y="3878817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기각 사유 분석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1196" y="4185995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기각사유 분류, 주요 인사이트, 개선 방향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07755" y="4617408"/>
            <a:ext cx="6109063" cy="67518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7756" y="4617408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7756" y="4672002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05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1197" y="4710025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계획 및 방안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1196" y="5017203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우선순위별 즉시·단기·중기·장기 조치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7755" y="5448617"/>
            <a:ext cx="6109063" cy="675187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7756" y="5448617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7756" y="5503211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06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61197" y="5541234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결론 및 요약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61196" y="5848412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핵심 권고사항 및 다음 단계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674F1242-148A-4AEA-AD5E-27A71E666EF9}"/>
              </a:ext>
            </a:extLst>
          </p:cNvPr>
          <p:cNvSpPr/>
          <p:nvPr/>
        </p:nvSpPr>
        <p:spPr>
          <a:xfrm>
            <a:off x="664961" y="991842"/>
            <a:ext cx="3538791" cy="88580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C34FB324-E120-475B-B64A-296CD78E0E43}"/>
              </a:ext>
            </a:extLst>
          </p:cNvPr>
          <p:cNvSpPr/>
          <p:nvPr/>
        </p:nvSpPr>
        <p:spPr>
          <a:xfrm>
            <a:off x="664962" y="991842"/>
            <a:ext cx="670560" cy="88580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49806D21-CCE7-45F3-A7FD-BF24FE2DE79E}"/>
              </a:ext>
            </a:extLst>
          </p:cNvPr>
          <p:cNvSpPr/>
          <p:nvPr/>
        </p:nvSpPr>
        <p:spPr>
          <a:xfrm>
            <a:off x="664962" y="1057267"/>
            <a:ext cx="670560" cy="676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A8CB644E-F130-4139-9340-87D53B082B4A}"/>
              </a:ext>
            </a:extLst>
          </p:cNvPr>
          <p:cNvSpPr/>
          <p:nvPr/>
        </p:nvSpPr>
        <p:spPr>
          <a:xfrm>
            <a:off x="1518403" y="1045906"/>
            <a:ext cx="2241834" cy="369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8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수행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7110E42A-BF43-41CB-BB7B-24B161074F1E}"/>
              </a:ext>
            </a:extLst>
          </p:cNvPr>
          <p:cNvSpPr/>
          <p:nvPr/>
        </p:nvSpPr>
        <p:spPr>
          <a:xfrm>
            <a:off x="1518402" y="1421586"/>
            <a:ext cx="2608314" cy="307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개요</a:t>
            </a:r>
            <a:r>
              <a:rPr 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 관리</a:t>
            </a:r>
            <a:r>
              <a:rPr lang="en-US" altLang="ko-KR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6CD58413-980E-4625-A718-BB1BCA738202}"/>
              </a:ext>
            </a:extLst>
          </p:cNvPr>
          <p:cNvSpPr/>
          <p:nvPr/>
        </p:nvSpPr>
        <p:spPr>
          <a:xfrm>
            <a:off x="664961" y="2107704"/>
            <a:ext cx="3538791" cy="88580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5B8DF3C9-B8D5-44FB-A9E2-9A017DEBCD7C}"/>
              </a:ext>
            </a:extLst>
          </p:cNvPr>
          <p:cNvSpPr/>
          <p:nvPr/>
        </p:nvSpPr>
        <p:spPr>
          <a:xfrm>
            <a:off x="664962" y="2120861"/>
            <a:ext cx="670560" cy="88580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DB8FD85D-D1ED-42A4-B050-48972574F5DE}"/>
              </a:ext>
            </a:extLst>
          </p:cNvPr>
          <p:cNvSpPr/>
          <p:nvPr/>
        </p:nvSpPr>
        <p:spPr>
          <a:xfrm>
            <a:off x="664962" y="2186286"/>
            <a:ext cx="670560" cy="676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II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43B7B15D-18FC-41D1-AFB6-C90B53C26D92}"/>
              </a:ext>
            </a:extLst>
          </p:cNvPr>
          <p:cNvSpPr/>
          <p:nvPr/>
        </p:nvSpPr>
        <p:spPr>
          <a:xfrm>
            <a:off x="1518403" y="2174925"/>
            <a:ext cx="2241834" cy="369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867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분석결과 보고</a:t>
            </a:r>
            <a:endParaRPr lang="en-US" sz="1867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6CDA3E07-5F54-4552-B55B-9AEECB37B69E}"/>
              </a:ext>
            </a:extLst>
          </p:cNvPr>
          <p:cNvSpPr/>
          <p:nvPr/>
        </p:nvSpPr>
        <p:spPr>
          <a:xfrm>
            <a:off x="1518402" y="2550605"/>
            <a:ext cx="2608314" cy="307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상세 분석 결과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개요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99351" y="692696"/>
            <a:ext cx="11470595" cy="340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ts val="2000"/>
              </a:lnSpc>
              <a:spcBef>
                <a:spcPct val="30000"/>
              </a:spcBef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통합정보시스템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AOMS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영역의 개발표준 준수 여부 및 기능 완전성을 재점검하여 취약한 부분에 대한 보완을 통해 개발 품질 수준을 높이고자 함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71360" y="1697989"/>
            <a:ext cx="5242872" cy="1030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3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자 관점의 독립적인 테스트를 통한 현재 품질수준을 확인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화면 지반 기능들의 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UI/UX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표준 준수 및 구현의 일관성  여부를 점검</a:t>
            </a:r>
            <a:b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</a:b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신뢰성 있는 품질 수준의 확보 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58938" y="3986971"/>
            <a:ext cx="4968552" cy="1999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UI/UX </a:t>
            </a: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표준 준수 확인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 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LAYOUT,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버튼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,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용어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/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약어 사용 등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일관성 있는 개발표준 준수 확인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화면 처리의 이벤트 표준 준수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기능 검증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실 사용자 관점에서 사용 편의성 및 직관성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,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1360" y="133851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</a:t>
            </a: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58938" y="1655323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8938" y="3614508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품질 측면의 검증 사항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646516" y="3953062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0556" y="1338915"/>
            <a:ext cx="31683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일정 및 조직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6408134" y="167438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20555" y="1711949"/>
            <a:ext cx="4904887" cy="1627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일정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04/22 ~ 05/07 (10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Tester (10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55 M/D)</a:t>
            </a: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윤성훈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박선용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홍인기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김철현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임홍규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최중혁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이광재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최현식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정수연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이상용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322072" y="3987566"/>
            <a:ext cx="3893346" cy="1676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총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업무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온라인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(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화면기기준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)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기능 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376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공통관리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108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공항운영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114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예측관리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 77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항공보안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 77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8134" y="3620335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대상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4" name="직선 연결선 23"/>
          <p:cNvCxnSpPr>
            <a:cxnSpLocks/>
          </p:cNvCxnSpPr>
          <p:nvPr/>
        </p:nvCxnSpPr>
        <p:spPr>
          <a:xfrm>
            <a:off x="6495712" y="3955079"/>
            <a:ext cx="459242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929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89137E-8146-4FD9-BCE4-D9A994F2D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710" y="1512122"/>
            <a:ext cx="9116486" cy="4950298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결과 관리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330871" y="807187"/>
            <a:ext cx="5021825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TMS(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테스트관리시스템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별도 프로젝트 등록하여 관리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8DF432-CEE5-46BD-AF34-7AE02AB63619}"/>
              </a:ext>
            </a:extLst>
          </p:cNvPr>
          <p:cNvSpPr/>
          <p:nvPr/>
        </p:nvSpPr>
        <p:spPr>
          <a:xfrm>
            <a:off x="2926120" y="1438354"/>
            <a:ext cx="4333096" cy="380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187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905825" y="944941"/>
            <a:ext cx="3765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※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(05.08, 08:30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1C2DCF-98AC-2CC7-5CDA-CF237E94C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- 3.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테스트 </a:t>
            </a:r>
            <a:r>
              <a:rPr lang="ko-KR" altLang="en-US" sz="2000" b="1" dirty="0">
                <a:solidFill>
                  <a:prstClr val="white"/>
                </a:solidFill>
              </a:rPr>
              <a:t>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E0585D-508B-1DDC-9FAF-B5D9FDC02D2B}"/>
              </a:ext>
            </a:extLst>
          </p:cNvPr>
          <p:cNvSpPr/>
          <p:nvPr/>
        </p:nvSpPr>
        <p:spPr>
          <a:xfrm>
            <a:off x="751609" y="944941"/>
            <a:ext cx="37138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>
              <a:spcBef>
                <a:spcPts val="600"/>
              </a:spcBef>
              <a:spcAft>
                <a:spcPts val="600"/>
              </a:spcAft>
            </a:pPr>
            <a:r>
              <a:rPr kumimoji="1" lang="ko-KR" altLang="en-US" sz="1400" b="1" dirty="0">
                <a:latin typeface="KoPub돋움체 Light" panose="02020603020101020101" pitchFamily="18" charset="-127"/>
                <a:ea typeface="KoPub돋움체 Medium" panose="00000600000000000000"/>
              </a:rPr>
              <a:t>식별 결함 </a:t>
            </a:r>
            <a:r>
              <a:rPr kumimoji="1" lang="en-US" altLang="ko-KR" sz="1400" b="1" dirty="0">
                <a:latin typeface="KoPub돋움체 Light" panose="02020603020101020101" pitchFamily="18" charset="-127"/>
                <a:ea typeface="KoPub돋움체 Medium" panose="00000600000000000000"/>
              </a:rPr>
              <a:t>: </a:t>
            </a:r>
            <a:r>
              <a:rPr kumimoji="1" lang="ko-KR" altLang="en-US" sz="1400" b="1" dirty="0">
                <a:latin typeface="KoPub돋움체 Light" panose="02020603020101020101" pitchFamily="18" charset="-127"/>
                <a:ea typeface="KoPub돋움체 Medium" panose="00000600000000000000"/>
              </a:rPr>
              <a:t> </a:t>
            </a:r>
            <a:r>
              <a:rPr kumimoji="1" lang="en-US" altLang="ko-KR" sz="1400" b="1" dirty="0">
                <a:latin typeface="KoPub돋움체 Light" panose="02020603020101020101" pitchFamily="18" charset="-127"/>
                <a:ea typeface="KoPub돋움체 Medium" panose="00000600000000000000"/>
              </a:rPr>
              <a:t>654</a:t>
            </a:r>
            <a:r>
              <a:rPr kumimoji="1" lang="ko-KR" altLang="en-US" sz="1400" b="1" dirty="0">
                <a:latin typeface="KoPub돋움체 Light" panose="02020603020101020101" pitchFamily="18" charset="-127"/>
                <a:ea typeface="KoPub돋움체 Medium" panose="00000600000000000000"/>
              </a:rPr>
              <a:t>건 </a:t>
            </a:r>
            <a:r>
              <a:rPr kumimoji="1" lang="en-US" altLang="ko-KR" sz="1400" b="1" dirty="0">
                <a:latin typeface="KoPub돋움체 Light" panose="02020603020101020101" pitchFamily="18" charset="-127"/>
                <a:ea typeface="KoPub돋움체 Medium" panose="00000600000000000000"/>
              </a:rPr>
              <a:t>(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Medium" panose="00000600000000000000"/>
              </a:rPr>
              <a:t>376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Medium" panose="00000600000000000000"/>
              </a:rPr>
              <a:t>개 시나리오 기준 </a:t>
            </a:r>
            <a:r>
              <a:rPr kumimoji="1" lang="en-US" altLang="ko-KR" sz="1400" b="1" dirty="0">
                <a:latin typeface="KoPub돋움체 Light" panose="02020603020101020101" pitchFamily="18" charset="-127"/>
                <a:ea typeface="KoPub돋움체 Medium" panose="00000600000000000000"/>
              </a:rPr>
              <a:t>)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Medium" panose="00000600000000000000"/>
              </a:rPr>
              <a:t> 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EF6F86-9C8A-44B3-9F34-9BC95C4CAD3F}"/>
              </a:ext>
            </a:extLst>
          </p:cNvPr>
          <p:cNvSpPr/>
          <p:nvPr/>
        </p:nvSpPr>
        <p:spPr>
          <a:xfrm>
            <a:off x="8717032" y="5605281"/>
            <a:ext cx="12493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100" dirty="0">
                <a:latin typeface="KoPub돋움체 Light" panose="02020603020101020101" pitchFamily="18" charset="-127"/>
                <a:ea typeface="KoPub돋움체 Medium" panose="00000600000000000000"/>
              </a:rPr>
              <a:t>조치 완료 기준</a:t>
            </a:r>
            <a:endParaRPr kumimoji="1" lang="en-US" altLang="ko-KR" sz="11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C7D2D1-BEBE-4005-9549-EA25E801A087}"/>
              </a:ext>
            </a:extLst>
          </p:cNvPr>
          <p:cNvSpPr txBox="1"/>
          <p:nvPr/>
        </p:nvSpPr>
        <p:spPr>
          <a:xfrm>
            <a:off x="9650064" y="5423043"/>
            <a:ext cx="2295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Light" panose="02020603020101020101" pitchFamily="18" charset="-127"/>
              <a:ea typeface="KoPub돋움체 Medium" panose="0000060000000000000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결함 기각</a:t>
            </a:r>
            <a:endParaRPr kumimoji="1" lang="en-US" altLang="ko-KR" sz="11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결함조치 후 테스터 최종 확인 </a:t>
            </a:r>
            <a:endParaRPr kumimoji="1" lang="en-US" altLang="ko-KR" sz="11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결</a:t>
            </a:r>
            <a:r>
              <a:rPr kumimoji="1" lang="ko-KR" altLang="en-US" sz="1100" b="0" i="0" u="none" strike="noStrike" kern="0" cap="none" spc="-3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함조치</a:t>
            </a:r>
            <a:r>
              <a:rPr kumimoji="1" lang="ko-KR" altLang="en-US" sz="11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 후 테스터 확인 대기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3085E3-3458-4AC8-A53A-A145646B8F9A}"/>
              </a:ext>
            </a:extLst>
          </p:cNvPr>
          <p:cNvSpPr/>
          <p:nvPr/>
        </p:nvSpPr>
        <p:spPr>
          <a:xfrm>
            <a:off x="772209" y="5582197"/>
            <a:ext cx="78788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의견 </a:t>
            </a:r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: </a:t>
            </a:r>
            <a:r>
              <a:rPr kumimoji="1" lang="ko-KR" altLang="en-US" sz="1400" kern="0" spc="-3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조치율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45.57%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는 결함기각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(33.18%)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가 포함된 건으로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,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결함이 실제 조치 된 결과로 판단하기 어려움 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0000"/>
              </a:solidFill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A046555-7B93-4DEB-8557-171432AEF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44263"/>
              </p:ext>
            </p:extLst>
          </p:nvPr>
        </p:nvGraphicFramePr>
        <p:xfrm>
          <a:off x="838198" y="1434957"/>
          <a:ext cx="10860466" cy="3920436"/>
        </p:xfrm>
        <a:graphic>
          <a:graphicData uri="http://schemas.openxmlformats.org/drawingml/2006/table">
            <a:tbl>
              <a:tblPr/>
              <a:tblGrid>
                <a:gridCol w="1753386">
                  <a:extLst>
                    <a:ext uri="{9D8B030D-6E8A-4147-A177-3AD203B41FA5}">
                      <a16:colId xmlns:a16="http://schemas.microsoft.com/office/drawing/2014/main" val="300160993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2158593666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2914999141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1453925954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1691862204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2230119104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89486948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1615611059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966516945"/>
                    </a:ext>
                  </a:extLst>
                </a:gridCol>
                <a:gridCol w="733687">
                  <a:extLst>
                    <a:ext uri="{9D8B030D-6E8A-4147-A177-3AD203B41FA5}">
                      <a16:colId xmlns:a16="http://schemas.microsoft.com/office/drawing/2014/main" val="2944041844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3455492573"/>
                    </a:ext>
                  </a:extLst>
                </a:gridCol>
                <a:gridCol w="783428">
                  <a:extLst>
                    <a:ext uri="{9D8B030D-6E8A-4147-A177-3AD203B41FA5}">
                      <a16:colId xmlns:a16="http://schemas.microsoft.com/office/drawing/2014/main" val="4072196564"/>
                    </a:ext>
                  </a:extLst>
                </a:gridCol>
                <a:gridCol w="733687">
                  <a:extLst>
                    <a:ext uri="{9D8B030D-6E8A-4147-A177-3AD203B41FA5}">
                      <a16:colId xmlns:a16="http://schemas.microsoft.com/office/drawing/2014/main" val="2261743158"/>
                    </a:ext>
                  </a:extLst>
                </a:gridCol>
                <a:gridCol w="812688">
                  <a:extLst>
                    <a:ext uri="{9D8B030D-6E8A-4147-A177-3AD203B41FA5}">
                      <a16:colId xmlns:a16="http://schemas.microsoft.com/office/drawing/2014/main" val="1176060222"/>
                    </a:ext>
                  </a:extLst>
                </a:gridCol>
              </a:tblGrid>
              <a:tr h="29138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업무영역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대상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조치 현황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총합계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결함율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결함조치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270423"/>
                  </a:ext>
                </a:extLst>
              </a:tr>
              <a:tr h="1024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Itr1-1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Itr1-2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Itr2-1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Itr2-2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Itr2-3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총합계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결함등록기각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조치완료    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 중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기각율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조치율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74281"/>
                  </a:ext>
                </a:extLst>
              </a:tr>
              <a:tr h="453819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Itr1-1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Itr1-2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Itr2-1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Itr2-2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Itr2-3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총합계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결함등록기각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조치완료    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 중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27021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AOMS-CA)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31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108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85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43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128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118.5%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66.41%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100.00%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667386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공항운영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GO)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27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114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212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234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205.3%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6.41%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9.40%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438859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예측관리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PM)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77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63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102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173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224.7%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36.42%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41.04%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241839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항공보안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FS)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19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77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42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119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154.5%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45.38%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64.71%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336546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sng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항공통계포털</a:t>
                      </a:r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(AS)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55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98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171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0.00%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0.00%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633495"/>
                  </a:ext>
                </a:extLst>
              </a:tr>
              <a:tr h="291384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대상 합계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70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106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136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154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547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217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356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654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173.9%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33.18%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45.57%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43917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수행건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합계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70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88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56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376</a:t>
                      </a:r>
                    </a:p>
                  </a:txBody>
                  <a:tcPr marL="36000" marR="36000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57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47120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1584" y="12940"/>
            <a:ext cx="4084320" cy="55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01  분석 개요 및 현황</a:t>
            </a:r>
            <a:endParaRPr lang="en-US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2128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2621280" cy="121920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38656"/>
            <a:ext cx="26212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2D528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654</a:t>
            </a:r>
            <a:endParaRPr lang="en-US" sz="4533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218944"/>
            <a:ext cx="2621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 결함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55264" y="1280160"/>
            <a:ext cx="262128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55264" y="1280160"/>
            <a:ext cx="2621280" cy="121920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438656"/>
            <a:ext cx="26212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4A7AB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437</a:t>
            </a:r>
            <a:endParaRPr lang="en-US" sz="4533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55264" y="2218944"/>
            <a:ext cx="2621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유효 결함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44768" y="1280160"/>
            <a:ext cx="262128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280160"/>
            <a:ext cx="2621280" cy="12192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438656"/>
            <a:ext cx="26212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DD6B2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217</a:t>
            </a:r>
            <a:endParaRPr lang="en-US" sz="4533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44768" y="2218944"/>
            <a:ext cx="2621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기각 건수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34272" y="1280160"/>
            <a:ext cx="262128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34272" y="1280160"/>
            <a:ext cx="2621280" cy="121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34272" y="1438656"/>
            <a:ext cx="26212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E53E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41</a:t>
            </a:r>
            <a:endParaRPr lang="en-US" sz="4533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34272" y="2218944"/>
            <a:ext cx="2621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Critical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25" name="Chart 1"/>
          <p:cNvGraphicFramePr/>
          <p:nvPr>
            <p:extLst>
              <p:ext uri="{D42A27DB-BD31-4B8C-83A1-F6EECF244321}">
                <p14:modId xmlns:p14="http://schemas.microsoft.com/office/powerpoint/2010/main" val="2015212901"/>
              </p:ext>
            </p:extLst>
          </p:nvPr>
        </p:nvGraphicFramePr>
        <p:xfrm>
          <a:off x="207264" y="3015032"/>
          <a:ext cx="6096000" cy="3535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45C7FD85-7BDF-43CF-A742-39AB38C3A4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2279223"/>
              </p:ext>
            </p:extLst>
          </p:nvPr>
        </p:nvGraphicFramePr>
        <p:xfrm>
          <a:off x="926840" y="1115008"/>
          <a:ext cx="10549813" cy="5043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834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6843" y="0"/>
            <a:ext cx="4709471" cy="578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02  결함 패턴 분석 — 대분류</a:t>
            </a:r>
            <a:endParaRPr lang="en-US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80433" y="1009698"/>
            <a:ext cx="2240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조회 조건/검색 결과 불일치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98931" y="985314"/>
            <a:ext cx="6583680" cy="43891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71913" y="1009698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110건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70290" y="1009698"/>
            <a:ext cx="914400" cy="329184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4305" y="100969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53E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C:6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3812" y="1631490"/>
            <a:ext cx="2240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날짜/기간 처리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06324" y="1607106"/>
            <a:ext cx="658368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6325" y="1607106"/>
            <a:ext cx="4994516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8376" y="163149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97건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077684" y="1631490"/>
            <a:ext cx="914400" cy="329184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77684" y="163149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53E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C:7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3812" y="2271196"/>
            <a:ext cx="2240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다운로드/출력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06324" y="2246812"/>
            <a:ext cx="658368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6324" y="2246812"/>
            <a:ext cx="4313445" cy="43891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7305" y="2271196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93건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077684" y="2271196"/>
            <a:ext cx="914400" cy="329184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7684" y="22711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53E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C:5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3812" y="2910902"/>
            <a:ext cx="2240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 정합성/매핑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006324" y="2886518"/>
            <a:ext cx="658368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06324" y="2886518"/>
            <a:ext cx="3026979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0839" y="2910902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40건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077684" y="2910902"/>
            <a:ext cx="914400" cy="329184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77684" y="291090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53E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C:8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812" y="3550608"/>
            <a:ext cx="2240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시각화/그래프 표시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006324" y="3526224"/>
            <a:ext cx="658368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06324" y="3526224"/>
            <a:ext cx="2345909" cy="438912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9769" y="3550608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31건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077684" y="3550608"/>
            <a:ext cx="914400" cy="329184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77684" y="3550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53E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C:3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3812" y="4190314"/>
            <a:ext cx="2240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상태값/버튼 동작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006324" y="4165930"/>
            <a:ext cx="658368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06324" y="4165930"/>
            <a:ext cx="1967536" cy="43891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1396" y="4190314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26건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0077684" y="4190314"/>
            <a:ext cx="914400" cy="329184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77684" y="419031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53E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C:4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3812" y="4830020"/>
            <a:ext cx="2240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개선요청/정책반영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006324" y="4805636"/>
            <a:ext cx="658368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06325" y="4805636"/>
            <a:ext cx="1891863" cy="438912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5723" y="483002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25건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3812" y="5469728"/>
            <a:ext cx="2240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 검증/유효성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006324" y="5445344"/>
            <a:ext cx="658368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06325" y="5445344"/>
            <a:ext cx="1816188" cy="438912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20048" y="5469728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24건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0077684" y="5469728"/>
            <a:ext cx="914400" cy="329184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77684" y="5469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53E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C:1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023360" y="6339840"/>
            <a:ext cx="304800" cy="1950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6315456"/>
            <a:ext cx="1828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Critical 7건+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217920" y="6339840"/>
            <a:ext cx="304800" cy="19507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6315456"/>
            <a:ext cx="1828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Critical 4-6건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412480" y="6339840"/>
            <a:ext cx="304800" cy="195072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78240" y="6315456"/>
            <a:ext cx="1828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Critical 0-3건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8288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02  결함 패턴 분석 — 중분류 &amp; 모듈</a:t>
            </a:r>
            <a:endParaRPr lang="en-US" sz="2667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19200"/>
          <a:ext cx="658368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93280" y="1219200"/>
            <a:ext cx="4632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93280" y="1219200"/>
            <a:ext cx="97536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76160" y="1267968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</a:rPr>
              <a:t>공항운영 (GO)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63200" y="1267968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 dirty="0">
                <a:solidFill>
                  <a:srgbClr val="1E3A5F"/>
                </a:solidFill>
              </a:rPr>
              <a:t>219건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76160" y="1658112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조회/검색 불일치 59건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76160" y="1889760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날짜/기간 처리 41건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76160" y="2121408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다운로드/출력 33건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93280" y="2560320"/>
            <a:ext cx="4632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93280" y="2560320"/>
            <a:ext cx="97536" cy="1170432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76160" y="2609088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</a:rPr>
              <a:t>예측관리 (PM)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363200" y="2609088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 dirty="0">
                <a:solidFill>
                  <a:srgbClr val="4A7AB5"/>
                </a:solidFill>
              </a:rPr>
              <a:t>108건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76160" y="2999232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시각화/그래프 22건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76160" y="3230880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조회/검색 불일치 16건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76160" y="3462528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데이터 정합성 12건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93280" y="3901440"/>
            <a:ext cx="4632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93280" y="3901440"/>
            <a:ext cx="97536" cy="1170432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76160" y="3950208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</a:rPr>
              <a:t>항공보안 (FS)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363200" y="3950208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 dirty="0">
                <a:solidFill>
                  <a:srgbClr val="2D5282"/>
                </a:solidFill>
              </a:rPr>
              <a:t>65건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76160" y="4340352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날짜/기간 처리 13건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76160" y="4572000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다운로드/출력 12건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76160" y="4803648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데이터 정합성 10건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193280" y="5242560"/>
            <a:ext cx="4632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193280" y="5242560"/>
            <a:ext cx="97536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76160" y="5291328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</a:rPr>
              <a:t>공통관리 (CA)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363200" y="5291328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 dirty="0">
                <a:solidFill>
                  <a:srgbClr val="00B4D8"/>
                </a:solidFill>
              </a:rPr>
              <a:t>43건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76160" y="5681472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메시지/가이드 부족 6건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376160" y="5913120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조회/검색 불일치 6건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76160" y="6144768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· 상태값/버튼 6건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8288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03  기각 사유 분석</a:t>
            </a:r>
            <a:endParaRPr lang="en-US" sz="2667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58240"/>
          <a:ext cx="5486400" cy="536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56960" y="1219200"/>
            <a:ext cx="5730240" cy="121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56960" y="1219200"/>
            <a:ext cx="97536" cy="1219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76416" y="1292352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64748B"/>
                </a:solidFill>
              </a:rPr>
              <a:t>기타 기각 130건 (59.4%)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6376416" y="1682496"/>
            <a:ext cx="5340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처리완료 후 중복 기각, PL 공석으로 인한 테스트 환경 미비, 공통 CSS·퍼블 영역 이관 지연 등 관리 프로세스 미흡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6156960" y="2621280"/>
            <a:ext cx="5730240" cy="1219200"/>
          </a:xfrm>
          <a:prstGeom prst="rect">
            <a:avLst/>
          </a:prstGeom>
          <a:solidFill>
            <a:srgbClr val="FFFAF0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56960" y="2621280"/>
            <a:ext cx="97536" cy="12192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6416" y="2694432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DD6B20"/>
                </a:solidFill>
              </a:rPr>
              <a:t>정상동작/스펙대로 63건 (28.8%)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6376416" y="3084576"/>
            <a:ext cx="5340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테스터의 요건 미숙지로 인한 오등록. 테스트 기준서 및 스펙 사전 공유 강화 필요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6156960" y="4023360"/>
            <a:ext cx="5730240" cy="1219200"/>
          </a:xfrm>
          <a:prstGeom prst="rect">
            <a:avLst/>
          </a:prstGeom>
          <a:solidFill>
            <a:srgbClr val="EFF8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56960" y="4023360"/>
            <a:ext cx="97536" cy="1219200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76416" y="4096512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4A7AB5"/>
                </a:solidFill>
              </a:rPr>
              <a:t>중복 등록 16건 (7.3%)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6376416" y="4486656"/>
            <a:ext cx="5340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동일 결함 다중 등록. 결함 등록 전 기존 목록 필수 확인 프로세스 부재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6156960" y="5425440"/>
            <a:ext cx="5730240" cy="1219200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56960" y="5425440"/>
            <a:ext cx="97536" cy="1219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6416" y="5498592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F855A"/>
                </a:solidFill>
              </a:rPr>
              <a:t>개선요청 이관·협의보류 9건</a:t>
            </a:r>
            <a:endParaRPr lang="en-US" sz="1467" dirty="0"/>
          </a:p>
        </p:txBody>
      </p:sp>
      <p:sp>
        <p:nvSpPr>
          <p:cNvPr id="20" name="Text 17"/>
          <p:cNvSpPr/>
          <p:nvPr/>
        </p:nvSpPr>
        <p:spPr>
          <a:xfrm>
            <a:off x="6376416" y="5888736"/>
            <a:ext cx="5340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결함이 아닌 개선/변경 요건의 오등록. 결함 vs 개선 구분 기준 명확화 필요</a:t>
            </a:r>
            <a:endParaRPr lang="en-US" sz="1333" dirty="0"/>
          </a:p>
        </p:txBody>
      </p:sp>
      <p:sp>
        <p:nvSpPr>
          <p:cNvPr id="21" name="Shape 18"/>
          <p:cNvSpPr/>
          <p:nvPr/>
        </p:nvSpPr>
        <p:spPr>
          <a:xfrm>
            <a:off x="365760" y="6278880"/>
            <a:ext cx="5486400" cy="426720"/>
          </a:xfrm>
          <a:prstGeom prst="rect">
            <a:avLst/>
          </a:prstGeom>
          <a:solidFill>
            <a:srgbClr val="FEEBC8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627888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DD6B20"/>
                </a:solidFill>
              </a:rPr>
              <a:t>⚠  공통관리(CA) 모듈 기각률 66% — 별도 원인 분석 필요</a:t>
            </a:r>
            <a:endParaRPr lang="en-US" sz="13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8288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03  업무모듈별 기각률 비교</a:t>
            </a:r>
            <a:endParaRPr lang="en-US" sz="2667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09600" y="1219200"/>
          <a:ext cx="6705600" cy="5242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463040"/>
            <a:ext cx="4145280" cy="107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1511808"/>
            <a:ext cx="1463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E53E3E"/>
                </a:solidFill>
              </a:rPr>
              <a:t>66%</a:t>
            </a:r>
            <a:endParaRPr lang="en-US" sz="4267" dirty="0"/>
          </a:p>
        </p:txBody>
      </p:sp>
      <p:sp>
        <p:nvSpPr>
          <p:cNvPr id="7" name="Text 4"/>
          <p:cNvSpPr/>
          <p:nvPr/>
        </p:nvSpPr>
        <p:spPr>
          <a:xfrm>
            <a:off x="9144000" y="170688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202C"/>
                </a:solidFill>
              </a:rPr>
              <a:t>공통관리 (CA)</a:t>
            </a:r>
            <a:endParaRPr lang="en-US" sz="1733" dirty="0"/>
          </a:p>
        </p:txBody>
      </p:sp>
      <p:sp>
        <p:nvSpPr>
          <p:cNvPr id="8" name="Shape 5"/>
          <p:cNvSpPr/>
          <p:nvPr/>
        </p:nvSpPr>
        <p:spPr>
          <a:xfrm>
            <a:off x="7680960" y="2804160"/>
            <a:ext cx="4145280" cy="107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0" y="2852928"/>
            <a:ext cx="1463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DD6B20"/>
                </a:solidFill>
              </a:rPr>
              <a:t>45%</a:t>
            </a:r>
            <a:endParaRPr lang="en-US" sz="4267" dirty="0"/>
          </a:p>
        </p:txBody>
      </p:sp>
      <p:sp>
        <p:nvSpPr>
          <p:cNvPr id="10" name="Text 7"/>
          <p:cNvSpPr/>
          <p:nvPr/>
        </p:nvSpPr>
        <p:spPr>
          <a:xfrm>
            <a:off x="9144000" y="304800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202C"/>
                </a:solidFill>
              </a:rPr>
              <a:t>항공보안 (FS)</a:t>
            </a:r>
            <a:endParaRPr lang="en-US" sz="1733" dirty="0"/>
          </a:p>
        </p:txBody>
      </p:sp>
      <p:sp>
        <p:nvSpPr>
          <p:cNvPr id="11" name="Shape 8"/>
          <p:cNvSpPr/>
          <p:nvPr/>
        </p:nvSpPr>
        <p:spPr>
          <a:xfrm>
            <a:off x="7680960" y="4145280"/>
            <a:ext cx="4145280" cy="107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80960" y="4194048"/>
            <a:ext cx="1463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DD6B20"/>
                </a:solidFill>
              </a:rPr>
              <a:t>38%</a:t>
            </a:r>
            <a:endParaRPr lang="en-US" sz="4267" dirty="0"/>
          </a:p>
        </p:txBody>
      </p:sp>
      <p:sp>
        <p:nvSpPr>
          <p:cNvPr id="13" name="Text 10"/>
          <p:cNvSpPr/>
          <p:nvPr/>
        </p:nvSpPr>
        <p:spPr>
          <a:xfrm>
            <a:off x="9144000" y="438912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202C"/>
                </a:solidFill>
              </a:rPr>
              <a:t>예측관리 (PM)</a:t>
            </a:r>
            <a:endParaRPr lang="en-US" sz="1733" dirty="0"/>
          </a:p>
        </p:txBody>
      </p:sp>
      <p:sp>
        <p:nvSpPr>
          <p:cNvPr id="14" name="Shape 11"/>
          <p:cNvSpPr/>
          <p:nvPr/>
        </p:nvSpPr>
        <p:spPr>
          <a:xfrm>
            <a:off x="7680960" y="5486400"/>
            <a:ext cx="4145280" cy="107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680960" y="5535168"/>
            <a:ext cx="1463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2F855A"/>
                </a:solidFill>
              </a:rPr>
              <a:t>6%</a:t>
            </a:r>
            <a:endParaRPr lang="en-US" sz="4267" dirty="0"/>
          </a:p>
        </p:txBody>
      </p:sp>
      <p:sp>
        <p:nvSpPr>
          <p:cNvPr id="16" name="Text 13"/>
          <p:cNvSpPr/>
          <p:nvPr/>
        </p:nvSpPr>
        <p:spPr>
          <a:xfrm>
            <a:off x="9144000" y="573024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202C"/>
                </a:solidFill>
              </a:rPr>
              <a:t>공항운영 (GO)</a:t>
            </a:r>
            <a:endParaRPr lang="en-US" sz="1733" dirty="0"/>
          </a:p>
        </p:txBody>
      </p:sp>
      <p:sp>
        <p:nvSpPr>
          <p:cNvPr id="17" name="Text 14"/>
          <p:cNvSpPr/>
          <p:nvPr/>
        </p:nvSpPr>
        <p:spPr>
          <a:xfrm>
            <a:off x="7680960" y="6364224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E53E3E"/>
                </a:solidFill>
              </a:rPr>
              <a:t>전체 기각률  33.5%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8288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04  조치 계획 — 즉시 조치 &amp; 단기 조치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219200"/>
            <a:ext cx="11460480" cy="1219200"/>
          </a:xfrm>
          <a:prstGeom prst="rect">
            <a:avLst/>
          </a:prstGeom>
          <a:solidFill>
            <a:srgbClr val="FFEAEA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19200"/>
            <a:ext cx="1889760" cy="3413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1392"/>
            <a:ext cx="1889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즉시 조치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38400" y="1267968"/>
            <a:ext cx="9144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02C"/>
                </a:solidFill>
              </a:rPr>
              <a:t>Critical 결함 21건 집중 해소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548640" y="1658112"/>
            <a:ext cx="1091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데이터 정합성(8건) + 날짜처리(7건) + 조회조건(6건). 모듈 PL 주도 핫픽스 우선 배포 검토. 공통 데이터 매핑 레이어 긴급 점검.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548640" y="2072640"/>
            <a:ext cx="1091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53E3E"/>
                </a:solidFill>
              </a:rPr>
              <a:t>대상: 공항운영(GO), 예측관리(PM), 항공보안(FS)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96896"/>
            <a:ext cx="11460480" cy="1219200"/>
          </a:xfrm>
          <a:prstGeom prst="rect">
            <a:avLst/>
          </a:prstGeom>
          <a:solidFill>
            <a:srgbClr val="FFEAEA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96896"/>
            <a:ext cx="1889760" cy="3413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09088"/>
            <a:ext cx="1889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즉시 조치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38400" y="2645664"/>
            <a:ext cx="9144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02C"/>
                </a:solidFill>
              </a:rPr>
              <a:t>엑셀/다운로드 공통 모듈 일괄 점검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548640" y="3035808"/>
            <a:ext cx="1091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엑셀 다운로드(71건) + 파일 출력(21건) = 92건. 컬럼 매핑·서식 오류 및 예외처리 미비. 공통 출력 컴포넌트 단일화 후 회귀 테스트.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548640" y="3450336"/>
            <a:ext cx="1091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53E3E"/>
                </a:solidFill>
              </a:rPr>
              <a:t>대상: 전 모듈 공통 출력 모듈 담당팀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74592"/>
            <a:ext cx="11460480" cy="1219200"/>
          </a:xfrm>
          <a:prstGeom prst="rect">
            <a:avLst/>
          </a:prstGeom>
          <a:solidFill>
            <a:srgbClr val="FFFAF0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4592"/>
            <a:ext cx="1889760" cy="341376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86784"/>
            <a:ext cx="1889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단기 조치 (1~2주)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38400" y="4023360"/>
            <a:ext cx="9144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02C"/>
                </a:solidFill>
              </a:rPr>
              <a:t>날짜 컴포넌트 표준화 및 Guard 공통화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548640" y="4413504"/>
            <a:ext cx="1091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기준일자-운항일자 매핑 오류, 9999년 입력 허용 등 유효성 검증 누락(93건). 공통 DatePicker 재정비 및 날짜 유효성 Guard 전 모듈 일괄 적용.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548640" y="4828032"/>
            <a:ext cx="1091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DD6B20"/>
                </a:solidFill>
              </a:rPr>
              <a:t>대상: 공항운영(GO) 중점, 전 모듈 적용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352288"/>
            <a:ext cx="11460480" cy="1219200"/>
          </a:xfrm>
          <a:prstGeom prst="rect">
            <a:avLst/>
          </a:prstGeom>
          <a:solidFill>
            <a:srgbClr val="FFFAF0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5352288"/>
            <a:ext cx="1889760" cy="341376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364480"/>
            <a:ext cx="1889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단기 조치 (1~2주)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38400" y="5401056"/>
            <a:ext cx="9144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02C"/>
                </a:solidFill>
              </a:rPr>
              <a:t>조회 API 공통 인터페이스 정비</a:t>
            </a:r>
            <a:endParaRPr lang="en-US" sz="1733" dirty="0"/>
          </a:p>
        </p:txBody>
      </p:sp>
      <p:sp>
        <p:nvSpPr>
          <p:cNvPr id="26" name="Text 24"/>
          <p:cNvSpPr/>
          <p:nvPr/>
        </p:nvSpPr>
        <p:spPr>
          <a:xfrm>
            <a:off x="548640" y="5791200"/>
            <a:ext cx="1091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조회 조건 파라미터 전달 오류, 페이지네이션·정렬 오류 포함(87건). 공항운영(GO) 59건 집중. 조회 API 인터페이스 표준 정의 및 모듈별 조건 처리 로직 리뷰.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548640" y="6205728"/>
            <a:ext cx="1091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DD6B20"/>
                </a:solidFill>
              </a:rPr>
              <a:t>대상: 공항운영(GO) 우선 → 전 모듈 확대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8288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04  조치 계획 — 중기 조치 &amp; 장기 조치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219200"/>
            <a:ext cx="11460480" cy="1219200"/>
          </a:xfrm>
          <a:prstGeom prst="rect">
            <a:avLst/>
          </a:prstGeom>
          <a:solidFill>
            <a:srgbClr val="EFF8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19200"/>
            <a:ext cx="2011680" cy="341376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1392"/>
            <a:ext cx="2011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중기 조치 (3~4주)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99360" y="1267968"/>
            <a:ext cx="908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02C"/>
                </a:solidFill>
              </a:rPr>
              <a:t>기각률 33.5% 개선 — 결함 등록 프로세스 강화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548640" y="1658112"/>
            <a:ext cx="1091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결함 등록 전 중복 검색 필수화, 기각사유 분류 체계 세분화, 테스터 스펙 교육 강화. 공통관리(CA) 기각률 66% 특별 조사.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548640" y="2072640"/>
            <a:ext cx="1091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4A7AB5"/>
                </a:solidFill>
              </a:rPr>
              <a:t>담당: QA 리드 + 모듈별 PL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84704"/>
            <a:ext cx="11460480" cy="1219200"/>
          </a:xfrm>
          <a:prstGeom prst="rect">
            <a:avLst/>
          </a:prstGeom>
          <a:solidFill>
            <a:srgbClr val="EFF8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84704"/>
            <a:ext cx="2011680" cy="341376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96896"/>
            <a:ext cx="2011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중기 조치 (3~4주)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9360" y="2633472"/>
            <a:ext cx="908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02C"/>
                </a:solidFill>
              </a:rPr>
              <a:t>시각화/그래프 공통 컴포넌트 재설계 (PM 22건)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548640" y="3023616"/>
            <a:ext cx="1091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예측관리(PM) 집중. 무데이터 처리 표준화, 축·범례 공통화, 차트 버튼 동작 일관성 확보. 공통 차트 라이브러리 가이드 정의.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548640" y="3438144"/>
            <a:ext cx="1091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4A7AB5"/>
                </a:solidFill>
              </a:rPr>
              <a:t>담당: 예측관리(PM) 담당팀 + FE 공통팀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11460480" cy="1219200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50208"/>
            <a:ext cx="2011680" cy="341376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62400"/>
            <a:ext cx="2011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장기 조치 (1개월+)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99360" y="3998976"/>
            <a:ext cx="908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02C"/>
                </a:solidFill>
              </a:rPr>
              <a:t>입력 검증 · UX 가이드라인 디자인 시스템 반영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1091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</a:rPr>
              <a:t>입력 유효성(34건) + 메시지 부족(24건) + 레이아웃(30건). 필수 입력·범위 검증·오류 메시지 패턴을 디자인 시스템에 통합. 전 모듈 일괄 적용.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548640" y="4803648"/>
            <a:ext cx="1091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F855A"/>
                </a:solidFill>
              </a:rPr>
              <a:t>담당: UX팀 + 각 모듈 FE 개발팀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449824"/>
            <a:ext cx="11460480" cy="1219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600" y="548640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A202C"/>
                </a:solidFill>
              </a:rPr>
              <a:t>조치 로드맵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09600" y="5913120"/>
            <a:ext cx="2560320" cy="6096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00" y="591312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즉시 조치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Week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69920" y="6181344"/>
            <a:ext cx="3048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5913120"/>
            <a:ext cx="2560320" cy="6096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591312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단기 조치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Week 1-2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6181344"/>
            <a:ext cx="3048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9840" y="5913120"/>
            <a:ext cx="2560320" cy="609600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9840" y="591312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중기 조치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Week 3-4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00160" y="6181344"/>
            <a:ext cx="3048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04960" y="5913120"/>
            <a:ext cx="2560320" cy="6096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04960" y="591312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장기 조치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1개월+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52160"/>
            <a:ext cx="12192000" cy="1005840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3048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90E0EF"/>
                </a:solidFill>
              </a:rPr>
              <a:t>05  결론 및 핵심 권고사항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487680" y="1219200"/>
            <a:ext cx="11216640" cy="829056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219200"/>
            <a:ext cx="512064" cy="8290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680" y="1341120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3A5F"/>
                </a:solidFill>
              </a:rPr>
              <a:t>1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1158240" y="1341120"/>
            <a:ext cx="1036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Critical 41건 우선 처리 — 데이터 정합성·날짜처리·다운로드 오류 핫픽스 즉시 배포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7680" y="2231136"/>
            <a:ext cx="11216640" cy="829056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680" y="2231136"/>
            <a:ext cx="512064" cy="8290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680" y="2353056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3A5F"/>
                </a:solidFill>
              </a:rPr>
              <a:t>2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1158240" y="2353056"/>
            <a:ext cx="1036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공통 모듈(DatePicker, 출력, 차트) 표준화 — 반복 결함 패턴의 근본 원인 제거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7680" y="3243072"/>
            <a:ext cx="11216640" cy="829056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680" y="3243072"/>
            <a:ext cx="512064" cy="8290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680" y="336499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3A5F"/>
                </a:solidFill>
              </a:rPr>
              <a:t>3</a:t>
            </a:r>
            <a:endParaRPr lang="en-US" sz="2133" dirty="0"/>
          </a:p>
        </p:txBody>
      </p:sp>
      <p:sp>
        <p:nvSpPr>
          <p:cNvPr id="16" name="Text 14"/>
          <p:cNvSpPr/>
          <p:nvPr/>
        </p:nvSpPr>
        <p:spPr>
          <a:xfrm>
            <a:off x="1158240" y="3364992"/>
            <a:ext cx="1036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기각률 33.5% 개선 — 중복 등록 방지 프로세스·테스터 스펙 교육으로 테스트 효율 향상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7680" y="4255008"/>
            <a:ext cx="11216640" cy="829056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680" y="4255008"/>
            <a:ext cx="512064" cy="8290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" y="4376928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3A5F"/>
                </a:solidFill>
              </a:rPr>
              <a:t>4</a:t>
            </a:r>
            <a:endParaRPr lang="en-US" sz="2133" dirty="0"/>
          </a:p>
        </p:txBody>
      </p:sp>
      <p:sp>
        <p:nvSpPr>
          <p:cNvPr id="20" name="Text 18"/>
          <p:cNvSpPr/>
          <p:nvPr/>
        </p:nvSpPr>
        <p:spPr>
          <a:xfrm>
            <a:off x="1158240" y="4376928"/>
            <a:ext cx="1036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공통관리(CA) 기각률 66% 특별 조사 및 별도 개선 계획 수립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680" y="5266944"/>
            <a:ext cx="11216640" cy="829056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7680" y="5266944"/>
            <a:ext cx="512064" cy="8290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680" y="5388864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3A5F"/>
                </a:solidFill>
              </a:rPr>
              <a:t>5</a:t>
            </a:r>
            <a:endParaRPr lang="en-US" sz="2133" dirty="0"/>
          </a:p>
        </p:txBody>
      </p:sp>
      <p:sp>
        <p:nvSpPr>
          <p:cNvPr id="24" name="Text 22"/>
          <p:cNvSpPr/>
          <p:nvPr/>
        </p:nvSpPr>
        <p:spPr>
          <a:xfrm>
            <a:off x="1158240" y="5388864"/>
            <a:ext cx="1036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UX 가이드라인 디자인 시스템 통합 — 장기적 품질 기반 구축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7680" y="5949696"/>
            <a:ext cx="1121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90E0EF"/>
                </a:solidFill>
              </a:rPr>
              <a:t>품질 개선을 통한 성공적인 시스템 오픈을 기원합니다.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16378</TotalTime>
  <Words>1415</Words>
  <Application>Microsoft Office PowerPoint</Application>
  <PresentationFormat>와이드스크린</PresentationFormat>
  <Paragraphs>319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KoPub돋움체 Bold</vt:lpstr>
      <vt:lpstr>KoPub돋움체 Light</vt:lpstr>
      <vt:lpstr>KoPub돋움체 Medium</vt:lpstr>
      <vt:lpstr>맑은 고딕</vt:lpstr>
      <vt:lpstr>Arial</vt:lpstr>
      <vt:lpstr>Calibri</vt:lpstr>
      <vt:lpstr>Wingdings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IDT-D-0001</dc:creator>
  <cp:lastModifiedBy>IIS-IDT-N-0063-U</cp:lastModifiedBy>
  <cp:revision>905</cp:revision>
  <cp:lastPrinted>2025-06-13T01:30:37Z</cp:lastPrinted>
  <dcterms:created xsi:type="dcterms:W3CDTF">2024-06-13T01:42:00Z</dcterms:created>
  <dcterms:modified xsi:type="dcterms:W3CDTF">2026-05-08T08:56:53Z</dcterms:modified>
</cp:coreProperties>
</file>