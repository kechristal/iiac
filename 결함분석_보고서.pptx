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Arial"/>
              </a:rPr>
              <a:t>심각도 분포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심각도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7AB5"/>
              </a:solidFill>
              <a:effectLst/>
            </c:spPr>
          </c:dPt>
          <c:dPt>
            <c:idx val="1"/>
            <c:bubble3D val="0"/>
            <c:spPr>
              <a:solidFill>
                <a:srgbClr val="DD6B20"/>
              </a:solidFill>
              <a:effectLst/>
            </c:spPr>
          </c:dPt>
          <c:dPt>
            <c:idx val="2"/>
            <c:bubble3D val="0"/>
            <c:spPr>
              <a:solidFill>
                <a:srgbClr val="E53E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Minor</c:v>
                </c:pt>
                <c:pt idx="1">
                  <c:v>Major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457</c:v>
                </c:pt>
                <c:pt idx="1">
                  <c:v>143</c:v>
                </c:pt>
                <c:pt idx="2">
                  <c:v>54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Arial"/>
              </a:rPr>
              <a:t>업무모듈별 결함/기각 현황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rgbClr val="2D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공항운영(GO)</c:v>
                  </c:pt>
                  <c:pt idx="1">
                    <c:v>예측관리(PM)</c:v>
                  </c:pt>
                  <c:pt idx="2">
                    <c:v>공통관리(CA)</c:v>
                  </c:pt>
                  <c:pt idx="3">
                    <c:v>항공보안(FS)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234</c:v>
                </c:pt>
                <c:pt idx="1">
                  <c:v>173</c:v>
                </c:pt>
                <c:pt idx="2">
                  <c:v>128</c:v>
                </c:pt>
                <c:pt idx="3">
                  <c:v>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공항운영(GO)</c:v>
                  </c:pt>
                  <c:pt idx="1">
                    <c:v>예측관리(PM)</c:v>
                  </c:pt>
                  <c:pt idx="2">
                    <c:v>공통관리(CA)</c:v>
                  </c:pt>
                  <c:pt idx="3">
                    <c:v>항공보안(FS)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65</c:v>
                </c:pt>
                <c:pt idx="2">
                  <c:v>85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Arial"/>
              </a:rPr>
              <a:t>중분류 Top 10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D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조회 조건 처리</c:v>
                  </c:pt>
                  <c:pt idx="1">
                    <c:v>엑셀 다운로드 오류</c:v>
                  </c:pt>
                  <c:pt idx="2">
                    <c:v>개선/변경 요청</c:v>
                  </c:pt>
                  <c:pt idx="3">
                    <c:v>데이터 정합성</c:v>
                  </c:pt>
                  <c:pt idx="4">
                    <c:v>날짜 표시/포맷</c:v>
                  </c:pt>
                  <c:pt idx="5">
                    <c:v>기간 범위 처리</c:v>
                  </c:pt>
                  <c:pt idx="6">
                    <c:v>차트 표시 오류</c:v>
                  </c:pt>
                  <c:pt idx="7">
                    <c:v>상태값 처리</c:v>
                  </c:pt>
                  <c:pt idx="8">
                    <c:v>파일 출력/다운로드</c:v>
                  </c:pt>
                  <c:pt idx="9">
                    <c:v>레이아웃/UI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</c:v>
                </c:pt>
                <c:pt idx="1">
                  <c:v>71</c:v>
                </c:pt>
                <c:pt idx="2">
                  <c:v>54</c:v>
                </c:pt>
                <c:pt idx="3">
                  <c:v>46</c:v>
                </c:pt>
                <c:pt idx="4">
                  <c:v>44</c:v>
                </c:pt>
                <c:pt idx="5">
                  <c:v>29</c:v>
                </c:pt>
                <c:pt idx="6">
                  <c:v>25</c:v>
                </c:pt>
                <c:pt idx="7">
                  <c:v>22</c:v>
                </c:pt>
                <c:pt idx="8">
                  <c:v>21</c:v>
                </c:pt>
                <c:pt idx="9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Arial"/>
              </a:rPr>
              <a:t>기각사유 분류 (219건)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기각사유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DD6B20"/>
              </a:solidFill>
              <a:effectLst/>
            </c:spPr>
          </c:dPt>
          <c:dPt>
            <c:idx val="2"/>
            <c:bubble3D val="0"/>
            <c:spPr>
              <a:solidFill>
                <a:srgbClr val="4A7AB5"/>
              </a:solidFill>
              <a:effectLst/>
            </c:spPr>
          </c:dPt>
          <c:dPt>
            <c:idx val="3"/>
            <c:bubble3D val="0"/>
            <c:spPr>
              <a:solidFill>
                <a:srgbClr val="2F855A"/>
              </a:solidFill>
              <a:effectLst/>
            </c:spPr>
          </c:dPt>
          <c:dPt>
            <c:idx val="4"/>
            <c:bubble3D val="0"/>
            <c:spPr>
              <a:solidFill>
                <a:srgbClr val="9F7AEA"/>
              </a:solidFill>
              <a:effectLst/>
            </c:spPr>
          </c:dPt>
          <c:dPt>
            <c:idx val="5"/>
            <c:bubble3D val="0"/>
            <c:spPr>
              <a:solidFill>
                <a:srgbClr val="E53E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기타 기각(130)</c:v>
                </c:pt>
                <c:pt idx="1">
                  <c:v>정상동작(63)</c:v>
                </c:pt>
                <c:pt idx="2">
                  <c:v>중복(16)</c:v>
                </c:pt>
                <c:pt idx="3">
                  <c:v>개선이관(6)</c:v>
                </c:pt>
                <c:pt idx="4">
                  <c:v>협의보류(3)</c:v>
                </c:pt>
                <c:pt idx="5">
                  <c:v>정책외(1)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130</c:v>
                </c:pt>
                <c:pt idx="1">
                  <c:v>63</c:v>
                </c:pt>
                <c:pt idx="2">
                  <c:v>16</c:v>
                </c:pt>
                <c:pt idx="3">
                  <c:v>6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02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02C"/>
                </a:solidFill>
                <a:latin typeface="Arial"/>
              </a:rPr>
              <a:t>모듈별 유효 결함 vs 기각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유효 결함</c:v>
                </c:pt>
              </c:strCache>
            </c:strRef>
          </c:tx>
          <c:spPr>
            <a:solidFill>
              <a:srgbClr val="4A7A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공통관리(CA)</c:v>
                  </c:pt>
                  <c:pt idx="1">
                    <c:v>항공보안(FS)</c:v>
                  </c:pt>
                  <c:pt idx="2">
                    <c:v>예측관리(PM)</c:v>
                  </c:pt>
                  <c:pt idx="3">
                    <c:v>공항운영(GO)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65</c:v>
                </c:pt>
                <c:pt idx="2">
                  <c:v>108</c:v>
                </c:pt>
                <c:pt idx="3">
                  <c:v>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기각 건수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공통관리(CA)</c:v>
                  </c:pt>
                  <c:pt idx="1">
                    <c:v>항공보안(FS)</c:v>
                  </c:pt>
                  <c:pt idx="2">
                    <c:v>예측관리(PM)</c:v>
                  </c:pt>
                  <c:pt idx="3">
                    <c:v>공항운영(GO)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54</c:v>
                </c:pt>
                <c:pt idx="2">
                  <c:v>65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0E0EF"/>
                </a:solidFill>
              </a:rPr>
              <a:t>UIUX 품질 검증 보고서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결함 분석 결과 보고서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분석 · 기각 사유 · 조치 계획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337560"/>
            <a:ext cx="1920240" cy="1188720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654건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전체 결함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337560"/>
            <a:ext cx="1920240" cy="1188720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435건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유효 결함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337560"/>
            <a:ext cx="1920240" cy="1188720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219건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기각 건수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337560"/>
            <a:ext cx="1920240" cy="1188720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4015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41건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2026년 5월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 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60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분석 개요 및 현황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44168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전체 결함 현황, 심각도 분포, 모듈별 현황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01368"/>
            <a:ext cx="502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56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결함 패턴 분석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139696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대분류/중분류별 패턴, 상위 결함 유형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96896"/>
            <a:ext cx="502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기각 사유 분석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기각사유 분류, 주요 인사이트, 개선 방향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92424"/>
            <a:ext cx="502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47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조치 계획 및 방안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3075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우선순위별 즉시·단기·중기·장기 조치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87952"/>
            <a:ext cx="5029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242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결론 및 요약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핵심 권고사항 및 다음 단계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분석 개요 및 현황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9144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5282"/>
                </a:solidFill>
              </a:rPr>
              <a:t>654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5282"/>
                </a:solidFill>
              </a:rPr>
              <a:t>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전체 결함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960120"/>
            <a:ext cx="1965960" cy="9144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7AB5"/>
                </a:solidFill>
              </a:rPr>
              <a:t>435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41448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AB5"/>
                </a:solidFill>
              </a:rPr>
              <a:t>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41448" y="1664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유효 결함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08576" y="9601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960120"/>
            <a:ext cx="1965960" cy="9144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D6B20"/>
                </a:solidFill>
              </a:rPr>
              <a:t>219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08576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6B20"/>
                </a:solidFill>
              </a:rPr>
              <a:t>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08576" y="1664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기각 건수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75704" y="96012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960120"/>
            <a:ext cx="196596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E3E"/>
                </a:solidFill>
              </a:rPr>
              <a:t>41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75704" y="107899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75704" y="16642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Critical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224028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4297680" y="224028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결함 패턴 분석 — 대분류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1014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조회 조건/검색 결과 불일치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17520" y="996696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996696"/>
            <a:ext cx="4937760" cy="32918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28432" y="10149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87건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21040" y="1014984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0149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날짜/기간 처리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490472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490472"/>
            <a:ext cx="3745887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6559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66건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508760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50876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2002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다운로드/출력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1984248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984248"/>
            <a:ext cx="3235084" cy="32918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5756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57건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2002536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00253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데이터 정합성/매핑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17520" y="2478024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2478024"/>
            <a:ext cx="2270234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60906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40건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2496312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49631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시각화/그래프 표시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17520" y="2971800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17520" y="2971800"/>
            <a:ext cx="1759432" cy="329184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0104" y="2990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31건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2990088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99008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상태값/버튼 동작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17520" y="3465576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3465576"/>
            <a:ext cx="1475652" cy="32918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66324" y="34838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26건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21040" y="3483864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4838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개선요청/정책반영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17520" y="3959352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17520" y="3959352"/>
            <a:ext cx="1418897" cy="329184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09569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25건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471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입력 검증/유효성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17520" y="4453128"/>
            <a:ext cx="4937760" cy="32918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4453128"/>
            <a:ext cx="1362141" cy="329184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2813" y="4471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24건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321040" y="4471416"/>
            <a:ext cx="685800" cy="246888"/>
          </a:xfrm>
          <a:prstGeom prst="rect">
            <a:avLst/>
          </a:prstGeom>
          <a:solidFill>
            <a:srgbClr val="FFEAE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47141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C:1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17520" y="4754880"/>
            <a:ext cx="228600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Critical 7건+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4754880"/>
            <a:ext cx="228600" cy="14630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Critical 4-6건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4754880"/>
            <a:ext cx="228600" cy="146304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Critical 0-3건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결함 패턴 분석 — 중분류 &amp; 모듈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937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914400"/>
            <a:ext cx="3474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94960" y="914400"/>
            <a:ext cx="73152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32120" y="950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공항운영 (GO)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950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219건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243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조회/검색 불일치 59건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32120" y="1417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날짜/기간 처리 41건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32120" y="15910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다운로드/출력 33건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1920240"/>
            <a:ext cx="3474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1920240"/>
            <a:ext cx="73152" cy="877824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1956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예측관리 (PM)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1956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7AB5"/>
                </a:solidFill>
              </a:rPr>
              <a:t>108건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2120" y="22494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시각화/그래프 22건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32120" y="24231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조회/검색 불일치 16건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32120" y="2596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데이터 정합성 12건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94960" y="2926080"/>
            <a:ext cx="3474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94960" y="2926080"/>
            <a:ext cx="73152" cy="877824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32120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항공보안 (FS)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772400" y="2962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D5282"/>
                </a:solidFill>
              </a:rPr>
              <a:t>65건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32120" y="3255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날짜/기간 처리 13건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32120" y="3429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다운로드/출력 12건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32120" y="3602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데이터 정합성 10건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394960" y="3931920"/>
            <a:ext cx="3474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94960" y="3931920"/>
            <a:ext cx="73152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</a:rPr>
              <a:t>공통관리 (CA)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772400" y="3968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43건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32120" y="42611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메시지/가이드 부족 6건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32120" y="4434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조회/검색 불일치 6건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532120" y="4608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· 상태값/버튼 6건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기각 사유 분석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4114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17720" y="914400"/>
            <a:ext cx="429768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17720" y="914400"/>
            <a:ext cx="73152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82312" y="969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기타 기각 130건 (59.4%)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82312" y="126187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처리완료 후 중복 기각, PL 공석으로 인한 테스트 환경 미비, 공통 CSS·퍼블 영역 이관 지연 등 관리 프로세스 미흡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17720" y="1965960"/>
            <a:ext cx="4297680" cy="9144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73152" cy="9144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2312" y="2020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</a:rPr>
              <a:t>정상동작/스펙대로 63건 (28.8%)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82312" y="231343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테스터의 요건 미숙지로 인한 오등록. 테스트 기준서 및 스펙 사전 공유 강화 필요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3017520"/>
            <a:ext cx="4297680" cy="9144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3017520"/>
            <a:ext cx="73152" cy="91440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82312" y="3072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AB5"/>
                </a:solidFill>
              </a:rPr>
              <a:t>중복 등록 16건 (7.3%)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82312" y="336499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동일 결함 다중 등록. 결함 등록 전 기존 목록 필수 확인 프로세스 부재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4069080"/>
            <a:ext cx="4297680" cy="91440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17720" y="4069080"/>
            <a:ext cx="73152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82312" y="4123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</a:rPr>
              <a:t>개선요청 이관·협의보류 9건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82312" y="4416552"/>
            <a:ext cx="4005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결함이 아닌 개선/변경 요건의 오등록. 결함 vs 개선 구분 기준 명확화 필요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709160"/>
            <a:ext cx="4114800" cy="320040"/>
          </a:xfrm>
          <a:prstGeom prst="rect">
            <a:avLst/>
          </a:prstGeom>
          <a:solidFill>
            <a:srgbClr val="FEEBC8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</a:rPr>
              <a:t>⚠  공통관리(CA) 모듈 기각률 66% — 별도 원인 분석 필요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업무모듈별 기각률 비교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97280"/>
            <a:ext cx="3108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13385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3E3E"/>
                </a:solidFill>
              </a:rPr>
              <a:t>66%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공통관리 (CA)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2103120"/>
            <a:ext cx="3108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213969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6B20"/>
                </a:solidFill>
              </a:rPr>
              <a:t>45%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858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항공보안 (FS)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760720" y="3108960"/>
            <a:ext cx="3108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314553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D6B20"/>
                </a:solidFill>
              </a:rPr>
              <a:t>38%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85800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예측관리 (PM)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60720" y="4114800"/>
            <a:ext cx="3108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415137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55A"/>
                </a:solidFill>
              </a:rPr>
              <a:t>6%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8580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</a:rPr>
              <a:t>공항운영 (GO)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60720" y="47731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전체 기각률  33.5%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조치 계획 — 즉시 조치 &amp; 단기 조치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417320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235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즉시 조치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9509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Critical 결함 21건 집중 해소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데이터 정합성(8건) + 날짜처리(7건) + 조회조건(6건). 모듈 PL 주도 핫픽스 우선 배포 검토. 공통 데이터 매핑 레이어 긴급 점검.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대상: 공항운영(GO), 예측관리(PM), 항공보안(FS)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47672"/>
            <a:ext cx="8595360" cy="914400"/>
          </a:xfrm>
          <a:prstGeom prst="rect">
            <a:avLst/>
          </a:prstGeom>
          <a:solidFill>
            <a:srgbClr val="FFEAE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47672"/>
            <a:ext cx="1417320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568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즉시 조치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9842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엑셀/다운로드 공통 모듈 일괄 점검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276856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엑셀 다운로드(71건) + 파일 출력(21건) = 92건. 컬럼 매핑·서식 오류 및 예외처리 미비. 공통 출력 컴포넌트 단일화 후 회귀 테스트.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8775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</a:rPr>
              <a:t>대상: 전 모듈 공통 출력 모듈 담당팀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8595360" cy="9144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80944"/>
            <a:ext cx="1417320" cy="2560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900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단기 조치 (1~2주)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017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날짜 컴포넌트 표준화 및 Guard 공통화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310128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기준일자-운항일자 매핑 오류, 9999년 입력 허용 등 유효성 검증 누락(93건). 공통 DatePicker 재정비 및 날짜 유효성 Guard 전 모듈 일괄 적용.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D6B20"/>
                </a:solidFill>
              </a:rPr>
              <a:t>대상: 공항운영(GO) 중점, 전 모듈 적용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014216"/>
            <a:ext cx="8595360" cy="914400"/>
          </a:xfrm>
          <a:prstGeom prst="rect">
            <a:avLst/>
          </a:prstGeom>
          <a:solidFill>
            <a:srgbClr val="FFFAF0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14216"/>
            <a:ext cx="1417320" cy="2560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0233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단기 조치 (1~2주)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4050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조회 API 공통 인터페이스 정비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조회 조건 파라미터 전달 오류, 페이지네이션·정렬 오류 포함(87건). 공항운영(GO) 59건 집중. 조회 API 인터페이스 표준 정의 및 모듈별 조건 처리 로직 리뷰.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6542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D6B20"/>
                </a:solidFill>
              </a:rPr>
              <a:t>대상: 공항운영(GO) 우선 → 전 모듈 확대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조치 계획 — 중기 조치 &amp; 장기 조치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508760" cy="25603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235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중기 조치 (3~4주)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950976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기각률 33.5% 개선 — 결함 등록 프로세스 강화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43584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결함 등록 전 중복 검색 필수화, 기각사유 분류 체계 세분화, 테스터 스펙 교육 강화. 공통관리(CA) 기각률 66% 특별 조사.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AB5"/>
                </a:solidFill>
              </a:rPr>
              <a:t>담당: QA 리드 + 모듈별 PL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8595360" cy="914400"/>
          </a:xfrm>
          <a:prstGeom prst="rect">
            <a:avLst/>
          </a:prstGeom>
          <a:solidFill>
            <a:srgbClr val="EFF8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38528"/>
            <a:ext cx="1508760" cy="256032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476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중기 조치 (3~4주)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1975104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시각화/그래프 공통 컴포넌트 재설계 (PM 22건)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예측관리(PM) 집중. 무데이터 처리 표준화, 축·범례 공통화, 차트 버튼 동작 일관성 확보. 공통 차트 라이브러리 가이드 정의.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AB5"/>
                </a:solidFill>
              </a:rPr>
              <a:t>담당: 예측관리(PM) 담당팀 + FE 공통팀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8595360" cy="914400"/>
          </a:xfrm>
          <a:prstGeom prst="rect">
            <a:avLst/>
          </a:prstGeom>
          <a:solidFill>
            <a:srgbClr val="F0FF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62656"/>
            <a:ext cx="1508760" cy="25603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장기 조치 (1개월+)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74520" y="2999232"/>
            <a:ext cx="6812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입력 검증 · UX 가이드라인 디자인 시스템 반영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29184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입력 유효성(34건) + 메시지 부족(24건) + 레이아웃(30건). 필수 입력·범위 검증·오류 메시지 패턴을 디자인 시스템에 통합. 전 모듈 일괄 적용.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</a:rPr>
              <a:t>담당: UX팀 + 각 모듈 FE 개발팀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087368"/>
            <a:ext cx="859536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2C"/>
                </a:solidFill>
              </a:rPr>
              <a:t>조치 로드맵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92024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즉시 조치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4636008"/>
            <a:ext cx="228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4434840"/>
            <a:ext cx="1920240" cy="457200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단기 조치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1-2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4636008"/>
            <a:ext cx="228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434840"/>
            <a:ext cx="1920240" cy="457200"/>
          </a:xfrm>
          <a:prstGeom prst="rect">
            <a:avLst/>
          </a:prstGeom>
          <a:solidFill>
            <a:srgbClr val="4A7AB5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중기 조치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 3-4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75120" y="4636008"/>
            <a:ext cx="228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4434840"/>
            <a:ext cx="1920240" cy="457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434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장기 조치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1개월+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5282"/>
          </a:solidFill>
          <a:ln w="12700">
            <a:solidFill>
              <a:srgbClr val="2D52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E0EF"/>
                </a:solidFill>
              </a:rPr>
              <a:t>05  결론 및 핵심 권고사항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8404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Critical 41건 우선 처리 — 데이터 정합성·날짜처리·다운로드 오류 핫픽스 즉시 배포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621792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73352"/>
            <a:ext cx="38404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64792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7647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공통 모듈(DatePicker, 출력, 차트) 표준화 — 반복 결함 패턴의 근본 원인 제거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8412480" cy="621792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32304"/>
            <a:ext cx="38404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23744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52374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기각률 33.5% 개선 — 중복 등록 방지 프로세스·테스터 스펙 교육으로 테스트 효율 향상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8412480" cy="621792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191256"/>
            <a:ext cx="38404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82696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28269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공통관리(CA) 기각률 66% 특별 조사 및 별도 개선 계획 수립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621792"/>
          </a:xfrm>
          <a:prstGeom prst="rect">
            <a:avLst/>
          </a:prstGeom>
          <a:solidFill>
            <a:srgbClr val="2D5282"/>
          </a:solidFill>
          <a:ln w="12700">
            <a:solidFill>
              <a:srgbClr val="4A7A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950208"/>
            <a:ext cx="38404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41648"/>
            <a:ext cx="384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04164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UX 가이드라인 디자인 시스템 통합 — 장기적 품질 기반 구축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46227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E0EF"/>
                </a:solidFill>
              </a:rPr>
              <a:t>품질 개선을 통한 성공적인 시스템 오픈을 기원합니다.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결함 분석 보고서</dc:title>
  <dc:subject>PptxGenJS Presentation</dc:subject>
  <dc:creator>PptxGenJS</dc:creator>
  <cp:lastModifiedBy>PptxGenJS</cp:lastModifiedBy>
  <cp:revision>1</cp:revision>
  <dcterms:created xsi:type="dcterms:W3CDTF">2026-05-08T05:48:29Z</dcterms:created>
  <dcterms:modified xsi:type="dcterms:W3CDTF">2026-05-08T05:48:29Z</dcterms:modified>
</cp:coreProperties>
</file>