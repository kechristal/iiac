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7"/>
  </p:notesMasterIdLst>
  <p:sldIdLst>
    <p:sldId id="289" r:id="rId3"/>
    <p:sldId id="257" r:id="rId4"/>
    <p:sldId id="325" r:id="rId5"/>
    <p:sldId id="328" r:id="rId6"/>
    <p:sldId id="319" r:id="rId7"/>
    <p:sldId id="334" r:id="rId8"/>
    <p:sldId id="331" r:id="rId9"/>
    <p:sldId id="258" r:id="rId10"/>
    <p:sldId id="329" r:id="rId11"/>
    <p:sldId id="333" r:id="rId12"/>
    <p:sldId id="336" r:id="rId13"/>
    <p:sldId id="335" r:id="rId14"/>
    <p:sldId id="261" r:id="rId15"/>
    <p:sldId id="265" r:id="rId1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06" userDrawn="1">
          <p15:clr>
            <a:srgbClr val="A4A3A4"/>
          </p15:clr>
        </p15:guide>
        <p15:guide id="2" pos="1504" userDrawn="1">
          <p15:clr>
            <a:srgbClr val="A4A3A4"/>
          </p15:clr>
        </p15:guide>
        <p15:guide id="3" pos="4271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366" userDrawn="1">
          <p15:clr>
            <a:srgbClr val="A4A3A4"/>
          </p15:clr>
        </p15:guide>
        <p15:guide id="6" orient="horz" pos="663" userDrawn="1">
          <p15:clr>
            <a:srgbClr val="A4A3A4"/>
          </p15:clr>
        </p15:guide>
        <p15:guide id="7" orient="horz" pos="3566" userDrawn="1">
          <p15:clr>
            <a:srgbClr val="A4A3A4"/>
          </p15:clr>
        </p15:guide>
        <p15:guide id="9" orient="horz" pos="7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7AB5"/>
    <a:srgbClr val="FF5050"/>
    <a:srgbClr val="CBD5E1"/>
    <a:srgbClr val="0000FF"/>
    <a:srgbClr val="F3B55B"/>
    <a:srgbClr val="F6C782"/>
    <a:srgbClr val="F4B183"/>
    <a:srgbClr val="F8CBAD"/>
    <a:srgbClr val="FBE5D6"/>
    <a:srgbClr val="FFD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421" autoAdjust="0"/>
  </p:normalViewPr>
  <p:slideViewPr>
    <p:cSldViewPr snapToGrid="0">
      <p:cViewPr varScale="1">
        <p:scale>
          <a:sx n="98" d="100"/>
          <a:sy n="98" d="100"/>
        </p:scale>
        <p:origin x="504" y="78"/>
      </p:cViewPr>
      <p:guideLst>
        <p:guide pos="506"/>
        <p:guide pos="1504"/>
        <p:guide pos="4271"/>
        <p:guide pos="7083"/>
        <p:guide orient="horz" pos="1366"/>
        <p:guide orient="horz" pos="663"/>
        <p:guide orient="horz" pos="3566"/>
        <p:guide orient="horz" pos="7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05.%20IIAC\UIUX_&#44208;&#54632;&#48516;&#49437;_g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05.%20IIAC\UIUX_&#44208;&#54632;&#48516;&#49437;_ge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F:\05.%20IIAC\UIUX_&#44208;&#54632;&#48516;&#49437;_ge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2.7777777777777779E-3"/>
                  <c:y val="9.7222222222222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A0A-443C-8864-33AE9DD88E71}"/>
                </c:ext>
              </c:extLst>
            </c:dLbl>
            <c:dLbl>
              <c:idx val="1"/>
              <c:layout>
                <c:manualLayout>
                  <c:x val="-8.3333333333333332E-3"/>
                  <c:y val="9.7222222222222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A0A-443C-8864-33AE9DD88E71}"/>
                </c:ext>
              </c:extLst>
            </c:dLbl>
            <c:dLbl>
              <c:idx val="2"/>
              <c:layout>
                <c:manualLayout>
                  <c:x val="2.7777777777777779E-3"/>
                  <c:y val="0.101851851851851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A0A-443C-8864-33AE9DD88E71}"/>
                </c:ext>
              </c:extLst>
            </c:dLbl>
            <c:dLbl>
              <c:idx val="3"/>
              <c:layout>
                <c:manualLayout>
                  <c:x val="5.5555555555555558E-3"/>
                  <c:y val="9.25925925925925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A0A-443C-8864-33AE9DD88E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Sheet1!$A$16:$A$19</c:f>
              <c:strCache>
                <c:ptCount val="4"/>
                <c:pt idx="0">
                  <c:v>공통관리(AOMS-CA)</c:v>
                </c:pt>
                <c:pt idx="1">
                  <c:v>공항운영(GO)</c:v>
                </c:pt>
                <c:pt idx="2">
                  <c:v>예측관리(PM)</c:v>
                </c:pt>
                <c:pt idx="3">
                  <c:v>항공보안(FS)</c:v>
                </c:pt>
              </c:strCache>
            </c:strRef>
          </c:cat>
          <c:val>
            <c:numRef>
              <c:f>Sheet1!$B$16:$B$19</c:f>
              <c:numCache>
                <c:formatCode>General</c:formatCode>
                <c:ptCount val="4"/>
                <c:pt idx="0">
                  <c:v>128</c:v>
                </c:pt>
                <c:pt idx="1">
                  <c:v>234</c:v>
                </c:pt>
                <c:pt idx="2">
                  <c:v>173</c:v>
                </c:pt>
                <c:pt idx="3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A-443C-8864-33AE9DD88E71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A0A-443C-8864-33AE9DD88E71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FA0A-443C-8864-33AE9DD88E71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A0A-443C-8864-33AE9DD88E71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A0A-443C-8864-33AE9DD88E71}"/>
              </c:ext>
            </c:extLst>
          </c:dPt>
          <c:dLbls>
            <c:dLbl>
              <c:idx val="0"/>
              <c:layout>
                <c:manualLayout>
                  <c:x val="2.7777777777777779E-3"/>
                  <c:y val="0.138888888888888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0A-443C-8864-33AE9DD88E71}"/>
                </c:ext>
              </c:extLst>
            </c:dLbl>
            <c:dLbl>
              <c:idx val="1"/>
              <c:layout>
                <c:manualLayout>
                  <c:x val="-2.7777777777777779E-3"/>
                  <c:y val="6.48148148148148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A0A-443C-8864-33AE9DD88E71}"/>
                </c:ext>
              </c:extLst>
            </c:dLbl>
            <c:dLbl>
              <c:idx val="2"/>
              <c:layout>
                <c:manualLayout>
                  <c:x val="2.777777777777676E-3"/>
                  <c:y val="0.1064814814814814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0A-443C-8864-33AE9DD88E71}"/>
                </c:ext>
              </c:extLst>
            </c:dLbl>
            <c:dLbl>
              <c:idx val="3"/>
              <c:layout>
                <c:manualLayout>
                  <c:x val="0"/>
                  <c:y val="0.101851851851851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A0A-443C-8864-33AE9DD88E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Sheet1!$A$16:$A$19</c:f>
              <c:strCache>
                <c:ptCount val="4"/>
                <c:pt idx="0">
                  <c:v>공통관리(AOMS-CA)</c:v>
                </c:pt>
                <c:pt idx="1">
                  <c:v>공항운영(GO)</c:v>
                </c:pt>
                <c:pt idx="2">
                  <c:v>예측관리(PM)</c:v>
                </c:pt>
                <c:pt idx="3">
                  <c:v>항공보안(FS)</c:v>
                </c:pt>
              </c:strCache>
            </c:strRef>
          </c:cat>
          <c:val>
            <c:numRef>
              <c:f>Sheet1!$C$16:$C$19</c:f>
              <c:numCache>
                <c:formatCode>General</c:formatCode>
                <c:ptCount val="4"/>
                <c:pt idx="0">
                  <c:v>85</c:v>
                </c:pt>
                <c:pt idx="1">
                  <c:v>15</c:v>
                </c:pt>
                <c:pt idx="2">
                  <c:v>65</c:v>
                </c:pt>
                <c:pt idx="3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0A-443C-8864-33AE9DD88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100"/>
        <c:axId val="1138219600"/>
        <c:axId val="1138220080"/>
      </c:barChart>
      <c:catAx>
        <c:axId val="1138219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pPr>
            <a:endParaRPr lang="ko-KR"/>
          </a:p>
        </c:txPr>
        <c:crossAx val="1138220080"/>
        <c:crosses val="autoZero"/>
        <c:auto val="1"/>
        <c:lblAlgn val="ctr"/>
        <c:lblOffset val="100"/>
        <c:noMultiLvlLbl val="0"/>
      </c:catAx>
      <c:valAx>
        <c:axId val="113822008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382196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175"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149413991020092"/>
          <c:y val="2.5243832472748137E-2"/>
          <c:w val="0.82960425506733126"/>
          <c:h val="0.94951233505450372"/>
        </c:manualLayout>
      </c:layout>
      <c:barChart>
        <c:barDir val="bar"/>
        <c:grouping val="clustered"/>
        <c:varyColors val="0"/>
        <c:ser>
          <c:idx val="1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045841964168687E-2"/>
                  <c:y val="-1.6829027238140025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7F5-489B-AEA9-97A555B027C7}"/>
                </c:ext>
              </c:extLst>
            </c:dLbl>
            <c:dLbl>
              <c:idx val="1"/>
              <c:layout>
                <c:manualLayout>
                  <c:x val="0.1398283942776197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F5-489B-AEA9-97A555B027C7}"/>
                </c:ext>
              </c:extLst>
            </c:dLbl>
            <c:dLbl>
              <c:idx val="2"/>
              <c:layout>
                <c:manualLayout>
                  <c:x val="0.15639278927938352"/>
                  <c:y val="-4.58978772231784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7F5-489B-AEA9-97A555B027C7}"/>
                </c:ext>
              </c:extLst>
            </c:dLbl>
            <c:dLbl>
              <c:idx val="3"/>
              <c:layout>
                <c:manualLayout>
                  <c:x val="0.16485622305800066"/>
                  <c:y val="-2.294893861158921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F5-489B-AEA9-97A555B027C7}"/>
                </c:ext>
              </c:extLst>
            </c:dLbl>
            <c:dLbl>
              <c:idx val="4"/>
              <c:layout>
                <c:manualLayout>
                  <c:x val="0.17307804184315093"/>
                  <c:y val="-6.884681583476764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7F5-489B-AEA9-97A555B027C7}"/>
                </c:ext>
              </c:extLst>
            </c:dLbl>
            <c:dLbl>
              <c:idx val="5"/>
              <c:layout>
                <c:manualLayout>
                  <c:x val="0.18976339453745844"/>
                  <c:y val="-2.294893861158921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F5-489B-AEA9-97A555B027C7}"/>
                </c:ext>
              </c:extLst>
            </c:dLbl>
            <c:dLbl>
              <c:idx val="6"/>
              <c:layout>
                <c:manualLayout>
                  <c:x val="0.23262747644103624"/>
                  <c:y val="-2.294893861158921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7F5-489B-AEA9-97A555B027C7}"/>
                </c:ext>
              </c:extLst>
            </c:dLbl>
            <c:dLbl>
              <c:idx val="7"/>
              <c:layout>
                <c:manualLayout>
                  <c:x val="0.28606023673062569"/>
                  <c:y val="-2.294893861158921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F5-489B-AEA9-97A555B027C7}"/>
                </c:ext>
              </c:extLst>
            </c:dLbl>
            <c:dLbl>
              <c:idx val="8"/>
              <c:layout>
                <c:manualLayout>
                  <c:x val="0.29821788665883703"/>
                  <c:y val="-4.58978772231784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7F5-489B-AEA9-97A555B027C7}"/>
                </c:ext>
              </c:extLst>
            </c:dLbl>
            <c:dLbl>
              <c:idx val="9"/>
              <c:layout>
                <c:manualLayout>
                  <c:x val="0.3463978989408491"/>
                  <c:y val="-6.884681583476764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F5-489B-AEA9-97A555B027C7}"/>
                </c:ext>
              </c:extLst>
            </c:dLbl>
            <c:dLbl>
              <c:idx val="10"/>
              <c:layout>
                <c:manualLayout>
                  <c:x val="0.40085669687571684"/>
                  <c:y val="-9.179575444635684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7F5-489B-AEA9-97A555B027C7}"/>
                </c:ext>
              </c:extLst>
            </c:dLbl>
            <c:dLbl>
              <c:idx val="11"/>
              <c:layout>
                <c:manualLayout>
                  <c:x val="0.42975507168695831"/>
                  <c:y val="-6.884681583476806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F5-489B-AEA9-97A555B027C7}"/>
                </c:ext>
              </c:extLst>
            </c:dLbl>
            <c:dLbl>
              <c:idx val="12"/>
              <c:layout>
                <c:manualLayout>
                  <c:x val="0.4308906521431989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7F5-489B-AEA9-97A555B027C7}"/>
                </c:ext>
              </c:extLst>
            </c:dLbl>
            <c:dLbl>
              <c:idx val="13"/>
              <c:layout>
                <c:manualLayout>
                  <c:x val="0.66871360192282681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7F5-489B-AEA9-97A555B027C7}"/>
                </c:ext>
              </c:extLst>
            </c:dLbl>
            <c:dLbl>
              <c:idx val="14"/>
              <c:layout>
                <c:manualLayout>
                  <c:x val="0.66871360192282681"/>
                  <c:y val="-2.29489386115894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7F5-489B-AEA9-97A555B027C7}"/>
                </c:ext>
              </c:extLst>
            </c:dLbl>
            <c:dLbl>
              <c:idx val="15"/>
              <c:layout>
                <c:manualLayout>
                  <c:x val="0.75909913754561809"/>
                  <c:y val="-6.884681583476764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7F5-489B-AEA9-97A555B027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분석요약!$A$5:$A$20</c:f>
              <c:strCache>
                <c:ptCount val="16"/>
                <c:pt idx="0">
                  <c:v>기타</c:v>
                </c:pt>
                <c:pt idx="1">
                  <c:v>용어/라벨/오타</c:v>
                </c:pt>
                <c:pt idx="2">
                  <c:v>메시지/안내</c:v>
                </c:pt>
                <c:pt idx="3">
                  <c:v>권한/접근</c:v>
                </c:pt>
                <c:pt idx="4">
                  <c:v>그래프/차트 표시</c:v>
                </c:pt>
                <c:pt idx="5">
                  <c:v>예외/시스템 오류</c:v>
                </c:pt>
                <c:pt idx="6">
                  <c:v>데이터 정합성/계산</c:v>
                </c:pt>
                <c:pt idx="7">
                  <c:v>버튼/상태 인터랙션</c:v>
                </c:pt>
                <c:pt idx="8">
                  <c:v>문서/요건 불일치</c:v>
                </c:pt>
                <c:pt idx="9">
                  <c:v>기능 미동작</c:v>
                </c:pt>
                <c:pt idx="10">
                  <c:v>입력 검증/유효성</c:v>
                </c:pt>
                <c:pt idx="11">
                  <c:v>날짜/기간 처리</c:v>
                </c:pt>
                <c:pt idx="12">
                  <c:v>엑셀/출력 결함</c:v>
                </c:pt>
                <c:pt idx="13">
                  <c:v>조회/검색 결과 불일치</c:v>
                </c:pt>
                <c:pt idx="14">
                  <c:v>레이아웃/겹침/잘림</c:v>
                </c:pt>
                <c:pt idx="15">
                  <c:v>개선/변경 요청</c:v>
                </c:pt>
              </c:strCache>
            </c:strRef>
          </c:cat>
          <c:val>
            <c:numRef>
              <c:f>분석요약!$C$5:$C$20</c:f>
              <c:numCache>
                <c:formatCode>0.00%</c:formatCode>
                <c:ptCount val="16"/>
                <c:pt idx="0">
                  <c:v>1.0703363914373088E-2</c:v>
                </c:pt>
                <c:pt idx="1">
                  <c:v>2.5993883792048929E-2</c:v>
                </c:pt>
                <c:pt idx="2">
                  <c:v>2.9051987767584098E-2</c:v>
                </c:pt>
                <c:pt idx="3">
                  <c:v>3.0581039755351681E-2</c:v>
                </c:pt>
                <c:pt idx="4">
                  <c:v>3.2110091743119268E-2</c:v>
                </c:pt>
                <c:pt idx="5">
                  <c:v>3.5168195718654434E-2</c:v>
                </c:pt>
                <c:pt idx="6">
                  <c:v>4.2813455657492352E-2</c:v>
                </c:pt>
                <c:pt idx="7">
                  <c:v>5.3516819571865444E-2</c:v>
                </c:pt>
                <c:pt idx="8">
                  <c:v>5.5045871559633031E-2</c:v>
                </c:pt>
                <c:pt idx="9">
                  <c:v>6.4220183486238536E-2</c:v>
                </c:pt>
                <c:pt idx="10">
                  <c:v>7.3394495412844041E-2</c:v>
                </c:pt>
                <c:pt idx="11">
                  <c:v>7.9510703363914373E-2</c:v>
                </c:pt>
                <c:pt idx="12">
                  <c:v>7.9510703363914373E-2</c:v>
                </c:pt>
                <c:pt idx="13">
                  <c:v>0.12385321100917432</c:v>
                </c:pt>
                <c:pt idx="14">
                  <c:v>0.12385321100917432</c:v>
                </c:pt>
                <c:pt idx="15">
                  <c:v>0.14067278287461774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7F5-489B-AEA9-97A555B027C7}"/>
            </c:ext>
          </c:extLst>
        </c:ser>
        <c:ser>
          <c:idx val="0"/>
          <c:order val="1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3B55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57F5-489B-AEA9-97A555B027C7}"/>
              </c:ext>
            </c:extLst>
          </c:dPt>
          <c:dPt>
            <c:idx val="2"/>
            <c:invertIfNegative val="0"/>
            <c:bubble3D val="0"/>
            <c:spPr>
              <a:solidFill>
                <a:srgbClr val="F6C7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57F5-489B-AEA9-97A555B027C7}"/>
              </c:ext>
            </c:extLst>
          </c:dPt>
          <c:dPt>
            <c:idx val="3"/>
            <c:invertIfNegative val="0"/>
            <c:bubble3D val="0"/>
            <c:spPr>
              <a:solidFill>
                <a:srgbClr val="F4B18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57F5-489B-AEA9-97A555B027C7}"/>
              </c:ext>
            </c:extLst>
          </c:dPt>
          <c:dPt>
            <c:idx val="4"/>
            <c:invertIfNegative val="0"/>
            <c:bubble3D val="0"/>
            <c:spPr>
              <a:solidFill>
                <a:srgbClr val="F8CB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57F5-489B-AEA9-97A555B027C7}"/>
              </c:ext>
            </c:extLst>
          </c:dPt>
          <c:dPt>
            <c:idx val="5"/>
            <c:invertIfNegative val="0"/>
            <c:bubble3D val="0"/>
            <c:spPr>
              <a:solidFill>
                <a:srgbClr val="F8CB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57F5-489B-AEA9-97A555B027C7}"/>
              </c:ext>
            </c:extLst>
          </c:dPt>
          <c:dPt>
            <c:idx val="6"/>
            <c:invertIfNegative val="0"/>
            <c:bubble3D val="0"/>
            <c:spPr>
              <a:solidFill>
                <a:srgbClr val="FBE5D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57F5-489B-AEA9-97A555B027C7}"/>
              </c:ext>
            </c:extLst>
          </c:dPt>
          <c:dPt>
            <c:idx val="7"/>
            <c:invertIfNegative val="0"/>
            <c:bubble3D val="0"/>
            <c:spPr>
              <a:solidFill>
                <a:srgbClr val="FFD2C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57F5-489B-AEA9-97A555B027C7}"/>
              </c:ext>
            </c:extLst>
          </c:dPt>
          <c:dPt>
            <c:idx val="8"/>
            <c:invertIfNegative val="0"/>
            <c:bubble3D val="0"/>
            <c:spPr>
              <a:solidFill>
                <a:srgbClr val="FFC1C1"/>
              </a:solidFill>
              <a:ln>
                <a:solidFill>
                  <a:srgbClr val="FFC1C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0-57F5-489B-AEA9-97A555B027C7}"/>
              </c:ext>
            </c:extLst>
          </c:dPt>
          <c:dPt>
            <c:idx val="9"/>
            <c:invertIfNegative val="0"/>
            <c:bubble3D val="0"/>
            <c:spPr>
              <a:solidFill>
                <a:srgbClr val="FFA7A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57F5-489B-AEA9-97A555B027C7}"/>
              </c:ext>
            </c:extLst>
          </c:dPt>
          <c:dPt>
            <c:idx val="10"/>
            <c:invertIfNegative val="0"/>
            <c:bubble3D val="0"/>
            <c:spPr>
              <a:solidFill>
                <a:srgbClr val="FF97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57F5-489B-AEA9-97A555B027C7}"/>
              </c:ext>
            </c:extLst>
          </c:dPt>
          <c:dPt>
            <c:idx val="11"/>
            <c:invertIfNegative val="0"/>
            <c:bubble3D val="0"/>
            <c:spPr>
              <a:solidFill>
                <a:srgbClr val="FF79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57F5-489B-AEA9-97A555B027C7}"/>
              </c:ext>
            </c:extLst>
          </c:dPt>
          <c:dPt>
            <c:idx val="12"/>
            <c:invertIfNegative val="0"/>
            <c:bubble3D val="0"/>
            <c:spPr>
              <a:solidFill>
                <a:srgbClr val="FF535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57F5-489B-AEA9-97A555B027C7}"/>
              </c:ext>
            </c:extLst>
          </c:dPt>
          <c:dPt>
            <c:idx val="13"/>
            <c:invertIfNegative val="0"/>
            <c:bubble3D val="0"/>
            <c:spPr>
              <a:solidFill>
                <a:srgbClr val="FF010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57F5-489B-AEA9-97A555B027C7}"/>
              </c:ext>
            </c:extLst>
          </c:dPt>
          <c:dPt>
            <c:idx val="14"/>
            <c:invertIfNegative val="0"/>
            <c:bubble3D val="0"/>
            <c:spPr>
              <a:solidFill>
                <a:srgbClr val="DA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C-57F5-489B-AEA9-97A555B027C7}"/>
              </c:ext>
            </c:extLst>
          </c:dPt>
          <c:dPt>
            <c:idx val="15"/>
            <c:invertIfNegative val="0"/>
            <c:bubble3D val="0"/>
            <c:spPr>
              <a:solidFill>
                <a:srgbClr val="CC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57F5-489B-AEA9-97A555B027C7}"/>
              </c:ext>
            </c:extLst>
          </c:dPt>
          <c:dLbls>
            <c:delete val="1"/>
          </c:dLbls>
          <c:cat>
            <c:strRef>
              <c:f>분석요약!$A$5:$A$20</c:f>
              <c:strCache>
                <c:ptCount val="16"/>
                <c:pt idx="0">
                  <c:v>기타</c:v>
                </c:pt>
                <c:pt idx="1">
                  <c:v>용어/라벨/오타</c:v>
                </c:pt>
                <c:pt idx="2">
                  <c:v>메시지/안내</c:v>
                </c:pt>
                <c:pt idx="3">
                  <c:v>권한/접근</c:v>
                </c:pt>
                <c:pt idx="4">
                  <c:v>그래프/차트 표시</c:v>
                </c:pt>
                <c:pt idx="5">
                  <c:v>예외/시스템 오류</c:v>
                </c:pt>
                <c:pt idx="6">
                  <c:v>데이터 정합성/계산</c:v>
                </c:pt>
                <c:pt idx="7">
                  <c:v>버튼/상태 인터랙션</c:v>
                </c:pt>
                <c:pt idx="8">
                  <c:v>문서/요건 불일치</c:v>
                </c:pt>
                <c:pt idx="9">
                  <c:v>기능 미동작</c:v>
                </c:pt>
                <c:pt idx="10">
                  <c:v>입력 검증/유효성</c:v>
                </c:pt>
                <c:pt idx="11">
                  <c:v>날짜/기간 처리</c:v>
                </c:pt>
                <c:pt idx="12">
                  <c:v>엑셀/출력 결함</c:v>
                </c:pt>
                <c:pt idx="13">
                  <c:v>조회/검색 결과 불일치</c:v>
                </c:pt>
                <c:pt idx="14">
                  <c:v>레이아웃/겹침/잘림</c:v>
                </c:pt>
                <c:pt idx="15">
                  <c:v>개선/변경 요청</c:v>
                </c:pt>
              </c:strCache>
            </c:strRef>
          </c:cat>
          <c:val>
            <c:numRef>
              <c:f>분석요약!$B$5:$B$20</c:f>
              <c:numCache>
                <c:formatCode>General</c:formatCode>
                <c:ptCount val="16"/>
                <c:pt idx="0">
                  <c:v>7</c:v>
                </c:pt>
                <c:pt idx="1">
                  <c:v>17</c:v>
                </c:pt>
                <c:pt idx="2">
                  <c:v>19</c:v>
                </c:pt>
                <c:pt idx="3">
                  <c:v>20</c:v>
                </c:pt>
                <c:pt idx="4">
                  <c:v>21</c:v>
                </c:pt>
                <c:pt idx="5">
                  <c:v>23</c:v>
                </c:pt>
                <c:pt idx="6">
                  <c:v>28</c:v>
                </c:pt>
                <c:pt idx="7">
                  <c:v>35</c:v>
                </c:pt>
                <c:pt idx="8">
                  <c:v>36</c:v>
                </c:pt>
                <c:pt idx="9">
                  <c:v>42</c:v>
                </c:pt>
                <c:pt idx="10">
                  <c:v>48</c:v>
                </c:pt>
                <c:pt idx="11">
                  <c:v>52</c:v>
                </c:pt>
                <c:pt idx="12">
                  <c:v>52</c:v>
                </c:pt>
                <c:pt idx="13">
                  <c:v>81</c:v>
                </c:pt>
                <c:pt idx="14">
                  <c:v>81</c:v>
                </c:pt>
                <c:pt idx="15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F-57F5-489B-AEA9-97A555B027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93"/>
        <c:axId val="823471712"/>
        <c:axId val="823470752"/>
      </c:barChart>
      <c:catAx>
        <c:axId val="8234717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23470752"/>
        <c:crosses val="autoZero"/>
        <c:auto val="1"/>
        <c:lblAlgn val="ctr"/>
        <c:lblOffset val="100"/>
        <c:noMultiLvlLbl val="0"/>
      </c:catAx>
      <c:valAx>
        <c:axId val="82347075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crossAx val="823471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[UIUX_결함분석_gen.xlsx]분석요약!$H$23:$I$30</cx:f>
        <cx:lvl ptCount="8">
          <cx:pt idx="0">정상동작/스펙대로</cx:pt>
          <cx:pt idx="1">오등록/테스터오류</cx:pt>
          <cx:pt idx="2">기타 기각</cx:pt>
          <cx:pt idx="3">협의/보류</cx:pt>
          <cx:pt idx="4">개선요청 이관</cx:pt>
          <cx:pt idx="5">요구사항 범위외</cx:pt>
          <cx:pt idx="6">정책 검토</cx:pt>
          <cx:pt idx="7">조치완료</cx:pt>
        </cx:lvl>
        <cx:lvl ptCount="8">
          <cx:pt idx="0">결함기각</cx:pt>
          <cx:pt idx="3">판단보류</cx:pt>
          <cx:pt idx="7">결함</cx:pt>
        </cx:lvl>
      </cx:strDim>
      <cx:numDim type="size">
        <cx:f>[UIUX_결함분석_gen.xlsx]분석요약!$K$23:$K$30</cx:f>
        <cx:lvl ptCount="8" formatCode="G/표준">
          <cx:pt idx="0">73</cx:pt>
          <cx:pt idx="1">6</cx:pt>
          <cx:pt idx="2">19</cx:pt>
          <cx:pt idx="3">16</cx:pt>
          <cx:pt idx="4">13</cx:pt>
          <cx:pt idx="5">4</cx:pt>
          <cx:pt idx="6">45</cx:pt>
          <cx:pt idx="7">43</cx:pt>
        </cx:lvl>
      </cx:numDim>
    </cx:data>
    <cx:data id="1">
      <cx:strDim type="cat">
        <cx:f>[UIUX_결함분석_gen.xlsx]분석요약!$H$23:$I$30</cx:f>
        <cx:lvl ptCount="8">
          <cx:pt idx="0">정상동작/스펙대로</cx:pt>
          <cx:pt idx="1">오등록/테스터오류</cx:pt>
          <cx:pt idx="2">기타 기각</cx:pt>
          <cx:pt idx="3">협의/보류</cx:pt>
          <cx:pt idx="4">개선요청 이관</cx:pt>
          <cx:pt idx="5">요구사항 범위외</cx:pt>
          <cx:pt idx="6">정책 검토</cx:pt>
          <cx:pt idx="7">조치완료</cx:pt>
        </cx:lvl>
        <cx:lvl ptCount="8">
          <cx:pt idx="0">결함기각</cx:pt>
          <cx:pt idx="3">판단보류</cx:pt>
          <cx:pt idx="7">결함</cx:pt>
        </cx:lvl>
      </cx:strDim>
      <cx:numDim type="size">
        <cx:f>[UIUX_결함분석_gen.xlsx]분석요약!$L$23:$L$30</cx:f>
        <cx:lvl ptCount="8" formatCode="0.0%">
          <cx:pt idx="0">0.33333333333333331</cx:pt>
          <cx:pt idx="1">0.027397260273972601</cx:pt>
          <cx:pt idx="2">0.086757990867579904</cx:pt>
          <cx:pt idx="3">0.073059360730593603</cx:pt>
          <cx:pt idx="4">0.059360730593607303</cx:pt>
          <cx:pt idx="5">0.018264840182648401</cx:pt>
          <cx:pt idx="6">0.20547945205479451</cx:pt>
          <cx:pt idx="7">0.19634703196347031</cx:pt>
        </cx:lvl>
      </cx:numDim>
    </cx:data>
  </cx:chartData>
  <cx:chart>
    <cx:plotArea>
      <cx:plotAreaRegion>
        <cx:series layoutId="treemap" uniqueId="{90354106-49B9-4DC1-936C-DCFAEFD2484B}" formatIdx="0">
          <cx:tx>
            <cx:txData>
              <cx:f>[UIUX_결함분석_gen.xlsx]분석요약!$K$22</cx:f>
              <cx:v>건수</cx:v>
            </cx:txData>
          </cx:tx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50"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KoPub돋움체 Medium" panose="02020603020101020101" pitchFamily="18" charset="-127"/>
                  </a:defRPr>
                </a:pPr>
                <a:endParaRPr lang="ko-KR" altLang="en-US" sz="1050" b="0" i="0" u="none" strike="noStrike" baseline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cx:txPr>
            <cx:visibility seriesName="0" categoryName="1" value="1"/>
            <cx:separator>, 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100" b="1"/>
                  </a:pPr>
                  <a:r>
                    <a:rPr lang="ko-KR" altLang="en-US" sz="1100" b="1" i="0" u="none" strike="noStrike" baseline="0">
                      <a:solidFill>
                        <a:prstClr val="white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결함기각</a:t>
                  </a:r>
                </a:p>
              </cx:txPr>
            </cx:dataLabel>
            <cx:dataLabel idx="4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100" b="1"/>
                  </a:pPr>
                  <a:r>
                    <a:rPr lang="ko-KR" altLang="en-US" sz="1100" b="1" i="0" u="none" strike="noStrike" baseline="0">
                      <a:solidFill>
                        <a:prstClr val="white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판단보류</a:t>
                  </a:r>
                </a:p>
              </cx:txPr>
            </cx:dataLabel>
            <cx:dataLabelHidden idx="9"/>
          </cx:dataLabels>
          <cx:dataId val="0"/>
          <cx:layoutPr>
            <cx:parentLabelLayout val="overlapping"/>
          </cx:layoutPr>
        </cx:series>
        <cx:series layoutId="treemap" hidden="1" uniqueId="{4504BD33-2B0C-45D0-8E4D-16C2F95700B1}" formatIdx="1">
          <cx:tx>
            <cx:txData>
              <cx:f>[UIUX_결함분석_gen.xlsx]분석요약!$L$22</cx:f>
              <cx:v>비율</cx:v>
            </cx:txData>
          </cx:tx>
          <cx:dataLabels pos="inEnd">
            <cx:visibility seriesName="0" categoryName="1" value="0"/>
          </cx:dataLabels>
          <cx:dataId val="1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F5DBC-2D43-4714-A011-1B997A86543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2C630-A325-4356-BDAD-28F4716C4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8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B41CC7-FE31-4B6D-A108-F4AA61656A6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0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9990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2956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FCBC-ECD0-F637-05DC-FD1F89329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D5A8A3-F882-4D13-34E0-263129B64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DBBA2B-6EAC-EDFD-5875-B2A34DAAB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EB3DB-C707-4768-7615-2408CFDB05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081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071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517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767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3407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02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39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71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547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468299" y="6571423"/>
            <a:ext cx="3048858" cy="155693"/>
            <a:chOff x="299815" y="6545448"/>
            <a:chExt cx="2477197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53523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10717478" y="77413"/>
            <a:ext cx="1125081" cy="443379"/>
            <a:chOff x="10717478" y="77413"/>
            <a:chExt cx="1125081" cy="4433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4A100D-B537-B83E-0F2C-531635203217}"/>
                </a:ext>
              </a:extLst>
            </p:cNvPr>
            <p:cNvGrpSpPr/>
            <p:nvPr userDrawn="1"/>
          </p:nvGrpSpPr>
          <p:grpSpPr>
            <a:xfrm>
              <a:off x="10717478" y="77413"/>
              <a:ext cx="1125081" cy="443379"/>
              <a:chOff x="8328308" y="0"/>
              <a:chExt cx="1125081" cy="44337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2C599-D17E-32B6-1EE9-346065250115}"/>
                  </a:ext>
                </a:extLst>
              </p:cNvPr>
              <p:cNvSpPr txBox="1"/>
              <p:nvPr/>
            </p:nvSpPr>
            <p:spPr>
              <a:xfrm>
                <a:off x="8328308" y="270441"/>
                <a:ext cx="1047082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1100" spc="-2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marR="0" lvl="0" indent="0" algn="r" defTabSz="9141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UIUX 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점검결과 리뷰 </a:t>
                </a:r>
              </a:p>
            </p:txBody>
          </p:sp>
          <p:cxnSp>
            <p:nvCxnSpPr>
              <p:cNvPr id="19" name="직선 연결선 109">
                <a:extLst>
                  <a:ext uri="{FF2B5EF4-FFF2-40B4-BE49-F238E27FC236}">
                    <a16:creationId xmlns:a16="http://schemas.microsoft.com/office/drawing/2014/main" id="{056C6A96-585D-F666-8E00-9B0A66536827}"/>
                  </a:ext>
                </a:extLst>
              </p:cNvPr>
              <p:cNvCxnSpPr/>
              <p:nvPr/>
            </p:nvCxnSpPr>
            <p:spPr>
              <a:xfrm>
                <a:off x="9453389" y="0"/>
                <a:ext cx="0" cy="443379"/>
              </a:xfrm>
              <a:prstGeom prst="line">
                <a:avLst/>
              </a:prstGeom>
              <a:ln w="9525" cap="flat">
                <a:solidFill>
                  <a:srgbClr val="9AA3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9">
            <a:extLst>
              <a:ext uri="{FF2B5EF4-FFF2-40B4-BE49-F238E27FC236}">
                <a16:creationId xmlns:a16="http://schemas.microsoft.com/office/drawing/2014/main" id="{9F82B906-B480-0852-246F-922BDA4EF5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E9D500-9CDC-13D5-156A-5731D9325E66}"/>
              </a:ext>
            </a:extLst>
          </p:cNvPr>
          <p:cNvGrpSpPr/>
          <p:nvPr userDrawn="1"/>
        </p:nvGrpSpPr>
        <p:grpSpPr>
          <a:xfrm>
            <a:off x="468298" y="6571423"/>
            <a:ext cx="2994356" cy="155693"/>
            <a:chOff x="299815" y="6545448"/>
            <a:chExt cx="2432914" cy="155693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780E697-AC35-EDDF-4E4B-ED4F63A09AFD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09240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 통합정보시스템 고도화 구축 사업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867C7DB-6F2F-8438-8EB6-1EE2223D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sp>
        <p:nvSpPr>
          <p:cNvPr id="22" name="Line 4"/>
          <p:cNvSpPr>
            <a:spLocks noChangeShapeType="1"/>
          </p:cNvSpPr>
          <p:nvPr userDrawn="1"/>
        </p:nvSpPr>
        <p:spPr bwMode="auto">
          <a:xfrm>
            <a:off x="0" y="5715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180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A100D-B537-B83E-0F2C-531635203217}"/>
              </a:ext>
            </a:extLst>
          </p:cNvPr>
          <p:cNvGrpSpPr/>
          <p:nvPr userDrawn="1"/>
        </p:nvGrpSpPr>
        <p:grpSpPr>
          <a:xfrm>
            <a:off x="10719335" y="1"/>
            <a:ext cx="1153026" cy="443379"/>
            <a:chOff x="8516556" y="0"/>
            <a:chExt cx="936833" cy="4433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32C599-D17E-32B6-1EE9-346065250115}"/>
                </a:ext>
              </a:extLst>
            </p:cNvPr>
            <p:cNvSpPr txBox="1"/>
            <p:nvPr/>
          </p:nvSpPr>
          <p:spPr>
            <a:xfrm>
              <a:off x="8516556" y="270441"/>
              <a:ext cx="858829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defTabSz="914125" fontAlgn="base" latinLnBrk="0">
                <a:spcBef>
                  <a:spcPct val="0"/>
                </a:spcBef>
                <a:spcAft>
                  <a:spcPts val="200"/>
                </a:spcAft>
                <a:defRPr sz="1100" spc="-2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marR="0" lvl="0" indent="0" algn="r" defTabSz="9141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제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3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자 테스트 계획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(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안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)</a:t>
              </a:r>
            </a:p>
          </p:txBody>
        </p:sp>
        <p:cxnSp>
          <p:nvCxnSpPr>
            <p:cNvPr id="30" name="직선 연결선 109">
              <a:extLst>
                <a:ext uri="{FF2B5EF4-FFF2-40B4-BE49-F238E27FC236}">
                  <a16:creationId xmlns:a16="http://schemas.microsoft.com/office/drawing/2014/main" id="{056C6A96-585D-F666-8E00-9B0A66536827}"/>
                </a:ext>
              </a:extLst>
            </p:cNvPr>
            <p:cNvCxnSpPr/>
            <p:nvPr/>
          </p:nvCxnSpPr>
          <p:spPr>
            <a:xfrm>
              <a:off x="9453389" y="0"/>
              <a:ext cx="0" cy="443379"/>
            </a:xfrm>
            <a:prstGeom prst="line">
              <a:avLst/>
            </a:prstGeom>
            <a:ln w="9525" cap="flat">
              <a:solidFill>
                <a:srgbClr val="9AA3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5AC935BD-F940-7942-B750-837F8997D518}"/>
              </a:ext>
            </a:extLst>
          </p:cNvPr>
          <p:cNvSpPr/>
          <p:nvPr userDrawn="1"/>
        </p:nvSpPr>
        <p:spPr>
          <a:xfrm>
            <a:off x="11624348" y="171485"/>
            <a:ext cx="70892" cy="57600"/>
          </a:xfrm>
          <a:prstGeom prst="ellipse">
            <a:avLst/>
          </a:prstGeom>
          <a:solidFill>
            <a:srgbClr val="EE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9B34389-9A8F-1649-6284-ACFAD5A8DA15}"/>
              </a:ext>
            </a:extLst>
          </p:cNvPr>
          <p:cNvSpPr/>
          <p:nvPr userDrawn="1"/>
        </p:nvSpPr>
        <p:spPr>
          <a:xfrm>
            <a:off x="11359979" y="171485"/>
            <a:ext cx="70892" cy="57600"/>
          </a:xfrm>
          <a:prstGeom prst="ellipse">
            <a:avLst/>
          </a:prstGeom>
          <a:solidFill>
            <a:srgbClr val="D8D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F3E9267-D3B0-F322-8BDD-60A1AFD00E47}"/>
              </a:ext>
            </a:extLst>
          </p:cNvPr>
          <p:cNvSpPr/>
          <p:nvPr userDrawn="1"/>
        </p:nvSpPr>
        <p:spPr>
          <a:xfrm>
            <a:off x="11492164" y="171485"/>
            <a:ext cx="70892" cy="57600"/>
          </a:xfrm>
          <a:prstGeom prst="ellipse">
            <a:avLst/>
          </a:prstGeom>
          <a:solidFill>
            <a:srgbClr val="1774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6000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57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1AADF5-7B5D-4FC5-24AD-4BFEA5EC92B6}"/>
              </a:ext>
            </a:extLst>
          </p:cNvPr>
          <p:cNvSpPr/>
          <p:nvPr/>
        </p:nvSpPr>
        <p:spPr bwMode="gray">
          <a:xfrm>
            <a:off x="628206" y="1568095"/>
            <a:ext cx="5256584" cy="169277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28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인천국제공항</a:t>
            </a:r>
          </a:p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통합정보시스템 고도화</a:t>
            </a:r>
            <a:b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구축사업</a:t>
            </a:r>
            <a:endParaRPr lang="en-US" altLang="ko-KR" sz="36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rgbClr val="4472C4">
                  <a:lumMod val="7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3B5E8-A9CC-1E60-922D-D50CC07BB6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8207" y="707036"/>
            <a:ext cx="1922885" cy="3096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2C1E-EAB5-2D3E-D989-AC05435A2A9A}"/>
              </a:ext>
            </a:extLst>
          </p:cNvPr>
          <p:cNvSpPr/>
          <p:nvPr/>
        </p:nvSpPr>
        <p:spPr bwMode="gray">
          <a:xfrm>
            <a:off x="628206" y="3590583"/>
            <a:ext cx="7308097" cy="24622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AOMS UIUX 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점검 결과 보고 </a:t>
            </a: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( 2026.05.11)</a:t>
            </a:r>
          </a:p>
        </p:txBody>
      </p:sp>
    </p:spTree>
    <p:extLst>
      <p:ext uri="{BB962C8B-B14F-4D97-AF65-F5344CB8AC3E}">
        <p14:creationId xmlns:p14="http://schemas.microsoft.com/office/powerpoint/2010/main" val="37390814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7993"/>
            <a:ext cx="182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 차</a:t>
            </a:r>
            <a:endParaRPr lang="en-US" sz="2933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07755" y="2123784"/>
            <a:ext cx="6109063" cy="675187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3"/>
          <p:cNvSpPr/>
          <p:nvPr/>
        </p:nvSpPr>
        <p:spPr>
          <a:xfrm>
            <a:off x="4807756" y="2123784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4807756" y="2178378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01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1197" y="2216401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분석 현황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1196" y="2523579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 결함 현황, 모듈별 현황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7755" y="2954992"/>
            <a:ext cx="6109063" cy="67518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8"/>
          <p:cNvSpPr/>
          <p:nvPr/>
        </p:nvSpPr>
        <p:spPr>
          <a:xfrm>
            <a:off x="4807756" y="2954992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4807756" y="3009586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02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1197" y="3047609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</a:t>
            </a:r>
            <a:r>
              <a:rPr lang="ko-KR" alt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유형</a:t>
            </a:r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분석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1196" y="3354787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유형별 분류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07755" y="3786200"/>
            <a:ext cx="6109063" cy="675187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Shape 13"/>
          <p:cNvSpPr/>
          <p:nvPr/>
        </p:nvSpPr>
        <p:spPr>
          <a:xfrm>
            <a:off x="4807756" y="3786200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4807756" y="3840794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03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1197" y="3878817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기각 사유 분석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1196" y="4185995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기각사유 분류, 주요 인사이트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07755" y="4617408"/>
            <a:ext cx="6109063" cy="67518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18"/>
          <p:cNvSpPr/>
          <p:nvPr/>
        </p:nvSpPr>
        <p:spPr>
          <a:xfrm>
            <a:off x="4807756" y="4617408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19"/>
          <p:cNvSpPr/>
          <p:nvPr/>
        </p:nvSpPr>
        <p:spPr>
          <a:xfrm>
            <a:off x="4807756" y="4672002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04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1197" y="4710025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유형별 </a:t>
            </a:r>
            <a:r>
              <a:rPr 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계획 및 방안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1196" y="5017203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단기·중기·장기 조치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7755" y="5448617"/>
            <a:ext cx="6109063" cy="675187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Shape 23"/>
          <p:cNvSpPr/>
          <p:nvPr/>
        </p:nvSpPr>
        <p:spPr>
          <a:xfrm>
            <a:off x="4807756" y="5448617"/>
            <a:ext cx="670560" cy="67518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24"/>
          <p:cNvSpPr/>
          <p:nvPr/>
        </p:nvSpPr>
        <p:spPr>
          <a:xfrm>
            <a:off x="4807756" y="5503211"/>
            <a:ext cx="670560" cy="515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05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61197" y="5541234"/>
            <a:ext cx="3538790" cy="2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600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기각 사유 별 조치 방안</a:t>
            </a:r>
            <a:endParaRPr 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89771" y="5848412"/>
            <a:ext cx="4117288" cy="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00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유효결함에 대한 조치 방안</a:t>
            </a:r>
            <a:endParaRPr 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674F1242-148A-4AEA-AD5E-27A71E666EF9}"/>
              </a:ext>
            </a:extLst>
          </p:cNvPr>
          <p:cNvSpPr/>
          <p:nvPr/>
        </p:nvSpPr>
        <p:spPr>
          <a:xfrm>
            <a:off x="664961" y="991842"/>
            <a:ext cx="3538791" cy="88580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C34FB324-E120-475B-B64A-296CD78E0E43}"/>
              </a:ext>
            </a:extLst>
          </p:cNvPr>
          <p:cNvSpPr/>
          <p:nvPr/>
        </p:nvSpPr>
        <p:spPr>
          <a:xfrm>
            <a:off x="664962" y="991842"/>
            <a:ext cx="670560" cy="88580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49806D21-CCE7-45F3-A7FD-BF24FE2DE79E}"/>
              </a:ext>
            </a:extLst>
          </p:cNvPr>
          <p:cNvSpPr/>
          <p:nvPr/>
        </p:nvSpPr>
        <p:spPr>
          <a:xfrm>
            <a:off x="664962" y="1057267"/>
            <a:ext cx="670560" cy="676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A8CB644E-F130-4139-9340-87D53B082B4A}"/>
              </a:ext>
            </a:extLst>
          </p:cNvPr>
          <p:cNvSpPr/>
          <p:nvPr/>
        </p:nvSpPr>
        <p:spPr>
          <a:xfrm>
            <a:off x="1518403" y="1045906"/>
            <a:ext cx="2241834" cy="369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867" b="1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수행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7110E42A-BF43-41CB-BB7B-24B161074F1E}"/>
              </a:ext>
            </a:extLst>
          </p:cNvPr>
          <p:cNvSpPr/>
          <p:nvPr/>
        </p:nvSpPr>
        <p:spPr>
          <a:xfrm>
            <a:off x="1518402" y="1421586"/>
            <a:ext cx="2608314" cy="307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개요</a:t>
            </a:r>
            <a:r>
              <a:rPr 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 관리</a:t>
            </a:r>
            <a:r>
              <a:rPr lang="en-US" altLang="ko-KR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6CD58413-980E-4625-A718-BB1BCA738202}"/>
              </a:ext>
            </a:extLst>
          </p:cNvPr>
          <p:cNvSpPr/>
          <p:nvPr/>
        </p:nvSpPr>
        <p:spPr>
          <a:xfrm>
            <a:off x="664961" y="2107704"/>
            <a:ext cx="3538791" cy="88580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5B8DF3C9-B8D5-44FB-A9E2-9A017DEBCD7C}"/>
              </a:ext>
            </a:extLst>
          </p:cNvPr>
          <p:cNvSpPr/>
          <p:nvPr/>
        </p:nvSpPr>
        <p:spPr>
          <a:xfrm>
            <a:off x="664962" y="2120861"/>
            <a:ext cx="670560" cy="88580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DB8FD85D-D1ED-42A4-B050-48972574F5DE}"/>
              </a:ext>
            </a:extLst>
          </p:cNvPr>
          <p:cNvSpPr/>
          <p:nvPr/>
        </p:nvSpPr>
        <p:spPr>
          <a:xfrm>
            <a:off x="664962" y="2186286"/>
            <a:ext cx="670560" cy="676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II</a:t>
            </a:r>
            <a:endParaRPr lang="en-US" sz="18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43B7B15D-18FC-41D1-AFB6-C90B53C26D92}"/>
              </a:ext>
            </a:extLst>
          </p:cNvPr>
          <p:cNvSpPr/>
          <p:nvPr/>
        </p:nvSpPr>
        <p:spPr>
          <a:xfrm>
            <a:off x="1518403" y="2174925"/>
            <a:ext cx="2241834" cy="369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867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분석결과 보고</a:t>
            </a:r>
            <a:endParaRPr lang="en-US" sz="1867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6CDA3E07-5F54-4552-B55B-9AEECB37B69E}"/>
              </a:ext>
            </a:extLst>
          </p:cNvPr>
          <p:cNvSpPr/>
          <p:nvPr/>
        </p:nvSpPr>
        <p:spPr>
          <a:xfrm>
            <a:off x="1518402" y="2550605"/>
            <a:ext cx="2608314" cy="307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67" dirty="0">
                <a:solidFill>
                  <a:srgbClr val="4A5568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상세 분석 결과</a:t>
            </a:r>
            <a:endParaRPr lang="en-US" sz="1467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- 01.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개요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99351" y="692696"/>
            <a:ext cx="11470595" cy="340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ts val="2000"/>
              </a:lnSpc>
              <a:spcBef>
                <a:spcPct val="30000"/>
              </a:spcBef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통합정보시스템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AOMS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영역의 개발표준 준수 여부 및 기능 완전성을 재점검하여 취약한 부분에 대한 보완을 통해 개발 품질 수준을 높이고자 함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38060" y="1697989"/>
            <a:ext cx="5242872" cy="1030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3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자 관점의 독립적인 테스트를 통한 현재 품질수준을 확인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화면 지반 기능들의 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UI/UX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표준 준수 및 구현의 일관성  여부를 점검</a:t>
            </a:r>
            <a:b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</a:b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신뢰성 있는 품질 수준의 확보 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65313" y="3980061"/>
            <a:ext cx="4889363" cy="1999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UI/UX </a:t>
            </a: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표준 준수 확인 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 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LAYOUT,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버튼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,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용어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/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약어 사용 등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일관성 있는 개발표준 준수 확인 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 처리의 이벤트 표준 준수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기능 검증 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실 사용자 관점에서 사용 편의성 및 직관성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,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060" y="133851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</a:t>
            </a: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825638" y="1655323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5314" y="3607598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품질 측면의 검증 사항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852892" y="3946152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91981" y="1338511"/>
            <a:ext cx="31683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일정 및 조직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6379559" y="1673985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91980" y="1711545"/>
            <a:ext cx="3893346" cy="13047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일정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04/22 ~ 05/07 (10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Tester (10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55 M/D)</a:t>
            </a: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윤성훈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박선용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홍인기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김철현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임홍규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최중혁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이광재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최현식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정수연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이상용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276638" y="3974829"/>
            <a:ext cx="3893346" cy="1676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총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4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업무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온라인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(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화면기기준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)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기능 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376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공통관리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108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공항운영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114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예측관리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 77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항공보안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 77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개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62700" y="3607598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대상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4" name="직선 연결선 23"/>
          <p:cNvCxnSpPr>
            <a:cxnSpLocks/>
          </p:cNvCxnSpPr>
          <p:nvPr/>
        </p:nvCxnSpPr>
        <p:spPr>
          <a:xfrm>
            <a:off x="6450278" y="3942342"/>
            <a:ext cx="459242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929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89137E-8146-4FD9-BCE4-D9A994F2D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710" y="1512122"/>
            <a:ext cx="9116486" cy="4950298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- 02.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결과 관리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330871" y="807187"/>
            <a:ext cx="5021825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TMS(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테스트관리시스템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별도 프로젝트 등록하여 관리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8DF432-CEE5-46BD-AF34-7AE02AB63619}"/>
              </a:ext>
            </a:extLst>
          </p:cNvPr>
          <p:cNvSpPr/>
          <p:nvPr/>
        </p:nvSpPr>
        <p:spPr>
          <a:xfrm>
            <a:off x="2926120" y="1438354"/>
            <a:ext cx="4333096" cy="380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187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161362" y="991109"/>
            <a:ext cx="2581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※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현황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(05.08, 08:30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1C2DCF-98AC-2CC7-5CDA-CF237E94C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- 03.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테스트 </a:t>
            </a:r>
            <a:r>
              <a:rPr lang="ko-KR" altLang="en-US" sz="2000" b="1" dirty="0">
                <a:solidFill>
                  <a:prstClr val="white"/>
                </a:solidFill>
              </a:rPr>
              <a:t>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E0585D-508B-1DDC-9FAF-B5D9FDC02D2B}"/>
              </a:ext>
            </a:extLst>
          </p:cNvPr>
          <p:cNvSpPr/>
          <p:nvPr/>
        </p:nvSpPr>
        <p:spPr>
          <a:xfrm>
            <a:off x="751609" y="944941"/>
            <a:ext cx="37138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>
              <a:spcBef>
                <a:spcPts val="600"/>
              </a:spcBef>
              <a:spcAft>
                <a:spcPts val="600"/>
              </a:spcAft>
            </a:pPr>
            <a:r>
              <a:rPr kumimoji="1" lang="ko-KR" altLang="en-US" sz="1400" b="1" dirty="0">
                <a:latin typeface="KoPub돋움체 Light" panose="02020603020101020101" pitchFamily="18" charset="-127"/>
                <a:ea typeface="KoPub돋움체 Medium" panose="00000600000000000000"/>
              </a:rPr>
              <a:t>식별 결함 </a:t>
            </a:r>
            <a:r>
              <a:rPr kumimoji="1" lang="en-US" altLang="ko-KR" sz="1400" b="1" dirty="0">
                <a:latin typeface="KoPub돋움체 Light" panose="02020603020101020101" pitchFamily="18" charset="-127"/>
                <a:ea typeface="KoPub돋움체 Medium" panose="00000600000000000000"/>
              </a:rPr>
              <a:t>: </a:t>
            </a:r>
            <a:r>
              <a:rPr kumimoji="1" lang="ko-KR" altLang="en-US" sz="1400" b="1" dirty="0">
                <a:latin typeface="KoPub돋움체 Light" panose="02020603020101020101" pitchFamily="18" charset="-127"/>
                <a:ea typeface="KoPub돋움체 Medium" panose="00000600000000000000"/>
              </a:rPr>
              <a:t> </a:t>
            </a:r>
            <a:r>
              <a:rPr kumimoji="1" lang="en-US" altLang="ko-KR" sz="1400" b="1" dirty="0">
                <a:latin typeface="KoPub돋움체 Light" panose="02020603020101020101" pitchFamily="18" charset="-127"/>
                <a:ea typeface="KoPub돋움체 Medium" panose="00000600000000000000"/>
              </a:rPr>
              <a:t>654</a:t>
            </a:r>
            <a:r>
              <a:rPr kumimoji="1" lang="ko-KR" altLang="en-US" sz="1400" b="1" dirty="0">
                <a:latin typeface="KoPub돋움체 Light" panose="02020603020101020101" pitchFamily="18" charset="-127"/>
                <a:ea typeface="KoPub돋움체 Medium" panose="00000600000000000000"/>
              </a:rPr>
              <a:t>건 </a:t>
            </a:r>
            <a:r>
              <a:rPr kumimoji="1" lang="en-US" altLang="ko-KR" sz="1400" b="1" dirty="0">
                <a:latin typeface="KoPub돋움체 Light" panose="02020603020101020101" pitchFamily="18" charset="-127"/>
                <a:ea typeface="KoPub돋움체 Medium" panose="00000600000000000000"/>
              </a:rPr>
              <a:t>(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Medium" panose="00000600000000000000"/>
              </a:rPr>
              <a:t>376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Medium" panose="00000600000000000000"/>
              </a:rPr>
              <a:t>개 시나리오 기준 </a:t>
            </a:r>
            <a:r>
              <a:rPr kumimoji="1" lang="en-US" altLang="ko-KR" sz="1400" b="1" dirty="0">
                <a:latin typeface="KoPub돋움체 Light" panose="02020603020101020101" pitchFamily="18" charset="-127"/>
                <a:ea typeface="KoPub돋움체 Medium" panose="00000600000000000000"/>
              </a:rPr>
              <a:t>)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Medium" panose="00000600000000000000"/>
              </a:rPr>
              <a:t> 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EF6F86-9C8A-44B3-9F34-9BC95C4CAD3F}"/>
              </a:ext>
            </a:extLst>
          </p:cNvPr>
          <p:cNvSpPr/>
          <p:nvPr/>
        </p:nvSpPr>
        <p:spPr>
          <a:xfrm>
            <a:off x="8717032" y="5605281"/>
            <a:ext cx="12493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100" dirty="0">
                <a:latin typeface="KoPub돋움체 Light" panose="02020603020101020101" pitchFamily="18" charset="-127"/>
                <a:ea typeface="KoPub돋움체 Medium" panose="00000600000000000000"/>
              </a:rPr>
              <a:t>조치 완료 기준</a:t>
            </a:r>
            <a:endParaRPr kumimoji="1" lang="en-US" altLang="ko-KR" sz="11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C7D2D1-BEBE-4005-9549-EA25E801A087}"/>
              </a:ext>
            </a:extLst>
          </p:cNvPr>
          <p:cNvSpPr txBox="1"/>
          <p:nvPr/>
        </p:nvSpPr>
        <p:spPr>
          <a:xfrm>
            <a:off x="9650064" y="5423043"/>
            <a:ext cx="2295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Light" panose="02020603020101020101" pitchFamily="18" charset="-127"/>
              <a:ea typeface="KoPub돋움체 Medium" panose="0000060000000000000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결함 기각</a:t>
            </a:r>
            <a:endParaRPr kumimoji="1" lang="en-US" altLang="ko-KR" sz="11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결함조치 후 테스터 최종 확인 </a:t>
            </a:r>
            <a:endParaRPr kumimoji="1" lang="en-US" altLang="ko-KR" sz="11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결</a:t>
            </a:r>
            <a:r>
              <a:rPr kumimoji="1" lang="ko-KR" altLang="en-US" sz="11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함조치 후 테스터 확인 대기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3085E3-3458-4AC8-A53A-A145646B8F9A}"/>
              </a:ext>
            </a:extLst>
          </p:cNvPr>
          <p:cNvSpPr/>
          <p:nvPr/>
        </p:nvSpPr>
        <p:spPr>
          <a:xfrm>
            <a:off x="772209" y="5582197"/>
            <a:ext cx="78788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의견 </a:t>
            </a:r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: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조치율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45.57%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는 결함기각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(33.18%)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가 포함된 건으로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, </a:t>
            </a:r>
          </a:p>
          <a:p>
            <a:pPr defTabSz="457200" latinLnBrk="0"/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        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결함이 실제 조치 된 결과로 판단하기 어려움   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0000"/>
              </a:solidFill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A046555-7B93-4DEB-8557-171432AEF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978504"/>
              </p:ext>
            </p:extLst>
          </p:nvPr>
        </p:nvGraphicFramePr>
        <p:xfrm>
          <a:off x="838198" y="1434957"/>
          <a:ext cx="10860466" cy="392043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53386">
                  <a:extLst>
                    <a:ext uri="{9D8B030D-6E8A-4147-A177-3AD203B41FA5}">
                      <a16:colId xmlns:a16="http://schemas.microsoft.com/office/drawing/2014/main" val="300160993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2158593666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2914999141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1453925954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1691862204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2230119104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89486948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1615611059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966516945"/>
                    </a:ext>
                  </a:extLst>
                </a:gridCol>
                <a:gridCol w="733687">
                  <a:extLst>
                    <a:ext uri="{9D8B030D-6E8A-4147-A177-3AD203B41FA5}">
                      <a16:colId xmlns:a16="http://schemas.microsoft.com/office/drawing/2014/main" val="2944041844"/>
                    </a:ext>
                  </a:extLst>
                </a:gridCol>
                <a:gridCol w="671510">
                  <a:extLst>
                    <a:ext uri="{9D8B030D-6E8A-4147-A177-3AD203B41FA5}">
                      <a16:colId xmlns:a16="http://schemas.microsoft.com/office/drawing/2014/main" val="3455492573"/>
                    </a:ext>
                  </a:extLst>
                </a:gridCol>
                <a:gridCol w="783428">
                  <a:extLst>
                    <a:ext uri="{9D8B030D-6E8A-4147-A177-3AD203B41FA5}">
                      <a16:colId xmlns:a16="http://schemas.microsoft.com/office/drawing/2014/main" val="4072196564"/>
                    </a:ext>
                  </a:extLst>
                </a:gridCol>
                <a:gridCol w="733687">
                  <a:extLst>
                    <a:ext uri="{9D8B030D-6E8A-4147-A177-3AD203B41FA5}">
                      <a16:colId xmlns:a16="http://schemas.microsoft.com/office/drawing/2014/main" val="2261743158"/>
                    </a:ext>
                  </a:extLst>
                </a:gridCol>
                <a:gridCol w="812688">
                  <a:extLst>
                    <a:ext uri="{9D8B030D-6E8A-4147-A177-3AD203B41FA5}">
                      <a16:colId xmlns:a16="http://schemas.microsoft.com/office/drawing/2014/main" val="1176060222"/>
                    </a:ext>
                  </a:extLst>
                </a:gridCol>
              </a:tblGrid>
              <a:tr h="29138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업무영역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대상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조치 현황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총합계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결함율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결함조치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270423"/>
                  </a:ext>
                </a:extLst>
              </a:tr>
              <a:tr h="1024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Itr1-1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Itr1-2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Itr2-1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Itr2-2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Itr2-3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총합계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결함등록기각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조치완료    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 중</a:t>
                      </a: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기각율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조치율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74281"/>
                  </a:ext>
                </a:extLst>
              </a:tr>
              <a:tr h="453819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Itr1-1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Itr1-2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Itr2-1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Itr2-2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Itr2-3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총합계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결함등록기각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조치완료    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 중</a:t>
                      </a:r>
                    </a:p>
                  </a:txBody>
                  <a:tcPr marL="9149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149" marR="9149" marT="91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27021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AOMS-CA)</a:t>
                      </a:r>
                    </a:p>
                  </a:txBody>
                  <a:tcPr marL="36000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31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108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85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43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128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118.5%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66.41%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100.00%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667386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공항운영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GO)</a:t>
                      </a:r>
                    </a:p>
                  </a:txBody>
                  <a:tcPr marL="36000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27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114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212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234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205.3%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6.41%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9.40%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438859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예측관리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PM)</a:t>
                      </a:r>
                    </a:p>
                  </a:txBody>
                  <a:tcPr marL="36000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77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63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102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173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224.7%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36.42%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41.04%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241839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항공보안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FS)</a:t>
                      </a:r>
                    </a:p>
                  </a:txBody>
                  <a:tcPr marL="36000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19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77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42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119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154.5%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45.38%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64.71%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336546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항공통계포털</a:t>
                      </a:r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(AS)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55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98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171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　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0.00%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0.00%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633495"/>
                  </a:ext>
                </a:extLst>
              </a:tr>
              <a:tr h="291384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대상 합계</a:t>
                      </a:r>
                    </a:p>
                  </a:txBody>
                  <a:tcPr marL="36000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70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106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136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154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547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217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356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654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173.9%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33.18%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45.57%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43917"/>
                  </a:ext>
                </a:extLst>
              </a:tr>
              <a:tr h="46356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 수행건 합계</a:t>
                      </a:r>
                    </a:p>
                  </a:txBody>
                  <a:tcPr marL="36000" marR="9149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70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88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56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376</a:t>
                      </a:r>
                    </a:p>
                  </a:txBody>
                  <a:tcPr marL="36000" marR="36000" marT="914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5763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631E0482-CA9D-1092-4AE2-0DF7405D3280}"/>
              </a:ext>
            </a:extLst>
          </p:cNvPr>
          <p:cNvSpPr/>
          <p:nvPr/>
        </p:nvSpPr>
        <p:spPr>
          <a:xfrm>
            <a:off x="838198" y="1434956"/>
            <a:ext cx="10860466" cy="3920437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ED42F1-2CD0-FA3F-5018-6DBFE3F7A384}"/>
              </a:ext>
            </a:extLst>
          </p:cNvPr>
          <p:cNvSpPr/>
          <p:nvPr/>
        </p:nvSpPr>
        <p:spPr>
          <a:xfrm>
            <a:off x="5996965" y="5721617"/>
            <a:ext cx="24091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Light" panose="02020603020101020101" pitchFamily="18" charset="-127"/>
                <a:ea typeface="KoPub돋움체 Medium" panose="00000600000000000000"/>
                <a:cs typeface="Segoe UI" panose="020B0502040204020203" pitchFamily="34" charset="0"/>
              </a:rPr>
              <a:t>기각 사유의 분석 필요 확인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0000"/>
              </a:solidFill>
              <a:latin typeface="KoPub돋움체 Light" panose="02020603020101020101" pitchFamily="18" charset="-127"/>
              <a:ea typeface="KoPub돋움체 Medium" panose="00000600000000000000"/>
              <a:cs typeface="Segoe UI" panose="020B0502040204020203" pitchFamily="34" charset="0"/>
            </a:endParaRP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C9815E6B-9318-F7A9-55BE-0C8A265D4D73}"/>
              </a:ext>
            </a:extLst>
          </p:cNvPr>
          <p:cNvSpPr/>
          <p:nvPr/>
        </p:nvSpPr>
        <p:spPr>
          <a:xfrm>
            <a:off x="5483380" y="5758082"/>
            <a:ext cx="418028" cy="171450"/>
          </a:xfrm>
          <a:prstGeom prst="homePlate">
            <a:avLst/>
          </a:prstGeom>
          <a:solidFill>
            <a:srgbClr val="0000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195D1D-3733-2E18-F222-7DE391E71577}"/>
              </a:ext>
            </a:extLst>
          </p:cNvPr>
          <p:cNvSpPr/>
          <p:nvPr/>
        </p:nvSpPr>
        <p:spPr>
          <a:xfrm>
            <a:off x="10135058" y="4610179"/>
            <a:ext cx="1563606" cy="7694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47120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4E2C-32AF-4BAA-90F6-BAB24F92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bject 12">
            <a:extLst>
              <a:ext uri="{FF2B5EF4-FFF2-40B4-BE49-F238E27FC236}">
                <a16:creationId xmlns:a16="http://schemas.microsoft.com/office/drawing/2014/main" id="{5AA399EF-5ECE-5BF4-2ED1-5C3EDF783438}"/>
              </a:ext>
            </a:extLst>
          </p:cNvPr>
          <p:cNvSpPr/>
          <p:nvPr/>
        </p:nvSpPr>
        <p:spPr>
          <a:xfrm flipV="1">
            <a:off x="787746" y="4258358"/>
            <a:ext cx="3136556" cy="519416"/>
          </a:xfrm>
          <a:custGeom>
            <a:avLst/>
            <a:gdLst/>
            <a:ahLst/>
            <a:cxnLst/>
            <a:rect l="l" t="t" r="r" b="b"/>
            <a:pathLst>
              <a:path w="2893695" h="8255">
                <a:moveTo>
                  <a:pt x="2893278" y="7798"/>
                </a:moveTo>
                <a:lnTo>
                  <a:pt x="0" y="7798"/>
                </a:lnTo>
                <a:lnTo>
                  <a:pt x="0" y="0"/>
                </a:lnTo>
                <a:lnTo>
                  <a:pt x="2893278" y="0"/>
                </a:lnTo>
                <a:lnTo>
                  <a:pt x="2893278" y="779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D2C6CC60-B95F-C4B6-C266-7D9BCB1B8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- 04.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테스트 수행 간 활동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2FB7F1AE-7D13-6511-BCD3-CC6E83F13840}"/>
              </a:ext>
            </a:extLst>
          </p:cNvPr>
          <p:cNvSpPr/>
          <p:nvPr/>
        </p:nvSpPr>
        <p:spPr>
          <a:xfrm>
            <a:off x="1910359" y="1862831"/>
            <a:ext cx="2160000" cy="1967256"/>
          </a:xfrm>
          <a:prstGeom prst="rect">
            <a:avLst/>
          </a:prstGeom>
          <a:ln w="7798">
            <a:solidFill>
              <a:srgbClr val="E2E7F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F2039954-97DF-2A38-6A07-7A0439F2EF7F}"/>
              </a:ext>
            </a:extLst>
          </p:cNvPr>
          <p:cNvSpPr/>
          <p:nvPr/>
        </p:nvSpPr>
        <p:spPr>
          <a:xfrm>
            <a:off x="1924040" y="1882427"/>
            <a:ext cx="2160000" cy="410693"/>
          </a:xfrm>
          <a:custGeom>
            <a:avLst/>
            <a:gdLst/>
            <a:ahLst/>
            <a:cxnLst/>
            <a:rect l="l" t="t" r="r" b="b"/>
            <a:pathLst>
              <a:path w="2893695" h="741044">
                <a:moveTo>
                  <a:pt x="2893278" y="740866"/>
                </a:moveTo>
                <a:lnTo>
                  <a:pt x="0" y="740866"/>
                </a:lnTo>
                <a:lnTo>
                  <a:pt x="0" y="116978"/>
                </a:lnTo>
                <a:lnTo>
                  <a:pt x="8904" y="72212"/>
                </a:lnTo>
                <a:lnTo>
                  <a:pt x="34262" y="34262"/>
                </a:lnTo>
                <a:lnTo>
                  <a:pt x="72212" y="8904"/>
                </a:lnTo>
                <a:lnTo>
                  <a:pt x="116978" y="0"/>
                </a:lnTo>
                <a:lnTo>
                  <a:pt x="2776299" y="0"/>
                </a:lnTo>
                <a:lnTo>
                  <a:pt x="2821064" y="8904"/>
                </a:lnTo>
                <a:lnTo>
                  <a:pt x="2859015" y="34262"/>
                </a:lnTo>
                <a:lnTo>
                  <a:pt x="2884373" y="72212"/>
                </a:lnTo>
                <a:lnTo>
                  <a:pt x="2893278" y="116978"/>
                </a:lnTo>
                <a:lnTo>
                  <a:pt x="2893278" y="740866"/>
                </a:lnTo>
                <a:close/>
              </a:path>
            </a:pathLst>
          </a:custGeom>
          <a:solidFill>
            <a:srgbClr val="F3F7F8"/>
          </a:solidFill>
          <a:ln>
            <a:solidFill>
              <a:srgbClr val="F3F7F8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0A47400C-8004-F281-204D-7749182FB95F}"/>
              </a:ext>
            </a:extLst>
          </p:cNvPr>
          <p:cNvSpPr/>
          <p:nvPr/>
        </p:nvSpPr>
        <p:spPr>
          <a:xfrm>
            <a:off x="1914154" y="2298165"/>
            <a:ext cx="2160000" cy="4876"/>
          </a:xfrm>
          <a:custGeom>
            <a:avLst/>
            <a:gdLst/>
            <a:ahLst/>
            <a:cxnLst/>
            <a:rect l="l" t="t" r="r" b="b"/>
            <a:pathLst>
              <a:path w="2893695" h="8255">
                <a:moveTo>
                  <a:pt x="2893278" y="7798"/>
                </a:moveTo>
                <a:lnTo>
                  <a:pt x="0" y="7798"/>
                </a:lnTo>
                <a:lnTo>
                  <a:pt x="0" y="0"/>
                </a:lnTo>
                <a:lnTo>
                  <a:pt x="2893278" y="0"/>
                </a:lnTo>
                <a:lnTo>
                  <a:pt x="2893278" y="779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361E9-F34B-6305-B95D-1E3122F29159}"/>
              </a:ext>
            </a:extLst>
          </p:cNvPr>
          <p:cNvSpPr txBox="1"/>
          <p:nvPr/>
        </p:nvSpPr>
        <p:spPr>
          <a:xfrm>
            <a:off x="1971603" y="1893574"/>
            <a:ext cx="1899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내부 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Review (1</a:t>
            </a: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차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)</a:t>
            </a:r>
            <a:endParaRPr lang="ko-KR" altLang="en-US" sz="1400" b="1" dirty="0">
              <a:solidFill>
                <a:schemeClr val="accent5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함초롬바탕"/>
            </a:endParaRPr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26E6CFA1-F16D-DC27-E72C-19CA3459DEB2}"/>
              </a:ext>
            </a:extLst>
          </p:cNvPr>
          <p:cNvSpPr txBox="1"/>
          <p:nvPr/>
        </p:nvSpPr>
        <p:spPr>
          <a:xfrm>
            <a:off x="2132756" y="2513855"/>
            <a:ext cx="1803969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결함 유형별 사례 공유</a:t>
            </a:r>
            <a:endParaRPr sz="12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Noto Sans CJK KR Regula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78BB25-B2EA-400A-7D27-C70D59AA358C}"/>
              </a:ext>
            </a:extLst>
          </p:cNvPr>
          <p:cNvSpPr/>
          <p:nvPr/>
        </p:nvSpPr>
        <p:spPr>
          <a:xfrm>
            <a:off x="1971603" y="2550556"/>
            <a:ext cx="127970" cy="14400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6E273AF9-1EA7-FC19-2BA8-B6C1ECB19585}"/>
              </a:ext>
            </a:extLst>
          </p:cNvPr>
          <p:cNvSpPr txBox="1"/>
          <p:nvPr/>
        </p:nvSpPr>
        <p:spPr>
          <a:xfrm>
            <a:off x="2132756" y="3012356"/>
            <a:ext cx="1803969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표준화 조치 결과의 수준 진단</a:t>
            </a:r>
            <a:endParaRPr sz="12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Noto Sans CJK KR Regular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8C85BB28-D781-930B-9916-5510AE375D5D}"/>
              </a:ext>
            </a:extLst>
          </p:cNvPr>
          <p:cNvSpPr txBox="1"/>
          <p:nvPr/>
        </p:nvSpPr>
        <p:spPr>
          <a:xfrm>
            <a:off x="2132756" y="3490901"/>
            <a:ext cx="2041107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조치 활동 방안 수립 필요 </a:t>
            </a:r>
            <a:r>
              <a:rPr lang="en-US" altLang="ko-KR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Issue Up</a:t>
            </a:r>
            <a:endParaRPr sz="12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Noto Sans CJK KR Regular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DE6F97D-256C-1510-DABE-1ED59E564041}"/>
              </a:ext>
            </a:extLst>
          </p:cNvPr>
          <p:cNvCxnSpPr>
            <a:cxnSpLocks/>
          </p:cNvCxnSpPr>
          <p:nvPr/>
        </p:nvCxnSpPr>
        <p:spPr>
          <a:xfrm>
            <a:off x="2132756" y="2857212"/>
            <a:ext cx="16276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7EE65E3-A7DE-F257-943A-ED9D8354E7E8}"/>
              </a:ext>
            </a:extLst>
          </p:cNvPr>
          <p:cNvCxnSpPr>
            <a:cxnSpLocks/>
          </p:cNvCxnSpPr>
          <p:nvPr/>
        </p:nvCxnSpPr>
        <p:spPr>
          <a:xfrm>
            <a:off x="2132756" y="3346810"/>
            <a:ext cx="16276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object 125">
            <a:extLst>
              <a:ext uri="{FF2B5EF4-FFF2-40B4-BE49-F238E27FC236}">
                <a16:creationId xmlns:a16="http://schemas.microsoft.com/office/drawing/2014/main" id="{B1F0A18E-F471-0774-F3E7-8E1C893D9A9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3863" y="2459920"/>
            <a:ext cx="534831" cy="976706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0F091D25-1132-DA39-693E-CA75B10AF20A}"/>
              </a:ext>
            </a:extLst>
          </p:cNvPr>
          <p:cNvSpPr/>
          <p:nvPr/>
        </p:nvSpPr>
        <p:spPr>
          <a:xfrm>
            <a:off x="771525" y="1339993"/>
            <a:ext cx="10476000" cy="156320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43F7975-8745-F35E-E886-54A53F9D3EE7}"/>
              </a:ext>
            </a:extLst>
          </p:cNvPr>
          <p:cNvSpPr/>
          <p:nvPr/>
        </p:nvSpPr>
        <p:spPr>
          <a:xfrm>
            <a:off x="1204350" y="1346153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1D994A-D927-E67E-EFE0-30C36A30E1CD}"/>
              </a:ext>
            </a:extLst>
          </p:cNvPr>
          <p:cNvSpPr txBox="1"/>
          <p:nvPr/>
        </p:nvSpPr>
        <p:spPr>
          <a:xfrm>
            <a:off x="914400" y="920278"/>
            <a:ext cx="723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04.22</a:t>
            </a:r>
            <a:endParaRPr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B7169D-726B-E7CD-FAC5-E063E255F51B}"/>
              </a:ext>
            </a:extLst>
          </p:cNvPr>
          <p:cNvSpPr txBox="1"/>
          <p:nvPr/>
        </p:nvSpPr>
        <p:spPr>
          <a:xfrm>
            <a:off x="763242" y="1826406"/>
            <a:ext cx="1205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테스트 착수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2CBA391-6DC7-E6EA-6473-5CBD448F6840}"/>
              </a:ext>
            </a:extLst>
          </p:cNvPr>
          <p:cNvSpPr/>
          <p:nvPr/>
        </p:nvSpPr>
        <p:spPr>
          <a:xfrm>
            <a:off x="1976856" y="3038376"/>
            <a:ext cx="127970" cy="14400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6BF3043-F1C7-1E1B-4F2D-87EBA694A301}"/>
              </a:ext>
            </a:extLst>
          </p:cNvPr>
          <p:cNvSpPr/>
          <p:nvPr/>
        </p:nvSpPr>
        <p:spPr>
          <a:xfrm>
            <a:off x="1971603" y="3516288"/>
            <a:ext cx="127970" cy="14400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C4E7B4F2-C413-D444-0F85-F4DADFECEDB6}"/>
              </a:ext>
            </a:extLst>
          </p:cNvPr>
          <p:cNvSpPr/>
          <p:nvPr/>
        </p:nvSpPr>
        <p:spPr>
          <a:xfrm>
            <a:off x="2789573" y="1346153"/>
            <a:ext cx="144000" cy="144000"/>
          </a:xfrm>
          <a:prstGeom prst="ellipse">
            <a:avLst/>
          </a:prstGeom>
          <a:solidFill>
            <a:srgbClr val="0070C0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355021-497C-B2E3-33B8-8A54AE4BEF71}"/>
              </a:ext>
            </a:extLst>
          </p:cNvPr>
          <p:cNvSpPr txBox="1"/>
          <p:nvPr/>
        </p:nvSpPr>
        <p:spPr>
          <a:xfrm>
            <a:off x="2499623" y="913160"/>
            <a:ext cx="723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04.23</a:t>
            </a:r>
            <a:endParaRPr lang="ko-KR" altLang="en-US" sz="1400" dirty="0"/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3F00C07F-ED3E-83E3-2CEB-3C34C99C9FAD}"/>
              </a:ext>
            </a:extLst>
          </p:cNvPr>
          <p:cNvSpPr/>
          <p:nvPr/>
        </p:nvSpPr>
        <p:spPr>
          <a:xfrm>
            <a:off x="4832798" y="1850131"/>
            <a:ext cx="1960729" cy="1967256"/>
          </a:xfrm>
          <a:prstGeom prst="rect">
            <a:avLst/>
          </a:prstGeom>
          <a:ln w="7798">
            <a:solidFill>
              <a:srgbClr val="E2E7F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D679424E-B93A-F759-F7E7-5EFCBCE6E398}"/>
              </a:ext>
            </a:extLst>
          </p:cNvPr>
          <p:cNvSpPr/>
          <p:nvPr/>
        </p:nvSpPr>
        <p:spPr>
          <a:xfrm>
            <a:off x="4846479" y="1869727"/>
            <a:ext cx="1960729" cy="410693"/>
          </a:xfrm>
          <a:custGeom>
            <a:avLst/>
            <a:gdLst/>
            <a:ahLst/>
            <a:cxnLst/>
            <a:rect l="l" t="t" r="r" b="b"/>
            <a:pathLst>
              <a:path w="2893695" h="741044">
                <a:moveTo>
                  <a:pt x="2893278" y="740866"/>
                </a:moveTo>
                <a:lnTo>
                  <a:pt x="0" y="740866"/>
                </a:lnTo>
                <a:lnTo>
                  <a:pt x="0" y="116978"/>
                </a:lnTo>
                <a:lnTo>
                  <a:pt x="8904" y="72212"/>
                </a:lnTo>
                <a:lnTo>
                  <a:pt x="34262" y="34262"/>
                </a:lnTo>
                <a:lnTo>
                  <a:pt x="72212" y="8904"/>
                </a:lnTo>
                <a:lnTo>
                  <a:pt x="116978" y="0"/>
                </a:lnTo>
                <a:lnTo>
                  <a:pt x="2776299" y="0"/>
                </a:lnTo>
                <a:lnTo>
                  <a:pt x="2821064" y="8904"/>
                </a:lnTo>
                <a:lnTo>
                  <a:pt x="2859015" y="34262"/>
                </a:lnTo>
                <a:lnTo>
                  <a:pt x="2884373" y="72212"/>
                </a:lnTo>
                <a:lnTo>
                  <a:pt x="2893278" y="116978"/>
                </a:lnTo>
                <a:lnTo>
                  <a:pt x="2893278" y="740866"/>
                </a:lnTo>
                <a:close/>
              </a:path>
            </a:pathLst>
          </a:custGeom>
          <a:solidFill>
            <a:srgbClr val="F3F7F8"/>
          </a:solidFill>
          <a:ln>
            <a:solidFill>
              <a:srgbClr val="F3F7F8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964F69DB-2C81-8DA2-7DCA-87B3EF73E270}"/>
              </a:ext>
            </a:extLst>
          </p:cNvPr>
          <p:cNvSpPr/>
          <p:nvPr/>
        </p:nvSpPr>
        <p:spPr>
          <a:xfrm>
            <a:off x="4836593" y="2285465"/>
            <a:ext cx="1944000" cy="4876"/>
          </a:xfrm>
          <a:custGeom>
            <a:avLst/>
            <a:gdLst/>
            <a:ahLst/>
            <a:cxnLst/>
            <a:rect l="l" t="t" r="r" b="b"/>
            <a:pathLst>
              <a:path w="2893695" h="8255">
                <a:moveTo>
                  <a:pt x="2893278" y="7798"/>
                </a:moveTo>
                <a:lnTo>
                  <a:pt x="0" y="7798"/>
                </a:lnTo>
                <a:lnTo>
                  <a:pt x="0" y="0"/>
                </a:lnTo>
                <a:lnTo>
                  <a:pt x="2893278" y="0"/>
                </a:lnTo>
                <a:lnTo>
                  <a:pt x="2893278" y="779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775AB6-EFAC-EDFB-F110-C5297B49F116}"/>
              </a:ext>
            </a:extLst>
          </p:cNvPr>
          <p:cNvSpPr txBox="1"/>
          <p:nvPr/>
        </p:nvSpPr>
        <p:spPr>
          <a:xfrm>
            <a:off x="4894042" y="1880874"/>
            <a:ext cx="1899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내부 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Review (2</a:t>
            </a: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차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)</a:t>
            </a:r>
            <a:endParaRPr lang="ko-KR" altLang="en-US" sz="1400" b="1" dirty="0">
              <a:solidFill>
                <a:schemeClr val="accent5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함초롬바탕"/>
            </a:endParaRPr>
          </a:p>
        </p:txBody>
      </p:sp>
      <p:sp>
        <p:nvSpPr>
          <p:cNvPr id="57" name="object 21">
            <a:extLst>
              <a:ext uri="{FF2B5EF4-FFF2-40B4-BE49-F238E27FC236}">
                <a16:creationId xmlns:a16="http://schemas.microsoft.com/office/drawing/2014/main" id="{98E68B86-4151-A5EB-D6AD-C22F64771FD7}"/>
              </a:ext>
            </a:extLst>
          </p:cNvPr>
          <p:cNvSpPr txBox="1"/>
          <p:nvPr/>
        </p:nvSpPr>
        <p:spPr>
          <a:xfrm>
            <a:off x="5055195" y="2501155"/>
            <a:ext cx="1803969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결함 유형</a:t>
            </a:r>
            <a:r>
              <a:rPr lang="en-US" altLang="ko-KR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 </a:t>
            </a: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추가</a:t>
            </a:r>
            <a:r>
              <a:rPr lang="en-US" altLang="ko-KR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 </a:t>
            </a: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사례 공유</a:t>
            </a:r>
            <a:endParaRPr sz="12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Noto Sans CJK KR Regular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15E91EB-FF2F-2CE5-1291-794F1EE4DE32}"/>
              </a:ext>
            </a:extLst>
          </p:cNvPr>
          <p:cNvSpPr/>
          <p:nvPr/>
        </p:nvSpPr>
        <p:spPr>
          <a:xfrm>
            <a:off x="4894042" y="2537856"/>
            <a:ext cx="127970" cy="14400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object 21">
            <a:extLst>
              <a:ext uri="{FF2B5EF4-FFF2-40B4-BE49-F238E27FC236}">
                <a16:creationId xmlns:a16="http://schemas.microsoft.com/office/drawing/2014/main" id="{8C879DBC-8DBB-408F-94FD-37BA906F093D}"/>
              </a:ext>
            </a:extLst>
          </p:cNvPr>
          <p:cNvSpPr txBox="1"/>
          <p:nvPr/>
        </p:nvSpPr>
        <p:spPr>
          <a:xfrm>
            <a:off x="5055195" y="2999656"/>
            <a:ext cx="1803969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조치 활동 방안  계획 수립 </a:t>
            </a:r>
            <a:endParaRPr lang="ko-KR" alt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Noto Sans CJK KR Regular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0356DBB2-F516-71C5-97E8-1FA337C8A3A9}"/>
              </a:ext>
            </a:extLst>
          </p:cNvPr>
          <p:cNvCxnSpPr>
            <a:cxnSpLocks/>
          </p:cNvCxnSpPr>
          <p:nvPr/>
        </p:nvCxnSpPr>
        <p:spPr>
          <a:xfrm>
            <a:off x="5055195" y="2844512"/>
            <a:ext cx="16276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object 125">
            <a:extLst>
              <a:ext uri="{FF2B5EF4-FFF2-40B4-BE49-F238E27FC236}">
                <a16:creationId xmlns:a16="http://schemas.microsoft.com/office/drawing/2014/main" id="{C64289D2-D1E9-A6DC-583F-EF3BF266790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2952" y="2447220"/>
            <a:ext cx="534831" cy="976706"/>
          </a:xfrm>
          <a:prstGeom prst="rect">
            <a:avLst/>
          </a:prstGeom>
        </p:spPr>
      </p:pic>
      <p:sp>
        <p:nvSpPr>
          <p:cNvPr id="64" name="직사각형 63">
            <a:extLst>
              <a:ext uri="{FF2B5EF4-FFF2-40B4-BE49-F238E27FC236}">
                <a16:creationId xmlns:a16="http://schemas.microsoft.com/office/drawing/2014/main" id="{544B85EA-3812-DA9F-B55A-7A255193013C}"/>
              </a:ext>
            </a:extLst>
          </p:cNvPr>
          <p:cNvSpPr/>
          <p:nvPr/>
        </p:nvSpPr>
        <p:spPr>
          <a:xfrm>
            <a:off x="4899295" y="3025676"/>
            <a:ext cx="127970" cy="14400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EB2086A7-351C-B62E-4E9C-81C78BF1F135}"/>
              </a:ext>
            </a:extLst>
          </p:cNvPr>
          <p:cNvSpPr/>
          <p:nvPr/>
        </p:nvSpPr>
        <p:spPr>
          <a:xfrm>
            <a:off x="5683437" y="1346153"/>
            <a:ext cx="144000" cy="144000"/>
          </a:xfrm>
          <a:prstGeom prst="ellipse">
            <a:avLst/>
          </a:prstGeom>
          <a:solidFill>
            <a:srgbClr val="0070C0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AE65096-1E13-F8AC-FE45-0FFEB1C6B144}"/>
              </a:ext>
            </a:extLst>
          </p:cNvPr>
          <p:cNvSpPr txBox="1"/>
          <p:nvPr/>
        </p:nvSpPr>
        <p:spPr>
          <a:xfrm>
            <a:off x="5231562" y="900460"/>
            <a:ext cx="723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04.28</a:t>
            </a:r>
            <a:endParaRPr lang="ko-KR" altLang="en-US" sz="1400" dirty="0"/>
          </a:p>
        </p:txBody>
      </p:sp>
      <p:sp>
        <p:nvSpPr>
          <p:cNvPr id="68" name="object 10">
            <a:extLst>
              <a:ext uri="{FF2B5EF4-FFF2-40B4-BE49-F238E27FC236}">
                <a16:creationId xmlns:a16="http://schemas.microsoft.com/office/drawing/2014/main" id="{7F835189-8070-D58C-5DED-D15EF621BE37}"/>
              </a:ext>
            </a:extLst>
          </p:cNvPr>
          <p:cNvSpPr/>
          <p:nvPr/>
        </p:nvSpPr>
        <p:spPr>
          <a:xfrm>
            <a:off x="7611673" y="1862831"/>
            <a:ext cx="2160000" cy="1967256"/>
          </a:xfrm>
          <a:prstGeom prst="rect">
            <a:avLst/>
          </a:prstGeom>
          <a:ln w="7798">
            <a:solidFill>
              <a:srgbClr val="E2E7F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11">
            <a:extLst>
              <a:ext uri="{FF2B5EF4-FFF2-40B4-BE49-F238E27FC236}">
                <a16:creationId xmlns:a16="http://schemas.microsoft.com/office/drawing/2014/main" id="{E8036936-0390-3C54-A1BE-2CA595FA750F}"/>
              </a:ext>
            </a:extLst>
          </p:cNvPr>
          <p:cNvSpPr/>
          <p:nvPr/>
        </p:nvSpPr>
        <p:spPr>
          <a:xfrm>
            <a:off x="7625354" y="1882427"/>
            <a:ext cx="2160000" cy="410693"/>
          </a:xfrm>
          <a:prstGeom prst="rect">
            <a:avLst/>
          </a:prstGeom>
          <a:solidFill>
            <a:srgbClr val="F3F7F8"/>
          </a:solidFill>
          <a:ln>
            <a:solidFill>
              <a:srgbClr val="F3F7F8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12">
            <a:extLst>
              <a:ext uri="{FF2B5EF4-FFF2-40B4-BE49-F238E27FC236}">
                <a16:creationId xmlns:a16="http://schemas.microsoft.com/office/drawing/2014/main" id="{AB8A1C25-0CC2-2EC5-DF5B-05C8A4AA42EF}"/>
              </a:ext>
            </a:extLst>
          </p:cNvPr>
          <p:cNvSpPr/>
          <p:nvPr/>
        </p:nvSpPr>
        <p:spPr>
          <a:xfrm>
            <a:off x="7615468" y="2298165"/>
            <a:ext cx="2160000" cy="4876"/>
          </a:xfrm>
          <a:custGeom>
            <a:avLst/>
            <a:gdLst/>
            <a:ahLst/>
            <a:cxnLst/>
            <a:rect l="l" t="t" r="r" b="b"/>
            <a:pathLst>
              <a:path w="2893695" h="8255">
                <a:moveTo>
                  <a:pt x="2893278" y="7798"/>
                </a:moveTo>
                <a:lnTo>
                  <a:pt x="0" y="7798"/>
                </a:lnTo>
                <a:lnTo>
                  <a:pt x="0" y="0"/>
                </a:lnTo>
                <a:lnTo>
                  <a:pt x="2893278" y="0"/>
                </a:lnTo>
                <a:lnTo>
                  <a:pt x="2893278" y="779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1BDB4C-0BB1-F266-B5D3-2C33E26EC6E0}"/>
              </a:ext>
            </a:extLst>
          </p:cNvPr>
          <p:cNvSpPr txBox="1"/>
          <p:nvPr/>
        </p:nvSpPr>
        <p:spPr>
          <a:xfrm>
            <a:off x="7672917" y="1893574"/>
            <a:ext cx="1899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내부 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Review (3</a:t>
            </a: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차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)</a:t>
            </a:r>
            <a:endParaRPr lang="ko-KR" altLang="en-US" sz="1400" b="1" dirty="0">
              <a:solidFill>
                <a:schemeClr val="accent5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함초롬바탕"/>
            </a:endParaRPr>
          </a:p>
        </p:txBody>
      </p:sp>
      <p:sp>
        <p:nvSpPr>
          <p:cNvPr id="72" name="object 21">
            <a:extLst>
              <a:ext uri="{FF2B5EF4-FFF2-40B4-BE49-F238E27FC236}">
                <a16:creationId xmlns:a16="http://schemas.microsoft.com/office/drawing/2014/main" id="{2A512C14-DFC2-E445-B4B8-96A6509ED020}"/>
              </a:ext>
            </a:extLst>
          </p:cNvPr>
          <p:cNvSpPr txBox="1"/>
          <p:nvPr/>
        </p:nvSpPr>
        <p:spPr>
          <a:xfrm>
            <a:off x="7834070" y="2513855"/>
            <a:ext cx="1803969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결함 유형</a:t>
            </a:r>
            <a:r>
              <a:rPr lang="en-US" altLang="ko-KR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 </a:t>
            </a: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추가</a:t>
            </a:r>
            <a:r>
              <a:rPr lang="en-US" altLang="ko-KR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 </a:t>
            </a: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사례 공유</a:t>
            </a:r>
            <a:endParaRPr sz="12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Noto Sans CJK KR Regular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4E886A9-D3FC-EC8E-0DD1-33C57C1BC370}"/>
              </a:ext>
            </a:extLst>
          </p:cNvPr>
          <p:cNvSpPr/>
          <p:nvPr/>
        </p:nvSpPr>
        <p:spPr>
          <a:xfrm>
            <a:off x="7672917" y="2550556"/>
            <a:ext cx="127970" cy="14400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object 21">
            <a:extLst>
              <a:ext uri="{FF2B5EF4-FFF2-40B4-BE49-F238E27FC236}">
                <a16:creationId xmlns:a16="http://schemas.microsoft.com/office/drawing/2014/main" id="{6B2CB289-3377-7DBB-7672-26E955F243A5}"/>
              </a:ext>
            </a:extLst>
          </p:cNvPr>
          <p:cNvSpPr txBox="1"/>
          <p:nvPr/>
        </p:nvSpPr>
        <p:spPr>
          <a:xfrm>
            <a:off x="7834070" y="2917106"/>
            <a:ext cx="1803969" cy="46038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기각</a:t>
            </a:r>
            <a:r>
              <a:rPr lang="en-US" altLang="ko-KR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 </a:t>
            </a: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사유</a:t>
            </a:r>
            <a:r>
              <a:rPr lang="en-US" altLang="ko-KR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 </a:t>
            </a: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유형별</a:t>
            </a:r>
            <a:r>
              <a:rPr lang="en-US" altLang="ko-KR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 </a:t>
            </a: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공유</a:t>
            </a:r>
            <a:endParaRPr lang="en-US" altLang="ko-KR" sz="1200" spc="-120" dirty="0">
              <a:solidFill>
                <a:srgbClr val="334054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Noto Sans CJK KR Regular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altLang="ko-KR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  → </a:t>
            </a: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적절한 </a:t>
            </a:r>
            <a:r>
              <a:rPr lang="ko-KR" altLang="en-US" sz="1200" spc="-120" dirty="0" err="1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조치안</a:t>
            </a:r>
            <a:r>
              <a:rPr lang="ko-KR" altLang="en-US" sz="1200" spc="-120" dirty="0">
                <a:solidFill>
                  <a:srgbClr val="33405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Noto Sans CJK KR Regular"/>
              </a:rPr>
              <a:t>  가이드</a:t>
            </a:r>
            <a:endParaRPr lang="en-US" altLang="ko-KR" sz="1200" spc="-120" dirty="0">
              <a:solidFill>
                <a:srgbClr val="334054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Noto Sans CJK KR Regular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9718325-A342-2404-73BA-B909593F3ACB}"/>
              </a:ext>
            </a:extLst>
          </p:cNvPr>
          <p:cNvCxnSpPr>
            <a:cxnSpLocks/>
          </p:cNvCxnSpPr>
          <p:nvPr/>
        </p:nvCxnSpPr>
        <p:spPr>
          <a:xfrm>
            <a:off x="7834070" y="2809587"/>
            <a:ext cx="16276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C984036-B204-56C1-D154-A77AC0B4A72D}"/>
              </a:ext>
            </a:extLst>
          </p:cNvPr>
          <p:cNvSpPr/>
          <p:nvPr/>
        </p:nvSpPr>
        <p:spPr>
          <a:xfrm>
            <a:off x="7678170" y="2943126"/>
            <a:ext cx="127970" cy="14400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58D5F545-53B5-69FE-000D-5FDFC73A7BF3}"/>
              </a:ext>
            </a:extLst>
          </p:cNvPr>
          <p:cNvSpPr/>
          <p:nvPr/>
        </p:nvSpPr>
        <p:spPr>
          <a:xfrm>
            <a:off x="8567087" y="1346153"/>
            <a:ext cx="144000" cy="144000"/>
          </a:xfrm>
          <a:prstGeom prst="ellipse">
            <a:avLst/>
          </a:prstGeom>
          <a:solidFill>
            <a:srgbClr val="0070C0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40BC07-997E-AFEF-8734-BF55037BCB3C}"/>
              </a:ext>
            </a:extLst>
          </p:cNvPr>
          <p:cNvSpPr txBox="1"/>
          <p:nvPr/>
        </p:nvSpPr>
        <p:spPr>
          <a:xfrm>
            <a:off x="8277137" y="913160"/>
            <a:ext cx="723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05.06</a:t>
            </a:r>
            <a:endParaRPr lang="ko-KR" altLang="en-US" sz="1400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8AA50766-F8CA-2BAC-A65F-049450D5ED1E}"/>
              </a:ext>
            </a:extLst>
          </p:cNvPr>
          <p:cNvSpPr/>
          <p:nvPr/>
        </p:nvSpPr>
        <p:spPr>
          <a:xfrm>
            <a:off x="10735149" y="1346153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3D08A28-82C2-03A4-9F96-1C1FE0E3DD47}"/>
              </a:ext>
            </a:extLst>
          </p:cNvPr>
          <p:cNvSpPr txBox="1"/>
          <p:nvPr/>
        </p:nvSpPr>
        <p:spPr>
          <a:xfrm>
            <a:off x="10445198" y="920278"/>
            <a:ext cx="9086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05.07</a:t>
            </a:r>
            <a:endParaRPr lang="ko-KR" altLang="en-US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E93ED64-EA88-8800-0418-CC5406EDDF07}"/>
              </a:ext>
            </a:extLst>
          </p:cNvPr>
          <p:cNvSpPr txBox="1"/>
          <p:nvPr/>
        </p:nvSpPr>
        <p:spPr>
          <a:xfrm>
            <a:off x="10306266" y="1826406"/>
            <a:ext cx="1205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테스트 종료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CE58A9EC-4A98-60E8-9D18-C5127B2482BE}"/>
              </a:ext>
            </a:extLst>
          </p:cNvPr>
          <p:cNvGrpSpPr/>
          <p:nvPr/>
        </p:nvGrpSpPr>
        <p:grpSpPr>
          <a:xfrm>
            <a:off x="787746" y="4298550"/>
            <a:ext cx="3136556" cy="1646290"/>
            <a:chOff x="1544612" y="1383693"/>
            <a:chExt cx="2198963" cy="1464129"/>
          </a:xfrm>
        </p:grpSpPr>
        <p:sp>
          <p:nvSpPr>
            <p:cNvPr id="88" name="object 9">
              <a:extLst>
                <a:ext uri="{FF2B5EF4-FFF2-40B4-BE49-F238E27FC236}">
                  <a16:creationId xmlns:a16="http://schemas.microsoft.com/office/drawing/2014/main" id="{EEF334FF-0E2F-D832-CB68-B1C914F48762}"/>
                </a:ext>
              </a:extLst>
            </p:cNvPr>
            <p:cNvSpPr/>
            <p:nvPr/>
          </p:nvSpPr>
          <p:spPr>
            <a:xfrm>
              <a:off x="1544612" y="1383693"/>
              <a:ext cx="2198963" cy="1464129"/>
            </a:xfrm>
            <a:prstGeom prst="rect">
              <a:avLst/>
            </a:prstGeom>
            <a:ln w="7798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89" name="object 12">
              <a:extLst>
                <a:ext uri="{FF2B5EF4-FFF2-40B4-BE49-F238E27FC236}">
                  <a16:creationId xmlns:a16="http://schemas.microsoft.com/office/drawing/2014/main" id="{6BCE4DAC-ADEA-4758-BD1C-BE0783A66DCB}"/>
                </a:ext>
              </a:extLst>
            </p:cNvPr>
            <p:cNvSpPr txBox="1"/>
            <p:nvPr/>
          </p:nvSpPr>
          <p:spPr>
            <a:xfrm>
              <a:off x="1677806" y="1481841"/>
              <a:ext cx="1880422" cy="234374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>
              <a:defPPr>
                <a:defRPr kern="0"/>
              </a:def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ko-KR" altLang="en-US" sz="1600" b="1" spc="-190" dirty="0">
                  <a:solidFill>
                    <a:srgbClr val="1F2937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함초롬바탕"/>
                </a:rPr>
                <a:t>테스트 수행 간 테스터  수시 활동 </a:t>
              </a:r>
              <a:endParaRPr sz="16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endParaRPr>
            </a:p>
          </p:txBody>
        </p:sp>
      </p:grpSp>
      <p:sp>
        <p:nvSpPr>
          <p:cNvPr id="92" name="object 9">
            <a:extLst>
              <a:ext uri="{FF2B5EF4-FFF2-40B4-BE49-F238E27FC236}">
                <a16:creationId xmlns:a16="http://schemas.microsoft.com/office/drawing/2014/main" id="{CA61CBB1-D59F-BF46-9B47-1F090621E1BD}"/>
              </a:ext>
            </a:extLst>
          </p:cNvPr>
          <p:cNvSpPr/>
          <p:nvPr/>
        </p:nvSpPr>
        <p:spPr>
          <a:xfrm>
            <a:off x="4641429" y="4209372"/>
            <a:ext cx="6599670" cy="404744"/>
          </a:xfrm>
          <a:prstGeom prst="rect">
            <a:avLst/>
          </a:prstGeom>
          <a:ln w="7798">
            <a:solidFill>
              <a:schemeClr val="accent3">
                <a:lumMod val="20000"/>
                <a:lumOff val="80000"/>
              </a:schemeClr>
            </a:solidFill>
          </a:ln>
          <a:effectLst/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E62DC16-E394-F969-80F0-47B6475A2EEE}"/>
              </a:ext>
            </a:extLst>
          </p:cNvPr>
          <p:cNvSpPr txBox="1"/>
          <p:nvPr/>
        </p:nvSpPr>
        <p:spPr>
          <a:xfrm>
            <a:off x="4797593" y="4263564"/>
            <a:ext cx="5319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ko-KR" sz="1400" spc="-12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UI/UX </a:t>
            </a:r>
            <a:r>
              <a:rPr lang="ko-KR" altLang="en-US" sz="1400" spc="-12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표준 가이드 정의가 확정 되어 있는가</a:t>
            </a:r>
            <a:r>
              <a:rPr lang="en-US" altLang="ko-KR" sz="1400" spc="-12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? (</a:t>
            </a:r>
            <a:r>
              <a:rPr lang="ko-KR" altLang="en-US" sz="1400" spc="-12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상세수준</a:t>
            </a:r>
            <a:r>
              <a:rPr lang="en-US" altLang="ko-KR" sz="1400" spc="-12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)</a:t>
            </a:r>
            <a:endParaRPr lang="ko-KR" altLang="en-US" sz="1400" dirty="0">
              <a:latin typeface="Rix고딕 M" panose="02020603020101020101" pitchFamily="18" charset="-127"/>
              <a:ea typeface="Rix고딕 M" panose="02020603020101020101" pitchFamily="18" charset="-127"/>
              <a:cs typeface="Noto Sans CJK KR Regular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8968914-F428-F453-3A63-B21C08860ABC}"/>
              </a:ext>
            </a:extLst>
          </p:cNvPr>
          <p:cNvSpPr txBox="1"/>
          <p:nvPr/>
        </p:nvSpPr>
        <p:spPr>
          <a:xfrm>
            <a:off x="892420" y="4917469"/>
            <a:ext cx="285281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spc="-120" dirty="0">
                <a:solidFill>
                  <a:srgbClr val="4A5462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공통</a:t>
            </a:r>
            <a:r>
              <a:rPr lang="en-US" altLang="ko-KR" sz="1400" spc="-120" dirty="0">
                <a:solidFill>
                  <a:srgbClr val="4A5462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/</a:t>
            </a:r>
            <a:r>
              <a:rPr lang="ko-KR" altLang="en-US" sz="1400" spc="-120" dirty="0">
                <a:solidFill>
                  <a:srgbClr val="4A5462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유사 결함 수시 확인</a:t>
            </a:r>
            <a:endParaRPr lang="en-US" altLang="ko-KR" sz="1400" spc="-120" dirty="0">
              <a:solidFill>
                <a:srgbClr val="4A5462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Noto Sans CJK KR Regular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spc="-120" dirty="0">
                <a:solidFill>
                  <a:srgbClr val="4A5462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특이사항에 대한 상호 의견 논의</a:t>
            </a:r>
            <a:endParaRPr lang="en-US" altLang="ko-KR" sz="1400" spc="-120" dirty="0">
              <a:solidFill>
                <a:srgbClr val="4A5462"/>
              </a:solidFill>
              <a:latin typeface="Rix고딕 M" panose="02020603020101020101" pitchFamily="18" charset="-127"/>
              <a:ea typeface="Rix고딕 M" panose="02020603020101020101" pitchFamily="18" charset="-127"/>
              <a:cs typeface="Noto Sans CJK KR Regular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spc="-120" dirty="0">
                <a:solidFill>
                  <a:srgbClr val="4A5462"/>
                </a:solidFill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모호한 사항들에 대한 제언 수렴 </a:t>
            </a:r>
            <a:endParaRPr lang="ko-KR" altLang="en-US" sz="1400" dirty="0">
              <a:latin typeface="Rix고딕 M" panose="02020603020101020101" pitchFamily="18" charset="-127"/>
              <a:ea typeface="Rix고딕 M" panose="02020603020101020101" pitchFamily="18" charset="-127"/>
              <a:cs typeface="Noto Sans CJK KR Regular"/>
            </a:endParaRPr>
          </a:p>
        </p:txBody>
      </p:sp>
      <p:sp>
        <p:nvSpPr>
          <p:cNvPr id="97" name="object 9">
            <a:extLst>
              <a:ext uri="{FF2B5EF4-FFF2-40B4-BE49-F238E27FC236}">
                <a16:creationId xmlns:a16="http://schemas.microsoft.com/office/drawing/2014/main" id="{4CE6834C-4C79-1D5F-D0CE-159AD1708FF2}"/>
              </a:ext>
            </a:extLst>
          </p:cNvPr>
          <p:cNvSpPr/>
          <p:nvPr/>
        </p:nvSpPr>
        <p:spPr>
          <a:xfrm>
            <a:off x="4649693" y="4693884"/>
            <a:ext cx="6599670" cy="404744"/>
          </a:xfrm>
          <a:prstGeom prst="rect">
            <a:avLst/>
          </a:prstGeom>
          <a:ln w="7798">
            <a:solidFill>
              <a:schemeClr val="accent3">
                <a:lumMod val="20000"/>
                <a:lumOff val="80000"/>
              </a:schemeClr>
            </a:solidFill>
          </a:ln>
          <a:effectLst/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BD63E67-5EB5-E8D2-05E0-CC1C0A1420FB}"/>
              </a:ext>
            </a:extLst>
          </p:cNvPr>
          <p:cNvSpPr txBox="1"/>
          <p:nvPr/>
        </p:nvSpPr>
        <p:spPr>
          <a:xfrm>
            <a:off x="4786807" y="4748076"/>
            <a:ext cx="5668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이벤트 처리 표준이 수립되어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,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 모두 적용 되었는가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?</a:t>
            </a:r>
            <a:endParaRPr lang="ko-KR" altLang="en-US" sz="1400" dirty="0">
              <a:latin typeface="Rix고딕 M" panose="02020603020101020101" pitchFamily="18" charset="-127"/>
              <a:ea typeface="Rix고딕 M" panose="02020603020101020101" pitchFamily="18" charset="-127"/>
              <a:cs typeface="Noto Sans CJK KR Regular"/>
            </a:endParaRPr>
          </a:p>
        </p:txBody>
      </p:sp>
      <p:sp>
        <p:nvSpPr>
          <p:cNvPr id="99" name="object 9">
            <a:extLst>
              <a:ext uri="{FF2B5EF4-FFF2-40B4-BE49-F238E27FC236}">
                <a16:creationId xmlns:a16="http://schemas.microsoft.com/office/drawing/2014/main" id="{7DFA1F0D-E601-AFA7-6671-78B1BC67D415}"/>
              </a:ext>
            </a:extLst>
          </p:cNvPr>
          <p:cNvSpPr/>
          <p:nvPr/>
        </p:nvSpPr>
        <p:spPr>
          <a:xfrm>
            <a:off x="4641767" y="5198414"/>
            <a:ext cx="6599670" cy="404744"/>
          </a:xfrm>
          <a:prstGeom prst="rect">
            <a:avLst/>
          </a:prstGeom>
          <a:ln w="7798">
            <a:solidFill>
              <a:schemeClr val="accent3">
                <a:lumMod val="20000"/>
                <a:lumOff val="80000"/>
              </a:schemeClr>
            </a:solidFill>
          </a:ln>
          <a:effectLst/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A3AA1F4-B05E-008A-A08C-DB9621D66F3B}"/>
              </a:ext>
            </a:extLst>
          </p:cNvPr>
          <p:cNvSpPr txBox="1"/>
          <p:nvPr/>
        </p:nvSpPr>
        <p:spPr>
          <a:xfrm>
            <a:off x="4778881" y="5252606"/>
            <a:ext cx="5668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React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기반 화면은 디자인 확정 후 진행 되는가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?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코딩 표준 준수 되었는가</a:t>
            </a:r>
          </a:p>
        </p:txBody>
      </p:sp>
      <p:sp>
        <p:nvSpPr>
          <p:cNvPr id="101" name="object 9">
            <a:extLst>
              <a:ext uri="{FF2B5EF4-FFF2-40B4-BE49-F238E27FC236}">
                <a16:creationId xmlns:a16="http://schemas.microsoft.com/office/drawing/2014/main" id="{2BA3C246-E679-5B3D-C4DF-B5A1BE84244E}"/>
              </a:ext>
            </a:extLst>
          </p:cNvPr>
          <p:cNvSpPr/>
          <p:nvPr/>
        </p:nvSpPr>
        <p:spPr>
          <a:xfrm>
            <a:off x="4641429" y="5694378"/>
            <a:ext cx="6599670" cy="404744"/>
          </a:xfrm>
          <a:prstGeom prst="rect">
            <a:avLst/>
          </a:prstGeom>
          <a:ln w="7798">
            <a:solidFill>
              <a:schemeClr val="accent3">
                <a:lumMod val="20000"/>
                <a:lumOff val="80000"/>
              </a:schemeClr>
            </a:solidFill>
          </a:ln>
          <a:effectLst/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2E7C1A4-4E3A-0A77-AD87-FA5613944021}"/>
              </a:ext>
            </a:extLst>
          </p:cNvPr>
          <p:cNvSpPr txBox="1"/>
          <p:nvPr/>
        </p:nvSpPr>
        <p:spPr>
          <a:xfrm>
            <a:off x="4778543" y="5748570"/>
            <a:ext cx="6462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넥사크로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 등에서 구현 되는 기능과 온라인 화면 간의 버튼 등이 처리는 확정 되어있는가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?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  <a:cs typeface="Noto Sans CJK KR Regular"/>
              </a:rPr>
              <a:t> </a:t>
            </a: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3F750A95-A51C-9CE6-ECC2-8E97A7F04D53}"/>
              </a:ext>
            </a:extLst>
          </p:cNvPr>
          <p:cNvCxnSpPr>
            <a:cxnSpLocks/>
          </p:cNvCxnSpPr>
          <p:nvPr/>
        </p:nvCxnSpPr>
        <p:spPr>
          <a:xfrm>
            <a:off x="670950" y="3998085"/>
            <a:ext cx="108543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왼쪽 대괄호 105">
            <a:extLst>
              <a:ext uri="{FF2B5EF4-FFF2-40B4-BE49-F238E27FC236}">
                <a16:creationId xmlns:a16="http://schemas.microsoft.com/office/drawing/2014/main" id="{2B40745C-A4AA-313F-F553-DE6B7362B1A3}"/>
              </a:ext>
            </a:extLst>
          </p:cNvPr>
          <p:cNvSpPr/>
          <p:nvPr/>
        </p:nvSpPr>
        <p:spPr>
          <a:xfrm>
            <a:off x="4248150" y="4298550"/>
            <a:ext cx="214215" cy="1646289"/>
          </a:xfrm>
          <a:prstGeom prst="leftBracket">
            <a:avLst/>
          </a:prstGeom>
          <a:ln w="762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11121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37A15CF-661C-9A19-7626-378C9CD9A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020817"/>
              </p:ext>
            </p:extLst>
          </p:nvPr>
        </p:nvGraphicFramePr>
        <p:xfrm>
          <a:off x="766763" y="1376363"/>
          <a:ext cx="5605462" cy="5076833"/>
        </p:xfrm>
        <a:graphic>
          <a:graphicData uri="http://schemas.openxmlformats.org/drawingml/2006/table">
            <a:tbl>
              <a:tblPr/>
              <a:tblGrid>
                <a:gridCol w="1700211">
                  <a:extLst>
                    <a:ext uri="{9D8B030D-6E8A-4147-A177-3AD203B41FA5}">
                      <a16:colId xmlns:a16="http://schemas.microsoft.com/office/drawing/2014/main" val="3361032328"/>
                    </a:ext>
                  </a:extLst>
                </a:gridCol>
                <a:gridCol w="3905251">
                  <a:extLst>
                    <a:ext uri="{9D8B030D-6E8A-4147-A177-3AD203B41FA5}">
                      <a16:colId xmlns:a16="http://schemas.microsoft.com/office/drawing/2014/main" val="3931315575"/>
                    </a:ext>
                  </a:extLst>
                </a:gridCol>
              </a:tblGrid>
              <a:tr h="389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 유형 분류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 유형 내용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529654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변경 요청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화면 혹은 기능상의 개선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변경 검토 요망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76312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검색 결과 불일치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 결과가 기대한 값과 다름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979170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레이아웃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겹침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잘림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화면상의 버튼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결과등의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레이아웃 조정 검토 필요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39340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날짜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기간 처리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날짜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기간 처리시 오류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600525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엑셀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출력 결함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엑셀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출력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결함시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오류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528734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입력 검증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유효성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입력값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검증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유효성시 오류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971891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 미동작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화면상의 버튼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결과등의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기능 조정 검토 필요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816078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문서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요건 불일치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문서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요건 불일치시 오류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941461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버튼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상태 인터랙션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버튼 이미지 혹은 버튼 처리시 표준안 검토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406152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 정합성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계산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 정합성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계산 시 오류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744307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시스템 오류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시스템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오류등이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발생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894984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그래프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차트 표시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그래프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차트 표시 시 오류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39238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메뉴 권한 기능 권한 등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547347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메시지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안내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화면 상 메시지나 안내를 통한 사용자 편의성 강화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03812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용어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라벨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오타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오탈자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용어 표준준수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786165"/>
                  </a:ext>
                </a:extLst>
              </a:tr>
              <a:tr h="292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기타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오류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오기입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43205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B245224-0DB9-7651-FB5F-C0C0B50B0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952971"/>
              </p:ext>
            </p:extLst>
          </p:nvPr>
        </p:nvGraphicFramePr>
        <p:xfrm>
          <a:off x="6588125" y="1376363"/>
          <a:ext cx="4889500" cy="4869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879929465"/>
                    </a:ext>
                  </a:extLst>
                </a:gridCol>
                <a:gridCol w="1624266">
                  <a:extLst>
                    <a:ext uri="{9D8B030D-6E8A-4147-A177-3AD203B41FA5}">
                      <a16:colId xmlns:a16="http://schemas.microsoft.com/office/drawing/2014/main" val="584661851"/>
                    </a:ext>
                  </a:extLst>
                </a:gridCol>
                <a:gridCol w="2604834">
                  <a:extLst>
                    <a:ext uri="{9D8B030D-6E8A-4147-A177-3AD203B41FA5}">
                      <a16:colId xmlns:a16="http://schemas.microsoft.com/office/drawing/2014/main" val="1209772829"/>
                    </a:ext>
                  </a:extLst>
                </a:gridCol>
              </a:tblGrid>
              <a:tr h="3571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기각 사유 유형 분류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기각 사유 유형 내용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62007"/>
                  </a:ext>
                </a:extLst>
              </a:tr>
              <a:tr h="564093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정상기각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0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정상동작</a:t>
                      </a:r>
                      <a:r>
                        <a:rPr lang="en-US" alt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스펙대로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사용자 요구사항에 따라 개발된 기능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673314"/>
                  </a:ext>
                </a:extLst>
              </a:tr>
              <a:tr h="564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오등록</a:t>
                      </a:r>
                      <a:r>
                        <a:rPr lang="en-US" alt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테스터오류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테스터 오류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718887"/>
                  </a:ext>
                </a:extLst>
              </a:tr>
              <a:tr h="564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기타 기각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결함으로 판단 불가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447541"/>
                  </a:ext>
                </a:extLst>
              </a:tr>
              <a:tr h="564093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판단보류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0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협의</a:t>
                      </a:r>
                      <a:r>
                        <a:rPr lang="en-US" alt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보류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등록된 결함의 개선이 진행 중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980462"/>
                  </a:ext>
                </a:extLst>
              </a:tr>
              <a:tr h="564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개선요청 이관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개선요청 검토 필요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702325"/>
                  </a:ext>
                </a:extLst>
              </a:tr>
              <a:tr h="564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요구사항 범위외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요구사항의 범주 외임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049179"/>
                  </a:ext>
                </a:extLst>
              </a:tr>
              <a:tr h="5640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정책 검토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정책 확인</a:t>
                      </a:r>
                      <a:r>
                        <a:rPr lang="en-US" alt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재검토 필요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358592"/>
                  </a:ext>
                </a:extLst>
              </a:tr>
              <a:tr h="5640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0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조치완료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조치 완료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258204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2CF0A838-178C-E086-831D-6A027DE5D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 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결함 분류의 정의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BD108A6-9BA5-F60E-AEB9-099D60824800}"/>
              </a:ext>
            </a:extLst>
          </p:cNvPr>
          <p:cNvGrpSpPr/>
          <p:nvPr/>
        </p:nvGrpSpPr>
        <p:grpSpPr>
          <a:xfrm>
            <a:off x="766763" y="850915"/>
            <a:ext cx="2292469" cy="297788"/>
            <a:chOff x="921858" y="828209"/>
            <a:chExt cx="2292469" cy="297788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86673587-122F-05FD-30D9-9CF2F0180946}"/>
                </a:ext>
              </a:extLst>
            </p:cNvPr>
            <p:cNvSpPr/>
            <p:nvPr/>
          </p:nvSpPr>
          <p:spPr>
            <a:xfrm>
              <a:off x="921858" y="876443"/>
              <a:ext cx="46990" cy="249554"/>
            </a:xfrm>
            <a:custGeom>
              <a:avLst/>
              <a:gdLst/>
              <a:ahLst/>
              <a:cxnLst/>
              <a:rect l="l" t="t" r="r" b="b"/>
              <a:pathLst>
                <a:path w="46990" h="249554">
                  <a:moveTo>
                    <a:pt x="46791" y="249554"/>
                  </a:moveTo>
                  <a:lnTo>
                    <a:pt x="0" y="249554"/>
                  </a:lnTo>
                  <a:lnTo>
                    <a:pt x="0" y="0"/>
                  </a:lnTo>
                  <a:lnTo>
                    <a:pt x="46791" y="0"/>
                  </a:lnTo>
                  <a:lnTo>
                    <a:pt x="46791" y="24955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30E04364-80A5-E3EE-AF08-09DA6D95AC0F}"/>
                </a:ext>
              </a:extLst>
            </p:cNvPr>
            <p:cNvSpPr txBox="1">
              <a:spLocks/>
            </p:cNvSpPr>
            <p:nvPr/>
          </p:nvSpPr>
          <p:spPr>
            <a:xfrm>
              <a:off x="1080727" y="828209"/>
              <a:ext cx="2133600" cy="29687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ko-KR" altLang="en-US" sz="1850" b="1" dirty="0">
                  <a:solidFill>
                    <a:schemeClr val="accent1">
                      <a:lumMod val="7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결함 유형</a:t>
              </a:r>
              <a:endParaRPr lang="ko-KR" altLang="en-US" sz="1850" dirty="0">
                <a:solidFill>
                  <a:schemeClr val="accent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 Unicode MS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E30CEF8-888D-D7BE-26ED-8F540576EA1F}"/>
              </a:ext>
            </a:extLst>
          </p:cNvPr>
          <p:cNvGrpSpPr/>
          <p:nvPr/>
        </p:nvGrpSpPr>
        <p:grpSpPr>
          <a:xfrm>
            <a:off x="6588125" y="850003"/>
            <a:ext cx="2292469" cy="297788"/>
            <a:chOff x="921858" y="828209"/>
            <a:chExt cx="2292469" cy="297788"/>
          </a:xfrm>
        </p:grpSpPr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0B4BCEE9-6C30-8F2A-8D5E-8FB8354E3017}"/>
                </a:ext>
              </a:extLst>
            </p:cNvPr>
            <p:cNvSpPr/>
            <p:nvPr/>
          </p:nvSpPr>
          <p:spPr>
            <a:xfrm>
              <a:off x="921858" y="876443"/>
              <a:ext cx="46990" cy="249554"/>
            </a:xfrm>
            <a:custGeom>
              <a:avLst/>
              <a:gdLst/>
              <a:ahLst/>
              <a:cxnLst/>
              <a:rect l="l" t="t" r="r" b="b"/>
              <a:pathLst>
                <a:path w="46990" h="249554">
                  <a:moveTo>
                    <a:pt x="46791" y="249554"/>
                  </a:moveTo>
                  <a:lnTo>
                    <a:pt x="0" y="249554"/>
                  </a:lnTo>
                  <a:lnTo>
                    <a:pt x="0" y="0"/>
                  </a:lnTo>
                  <a:lnTo>
                    <a:pt x="46791" y="0"/>
                  </a:lnTo>
                  <a:lnTo>
                    <a:pt x="46791" y="249554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A9A02B8B-1616-90EB-8BA0-44CC6E31D6FC}"/>
                </a:ext>
              </a:extLst>
            </p:cNvPr>
            <p:cNvSpPr txBox="1">
              <a:spLocks/>
            </p:cNvSpPr>
            <p:nvPr/>
          </p:nvSpPr>
          <p:spPr>
            <a:xfrm>
              <a:off x="1080727" y="828209"/>
              <a:ext cx="2133600" cy="29687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ko-KR" altLang="en-US" sz="1850" b="1">
                  <a:solidFill>
                    <a:schemeClr val="bg2">
                      <a:lumMod val="50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기각 유형</a:t>
              </a:r>
              <a:endParaRPr lang="ko-KR" altLang="en-US" sz="1850" dirty="0">
                <a:solidFill>
                  <a:schemeClr val="bg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 Unicode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036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그룹 84">
            <a:extLst>
              <a:ext uri="{FF2B5EF4-FFF2-40B4-BE49-F238E27FC236}">
                <a16:creationId xmlns:a16="http://schemas.microsoft.com/office/drawing/2014/main" id="{86D914BE-8947-565B-153E-FB2BAC1BB1F6}"/>
              </a:ext>
            </a:extLst>
          </p:cNvPr>
          <p:cNvGrpSpPr/>
          <p:nvPr/>
        </p:nvGrpSpPr>
        <p:grpSpPr>
          <a:xfrm>
            <a:off x="5038967" y="1099514"/>
            <a:ext cx="1705885" cy="1159172"/>
            <a:chOff x="5542848" y="1099514"/>
            <a:chExt cx="1705885" cy="1159172"/>
          </a:xfrm>
        </p:grpSpPr>
        <p:sp>
          <p:nvSpPr>
            <p:cNvPr id="4" name="Shape 2"/>
            <p:cNvSpPr/>
            <p:nvPr/>
          </p:nvSpPr>
          <p:spPr>
            <a:xfrm>
              <a:off x="5542848" y="1099514"/>
              <a:ext cx="1705885" cy="11591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5542848" y="1099514"/>
              <a:ext cx="1705885" cy="92734"/>
            </a:xfrm>
            <a:prstGeom prst="rect">
              <a:avLst/>
            </a:prstGeom>
            <a:solidFill>
              <a:srgbClr val="00206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542848" y="1245219"/>
              <a:ext cx="1705885" cy="5749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654</a:t>
              </a:r>
              <a:endParaRPr lang="en-US" sz="3600" dirty="0">
                <a:solidFill>
                  <a:srgbClr val="00206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5542848" y="1829186"/>
              <a:ext cx="1705885" cy="3523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600" dirty="0">
                  <a:solidFill>
                    <a:srgbClr val="00206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식별</a:t>
              </a:r>
              <a:r>
                <a:rPr lang="en-US" sz="1600" dirty="0">
                  <a:solidFill>
                    <a:srgbClr val="00206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결함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D068E5-141E-ABF5-1F82-52C07C29A9C6}"/>
              </a:ext>
            </a:extLst>
          </p:cNvPr>
          <p:cNvGrpSpPr/>
          <p:nvPr/>
        </p:nvGrpSpPr>
        <p:grpSpPr>
          <a:xfrm>
            <a:off x="7449814" y="1099514"/>
            <a:ext cx="1705885" cy="1159172"/>
            <a:chOff x="7711884" y="1099514"/>
            <a:chExt cx="1705885" cy="1159172"/>
          </a:xfrm>
        </p:grpSpPr>
        <p:sp>
          <p:nvSpPr>
            <p:cNvPr id="9" name="Shape 7"/>
            <p:cNvSpPr/>
            <p:nvPr/>
          </p:nvSpPr>
          <p:spPr>
            <a:xfrm>
              <a:off x="7711884" y="1099514"/>
              <a:ext cx="1705885" cy="11591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solidFill>
                  <a:srgbClr val="0000CC"/>
                </a:solidFill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7711884" y="1099514"/>
              <a:ext cx="1705885" cy="92734"/>
            </a:xfrm>
            <a:prstGeom prst="rect">
              <a:avLst/>
            </a:prstGeom>
            <a:solidFill>
              <a:srgbClr val="0000CC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rgbClr val="0000CC"/>
                </a:solidFill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711884" y="1245219"/>
              <a:ext cx="1705885" cy="5749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3600" b="1" dirty="0">
                  <a:solidFill>
                    <a:srgbClr val="0000CC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435</a:t>
              </a:r>
              <a:endParaRPr lang="en-US" sz="3600" dirty="0">
                <a:solidFill>
                  <a:srgbClr val="0000C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711884" y="1829186"/>
              <a:ext cx="1705885" cy="3523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dirty="0">
                  <a:solidFill>
                    <a:srgbClr val="0000CC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유효 결함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B377F4B7-FE46-E894-7B7E-0F0566DF8FA1}"/>
              </a:ext>
            </a:extLst>
          </p:cNvPr>
          <p:cNvGrpSpPr/>
          <p:nvPr/>
        </p:nvGrpSpPr>
        <p:grpSpPr>
          <a:xfrm>
            <a:off x="9899969" y="1099514"/>
            <a:ext cx="1705885" cy="1159172"/>
            <a:chOff x="9880919" y="1099514"/>
            <a:chExt cx="1705885" cy="1159172"/>
          </a:xfrm>
        </p:grpSpPr>
        <p:sp>
          <p:nvSpPr>
            <p:cNvPr id="14" name="Shape 12"/>
            <p:cNvSpPr/>
            <p:nvPr/>
          </p:nvSpPr>
          <p:spPr>
            <a:xfrm>
              <a:off x="9880919" y="1099514"/>
              <a:ext cx="1705885" cy="11591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9880919" y="1099514"/>
              <a:ext cx="1705885" cy="92734"/>
            </a:xfrm>
            <a:prstGeom prst="rect">
              <a:avLst/>
            </a:prstGeom>
            <a:solidFill>
              <a:srgbClr val="FF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9880919" y="1245219"/>
              <a:ext cx="1705885" cy="5749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3600" b="1" dirty="0"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219</a:t>
              </a:r>
              <a:endParaRPr lang="en-US" sz="36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9880919" y="1829186"/>
              <a:ext cx="1705885" cy="3523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기각 건수</a:t>
              </a:r>
            </a:p>
          </p:txBody>
        </p:sp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FC914DAD-23D4-7C69-B372-AF7844F97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- 01.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분석 현황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70" name="차트 69">
            <a:extLst>
              <a:ext uri="{FF2B5EF4-FFF2-40B4-BE49-F238E27FC236}">
                <a16:creationId xmlns:a16="http://schemas.microsoft.com/office/drawing/2014/main" id="{20F73D72-5D12-7068-DD35-E7FE3003D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0621137"/>
              </p:ext>
            </p:extLst>
          </p:nvPr>
        </p:nvGraphicFramePr>
        <p:xfrm>
          <a:off x="768982" y="3224911"/>
          <a:ext cx="5006742" cy="28923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8" name="그룹 77">
            <a:extLst>
              <a:ext uri="{FF2B5EF4-FFF2-40B4-BE49-F238E27FC236}">
                <a16:creationId xmlns:a16="http://schemas.microsoft.com/office/drawing/2014/main" id="{9C491CCB-9E05-76F5-0653-FC1660A7EC4D}"/>
              </a:ext>
            </a:extLst>
          </p:cNvPr>
          <p:cNvGrpSpPr/>
          <p:nvPr/>
        </p:nvGrpSpPr>
        <p:grpSpPr>
          <a:xfrm>
            <a:off x="1971827" y="945219"/>
            <a:ext cx="2238223" cy="1524000"/>
            <a:chOff x="766763" y="1091121"/>
            <a:chExt cx="2394466" cy="1524000"/>
          </a:xfrm>
        </p:grpSpPr>
        <p:sp>
          <p:nvSpPr>
            <p:cNvPr id="71" name="Shape 2">
              <a:extLst>
                <a:ext uri="{FF2B5EF4-FFF2-40B4-BE49-F238E27FC236}">
                  <a16:creationId xmlns:a16="http://schemas.microsoft.com/office/drawing/2014/main" id="{A774CE91-9A02-601F-2F3E-8CCF7B502A93}"/>
                </a:ext>
              </a:extLst>
            </p:cNvPr>
            <p:cNvSpPr/>
            <p:nvPr/>
          </p:nvSpPr>
          <p:spPr>
            <a:xfrm>
              <a:off x="766763" y="1091121"/>
              <a:ext cx="2394466" cy="1524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Shape 3">
              <a:extLst>
                <a:ext uri="{FF2B5EF4-FFF2-40B4-BE49-F238E27FC236}">
                  <a16:creationId xmlns:a16="http://schemas.microsoft.com/office/drawing/2014/main" id="{41D81A6D-990A-5763-8D1E-46C1FE6576CD}"/>
                </a:ext>
              </a:extLst>
            </p:cNvPr>
            <p:cNvSpPr/>
            <p:nvPr/>
          </p:nvSpPr>
          <p:spPr>
            <a:xfrm>
              <a:off x="766763" y="1091121"/>
              <a:ext cx="2394466" cy="121920"/>
            </a:xfrm>
            <a:prstGeom prst="rect">
              <a:avLst/>
            </a:prstGeom>
            <a:solidFill>
              <a:schemeClr val="tx1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3" name="Text 4">
              <a:extLst>
                <a:ext uri="{FF2B5EF4-FFF2-40B4-BE49-F238E27FC236}">
                  <a16:creationId xmlns:a16="http://schemas.microsoft.com/office/drawing/2014/main" id="{245CC310-9900-5640-730E-0949C7AD3D03}"/>
                </a:ext>
              </a:extLst>
            </p:cNvPr>
            <p:cNvSpPr/>
            <p:nvPr/>
          </p:nvSpPr>
          <p:spPr>
            <a:xfrm>
              <a:off x="766763" y="1249617"/>
              <a:ext cx="2394466" cy="7559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4533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376</a:t>
              </a:r>
              <a:endParaRPr lang="en-US" sz="4533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74" name="Text 6">
              <a:extLst>
                <a:ext uri="{FF2B5EF4-FFF2-40B4-BE49-F238E27FC236}">
                  <a16:creationId xmlns:a16="http://schemas.microsoft.com/office/drawing/2014/main" id="{198335C5-AC1D-0A3F-6587-B41DE990907C}"/>
                </a:ext>
              </a:extLst>
            </p:cNvPr>
            <p:cNvSpPr/>
            <p:nvPr/>
          </p:nvSpPr>
          <p:spPr>
            <a:xfrm>
              <a:off x="766763" y="2029905"/>
              <a:ext cx="239446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6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테스트</a:t>
              </a:r>
              <a:r>
                <a:rPr lang="en-US" sz="16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6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시나리오</a:t>
              </a:r>
              <a:r>
                <a:rPr lang="en-US" sz="16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6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건수</a:t>
              </a:r>
              <a:endPara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16C144FA-96E7-66D9-D262-353422C12D3F}"/>
              </a:ext>
            </a:extLst>
          </p:cNvPr>
          <p:cNvGrpSpPr/>
          <p:nvPr/>
        </p:nvGrpSpPr>
        <p:grpSpPr>
          <a:xfrm>
            <a:off x="766763" y="945219"/>
            <a:ext cx="1040349" cy="1524000"/>
            <a:chOff x="766763" y="1091121"/>
            <a:chExt cx="2394466" cy="1524000"/>
          </a:xfrm>
        </p:grpSpPr>
        <p:sp>
          <p:nvSpPr>
            <p:cNvPr id="80" name="Shape 2">
              <a:extLst>
                <a:ext uri="{FF2B5EF4-FFF2-40B4-BE49-F238E27FC236}">
                  <a16:creationId xmlns:a16="http://schemas.microsoft.com/office/drawing/2014/main" id="{1DD2DA8A-14D5-6204-7192-8CA10B5B17C2}"/>
                </a:ext>
              </a:extLst>
            </p:cNvPr>
            <p:cNvSpPr/>
            <p:nvPr/>
          </p:nvSpPr>
          <p:spPr>
            <a:xfrm>
              <a:off x="766763" y="1091121"/>
              <a:ext cx="2394466" cy="1524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Shape 3">
              <a:extLst>
                <a:ext uri="{FF2B5EF4-FFF2-40B4-BE49-F238E27FC236}">
                  <a16:creationId xmlns:a16="http://schemas.microsoft.com/office/drawing/2014/main" id="{DB2FB507-F818-5CC2-5C50-7484670FA1DA}"/>
                </a:ext>
              </a:extLst>
            </p:cNvPr>
            <p:cNvSpPr/>
            <p:nvPr/>
          </p:nvSpPr>
          <p:spPr>
            <a:xfrm>
              <a:off x="766763" y="1091121"/>
              <a:ext cx="2394466" cy="121920"/>
            </a:xfrm>
            <a:prstGeom prst="rect">
              <a:avLst/>
            </a:prstGeom>
            <a:solidFill>
              <a:schemeClr val="tx1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2" name="Text 4">
              <a:extLst>
                <a:ext uri="{FF2B5EF4-FFF2-40B4-BE49-F238E27FC236}">
                  <a16:creationId xmlns:a16="http://schemas.microsoft.com/office/drawing/2014/main" id="{0E96F0CA-DBE5-11C7-473F-099C7C3B6AC9}"/>
                </a:ext>
              </a:extLst>
            </p:cNvPr>
            <p:cNvSpPr/>
            <p:nvPr/>
          </p:nvSpPr>
          <p:spPr>
            <a:xfrm>
              <a:off x="766763" y="1249617"/>
              <a:ext cx="2394466" cy="7559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4533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4</a:t>
              </a:r>
              <a:endParaRPr lang="en-US" sz="4533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83" name="Text 6">
              <a:extLst>
                <a:ext uri="{FF2B5EF4-FFF2-40B4-BE49-F238E27FC236}">
                  <a16:creationId xmlns:a16="http://schemas.microsoft.com/office/drawing/2014/main" id="{94B1605D-739B-FB31-0359-ED86C09E49F5}"/>
                </a:ext>
              </a:extLst>
            </p:cNvPr>
            <p:cNvSpPr/>
            <p:nvPr/>
          </p:nvSpPr>
          <p:spPr>
            <a:xfrm>
              <a:off x="766763" y="2029905"/>
              <a:ext cx="239446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6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업무영역</a:t>
              </a:r>
              <a:endParaRPr 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84" name="L 도형 83">
            <a:extLst>
              <a:ext uri="{FF2B5EF4-FFF2-40B4-BE49-F238E27FC236}">
                <a16:creationId xmlns:a16="http://schemas.microsoft.com/office/drawing/2014/main" id="{08C42BB0-8AD2-ECE7-F35C-A6EF4BE190AC}"/>
              </a:ext>
            </a:extLst>
          </p:cNvPr>
          <p:cNvSpPr/>
          <p:nvPr/>
        </p:nvSpPr>
        <p:spPr>
          <a:xfrm rot="13429539">
            <a:off x="4220120" y="1461549"/>
            <a:ext cx="540053" cy="540000"/>
          </a:xfrm>
          <a:prstGeom prst="corner">
            <a:avLst>
              <a:gd name="adj1" fmla="val 25150"/>
              <a:gd name="adj2" fmla="val 26807"/>
            </a:avLst>
          </a:prstGeom>
          <a:solidFill>
            <a:schemeClr val="bg2">
              <a:lumMod val="5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더하기 기호 87">
            <a:extLst>
              <a:ext uri="{FF2B5EF4-FFF2-40B4-BE49-F238E27FC236}">
                <a16:creationId xmlns:a16="http://schemas.microsoft.com/office/drawing/2014/main" id="{BF98FBD6-13E1-0F8B-CACE-001F3D979709}"/>
              </a:ext>
            </a:extLst>
          </p:cNvPr>
          <p:cNvSpPr/>
          <p:nvPr/>
        </p:nvSpPr>
        <p:spPr>
          <a:xfrm>
            <a:off x="9203835" y="1336523"/>
            <a:ext cx="648000" cy="648000"/>
          </a:xfrm>
          <a:prstGeom prst="mathPlus">
            <a:avLst>
              <a:gd name="adj1" fmla="val 17270"/>
            </a:avLst>
          </a:prstGeom>
          <a:solidFill>
            <a:srgbClr val="767171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같음 기호 88">
            <a:extLst>
              <a:ext uri="{FF2B5EF4-FFF2-40B4-BE49-F238E27FC236}">
                <a16:creationId xmlns:a16="http://schemas.microsoft.com/office/drawing/2014/main" id="{A55C4330-A737-EECE-3230-768BDAD3C59D}"/>
              </a:ext>
            </a:extLst>
          </p:cNvPr>
          <p:cNvSpPr/>
          <p:nvPr/>
        </p:nvSpPr>
        <p:spPr>
          <a:xfrm>
            <a:off x="6792988" y="1306962"/>
            <a:ext cx="608690" cy="814128"/>
          </a:xfrm>
          <a:prstGeom prst="mathEqual">
            <a:avLst>
              <a:gd name="adj1" fmla="val 13888"/>
              <a:gd name="adj2" fmla="val 11760"/>
            </a:avLst>
          </a:prstGeom>
          <a:solidFill>
            <a:srgbClr val="767171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30AD0F3E-4969-7C3F-9F60-9E8C1C3BA0A0}"/>
              </a:ext>
            </a:extLst>
          </p:cNvPr>
          <p:cNvSpPr/>
          <p:nvPr/>
        </p:nvSpPr>
        <p:spPr>
          <a:xfrm>
            <a:off x="6086475" y="3224912"/>
            <a:ext cx="2700000" cy="1377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2" name="Text 4">
            <a:extLst>
              <a:ext uri="{FF2B5EF4-FFF2-40B4-BE49-F238E27FC236}">
                <a16:creationId xmlns:a16="http://schemas.microsoft.com/office/drawing/2014/main" id="{E53679F6-F645-CC02-0A73-CFDE9E3F8E4E}"/>
              </a:ext>
            </a:extLst>
          </p:cNvPr>
          <p:cNvSpPr/>
          <p:nvPr/>
        </p:nvSpPr>
        <p:spPr>
          <a:xfrm>
            <a:off x="6269355" y="3273680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공항운영 (GO)</a:t>
            </a:r>
            <a:endParaRPr lang="en-US" sz="16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40BDB403-7090-80B4-328B-C9ADBEBF508C}"/>
              </a:ext>
            </a:extLst>
          </p:cNvPr>
          <p:cNvSpPr/>
          <p:nvPr/>
        </p:nvSpPr>
        <p:spPr>
          <a:xfrm>
            <a:off x="7346604" y="3263585"/>
            <a:ext cx="1384201" cy="39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227</a:t>
            </a:r>
            <a:r>
              <a:rPr lang="ko-KR" altLang="en-US" sz="1600" b="1" dirty="0">
                <a:solidFill>
                  <a:schemeClr val="accent4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 </a:t>
            </a: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234</a:t>
            </a:r>
            <a:r>
              <a:rPr lang="ko-KR" altLang="en-US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sz="16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881D2775-35BA-42ED-FFA5-B3E8B7D7485C}"/>
              </a:ext>
            </a:extLst>
          </p:cNvPr>
          <p:cNvSpPr/>
          <p:nvPr/>
        </p:nvSpPr>
        <p:spPr>
          <a:xfrm>
            <a:off x="6269355" y="3745321"/>
            <a:ext cx="153695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검색 결과 불일치 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개선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변경 요청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날짜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기간 처리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입력 검증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유효성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0" name="Text 6">
            <a:extLst>
              <a:ext uri="{FF2B5EF4-FFF2-40B4-BE49-F238E27FC236}">
                <a16:creationId xmlns:a16="http://schemas.microsoft.com/office/drawing/2014/main" id="{47BAA1D1-7821-8DF9-7D05-3E773059ED8C}"/>
              </a:ext>
            </a:extLst>
          </p:cNvPr>
          <p:cNvSpPr/>
          <p:nvPr/>
        </p:nvSpPr>
        <p:spPr>
          <a:xfrm>
            <a:off x="7982740" y="3745321"/>
            <a:ext cx="353159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47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44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28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15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5" name="Shape 9">
            <a:extLst>
              <a:ext uri="{FF2B5EF4-FFF2-40B4-BE49-F238E27FC236}">
                <a16:creationId xmlns:a16="http://schemas.microsoft.com/office/drawing/2014/main" id="{9EFECBB2-FA70-5ACF-3BE9-615CF0727C87}"/>
              </a:ext>
            </a:extLst>
          </p:cNvPr>
          <p:cNvSpPr/>
          <p:nvPr/>
        </p:nvSpPr>
        <p:spPr>
          <a:xfrm>
            <a:off x="6086475" y="4734815"/>
            <a:ext cx="2700000" cy="1377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7" name="Text 11">
            <a:extLst>
              <a:ext uri="{FF2B5EF4-FFF2-40B4-BE49-F238E27FC236}">
                <a16:creationId xmlns:a16="http://schemas.microsoft.com/office/drawing/2014/main" id="{B68A6D21-DCC2-8B54-F701-71CE62C31656}"/>
              </a:ext>
            </a:extLst>
          </p:cNvPr>
          <p:cNvSpPr/>
          <p:nvPr/>
        </p:nvSpPr>
        <p:spPr>
          <a:xfrm>
            <a:off x="6269355" y="4783583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예측관리 (PM)</a:t>
            </a:r>
            <a:endParaRPr lang="en-US" sz="16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8" name="Text 12">
            <a:extLst>
              <a:ext uri="{FF2B5EF4-FFF2-40B4-BE49-F238E27FC236}">
                <a16:creationId xmlns:a16="http://schemas.microsoft.com/office/drawing/2014/main" id="{2F1D1A41-4528-7E7A-40C7-C3F989A9C3DE}"/>
              </a:ext>
            </a:extLst>
          </p:cNvPr>
          <p:cNvSpPr/>
          <p:nvPr/>
        </p:nvSpPr>
        <p:spPr>
          <a:xfrm>
            <a:off x="7475410" y="4820807"/>
            <a:ext cx="1255395" cy="27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164</a:t>
            </a:r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 </a:t>
            </a:r>
            <a:r>
              <a:rPr lang="en-US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173건</a:t>
            </a:r>
            <a:endParaRPr lang="en-US" sz="16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9" name="Text 6">
            <a:extLst>
              <a:ext uri="{FF2B5EF4-FFF2-40B4-BE49-F238E27FC236}">
                <a16:creationId xmlns:a16="http://schemas.microsoft.com/office/drawing/2014/main" id="{7882E01F-F655-DE49-7E4B-DE910B9198F3}"/>
              </a:ext>
            </a:extLst>
          </p:cNvPr>
          <p:cNvSpPr/>
          <p:nvPr/>
        </p:nvSpPr>
        <p:spPr>
          <a:xfrm>
            <a:off x="6273273" y="5261547"/>
            <a:ext cx="152171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레이아웃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겹침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잘림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개선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변경 요청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문서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요건 불일치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그래프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차트 표시</a:t>
            </a:r>
          </a:p>
        </p:txBody>
      </p:sp>
      <p:sp>
        <p:nvSpPr>
          <p:cNvPr id="101" name="Text 6">
            <a:extLst>
              <a:ext uri="{FF2B5EF4-FFF2-40B4-BE49-F238E27FC236}">
                <a16:creationId xmlns:a16="http://schemas.microsoft.com/office/drawing/2014/main" id="{3F822C63-5EFB-A58E-9C59-5D8DD33B1ECA}"/>
              </a:ext>
            </a:extLst>
          </p:cNvPr>
          <p:cNvSpPr/>
          <p:nvPr/>
        </p:nvSpPr>
        <p:spPr>
          <a:xfrm>
            <a:off x="7999163" y="5261547"/>
            <a:ext cx="353159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36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19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19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18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2" name="Shape 16">
            <a:extLst>
              <a:ext uri="{FF2B5EF4-FFF2-40B4-BE49-F238E27FC236}">
                <a16:creationId xmlns:a16="http://schemas.microsoft.com/office/drawing/2014/main" id="{AB95BEAF-C8E8-5B59-8A0F-B56D1B10B888}"/>
              </a:ext>
            </a:extLst>
          </p:cNvPr>
          <p:cNvSpPr/>
          <p:nvPr/>
        </p:nvSpPr>
        <p:spPr>
          <a:xfrm>
            <a:off x="8905854" y="3224912"/>
            <a:ext cx="2700000" cy="1377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4" name="Text 18">
            <a:extLst>
              <a:ext uri="{FF2B5EF4-FFF2-40B4-BE49-F238E27FC236}">
                <a16:creationId xmlns:a16="http://schemas.microsoft.com/office/drawing/2014/main" id="{B6C8D894-05D7-7C5F-1DEE-2BBCD66B5A3A}"/>
              </a:ext>
            </a:extLst>
          </p:cNvPr>
          <p:cNvSpPr/>
          <p:nvPr/>
        </p:nvSpPr>
        <p:spPr>
          <a:xfrm>
            <a:off x="9088734" y="3273680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항공보안 (FS)</a:t>
            </a:r>
            <a:endParaRPr lang="en-US" sz="16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5" name="Text 19">
            <a:extLst>
              <a:ext uri="{FF2B5EF4-FFF2-40B4-BE49-F238E27FC236}">
                <a16:creationId xmlns:a16="http://schemas.microsoft.com/office/drawing/2014/main" id="{FA966736-931B-A271-5445-FAB6F6B8F1B1}"/>
              </a:ext>
            </a:extLst>
          </p:cNvPr>
          <p:cNvSpPr/>
          <p:nvPr/>
        </p:nvSpPr>
        <p:spPr>
          <a:xfrm>
            <a:off x="10004811" y="3327315"/>
            <a:ext cx="1536954" cy="257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 dirty="0">
                <a:solidFill>
                  <a:srgbClr val="2D528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93</a:t>
            </a:r>
            <a:r>
              <a:rPr lang="ko-KR" altLang="en-US" sz="1600" b="1" dirty="0">
                <a:solidFill>
                  <a:srgbClr val="2D528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 </a:t>
            </a:r>
            <a:r>
              <a:rPr lang="en-US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119건</a:t>
            </a:r>
            <a:endParaRPr lang="en-US" sz="16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CABD0014-D430-0DBB-4CDF-0EBAFB5F47A7}"/>
              </a:ext>
            </a:extLst>
          </p:cNvPr>
          <p:cNvSpPr/>
          <p:nvPr/>
        </p:nvSpPr>
        <p:spPr>
          <a:xfrm>
            <a:off x="9070772" y="3745321"/>
            <a:ext cx="153695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엑셀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출력 결함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기능 </a:t>
            </a:r>
            <a:r>
              <a:rPr lang="ko-KR" altLang="en-US" sz="1200" dirty="0" err="1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미동작</a:t>
            </a:r>
            <a:endParaRPr lang="ko-KR" altLang="en-US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입력 검증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유효성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레이아웃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겹침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잘림</a:t>
            </a:r>
          </a:p>
        </p:txBody>
      </p:sp>
      <p:sp>
        <p:nvSpPr>
          <p:cNvPr id="107" name="Text 6">
            <a:extLst>
              <a:ext uri="{FF2B5EF4-FFF2-40B4-BE49-F238E27FC236}">
                <a16:creationId xmlns:a16="http://schemas.microsoft.com/office/drawing/2014/main" id="{9FB1EDA2-459B-AAE4-EC92-289639876608}"/>
              </a:ext>
            </a:extLst>
          </p:cNvPr>
          <p:cNvSpPr/>
          <p:nvPr/>
        </p:nvSpPr>
        <p:spPr>
          <a:xfrm>
            <a:off x="10818542" y="3707221"/>
            <a:ext cx="353159" cy="83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18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12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12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11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8" name="Shape 23"/>
          <p:cNvSpPr/>
          <p:nvPr/>
        </p:nvSpPr>
        <p:spPr>
          <a:xfrm>
            <a:off x="8897201" y="4734815"/>
            <a:ext cx="2700000" cy="1377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0" name="Text 25"/>
          <p:cNvSpPr/>
          <p:nvPr/>
        </p:nvSpPr>
        <p:spPr>
          <a:xfrm>
            <a:off x="9080081" y="4783583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02C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공통관리 (CA)</a:t>
            </a:r>
            <a:endParaRPr lang="en-US" sz="16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1" name="Text 26"/>
          <p:cNvSpPr/>
          <p:nvPr/>
        </p:nvSpPr>
        <p:spPr>
          <a:xfrm>
            <a:off x="10493572" y="4775772"/>
            <a:ext cx="1048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72</a:t>
            </a:r>
            <a:r>
              <a:rPr lang="ko-KR" altLang="en-US" sz="1600" b="1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 </a:t>
            </a:r>
            <a:r>
              <a:rPr lang="en-US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128건</a:t>
            </a:r>
            <a:endParaRPr lang="en-US" sz="16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2" name="Text 6">
            <a:extLst>
              <a:ext uri="{FF2B5EF4-FFF2-40B4-BE49-F238E27FC236}">
                <a16:creationId xmlns:a16="http://schemas.microsoft.com/office/drawing/2014/main" id="{27162BD3-7AF3-3991-7239-ADB6420091BD}"/>
              </a:ext>
            </a:extLst>
          </p:cNvPr>
          <p:cNvSpPr/>
          <p:nvPr/>
        </p:nvSpPr>
        <p:spPr>
          <a:xfrm>
            <a:off x="9042362" y="5261547"/>
            <a:ext cx="168086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레이아웃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겹침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잘림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메시지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안내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개선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변경 요청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버튼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상태 인터랙션</a:t>
            </a:r>
          </a:p>
        </p:txBody>
      </p:sp>
      <p:sp>
        <p:nvSpPr>
          <p:cNvPr id="113" name="Text 6">
            <a:extLst>
              <a:ext uri="{FF2B5EF4-FFF2-40B4-BE49-F238E27FC236}">
                <a16:creationId xmlns:a16="http://schemas.microsoft.com/office/drawing/2014/main" id="{778553C9-9262-BF37-6697-9F2EB4314B7B}"/>
              </a:ext>
            </a:extLst>
          </p:cNvPr>
          <p:cNvSpPr/>
          <p:nvPr/>
        </p:nvSpPr>
        <p:spPr>
          <a:xfrm>
            <a:off x="10818542" y="5213922"/>
            <a:ext cx="353159" cy="83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16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8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7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D3B1BBE-6177-F1C4-0840-5D095B1C906D}"/>
              </a:ext>
            </a:extLst>
          </p:cNvPr>
          <p:cNvSpPr txBox="1"/>
          <p:nvPr/>
        </p:nvSpPr>
        <p:spPr>
          <a:xfrm>
            <a:off x="10200423" y="2740649"/>
            <a:ext cx="1634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B0F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유효식별결함 </a:t>
            </a: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총결함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2BCD00FC-E0F6-72F0-8358-37F9FC5F15AF}"/>
              </a:ext>
            </a:extLst>
          </p:cNvPr>
          <p:cNvCxnSpPr/>
          <p:nvPr/>
        </p:nvCxnSpPr>
        <p:spPr>
          <a:xfrm>
            <a:off x="6259830" y="3622647"/>
            <a:ext cx="1180459" cy="0"/>
          </a:xfrm>
          <a:prstGeom prst="line">
            <a:avLst/>
          </a:prstGeom>
          <a:ln w="28575">
            <a:solidFill>
              <a:srgbClr val="F3B5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D4CB26BF-8CB1-FAC8-CF38-B3FF00C8D9BE}"/>
              </a:ext>
            </a:extLst>
          </p:cNvPr>
          <p:cNvCxnSpPr/>
          <p:nvPr/>
        </p:nvCxnSpPr>
        <p:spPr>
          <a:xfrm>
            <a:off x="6269355" y="5156772"/>
            <a:ext cx="1180459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179D5513-2653-6969-EDFD-22CEAF5B025F}"/>
              </a:ext>
            </a:extLst>
          </p:cNvPr>
          <p:cNvCxnSpPr/>
          <p:nvPr/>
        </p:nvCxnSpPr>
        <p:spPr>
          <a:xfrm>
            <a:off x="9042362" y="3639440"/>
            <a:ext cx="1180459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9D7AA354-E964-36BA-E354-DD6F09F8F1DF}"/>
              </a:ext>
            </a:extLst>
          </p:cNvPr>
          <p:cNvCxnSpPr/>
          <p:nvPr/>
        </p:nvCxnSpPr>
        <p:spPr>
          <a:xfrm>
            <a:off x="9088734" y="5141532"/>
            <a:ext cx="11804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1C083182-7FB4-EA8D-238C-F02BC3972203}"/>
              </a:ext>
            </a:extLst>
          </p:cNvPr>
          <p:cNvGrpSpPr/>
          <p:nvPr/>
        </p:nvGrpSpPr>
        <p:grpSpPr>
          <a:xfrm>
            <a:off x="766763" y="2779203"/>
            <a:ext cx="4618399" cy="297788"/>
            <a:chOff x="921858" y="828209"/>
            <a:chExt cx="4618399" cy="297788"/>
          </a:xfrm>
        </p:grpSpPr>
        <p:sp>
          <p:nvSpPr>
            <p:cNvPr id="127" name="object 3">
              <a:extLst>
                <a:ext uri="{FF2B5EF4-FFF2-40B4-BE49-F238E27FC236}">
                  <a16:creationId xmlns:a16="http://schemas.microsoft.com/office/drawing/2014/main" id="{E90900E7-5146-14E6-52D2-65096463F6E8}"/>
                </a:ext>
              </a:extLst>
            </p:cNvPr>
            <p:cNvSpPr/>
            <p:nvPr/>
          </p:nvSpPr>
          <p:spPr>
            <a:xfrm>
              <a:off x="921858" y="876443"/>
              <a:ext cx="72000" cy="249554"/>
            </a:xfrm>
            <a:custGeom>
              <a:avLst/>
              <a:gdLst/>
              <a:ahLst/>
              <a:cxnLst/>
              <a:rect l="l" t="t" r="r" b="b"/>
              <a:pathLst>
                <a:path w="46990" h="249554">
                  <a:moveTo>
                    <a:pt x="46791" y="249554"/>
                  </a:moveTo>
                  <a:lnTo>
                    <a:pt x="0" y="249554"/>
                  </a:lnTo>
                  <a:lnTo>
                    <a:pt x="0" y="0"/>
                  </a:lnTo>
                  <a:lnTo>
                    <a:pt x="46791" y="0"/>
                  </a:lnTo>
                  <a:lnTo>
                    <a:pt x="46791" y="24955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28" name="object 4">
              <a:extLst>
                <a:ext uri="{FF2B5EF4-FFF2-40B4-BE49-F238E27FC236}">
                  <a16:creationId xmlns:a16="http://schemas.microsoft.com/office/drawing/2014/main" id="{28176E4B-615B-EFFF-05AB-C4437BBCF4A7}"/>
                </a:ext>
              </a:extLst>
            </p:cNvPr>
            <p:cNvSpPr txBox="1">
              <a:spLocks/>
            </p:cNvSpPr>
            <p:nvPr/>
          </p:nvSpPr>
          <p:spPr>
            <a:xfrm>
              <a:off x="1080726" y="828209"/>
              <a:ext cx="4459531" cy="29687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ko-KR" altLang="en-US" sz="1800" b="1" dirty="0" err="1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업무모듈별</a:t>
              </a:r>
              <a:r>
                <a:rPr lang="ko-KR" altLang="en-US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 결함건수 </a:t>
              </a:r>
              <a:r>
                <a:rPr lang="en-US" altLang="ko-KR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/</a:t>
              </a:r>
              <a:r>
                <a:rPr lang="ko-KR" altLang="en-US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기각 건수 </a:t>
              </a:r>
              <a:r>
                <a:rPr lang="en-US" altLang="ko-KR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(TMS)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1537526F-F418-A3D1-F3A8-593C391548A4}"/>
              </a:ext>
            </a:extLst>
          </p:cNvPr>
          <p:cNvGrpSpPr/>
          <p:nvPr/>
        </p:nvGrpSpPr>
        <p:grpSpPr>
          <a:xfrm>
            <a:off x="6104825" y="2779203"/>
            <a:ext cx="4618399" cy="297788"/>
            <a:chOff x="921858" y="828209"/>
            <a:chExt cx="4618399" cy="297788"/>
          </a:xfrm>
        </p:grpSpPr>
        <p:sp>
          <p:nvSpPr>
            <p:cNvPr id="134" name="object 3">
              <a:extLst>
                <a:ext uri="{FF2B5EF4-FFF2-40B4-BE49-F238E27FC236}">
                  <a16:creationId xmlns:a16="http://schemas.microsoft.com/office/drawing/2014/main" id="{72A795C3-6EFD-2F51-F333-10814B26C15E}"/>
                </a:ext>
              </a:extLst>
            </p:cNvPr>
            <p:cNvSpPr/>
            <p:nvPr/>
          </p:nvSpPr>
          <p:spPr>
            <a:xfrm>
              <a:off x="921858" y="876443"/>
              <a:ext cx="46990" cy="249554"/>
            </a:xfrm>
            <a:custGeom>
              <a:avLst/>
              <a:gdLst/>
              <a:ahLst/>
              <a:cxnLst/>
              <a:rect l="l" t="t" r="r" b="b"/>
              <a:pathLst>
                <a:path w="46990" h="249554">
                  <a:moveTo>
                    <a:pt x="46791" y="249554"/>
                  </a:moveTo>
                  <a:lnTo>
                    <a:pt x="0" y="249554"/>
                  </a:lnTo>
                  <a:lnTo>
                    <a:pt x="0" y="0"/>
                  </a:lnTo>
                  <a:lnTo>
                    <a:pt x="46791" y="0"/>
                  </a:lnTo>
                  <a:lnTo>
                    <a:pt x="46791" y="24955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5" name="object 4">
              <a:extLst>
                <a:ext uri="{FF2B5EF4-FFF2-40B4-BE49-F238E27FC236}">
                  <a16:creationId xmlns:a16="http://schemas.microsoft.com/office/drawing/2014/main" id="{A454AD99-1964-956C-28D3-C6F8CE1AFC0F}"/>
                </a:ext>
              </a:extLst>
            </p:cNvPr>
            <p:cNvSpPr txBox="1">
              <a:spLocks/>
            </p:cNvSpPr>
            <p:nvPr/>
          </p:nvSpPr>
          <p:spPr>
            <a:xfrm>
              <a:off x="1080726" y="828209"/>
              <a:ext cx="4459531" cy="29687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ko-KR" altLang="en-US" sz="1800" b="1" dirty="0" err="1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업무모듈별</a:t>
              </a:r>
              <a:r>
                <a:rPr lang="ko-KR" altLang="en-US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 주요 결함 유형</a:t>
              </a:r>
              <a:endParaRPr lang="en-US" altLang="ko-KR" sz="18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/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5F904D06-A433-D0D1-0F67-A55B00C8B210}"/>
              </a:ext>
            </a:extLst>
          </p:cNvPr>
          <p:cNvSpPr txBox="1"/>
          <p:nvPr/>
        </p:nvSpPr>
        <p:spPr>
          <a:xfrm>
            <a:off x="10221697" y="2977926"/>
            <a:ext cx="1634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B0F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     556</a:t>
            </a:r>
            <a:r>
              <a:rPr lang="ko-KR" altLang="en-US" sz="1200" b="1" dirty="0">
                <a:solidFill>
                  <a:srgbClr val="00B0F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654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1CF1B2-0733-EB3A-B22B-19BF79B98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- 02.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결함 유형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</a:endParaRPr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01409BAB-A0E5-6712-8404-411317D702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4320284"/>
              </p:ext>
            </p:extLst>
          </p:nvPr>
        </p:nvGraphicFramePr>
        <p:xfrm>
          <a:off x="766762" y="1171321"/>
          <a:ext cx="10339388" cy="5402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CD5EE1-2194-5FC2-DD10-AC08B734BC5C}"/>
              </a:ext>
            </a:extLst>
          </p:cNvPr>
          <p:cNvSpPr/>
          <p:nvPr/>
        </p:nvSpPr>
        <p:spPr>
          <a:xfrm>
            <a:off x="10448925" y="2357708"/>
            <a:ext cx="131445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>
              <a:spcBef>
                <a:spcPts val="600"/>
              </a:spcBef>
              <a:spcAft>
                <a:spcPts val="600"/>
              </a:spcAft>
            </a:pPr>
            <a:r>
              <a:rPr kumimoji="1" lang="en-US" altLang="ko-KR" sz="1600" b="1" i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TOP</a:t>
            </a:r>
            <a:r>
              <a:rPr kumimoji="1" lang="ko-KR" altLang="en-US" sz="1600" b="1" i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 </a:t>
            </a:r>
            <a:r>
              <a:rPr kumimoji="1" lang="en-US" altLang="ko-KR" sz="1600" b="1" i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3</a:t>
            </a:r>
          </a:p>
          <a:p>
            <a:pPr defTabSz="457200" latinLnBrk="0">
              <a:spcBef>
                <a:spcPts val="600"/>
              </a:spcBef>
              <a:spcAft>
                <a:spcPts val="600"/>
              </a:spcAft>
            </a:pPr>
            <a:r>
              <a:rPr kumimoji="1" lang="ko-KR" altLang="en-US" sz="1200" i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CC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전체결함의 </a:t>
            </a:r>
            <a:r>
              <a:rPr kumimoji="1" lang="en-US" altLang="ko-KR" sz="1200" i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CC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39% 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2E1A975-4CB4-DAB0-2F80-A6D8EF098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88280"/>
              </p:ext>
            </p:extLst>
          </p:nvPr>
        </p:nvGraphicFramePr>
        <p:xfrm>
          <a:off x="571500" y="1261047"/>
          <a:ext cx="1711325" cy="5168336"/>
        </p:xfrm>
        <a:graphic>
          <a:graphicData uri="http://schemas.openxmlformats.org/drawingml/2006/table">
            <a:tbl>
              <a:tblPr/>
              <a:tblGrid>
                <a:gridCol w="1711325">
                  <a:extLst>
                    <a:ext uri="{9D8B030D-6E8A-4147-A177-3AD203B41FA5}">
                      <a16:colId xmlns:a16="http://schemas.microsoft.com/office/drawing/2014/main" val="694735631"/>
                    </a:ext>
                  </a:extLst>
                </a:gridCol>
              </a:tblGrid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변경 요청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32833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검색 결과 불일치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788187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레이아웃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겹침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잘림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397751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날짜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기간 처리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170757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엑셀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출력 결함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537139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입력 검증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유효성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777027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 미동작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139887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문서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요건 불일치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77968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버튼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상태 인터랙션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711322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 정합성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계산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979835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시스템 오류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544416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그래프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차트 표시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171446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704408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메시지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안내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724671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용어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라벨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486996"/>
                  </a:ext>
                </a:extLst>
              </a:tr>
              <a:tr h="3230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1129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883C3A-82B8-A082-6FCB-7E0FA8205644}"/>
              </a:ext>
            </a:extLst>
          </p:cNvPr>
          <p:cNvSpPr/>
          <p:nvPr/>
        </p:nvSpPr>
        <p:spPr>
          <a:xfrm>
            <a:off x="766762" y="1243925"/>
            <a:ext cx="10634663" cy="1041179"/>
          </a:xfrm>
          <a:prstGeom prst="rect">
            <a:avLst/>
          </a:prstGeom>
          <a:noFill/>
          <a:ln w="34925"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FA07EE7-0FD8-7BE1-876E-85D5080F7362}"/>
              </a:ext>
            </a:extLst>
          </p:cNvPr>
          <p:cNvGrpSpPr/>
          <p:nvPr/>
        </p:nvGrpSpPr>
        <p:grpSpPr>
          <a:xfrm>
            <a:off x="790575" y="795669"/>
            <a:ext cx="4618399" cy="297788"/>
            <a:chOff x="921858" y="828209"/>
            <a:chExt cx="4618399" cy="297788"/>
          </a:xfrm>
        </p:grpSpPr>
        <p:sp>
          <p:nvSpPr>
            <p:cNvPr id="20" name="object 3">
              <a:extLst>
                <a:ext uri="{FF2B5EF4-FFF2-40B4-BE49-F238E27FC236}">
                  <a16:creationId xmlns:a16="http://schemas.microsoft.com/office/drawing/2014/main" id="{04E1F973-2676-AFD4-25DC-700F669C8744}"/>
                </a:ext>
              </a:extLst>
            </p:cNvPr>
            <p:cNvSpPr/>
            <p:nvPr/>
          </p:nvSpPr>
          <p:spPr>
            <a:xfrm>
              <a:off x="921858" y="876443"/>
              <a:ext cx="46990" cy="249554"/>
            </a:xfrm>
            <a:custGeom>
              <a:avLst/>
              <a:gdLst/>
              <a:ahLst/>
              <a:cxnLst/>
              <a:rect l="l" t="t" r="r" b="b"/>
              <a:pathLst>
                <a:path w="46990" h="249554">
                  <a:moveTo>
                    <a:pt x="46791" y="249554"/>
                  </a:moveTo>
                  <a:lnTo>
                    <a:pt x="0" y="249554"/>
                  </a:lnTo>
                  <a:lnTo>
                    <a:pt x="0" y="0"/>
                  </a:lnTo>
                  <a:lnTo>
                    <a:pt x="46791" y="0"/>
                  </a:lnTo>
                  <a:lnTo>
                    <a:pt x="46791" y="24955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1" name="object 4">
              <a:extLst>
                <a:ext uri="{FF2B5EF4-FFF2-40B4-BE49-F238E27FC236}">
                  <a16:creationId xmlns:a16="http://schemas.microsoft.com/office/drawing/2014/main" id="{DCFF370F-F65E-BE35-C1A2-3EA663806E1D}"/>
                </a:ext>
              </a:extLst>
            </p:cNvPr>
            <p:cNvSpPr txBox="1">
              <a:spLocks/>
            </p:cNvSpPr>
            <p:nvPr/>
          </p:nvSpPr>
          <p:spPr>
            <a:xfrm>
              <a:off x="1080726" y="828209"/>
              <a:ext cx="4459531" cy="29687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ko-KR" altLang="en-US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식별된 </a:t>
              </a:r>
              <a:r>
                <a:rPr lang="en-US" altLang="ko-KR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654</a:t>
              </a:r>
              <a:r>
                <a:rPr lang="ko-KR" altLang="en-US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건의 결함 유형을 분류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8340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E2787A-969C-BEBC-E873-22AA762F3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800955"/>
              </p:ext>
            </p:extLst>
          </p:nvPr>
        </p:nvGraphicFramePr>
        <p:xfrm>
          <a:off x="766763" y="1249782"/>
          <a:ext cx="5729289" cy="4411240"/>
        </p:xfrm>
        <a:graphic>
          <a:graphicData uri="http://schemas.openxmlformats.org/drawingml/2006/table">
            <a:tbl>
              <a:tblPr/>
              <a:tblGrid>
                <a:gridCol w="938993">
                  <a:extLst>
                    <a:ext uri="{9D8B030D-6E8A-4147-A177-3AD203B41FA5}">
                      <a16:colId xmlns:a16="http://schemas.microsoft.com/office/drawing/2014/main" val="2294830865"/>
                    </a:ext>
                  </a:extLst>
                </a:gridCol>
                <a:gridCol w="2314912">
                  <a:extLst>
                    <a:ext uri="{9D8B030D-6E8A-4147-A177-3AD203B41FA5}">
                      <a16:colId xmlns:a16="http://schemas.microsoft.com/office/drawing/2014/main" val="2333922511"/>
                    </a:ext>
                  </a:extLst>
                </a:gridCol>
                <a:gridCol w="825128">
                  <a:extLst>
                    <a:ext uri="{9D8B030D-6E8A-4147-A177-3AD203B41FA5}">
                      <a16:colId xmlns:a16="http://schemas.microsoft.com/office/drawing/2014/main" val="3875347367"/>
                    </a:ext>
                  </a:extLst>
                </a:gridCol>
                <a:gridCol w="825128">
                  <a:extLst>
                    <a:ext uri="{9D8B030D-6E8A-4147-A177-3AD203B41FA5}">
                      <a16:colId xmlns:a16="http://schemas.microsoft.com/office/drawing/2014/main" val="2927226401"/>
                    </a:ext>
                  </a:extLst>
                </a:gridCol>
                <a:gridCol w="825128">
                  <a:extLst>
                    <a:ext uri="{9D8B030D-6E8A-4147-A177-3AD203B41FA5}">
                      <a16:colId xmlns:a16="http://schemas.microsoft.com/office/drawing/2014/main" val="1932688699"/>
                    </a:ext>
                  </a:extLst>
                </a:gridCol>
              </a:tblGrid>
              <a:tr h="4411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기각 사유 유형 분류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　구분 계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43491"/>
                  </a:ext>
                </a:extLst>
              </a:tr>
              <a:tr h="44112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결함기각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정상동작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스펙대로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73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33.3%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98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(44.7%)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460224"/>
                  </a:ext>
                </a:extLst>
              </a:tr>
              <a:tr h="441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오등록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테스터오류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2.7%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942477"/>
                  </a:ext>
                </a:extLst>
              </a:tr>
              <a:tr h="441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기타 기각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19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8.7%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210748"/>
                  </a:ext>
                </a:extLst>
              </a:tr>
              <a:tr h="44112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판단보류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협의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보류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7.3%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78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(35.6%)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875998"/>
                  </a:ext>
                </a:extLst>
              </a:tr>
              <a:tr h="441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개선요청 이관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5.9%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044245"/>
                  </a:ext>
                </a:extLst>
              </a:tr>
              <a:tr h="441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요구사항 범위외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1.8%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131845"/>
                  </a:ext>
                </a:extLst>
              </a:tr>
              <a:tr h="441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정책 검토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45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20.5%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320190"/>
                  </a:ext>
                </a:extLst>
              </a:tr>
              <a:tr h="4411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결함수용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조치완료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43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19.6%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43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(19.6%)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799360"/>
                  </a:ext>
                </a:extLst>
              </a:tr>
              <a:tr h="44112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219 </a:t>
                      </a:r>
                    </a:p>
                  </a:txBody>
                  <a:tcPr marL="9525" marR="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100%</a:t>
                      </a:r>
                    </a:p>
                  </a:txBody>
                  <a:tcPr marL="9525" marR="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219</a:t>
                      </a:r>
                    </a:p>
                  </a:txBody>
                  <a:tcPr marL="9525" marR="0" marT="9525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937073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E823DD96-2A63-F25B-B4C5-5F6591D76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03 . </a:t>
            </a:r>
            <a:r>
              <a:rPr lang="ko-KR" altLang="en-US" sz="2000" b="1" dirty="0">
                <a:solidFill>
                  <a:prstClr val="white"/>
                </a:solidFill>
              </a:rPr>
              <a:t>기각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사유 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D0310D-5BD2-F8E8-2753-6D42B9CB122C}"/>
              </a:ext>
            </a:extLst>
          </p:cNvPr>
          <p:cNvSpPr/>
          <p:nvPr/>
        </p:nvSpPr>
        <p:spPr>
          <a:xfrm>
            <a:off x="766763" y="5970294"/>
            <a:ext cx="55065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>
              <a:spcBef>
                <a:spcPts val="600"/>
              </a:spcBef>
              <a:spcAft>
                <a:spcPts val="600"/>
              </a:spcAft>
            </a:pPr>
            <a:r>
              <a:rPr kumimoji="1" lang="ko-KR" altLang="en-US" sz="16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기 조치 결함 </a:t>
            </a:r>
            <a:r>
              <a:rPr kumimoji="1" lang="en-US" altLang="ko-KR" sz="16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298</a:t>
            </a:r>
            <a:r>
              <a:rPr kumimoji="1" lang="ko-KR" altLang="en-US" sz="16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건의 </a:t>
            </a:r>
            <a:r>
              <a:rPr kumimoji="1" lang="en-US" altLang="ko-KR" sz="16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72.8% (219</a:t>
            </a:r>
            <a:r>
              <a:rPr kumimoji="1" lang="ko-KR" altLang="en-US" sz="16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건</a:t>
            </a:r>
            <a:r>
              <a:rPr kumimoji="1" lang="en-US" altLang="ko-KR" sz="16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)</a:t>
            </a:r>
            <a:r>
              <a:rPr kumimoji="1" lang="ko-KR" altLang="en-US" sz="16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이 기각</a:t>
            </a:r>
            <a:r>
              <a:rPr kumimoji="1" lang="ko-KR" altLang="en-US" sz="16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에 의해 조치 완료 처리</a:t>
            </a:r>
            <a:endParaRPr kumimoji="1" lang="en-US" altLang="ko-KR" sz="1600" b="1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Segoe UI" panose="020B0502040204020203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8445C67-78AF-5891-0454-A3ED18DC97EC}"/>
              </a:ext>
            </a:extLst>
          </p:cNvPr>
          <p:cNvGrpSpPr/>
          <p:nvPr/>
        </p:nvGrpSpPr>
        <p:grpSpPr>
          <a:xfrm>
            <a:off x="790575" y="795669"/>
            <a:ext cx="4618399" cy="297788"/>
            <a:chOff x="921858" y="828209"/>
            <a:chExt cx="4618399" cy="297788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D73796DB-1EEF-5AF7-4003-971CDF097A26}"/>
                </a:ext>
              </a:extLst>
            </p:cNvPr>
            <p:cNvSpPr/>
            <p:nvPr/>
          </p:nvSpPr>
          <p:spPr>
            <a:xfrm>
              <a:off x="921858" y="876443"/>
              <a:ext cx="46990" cy="249554"/>
            </a:xfrm>
            <a:custGeom>
              <a:avLst/>
              <a:gdLst/>
              <a:ahLst/>
              <a:cxnLst/>
              <a:rect l="l" t="t" r="r" b="b"/>
              <a:pathLst>
                <a:path w="46990" h="249554">
                  <a:moveTo>
                    <a:pt x="46791" y="249554"/>
                  </a:moveTo>
                  <a:lnTo>
                    <a:pt x="0" y="249554"/>
                  </a:lnTo>
                  <a:lnTo>
                    <a:pt x="0" y="0"/>
                  </a:lnTo>
                  <a:lnTo>
                    <a:pt x="46791" y="0"/>
                  </a:lnTo>
                  <a:lnTo>
                    <a:pt x="46791" y="249554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F1D021AC-9910-6B81-9A0F-7AD761F1E051}"/>
                </a:ext>
              </a:extLst>
            </p:cNvPr>
            <p:cNvSpPr txBox="1">
              <a:spLocks/>
            </p:cNvSpPr>
            <p:nvPr/>
          </p:nvSpPr>
          <p:spPr>
            <a:xfrm>
              <a:off x="1080726" y="828209"/>
              <a:ext cx="4459531" cy="2891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lang="ko-KR" altLang="en-US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기각 처리된 결함 </a:t>
              </a:r>
              <a:r>
                <a:rPr lang="en-US" altLang="ko-KR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219</a:t>
              </a:r>
              <a:r>
                <a:rPr lang="ko-KR" altLang="en-US" sz="18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/>
                </a:rPr>
                <a:t>건의 유형을 분류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EA0111B-E103-0B78-F390-C5B58681648C}"/>
              </a:ext>
            </a:extLst>
          </p:cNvPr>
          <p:cNvSpPr txBox="1"/>
          <p:nvPr/>
        </p:nvSpPr>
        <p:spPr>
          <a:xfrm>
            <a:off x="6581775" y="5853024"/>
            <a:ext cx="294322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spcBef>
                <a:spcPts val="600"/>
              </a:spcBef>
            </a:pPr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  98</a:t>
            </a:r>
            <a:r>
              <a:rPr kumimoji="1" lang="ko-KR" altLang="en-US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건</a:t>
            </a:r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 :</a:t>
            </a:r>
            <a:r>
              <a:rPr kumimoji="1" lang="ko-KR" altLang="en-US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 정상 기각 처리</a:t>
            </a:r>
            <a:endParaRPr kumimoji="1" lang="en-US" altLang="ko-KR" sz="1400" b="1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Segoe UI" panose="020B0502040204020203" pitchFamily="34" charset="0"/>
            </a:endParaRPr>
          </a:p>
          <a:p>
            <a:pPr defTabSz="457200" latinLnBrk="0">
              <a:spcBef>
                <a:spcPts val="600"/>
              </a:spcBef>
            </a:pPr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121</a:t>
            </a:r>
            <a:r>
              <a:rPr kumimoji="1" lang="ko-KR" altLang="en-US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건 </a:t>
            </a:r>
            <a:r>
              <a:rPr kumimoji="1" lang="en-US" altLang="ko-KR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:</a:t>
            </a:r>
            <a:r>
              <a:rPr kumimoji="1" lang="ko-KR" altLang="en-US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 </a:t>
            </a:r>
            <a:r>
              <a:rPr kumimoji="1" lang="ko-KR" altLang="en-US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유효결함</a:t>
            </a:r>
            <a:r>
              <a:rPr kumimoji="1" lang="ko-KR" altLang="en-US" sz="1400" b="1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으로 판단</a:t>
            </a:r>
            <a:endParaRPr kumimoji="1" lang="en-US" altLang="ko-KR" sz="1400" b="1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Segoe UI" panose="020B0502040204020203" pitchFamily="34" charset="0"/>
            </a:endParaRPr>
          </a:p>
        </p:txBody>
      </p:sp>
      <p:sp>
        <p:nvSpPr>
          <p:cNvPr id="16" name="왼쪽 대괄호 15">
            <a:extLst>
              <a:ext uri="{FF2B5EF4-FFF2-40B4-BE49-F238E27FC236}">
                <a16:creationId xmlns:a16="http://schemas.microsoft.com/office/drawing/2014/main" id="{9B4C7EA3-997D-5073-7E9A-4532F0CDE06E}"/>
              </a:ext>
            </a:extLst>
          </p:cNvPr>
          <p:cNvSpPr/>
          <p:nvPr/>
        </p:nvSpPr>
        <p:spPr>
          <a:xfrm>
            <a:off x="6496052" y="5975997"/>
            <a:ext cx="45719" cy="338554"/>
          </a:xfrm>
          <a:prstGeom prst="leftBracket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7" name="차트 16">
                <a:extLst>
                  <a:ext uri="{FF2B5EF4-FFF2-40B4-BE49-F238E27FC236}">
                    <a16:creationId xmlns:a16="http://schemas.microsoft.com/office/drawing/2014/main" id="{763E063F-CDF6-1196-9391-E11924CD450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7948154"/>
                  </p:ext>
                </p:extLst>
              </p:nvPr>
            </p:nvGraphicFramePr>
            <p:xfrm>
              <a:off x="6854622" y="1093456"/>
              <a:ext cx="5043373" cy="448819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7" name="차트 16">
                <a:extLst>
                  <a:ext uri="{FF2B5EF4-FFF2-40B4-BE49-F238E27FC236}">
                    <a16:creationId xmlns:a16="http://schemas.microsoft.com/office/drawing/2014/main" id="{763E063F-CDF6-1196-9391-E11924CD45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54622" y="1093456"/>
                <a:ext cx="5043373" cy="448819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F98BC11-E331-9694-DF77-A00B5AEB0E54}"/>
              </a:ext>
            </a:extLst>
          </p:cNvPr>
          <p:cNvSpPr txBox="1"/>
          <p:nvPr/>
        </p:nvSpPr>
        <p:spPr>
          <a:xfrm>
            <a:off x="9063612" y="4030350"/>
            <a:ext cx="7536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ko-KR" altLang="en-US" sz="1100" b="1" i="0" u="none" strike="noStrike" dirty="0">
                <a:solidFill>
                  <a:schemeClr val="bg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결함수용</a:t>
            </a:r>
            <a:endParaRPr lang="en-US" altLang="ko-KR" sz="1100" b="1" i="0" u="none" strike="noStrike" dirty="0">
              <a:solidFill>
                <a:schemeClr val="bg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6801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65D0EF-8D44-D338-DDDE-BC059E9FC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990800"/>
              </p:ext>
            </p:extLst>
          </p:nvPr>
        </p:nvGraphicFramePr>
        <p:xfrm>
          <a:off x="766763" y="1714500"/>
          <a:ext cx="5181602" cy="4268012"/>
        </p:xfrm>
        <a:graphic>
          <a:graphicData uri="http://schemas.openxmlformats.org/drawingml/2006/table">
            <a:tbl>
              <a:tblPr/>
              <a:tblGrid>
                <a:gridCol w="2000251">
                  <a:extLst>
                    <a:ext uri="{9D8B030D-6E8A-4147-A177-3AD203B41FA5}">
                      <a16:colId xmlns:a16="http://schemas.microsoft.com/office/drawing/2014/main" val="1870192709"/>
                    </a:ext>
                  </a:extLst>
                </a:gridCol>
                <a:gridCol w="1028563">
                  <a:extLst>
                    <a:ext uri="{9D8B030D-6E8A-4147-A177-3AD203B41FA5}">
                      <a16:colId xmlns:a16="http://schemas.microsoft.com/office/drawing/2014/main" val="1801031254"/>
                    </a:ext>
                  </a:extLst>
                </a:gridCol>
                <a:gridCol w="717596">
                  <a:extLst>
                    <a:ext uri="{9D8B030D-6E8A-4147-A177-3AD203B41FA5}">
                      <a16:colId xmlns:a16="http://schemas.microsoft.com/office/drawing/2014/main" val="1244892615"/>
                    </a:ext>
                  </a:extLst>
                </a:gridCol>
                <a:gridCol w="717596">
                  <a:extLst>
                    <a:ext uri="{9D8B030D-6E8A-4147-A177-3AD203B41FA5}">
                      <a16:colId xmlns:a16="http://schemas.microsoft.com/office/drawing/2014/main" val="9034608"/>
                    </a:ext>
                  </a:extLst>
                </a:gridCol>
                <a:gridCol w="717596">
                  <a:extLst>
                    <a:ext uri="{9D8B030D-6E8A-4147-A177-3AD203B41FA5}">
                      <a16:colId xmlns:a16="http://schemas.microsoft.com/office/drawing/2014/main" val="3948784479"/>
                    </a:ext>
                  </a:extLst>
                </a:gridCol>
              </a:tblGrid>
              <a:tr h="5490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 유형 분류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유효 결함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등록결함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정상기각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기각율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193550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검색 결과 불일치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72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11.1%</a:t>
                      </a: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484011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미동작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35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42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16.7%</a:t>
                      </a: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534917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문서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요건 불일치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36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13.9%</a:t>
                      </a: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229334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 정합성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계산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25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28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10.7%</a:t>
                      </a: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137688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예외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시스템 오류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23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8.7%</a:t>
                      </a: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038453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45.0%</a:t>
                      </a: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798015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용어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라벨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오타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17.6%</a:t>
                      </a: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117252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기타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57.1%</a:t>
                      </a: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277874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212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254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42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16.5%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7099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02AD395-B000-0141-4AB9-874983042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421730"/>
              </p:ext>
            </p:extLst>
          </p:nvPr>
        </p:nvGraphicFramePr>
        <p:xfrm>
          <a:off x="6524624" y="1714500"/>
          <a:ext cx="5254200" cy="4268012"/>
        </p:xfrm>
        <a:graphic>
          <a:graphicData uri="http://schemas.openxmlformats.org/drawingml/2006/table">
            <a:tbl>
              <a:tblPr/>
              <a:tblGrid>
                <a:gridCol w="2343600">
                  <a:extLst>
                    <a:ext uri="{9D8B030D-6E8A-4147-A177-3AD203B41FA5}">
                      <a16:colId xmlns:a16="http://schemas.microsoft.com/office/drawing/2014/main" val="1870192709"/>
                    </a:ext>
                  </a:extLst>
                </a:gridCol>
                <a:gridCol w="727650">
                  <a:extLst>
                    <a:ext uri="{9D8B030D-6E8A-4147-A177-3AD203B41FA5}">
                      <a16:colId xmlns:a16="http://schemas.microsoft.com/office/drawing/2014/main" val="1801031254"/>
                    </a:ext>
                  </a:extLst>
                </a:gridCol>
                <a:gridCol w="727650">
                  <a:extLst>
                    <a:ext uri="{9D8B030D-6E8A-4147-A177-3AD203B41FA5}">
                      <a16:colId xmlns:a16="http://schemas.microsoft.com/office/drawing/2014/main" val="1244892615"/>
                    </a:ext>
                  </a:extLst>
                </a:gridCol>
                <a:gridCol w="727650">
                  <a:extLst>
                    <a:ext uri="{9D8B030D-6E8A-4147-A177-3AD203B41FA5}">
                      <a16:colId xmlns:a16="http://schemas.microsoft.com/office/drawing/2014/main" val="9034608"/>
                    </a:ext>
                  </a:extLst>
                </a:gridCol>
                <a:gridCol w="727650">
                  <a:extLst>
                    <a:ext uri="{9D8B030D-6E8A-4147-A177-3AD203B41FA5}">
                      <a16:colId xmlns:a16="http://schemas.microsoft.com/office/drawing/2014/main" val="3948784479"/>
                    </a:ext>
                  </a:extLst>
                </a:gridCol>
              </a:tblGrid>
              <a:tr h="5490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 유형 분류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유효 결함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등록결함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정상기각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기각율</a:t>
                      </a:r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193550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변경 요청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92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13.0%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009445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레이아웃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겹침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잘림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76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6.2%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314105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날짜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기간 처리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47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52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9.6%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430428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엑셀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출력 결함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43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52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17.3%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437316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입력 검증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유효성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39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48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18.8%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610429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버튼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상태 인터랙션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31.4%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17071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그래프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차트 표시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4.8%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522612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메시지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안내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19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21.1%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416506"/>
                  </a:ext>
                </a:extLst>
              </a:tr>
              <a:tr h="4132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</a:t>
                      </a: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344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400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56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14.0%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0" marR="72000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50921"/>
                  </a:ext>
                </a:extLst>
              </a:tr>
            </a:tbl>
          </a:graphicData>
        </a:graphic>
      </p:graphicFrame>
      <p:sp>
        <p:nvSpPr>
          <p:cNvPr id="5" name="Shape 3">
            <a:extLst>
              <a:ext uri="{FF2B5EF4-FFF2-40B4-BE49-F238E27FC236}">
                <a16:creationId xmlns:a16="http://schemas.microsoft.com/office/drawing/2014/main" id="{58334D96-3556-98DD-47EF-046E7001A214}"/>
              </a:ext>
            </a:extLst>
          </p:cNvPr>
          <p:cNvSpPr/>
          <p:nvPr/>
        </p:nvSpPr>
        <p:spPr>
          <a:xfrm>
            <a:off x="766763" y="1015999"/>
            <a:ext cx="1881187" cy="517525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단기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Week 2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1B3DAC6-1D26-8775-9042-69AB8D9919A6}"/>
              </a:ext>
            </a:extLst>
          </p:cNvPr>
          <p:cNvSpPr/>
          <p:nvPr/>
        </p:nvSpPr>
        <p:spPr>
          <a:xfrm>
            <a:off x="6524624" y="1015998"/>
            <a:ext cx="1881187" cy="517525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중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기 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조치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Month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 2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이내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4F55A-9E79-79B3-07E3-9F446DE7D098}"/>
              </a:ext>
            </a:extLst>
          </p:cNvPr>
          <p:cNvSpPr txBox="1"/>
          <p:nvPr/>
        </p:nvSpPr>
        <p:spPr>
          <a:xfrm>
            <a:off x="10040804" y="1120871"/>
            <a:ext cx="1881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총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 </a:t>
            </a: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유효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 </a:t>
            </a: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결함의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 61.9%</a:t>
            </a:r>
            <a:endParaRPr lang="ko-KR" altLang="en-US" sz="1400" b="1" dirty="0">
              <a:solidFill>
                <a:schemeClr val="accent5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함초롬바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BC394C-7AC4-C169-C38B-40F5F543F976}"/>
              </a:ext>
            </a:extLst>
          </p:cNvPr>
          <p:cNvSpPr txBox="1"/>
          <p:nvPr/>
        </p:nvSpPr>
        <p:spPr>
          <a:xfrm>
            <a:off x="4282943" y="1120870"/>
            <a:ext cx="17335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총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 </a:t>
            </a:r>
            <a:r>
              <a:rPr lang="ko-KR" altLang="en-US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유효결함의</a:t>
            </a:r>
            <a:r>
              <a:rPr lang="en-US" altLang="ko-KR" sz="1400" b="1" dirty="0">
                <a:solidFill>
                  <a:schemeClr val="accent5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함초롬바탕"/>
              </a:rPr>
              <a:t> 38.1%</a:t>
            </a:r>
            <a:endParaRPr lang="ko-KR" altLang="en-US" sz="1400" b="1" dirty="0">
              <a:solidFill>
                <a:schemeClr val="accent5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함초롬바탕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937DE86-E1B3-BF47-6FDE-3708BA6DF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04 .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 별 조치</a:t>
            </a:r>
            <a:r>
              <a:rPr lang="en-US" altLang="ko-KR" sz="2000" b="1" dirty="0">
                <a:solidFill>
                  <a:prstClr val="white"/>
                </a:solidFill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계획 </a:t>
            </a:r>
            <a:r>
              <a:rPr lang="en-US" altLang="ko-KR" sz="2000" b="1" dirty="0">
                <a:solidFill>
                  <a:prstClr val="white"/>
                </a:solidFill>
              </a:rPr>
              <a:t>1/2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2D52B-5617-864E-5579-12B0DE26BEAE}"/>
              </a:ext>
            </a:extLst>
          </p:cNvPr>
          <p:cNvSpPr txBox="1"/>
          <p:nvPr/>
        </p:nvSpPr>
        <p:spPr>
          <a:xfrm>
            <a:off x="685834" y="6176189"/>
            <a:ext cx="8691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결함 심각도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(Severity) 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등급이 주관적일 수 있음으로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조치계획에 고려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반영하지 않음</a:t>
            </a:r>
            <a:endParaRPr lang="ko-KR" altLang="en-US" sz="1200" dirty="0">
              <a:solidFill>
                <a:srgbClr val="FF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0922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>
            <a:extLst>
              <a:ext uri="{FF2B5EF4-FFF2-40B4-BE49-F238E27FC236}">
                <a16:creationId xmlns:a16="http://schemas.microsoft.com/office/drawing/2014/main" id="{4FEDA7B9-4A6F-C9A1-B890-6C4ED3C839A7}"/>
              </a:ext>
            </a:extLst>
          </p:cNvPr>
          <p:cNvSpPr/>
          <p:nvPr/>
        </p:nvSpPr>
        <p:spPr>
          <a:xfrm>
            <a:off x="1062038" y="1688084"/>
            <a:ext cx="4732308" cy="341376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191A9E28-6BA0-3062-37E0-20E4B3E50F32}"/>
              </a:ext>
            </a:extLst>
          </p:cNvPr>
          <p:cNvSpPr/>
          <p:nvPr/>
        </p:nvSpPr>
        <p:spPr>
          <a:xfrm>
            <a:off x="766763" y="1196975"/>
            <a:ext cx="1727673" cy="3413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342D96C-4A42-014E-978A-4E95A03CA5CB}"/>
              </a:ext>
            </a:extLst>
          </p:cNvPr>
          <p:cNvSpPr/>
          <p:nvPr/>
        </p:nvSpPr>
        <p:spPr>
          <a:xfrm>
            <a:off x="766763" y="1209167"/>
            <a:ext cx="1727673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단기</a:t>
            </a:r>
            <a:r>
              <a:rPr lang="en-US" sz="1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조치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E94D84D-5033-809E-8840-D6BC87143D12}"/>
              </a:ext>
            </a:extLst>
          </p:cNvPr>
          <p:cNvSpPr/>
          <p:nvPr/>
        </p:nvSpPr>
        <p:spPr>
          <a:xfrm>
            <a:off x="1275493" y="1684274"/>
            <a:ext cx="438193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 R U D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의 기능이 기대하는 바와 같이 동작하지 않음</a:t>
            </a: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A415DB30-45A9-996F-7557-C667996061BE}"/>
              </a:ext>
            </a:extLst>
          </p:cNvPr>
          <p:cNvSpPr/>
          <p:nvPr/>
        </p:nvSpPr>
        <p:spPr>
          <a:xfrm>
            <a:off x="1062038" y="2155190"/>
            <a:ext cx="4732308" cy="341376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6F731932-A84F-8B3A-879B-13BBF72C8F9B}"/>
              </a:ext>
            </a:extLst>
          </p:cNvPr>
          <p:cNvSpPr/>
          <p:nvPr/>
        </p:nvSpPr>
        <p:spPr>
          <a:xfrm>
            <a:off x="1275493" y="2151380"/>
            <a:ext cx="438193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계정별 권한 부여 누락 혹은 </a:t>
            </a:r>
            <a:r>
              <a:rPr lang="ko-KR" altLang="en-US" sz="1400" dirty="0" err="1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오탈자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등이</a:t>
            </a: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존재</a:t>
            </a: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1621C1B3-D23F-DDA4-7206-5304FCE14F6A}"/>
              </a:ext>
            </a:extLst>
          </p:cNvPr>
          <p:cNvSpPr/>
          <p:nvPr/>
        </p:nvSpPr>
        <p:spPr>
          <a:xfrm>
            <a:off x="1062038" y="2642362"/>
            <a:ext cx="4732308" cy="341376"/>
          </a:xfrm>
          <a:prstGeom prst="rect">
            <a:avLst/>
          </a:prstGeom>
          <a:noFill/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AE1BA46D-1E32-5DAD-68CB-2B33434753E4}"/>
              </a:ext>
            </a:extLst>
          </p:cNvPr>
          <p:cNvSpPr/>
          <p:nvPr/>
        </p:nvSpPr>
        <p:spPr>
          <a:xfrm>
            <a:off x="1275493" y="2638552"/>
            <a:ext cx="438193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문서누락 혹은 기능 수정</a:t>
            </a: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변경 후 현행화 미흡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D7DCE31F-5B84-1E75-E9C4-AB07765AA571}"/>
              </a:ext>
            </a:extLst>
          </p:cNvPr>
          <p:cNvSpPr/>
          <p:nvPr/>
        </p:nvSpPr>
        <p:spPr>
          <a:xfrm>
            <a:off x="5886450" y="1684274"/>
            <a:ext cx="4114801" cy="1295654"/>
          </a:xfrm>
          <a:prstGeom prst="rect">
            <a:avLst/>
          </a:prstGeom>
          <a:solidFill>
            <a:srgbClr val="FFEAEA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F3896CC7-0AC3-317E-94D2-000429CB42EC}"/>
              </a:ext>
            </a:extLst>
          </p:cNvPr>
          <p:cNvSpPr/>
          <p:nvPr/>
        </p:nvSpPr>
        <p:spPr>
          <a:xfrm>
            <a:off x="6118196" y="1855978"/>
            <a:ext cx="3686175" cy="884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기능 및 프로세스 점검을 통한 즉시 조치</a:t>
            </a:r>
            <a:endParaRPr lang="en-US" altLang="ko-KR" sz="14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계정별 권한 재점검</a:t>
            </a:r>
            <a:endParaRPr lang="en-US" altLang="ko-KR" sz="14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문서 현행화 진행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257F3536-B9BA-CEAC-5C3A-D17784995162}"/>
              </a:ext>
            </a:extLst>
          </p:cNvPr>
          <p:cNvSpPr/>
          <p:nvPr/>
        </p:nvSpPr>
        <p:spPr>
          <a:xfrm>
            <a:off x="10483899" y="3138424"/>
            <a:ext cx="1520727" cy="894335"/>
          </a:xfrm>
          <a:prstGeom prst="rect">
            <a:avLst/>
          </a:prstGeom>
          <a:solidFill>
            <a:srgbClr val="002060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8B273C0B-DCB3-7096-6926-F18597CDD934}"/>
              </a:ext>
            </a:extLst>
          </p:cNvPr>
          <p:cNvSpPr/>
          <p:nvPr/>
        </p:nvSpPr>
        <p:spPr>
          <a:xfrm>
            <a:off x="766763" y="3703575"/>
            <a:ext cx="1727673" cy="341376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BC6D9B2B-8810-55BC-5CEF-4F00D597C6D9}"/>
              </a:ext>
            </a:extLst>
          </p:cNvPr>
          <p:cNvSpPr/>
          <p:nvPr/>
        </p:nvSpPr>
        <p:spPr>
          <a:xfrm>
            <a:off x="766763" y="3715767"/>
            <a:ext cx="1727673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중기</a:t>
            </a:r>
            <a:r>
              <a:rPr lang="en-US" sz="14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조치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12A7F08-C0FA-7613-768B-89AC94BFAD9B}"/>
              </a:ext>
            </a:extLst>
          </p:cNvPr>
          <p:cNvGrpSpPr/>
          <p:nvPr/>
        </p:nvGrpSpPr>
        <p:grpSpPr>
          <a:xfrm>
            <a:off x="1062038" y="4190874"/>
            <a:ext cx="4732308" cy="345186"/>
            <a:chOff x="1062038" y="4190874"/>
            <a:chExt cx="4732308" cy="345186"/>
          </a:xfrm>
        </p:grpSpPr>
        <p:sp>
          <p:nvSpPr>
            <p:cNvPr id="31" name="Shape 2">
              <a:extLst>
                <a:ext uri="{FF2B5EF4-FFF2-40B4-BE49-F238E27FC236}">
                  <a16:creationId xmlns:a16="http://schemas.microsoft.com/office/drawing/2014/main" id="{3749DA89-1584-F98C-53DE-4DBDBE4F7284}"/>
                </a:ext>
              </a:extLst>
            </p:cNvPr>
            <p:cNvSpPr/>
            <p:nvPr/>
          </p:nvSpPr>
          <p:spPr>
            <a:xfrm>
              <a:off x="1062038" y="4194684"/>
              <a:ext cx="4732308" cy="341376"/>
            </a:xfrm>
            <a:prstGeom prst="rect">
              <a:avLst/>
            </a:prstGeom>
            <a:noFill/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E79ADD69-8C3D-FE59-B7FF-E3D379EF1ADF}"/>
                </a:ext>
              </a:extLst>
            </p:cNvPr>
            <p:cNvSpPr/>
            <p:nvPr/>
          </p:nvSpPr>
          <p:spPr>
            <a:xfrm>
              <a:off x="1275493" y="4190874"/>
              <a:ext cx="4381930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표준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UI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가이드가 상세화 되지 않아 혼재되어 있음</a:t>
              </a:r>
              <a:endParaRPr 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D24E499-9598-65E5-86B2-A517DBC98260}"/>
              </a:ext>
            </a:extLst>
          </p:cNvPr>
          <p:cNvGrpSpPr/>
          <p:nvPr/>
        </p:nvGrpSpPr>
        <p:grpSpPr>
          <a:xfrm>
            <a:off x="1062038" y="5870066"/>
            <a:ext cx="4732308" cy="345186"/>
            <a:chOff x="1062038" y="4657980"/>
            <a:chExt cx="4732308" cy="345186"/>
          </a:xfrm>
        </p:grpSpPr>
        <p:sp>
          <p:nvSpPr>
            <p:cNvPr id="35" name="Shape 2">
              <a:extLst>
                <a:ext uri="{FF2B5EF4-FFF2-40B4-BE49-F238E27FC236}">
                  <a16:creationId xmlns:a16="http://schemas.microsoft.com/office/drawing/2014/main" id="{1ABCFE86-5DAF-2F0F-190D-FBA4E070073A}"/>
                </a:ext>
              </a:extLst>
            </p:cNvPr>
            <p:cNvSpPr/>
            <p:nvPr/>
          </p:nvSpPr>
          <p:spPr>
            <a:xfrm>
              <a:off x="1062038" y="4661790"/>
              <a:ext cx="4732308" cy="341376"/>
            </a:xfrm>
            <a:prstGeom prst="rect">
              <a:avLst/>
            </a:prstGeom>
            <a:noFill/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6" name="Text 12">
              <a:extLst>
                <a:ext uri="{FF2B5EF4-FFF2-40B4-BE49-F238E27FC236}">
                  <a16:creationId xmlns:a16="http://schemas.microsoft.com/office/drawing/2014/main" id="{41E88E96-4A9D-01F1-DC26-F0B15739011F}"/>
                </a:ext>
              </a:extLst>
            </p:cNvPr>
            <p:cNvSpPr/>
            <p:nvPr/>
          </p:nvSpPr>
          <p:spPr>
            <a:xfrm>
              <a:off x="1275493" y="4657980"/>
              <a:ext cx="4381930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사업 특성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전환 사업이 아닌 고도화 사업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)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에 대한 고민</a:t>
              </a:r>
              <a:endParaRPr 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39" name="Shape 2">
            <a:extLst>
              <a:ext uri="{FF2B5EF4-FFF2-40B4-BE49-F238E27FC236}">
                <a16:creationId xmlns:a16="http://schemas.microsoft.com/office/drawing/2014/main" id="{5E265D03-516B-4870-B55B-D0AFAA5FA419}"/>
              </a:ext>
            </a:extLst>
          </p:cNvPr>
          <p:cNvSpPr/>
          <p:nvPr/>
        </p:nvSpPr>
        <p:spPr>
          <a:xfrm>
            <a:off x="5961793" y="3908170"/>
            <a:ext cx="1953481" cy="1950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4B04CF48-6A4C-808F-6A6C-079777FA4B6C}"/>
              </a:ext>
            </a:extLst>
          </p:cNvPr>
          <p:cNvSpPr/>
          <p:nvPr/>
        </p:nvSpPr>
        <p:spPr>
          <a:xfrm>
            <a:off x="5961792" y="3930522"/>
            <a:ext cx="1882804" cy="1950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항목별 표준안 수립</a:t>
            </a:r>
            <a:endParaRPr lang="en-US" altLang="ko-KR" sz="14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버튼 적용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이벤트 처리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무데이터 처리 표준화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축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범례 공통화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차트 라이브러리 가이드정의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공통 메시지 패턴 정의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React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표준 수립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A9BF3C-2640-6CA2-439C-01AEDBD78066}"/>
              </a:ext>
            </a:extLst>
          </p:cNvPr>
          <p:cNvSpPr txBox="1"/>
          <p:nvPr/>
        </p:nvSpPr>
        <p:spPr>
          <a:xfrm>
            <a:off x="10532763" y="3215693"/>
            <a:ext cx="142299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회귀테스트</a:t>
            </a:r>
            <a:endParaRPr lang="en-US" altLang="ko-KR" sz="1400" b="1" dirty="0">
              <a:solidFill>
                <a:schemeClr val="bg1">
                  <a:lumMod val="9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endParaRPr lang="en-US" altLang="ko-KR" sz="1400" b="1" dirty="0">
              <a:solidFill>
                <a:schemeClr val="bg1">
                  <a:lumMod val="9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결함 조치 확인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FDBE140-110D-910B-C892-3C615B747449}"/>
              </a:ext>
            </a:extLst>
          </p:cNvPr>
          <p:cNvGrpSpPr/>
          <p:nvPr/>
        </p:nvGrpSpPr>
        <p:grpSpPr>
          <a:xfrm>
            <a:off x="1062038" y="4739175"/>
            <a:ext cx="4732308" cy="362330"/>
            <a:chOff x="1062038" y="4725545"/>
            <a:chExt cx="4732308" cy="362330"/>
          </a:xfrm>
        </p:grpSpPr>
        <p:sp>
          <p:nvSpPr>
            <p:cNvPr id="37" name="Shape 2">
              <a:extLst>
                <a:ext uri="{FF2B5EF4-FFF2-40B4-BE49-F238E27FC236}">
                  <a16:creationId xmlns:a16="http://schemas.microsoft.com/office/drawing/2014/main" id="{0E96B6B4-16D8-8053-59B2-277D53509231}"/>
                </a:ext>
              </a:extLst>
            </p:cNvPr>
            <p:cNvSpPr/>
            <p:nvPr/>
          </p:nvSpPr>
          <p:spPr>
            <a:xfrm>
              <a:off x="1062038" y="4725545"/>
              <a:ext cx="4732308" cy="341376"/>
            </a:xfrm>
            <a:prstGeom prst="rect">
              <a:avLst/>
            </a:prstGeom>
            <a:noFill/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C6A4EB69-F158-B2B9-AF09-7DB90BDCEE0A}"/>
                </a:ext>
              </a:extLst>
            </p:cNvPr>
            <p:cNvSpPr/>
            <p:nvPr/>
          </p:nvSpPr>
          <p:spPr>
            <a:xfrm>
              <a:off x="1275493" y="4746499"/>
              <a:ext cx="4381930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외부 솔루션 제약사항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한계를 명확히 하고 대체 기능 확인 </a:t>
              </a:r>
              <a:endParaRPr 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43" name="Shape 2">
            <a:extLst>
              <a:ext uri="{FF2B5EF4-FFF2-40B4-BE49-F238E27FC236}">
                <a16:creationId xmlns:a16="http://schemas.microsoft.com/office/drawing/2014/main" id="{8C9203A3-CC9B-C212-CFEE-0AE4115E4C44}"/>
              </a:ext>
            </a:extLst>
          </p:cNvPr>
          <p:cNvSpPr/>
          <p:nvPr/>
        </p:nvSpPr>
        <p:spPr>
          <a:xfrm>
            <a:off x="8354942" y="4190874"/>
            <a:ext cx="1646310" cy="1605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3A58C2B-AB03-5980-A93F-57D71D837632}"/>
              </a:ext>
            </a:extLst>
          </p:cNvPr>
          <p:cNvGrpSpPr/>
          <p:nvPr/>
        </p:nvGrpSpPr>
        <p:grpSpPr>
          <a:xfrm>
            <a:off x="1062038" y="5455159"/>
            <a:ext cx="4732308" cy="362330"/>
            <a:chOff x="1062038" y="5212717"/>
            <a:chExt cx="4732308" cy="362330"/>
          </a:xfrm>
        </p:grpSpPr>
        <p:sp>
          <p:nvSpPr>
            <p:cNvPr id="45" name="Shape 2">
              <a:extLst>
                <a:ext uri="{FF2B5EF4-FFF2-40B4-BE49-F238E27FC236}">
                  <a16:creationId xmlns:a16="http://schemas.microsoft.com/office/drawing/2014/main" id="{A2DA1E0D-C981-7D1A-8EE7-E676117E7B76}"/>
                </a:ext>
              </a:extLst>
            </p:cNvPr>
            <p:cNvSpPr/>
            <p:nvPr/>
          </p:nvSpPr>
          <p:spPr>
            <a:xfrm>
              <a:off x="1062038" y="5212717"/>
              <a:ext cx="4732308" cy="341376"/>
            </a:xfrm>
            <a:prstGeom prst="rect">
              <a:avLst/>
            </a:prstGeom>
            <a:noFill/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51054BA1-CC20-BE1B-0058-869C5C576591}"/>
                </a:ext>
              </a:extLst>
            </p:cNvPr>
            <p:cNvSpPr/>
            <p:nvPr/>
          </p:nvSpPr>
          <p:spPr>
            <a:xfrm>
              <a:off x="1275493" y="5233671"/>
              <a:ext cx="4381930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React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기반환경의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디자인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컨셉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톤앤매너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개발표준 미흡</a:t>
              </a:r>
              <a:endParaRPr 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47" name="Text 12">
            <a:extLst>
              <a:ext uri="{FF2B5EF4-FFF2-40B4-BE49-F238E27FC236}">
                <a16:creationId xmlns:a16="http://schemas.microsoft.com/office/drawing/2014/main" id="{DA7C4DD8-BA3C-FA6D-04D7-C8DDB02BCC4E}"/>
              </a:ext>
            </a:extLst>
          </p:cNvPr>
          <p:cNvSpPr/>
          <p:nvPr/>
        </p:nvSpPr>
        <p:spPr>
          <a:xfrm>
            <a:off x="8404452" y="4246879"/>
            <a:ext cx="1714501" cy="1493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고객 합의 후 명문화</a:t>
            </a:r>
            <a:endParaRPr lang="en-US" altLang="ko-KR" sz="14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전체 업무 영역 표준</a:t>
            </a:r>
            <a:endParaRPr lang="en-US" altLang="ko-KR" sz="12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</a:t>
            </a: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200" u="sng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단위 업무별로</a:t>
            </a:r>
            <a:endParaRPr lang="en-US" altLang="ko-KR" sz="1200" u="sng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</a:t>
            </a:r>
            <a:r>
              <a:rPr lang="ko-KR" altLang="en-US" sz="1200" u="sng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표준수립은 지양</a:t>
            </a:r>
            <a:endParaRPr lang="en-US" altLang="ko-KR" sz="1200" u="sng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60A52C03-7D4B-A1BD-2403-B2AFF9BADA19}"/>
              </a:ext>
            </a:extLst>
          </p:cNvPr>
          <p:cNvSpPr/>
          <p:nvPr/>
        </p:nvSpPr>
        <p:spPr>
          <a:xfrm>
            <a:off x="5961792" y="5916930"/>
            <a:ext cx="1953481" cy="3413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CC02944D-0537-C9D8-AF7A-4C93DB75D53A}"/>
              </a:ext>
            </a:extLst>
          </p:cNvPr>
          <p:cNvSpPr/>
          <p:nvPr/>
        </p:nvSpPr>
        <p:spPr>
          <a:xfrm>
            <a:off x="5961792" y="5876988"/>
            <a:ext cx="203920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2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 시스템의 개선 항목 재확인</a:t>
            </a:r>
            <a:endParaRPr lang="en-US" altLang="ko-KR" sz="1100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5" name="Rectangle 2">
            <a:extLst>
              <a:ext uri="{FF2B5EF4-FFF2-40B4-BE49-F238E27FC236}">
                <a16:creationId xmlns:a16="http://schemas.microsoft.com/office/drawing/2014/main" id="{DAF83C98-0102-05D4-7C1B-E5E9F657C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04 .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 별 조치</a:t>
            </a:r>
            <a:r>
              <a:rPr lang="en-US" altLang="ko-KR" sz="2000" b="1" dirty="0">
                <a:solidFill>
                  <a:prstClr val="white"/>
                </a:solidFill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계획 </a:t>
            </a:r>
            <a:r>
              <a:rPr lang="en-US" altLang="ko-KR" sz="2000" b="1" dirty="0">
                <a:solidFill>
                  <a:prstClr val="white"/>
                </a:solidFill>
              </a:rPr>
              <a:t>2/2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AA7F5F4-8CF5-7828-6DB2-A5A4F7E7C1F3}"/>
              </a:ext>
            </a:extLst>
          </p:cNvPr>
          <p:cNvGrpSpPr/>
          <p:nvPr/>
        </p:nvGrpSpPr>
        <p:grpSpPr>
          <a:xfrm>
            <a:off x="1062038" y="5075978"/>
            <a:ext cx="4732308" cy="362330"/>
            <a:chOff x="1062038" y="5212717"/>
            <a:chExt cx="4732308" cy="362330"/>
          </a:xfrm>
        </p:grpSpPr>
        <p:sp>
          <p:nvSpPr>
            <p:cNvPr id="57" name="Shape 2">
              <a:extLst>
                <a:ext uri="{FF2B5EF4-FFF2-40B4-BE49-F238E27FC236}">
                  <a16:creationId xmlns:a16="http://schemas.microsoft.com/office/drawing/2014/main" id="{ED3C112D-CBD9-570B-B36F-E0588C726786}"/>
                </a:ext>
              </a:extLst>
            </p:cNvPr>
            <p:cNvSpPr/>
            <p:nvPr/>
          </p:nvSpPr>
          <p:spPr>
            <a:xfrm>
              <a:off x="1062038" y="5212717"/>
              <a:ext cx="4732308" cy="341376"/>
            </a:xfrm>
            <a:prstGeom prst="rect">
              <a:avLst/>
            </a:prstGeom>
            <a:noFill/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8" name="Text 12">
              <a:extLst>
                <a:ext uri="{FF2B5EF4-FFF2-40B4-BE49-F238E27FC236}">
                  <a16:creationId xmlns:a16="http://schemas.microsoft.com/office/drawing/2014/main" id="{447C273B-354A-0349-541A-7D900A80D728}"/>
                </a:ext>
              </a:extLst>
            </p:cNvPr>
            <p:cNvSpPr/>
            <p:nvPr/>
          </p:nvSpPr>
          <p:spPr>
            <a:xfrm>
              <a:off x="1275493" y="5233671"/>
              <a:ext cx="4381930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React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기반환경의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디자인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컨셉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톤앤매너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개발표준 미흡</a:t>
              </a:r>
              <a:endParaRPr 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pic>
        <p:nvPicPr>
          <p:cNvPr id="59" name="object 125">
            <a:extLst>
              <a:ext uri="{FF2B5EF4-FFF2-40B4-BE49-F238E27FC236}">
                <a16:creationId xmlns:a16="http://schemas.microsoft.com/office/drawing/2014/main" id="{6CBB9625-64E4-174C-8E5E-744B5B159E2F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rgbClr val="4A7AB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009590" y="4590232"/>
            <a:ext cx="274674" cy="4857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60" name="Shape 2">
            <a:extLst>
              <a:ext uri="{FF2B5EF4-FFF2-40B4-BE49-F238E27FC236}">
                <a16:creationId xmlns:a16="http://schemas.microsoft.com/office/drawing/2014/main" id="{75040059-6312-8AFD-5A09-AA27219E238C}"/>
              </a:ext>
            </a:extLst>
          </p:cNvPr>
          <p:cNvSpPr/>
          <p:nvPr/>
        </p:nvSpPr>
        <p:spPr>
          <a:xfrm>
            <a:off x="10324734" y="4627526"/>
            <a:ext cx="998609" cy="456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D571832A-ECC0-8CFF-3912-E6124BFB8B11}"/>
              </a:ext>
            </a:extLst>
          </p:cNvPr>
          <p:cNvSpPr/>
          <p:nvPr/>
        </p:nvSpPr>
        <p:spPr>
          <a:xfrm>
            <a:off x="10440920" y="4683530"/>
            <a:ext cx="768122" cy="33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일괄 조치</a:t>
            </a:r>
            <a:endParaRPr lang="en-US" altLang="ko-KR" sz="1200" u="sng" dirty="0">
              <a:solidFill>
                <a:srgbClr val="4A556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62" name="object 125">
            <a:extLst>
              <a:ext uri="{FF2B5EF4-FFF2-40B4-BE49-F238E27FC236}">
                <a16:creationId xmlns:a16="http://schemas.microsoft.com/office/drawing/2014/main" id="{7EF80418-DFF0-7092-F213-8308D50ECFF0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rgbClr val="4A7AB5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0026756" y="4590232"/>
            <a:ext cx="274674" cy="4857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</p:pic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F7EA5398-D3FC-48B6-44C6-14F54A15D698}"/>
              </a:ext>
            </a:extLst>
          </p:cNvPr>
          <p:cNvCxnSpPr>
            <a:stCxn id="60" idx="3"/>
          </p:cNvCxnSpPr>
          <p:nvPr/>
        </p:nvCxnSpPr>
        <p:spPr>
          <a:xfrm flipV="1">
            <a:off x="11323343" y="4032759"/>
            <a:ext cx="268582" cy="8231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23A67849-FF88-9D82-5928-87A40466A334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10001251" y="2332101"/>
            <a:ext cx="1585912" cy="796290"/>
          </a:xfrm>
          <a:prstGeom prst="bentConnector3">
            <a:avLst>
              <a:gd name="adj1" fmla="val 998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양쪽 대괄호 72">
            <a:extLst>
              <a:ext uri="{FF2B5EF4-FFF2-40B4-BE49-F238E27FC236}">
                <a16:creationId xmlns:a16="http://schemas.microsoft.com/office/drawing/2014/main" id="{FAB0E390-1ECC-BBEA-9110-891B0A7BF94A}"/>
              </a:ext>
            </a:extLst>
          </p:cNvPr>
          <p:cNvSpPr/>
          <p:nvPr/>
        </p:nvSpPr>
        <p:spPr>
          <a:xfrm rot="20420446">
            <a:off x="7559951" y="3437025"/>
            <a:ext cx="1448626" cy="480904"/>
          </a:xfrm>
          <a:prstGeom prst="bracketPair">
            <a:avLst/>
          </a:prstGeom>
          <a:ln w="508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600" b="1" dirty="0">
                <a:solidFill>
                  <a:srgbClr val="FF505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일정 및 </a:t>
            </a:r>
            <a:r>
              <a:rPr lang="ko-KR" altLang="en-US" sz="1600" b="1" dirty="0" err="1">
                <a:solidFill>
                  <a:srgbClr val="FF505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표준안상세</a:t>
            </a:r>
            <a:r>
              <a:rPr lang="ko-KR" altLang="en-US" sz="1600" b="1" dirty="0">
                <a:solidFill>
                  <a:srgbClr val="FF505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600" b="1" dirty="0" err="1">
                <a:solidFill>
                  <a:srgbClr val="FF505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마일스톤수립</a:t>
            </a:r>
            <a:r>
              <a:rPr lang="ko-KR" altLang="en-US" sz="1600" b="1" dirty="0">
                <a:solidFill>
                  <a:srgbClr val="FF505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중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CB38341-A5F6-A9E2-2CC0-CF7E9D8485D1}"/>
              </a:ext>
            </a:extLst>
          </p:cNvPr>
          <p:cNvSpPr txBox="1"/>
          <p:nvPr/>
        </p:nvSpPr>
        <p:spPr>
          <a:xfrm>
            <a:off x="2562965" y="1189212"/>
            <a:ext cx="1580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505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Week 2 </a:t>
            </a:r>
            <a:r>
              <a:rPr lang="ko-KR" altLang="en-US" b="1" dirty="0">
                <a:solidFill>
                  <a:srgbClr val="FF505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이내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6280333-5648-66C6-2033-26590D4EF2FE}"/>
              </a:ext>
            </a:extLst>
          </p:cNvPr>
          <p:cNvSpPr txBox="1"/>
          <p:nvPr/>
        </p:nvSpPr>
        <p:spPr>
          <a:xfrm>
            <a:off x="2495648" y="3707512"/>
            <a:ext cx="1647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4A7AB5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Month 2 </a:t>
            </a:r>
            <a:r>
              <a:rPr lang="ko-KR" altLang="en-US" b="1" dirty="0">
                <a:solidFill>
                  <a:srgbClr val="4A7AB5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이내</a:t>
            </a:r>
          </a:p>
        </p:txBody>
      </p:sp>
    </p:spTree>
    <p:extLst>
      <p:ext uri="{BB962C8B-B14F-4D97-AF65-F5344CB8AC3E}">
        <p14:creationId xmlns:p14="http://schemas.microsoft.com/office/powerpoint/2010/main" val="566675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3300713B-EF0F-67C7-8DDA-11142B9A1938}"/>
              </a:ext>
            </a:extLst>
          </p:cNvPr>
          <p:cNvGrpSpPr/>
          <p:nvPr/>
        </p:nvGrpSpPr>
        <p:grpSpPr>
          <a:xfrm>
            <a:off x="766764" y="1376364"/>
            <a:ext cx="4510086" cy="917354"/>
            <a:chOff x="766764" y="1376364"/>
            <a:chExt cx="4748212" cy="917354"/>
          </a:xfrm>
        </p:grpSpPr>
        <p:sp>
          <p:nvSpPr>
            <p:cNvPr id="5" name="Shape 2"/>
            <p:cNvSpPr/>
            <p:nvPr/>
          </p:nvSpPr>
          <p:spPr>
            <a:xfrm>
              <a:off x="766764" y="1376364"/>
              <a:ext cx="4748212" cy="917354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" name="Shape 3"/>
            <p:cNvSpPr/>
            <p:nvPr/>
          </p:nvSpPr>
          <p:spPr>
            <a:xfrm>
              <a:off x="766764" y="1376364"/>
              <a:ext cx="94137" cy="917354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978572" y="1437084"/>
              <a:ext cx="3295342" cy="3035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600" b="1" dirty="0">
                  <a:solidFill>
                    <a:srgbClr val="64748B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결함 수용    </a:t>
              </a:r>
              <a:r>
                <a:rPr lang="en-US" altLang="ko-KR" sz="1600" b="1" dirty="0">
                  <a:solidFill>
                    <a:srgbClr val="64748B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43</a:t>
              </a:r>
              <a:r>
                <a:rPr lang="ko-KR" altLang="en-US" sz="1600" b="1" dirty="0">
                  <a:solidFill>
                    <a:srgbClr val="64748B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건 </a:t>
              </a:r>
              <a:r>
                <a:rPr lang="en-US" sz="1600" b="1" dirty="0">
                  <a:solidFill>
                    <a:srgbClr val="64748B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(19.6%)</a:t>
              </a:r>
              <a:endParaRPr lang="en-US" sz="16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970520" y="1889115"/>
              <a:ext cx="4340699" cy="3718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실제 결함으로 판단되어 조치하였으나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기각으로 잘못 처리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2C06B71-B6D5-ADF9-B7DA-9F8D70534EFE}"/>
              </a:ext>
            </a:extLst>
          </p:cNvPr>
          <p:cNvGrpSpPr/>
          <p:nvPr/>
        </p:nvGrpSpPr>
        <p:grpSpPr>
          <a:xfrm>
            <a:off x="766763" y="2782121"/>
            <a:ext cx="4502701" cy="1846209"/>
            <a:chOff x="777050" y="2748765"/>
            <a:chExt cx="4911606" cy="1318037"/>
          </a:xfrm>
        </p:grpSpPr>
        <p:sp>
          <p:nvSpPr>
            <p:cNvPr id="9" name="Shape 6"/>
            <p:cNvSpPr/>
            <p:nvPr/>
          </p:nvSpPr>
          <p:spPr>
            <a:xfrm>
              <a:off x="777050" y="2748765"/>
              <a:ext cx="4911606" cy="1318037"/>
            </a:xfrm>
            <a:prstGeom prst="rect">
              <a:avLst/>
            </a:prstGeom>
            <a:solidFill>
              <a:srgbClr val="FFFAF0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777050" y="2748765"/>
              <a:ext cx="97536" cy="1318037"/>
            </a:xfrm>
            <a:prstGeom prst="rect">
              <a:avLst/>
            </a:prstGeom>
            <a:solidFill>
              <a:srgbClr val="DD6B20"/>
            </a:solidFill>
            <a:ln w="12700">
              <a:solidFill>
                <a:srgbClr val="DD6B2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996506" y="2821918"/>
              <a:ext cx="3414331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600" b="1" dirty="0">
                  <a:solidFill>
                    <a:srgbClr val="DD6B2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판단 보류 </a:t>
              </a:r>
              <a:r>
                <a:rPr lang="en-US" sz="1600" b="1" dirty="0">
                  <a:solidFill>
                    <a:srgbClr val="DD6B2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63건 (28.8%)</a:t>
              </a:r>
              <a:endParaRPr lang="en-US" sz="16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986078" y="3229398"/>
              <a:ext cx="4366832" cy="6737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표준 정책 보완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수립 검토</a:t>
              </a:r>
              <a:endPara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고객 요구 재확인을 통한 판단 후 조치여부 판단 필요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F1E66D3-6C8E-0DE2-3811-29D7AF3A6B27}"/>
              </a:ext>
            </a:extLst>
          </p:cNvPr>
          <p:cNvGrpSpPr/>
          <p:nvPr/>
        </p:nvGrpSpPr>
        <p:grpSpPr>
          <a:xfrm>
            <a:off x="777051" y="5116732"/>
            <a:ext cx="4510086" cy="1140287"/>
            <a:chOff x="777051" y="4983382"/>
            <a:chExt cx="4748212" cy="1140287"/>
          </a:xfrm>
        </p:grpSpPr>
        <p:sp>
          <p:nvSpPr>
            <p:cNvPr id="13" name="Shape 10"/>
            <p:cNvSpPr/>
            <p:nvPr/>
          </p:nvSpPr>
          <p:spPr>
            <a:xfrm>
              <a:off x="777051" y="4983382"/>
              <a:ext cx="4748212" cy="1140287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4" name="Shape 11"/>
            <p:cNvSpPr/>
            <p:nvPr/>
          </p:nvSpPr>
          <p:spPr>
            <a:xfrm>
              <a:off x="777051" y="4983382"/>
              <a:ext cx="94137" cy="1140287"/>
            </a:xfrm>
            <a:prstGeom prst="rect">
              <a:avLst/>
            </a:prstGeom>
            <a:solidFill>
              <a:srgbClr val="4A7AB5"/>
            </a:solidFill>
            <a:ln w="12700">
              <a:solidFill>
                <a:srgbClr val="4A7AB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988859" y="5056535"/>
              <a:ext cx="329534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600" b="1" dirty="0">
                  <a:solidFill>
                    <a:srgbClr val="4A7AB5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결함 기각 </a:t>
              </a:r>
              <a:r>
                <a:rPr lang="en-US" altLang="ko-KR" sz="1600" b="1" dirty="0">
                  <a:solidFill>
                    <a:srgbClr val="4A7AB5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98</a:t>
              </a:r>
              <a:r>
                <a:rPr lang="ko-KR" altLang="en-US" sz="1600" b="1" dirty="0">
                  <a:solidFill>
                    <a:srgbClr val="4A7AB5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건 </a:t>
              </a:r>
              <a:r>
                <a:rPr lang="en-US" sz="1600" b="1" dirty="0">
                  <a:solidFill>
                    <a:srgbClr val="4A7AB5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(44.7%)</a:t>
              </a:r>
              <a:endParaRPr lang="en-US" sz="16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988858" y="5422295"/>
              <a:ext cx="3129868" cy="5921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테스터의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요건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미숙지로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인한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오등록</a:t>
              </a:r>
              <a:endPara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테스트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기준서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및 </a:t>
              </a:r>
              <a:r>
                <a:rPr lang="en-US" altLang="ko-KR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스펙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사전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이해 부족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994DE180-5AF6-7577-2368-2DECAB7A2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05 . </a:t>
            </a:r>
            <a:r>
              <a:rPr lang="ko-KR" altLang="en-US" sz="2000" b="1" dirty="0">
                <a:solidFill>
                  <a:prstClr val="white"/>
                </a:solidFill>
              </a:rPr>
              <a:t>기각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사유 별 조치 방안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A7AD0FD2-E61E-CC5E-F04D-D7C203DEAA5A}"/>
              </a:ext>
            </a:extLst>
          </p:cNvPr>
          <p:cNvSpPr/>
          <p:nvPr/>
        </p:nvSpPr>
        <p:spPr>
          <a:xfrm>
            <a:off x="5772721" y="1367888"/>
            <a:ext cx="5831904" cy="3960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TMS 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 기각처리 상태를 초기화 후</a:t>
            </a: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정상 절차로 처리 되도록 안내</a:t>
            </a:r>
            <a:endParaRPr lang="en-US" altLang="ko-KR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9F02ACED-37D5-EB84-9AF3-D451FC44E7FB}"/>
              </a:ext>
            </a:extLst>
          </p:cNvPr>
          <p:cNvSpPr/>
          <p:nvPr/>
        </p:nvSpPr>
        <p:spPr>
          <a:xfrm>
            <a:off x="5772721" y="5867860"/>
            <a:ext cx="5831904" cy="39600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TMS 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 기각처리 상태를 초기화 후</a:t>
            </a:r>
            <a:r>
              <a: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정상 절차로 처리 되도록 안내</a:t>
            </a:r>
            <a:endParaRPr lang="en-US" altLang="ko-KR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D1F3647-5D82-7793-B537-A26125CACA20}"/>
              </a:ext>
            </a:extLst>
          </p:cNvPr>
          <p:cNvGrpSpPr/>
          <p:nvPr/>
        </p:nvGrpSpPr>
        <p:grpSpPr>
          <a:xfrm>
            <a:off x="5772721" y="1947041"/>
            <a:ext cx="5831904" cy="3737667"/>
            <a:chOff x="5772721" y="1866208"/>
            <a:chExt cx="5831904" cy="3737667"/>
          </a:xfrm>
        </p:grpSpPr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64938F72-4382-01E2-C03D-05E71FB13746}"/>
                </a:ext>
              </a:extLst>
            </p:cNvPr>
            <p:cNvSpPr/>
            <p:nvPr/>
          </p:nvSpPr>
          <p:spPr>
            <a:xfrm>
              <a:off x="5772721" y="1866208"/>
              <a:ext cx="5831904" cy="39600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1)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용도별 화면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UI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표준을 구체적이고 명확히 수립한 후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고객 협의 후 수정 조치 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02548352-494D-A6A3-7CB0-2B2FB5ADDA4E}"/>
                </a:ext>
              </a:extLst>
            </p:cNvPr>
            <p:cNvSpPr/>
            <p:nvPr/>
          </p:nvSpPr>
          <p:spPr>
            <a:xfrm>
              <a:off x="5772721" y="2307206"/>
              <a:ext cx="5831904" cy="39600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2)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이벤트 처리 표준을 구체적이고 명확히 수립한 후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고객 협의 후 수정 조치 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807C767E-FCB9-D832-310A-62329C1B502F}"/>
                </a:ext>
              </a:extLst>
            </p:cNvPr>
            <p:cNvSpPr/>
            <p:nvPr/>
          </p:nvSpPr>
          <p:spPr>
            <a:xfrm>
              <a:off x="5772721" y="2748204"/>
              <a:ext cx="5831904" cy="1091677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3)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별도 개발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 PM, AS, GO)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화면은 디자인스타일 수립 후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고객 협의 후 수정 조치</a:t>
              </a:r>
              <a:endPara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    - </a:t>
              </a:r>
              <a:r>
                <a:rPr lang="ko-KR" altLang="en-US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톤앤매너</a:t>
              </a:r>
              <a:endPara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    - UI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표준은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AOMS/FIMS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준용하도록 하거나 별도 진행 시 사전 표준 수립</a:t>
              </a:r>
              <a:endParaRPr lang="en-US" altLang="ko-KR" sz="1400" dirty="0">
                <a:solidFill>
                  <a:srgbClr val="4A556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    -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이벤트처리는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AOMS/FIMS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준용하도록 하거나 별도 진행 시 사전 표준 수립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0F965BE2-1D5B-C341-6F28-0DBF2CCBF1B6}"/>
                </a:ext>
              </a:extLst>
            </p:cNvPr>
            <p:cNvSpPr/>
            <p:nvPr/>
          </p:nvSpPr>
          <p:spPr>
            <a:xfrm>
              <a:off x="5772721" y="3884879"/>
              <a:ext cx="5831904" cy="39600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4)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기존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IIS </a:t>
              </a:r>
              <a:r>
                <a:rPr lang="ko-KR" altLang="en-US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동일기능이더라도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고객 재확인을 통해 기능 및 화면 검증 후 확정 필요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3" name="Text 5">
              <a:extLst>
                <a:ext uri="{FF2B5EF4-FFF2-40B4-BE49-F238E27FC236}">
                  <a16:creationId xmlns:a16="http://schemas.microsoft.com/office/drawing/2014/main" id="{7539A2B3-FEB5-F189-BD22-A2CF7CF11DEE}"/>
                </a:ext>
              </a:extLst>
            </p:cNvPr>
            <p:cNvSpPr/>
            <p:nvPr/>
          </p:nvSpPr>
          <p:spPr>
            <a:xfrm>
              <a:off x="5772721" y="4325877"/>
              <a:ext cx="5831904" cy="39600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5)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실제 조치자에게 이관 기능 시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TMS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초기화 후 담당자 이관으로 조치 진행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1F11A3C5-FADC-7EE5-5DE5-572D365F7079}"/>
                </a:ext>
              </a:extLst>
            </p:cNvPr>
            <p:cNvSpPr/>
            <p:nvPr/>
          </p:nvSpPr>
          <p:spPr>
            <a:xfrm>
              <a:off x="5772721" y="4766875"/>
              <a:ext cx="5831904" cy="39600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6)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유사 결함은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TMS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초기화 후 해당 결함이 실제조치 확인 되는 시점에 조치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ADF61C66-C3EE-B9DC-F9CC-F922F1E470C7}"/>
                </a:ext>
              </a:extLst>
            </p:cNvPr>
            <p:cNvSpPr/>
            <p:nvPr/>
          </p:nvSpPr>
          <p:spPr>
            <a:xfrm>
              <a:off x="5772721" y="5207875"/>
              <a:ext cx="5831904" cy="396000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7) </a:t>
              </a:r>
              <a:r>
                <a:rPr lang="ko-KR" altLang="en-US" sz="1400" dirty="0" err="1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넥사크로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등 솔루션탑재 기능은 솔루션 자체 처리 표준은 </a:t>
              </a:r>
              <a:r>
                <a:rPr lang="en-US" altLang="ko-KR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UI </a:t>
              </a:r>
              <a:r>
                <a:rPr lang="ko-KR" altLang="en-US" sz="1400" dirty="0">
                  <a:solidFill>
                    <a:srgbClr val="4A556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연계하여 표준정리</a:t>
              </a:r>
              <a:endPara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DAA1395-3564-BCE5-0AE7-7C85843A7F59}"/>
              </a:ext>
            </a:extLst>
          </p:cNvPr>
          <p:cNvSpPr/>
          <p:nvPr/>
        </p:nvSpPr>
        <p:spPr>
          <a:xfrm>
            <a:off x="5632646" y="1889115"/>
            <a:ext cx="6065167" cy="386954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1/2 액자 47">
            <a:extLst>
              <a:ext uri="{FF2B5EF4-FFF2-40B4-BE49-F238E27FC236}">
                <a16:creationId xmlns:a16="http://schemas.microsoft.com/office/drawing/2014/main" id="{4FB20BA4-8099-2775-C13F-F3686291C087}"/>
              </a:ext>
            </a:extLst>
          </p:cNvPr>
          <p:cNvSpPr/>
          <p:nvPr/>
        </p:nvSpPr>
        <p:spPr>
          <a:xfrm rot="7984918">
            <a:off x="5131120" y="3540720"/>
            <a:ext cx="372692" cy="320167"/>
          </a:xfrm>
          <a:prstGeom prst="halfFrame">
            <a:avLst>
              <a:gd name="adj1" fmla="val 16666"/>
              <a:gd name="adj2" fmla="val 17359"/>
            </a:avLst>
          </a:prstGeom>
          <a:solidFill>
            <a:srgbClr val="FF0000"/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B37A53-0FAE-BCD1-E598-9FA979798409}"/>
              </a:ext>
            </a:extLst>
          </p:cNvPr>
          <p:cNvSpPr txBox="1"/>
          <p:nvPr/>
        </p:nvSpPr>
        <p:spPr>
          <a:xfrm>
            <a:off x="2176463" y="811306"/>
            <a:ext cx="136683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rtl="0">
              <a:defRPr sz="1300" b="0" i="0" u="none" strike="noStrike" kern="1200" baseline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r>
              <a:rPr lang="ko-KR" altLang="en-US" sz="1800" b="1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기각 유형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C6D2F1-3C2E-BD1D-E768-EC70D639D95B}"/>
              </a:ext>
            </a:extLst>
          </p:cNvPr>
          <p:cNvSpPr txBox="1"/>
          <p:nvPr/>
        </p:nvSpPr>
        <p:spPr>
          <a:xfrm>
            <a:off x="7943710" y="811306"/>
            <a:ext cx="136683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rtl="0">
              <a:defRPr sz="1300" b="0" i="0" u="none" strike="noStrike" kern="1200" baseline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r>
              <a:rPr lang="ko-KR" altLang="en-US" sz="1800" b="1" i="0" u="none" strike="noStrike" dirty="0">
                <a:solidFill>
                  <a:srgbClr val="1A202C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방안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4"/>
          <p:cNvSpPr/>
          <p:nvPr/>
        </p:nvSpPr>
        <p:spPr>
          <a:xfrm>
            <a:off x="4350863" y="1634205"/>
            <a:ext cx="10195872" cy="794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endParaRPr lang="en-US" sz="1600" dirty="0">
              <a:solidFill>
                <a:srgbClr val="00206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1396294C-646B-3432-9836-1A76522DA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lang="ko-KR" altLang="en-US" sz="2000" b="1" dirty="0">
                <a:solidFill>
                  <a:prstClr val="white"/>
                </a:solidFill>
              </a:rPr>
              <a:t>결론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A1A814C-32BF-0B2B-F037-BBB788BECF8C}"/>
              </a:ext>
            </a:extLst>
          </p:cNvPr>
          <p:cNvGrpSpPr/>
          <p:nvPr/>
        </p:nvGrpSpPr>
        <p:grpSpPr>
          <a:xfrm>
            <a:off x="741288" y="1750564"/>
            <a:ext cx="10951357" cy="894568"/>
            <a:chOff x="741288" y="1733645"/>
            <a:chExt cx="10951357" cy="894568"/>
          </a:xfrm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3106790-CF78-E02E-6C67-F71D9D716E15}"/>
                </a:ext>
              </a:extLst>
            </p:cNvPr>
            <p:cNvSpPr/>
            <p:nvPr/>
          </p:nvSpPr>
          <p:spPr>
            <a:xfrm>
              <a:off x="2629342" y="1733645"/>
              <a:ext cx="9063303" cy="887171"/>
            </a:xfrm>
            <a:prstGeom prst="roundRect">
              <a:avLst>
                <a:gd name="adj" fmla="val 6187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1F9655F5-0DFD-7D21-DBDA-CE1F2AE2714F}"/>
                </a:ext>
              </a:extLst>
            </p:cNvPr>
            <p:cNvSpPr/>
            <p:nvPr/>
          </p:nvSpPr>
          <p:spPr>
            <a:xfrm>
              <a:off x="741288" y="1741042"/>
              <a:ext cx="1646311" cy="887171"/>
            </a:xfrm>
            <a:prstGeom prst="roundRect">
              <a:avLst>
                <a:gd name="adj" fmla="val 6187"/>
              </a:avLst>
            </a:prstGeom>
            <a:solidFill>
              <a:schemeClr val="bg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3D82CDBD-3820-5CCE-9B1F-A230B0CC68CE}"/>
                </a:ext>
              </a:extLst>
            </p:cNvPr>
            <p:cNvSpPr/>
            <p:nvPr/>
          </p:nvSpPr>
          <p:spPr>
            <a:xfrm>
              <a:off x="2689158" y="1758773"/>
              <a:ext cx="8887965" cy="79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1600" dirty="0" err="1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정상동작하거나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명확한 요구 명세에 따라 의도적으로 구현된 기능 이외는 검토 후 조치 절차에 따라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진행</a:t>
              </a:r>
              <a:endParaRPr lang="en-US" altLang="ko-KR" sz="1600" dirty="0">
                <a:solidFill>
                  <a:srgbClr val="00206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판단 보류 등의 유효 결함은 기 등록 결함 기준으로 조치 마일스톤 수립 필요</a:t>
              </a:r>
              <a:endParaRPr lang="en-US" altLang="ko-KR" sz="1600" dirty="0">
                <a:solidFill>
                  <a:srgbClr val="00206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EB75708-6C23-EC72-3605-4C0C9B0D6708}"/>
                </a:ext>
              </a:extLst>
            </p:cNvPr>
            <p:cNvSpPr txBox="1"/>
            <p:nvPr/>
          </p:nvSpPr>
          <p:spPr>
            <a:xfrm>
              <a:off x="1134366" y="1890804"/>
              <a:ext cx="86015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dirty="0" err="1">
                  <a:solidFill>
                    <a:srgbClr val="FF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기각</a:t>
              </a:r>
              <a:r>
                <a:rPr lang="ko-KR" altLang="en-US" sz="1800" dirty="0">
                  <a:solidFill>
                    <a:srgbClr val="FF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율</a:t>
              </a:r>
              <a:endParaRPr lang="en-US" altLang="ko-KR" sz="18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algn="ctr"/>
              <a:r>
                <a:rPr lang="en-US" altLang="ko-KR" sz="1800" dirty="0" err="1">
                  <a:solidFill>
                    <a:srgbClr val="FF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개선</a:t>
              </a:r>
              <a:endParaRPr lang="ko-KR" altLang="en-US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5E5A3D2-22D4-2D76-5B71-356673FEC65C}"/>
              </a:ext>
            </a:extLst>
          </p:cNvPr>
          <p:cNvGrpSpPr/>
          <p:nvPr/>
        </p:nvGrpSpPr>
        <p:grpSpPr>
          <a:xfrm>
            <a:off x="741288" y="890420"/>
            <a:ext cx="10951357" cy="677315"/>
            <a:chOff x="741288" y="890420"/>
            <a:chExt cx="10951357" cy="677315"/>
          </a:xfrm>
        </p:grpSpPr>
        <p:sp>
          <p:nvSpPr>
            <p:cNvPr id="37" name="Shape 2">
              <a:extLst>
                <a:ext uri="{FF2B5EF4-FFF2-40B4-BE49-F238E27FC236}">
                  <a16:creationId xmlns:a16="http://schemas.microsoft.com/office/drawing/2014/main" id="{B8BDE06E-D2C4-F2ED-5D68-B2DC26A07AD0}"/>
                </a:ext>
              </a:extLst>
            </p:cNvPr>
            <p:cNvSpPr/>
            <p:nvPr/>
          </p:nvSpPr>
          <p:spPr>
            <a:xfrm>
              <a:off x="741288" y="890420"/>
              <a:ext cx="1646311" cy="672809"/>
            </a:xfrm>
            <a:prstGeom prst="roundRect">
              <a:avLst>
                <a:gd name="adj" fmla="val 6187"/>
              </a:avLst>
            </a:prstGeom>
            <a:solidFill>
              <a:schemeClr val="bg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03D87D77-5B1C-2B2F-9D36-21E71DEAC018}"/>
                </a:ext>
              </a:extLst>
            </p:cNvPr>
            <p:cNvSpPr/>
            <p:nvPr/>
          </p:nvSpPr>
          <p:spPr>
            <a:xfrm>
              <a:off x="2629342" y="894926"/>
              <a:ext cx="9063303" cy="672809"/>
            </a:xfrm>
            <a:prstGeom prst="roundRect">
              <a:avLst>
                <a:gd name="adj" fmla="val 6187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2689158" y="949637"/>
              <a:ext cx="6936673" cy="4147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50000"/>
                </a:lnSpc>
              </a:pPr>
              <a:r>
                <a:rPr lang="en-US" sz="1600" dirty="0" err="1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데이터</a:t>
              </a:r>
              <a:r>
                <a:rPr 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sz="1600" dirty="0" err="1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정합성</a:t>
              </a:r>
              <a:r>
                <a:rPr 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·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조회조건 처리 오류 등 단기 조치 가능</a:t>
              </a:r>
              <a:r>
                <a:rPr 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sz="1600" dirty="0" err="1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오류</a:t>
              </a:r>
              <a:r>
                <a:rPr 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sz="1600" dirty="0" err="1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핫픽스</a:t>
              </a:r>
              <a:r>
                <a:rPr 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즉시 배포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1C2AA9-F57F-99A0-6D05-F67F45F66CA4}"/>
                </a:ext>
              </a:extLst>
            </p:cNvPr>
            <p:cNvSpPr txBox="1"/>
            <p:nvPr/>
          </p:nvSpPr>
          <p:spPr>
            <a:xfrm>
              <a:off x="1134366" y="911441"/>
              <a:ext cx="86015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조치율</a:t>
              </a:r>
              <a:endParaRPr lang="en-US" altLang="ko-K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algn="ctr"/>
              <a:r>
                <a:rPr lang="en-US" altLang="ko-KR" sz="1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개선</a:t>
              </a:r>
              <a:endPara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4B5C4F4-401B-E8D9-EEE0-4A4DB9954174}"/>
              </a:ext>
            </a:extLst>
          </p:cNvPr>
          <p:cNvGrpSpPr/>
          <p:nvPr/>
        </p:nvGrpSpPr>
        <p:grpSpPr>
          <a:xfrm>
            <a:off x="643490" y="2827961"/>
            <a:ext cx="11049156" cy="1308826"/>
            <a:chOff x="643490" y="2798776"/>
            <a:chExt cx="11049156" cy="1308826"/>
          </a:xfrm>
        </p:grpSpPr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C2967637-E63B-E158-5848-1DE2B96C25B6}"/>
                </a:ext>
              </a:extLst>
            </p:cNvPr>
            <p:cNvSpPr/>
            <p:nvPr/>
          </p:nvSpPr>
          <p:spPr>
            <a:xfrm>
              <a:off x="741288" y="2827486"/>
              <a:ext cx="1646311" cy="1251406"/>
            </a:xfrm>
            <a:prstGeom prst="roundRect">
              <a:avLst>
                <a:gd name="adj" fmla="val 6187"/>
              </a:avLst>
            </a:prstGeom>
            <a:solidFill>
              <a:schemeClr val="bg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7" name="Shape 2">
              <a:extLst>
                <a:ext uri="{FF2B5EF4-FFF2-40B4-BE49-F238E27FC236}">
                  <a16:creationId xmlns:a16="http://schemas.microsoft.com/office/drawing/2014/main" id="{8232FF50-0473-5D69-FDB8-B8D019E09DB2}"/>
                </a:ext>
              </a:extLst>
            </p:cNvPr>
            <p:cNvSpPr/>
            <p:nvPr/>
          </p:nvSpPr>
          <p:spPr>
            <a:xfrm>
              <a:off x="2629343" y="2798776"/>
              <a:ext cx="9063303" cy="1308826"/>
            </a:xfrm>
            <a:prstGeom prst="roundRect">
              <a:avLst>
                <a:gd name="adj" fmla="val 6187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C6C2F84-E20D-2EB3-0436-ACC593BF83DE}"/>
                </a:ext>
              </a:extLst>
            </p:cNvPr>
            <p:cNvSpPr txBox="1"/>
            <p:nvPr/>
          </p:nvSpPr>
          <p:spPr>
            <a:xfrm>
              <a:off x="643490" y="3130024"/>
              <a:ext cx="184190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dirty="0">
                  <a:solidFill>
                    <a:srgbClr val="FF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UI </a:t>
              </a:r>
              <a:r>
                <a:rPr lang="ko-KR" altLang="en-US" sz="1800" dirty="0">
                  <a:solidFill>
                    <a:srgbClr val="FF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표준 미흡 시</a:t>
              </a:r>
              <a:endParaRPr lang="en-US" altLang="ko-KR" sz="18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algn="ctr"/>
              <a:r>
                <a:rPr lang="ko-KR" altLang="en-US" sz="1800" dirty="0">
                  <a:solidFill>
                    <a:srgbClr val="FF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재발 리스크</a:t>
              </a:r>
              <a:endParaRPr lang="ko-KR" alt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629343" y="2921667"/>
              <a:ext cx="8439623" cy="10630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레이아웃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개선 요청 등 중기 조치 결함은 표준 수립 전 재조치 시 반복 발생 가능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표준 확정 전 동일 유형 신규 결함 등록 동결 여부 합의 필요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600" dirty="0" err="1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넥사크로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·React 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혼용 환경에서 표준 </a:t>
              </a:r>
              <a:r>
                <a:rPr lang="ko-KR" altLang="en-US" sz="1600" dirty="0" err="1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미통합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시 일관성 미달 결함 지속 예상</a:t>
              </a:r>
              <a:endParaRPr lang="en-US" sz="1600" dirty="0">
                <a:solidFill>
                  <a:srgbClr val="00206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1359941-47C9-FF99-D685-9DA8F6158A2C}"/>
              </a:ext>
            </a:extLst>
          </p:cNvPr>
          <p:cNvGrpSpPr/>
          <p:nvPr/>
        </p:nvGrpSpPr>
        <p:grpSpPr>
          <a:xfrm>
            <a:off x="741289" y="4319616"/>
            <a:ext cx="10951355" cy="887171"/>
            <a:chOff x="741289" y="4292836"/>
            <a:chExt cx="10951355" cy="887171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5AD02742-ED0A-C5E2-9881-70B8E398D6DC}"/>
                </a:ext>
              </a:extLst>
            </p:cNvPr>
            <p:cNvSpPr/>
            <p:nvPr/>
          </p:nvSpPr>
          <p:spPr>
            <a:xfrm>
              <a:off x="2629341" y="4292836"/>
              <a:ext cx="9063303" cy="887171"/>
            </a:xfrm>
            <a:prstGeom prst="roundRect">
              <a:avLst>
                <a:gd name="adj" fmla="val 6187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1" name="Shape 2">
              <a:extLst>
                <a:ext uri="{FF2B5EF4-FFF2-40B4-BE49-F238E27FC236}">
                  <a16:creationId xmlns:a16="http://schemas.microsoft.com/office/drawing/2014/main" id="{07751EB5-C7A4-F5A9-432C-5CE8BB42C870}"/>
                </a:ext>
              </a:extLst>
            </p:cNvPr>
            <p:cNvSpPr/>
            <p:nvPr/>
          </p:nvSpPr>
          <p:spPr>
            <a:xfrm>
              <a:off x="741289" y="4292836"/>
              <a:ext cx="1646309" cy="887171"/>
            </a:xfrm>
            <a:prstGeom prst="roundRect">
              <a:avLst>
                <a:gd name="adj" fmla="val 6187"/>
              </a:avLst>
            </a:prstGeom>
            <a:solidFill>
              <a:schemeClr val="bg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2" name="Text 6">
              <a:extLst>
                <a:ext uri="{FF2B5EF4-FFF2-40B4-BE49-F238E27FC236}">
                  <a16:creationId xmlns:a16="http://schemas.microsoft.com/office/drawing/2014/main" id="{FADA94C6-0CF8-FA98-CEA1-BD221C272ACE}"/>
                </a:ext>
              </a:extLst>
            </p:cNvPr>
            <p:cNvSpPr/>
            <p:nvPr/>
          </p:nvSpPr>
          <p:spPr>
            <a:xfrm>
              <a:off x="2689158" y="4339105"/>
              <a:ext cx="8887965" cy="79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고결함율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600" dirty="0" err="1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저조치율로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4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개 영역 중 최저 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</a:t>
              </a:r>
            </a:p>
            <a:p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조회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검색 </a:t>
              </a:r>
              <a:r>
                <a:rPr lang="ko-KR" altLang="en-US" sz="1600" dirty="0" err="1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불일치건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즉각 원인 분석 착수</a:t>
              </a:r>
            </a:p>
            <a:p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일반 단기조치 외 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GO 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전담 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TF 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구성하여 집중 스프린트 운영 실시</a:t>
              </a:r>
              <a:endParaRPr lang="en-US" altLang="ko-KR" sz="1600" dirty="0">
                <a:solidFill>
                  <a:srgbClr val="00206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C3A8F7B-9C96-2789-44EF-12A076573F0B}"/>
                </a:ext>
              </a:extLst>
            </p:cNvPr>
            <p:cNvSpPr txBox="1"/>
            <p:nvPr/>
          </p:nvSpPr>
          <p:spPr>
            <a:xfrm>
              <a:off x="1032225" y="4413256"/>
              <a:ext cx="106443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800" dirty="0">
                  <a:solidFill>
                    <a:srgbClr val="FF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고위험군  집중관리 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E34BBB3-9E28-D115-FB0C-A86FB05EF2AA}"/>
              </a:ext>
            </a:extLst>
          </p:cNvPr>
          <p:cNvGrpSpPr/>
          <p:nvPr/>
        </p:nvGrpSpPr>
        <p:grpSpPr>
          <a:xfrm>
            <a:off x="741289" y="5389614"/>
            <a:ext cx="10951356" cy="672809"/>
            <a:chOff x="741289" y="5331247"/>
            <a:chExt cx="10951356" cy="672809"/>
          </a:xfrm>
        </p:grpSpPr>
        <p:sp>
          <p:nvSpPr>
            <p:cNvPr id="41" name="Shape 2">
              <a:extLst>
                <a:ext uri="{FF2B5EF4-FFF2-40B4-BE49-F238E27FC236}">
                  <a16:creationId xmlns:a16="http://schemas.microsoft.com/office/drawing/2014/main" id="{578681CD-105B-E141-2D00-4ADCBE226410}"/>
                </a:ext>
              </a:extLst>
            </p:cNvPr>
            <p:cNvSpPr/>
            <p:nvPr/>
          </p:nvSpPr>
          <p:spPr>
            <a:xfrm>
              <a:off x="741289" y="5339504"/>
              <a:ext cx="1646309" cy="656294"/>
            </a:xfrm>
            <a:prstGeom prst="roundRect">
              <a:avLst>
                <a:gd name="adj" fmla="val 6187"/>
              </a:avLst>
            </a:prstGeom>
            <a:solidFill>
              <a:schemeClr val="bg2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4" name="Shape 2">
              <a:extLst>
                <a:ext uri="{FF2B5EF4-FFF2-40B4-BE49-F238E27FC236}">
                  <a16:creationId xmlns:a16="http://schemas.microsoft.com/office/drawing/2014/main" id="{0B6FFA97-6BFC-EA2A-B957-C777ED6C9C5E}"/>
                </a:ext>
              </a:extLst>
            </p:cNvPr>
            <p:cNvSpPr/>
            <p:nvPr/>
          </p:nvSpPr>
          <p:spPr>
            <a:xfrm>
              <a:off x="2629340" y="5331247"/>
              <a:ext cx="9063305" cy="672809"/>
            </a:xfrm>
            <a:prstGeom prst="roundRect">
              <a:avLst>
                <a:gd name="adj" fmla="val 6187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51DCE6DC-5BC2-195B-2064-ED5E693BE039}"/>
                </a:ext>
              </a:extLst>
            </p:cNvPr>
            <p:cNvSpPr/>
            <p:nvPr/>
          </p:nvSpPr>
          <p:spPr>
            <a:xfrm>
              <a:off x="2689158" y="5460265"/>
              <a:ext cx="8761553" cy="4147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조치 마일스톤에 따라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조치에 수반되는 </a:t>
              </a:r>
              <a:r>
                <a:rPr lang="en-US" altLang="ko-KR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Action Item </a:t>
              </a:r>
              <a:r>
                <a:rPr lang="ko-KR" altLang="en-US" sz="1600" dirty="0">
                  <a:solidFill>
                    <a:srgbClr val="00206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별 추적 관리</a:t>
              </a:r>
              <a:endParaRPr lang="en-US" sz="16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C831629-21DA-B1E8-8295-F37FA9182082}"/>
                </a:ext>
              </a:extLst>
            </p:cNvPr>
            <p:cNvSpPr txBox="1"/>
            <p:nvPr/>
          </p:nvSpPr>
          <p:spPr>
            <a:xfrm>
              <a:off x="803276" y="5344486"/>
              <a:ext cx="146327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결함 </a:t>
              </a:r>
              <a:r>
                <a:rPr lang="ko-KR" altLang="en-US" sz="1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메트릭</a:t>
              </a:r>
              <a:r>
                <a:rPr lang="ko-KR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endParaRPr lang="en-US" altLang="ko-K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algn="ctr"/>
              <a:r>
                <a:rPr lang="ko-KR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추적 </a:t>
              </a:r>
              <a:endPara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solidFill>
            <a:srgbClr val="0000CC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18721</TotalTime>
  <Words>2079</Words>
  <Application>Microsoft Office PowerPoint</Application>
  <PresentationFormat>와이드스크린</PresentationFormat>
  <Paragraphs>598</Paragraphs>
  <Slides>14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KoPub돋움체 Bold</vt:lpstr>
      <vt:lpstr>KoPub돋움체 Light</vt:lpstr>
      <vt:lpstr>KoPub돋움체 Medium</vt:lpstr>
      <vt:lpstr>Rix고딕 M</vt:lpstr>
      <vt:lpstr>맑은 고딕</vt:lpstr>
      <vt:lpstr>Arial</vt:lpstr>
      <vt:lpstr>Calibri</vt:lpstr>
      <vt:lpstr>Wingdings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IDT-D-0001</dc:creator>
  <cp:lastModifiedBy>양수정</cp:lastModifiedBy>
  <cp:revision>925</cp:revision>
  <cp:lastPrinted>2025-06-13T01:30:37Z</cp:lastPrinted>
  <dcterms:created xsi:type="dcterms:W3CDTF">2024-06-13T01:42:00Z</dcterms:created>
  <dcterms:modified xsi:type="dcterms:W3CDTF">2026-05-10T05:30:38Z</dcterms:modified>
</cp:coreProperties>
</file>