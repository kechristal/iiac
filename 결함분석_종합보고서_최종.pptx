
<file path=[Content_Types].xml><?xml version="1.0" encoding="utf-8"?>
<Types xmlns="http://schemas.openxmlformats.org/package/2006/content-types">
  <Default Extension="emf" ContentType="image/x-emf"/>
  <Default Extension="jpg" ContentType="image/jp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media/image4.jpg" ContentType="image/jpeg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charts/chart3.xml" ContentType="application/vnd.openxmlformats-officedocument.drawingml.chart+xml"/>
  <Override PartName="/ppt/notesSlides/notesSlide7.xml" ContentType="application/vnd.openxmlformats-officedocument.presentationml.notesSlide+xml"/>
  <Override PartName="/ppt/charts/chart4.xml" ContentType="application/vnd.openxmlformats-officedocument.drawingml.chart+xml"/>
  <Override PartName="/ppt/notesSlides/notesSlide8.xml" ContentType="application/vnd.openxmlformats-officedocument.presentationml.notesSlide+xml"/>
  <Override PartName="/ppt/charts/chart5.xml" ContentType="application/vnd.openxmlformats-officedocument.drawingml.chart+xml"/>
  <Override PartName="/ppt/notesSlides/notesSlide9.xml" ContentType="application/vnd.openxmlformats-officedocument.presentationml.notesSlide+xml"/>
  <Override PartName="/ppt/charts/chart6.xml" ContentType="application/vnd.openxmlformats-officedocument.drawingml.chart+xml"/>
  <Override PartName="/ppt/notesSlides/notesSlide10.xml" ContentType="application/vnd.openxmlformats-officedocument.presentationml.notesSlide+xml"/>
  <Override PartName="/ppt/charts/chart7.xml" ContentType="application/vnd.openxmlformats-officedocument.drawingml.chart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charts/chart8.xml" ContentType="application/vnd.openxmlformats-officedocument.drawingml.chart+xml"/>
  <Override PartName="/ppt/charts/chart9.xml" ContentType="application/vnd.openxmlformats-officedocument.drawingml.chart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charts/chart10.xml" ContentType="application/vnd.openxmlformats-officedocument.drawingml.chart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charts/chart11.xml" ContentType="application/vnd.openxmlformats-officedocument.drawingml.chart+xml"/>
  <Override PartName="/ppt/notesSlides/notesSlide17.xml" ContentType="application/vnd.openxmlformats-officedocument.presentationml.notesSlide+xml"/>
  <Override PartName="/ppt/charts/chart12.xml" ContentType="application/vnd.openxmlformats-officedocument.drawingml.chart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charts/chart13.xml" ContentType="application/vnd.openxmlformats-officedocument.drawingml.chart+xml"/>
  <Override PartName="/ppt/charts/chart14.xml" ContentType="application/vnd.openxmlformats-officedocument.drawingml.chart+xml"/>
  <Override PartName="/ppt/charts/chart15.xml" ContentType="application/vnd.openxmlformats-officedocument.drawingml.chart+xml"/>
  <Override PartName="/ppt/notesSlides/notesSlide22.xml" ContentType="application/vnd.openxmlformats-officedocument.presentationml.notesSlide+xml"/>
  <Override PartName="/ppt/charts/chart16.xml" ContentType="application/vnd.openxmlformats-officedocument.drawingml.chart+xml"/>
  <Override PartName="/ppt/notesSlides/notesSlide23.xml" ContentType="application/vnd.openxmlformats-officedocument.presentationml.notesSlide+xml"/>
  <Override PartName="/ppt/charts/chart17.xml" ContentType="application/vnd.openxmlformats-officedocument.drawingml.chart+xml"/>
  <Override PartName="/ppt/notesSlides/notesSlide24.xml" ContentType="application/vnd.openxmlformats-officedocument.presentationml.notesSlide+xml"/>
  <Override PartName="/ppt/charts/chart18.xml" ContentType="application/vnd.openxmlformats-officedocument.drawingml.chart+xml"/>
  <Override PartName="/ppt/charts/chart19.xml" ContentType="application/vnd.openxmlformats-officedocument.drawingml.chart+xml"/>
  <Override PartName="/ppt/notesSlides/notesSlide25.xml" ContentType="application/vnd.openxmlformats-officedocument.presentationml.notesSlide+xml"/>
  <Override PartName="/ppt/charts/chart20.xml" ContentType="application/vnd.openxmlformats-officedocument.drawingml.chart+xml"/>
  <Override PartName="/ppt/notesSlides/notesSlide2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51" r:id="rId1"/>
    <p:sldMasterId id="2147483655" r:id="rId2"/>
  </p:sldMasterIdLst>
  <p:notesMasterIdLst>
    <p:notesMasterId r:id="rId29"/>
  </p:notesMasterIdLst>
  <p:sldIdLst>
    <p:sldId id="289" r:id="rId3"/>
    <p:sldId id="256" r:id="rId4"/>
    <p:sldId id="265" r:id="rId5"/>
    <p:sldId id="257" r:id="rId6"/>
    <p:sldId id="266" r:id="rId7"/>
    <p:sldId id="267" r:id="rId8"/>
    <p:sldId id="268" r:id="rId9"/>
    <p:sldId id="269" r:id="rId10"/>
    <p:sldId id="259" r:id="rId11"/>
    <p:sldId id="260" r:id="rId12"/>
    <p:sldId id="261" r:id="rId13"/>
    <p:sldId id="271" r:id="rId14"/>
    <p:sldId id="263" r:id="rId15"/>
    <p:sldId id="262" r:id="rId16"/>
    <p:sldId id="295" r:id="rId17"/>
    <p:sldId id="296" r:id="rId18"/>
    <p:sldId id="297" r:id="rId19"/>
    <p:sldId id="294" r:id="rId20"/>
    <p:sldId id="290" r:id="rId21"/>
    <p:sldId id="291" r:id="rId22"/>
    <p:sldId id="292" r:id="rId23"/>
    <p:sldId id="258" r:id="rId24"/>
    <p:sldId id="298" r:id="rId25"/>
    <p:sldId id="270" r:id="rId26"/>
    <p:sldId id="273" r:id="rId27"/>
    <p:sldId id="272" r:id="rId28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958" userDrawn="1">
          <p15:clr>
            <a:srgbClr val="A4A3A4"/>
          </p15:clr>
        </p15:guide>
        <p15:guide id="2" pos="272" userDrawn="1">
          <p15:clr>
            <a:srgbClr val="A4A3A4"/>
          </p15:clr>
        </p15:guide>
        <p15:guide id="3" pos="5465" userDrawn="1">
          <p15:clr>
            <a:srgbClr val="A4A3A4"/>
          </p15:clr>
        </p15:guide>
        <p15:guide id="4" orient="horz" pos="486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00FF"/>
    <a:srgbClr val="E85D2F"/>
    <a:srgbClr val="FCAAAA"/>
    <a:srgbClr val="E5E9E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109" d="100"/>
          <a:sy n="109" d="100"/>
        </p:scale>
        <p:origin x="706" y="82"/>
      </p:cViewPr>
      <p:guideLst>
        <p:guide orient="horz" pos="2958"/>
        <p:guide pos="272"/>
        <p:guide pos="5465"/>
        <p:guide orient="horz" pos="486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1.xml"/><Relationship Id="rId18" Type="http://schemas.openxmlformats.org/officeDocument/2006/relationships/slide" Target="slides/slide16.xml"/><Relationship Id="rId26" Type="http://schemas.openxmlformats.org/officeDocument/2006/relationships/slide" Target="slides/slide24.xml"/><Relationship Id="rId3" Type="http://schemas.openxmlformats.org/officeDocument/2006/relationships/slide" Target="slides/slide1.xml"/><Relationship Id="rId21" Type="http://schemas.openxmlformats.org/officeDocument/2006/relationships/slide" Target="slides/slide19.xml"/><Relationship Id="rId7" Type="http://schemas.openxmlformats.org/officeDocument/2006/relationships/slide" Target="slides/slide5.xml"/><Relationship Id="rId12" Type="http://schemas.openxmlformats.org/officeDocument/2006/relationships/slide" Target="slides/slide10.xml"/><Relationship Id="rId17" Type="http://schemas.openxmlformats.org/officeDocument/2006/relationships/slide" Target="slides/slide15.xml"/><Relationship Id="rId25" Type="http://schemas.openxmlformats.org/officeDocument/2006/relationships/slide" Target="slides/slide23.xml"/><Relationship Id="rId33" Type="http://schemas.openxmlformats.org/officeDocument/2006/relationships/tableStyles" Target="tableStyles.xml"/><Relationship Id="rId2" Type="http://schemas.openxmlformats.org/officeDocument/2006/relationships/slideMaster" Target="slideMasters/slideMaster2.xml"/><Relationship Id="rId16" Type="http://schemas.openxmlformats.org/officeDocument/2006/relationships/slide" Target="slides/slide14.xml"/><Relationship Id="rId20" Type="http://schemas.openxmlformats.org/officeDocument/2006/relationships/slide" Target="slides/slide18.xml"/><Relationship Id="rId29" Type="http://schemas.openxmlformats.org/officeDocument/2006/relationships/notesMaster" Target="notesMasters/notesMaster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1" Type="http://schemas.openxmlformats.org/officeDocument/2006/relationships/slide" Target="slides/slide9.xml"/><Relationship Id="rId24" Type="http://schemas.openxmlformats.org/officeDocument/2006/relationships/slide" Target="slides/slide22.xml"/><Relationship Id="rId32" Type="http://schemas.openxmlformats.org/officeDocument/2006/relationships/theme" Target="theme/theme1.xml"/><Relationship Id="rId5" Type="http://schemas.openxmlformats.org/officeDocument/2006/relationships/slide" Target="slides/slide3.xml"/><Relationship Id="rId15" Type="http://schemas.openxmlformats.org/officeDocument/2006/relationships/slide" Target="slides/slide13.xml"/><Relationship Id="rId23" Type="http://schemas.openxmlformats.org/officeDocument/2006/relationships/slide" Target="slides/slide21.xml"/><Relationship Id="rId28" Type="http://schemas.openxmlformats.org/officeDocument/2006/relationships/slide" Target="slides/slide26.xml"/><Relationship Id="rId10" Type="http://schemas.openxmlformats.org/officeDocument/2006/relationships/slide" Target="slides/slide8.xml"/><Relationship Id="rId19" Type="http://schemas.openxmlformats.org/officeDocument/2006/relationships/slide" Target="slides/slide17.xml"/><Relationship Id="rId31" Type="http://schemas.openxmlformats.org/officeDocument/2006/relationships/viewProps" Target="viewProps.xml"/><Relationship Id="rId4" Type="http://schemas.openxmlformats.org/officeDocument/2006/relationships/slide" Target="slides/slide2.xml"/><Relationship Id="rId9" Type="http://schemas.openxmlformats.org/officeDocument/2006/relationships/slide" Target="slides/slide7.xml"/><Relationship Id="rId14" Type="http://schemas.openxmlformats.org/officeDocument/2006/relationships/slide" Target="slides/slide12.xml"/><Relationship Id="rId22" Type="http://schemas.openxmlformats.org/officeDocument/2006/relationships/slide" Target="slides/slide20.xml"/><Relationship Id="rId27" Type="http://schemas.openxmlformats.org/officeDocument/2006/relationships/slide" Target="slides/slide25.xml"/><Relationship Id="rId30" Type="http://schemas.openxmlformats.org/officeDocument/2006/relationships/presProps" Target="presProps.xml"/><Relationship Id="rId8" Type="http://schemas.openxmlformats.org/officeDocument/2006/relationships/slide" Target="slides/slide6.xml"/></Relationships>
</file>

<file path=ppt/charts/_rels/chart1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.xlsx"/></Relationships>
</file>

<file path=ppt/charts/_rels/chart2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3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4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5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_rels/chart6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5.xlsx"/></Relationships>
</file>

<file path=ppt/charts/_rels/chart7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6.xlsx"/></Relationships>
</file>

<file path=ppt/charts/_rels/chart8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7.xlsx"/></Relationships>
</file>

<file path=ppt/charts/_rels/chart9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8.xlsx"/></Relationships>
</file>

<file path=ppt/charts/_rels/chart10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9.xlsx"/></Relationships>
</file>

<file path=ppt/charts/_rels/chart11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10.xlsx"/></Relationships>
</file>

<file path=ppt/charts/_rels/chart12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11.xlsx"/></Relationships>
</file>

<file path=ppt/charts/_rels/chart13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12.xlsx"/></Relationships>
</file>

<file path=ppt/charts/_rels/chart14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13.xlsx"/></Relationships>
</file>

<file path=ppt/charts/_rels/chart15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14.xlsx"/></Relationships>
</file>

<file path=ppt/charts/_rels/chart16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15.xlsx"/></Relationships>
</file>

<file path=ppt/charts/_rels/chart17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16.xlsx"/></Relationships>
</file>

<file path=ppt/charts/_rels/chart18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17.xlsx"/></Relationships>
</file>

<file path=ppt/charts/_rels/chart19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18.xlsx"/></Relationships>
</file>

<file path=ppt/charts/_rels/chart20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19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ko-KR"/>
  <c:roundedCorners val="0"/>
  <c:style val="2"/>
  <c:chart>
    <c:title>
      <c:tx>
        <c:rich>
          <a:bodyPr/>
          <a:lstStyle/>
          <a:p>
            <a:pPr>
              <a:defRPr sz="1100" b="1" i="0" u="none" strike="noStrike">
                <a:solidFill>
                  <a:srgbClr val="1B3A6B"/>
                </a:solidFill>
                <a:latin typeface="Rix고딕 L" panose="02020603020101020101" pitchFamily="18" charset="-127"/>
                <a:ea typeface="Rix고딕 L" panose="02020603020101020101" pitchFamily="18" charset="-127"/>
              </a:defRPr>
            </a:pPr>
            <a:r>
              <a:rPr lang="ko-KR" altLang="en-US" sz="1100" b="1" i="0" u="none" strike="noStrike" dirty="0">
                <a:solidFill>
                  <a:srgbClr val="1B3A6B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차수별 결함 건수 현황 </a:t>
            </a:r>
            <a:r>
              <a:rPr lang="en-US" altLang="ko-KR" sz="1100" b="1" i="0" u="none" strike="noStrike" dirty="0">
                <a:solidFill>
                  <a:srgbClr val="1B3A6B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(</a:t>
            </a:r>
            <a:r>
              <a:rPr lang="ko-KR" altLang="en-US" sz="1100" b="1" i="0" u="none" strike="noStrike" dirty="0">
                <a:solidFill>
                  <a:srgbClr val="1B3A6B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전체 </a:t>
            </a:r>
            <a:r>
              <a:rPr lang="en-US" altLang="ko-KR" sz="1100" b="1" i="0" u="none" strike="noStrike" dirty="0">
                <a:solidFill>
                  <a:srgbClr val="1B3A6B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4,648</a:t>
            </a:r>
            <a:r>
              <a:rPr lang="ko-KR" altLang="en-US" sz="1100" b="1" i="0" u="none" strike="noStrike" dirty="0">
                <a:solidFill>
                  <a:srgbClr val="1B3A6B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건</a:t>
            </a:r>
            <a:r>
              <a:rPr lang="en-US" altLang="ko-KR" sz="1100" b="1" i="0" u="none" strike="noStrike" dirty="0">
                <a:solidFill>
                  <a:srgbClr val="1B3A6B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)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결함 건수</c:v>
                </c:pt>
              </c:strCache>
            </c:strRef>
          </c:tx>
          <c:spPr>
            <a:solidFill>
              <a:srgbClr val="2563A8"/>
            </a:solidFill>
            <a:effectLst/>
          </c:spPr>
          <c:invertIfNegative val="0"/>
          <c:dPt>
            <c:idx val="1"/>
            <c:invertIfNegative val="0"/>
            <c:bubble3D val="0"/>
            <c:spPr>
              <a:solidFill>
                <a:srgbClr val="FF0000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2-8305-404F-BB03-5CDAFCB05DAB}"/>
              </c:ext>
            </c:extLst>
          </c:dPt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900" b="0" i="0" u="none" strike="noStrike">
                    <a:solidFill>
                      <a:srgbClr val="1B3A6B"/>
                    </a:solidFill>
                    <a:latin typeface="Rix고딕 L" panose="02020603020101020101" pitchFamily="18" charset="-127"/>
                    <a:ea typeface="Rix고딕 L" panose="02020603020101020101" pitchFamily="18" charset="-127"/>
                  </a:defRPr>
                </a:pPr>
                <a:endParaRPr lang="ko-KR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Sheet1!$A$2:$A$6</c:f>
              <c:strCache>
                <c:ptCount val="5"/>
                <c:pt idx="0">
                  <c:v>1-1차</c:v>
                </c:pt>
                <c:pt idx="1">
                  <c:v>1-2차</c:v>
                </c:pt>
                <c:pt idx="2">
                  <c:v>2-1차</c:v>
                </c:pt>
                <c:pt idx="3">
                  <c:v>2-2차</c:v>
                </c:pt>
                <c:pt idx="4">
                  <c:v>2-3차(진행중)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769</c:v>
                </c:pt>
                <c:pt idx="1">
                  <c:v>1372</c:v>
                </c:pt>
                <c:pt idx="2">
                  <c:v>1301</c:v>
                </c:pt>
                <c:pt idx="3">
                  <c:v>1056</c:v>
                </c:pt>
                <c:pt idx="4">
                  <c:v>150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8305-404F-BB03-5CDAFCB05DAB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기각 건수</c:v>
                </c:pt>
              </c:strCache>
            </c:strRef>
          </c:tx>
          <c:spPr>
            <a:solidFill>
              <a:srgbClr val="9CA3AF"/>
            </a:solidFill>
            <a:effectLst/>
          </c:spPr>
          <c:invertIfNegative val="0"/>
          <c:dLbls>
            <c:dLbl>
              <c:idx val="0"/>
              <c:tx>
                <c:rich>
                  <a:bodyPr/>
                  <a:lstStyle/>
                  <a:p>
                    <a:r>
                      <a:rPr lang="en-US" altLang="ko-KR"/>
                      <a:t>20</a:t>
                    </a:r>
                    <a:endParaRPr lang="en-US" altLang="ko-KR" dirty="0"/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2-4135-4E76-8251-21FA4A84E5B4}"/>
                </c:ext>
              </c:extLst>
            </c:dLbl>
            <c:numFmt formatCode="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800" b="0" i="0" u="none" strike="noStrike">
                    <a:solidFill>
                      <a:srgbClr val="1B3A6B"/>
                    </a:solidFill>
                    <a:latin typeface="Rix고딕 L" panose="02020603020101020101" pitchFamily="18" charset="-127"/>
                    <a:ea typeface="Rix고딕 L" panose="02020603020101020101" pitchFamily="18" charset="-127"/>
                  </a:defRPr>
                </a:pPr>
                <a:endParaRPr lang="ko-KR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Sheet1!$A$2:$A$6</c:f>
              <c:strCache>
                <c:ptCount val="5"/>
                <c:pt idx="0">
                  <c:v>1-1차</c:v>
                </c:pt>
                <c:pt idx="1">
                  <c:v>1-2차</c:v>
                </c:pt>
                <c:pt idx="2">
                  <c:v>2-1차</c:v>
                </c:pt>
                <c:pt idx="3">
                  <c:v>2-2차</c:v>
                </c:pt>
                <c:pt idx="4">
                  <c:v>2-3차(진행중)</c:v>
                </c:pt>
              </c:strCache>
            </c: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20</c:v>
                </c:pt>
                <c:pt idx="1">
                  <c:v>120</c:v>
                </c:pt>
                <c:pt idx="2">
                  <c:v>129</c:v>
                </c:pt>
                <c:pt idx="3">
                  <c:v>156</c:v>
                </c:pt>
                <c:pt idx="4">
                  <c:v>20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8305-404F-BB03-5CDAFCB05DAB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4B5563"/>
                </a:solidFill>
                <a:latin typeface="Rix고딕 L" panose="02020603020101020101" pitchFamily="18" charset="-127"/>
                <a:ea typeface="Rix고딕 L" panose="02020603020101020101" pitchFamily="18" charset="-127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D1D9E6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9CA3AF"/>
                </a:solidFill>
                <a:latin typeface="Rix고딕 L" panose="02020603020101020101" pitchFamily="18" charset="-127"/>
                <a:ea typeface="Rix고딕 L" panose="02020603020101020101" pitchFamily="18" charset="-127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900">
              <a:latin typeface="Rix고딕 L" panose="02020603020101020101" pitchFamily="18" charset="-127"/>
              <a:ea typeface="Rix고딕 L" panose="02020603020101020101" pitchFamily="18" charset="-127"/>
            </a:defRPr>
          </a:pPr>
          <a:endParaRPr lang="en-US"/>
        </a:p>
      </c:txPr>
    </c:legend>
    <c:plotVisOnly val="1"/>
    <c:dispBlanksAs val="span"/>
    <c:showDLblsOverMax val="1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ko-KR"/>
  <c:roundedCorners val="1"/>
  <c:style val="2"/>
  <c:chart>
    <c:title>
      <c:tx>
        <c:rich>
          <a:bodyPr/>
          <a:lstStyle/>
          <a:p>
            <a:pPr>
              <a:defRPr sz="1100" b="1" i="0" u="none" strike="noStrike">
                <a:solidFill>
                  <a:srgbClr val="1B3A6B"/>
                </a:solidFill>
                <a:latin typeface="Rix고딕 L" panose="02020603020101020101" pitchFamily="18" charset="-127"/>
                <a:ea typeface="Rix고딕 L" panose="02020603020101020101" pitchFamily="18" charset="-127"/>
              </a:defRPr>
            </a:pPr>
            <a:r>
              <a:rPr lang="ko-KR" altLang="en-US" sz="1100" b="1" i="0" u="none" strike="noStrike" dirty="0">
                <a:solidFill>
                  <a:srgbClr val="1B3A6B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결함 조치 상태 분포 </a:t>
            </a:r>
            <a:r>
              <a:rPr lang="en-US" altLang="ko-KR" sz="1100" b="1" i="0" u="none" strike="noStrike" dirty="0">
                <a:solidFill>
                  <a:srgbClr val="1B3A6B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(4,203</a:t>
            </a:r>
            <a:r>
              <a:rPr lang="ko-KR" altLang="en-US" sz="1100" b="1" i="0" u="none" strike="noStrike" dirty="0">
                <a:solidFill>
                  <a:srgbClr val="1B3A6B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건 기준</a:t>
            </a:r>
            <a:r>
              <a:rPr lang="en-US" altLang="ko-KR" sz="1100" b="1" i="0" u="none" strike="noStrike" dirty="0">
                <a:solidFill>
                  <a:srgbClr val="1B3A6B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)</a:t>
            </a:r>
          </a:p>
        </c:rich>
      </c:tx>
      <c:overlay val="0"/>
    </c:title>
    <c:autoTitleDeleted val="0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조치상태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16A34A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1-CD94-4E0D-A275-1E2EF6CA15C3}"/>
              </c:ext>
            </c:extLst>
          </c:dPt>
          <c:dPt>
            <c:idx val="1"/>
            <c:bubble3D val="0"/>
            <c:spPr>
              <a:solidFill>
                <a:srgbClr val="3B82C4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3-CD94-4E0D-A275-1E2EF6CA15C3}"/>
              </c:ext>
            </c:extLst>
          </c:dPt>
          <c:dPt>
            <c:idx val="2"/>
            <c:bubble3D val="0"/>
            <c:spPr>
              <a:solidFill>
                <a:srgbClr val="D97706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5-CD94-4E0D-A275-1E2EF6CA15C3}"/>
              </c:ext>
            </c:extLst>
          </c:dPt>
          <c:dPt>
            <c:idx val="3"/>
            <c:bubble3D val="0"/>
            <c:spPr>
              <a:solidFill>
                <a:srgbClr val="E85D2F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7-CD94-4E0D-A275-1E2EF6CA15C3}"/>
              </c:ext>
            </c:extLst>
          </c:dPt>
          <c:dPt>
            <c:idx val="4"/>
            <c:bubble3D val="0"/>
            <c:spPr>
              <a:solidFill>
                <a:srgbClr val="DC2626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9-CD94-4E0D-A275-1E2EF6CA15C3}"/>
              </c:ext>
            </c:extLst>
          </c:dPt>
          <c:dPt>
            <c:idx val="5"/>
            <c:bubble3D val="0"/>
            <c:spPr>
              <a:solidFill>
                <a:srgbClr val="7C3AED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B-CD94-4E0D-A275-1E2EF6CA15C3}"/>
              </c:ext>
            </c:extLst>
          </c:dPt>
          <c:dLbls>
            <c:dLbl>
              <c:idx val="0"/>
              <c:tx>
                <c:rich>
                  <a:bodyPr/>
                  <a:lstStyle/>
                  <a:p>
                    <a:pPr>
                      <a:defRPr sz="800" b="0" i="0" u="none" strike="noStrike">
                        <a:solidFill>
                          <a:srgbClr val="000000"/>
                        </a:solidFill>
                        <a:latin typeface="Rix고딕 L" panose="02020603020101020101" pitchFamily="18" charset="-127"/>
                        <a:ea typeface="Rix고딕 L" panose="02020603020101020101" pitchFamily="18" charset="-127"/>
                      </a:defRPr>
                    </a:pPr>
                    <a:fld id="{F2CA9E04-C7AB-4BAA-B0C0-585841459039}" type="PERCENTAGE">
                      <a:rPr lang="en-US" altLang="ko-KR" sz="800">
                        <a:latin typeface="Rix고딕 L" panose="02020603020101020101" pitchFamily="18" charset="-127"/>
                        <a:ea typeface="Rix고딕 L" panose="02020603020101020101" pitchFamily="18" charset="-127"/>
                      </a:rPr>
                      <a:pPr>
                        <a:defRPr sz="800" b="0" i="0" u="none" strike="noStrike">
                          <a:solidFill>
                            <a:srgbClr val="000000"/>
                          </a:solidFill>
                          <a:latin typeface="Rix고딕 L" panose="02020603020101020101" pitchFamily="18" charset="-127"/>
                          <a:ea typeface="Rix고딕 L" panose="02020603020101020101" pitchFamily="18" charset="-127"/>
                        </a:defRPr>
                      </a:pPr>
                      <a:t>[백분율]</a:t>
                    </a:fld>
                    <a:endParaRPr lang="ko-KR" altLang="en-US"/>
                  </a:p>
                </c:rich>
              </c:tx>
              <c:numFmt formatCode="0%" sourceLinked="0"/>
              <c:spPr/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>
                  <c15:dlblFieldTable/>
                  <c15:showDataLabelsRange val="0"/>
                </c:ext>
                <c:ext xmlns:c16="http://schemas.microsoft.com/office/drawing/2014/chart" uri="{C3380CC4-5D6E-409C-BE32-E72D297353CC}">
                  <c16:uniqueId val="{00000001-CD94-4E0D-A275-1E2EF6CA15C3}"/>
                </c:ext>
              </c:extLst>
            </c:dLbl>
            <c:dLbl>
              <c:idx val="1"/>
              <c:tx>
                <c:rich>
                  <a:bodyPr/>
                  <a:lstStyle/>
                  <a:p>
                    <a:pPr>
                      <a:defRPr sz="800" b="0" i="0" u="none" strike="noStrike">
                        <a:solidFill>
                          <a:srgbClr val="000000"/>
                        </a:solidFill>
                        <a:latin typeface="Rix고딕 L" panose="02020603020101020101" pitchFamily="18" charset="-127"/>
                        <a:ea typeface="Rix고딕 L" panose="02020603020101020101" pitchFamily="18" charset="-127"/>
                      </a:defRPr>
                    </a:pPr>
                    <a:fld id="{1CF1557C-610F-412C-B8F8-EA93EE7A0218}" type="PERCENTAGE">
                      <a:rPr lang="en-US" altLang="ko-KR" sz="800">
                        <a:latin typeface="Rix고딕 L" panose="02020603020101020101" pitchFamily="18" charset="-127"/>
                        <a:ea typeface="Rix고딕 L" panose="02020603020101020101" pitchFamily="18" charset="-127"/>
                      </a:rPr>
                      <a:pPr>
                        <a:defRPr sz="800" b="0" i="0" u="none" strike="noStrike">
                          <a:solidFill>
                            <a:srgbClr val="000000"/>
                          </a:solidFill>
                          <a:latin typeface="Rix고딕 L" panose="02020603020101020101" pitchFamily="18" charset="-127"/>
                          <a:ea typeface="Rix고딕 L" panose="02020603020101020101" pitchFamily="18" charset="-127"/>
                        </a:defRPr>
                      </a:pPr>
                      <a:t>[백분율]</a:t>
                    </a:fld>
                    <a:endParaRPr lang="ko-KR" altLang="en-US"/>
                  </a:p>
                </c:rich>
              </c:tx>
              <c:numFmt formatCode="0%" sourceLinked="0"/>
              <c:spPr/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>
                  <c15:dlblFieldTable/>
                  <c15:showDataLabelsRange val="0"/>
                </c:ext>
                <c:ext xmlns:c16="http://schemas.microsoft.com/office/drawing/2014/chart" uri="{C3380CC4-5D6E-409C-BE32-E72D297353CC}">
                  <c16:uniqueId val="{00000003-CD94-4E0D-A275-1E2EF6CA15C3}"/>
                </c:ext>
              </c:extLst>
            </c:dLbl>
            <c:dLbl>
              <c:idx val="2"/>
              <c:tx>
                <c:rich>
                  <a:bodyPr/>
                  <a:lstStyle/>
                  <a:p>
                    <a:pPr>
                      <a:defRPr sz="800" b="0" i="0" u="none" strike="noStrike">
                        <a:solidFill>
                          <a:srgbClr val="000000"/>
                        </a:solidFill>
                        <a:latin typeface="Rix고딕 L" panose="02020603020101020101" pitchFamily="18" charset="-127"/>
                        <a:ea typeface="Rix고딕 L" panose="02020603020101020101" pitchFamily="18" charset="-127"/>
                      </a:defRPr>
                    </a:pPr>
                    <a:fld id="{7582822B-848B-468B-B960-A8356E30F54E}" type="PERCENTAGE">
                      <a:rPr lang="en-US" altLang="ko-KR" sz="800">
                        <a:latin typeface="Rix고딕 L" panose="02020603020101020101" pitchFamily="18" charset="-127"/>
                        <a:ea typeface="Rix고딕 L" panose="02020603020101020101" pitchFamily="18" charset="-127"/>
                      </a:rPr>
                      <a:pPr>
                        <a:defRPr sz="800" b="0" i="0" u="none" strike="noStrike">
                          <a:solidFill>
                            <a:srgbClr val="000000"/>
                          </a:solidFill>
                          <a:latin typeface="Rix고딕 L" panose="02020603020101020101" pitchFamily="18" charset="-127"/>
                          <a:ea typeface="Rix고딕 L" panose="02020603020101020101" pitchFamily="18" charset="-127"/>
                        </a:defRPr>
                      </a:pPr>
                      <a:t>[백분율]</a:t>
                    </a:fld>
                    <a:endParaRPr lang="ko-KR" altLang="en-US"/>
                  </a:p>
                </c:rich>
              </c:tx>
              <c:numFmt formatCode="0%" sourceLinked="0"/>
              <c:spPr/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>
                  <c15:dlblFieldTable/>
                  <c15:showDataLabelsRange val="0"/>
                </c:ext>
                <c:ext xmlns:c16="http://schemas.microsoft.com/office/drawing/2014/chart" uri="{C3380CC4-5D6E-409C-BE32-E72D297353CC}">
                  <c16:uniqueId val="{00000005-CD94-4E0D-A275-1E2EF6CA15C3}"/>
                </c:ext>
              </c:extLst>
            </c:dLbl>
            <c:dLbl>
              <c:idx val="3"/>
              <c:tx>
                <c:rich>
                  <a:bodyPr/>
                  <a:lstStyle/>
                  <a:p>
                    <a:pPr>
                      <a:defRPr sz="800" b="0" i="0" u="none" strike="noStrike">
                        <a:solidFill>
                          <a:srgbClr val="000000"/>
                        </a:solidFill>
                        <a:latin typeface="Rix고딕 L" panose="02020603020101020101" pitchFamily="18" charset="-127"/>
                        <a:ea typeface="Rix고딕 L" panose="02020603020101020101" pitchFamily="18" charset="-127"/>
                      </a:defRPr>
                    </a:pPr>
                    <a:fld id="{A2367A20-AF85-49B0-971B-A26C65B46CEF}" type="PERCENTAGE">
                      <a:rPr lang="en-US" altLang="ko-KR" sz="800">
                        <a:latin typeface="Rix고딕 L" panose="02020603020101020101" pitchFamily="18" charset="-127"/>
                        <a:ea typeface="Rix고딕 L" panose="02020603020101020101" pitchFamily="18" charset="-127"/>
                      </a:rPr>
                      <a:pPr>
                        <a:defRPr sz="800" b="0" i="0" u="none" strike="noStrike">
                          <a:solidFill>
                            <a:srgbClr val="000000"/>
                          </a:solidFill>
                          <a:latin typeface="Rix고딕 L" panose="02020603020101020101" pitchFamily="18" charset="-127"/>
                          <a:ea typeface="Rix고딕 L" panose="02020603020101020101" pitchFamily="18" charset="-127"/>
                        </a:defRPr>
                      </a:pPr>
                      <a:t>[백분율]</a:t>
                    </a:fld>
                    <a:endParaRPr lang="ko-KR" altLang="en-US"/>
                  </a:p>
                </c:rich>
              </c:tx>
              <c:numFmt formatCode="0%" sourceLinked="0"/>
              <c:spPr/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>
                  <c15:dlblFieldTable/>
                  <c15:showDataLabelsRange val="0"/>
                </c:ext>
                <c:ext xmlns:c16="http://schemas.microsoft.com/office/drawing/2014/chart" uri="{C3380CC4-5D6E-409C-BE32-E72D297353CC}">
                  <c16:uniqueId val="{00000007-CD94-4E0D-A275-1E2EF6CA15C3}"/>
                </c:ext>
              </c:extLst>
            </c:dLbl>
            <c:dLbl>
              <c:idx val="4"/>
              <c:tx>
                <c:rich>
                  <a:bodyPr/>
                  <a:lstStyle/>
                  <a:p>
                    <a:pPr>
                      <a:defRPr sz="800" b="0" i="0" u="none" strike="noStrike">
                        <a:solidFill>
                          <a:srgbClr val="000000"/>
                        </a:solidFill>
                        <a:latin typeface="Rix고딕 L" panose="02020603020101020101" pitchFamily="18" charset="-127"/>
                        <a:ea typeface="Rix고딕 L" panose="02020603020101020101" pitchFamily="18" charset="-127"/>
                      </a:defRPr>
                    </a:pPr>
                    <a:fld id="{54317C1A-CFA9-4E93-A5D6-942C44E3B2BD}" type="PERCENTAGE">
                      <a:rPr lang="en-US" altLang="ko-KR" sz="800">
                        <a:latin typeface="Rix고딕 L" panose="02020603020101020101" pitchFamily="18" charset="-127"/>
                        <a:ea typeface="Rix고딕 L" panose="02020603020101020101" pitchFamily="18" charset="-127"/>
                      </a:rPr>
                      <a:pPr>
                        <a:defRPr sz="800" b="0" i="0" u="none" strike="noStrike">
                          <a:solidFill>
                            <a:srgbClr val="000000"/>
                          </a:solidFill>
                          <a:latin typeface="Rix고딕 L" panose="02020603020101020101" pitchFamily="18" charset="-127"/>
                          <a:ea typeface="Rix고딕 L" panose="02020603020101020101" pitchFamily="18" charset="-127"/>
                        </a:defRPr>
                      </a:pPr>
                      <a:t>[백분율]</a:t>
                    </a:fld>
                    <a:endParaRPr lang="ko-KR" altLang="en-US"/>
                  </a:p>
                </c:rich>
              </c:tx>
              <c:numFmt formatCode="0%" sourceLinked="0"/>
              <c:spPr/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>
                  <c15:dlblFieldTable/>
                  <c15:showDataLabelsRange val="0"/>
                </c:ext>
                <c:ext xmlns:c16="http://schemas.microsoft.com/office/drawing/2014/chart" uri="{C3380CC4-5D6E-409C-BE32-E72D297353CC}">
                  <c16:uniqueId val="{00000009-CD94-4E0D-A275-1E2EF6CA15C3}"/>
                </c:ext>
              </c:extLst>
            </c:dLbl>
            <c:dLbl>
              <c:idx val="5"/>
              <c:tx>
                <c:rich>
                  <a:bodyPr/>
                  <a:lstStyle/>
                  <a:p>
                    <a:pPr>
                      <a:defRPr sz="800" b="0" i="0" u="none" strike="noStrike">
                        <a:solidFill>
                          <a:srgbClr val="000000"/>
                        </a:solidFill>
                        <a:latin typeface="Rix고딕 L" panose="02020603020101020101" pitchFamily="18" charset="-127"/>
                        <a:ea typeface="Rix고딕 L" panose="02020603020101020101" pitchFamily="18" charset="-127"/>
                      </a:defRPr>
                    </a:pPr>
                    <a:fld id="{C94C51FF-32B3-413C-8434-981B8C5CDA29}" type="PERCENTAGE">
                      <a:rPr lang="en-US" altLang="ko-KR" sz="800">
                        <a:latin typeface="Rix고딕 L" panose="02020603020101020101" pitchFamily="18" charset="-127"/>
                        <a:ea typeface="Rix고딕 L" panose="02020603020101020101" pitchFamily="18" charset="-127"/>
                      </a:rPr>
                      <a:pPr>
                        <a:defRPr sz="800" b="0" i="0" u="none" strike="noStrike">
                          <a:solidFill>
                            <a:srgbClr val="000000"/>
                          </a:solidFill>
                          <a:latin typeface="Rix고딕 L" panose="02020603020101020101" pitchFamily="18" charset="-127"/>
                          <a:ea typeface="Rix고딕 L" panose="02020603020101020101" pitchFamily="18" charset="-127"/>
                        </a:defRPr>
                      </a:pPr>
                      <a:t>[백분율]</a:t>
                    </a:fld>
                    <a:endParaRPr lang="ko-KR" altLang="en-US"/>
                  </a:p>
                </c:rich>
              </c:tx>
              <c:numFmt formatCode="0%" sourceLinked="0"/>
              <c:spPr/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>
                  <c15:dlblFieldTable/>
                  <c15:showDataLabelsRange val="0"/>
                </c:ext>
                <c:ext xmlns:c16="http://schemas.microsoft.com/office/drawing/2014/chart" uri="{C3380CC4-5D6E-409C-BE32-E72D297353CC}">
                  <c16:uniqueId val="{0000000B-CD94-4E0D-A275-1E2EF6CA15C3}"/>
                </c:ext>
              </c:extLst>
            </c:dLbl>
            <c:numFmt formatCode="0%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800" b="0" i="0" u="none" strike="noStrike">
                    <a:solidFill>
                      <a:srgbClr val="000000"/>
                    </a:solidFill>
                    <a:latin typeface="Rix고딕 L" panose="02020603020101020101" pitchFamily="18" charset="-127"/>
                    <a:ea typeface="Rix고딕 L" panose="02020603020101020101" pitchFamily="18" charset="-127"/>
                  </a:defRPr>
                </a:pPr>
                <a:endParaRPr lang="ko-KR"/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  <c:extLst>
              <c:ext xmlns:c15="http://schemas.microsoft.com/office/drawing/2012/chart" uri="{CE6537A1-D6FC-4f65-9D91-7224C49458BB}"/>
            </c:extLst>
          </c:dLbls>
          <c:cat>
            <c:strRef>
              <c:f>Sheet1!$A$2:$A$7</c:f>
              <c:strCache>
                <c:ptCount val="6"/>
                <c:pt idx="0">
                  <c:v>최종확인(완료)</c:v>
                </c:pt>
                <c:pt idx="1">
                  <c:v>확인대기</c:v>
                </c:pt>
                <c:pt idx="2">
                  <c:v>결함검토요청</c:v>
                </c:pt>
                <c:pt idx="3">
                  <c:v>확인요청</c:v>
                </c:pt>
                <c:pt idx="4">
                  <c:v>조치요청</c:v>
                </c:pt>
                <c:pt idx="5">
                  <c:v>재조치요청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2468</c:v>
                </c:pt>
                <c:pt idx="1">
                  <c:v>1297</c:v>
                </c:pt>
                <c:pt idx="2">
                  <c:v>277</c:v>
                </c:pt>
                <c:pt idx="3">
                  <c:v>79</c:v>
                </c:pt>
                <c:pt idx="4">
                  <c:v>73</c:v>
                </c:pt>
                <c:pt idx="5">
                  <c:v>9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C-CD94-4E0D-A275-1E2EF6CA15C3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firstSliceAng val="0"/>
        <c:holeSize val="55"/>
      </c:doughnutChart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800">
              <a:latin typeface="Rix고딕 L" panose="02020603020101020101" pitchFamily="18" charset="-127"/>
              <a:ea typeface="Rix고딕 L" panose="02020603020101020101" pitchFamily="18" charset="-127"/>
            </a:defRPr>
          </a:pPr>
          <a:endParaRPr lang="en-US"/>
        </a:p>
      </c:txPr>
    </c:legend>
    <c:plotVisOnly val="1"/>
    <c:dispBlanksAs val="span"/>
    <c:showDLblsOverMax val="1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ko-KR"/>
  <c:roundedCorners val="1"/>
  <c:style val="2"/>
  <c:chart>
    <c:title>
      <c:tx>
        <c:rich>
          <a:bodyPr/>
          <a:lstStyle/>
          <a:p>
            <a:pPr>
              <a:defRPr sz="1050" b="1" i="0" u="none" strike="noStrike">
                <a:solidFill>
                  <a:srgbClr val="1B3A6B"/>
                </a:solidFill>
                <a:latin typeface="Rix고딕 L" panose="02020603020101020101" pitchFamily="18" charset="-127"/>
                <a:ea typeface="Rix고딕 L" panose="02020603020101020101" pitchFamily="18" charset="-127"/>
              </a:defRPr>
            </a:pPr>
            <a:r>
              <a:rPr lang="ko-KR" altLang="en-US" sz="1050" b="1" i="0" u="none" strike="noStrike">
                <a:solidFill>
                  <a:srgbClr val="1B3A6B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모듈별 분석대상 결함 </a:t>
            </a:r>
            <a:r>
              <a:rPr lang="en-US" altLang="ko-KR" sz="1050" b="1" i="0" u="none" strike="noStrike">
                <a:solidFill>
                  <a:srgbClr val="1B3A6B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vs </a:t>
            </a:r>
            <a:r>
              <a:rPr lang="ko-KR" altLang="en-US" sz="1050" b="1" i="0" u="none" strike="noStrike">
                <a:solidFill>
                  <a:srgbClr val="1B3A6B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시나리오 수 </a:t>
            </a:r>
            <a:r>
              <a:rPr lang="en-US" altLang="ko-KR" sz="1050" b="1" i="0" u="none" strike="noStrike">
                <a:solidFill>
                  <a:srgbClr val="1B3A6B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(</a:t>
            </a:r>
            <a:r>
              <a:rPr lang="ko-KR" altLang="en-US" sz="1050" b="1" i="0" u="none" strike="noStrike">
                <a:solidFill>
                  <a:srgbClr val="1B3A6B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상위 </a:t>
            </a:r>
            <a:r>
              <a:rPr lang="en-US" altLang="ko-KR" sz="1050" b="1" i="0" u="none" strike="noStrike">
                <a:solidFill>
                  <a:srgbClr val="1B3A6B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10</a:t>
            </a:r>
            <a:r>
              <a:rPr lang="ko-KR" altLang="en-US" sz="1050" b="1" i="0" u="none" strike="noStrike">
                <a:solidFill>
                  <a:srgbClr val="1B3A6B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개</a:t>
            </a:r>
            <a:r>
              <a:rPr lang="en-US" altLang="ko-KR" sz="1050" b="1" i="0" u="none" strike="noStrike">
                <a:solidFill>
                  <a:srgbClr val="1B3A6B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)</a:t>
            </a:r>
          </a:p>
        </c:rich>
      </c:tx>
      <c:overlay val="0"/>
    </c:title>
    <c:autoTitleDeleted val="0"/>
    <c:plotArea>
      <c:layout>
        <c:manualLayout>
          <c:layoutTarget val="inner"/>
          <c:xMode val="edge"/>
          <c:yMode val="edge"/>
          <c:x val="0.21687150928037782"/>
          <c:y val="0.12658136340634715"/>
          <c:w val="0.73636554130835996"/>
          <c:h val="0.80245003532008075"/>
        </c:manualLayout>
      </c:layout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분석대상 결함</c:v>
                </c:pt>
              </c:strCache>
            </c:strRef>
          </c:tx>
          <c:spPr>
            <a:solidFill>
              <a:srgbClr val="2563A8"/>
            </a:solidFill>
            <a:effectLst/>
          </c:spPr>
          <c:invertIfNegative val="0"/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1B3A6B"/>
                    </a:solidFill>
                    <a:latin typeface="Rix고딕 L" panose="02020603020101020101" pitchFamily="18" charset="-127"/>
                    <a:ea typeface="Rix고딕 L" panose="02020603020101020101" pitchFamily="18" charset="-127"/>
                  </a:defRPr>
                </a:pPr>
                <a:endParaRPr lang="ko-KR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Sheet1!$A$2:$A$11</c:f>
              <c:strCache>
                <c:ptCount val="10"/>
                <c:pt idx="0">
                  <c:v>공항운영(GO)</c:v>
                </c:pt>
                <c:pt idx="1">
                  <c:v>항공보안(FS)</c:v>
                </c:pt>
                <c:pt idx="2">
                  <c:v>항공기관제(AC)</c:v>
                </c:pt>
                <c:pt idx="3">
                  <c:v>공통관리(FIMS-CA)</c:v>
                </c:pt>
                <c:pt idx="4">
                  <c:v>자원배정(RS)</c:v>
                </c:pt>
                <c:pt idx="5">
                  <c:v>공통관리(AOMS-CA)</c:v>
                </c:pt>
                <c:pt idx="6">
                  <c:v>운항계획(FP)</c:v>
                </c:pt>
                <c:pt idx="7">
                  <c:v>모바일(WES)</c:v>
                </c:pt>
                <c:pt idx="8">
                  <c:v>모바일(MES)</c:v>
                </c:pt>
                <c:pt idx="9">
                  <c:v>예측관리(PM)</c:v>
                </c:pt>
              </c:strCache>
            </c:strRef>
          </c:cat>
          <c:val>
            <c:numRef>
              <c:f>Sheet1!$B$2:$B$11</c:f>
              <c:numCache>
                <c:formatCode>General</c:formatCode>
                <c:ptCount val="10"/>
                <c:pt idx="0">
                  <c:v>562</c:v>
                </c:pt>
                <c:pt idx="1">
                  <c:v>318</c:v>
                </c:pt>
                <c:pt idx="2">
                  <c:v>320</c:v>
                </c:pt>
                <c:pt idx="3">
                  <c:v>294</c:v>
                </c:pt>
                <c:pt idx="4">
                  <c:v>292</c:v>
                </c:pt>
                <c:pt idx="5">
                  <c:v>285</c:v>
                </c:pt>
                <c:pt idx="6">
                  <c:v>269</c:v>
                </c:pt>
                <c:pt idx="7">
                  <c:v>277</c:v>
                </c:pt>
                <c:pt idx="8">
                  <c:v>245</c:v>
                </c:pt>
                <c:pt idx="9">
                  <c:v>170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E2A7-4A92-8487-68EAA3F90C37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시나리오 수</c:v>
                </c:pt>
              </c:strCache>
            </c:strRef>
          </c:tx>
          <c:spPr>
            <a:solidFill>
              <a:srgbClr val="9CA3AF"/>
            </a:solidFill>
            <a:effectLst/>
          </c:spPr>
          <c:invertIfNegative val="0"/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1B3A6B"/>
                    </a:solidFill>
                    <a:latin typeface="Rix고딕 L" panose="02020603020101020101" pitchFamily="18" charset="-127"/>
                    <a:ea typeface="Rix고딕 L" panose="02020603020101020101" pitchFamily="18" charset="-127"/>
                  </a:defRPr>
                </a:pPr>
                <a:endParaRPr lang="ko-KR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Sheet1!$A$2:$A$11</c:f>
              <c:strCache>
                <c:ptCount val="10"/>
                <c:pt idx="0">
                  <c:v>공항운영(GO)</c:v>
                </c:pt>
                <c:pt idx="1">
                  <c:v>항공보안(FS)</c:v>
                </c:pt>
                <c:pt idx="2">
                  <c:v>항공기관제(AC)</c:v>
                </c:pt>
                <c:pt idx="3">
                  <c:v>공통관리(FIMS-CA)</c:v>
                </c:pt>
                <c:pt idx="4">
                  <c:v>자원배정(RS)</c:v>
                </c:pt>
                <c:pt idx="5">
                  <c:v>공통관리(AOMS-CA)</c:v>
                </c:pt>
                <c:pt idx="6">
                  <c:v>운항계획(FP)</c:v>
                </c:pt>
                <c:pt idx="7">
                  <c:v>모바일(WES)</c:v>
                </c:pt>
                <c:pt idx="8">
                  <c:v>모바일(MES)</c:v>
                </c:pt>
                <c:pt idx="9">
                  <c:v>예측관리(PM)</c:v>
                </c:pt>
              </c:strCache>
            </c:strRef>
          </c:cat>
          <c:val>
            <c:numRef>
              <c:f>Sheet1!$C$2:$C$11</c:f>
              <c:numCache>
                <c:formatCode>General</c:formatCode>
                <c:ptCount val="10"/>
                <c:pt idx="0">
                  <c:v>346</c:v>
                </c:pt>
                <c:pt idx="1">
                  <c:v>144</c:v>
                </c:pt>
                <c:pt idx="2">
                  <c:v>125</c:v>
                </c:pt>
                <c:pt idx="3">
                  <c:v>159</c:v>
                </c:pt>
                <c:pt idx="4">
                  <c:v>196</c:v>
                </c:pt>
                <c:pt idx="5">
                  <c:v>146</c:v>
                </c:pt>
                <c:pt idx="6">
                  <c:v>310</c:v>
                </c:pt>
                <c:pt idx="7">
                  <c:v>263</c:v>
                </c:pt>
                <c:pt idx="8">
                  <c:v>184</c:v>
                </c:pt>
                <c:pt idx="9">
                  <c:v>137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E2A7-4A92-8487-68EAA3F90C37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50" b="0" i="0" u="none" strike="noStrike">
                <a:solidFill>
                  <a:srgbClr val="4B5563"/>
                </a:solidFill>
                <a:latin typeface="Rix고딕 L" panose="02020603020101020101" pitchFamily="18" charset="-127"/>
                <a:ea typeface="Rix고딕 L" panose="02020603020101020101" pitchFamily="18" charset="-127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b"/>
        <c:majorGridlines>
          <c:spPr>
            <a:ln w="6350" cap="flat">
              <a:solidFill>
                <a:srgbClr val="D1D9E6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9CA3AF"/>
                </a:solidFill>
                <a:latin typeface="Rix고딕 L" panose="02020603020101020101" pitchFamily="18" charset="-127"/>
                <a:ea typeface="Rix고딕 L" panose="02020603020101020101" pitchFamily="18" charset="-127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layout>
        <c:manualLayout>
          <c:xMode val="edge"/>
          <c:yMode val="edge"/>
          <c:x val="0.76096720637658255"/>
          <c:y val="0.13322871075728415"/>
          <c:w val="0.1740737755784621"/>
          <c:h val="0.16193502812799018"/>
        </c:manualLayout>
      </c:layout>
      <c:overlay val="0"/>
      <c:txPr>
        <a:bodyPr/>
        <a:lstStyle/>
        <a:p>
          <a:pPr>
            <a:defRPr sz="900">
              <a:latin typeface="Rix고딕 L" panose="02020603020101020101" pitchFamily="18" charset="-127"/>
              <a:ea typeface="Rix고딕 L" panose="02020603020101020101" pitchFamily="18" charset="-127"/>
            </a:defRPr>
          </a:pPr>
          <a:endParaRPr lang="en-US"/>
        </a:p>
      </c:txPr>
    </c:legend>
    <c:plotVisOnly val="1"/>
    <c:dispBlanksAs val="span"/>
    <c:showDLblsOverMax val="1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ko-KR"/>
  <c:roundedCorners val="1"/>
  <c:style val="2"/>
  <c:chart>
    <c:autoTitleDeleted val="1"/>
    <c:plotArea>
      <c:layout>
        <c:manualLayout>
          <c:layoutTarget val="inner"/>
          <c:xMode val="edge"/>
          <c:yMode val="edge"/>
          <c:x val="0.2035430277320707"/>
          <c:y val="4.6811647622558052E-2"/>
          <c:w val="0.75212767887753829"/>
          <c:h val="0.81237141038099392"/>
        </c:manualLayout>
      </c:layout>
      <c:barChart>
        <c:barDir val="bar"/>
        <c:grouping val="stacked"/>
        <c:varyColors val="0"/>
        <c:ser>
          <c:idx val="0"/>
          <c:order val="0"/>
          <c:tx>
            <c:strRef>
              <c:f>Sheet1!$C$1</c:f>
              <c:strCache>
                <c:ptCount val="1"/>
                <c:pt idx="0">
                  <c:v>3자테스트</c:v>
                </c:pt>
              </c:strCache>
            </c:strRef>
          </c:tx>
          <c:spPr>
            <a:solidFill>
              <a:srgbClr val="3B82C4"/>
            </a:solidFill>
            <a:effectLst/>
          </c:spPr>
          <c:invertIfNegative val="0"/>
          <c:cat>
            <c:strRef>
              <c:f>Sheet1!$A$2:$A$17</c:f>
              <c:strCache>
                <c:ptCount val="16"/>
                <c:pt idx="0">
                  <c:v>SLOT관리(SLOT)</c:v>
                </c:pt>
                <c:pt idx="1">
                  <c:v>자원배정엔진(RE)</c:v>
                </c:pt>
                <c:pt idx="2">
                  <c:v>모바일(MES)</c:v>
                </c:pt>
                <c:pt idx="3">
                  <c:v>모바일(WES)</c:v>
                </c:pt>
                <c:pt idx="4">
                  <c:v>자원배정차트(RC)</c:v>
                </c:pt>
                <c:pt idx="5">
                  <c:v>공항운영(GO)</c:v>
                </c:pt>
                <c:pt idx="6">
                  <c:v>항공통계포털(AS)</c:v>
                </c:pt>
                <c:pt idx="7">
                  <c:v>예측관리(PM)</c:v>
                </c:pt>
                <c:pt idx="8">
                  <c:v>항공보안(FS)</c:v>
                </c:pt>
                <c:pt idx="9">
                  <c:v>공통관리(AOMS-CA)</c:v>
                </c:pt>
                <c:pt idx="10">
                  <c:v>공통관리(FIMS-CA)</c:v>
                </c:pt>
                <c:pt idx="11">
                  <c:v>운항계획(FP)</c:v>
                </c:pt>
                <c:pt idx="12">
                  <c:v>자원배정(RS)</c:v>
                </c:pt>
                <c:pt idx="13">
                  <c:v>비상계획(CP)</c:v>
                </c:pt>
                <c:pt idx="14">
                  <c:v>항공기관제(AC)</c:v>
                </c:pt>
                <c:pt idx="15">
                  <c:v>A-CDM(CM)</c:v>
                </c:pt>
              </c:strCache>
            </c:strRef>
          </c:cat>
          <c:val>
            <c:numRef>
              <c:f>Sheet1!$C$2:$C$17</c:f>
              <c:numCache>
                <c:formatCode>General</c:formatCode>
                <c:ptCount val="16"/>
                <c:pt idx="0">
                  <c:v>78</c:v>
                </c:pt>
                <c:pt idx="1">
                  <c:v>3</c:v>
                </c:pt>
                <c:pt idx="2">
                  <c:v>75</c:v>
                </c:pt>
                <c:pt idx="3">
                  <c:v>103</c:v>
                </c:pt>
                <c:pt idx="4">
                  <c:v>17</c:v>
                </c:pt>
                <c:pt idx="5">
                  <c:v>168</c:v>
                </c:pt>
                <c:pt idx="6">
                  <c:v>45</c:v>
                </c:pt>
                <c:pt idx="7">
                  <c:v>60</c:v>
                </c:pt>
                <c:pt idx="8">
                  <c:v>68</c:v>
                </c:pt>
                <c:pt idx="9">
                  <c:v>49</c:v>
                </c:pt>
                <c:pt idx="10">
                  <c:v>56</c:v>
                </c:pt>
                <c:pt idx="11">
                  <c:v>50</c:v>
                </c:pt>
                <c:pt idx="12">
                  <c:v>66</c:v>
                </c:pt>
                <c:pt idx="13">
                  <c:v>3</c:v>
                </c:pt>
                <c:pt idx="14">
                  <c:v>15</c:v>
                </c:pt>
                <c:pt idx="15">
                  <c:v>26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2D14-49D6-BB3A-D8B70642A553}"/>
            </c:ext>
          </c:extLst>
        </c:ser>
        <c:ser>
          <c:idx val="1"/>
          <c:order val="1"/>
          <c:tx>
            <c:strRef>
              <c:f>Sheet1!$D$1</c:f>
              <c:strCache>
                <c:ptCount val="1"/>
                <c:pt idx="0">
                  <c:v>공사테스트</c:v>
                </c:pt>
              </c:strCache>
            </c:strRef>
          </c:tx>
          <c:spPr>
            <a:solidFill>
              <a:srgbClr val="E85D2F"/>
            </a:solidFill>
            <a:effectLst/>
          </c:spPr>
          <c:invertIfNegative val="0"/>
          <c:cat>
            <c:strRef>
              <c:f>Sheet1!$A$2:$A$17</c:f>
              <c:strCache>
                <c:ptCount val="16"/>
                <c:pt idx="0">
                  <c:v>SLOT관리(SLOT)</c:v>
                </c:pt>
                <c:pt idx="1">
                  <c:v>자원배정엔진(RE)</c:v>
                </c:pt>
                <c:pt idx="2">
                  <c:v>모바일(MES)</c:v>
                </c:pt>
                <c:pt idx="3">
                  <c:v>모바일(WES)</c:v>
                </c:pt>
                <c:pt idx="4">
                  <c:v>자원배정차트(RC)</c:v>
                </c:pt>
                <c:pt idx="5">
                  <c:v>공항운영(GO)</c:v>
                </c:pt>
                <c:pt idx="6">
                  <c:v>항공통계포털(AS)</c:v>
                </c:pt>
                <c:pt idx="7">
                  <c:v>예측관리(PM)</c:v>
                </c:pt>
                <c:pt idx="8">
                  <c:v>항공보안(FS)</c:v>
                </c:pt>
                <c:pt idx="9">
                  <c:v>공통관리(AOMS-CA)</c:v>
                </c:pt>
                <c:pt idx="10">
                  <c:v>공통관리(FIMS-CA)</c:v>
                </c:pt>
                <c:pt idx="11">
                  <c:v>운항계획(FP)</c:v>
                </c:pt>
                <c:pt idx="12">
                  <c:v>자원배정(RS)</c:v>
                </c:pt>
                <c:pt idx="13">
                  <c:v>비상계획(CP)</c:v>
                </c:pt>
                <c:pt idx="14">
                  <c:v>항공기관제(AC)</c:v>
                </c:pt>
                <c:pt idx="15">
                  <c:v>A-CDM(CM)</c:v>
                </c:pt>
              </c:strCache>
            </c:strRef>
          </c:cat>
          <c:val>
            <c:numRef>
              <c:f>Sheet1!$D$2:$D$17</c:f>
              <c:numCache>
                <c:formatCode>General</c:formatCode>
                <c:ptCount val="16"/>
                <c:pt idx="0">
                  <c:v>54</c:v>
                </c:pt>
                <c:pt idx="1">
                  <c:v>9</c:v>
                </c:pt>
                <c:pt idx="2">
                  <c:v>139</c:v>
                </c:pt>
                <c:pt idx="3">
                  <c:v>131</c:v>
                </c:pt>
                <c:pt idx="4">
                  <c:v>87</c:v>
                </c:pt>
                <c:pt idx="5">
                  <c:v>248</c:v>
                </c:pt>
                <c:pt idx="6">
                  <c:v>106</c:v>
                </c:pt>
                <c:pt idx="7">
                  <c:v>93</c:v>
                </c:pt>
                <c:pt idx="8">
                  <c:v>223</c:v>
                </c:pt>
                <c:pt idx="9">
                  <c:v>193</c:v>
                </c:pt>
                <c:pt idx="10">
                  <c:v>185</c:v>
                </c:pt>
                <c:pt idx="11">
                  <c:v>189</c:v>
                </c:pt>
                <c:pt idx="12">
                  <c:v>101</c:v>
                </c:pt>
                <c:pt idx="13">
                  <c:v>13</c:v>
                </c:pt>
                <c:pt idx="14">
                  <c:v>144</c:v>
                </c:pt>
                <c:pt idx="15">
                  <c:v>92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2D14-49D6-BB3A-D8B70642A553}"/>
            </c:ext>
          </c:extLst>
        </c:ser>
        <c:ser>
          <c:idx val="2"/>
          <c:order val="2"/>
          <c:tx>
            <c:strRef>
              <c:f>Sheet1!$E$1</c:f>
              <c:strCache>
                <c:ptCount val="1"/>
                <c:pt idx="0">
                  <c:v>현업테스트</c:v>
                </c:pt>
              </c:strCache>
            </c:strRef>
          </c:tx>
          <c:spPr>
            <a:solidFill>
              <a:srgbClr val="2563A8"/>
            </a:solidFill>
            <a:effectLst/>
          </c:spPr>
          <c:invertIfNegative val="0"/>
          <c:cat>
            <c:strRef>
              <c:f>Sheet1!$A$2:$A$17</c:f>
              <c:strCache>
                <c:ptCount val="16"/>
                <c:pt idx="0">
                  <c:v>SLOT관리(SLOT)</c:v>
                </c:pt>
                <c:pt idx="1">
                  <c:v>자원배정엔진(RE)</c:v>
                </c:pt>
                <c:pt idx="2">
                  <c:v>모바일(MES)</c:v>
                </c:pt>
                <c:pt idx="3">
                  <c:v>모바일(WES)</c:v>
                </c:pt>
                <c:pt idx="4">
                  <c:v>자원배정차트(RC)</c:v>
                </c:pt>
                <c:pt idx="5">
                  <c:v>공항운영(GO)</c:v>
                </c:pt>
                <c:pt idx="6">
                  <c:v>항공통계포털(AS)</c:v>
                </c:pt>
                <c:pt idx="7">
                  <c:v>예측관리(PM)</c:v>
                </c:pt>
                <c:pt idx="8">
                  <c:v>항공보안(FS)</c:v>
                </c:pt>
                <c:pt idx="9">
                  <c:v>공통관리(AOMS-CA)</c:v>
                </c:pt>
                <c:pt idx="10">
                  <c:v>공통관리(FIMS-CA)</c:v>
                </c:pt>
                <c:pt idx="11">
                  <c:v>운항계획(FP)</c:v>
                </c:pt>
                <c:pt idx="12">
                  <c:v>자원배정(RS)</c:v>
                </c:pt>
                <c:pt idx="13">
                  <c:v>비상계획(CP)</c:v>
                </c:pt>
                <c:pt idx="14">
                  <c:v>항공기관제(AC)</c:v>
                </c:pt>
                <c:pt idx="15">
                  <c:v>A-CDM(CM)</c:v>
                </c:pt>
              </c:strCache>
            </c:strRef>
          </c:cat>
          <c:val>
            <c:numRef>
              <c:f>Sheet1!$E$2:$E$17</c:f>
              <c:numCache>
                <c:formatCode>General</c:formatCode>
                <c:ptCount val="16"/>
                <c:pt idx="0">
                  <c:v>0</c:v>
                </c:pt>
                <c:pt idx="1">
                  <c:v>3</c:v>
                </c:pt>
                <c:pt idx="2">
                  <c:v>58</c:v>
                </c:pt>
                <c:pt idx="3">
                  <c:v>60</c:v>
                </c:pt>
                <c:pt idx="4">
                  <c:v>21</c:v>
                </c:pt>
                <c:pt idx="5">
                  <c:v>88</c:v>
                </c:pt>
                <c:pt idx="6">
                  <c:v>0</c:v>
                </c:pt>
                <c:pt idx="7">
                  <c:v>17</c:v>
                </c:pt>
                <c:pt idx="8">
                  <c:v>18</c:v>
                </c:pt>
                <c:pt idx="9">
                  <c:v>42</c:v>
                </c:pt>
                <c:pt idx="10">
                  <c:v>68</c:v>
                </c:pt>
                <c:pt idx="11">
                  <c:v>50</c:v>
                </c:pt>
                <c:pt idx="12">
                  <c:v>89</c:v>
                </c:pt>
                <c:pt idx="13">
                  <c:v>21</c:v>
                </c:pt>
                <c:pt idx="14">
                  <c:v>99</c:v>
                </c:pt>
                <c:pt idx="15">
                  <c:v>37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2D14-49D6-BB3A-D8B70642A553}"/>
            </c:ext>
          </c:extLst>
        </c:ser>
        <c:ser>
          <c:idx val="3"/>
          <c:order val="3"/>
          <c:tx>
            <c:strRef>
              <c:f>Sheet1!$F$1</c:f>
              <c:strCache>
                <c:ptCount val="1"/>
                <c:pt idx="0">
                  <c:v>감리테스트</c:v>
                </c:pt>
              </c:strCache>
            </c:strRef>
          </c:tx>
          <c:spPr>
            <a:solidFill>
              <a:srgbClr val="1B3A6B"/>
            </a:solidFill>
            <a:effectLst/>
          </c:spPr>
          <c:invertIfNegative val="0"/>
          <c:cat>
            <c:strRef>
              <c:f>Sheet1!$A$2:$A$17</c:f>
              <c:strCache>
                <c:ptCount val="16"/>
                <c:pt idx="0">
                  <c:v>SLOT관리(SLOT)</c:v>
                </c:pt>
                <c:pt idx="1">
                  <c:v>자원배정엔진(RE)</c:v>
                </c:pt>
                <c:pt idx="2">
                  <c:v>모바일(MES)</c:v>
                </c:pt>
                <c:pt idx="3">
                  <c:v>모바일(WES)</c:v>
                </c:pt>
                <c:pt idx="4">
                  <c:v>자원배정차트(RC)</c:v>
                </c:pt>
                <c:pt idx="5">
                  <c:v>공항운영(GO)</c:v>
                </c:pt>
                <c:pt idx="6">
                  <c:v>항공통계포털(AS)</c:v>
                </c:pt>
                <c:pt idx="7">
                  <c:v>예측관리(PM)</c:v>
                </c:pt>
                <c:pt idx="8">
                  <c:v>항공보안(FS)</c:v>
                </c:pt>
                <c:pt idx="9">
                  <c:v>공통관리(AOMS-CA)</c:v>
                </c:pt>
                <c:pt idx="10">
                  <c:v>공통관리(FIMS-CA)</c:v>
                </c:pt>
                <c:pt idx="11">
                  <c:v>운항계획(FP)</c:v>
                </c:pt>
                <c:pt idx="12">
                  <c:v>자원배정(RS)</c:v>
                </c:pt>
                <c:pt idx="13">
                  <c:v>비상계획(CP)</c:v>
                </c:pt>
                <c:pt idx="14">
                  <c:v>항공기관제(AC)</c:v>
                </c:pt>
                <c:pt idx="15">
                  <c:v>A-CDM(CM)</c:v>
                </c:pt>
              </c:strCache>
            </c:strRef>
          </c:cat>
          <c:val>
            <c:numRef>
              <c:f>Sheet1!$F$2:$F$17</c:f>
              <c:numCache>
                <c:formatCode>General</c:formatCode>
                <c:ptCount val="16"/>
                <c:pt idx="0">
                  <c:v>18</c:v>
                </c:pt>
                <c:pt idx="1">
                  <c:v>2</c:v>
                </c:pt>
                <c:pt idx="2">
                  <c:v>9</c:v>
                </c:pt>
                <c:pt idx="3">
                  <c:v>18</c:v>
                </c:pt>
                <c:pt idx="4">
                  <c:v>17</c:v>
                </c:pt>
                <c:pt idx="5">
                  <c:v>115</c:v>
                </c:pt>
                <c:pt idx="6">
                  <c:v>49</c:v>
                </c:pt>
                <c:pt idx="7">
                  <c:v>38</c:v>
                </c:pt>
                <c:pt idx="8">
                  <c:v>20</c:v>
                </c:pt>
                <c:pt idx="9">
                  <c:v>16</c:v>
                </c:pt>
                <c:pt idx="10">
                  <c:v>30</c:v>
                </c:pt>
                <c:pt idx="11">
                  <c:v>16</c:v>
                </c:pt>
                <c:pt idx="12">
                  <c:v>36</c:v>
                </c:pt>
                <c:pt idx="13">
                  <c:v>0</c:v>
                </c:pt>
                <c:pt idx="14">
                  <c:v>7</c:v>
                </c:pt>
                <c:pt idx="15">
                  <c:v>40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3-2D14-49D6-BB3A-D8B70642A553}"/>
            </c:ext>
          </c:extLst>
        </c:ser>
        <c:ser>
          <c:idx val="4"/>
          <c:order val="4"/>
          <c:tx>
            <c:strRef>
              <c:f>Sheet1!$B$1</c:f>
              <c:strCache>
                <c:ptCount val="1"/>
                <c:pt idx="0">
                  <c:v>PL등</c:v>
                </c:pt>
              </c:strCache>
            </c:strRef>
          </c:tx>
          <c:spPr>
            <a:solidFill>
              <a:srgbClr val="9CA3AF"/>
            </a:solidFill>
            <a:effectLst/>
          </c:spPr>
          <c:invertIfNegative val="0"/>
          <c:cat>
            <c:strRef>
              <c:f>Sheet1!$A$2:$A$17</c:f>
              <c:strCache>
                <c:ptCount val="16"/>
                <c:pt idx="0">
                  <c:v>SLOT관리(SLOT)</c:v>
                </c:pt>
                <c:pt idx="1">
                  <c:v>자원배정엔진(RE)</c:v>
                </c:pt>
                <c:pt idx="2">
                  <c:v>모바일(MES)</c:v>
                </c:pt>
                <c:pt idx="3">
                  <c:v>모바일(WES)</c:v>
                </c:pt>
                <c:pt idx="4">
                  <c:v>자원배정차트(RC)</c:v>
                </c:pt>
                <c:pt idx="5">
                  <c:v>공항운영(GO)</c:v>
                </c:pt>
                <c:pt idx="6">
                  <c:v>항공통계포털(AS)</c:v>
                </c:pt>
                <c:pt idx="7">
                  <c:v>예측관리(PM)</c:v>
                </c:pt>
                <c:pt idx="8">
                  <c:v>항공보안(FS)</c:v>
                </c:pt>
                <c:pt idx="9">
                  <c:v>공통관리(AOMS-CA)</c:v>
                </c:pt>
                <c:pt idx="10">
                  <c:v>공통관리(FIMS-CA)</c:v>
                </c:pt>
                <c:pt idx="11">
                  <c:v>운항계획(FP)</c:v>
                </c:pt>
                <c:pt idx="12">
                  <c:v>자원배정(RS)</c:v>
                </c:pt>
                <c:pt idx="13">
                  <c:v>비상계획(CP)</c:v>
                </c:pt>
                <c:pt idx="14">
                  <c:v>항공기관제(AC)</c:v>
                </c:pt>
                <c:pt idx="15">
                  <c:v>A-CDM(CM)</c:v>
                </c:pt>
              </c:strCache>
            </c:strRef>
          </c:cat>
          <c:val>
            <c:numRef>
              <c:f>Sheet1!$B$2:$B$17</c:f>
              <c:numCache>
                <c:formatCode>General</c:formatCode>
                <c:ptCount val="16"/>
                <c:pt idx="0">
                  <c:v>16</c:v>
                </c:pt>
                <c:pt idx="1">
                  <c:v>0</c:v>
                </c:pt>
                <c:pt idx="2">
                  <c:v>6</c:v>
                </c:pt>
                <c:pt idx="3">
                  <c:v>0</c:v>
                </c:pt>
                <c:pt idx="4">
                  <c:v>3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  <c:pt idx="8">
                  <c:v>6</c:v>
                </c:pt>
                <c:pt idx="9">
                  <c:v>19</c:v>
                </c:pt>
                <c:pt idx="10">
                  <c:v>2</c:v>
                </c:pt>
                <c:pt idx="11">
                  <c:v>14</c:v>
                </c:pt>
                <c:pt idx="12">
                  <c:v>33</c:v>
                </c:pt>
                <c:pt idx="13">
                  <c:v>2</c:v>
                </c:pt>
                <c:pt idx="14">
                  <c:v>95</c:v>
                </c:pt>
                <c:pt idx="15">
                  <c:v>11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4-2D14-49D6-BB3A-D8B70642A553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50"/>
        <c:overlap val="100"/>
        <c:axId val="2094734554"/>
        <c:axId val="2094734552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4B5563"/>
                </a:solidFill>
                <a:latin typeface="Rix고딕 L" panose="02020603020101020101" pitchFamily="18" charset="-127"/>
                <a:ea typeface="Rix고딕 L" panose="02020603020101020101" pitchFamily="18" charset="-127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b"/>
        <c:majorGridlines>
          <c:spPr>
            <a:ln w="6350" cap="flat">
              <a:solidFill>
                <a:srgbClr val="D1D9E6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9CA3AF"/>
                </a:solidFill>
                <a:latin typeface="Rix고딕 L" panose="02020603020101020101" pitchFamily="18" charset="-127"/>
                <a:ea typeface="Rix고딕 L" panose="02020603020101020101" pitchFamily="18" charset="-127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layout>
        <c:manualLayout>
          <c:xMode val="edge"/>
          <c:yMode val="edge"/>
          <c:x val="0.83039497596757605"/>
          <c:y val="5.8602352310424564E-2"/>
          <c:w val="0.14211170182795399"/>
          <c:h val="0.45094393995241766"/>
        </c:manualLayout>
      </c:layout>
      <c:overlay val="0"/>
      <c:txPr>
        <a:bodyPr/>
        <a:lstStyle/>
        <a:p>
          <a:pPr>
            <a:defRPr sz="850">
              <a:latin typeface="Rix고딕 L" panose="02020603020101020101" pitchFamily="18" charset="-127"/>
              <a:ea typeface="Rix고딕 L" panose="02020603020101020101" pitchFamily="18" charset="-127"/>
            </a:defRPr>
          </a:pPr>
          <a:endParaRPr lang="en-US"/>
        </a:p>
      </c:txPr>
    </c:legend>
    <c:plotVisOnly val="1"/>
    <c:dispBlanksAs val="span"/>
    <c:showDLblsOverMax val="1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ko-KR"/>
  <c:roundedCorners val="1"/>
  <c:style val="2"/>
  <c:chart>
    <c:title>
      <c:tx>
        <c:rich>
          <a:bodyPr/>
          <a:lstStyle/>
          <a:p>
            <a:pPr>
              <a:defRPr sz="1050" b="1" i="0" u="none" strike="noStrike">
                <a:solidFill>
                  <a:srgbClr val="1B3A6B"/>
                </a:solidFill>
                <a:latin typeface="Rix고딕 L" panose="02020603020101020101" pitchFamily="18" charset="-127"/>
                <a:ea typeface="Rix고딕 L" panose="02020603020101020101" pitchFamily="18" charset="-127"/>
              </a:defRPr>
            </a:pPr>
            <a:r>
              <a:rPr lang="ko-KR" altLang="en-US" sz="1050" b="1" i="0" u="none" strike="noStrike">
                <a:solidFill>
                  <a:srgbClr val="1B3A6B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모듈별 결함 유형 누적 분포 </a:t>
            </a:r>
            <a:r>
              <a:rPr lang="en-US" altLang="ko-KR" sz="1050" b="1" i="0" u="none" strike="noStrike">
                <a:solidFill>
                  <a:srgbClr val="1B3A6B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(</a:t>
            </a:r>
            <a:r>
              <a:rPr lang="ko-KR" altLang="en-US" sz="1050" b="1" i="0" u="none" strike="noStrike">
                <a:solidFill>
                  <a:srgbClr val="1B3A6B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기능</a:t>
            </a:r>
            <a:r>
              <a:rPr lang="en-US" altLang="ko-KR" sz="1050" b="1" i="0" u="none" strike="noStrike">
                <a:solidFill>
                  <a:srgbClr val="1B3A6B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·UI·</a:t>
            </a:r>
            <a:r>
              <a:rPr lang="ko-KR" altLang="en-US" sz="1050" b="1" i="0" u="none" strike="noStrike">
                <a:solidFill>
                  <a:srgbClr val="1B3A6B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데이터</a:t>
            </a:r>
            <a:r>
              <a:rPr lang="en-US" altLang="ko-KR" sz="1050" b="1" i="0" u="none" strike="noStrike">
                <a:solidFill>
                  <a:srgbClr val="1B3A6B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·</a:t>
            </a:r>
            <a:r>
              <a:rPr lang="ko-KR" altLang="en-US" sz="1050" b="1" i="0" u="none" strike="noStrike">
                <a:solidFill>
                  <a:srgbClr val="1B3A6B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기타</a:t>
            </a:r>
            <a:r>
              <a:rPr lang="en-US" altLang="ko-KR" sz="1050" b="1" i="0" u="none" strike="noStrike">
                <a:solidFill>
                  <a:srgbClr val="1B3A6B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)</a:t>
            </a:r>
          </a:p>
        </c:rich>
      </c:tx>
      <c:overlay val="0"/>
    </c:title>
    <c:autoTitleDeleted val="0"/>
    <c:plotArea>
      <c:layout>
        <c:manualLayout>
          <c:layoutTarget val="inner"/>
          <c:xMode val="edge"/>
          <c:yMode val="edge"/>
          <c:x val="0.20730545512176252"/>
          <c:y val="0.10546522131887985"/>
          <c:w val="0.74450102424421993"/>
          <c:h val="0.7378268095891809"/>
        </c:manualLayout>
      </c:layout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기능</c:v>
                </c:pt>
              </c:strCache>
            </c:strRef>
          </c:tx>
          <c:spPr>
            <a:solidFill>
              <a:srgbClr val="1B3A6B"/>
            </a:solidFill>
            <a:effectLst/>
          </c:spPr>
          <c:invertIfNegative val="0"/>
          <c:cat>
            <c:strRef>
              <c:f>Sheet1!$A$2:$A$14</c:f>
              <c:strCache>
                <c:ptCount val="13"/>
                <c:pt idx="0">
                  <c:v>공항운영(GO)</c:v>
                </c:pt>
                <c:pt idx="1">
                  <c:v>항공기관제(AC)</c:v>
                </c:pt>
                <c:pt idx="2">
                  <c:v>공통관리(FIMS-CA)</c:v>
                </c:pt>
                <c:pt idx="3">
                  <c:v>모바일(WES)</c:v>
                </c:pt>
                <c:pt idx="4">
                  <c:v>운항계획(FP)</c:v>
                </c:pt>
                <c:pt idx="5">
                  <c:v>자원배정(RS)</c:v>
                </c:pt>
                <c:pt idx="6">
                  <c:v>항공보안(FS)</c:v>
                </c:pt>
                <c:pt idx="7">
                  <c:v>공통관리(AOMS-CA)</c:v>
                </c:pt>
                <c:pt idx="8">
                  <c:v>모바일(MES)</c:v>
                </c:pt>
                <c:pt idx="9">
                  <c:v>예측관리(PM)</c:v>
                </c:pt>
                <c:pt idx="10">
                  <c:v>항공통계포털(AS)</c:v>
                </c:pt>
                <c:pt idx="11">
                  <c:v>자원배정차트(RC)</c:v>
                </c:pt>
                <c:pt idx="12">
                  <c:v>A-CDM(CM)</c:v>
                </c:pt>
              </c:strCache>
            </c:strRef>
          </c:cat>
          <c:val>
            <c:numRef>
              <c:f>Sheet1!$B$2:$B$14</c:f>
              <c:numCache>
                <c:formatCode>General</c:formatCode>
                <c:ptCount val="13"/>
                <c:pt idx="0">
                  <c:v>32</c:v>
                </c:pt>
                <c:pt idx="1">
                  <c:v>75</c:v>
                </c:pt>
                <c:pt idx="2">
                  <c:v>109</c:v>
                </c:pt>
                <c:pt idx="3">
                  <c:v>47</c:v>
                </c:pt>
                <c:pt idx="4">
                  <c:v>23</c:v>
                </c:pt>
                <c:pt idx="5">
                  <c:v>34</c:v>
                </c:pt>
                <c:pt idx="6">
                  <c:v>132</c:v>
                </c:pt>
                <c:pt idx="7">
                  <c:v>106</c:v>
                </c:pt>
                <c:pt idx="8">
                  <c:v>103</c:v>
                </c:pt>
                <c:pt idx="9">
                  <c:v>9</c:v>
                </c:pt>
                <c:pt idx="10">
                  <c:v>18</c:v>
                </c:pt>
                <c:pt idx="11">
                  <c:v>17</c:v>
                </c:pt>
                <c:pt idx="12">
                  <c:v>39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092B-4754-AB04-B7155021C7EC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UI</c:v>
                </c:pt>
              </c:strCache>
            </c:strRef>
          </c:tx>
          <c:spPr>
            <a:solidFill>
              <a:srgbClr val="2563A8"/>
            </a:solidFill>
            <a:effectLst/>
          </c:spPr>
          <c:invertIfNegative val="0"/>
          <c:cat>
            <c:strRef>
              <c:f>Sheet1!$A$2:$A$14</c:f>
              <c:strCache>
                <c:ptCount val="13"/>
                <c:pt idx="0">
                  <c:v>공항운영(GO)</c:v>
                </c:pt>
                <c:pt idx="1">
                  <c:v>항공기관제(AC)</c:v>
                </c:pt>
                <c:pt idx="2">
                  <c:v>공통관리(FIMS-CA)</c:v>
                </c:pt>
                <c:pt idx="3">
                  <c:v>모바일(WES)</c:v>
                </c:pt>
                <c:pt idx="4">
                  <c:v>운항계획(FP)</c:v>
                </c:pt>
                <c:pt idx="5">
                  <c:v>자원배정(RS)</c:v>
                </c:pt>
                <c:pt idx="6">
                  <c:v>항공보안(FS)</c:v>
                </c:pt>
                <c:pt idx="7">
                  <c:v>공통관리(AOMS-CA)</c:v>
                </c:pt>
                <c:pt idx="8">
                  <c:v>모바일(MES)</c:v>
                </c:pt>
                <c:pt idx="9">
                  <c:v>예측관리(PM)</c:v>
                </c:pt>
                <c:pt idx="10">
                  <c:v>항공통계포털(AS)</c:v>
                </c:pt>
                <c:pt idx="11">
                  <c:v>자원배정차트(RC)</c:v>
                </c:pt>
                <c:pt idx="12">
                  <c:v>A-CDM(CM)</c:v>
                </c:pt>
              </c:strCache>
            </c:strRef>
          </c:cat>
          <c:val>
            <c:numRef>
              <c:f>Sheet1!$C$2:$C$14</c:f>
              <c:numCache>
                <c:formatCode>General</c:formatCode>
                <c:ptCount val="13"/>
                <c:pt idx="0">
                  <c:v>366</c:v>
                </c:pt>
                <c:pt idx="1">
                  <c:v>265</c:v>
                </c:pt>
                <c:pt idx="2">
                  <c:v>124</c:v>
                </c:pt>
                <c:pt idx="3">
                  <c:v>135</c:v>
                </c:pt>
                <c:pt idx="4">
                  <c:v>233</c:v>
                </c:pt>
                <c:pt idx="5">
                  <c:v>240</c:v>
                </c:pt>
                <c:pt idx="6">
                  <c:v>108</c:v>
                </c:pt>
                <c:pt idx="7">
                  <c:v>133</c:v>
                </c:pt>
                <c:pt idx="8">
                  <c:v>129</c:v>
                </c:pt>
                <c:pt idx="9">
                  <c:v>153</c:v>
                </c:pt>
                <c:pt idx="10">
                  <c:v>157</c:v>
                </c:pt>
                <c:pt idx="11">
                  <c:v>115</c:v>
                </c:pt>
                <c:pt idx="12">
                  <c:v>126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092B-4754-AB04-B7155021C7EC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데이터</c:v>
                </c:pt>
              </c:strCache>
            </c:strRef>
          </c:tx>
          <c:spPr>
            <a:solidFill>
              <a:srgbClr val="E85D2F"/>
            </a:solidFill>
            <a:effectLst/>
          </c:spPr>
          <c:invertIfNegative val="0"/>
          <c:cat>
            <c:strRef>
              <c:f>Sheet1!$A$2:$A$14</c:f>
              <c:strCache>
                <c:ptCount val="13"/>
                <c:pt idx="0">
                  <c:v>공항운영(GO)</c:v>
                </c:pt>
                <c:pt idx="1">
                  <c:v>항공기관제(AC)</c:v>
                </c:pt>
                <c:pt idx="2">
                  <c:v>공통관리(FIMS-CA)</c:v>
                </c:pt>
                <c:pt idx="3">
                  <c:v>모바일(WES)</c:v>
                </c:pt>
                <c:pt idx="4">
                  <c:v>운항계획(FP)</c:v>
                </c:pt>
                <c:pt idx="5">
                  <c:v>자원배정(RS)</c:v>
                </c:pt>
                <c:pt idx="6">
                  <c:v>항공보안(FS)</c:v>
                </c:pt>
                <c:pt idx="7">
                  <c:v>공통관리(AOMS-CA)</c:v>
                </c:pt>
                <c:pt idx="8">
                  <c:v>모바일(MES)</c:v>
                </c:pt>
                <c:pt idx="9">
                  <c:v>예측관리(PM)</c:v>
                </c:pt>
                <c:pt idx="10">
                  <c:v>항공통계포털(AS)</c:v>
                </c:pt>
                <c:pt idx="11">
                  <c:v>자원배정차트(RC)</c:v>
                </c:pt>
                <c:pt idx="12">
                  <c:v>A-CDM(CM)</c:v>
                </c:pt>
              </c:strCache>
            </c:strRef>
          </c:cat>
          <c:val>
            <c:numRef>
              <c:f>Sheet1!$D$2:$D$14</c:f>
              <c:numCache>
                <c:formatCode>General</c:formatCode>
                <c:ptCount val="13"/>
                <c:pt idx="0">
                  <c:v>138</c:v>
                </c:pt>
                <c:pt idx="1">
                  <c:v>1</c:v>
                </c:pt>
                <c:pt idx="2">
                  <c:v>7</c:v>
                </c:pt>
                <c:pt idx="3">
                  <c:v>27</c:v>
                </c:pt>
                <c:pt idx="4">
                  <c:v>23</c:v>
                </c:pt>
                <c:pt idx="5">
                  <c:v>17</c:v>
                </c:pt>
                <c:pt idx="6">
                  <c:v>39</c:v>
                </c:pt>
                <c:pt idx="7">
                  <c:v>4</c:v>
                </c:pt>
                <c:pt idx="8">
                  <c:v>25</c:v>
                </c:pt>
                <c:pt idx="9">
                  <c:v>9</c:v>
                </c:pt>
                <c:pt idx="10">
                  <c:v>17</c:v>
                </c:pt>
                <c:pt idx="11">
                  <c:v>3</c:v>
                </c:pt>
                <c:pt idx="12">
                  <c:v>10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092B-4754-AB04-B7155021C7EC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기타합</c:v>
                </c:pt>
              </c:strCache>
            </c:strRef>
          </c:tx>
          <c:spPr>
            <a:solidFill>
              <a:srgbClr val="9CA3AF"/>
            </a:solidFill>
            <a:effectLst/>
          </c:spPr>
          <c:invertIfNegative val="0"/>
          <c:cat>
            <c:strRef>
              <c:f>Sheet1!$A$2:$A$14</c:f>
              <c:strCache>
                <c:ptCount val="13"/>
                <c:pt idx="0">
                  <c:v>공항운영(GO)</c:v>
                </c:pt>
                <c:pt idx="1">
                  <c:v>항공기관제(AC)</c:v>
                </c:pt>
                <c:pt idx="2">
                  <c:v>공통관리(FIMS-CA)</c:v>
                </c:pt>
                <c:pt idx="3">
                  <c:v>모바일(WES)</c:v>
                </c:pt>
                <c:pt idx="4">
                  <c:v>운항계획(FP)</c:v>
                </c:pt>
                <c:pt idx="5">
                  <c:v>자원배정(RS)</c:v>
                </c:pt>
                <c:pt idx="6">
                  <c:v>항공보안(FS)</c:v>
                </c:pt>
                <c:pt idx="7">
                  <c:v>공통관리(AOMS-CA)</c:v>
                </c:pt>
                <c:pt idx="8">
                  <c:v>모바일(MES)</c:v>
                </c:pt>
                <c:pt idx="9">
                  <c:v>예측관리(PM)</c:v>
                </c:pt>
                <c:pt idx="10">
                  <c:v>항공통계포털(AS)</c:v>
                </c:pt>
                <c:pt idx="11">
                  <c:v>자원배정차트(RC)</c:v>
                </c:pt>
                <c:pt idx="12">
                  <c:v>A-CDM(CM)</c:v>
                </c:pt>
              </c:strCache>
            </c:strRef>
          </c:cat>
          <c:val>
            <c:numRef>
              <c:f>Sheet1!$E$2:$E$14</c:f>
              <c:numCache>
                <c:formatCode>General</c:formatCode>
                <c:ptCount val="13"/>
                <c:pt idx="0">
                  <c:v>83</c:v>
                </c:pt>
                <c:pt idx="1">
                  <c:v>19</c:v>
                </c:pt>
                <c:pt idx="2">
                  <c:v>101</c:v>
                </c:pt>
                <c:pt idx="3">
                  <c:v>103</c:v>
                </c:pt>
                <c:pt idx="4">
                  <c:v>40</c:v>
                </c:pt>
                <c:pt idx="5">
                  <c:v>34</c:v>
                </c:pt>
                <c:pt idx="6">
                  <c:v>56</c:v>
                </c:pt>
                <c:pt idx="7">
                  <c:v>76</c:v>
                </c:pt>
                <c:pt idx="8">
                  <c:v>30</c:v>
                </c:pt>
                <c:pt idx="9">
                  <c:v>37</c:v>
                </c:pt>
                <c:pt idx="10">
                  <c:v>8</c:v>
                </c:pt>
                <c:pt idx="11">
                  <c:v>10</c:v>
                </c:pt>
                <c:pt idx="12">
                  <c:v>31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3-092B-4754-AB04-B7155021C7EC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50"/>
        <c:overlap val="100"/>
        <c:axId val="2094734554"/>
        <c:axId val="2094734552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4B5563"/>
                </a:solidFill>
                <a:latin typeface="Rix고딕 L" panose="02020603020101020101" pitchFamily="18" charset="-127"/>
                <a:ea typeface="Rix고딕 L" panose="02020603020101020101" pitchFamily="18" charset="-127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b"/>
        <c:majorGridlines>
          <c:spPr>
            <a:ln w="6350" cap="flat">
              <a:solidFill>
                <a:srgbClr val="D1D9E6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9CA3AF"/>
                </a:solidFill>
                <a:latin typeface="Rix고딕 L" panose="02020603020101020101" pitchFamily="18" charset="-127"/>
                <a:ea typeface="Rix고딕 L" panose="02020603020101020101" pitchFamily="18" charset="-127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layout>
        <c:manualLayout>
          <c:xMode val="edge"/>
          <c:yMode val="edge"/>
          <c:x val="0.33579657259632373"/>
          <c:y val="0.90288713910761154"/>
          <c:w val="0.32840665793196183"/>
          <c:h val="5.9473595610846745E-2"/>
        </c:manualLayout>
      </c:layout>
      <c:overlay val="0"/>
      <c:txPr>
        <a:bodyPr/>
        <a:lstStyle/>
        <a:p>
          <a:pPr>
            <a:defRPr sz="900">
              <a:latin typeface="Rix고딕 L" panose="02020603020101020101" pitchFamily="18" charset="-127"/>
              <a:ea typeface="Rix고딕 L" panose="02020603020101020101" pitchFamily="18" charset="-127"/>
            </a:defRPr>
          </a:pPr>
          <a:endParaRPr lang="en-US"/>
        </a:p>
      </c:txPr>
    </c:legend>
    <c:plotVisOnly val="1"/>
    <c:dispBlanksAs val="span"/>
    <c:showDLblsOverMax val="1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ko-KR"/>
  <c:roundedCorners val="1"/>
  <c:style val="2"/>
  <c:chart>
    <c:title>
      <c:tx>
        <c:rich>
          <a:bodyPr/>
          <a:lstStyle/>
          <a:p>
            <a:pPr>
              <a:defRPr sz="1100" b="1" i="0" u="none" strike="noStrike">
                <a:solidFill>
                  <a:srgbClr val="1B3A6B"/>
                </a:solidFill>
                <a:latin typeface="Rix고딕 L" panose="02020603020101020101" pitchFamily="18" charset="-127"/>
                <a:ea typeface="Rix고딕 L" panose="02020603020101020101" pitchFamily="18" charset="-127"/>
              </a:defRPr>
            </a:pPr>
            <a:r>
              <a:rPr lang="ko-KR" altLang="en-US" sz="1100" b="1" i="0" u="none" strike="noStrike" dirty="0">
                <a:solidFill>
                  <a:srgbClr val="1B3A6B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결함 유형 분포 </a:t>
            </a:r>
            <a:r>
              <a:rPr lang="en-US" altLang="ko-KR" sz="1100" b="1" i="0" u="none" strike="noStrike" dirty="0">
                <a:solidFill>
                  <a:srgbClr val="1B3A6B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(4,648</a:t>
            </a:r>
            <a:r>
              <a:rPr lang="ko-KR" altLang="en-US" sz="1100" b="1" i="0" u="none" strike="noStrike" dirty="0">
                <a:solidFill>
                  <a:srgbClr val="1B3A6B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건</a:t>
            </a:r>
            <a:r>
              <a:rPr lang="en-US" altLang="ko-KR" sz="1100" b="1" i="0" u="none" strike="noStrike" dirty="0">
                <a:solidFill>
                  <a:srgbClr val="1B3A6B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)</a:t>
            </a:r>
          </a:p>
        </c:rich>
      </c:tx>
      <c:overlay val="0"/>
    </c:title>
    <c:autoTitleDeleted val="0"/>
    <c:plotArea>
      <c:layout/>
      <c:pie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결함유형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1B3A6B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1-E944-4983-A097-4FF4EE05D8F0}"/>
              </c:ext>
            </c:extLst>
          </c:dPt>
          <c:dPt>
            <c:idx val="1"/>
            <c:bubble3D val="0"/>
            <c:spPr>
              <a:solidFill>
                <a:srgbClr val="2563A8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3-E944-4983-A097-4FF4EE05D8F0}"/>
              </c:ext>
            </c:extLst>
          </c:dPt>
          <c:dPt>
            <c:idx val="2"/>
            <c:bubble3D val="0"/>
            <c:spPr>
              <a:solidFill>
                <a:srgbClr val="E85D2F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5-E944-4983-A097-4FF4EE05D8F0}"/>
              </c:ext>
            </c:extLst>
          </c:dPt>
          <c:dPt>
            <c:idx val="3"/>
            <c:bubble3D val="0"/>
            <c:spPr>
              <a:solidFill>
                <a:srgbClr val="D97706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7-E944-4983-A097-4FF4EE05D8F0}"/>
              </c:ext>
            </c:extLst>
          </c:dPt>
          <c:dPt>
            <c:idx val="4"/>
            <c:bubble3D val="0"/>
            <c:spPr>
              <a:solidFill>
                <a:srgbClr val="9CA3AF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9-E944-4983-A097-4FF4EE05D8F0}"/>
              </c:ext>
            </c:extLst>
          </c:dPt>
          <c:dPt>
            <c:idx val="5"/>
            <c:bubble3D val="0"/>
            <c:spPr>
              <a:solidFill>
                <a:srgbClr val="3B82C4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B-E944-4983-A097-4FF4EE05D8F0}"/>
              </c:ext>
            </c:extLst>
          </c:dPt>
          <c:dLbls>
            <c:dLbl>
              <c:idx val="0"/>
              <c:tx>
                <c:rich>
                  <a:bodyPr/>
                  <a:lstStyle/>
                  <a:p>
                    <a:pPr>
                      <a:defRPr sz="1000" b="0" i="0" u="none" strike="noStrike">
                        <a:solidFill>
                          <a:srgbClr val="000000"/>
                        </a:solidFill>
                        <a:latin typeface="Rix고딕 L" panose="02020603020101020101" pitchFamily="18" charset="-127"/>
                        <a:ea typeface="Rix고딕 L" panose="02020603020101020101" pitchFamily="18" charset="-127"/>
                      </a:defRPr>
                    </a:pPr>
                    <a:fld id="{DADBAE53-563A-4567-87C0-5013A1F1B744}" type="PERCENTAGE">
                      <a:rPr lang="en-US" altLang="ko-KR" sz="1000">
                        <a:latin typeface="Rix고딕 L" panose="02020603020101020101" pitchFamily="18" charset="-127"/>
                        <a:ea typeface="Rix고딕 L" panose="02020603020101020101" pitchFamily="18" charset="-127"/>
                      </a:rPr>
                      <a:pPr>
                        <a:defRPr sz="1000" b="0" i="0" u="none" strike="noStrike">
                          <a:solidFill>
                            <a:srgbClr val="000000"/>
                          </a:solidFill>
                          <a:latin typeface="Rix고딕 L" panose="02020603020101020101" pitchFamily="18" charset="-127"/>
                          <a:ea typeface="Rix고딕 L" panose="02020603020101020101" pitchFamily="18" charset="-127"/>
                        </a:defRPr>
                      </a:pPr>
                      <a:t>[백분율]</a:t>
                    </a:fld>
                    <a:endParaRPr lang="ko-KR" altLang="en-US"/>
                  </a:p>
                </c:rich>
              </c:tx>
              <c:numFmt formatCode="0%" sourceLinked="0"/>
              <c:spPr/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>
                  <c15:dlblFieldTable/>
                  <c15:showDataLabelsRange val="0"/>
                </c:ext>
                <c:ext xmlns:c16="http://schemas.microsoft.com/office/drawing/2014/chart" uri="{C3380CC4-5D6E-409C-BE32-E72D297353CC}">
                  <c16:uniqueId val="{00000001-E944-4983-A097-4FF4EE05D8F0}"/>
                </c:ext>
              </c:extLst>
            </c:dLbl>
            <c:dLbl>
              <c:idx val="1"/>
              <c:tx>
                <c:rich>
                  <a:bodyPr/>
                  <a:lstStyle/>
                  <a:p>
                    <a:pPr>
                      <a:defRPr sz="1000" b="0" i="0" u="none" strike="noStrike">
                        <a:solidFill>
                          <a:srgbClr val="000000"/>
                        </a:solidFill>
                        <a:latin typeface="Rix고딕 L" panose="02020603020101020101" pitchFamily="18" charset="-127"/>
                        <a:ea typeface="Rix고딕 L" panose="02020603020101020101" pitchFamily="18" charset="-127"/>
                      </a:defRPr>
                    </a:pPr>
                    <a:fld id="{8570643C-C1A7-4D44-9640-8513AA2BDDA9}" type="PERCENTAGE">
                      <a:rPr lang="en-US" altLang="ko-KR" sz="1000">
                        <a:latin typeface="Rix고딕 L" panose="02020603020101020101" pitchFamily="18" charset="-127"/>
                        <a:ea typeface="Rix고딕 L" panose="02020603020101020101" pitchFamily="18" charset="-127"/>
                      </a:rPr>
                      <a:pPr>
                        <a:defRPr sz="1000" b="0" i="0" u="none" strike="noStrike">
                          <a:solidFill>
                            <a:srgbClr val="000000"/>
                          </a:solidFill>
                          <a:latin typeface="Rix고딕 L" panose="02020603020101020101" pitchFamily="18" charset="-127"/>
                          <a:ea typeface="Rix고딕 L" panose="02020603020101020101" pitchFamily="18" charset="-127"/>
                        </a:defRPr>
                      </a:pPr>
                      <a:t>[백분율]</a:t>
                    </a:fld>
                    <a:endParaRPr lang="ko-KR" altLang="en-US"/>
                  </a:p>
                </c:rich>
              </c:tx>
              <c:numFmt formatCode="0%" sourceLinked="0"/>
              <c:spPr/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>
                  <c15:dlblFieldTable/>
                  <c15:showDataLabelsRange val="0"/>
                </c:ext>
                <c:ext xmlns:c16="http://schemas.microsoft.com/office/drawing/2014/chart" uri="{C3380CC4-5D6E-409C-BE32-E72D297353CC}">
                  <c16:uniqueId val="{00000003-E944-4983-A097-4FF4EE05D8F0}"/>
                </c:ext>
              </c:extLst>
            </c:dLbl>
            <c:dLbl>
              <c:idx val="2"/>
              <c:tx>
                <c:rich>
                  <a:bodyPr/>
                  <a:lstStyle/>
                  <a:p>
                    <a:pPr>
                      <a:defRPr sz="1000" b="0" i="0" u="none" strike="noStrike">
                        <a:solidFill>
                          <a:srgbClr val="000000"/>
                        </a:solidFill>
                        <a:latin typeface="Rix고딕 L" panose="02020603020101020101" pitchFamily="18" charset="-127"/>
                        <a:ea typeface="Rix고딕 L" panose="02020603020101020101" pitchFamily="18" charset="-127"/>
                      </a:defRPr>
                    </a:pPr>
                    <a:fld id="{FB0604CC-7C9C-4FBB-8418-494A16786863}" type="PERCENTAGE">
                      <a:rPr lang="en-US" altLang="ko-KR" sz="1000">
                        <a:latin typeface="Rix고딕 L" panose="02020603020101020101" pitchFamily="18" charset="-127"/>
                        <a:ea typeface="Rix고딕 L" panose="02020603020101020101" pitchFamily="18" charset="-127"/>
                      </a:rPr>
                      <a:pPr>
                        <a:defRPr sz="1000" b="0" i="0" u="none" strike="noStrike">
                          <a:solidFill>
                            <a:srgbClr val="000000"/>
                          </a:solidFill>
                          <a:latin typeface="Rix고딕 L" panose="02020603020101020101" pitchFamily="18" charset="-127"/>
                          <a:ea typeface="Rix고딕 L" panose="02020603020101020101" pitchFamily="18" charset="-127"/>
                        </a:defRPr>
                      </a:pPr>
                      <a:t>[백분율]</a:t>
                    </a:fld>
                    <a:endParaRPr lang="ko-KR" altLang="en-US"/>
                  </a:p>
                </c:rich>
              </c:tx>
              <c:numFmt formatCode="0%" sourceLinked="0"/>
              <c:spPr/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>
                  <c15:dlblFieldTable/>
                  <c15:showDataLabelsRange val="0"/>
                </c:ext>
                <c:ext xmlns:c16="http://schemas.microsoft.com/office/drawing/2014/chart" uri="{C3380CC4-5D6E-409C-BE32-E72D297353CC}">
                  <c16:uniqueId val="{00000005-E944-4983-A097-4FF4EE05D8F0}"/>
                </c:ext>
              </c:extLst>
            </c:dLbl>
            <c:dLbl>
              <c:idx val="3"/>
              <c:tx>
                <c:rich>
                  <a:bodyPr/>
                  <a:lstStyle/>
                  <a:p>
                    <a:pPr>
                      <a:defRPr sz="1000" b="0" i="0" u="none" strike="noStrike">
                        <a:solidFill>
                          <a:srgbClr val="000000"/>
                        </a:solidFill>
                        <a:latin typeface="Rix고딕 L" panose="02020603020101020101" pitchFamily="18" charset="-127"/>
                        <a:ea typeface="Rix고딕 L" panose="02020603020101020101" pitchFamily="18" charset="-127"/>
                      </a:defRPr>
                    </a:pPr>
                    <a:fld id="{7DD52E67-0292-4379-8CBA-CF0E096A93B0}" type="PERCENTAGE">
                      <a:rPr lang="en-US" altLang="ko-KR" sz="1000">
                        <a:latin typeface="Rix고딕 L" panose="02020603020101020101" pitchFamily="18" charset="-127"/>
                        <a:ea typeface="Rix고딕 L" panose="02020603020101020101" pitchFamily="18" charset="-127"/>
                      </a:rPr>
                      <a:pPr>
                        <a:defRPr sz="1000" b="0" i="0" u="none" strike="noStrike">
                          <a:solidFill>
                            <a:srgbClr val="000000"/>
                          </a:solidFill>
                          <a:latin typeface="Rix고딕 L" panose="02020603020101020101" pitchFamily="18" charset="-127"/>
                          <a:ea typeface="Rix고딕 L" panose="02020603020101020101" pitchFamily="18" charset="-127"/>
                        </a:defRPr>
                      </a:pPr>
                      <a:t>[백분율]</a:t>
                    </a:fld>
                    <a:endParaRPr lang="ko-KR" altLang="en-US"/>
                  </a:p>
                </c:rich>
              </c:tx>
              <c:numFmt formatCode="0%" sourceLinked="0"/>
              <c:spPr/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>
                  <c15:dlblFieldTable/>
                  <c15:showDataLabelsRange val="0"/>
                </c:ext>
                <c:ext xmlns:c16="http://schemas.microsoft.com/office/drawing/2014/chart" uri="{C3380CC4-5D6E-409C-BE32-E72D297353CC}">
                  <c16:uniqueId val="{00000007-E944-4983-A097-4FF4EE05D8F0}"/>
                </c:ext>
              </c:extLst>
            </c:dLbl>
            <c:dLbl>
              <c:idx val="4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9-E944-4983-A097-4FF4EE05D8F0}"/>
                </c:ext>
              </c:extLst>
            </c:dLbl>
            <c:dLbl>
              <c:idx val="5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B-E944-4983-A097-4FF4EE05D8F0}"/>
                </c:ext>
              </c:extLst>
            </c:dLbl>
            <c:numFmt formatCode="0%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000" b="0" i="0" u="none" strike="noStrike">
                    <a:solidFill>
                      <a:srgbClr val="000000"/>
                    </a:solidFill>
                    <a:latin typeface="Rix고딕 L" panose="02020603020101020101" pitchFamily="18" charset="-127"/>
                    <a:ea typeface="Rix고딕 L" panose="02020603020101020101" pitchFamily="18" charset="-127"/>
                  </a:defRPr>
                </a:pPr>
                <a:endParaRPr lang="ko-KR"/>
              </a:p>
            </c:txPr>
            <c:dLblPos val="ctr"/>
            <c:showLegendKey val="0"/>
            <c:showVal val="0"/>
            <c:showCatName val="1"/>
            <c:showSerName val="0"/>
            <c:showPercent val="1"/>
            <c:showBubbleSize val="0"/>
            <c:showLeaderLines val="0"/>
            <c:extLst>
              <c:ext xmlns:c15="http://schemas.microsoft.com/office/drawing/2012/chart" uri="{CE6537A1-D6FC-4f65-9D91-7224C49458BB}"/>
            </c:extLst>
          </c:dLbls>
          <c:cat>
            <c:strRef>
              <c:f>Sheet1!$A$2:$A$7</c:f>
              <c:strCache>
                <c:ptCount val="6"/>
                <c:pt idx="0">
                  <c:v>기능(61.8%)</c:v>
                </c:pt>
                <c:pt idx="1">
                  <c:v>UI(19.3%)</c:v>
                </c:pt>
                <c:pt idx="2">
                  <c:v>데이터(8.0%)</c:v>
                </c:pt>
                <c:pt idx="3">
                  <c:v>기타(6.6%)</c:v>
                </c:pt>
                <c:pt idx="4">
                  <c:v>문서화(4.3%)</c:v>
                </c:pt>
                <c:pt idx="5">
                  <c:v>기타유형(합)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2685</c:v>
                </c:pt>
                <c:pt idx="1">
                  <c:v>839</c:v>
                </c:pt>
                <c:pt idx="2">
                  <c:v>347</c:v>
                </c:pt>
                <c:pt idx="3">
                  <c:v>287</c:v>
                </c:pt>
                <c:pt idx="4">
                  <c:v>187</c:v>
                </c:pt>
                <c:pt idx="5">
                  <c:v>103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C-E944-4983-A097-4FF4EE05D8F0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firstSliceAng val="0"/>
      </c:pieChart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900">
              <a:latin typeface="Rix고딕 L" panose="02020603020101020101" pitchFamily="18" charset="-127"/>
              <a:ea typeface="Rix고딕 L" panose="02020603020101020101" pitchFamily="18" charset="-127"/>
            </a:defRPr>
          </a:pPr>
          <a:endParaRPr lang="en-US"/>
        </a:p>
      </c:txPr>
    </c:legend>
    <c:plotVisOnly val="1"/>
    <c:dispBlanksAs val="span"/>
    <c:showDLblsOverMax val="1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ko-KR"/>
  <c:roundedCorners val="1"/>
  <c:style val="2"/>
  <c:chart>
    <c:title>
      <c:tx>
        <c:rich>
          <a:bodyPr/>
          <a:lstStyle/>
          <a:p>
            <a:pPr>
              <a:defRPr sz="1100" b="1" i="0" u="none" strike="noStrike">
                <a:solidFill>
                  <a:srgbClr val="1B3A6B"/>
                </a:solidFill>
                <a:latin typeface="Rix고딕 L" panose="02020603020101020101" pitchFamily="18" charset="-127"/>
                <a:ea typeface="Rix고딕 L" panose="02020603020101020101" pitchFamily="18" charset="-127"/>
              </a:defRPr>
            </a:pPr>
            <a:r>
              <a:rPr lang="ko-KR" altLang="en-US" sz="1100" b="1" i="0" u="none" strike="noStrike" dirty="0" err="1">
                <a:solidFill>
                  <a:srgbClr val="1B3A6B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업무모듈별</a:t>
            </a:r>
            <a:r>
              <a:rPr lang="ko-KR" altLang="en-US" sz="1100" b="1" i="0" u="none" strike="noStrike" dirty="0">
                <a:solidFill>
                  <a:srgbClr val="1B3A6B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 분석대상 결함 건수 </a:t>
            </a:r>
            <a:r>
              <a:rPr lang="en-US" altLang="ko-KR" sz="1100" b="1" i="0" u="none" strike="noStrike" dirty="0">
                <a:solidFill>
                  <a:srgbClr val="1B3A6B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(</a:t>
            </a:r>
            <a:r>
              <a:rPr lang="ko-KR" altLang="en-US" sz="1100" b="1" i="0" u="none" strike="noStrike" dirty="0">
                <a:solidFill>
                  <a:srgbClr val="1B3A6B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상위 </a:t>
            </a:r>
            <a:r>
              <a:rPr lang="en-US" altLang="ko-KR" sz="1100" b="1" i="0" u="none" strike="noStrike" dirty="0">
                <a:solidFill>
                  <a:srgbClr val="1B3A6B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8</a:t>
            </a:r>
            <a:r>
              <a:rPr lang="ko-KR" altLang="en-US" sz="1100" b="1" i="0" u="none" strike="noStrike" dirty="0">
                <a:solidFill>
                  <a:srgbClr val="1B3A6B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개 모듈</a:t>
            </a:r>
            <a:r>
              <a:rPr lang="en-US" altLang="ko-KR" sz="1100" b="1" i="0" u="none" strike="noStrike" dirty="0">
                <a:solidFill>
                  <a:srgbClr val="1B3A6B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)</a:t>
            </a:r>
          </a:p>
        </c:rich>
      </c:tx>
      <c:layout>
        <c:manualLayout>
          <c:xMode val="edge"/>
          <c:yMode val="edge"/>
          <c:x val="0.33830153927370193"/>
          <c:y val="3.69567897972485E-2"/>
        </c:manualLayout>
      </c:layout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분석대상 결함</c:v>
                </c:pt>
              </c:strCache>
            </c:strRef>
          </c:tx>
          <c:spPr>
            <a:solidFill>
              <a:srgbClr val="DC2626"/>
            </a:solidFill>
            <a:effectLst/>
          </c:spPr>
          <c:invertIfNegative val="0"/>
          <c:dPt>
            <c:idx val="0"/>
            <c:invertIfNegative val="0"/>
            <c:bubble3D val="0"/>
            <c:extLst>
              <c:ext xmlns:c16="http://schemas.microsoft.com/office/drawing/2014/chart" uri="{C3380CC4-5D6E-409C-BE32-E72D297353CC}">
                <c16:uniqueId val="{00000001-2B87-4A3E-BDF3-D3FAACB73A92}"/>
              </c:ext>
            </c:extLst>
          </c:dPt>
          <c:dPt>
            <c:idx val="1"/>
            <c:invertIfNegative val="0"/>
            <c:bubble3D val="0"/>
            <c:spPr>
              <a:solidFill>
                <a:srgbClr val="E85D2F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3-2B87-4A3E-BDF3-D3FAACB73A92}"/>
              </c:ext>
            </c:extLst>
          </c:dPt>
          <c:dPt>
            <c:idx val="2"/>
            <c:invertIfNegative val="0"/>
            <c:bubble3D val="0"/>
            <c:spPr>
              <a:solidFill>
                <a:srgbClr val="E85D2F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5-2B87-4A3E-BDF3-D3FAACB73A92}"/>
              </c:ext>
            </c:extLst>
          </c:dPt>
          <c:dPt>
            <c:idx val="3"/>
            <c:invertIfNegative val="0"/>
            <c:bubble3D val="0"/>
            <c:spPr>
              <a:solidFill>
                <a:srgbClr val="2563A8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7-2B87-4A3E-BDF3-D3FAACB73A92}"/>
              </c:ext>
            </c:extLst>
          </c:dPt>
          <c:dPt>
            <c:idx val="4"/>
            <c:invertIfNegative val="0"/>
            <c:bubble3D val="0"/>
            <c:spPr>
              <a:solidFill>
                <a:srgbClr val="2563A8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9-2B87-4A3E-BDF3-D3FAACB73A92}"/>
              </c:ext>
            </c:extLst>
          </c:dPt>
          <c:dPt>
            <c:idx val="5"/>
            <c:invertIfNegative val="0"/>
            <c:bubble3D val="0"/>
            <c:spPr>
              <a:solidFill>
                <a:srgbClr val="3B82C4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B-2B87-4A3E-BDF3-D3FAACB73A92}"/>
              </c:ext>
            </c:extLst>
          </c:dPt>
          <c:dPt>
            <c:idx val="6"/>
            <c:invertIfNegative val="0"/>
            <c:bubble3D val="0"/>
            <c:spPr>
              <a:solidFill>
                <a:srgbClr val="3B82C4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D-2B87-4A3E-BDF3-D3FAACB73A92}"/>
              </c:ext>
            </c:extLst>
          </c:dPt>
          <c:dPt>
            <c:idx val="7"/>
            <c:invertIfNegative val="0"/>
            <c:bubble3D val="0"/>
            <c:spPr>
              <a:solidFill>
                <a:srgbClr val="3B82C4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F-2B87-4A3E-BDF3-D3FAACB73A92}"/>
              </c:ext>
            </c:extLst>
          </c:dPt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900" b="0" i="0" u="none" strike="noStrike">
                    <a:solidFill>
                      <a:srgbClr val="1B3A6B"/>
                    </a:solidFill>
                    <a:latin typeface="Rix고딕 L" panose="02020603020101020101" pitchFamily="18" charset="-127"/>
                    <a:ea typeface="Rix고딕 L" panose="02020603020101020101" pitchFamily="18" charset="-127"/>
                  </a:defRPr>
                </a:pPr>
                <a:endParaRPr lang="ko-KR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Sheet1!$A$2:$A$9</c:f>
              <c:strCache>
                <c:ptCount val="8"/>
                <c:pt idx="0">
                  <c:v>공항운영(GO)</c:v>
                </c:pt>
                <c:pt idx="1">
                  <c:v>항공기관제(AC)</c:v>
                </c:pt>
                <c:pt idx="2">
                  <c:v>항공보안(FS)</c:v>
                </c:pt>
                <c:pt idx="3">
                  <c:v>자원배정(RS)</c:v>
                </c:pt>
                <c:pt idx="4">
                  <c:v>공통관리
(AOMS-CA)</c:v>
                </c:pt>
                <c:pt idx="5">
                  <c:v>운항계획(FP)</c:v>
                </c:pt>
                <c:pt idx="6">
                  <c:v>모바일(WES)</c:v>
                </c:pt>
                <c:pt idx="7">
                  <c:v>공통관리
(FIMS-CA)</c:v>
                </c:pt>
              </c:strCache>
            </c: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562</c:v>
                </c:pt>
                <c:pt idx="1">
                  <c:v>320</c:v>
                </c:pt>
                <c:pt idx="2">
                  <c:v>318</c:v>
                </c:pt>
                <c:pt idx="3">
                  <c:v>292</c:v>
                </c:pt>
                <c:pt idx="4">
                  <c:v>285</c:v>
                </c:pt>
                <c:pt idx="5">
                  <c:v>269</c:v>
                </c:pt>
                <c:pt idx="6">
                  <c:v>277</c:v>
                </c:pt>
                <c:pt idx="7">
                  <c:v>294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10-2B87-4A3E-BDF3-D3FAACB73A92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4B5563"/>
                </a:solidFill>
                <a:latin typeface="Rix고딕 L" panose="02020603020101020101" pitchFamily="18" charset="-127"/>
                <a:ea typeface="Rix고딕 L" panose="02020603020101020101" pitchFamily="18" charset="-127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D1D9E6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9CA3AF"/>
                </a:solidFill>
                <a:latin typeface="Rix고딕 L" panose="02020603020101020101" pitchFamily="18" charset="-127"/>
                <a:ea typeface="Rix고딕 L" panose="02020603020101020101" pitchFamily="18" charset="-127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  <c:showDLblsOverMax val="1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ko-KR"/>
  <c:roundedCorners val="1"/>
  <c:style val="2"/>
  <c:chart>
    <c:autoTitleDeleted val="1"/>
    <c:plotArea>
      <c:layout>
        <c:manualLayout>
          <c:layoutTarget val="inner"/>
          <c:xMode val="edge"/>
          <c:yMode val="edge"/>
          <c:x val="0.13747657708831174"/>
          <c:y val="0.10185185185185185"/>
          <c:w val="0.49233001658374792"/>
          <c:h val="0.87962962962962965"/>
        </c:manualLayout>
      </c:layout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단계별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9CA3AF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1-4FB9-4CE8-9497-A65E4839591C}"/>
              </c:ext>
            </c:extLst>
          </c:dPt>
          <c:dPt>
            <c:idx val="1"/>
            <c:bubble3D val="0"/>
            <c:spPr>
              <a:solidFill>
                <a:srgbClr val="3B82C4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3-4FB9-4CE8-9497-A65E4839591C}"/>
              </c:ext>
            </c:extLst>
          </c:dPt>
          <c:dPt>
            <c:idx val="2"/>
            <c:bubble3D val="0"/>
            <c:spPr>
              <a:solidFill>
                <a:srgbClr val="DC2626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5-4FB9-4CE8-9497-A65E4839591C}"/>
              </c:ext>
            </c:extLst>
          </c:dPt>
          <c:dPt>
            <c:idx val="3"/>
            <c:bubble3D val="0"/>
            <c:spPr>
              <a:solidFill>
                <a:srgbClr val="2563A8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7-4FB9-4CE8-9497-A65E4839591C}"/>
              </c:ext>
            </c:extLst>
          </c:dPt>
          <c:dPt>
            <c:idx val="4"/>
            <c:bubble3D val="0"/>
            <c:spPr>
              <a:solidFill>
                <a:srgbClr val="1B3A6B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9-4FB9-4CE8-9497-A65E4839591C}"/>
              </c:ext>
            </c:extLst>
          </c:dPt>
          <c:cat>
            <c:strRef>
              <c:f>Sheet1!$A$2:$A$6</c:f>
              <c:strCache>
                <c:ptCount val="5"/>
                <c:pt idx="0">
                  <c:v>PL(4.8%)</c:v>
                </c:pt>
                <c:pt idx="1">
                  <c:v>3자(24.0%)</c:v>
                </c:pt>
                <c:pt idx="2">
                  <c:v>공사(46.8%)</c:v>
                </c:pt>
                <c:pt idx="3">
                  <c:v>현업(16.5%)</c:v>
                </c:pt>
                <c:pt idx="4">
                  <c:v>감리(7.9%)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200</c:v>
                </c:pt>
                <c:pt idx="1">
                  <c:v>1008</c:v>
                </c:pt>
                <c:pt idx="2">
                  <c:v>1969</c:v>
                </c:pt>
                <c:pt idx="3">
                  <c:v>694</c:v>
                </c:pt>
                <c:pt idx="4">
                  <c:v>332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A-4FB9-4CE8-9497-A65E4839591C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firstSliceAng val="0"/>
        <c:holeSize val="55"/>
      </c:doughnutChart>
      <c:spPr>
        <a:noFill/>
        <a:ln>
          <a:noFill/>
        </a:ln>
        <a:effectLst/>
      </c:spPr>
    </c:plotArea>
    <c:legend>
      <c:legendPos val="r"/>
      <c:overlay val="0"/>
      <c:txPr>
        <a:bodyPr/>
        <a:lstStyle/>
        <a:p>
          <a:pPr>
            <a:defRPr sz="650">
              <a:latin typeface="Rix고딕 L" panose="02020603020101020101" pitchFamily="18" charset="-127"/>
              <a:ea typeface="Rix고딕 L" panose="02020603020101020101" pitchFamily="18" charset="-127"/>
            </a:defRPr>
          </a:pPr>
          <a:endParaRPr lang="en-US"/>
        </a:p>
      </c:txPr>
    </c:legend>
    <c:plotVisOnly val="1"/>
    <c:dispBlanksAs val="span"/>
    <c:showDLblsOverMax val="1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9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ko-KR"/>
  <c:roundedCorners val="1"/>
  <c:style val="2"/>
  <c:chart>
    <c:autoTitleDeleted val="1"/>
    <c:plotArea>
      <c:layout>
        <c:manualLayout>
          <c:layoutTarget val="inner"/>
          <c:xMode val="edge"/>
          <c:yMode val="edge"/>
          <c:x val="0.13747657708831174"/>
          <c:y val="0.10185185185185185"/>
          <c:w val="0.49233001658374792"/>
          <c:h val="0.87962962962962965"/>
        </c:manualLayout>
      </c:layout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유형별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E85D2F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1-54C5-47FE-88BF-00850DA679F7}"/>
              </c:ext>
            </c:extLst>
          </c:dPt>
          <c:dPt>
            <c:idx val="1"/>
            <c:bubble3D val="0"/>
            <c:spPr>
              <a:solidFill>
                <a:srgbClr val="2563A8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3-54C5-47FE-88BF-00850DA679F7}"/>
              </c:ext>
            </c:extLst>
          </c:dPt>
          <c:dPt>
            <c:idx val="2"/>
            <c:bubble3D val="0"/>
            <c:spPr>
              <a:solidFill>
                <a:srgbClr val="3B82C4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5-54C5-47FE-88BF-00850DA679F7}"/>
              </c:ext>
            </c:extLst>
          </c:dPt>
          <c:dPt>
            <c:idx val="3"/>
            <c:bubble3D val="0"/>
            <c:spPr>
              <a:solidFill>
                <a:srgbClr val="9CA3AF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7-54C5-47FE-88BF-00850DA679F7}"/>
              </c:ext>
            </c:extLst>
          </c:dPt>
          <c:cat>
            <c:strRef>
              <c:f>Sheet1!$A$2:$A$5</c:f>
              <c:strCache>
                <c:ptCount val="4"/>
                <c:pt idx="0">
                  <c:v>기능(61.8%)</c:v>
                </c:pt>
                <c:pt idx="1">
                  <c:v>UI(19.3%)</c:v>
                </c:pt>
                <c:pt idx="2">
                  <c:v>데이터(8%)</c:v>
                </c:pt>
                <c:pt idx="3">
                  <c:v>기타(10.9%)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2685</c:v>
                </c:pt>
                <c:pt idx="1">
                  <c:v>859</c:v>
                </c:pt>
                <c:pt idx="2">
                  <c:v>376</c:v>
                </c:pt>
                <c:pt idx="3">
                  <c:v>328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8-54C5-47FE-88BF-00850DA679F7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firstSliceAng val="0"/>
        <c:holeSize val="55"/>
      </c:doughnutChart>
      <c:spPr>
        <a:noFill/>
        <a:ln>
          <a:noFill/>
        </a:ln>
        <a:effectLst/>
      </c:spPr>
    </c:plotArea>
    <c:legend>
      <c:legendPos val="r"/>
      <c:overlay val="0"/>
      <c:txPr>
        <a:bodyPr/>
        <a:lstStyle/>
        <a:p>
          <a:pPr>
            <a:defRPr sz="650">
              <a:latin typeface="Rix고딕 L" panose="02020603020101020101" pitchFamily="18" charset="-127"/>
              <a:ea typeface="Rix고딕 L" panose="02020603020101020101" pitchFamily="18" charset="-127"/>
            </a:defRPr>
          </a:pPr>
          <a:endParaRPr lang="en-US"/>
        </a:p>
      </c:txPr>
    </c:legend>
    <c:plotVisOnly val="1"/>
    <c:dispBlanksAs val="span"/>
    <c:showDLblsOverMax val="1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10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ko-KR"/>
  <c:roundedCorners val="1"/>
  <c:style val="2"/>
  <c:chart>
    <c:title>
      <c:tx>
        <c:rich>
          <a:bodyPr/>
          <a:lstStyle/>
          <a:p>
            <a:pPr>
              <a:defRPr sz="1100" b="1" i="0" u="none" strike="noStrike">
                <a:solidFill>
                  <a:srgbClr val="1B3A6B"/>
                </a:solidFill>
                <a:latin typeface="Rix고딕 L" panose="02020603020101020101" pitchFamily="18" charset="-127"/>
                <a:ea typeface="Rix고딕 L" panose="02020603020101020101" pitchFamily="18" charset="-127"/>
              </a:defRPr>
            </a:pPr>
            <a:r>
              <a:rPr lang="ko-KR" altLang="en-US" sz="1100" b="1" i="0" u="none" strike="noStrike" dirty="0">
                <a:solidFill>
                  <a:srgbClr val="1B3A6B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모듈별 미결 결함 유형 </a:t>
            </a:r>
            <a:r>
              <a:rPr lang="en-US" altLang="ko-KR" sz="1100" b="1" i="0" u="none" strike="noStrike" dirty="0">
                <a:solidFill>
                  <a:srgbClr val="1B3A6B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(</a:t>
            </a:r>
            <a:r>
              <a:rPr lang="ko-KR" altLang="en-US" sz="1100" b="1" i="0" u="none" strike="noStrike" dirty="0">
                <a:solidFill>
                  <a:srgbClr val="1B3A6B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주요 </a:t>
            </a:r>
            <a:r>
              <a:rPr lang="en-US" altLang="ko-KR" sz="1100" b="1" i="0" u="none" strike="noStrike" dirty="0">
                <a:solidFill>
                  <a:srgbClr val="1B3A6B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7</a:t>
            </a:r>
            <a:r>
              <a:rPr lang="ko-KR" altLang="en-US" sz="1100" b="1" i="0" u="none" strike="noStrike" dirty="0">
                <a:solidFill>
                  <a:srgbClr val="1B3A6B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개 모듈</a:t>
            </a:r>
            <a:r>
              <a:rPr lang="en-US" altLang="ko-KR" sz="1100" b="1" i="0" u="none" strike="noStrike" dirty="0">
                <a:solidFill>
                  <a:srgbClr val="1B3A6B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)</a:t>
            </a:r>
          </a:p>
        </c:rich>
      </c:tx>
      <c:overlay val="0"/>
    </c:title>
    <c:autoTitleDeleted val="0"/>
    <c:plotArea>
      <c:layout>
        <c:manualLayout>
          <c:layoutTarget val="inner"/>
          <c:xMode val="edge"/>
          <c:yMode val="edge"/>
          <c:x val="0.12267282136778181"/>
          <c:y val="0.17412280701754385"/>
          <c:w val="0.84358181479418448"/>
          <c:h val="0.67333847523445534"/>
        </c:manualLayout>
      </c:layout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확인대기</c:v>
                </c:pt>
              </c:strCache>
            </c:strRef>
          </c:tx>
          <c:spPr>
            <a:solidFill>
              <a:srgbClr val="3B82C4"/>
            </a:solidFill>
            <a:effectLst/>
          </c:spPr>
          <c:invertIfNegative val="0"/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850" b="0" i="0" u="none" strike="noStrike">
                    <a:solidFill>
                      <a:srgbClr val="FFFFFF"/>
                    </a:solidFill>
                    <a:latin typeface="Rix고딕 L" panose="02020603020101020101" pitchFamily="18" charset="-127"/>
                    <a:ea typeface="Rix고딕 L" panose="02020603020101020101" pitchFamily="18" charset="-127"/>
                  </a:defRPr>
                </a:pPr>
                <a:endParaRPr lang="ko-KR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Sheet1!$A$2:$A$8</c:f>
              <c:strCache>
                <c:ptCount val="7"/>
                <c:pt idx="0">
                  <c:v>공항운영(GO)</c:v>
                </c:pt>
                <c:pt idx="1">
                  <c:v>예측관리(PM)</c:v>
                </c:pt>
                <c:pt idx="2">
                  <c:v>자원배정(RS)</c:v>
                </c:pt>
                <c:pt idx="3">
                  <c:v>항공통계포털(AS)</c:v>
                </c:pt>
                <c:pt idx="4">
                  <c:v>모바일(MES)</c:v>
                </c:pt>
                <c:pt idx="5">
                  <c:v>A-CDM(CM)</c:v>
                </c:pt>
                <c:pt idx="6">
                  <c:v>항공기관제(AC)</c:v>
                </c:pt>
              </c:strCache>
            </c: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330</c:v>
                </c:pt>
                <c:pt idx="1">
                  <c:v>103</c:v>
                </c:pt>
                <c:pt idx="2">
                  <c:v>123</c:v>
                </c:pt>
                <c:pt idx="3">
                  <c:v>57</c:v>
                </c:pt>
                <c:pt idx="4">
                  <c:v>112</c:v>
                </c:pt>
                <c:pt idx="5">
                  <c:v>61</c:v>
                </c:pt>
                <c:pt idx="6">
                  <c:v>34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0748-4658-9475-E5D85D44D0E9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결함검토요청</c:v>
                </c:pt>
              </c:strCache>
            </c:strRef>
          </c:tx>
          <c:spPr>
            <a:solidFill>
              <a:srgbClr val="D97706"/>
            </a:solidFill>
            <a:effectLst/>
          </c:spPr>
          <c:invertIfNegative val="0"/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850" b="0" i="0" u="none" strike="noStrike">
                    <a:solidFill>
                      <a:srgbClr val="FFFFFF"/>
                    </a:solidFill>
                    <a:latin typeface="Rix고딕 L" panose="02020603020101020101" pitchFamily="18" charset="-127"/>
                    <a:ea typeface="Rix고딕 L" panose="02020603020101020101" pitchFamily="18" charset="-127"/>
                  </a:defRPr>
                </a:pPr>
                <a:endParaRPr lang="ko-KR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Sheet1!$A$2:$A$8</c:f>
              <c:strCache>
                <c:ptCount val="7"/>
                <c:pt idx="0">
                  <c:v>공항운영(GO)</c:v>
                </c:pt>
                <c:pt idx="1">
                  <c:v>예측관리(PM)</c:v>
                </c:pt>
                <c:pt idx="2">
                  <c:v>자원배정(RS)</c:v>
                </c:pt>
                <c:pt idx="3">
                  <c:v>항공통계포털(AS)</c:v>
                </c:pt>
                <c:pt idx="4">
                  <c:v>모바일(MES)</c:v>
                </c:pt>
                <c:pt idx="5">
                  <c:v>A-CDM(CM)</c:v>
                </c:pt>
                <c:pt idx="6">
                  <c:v>항공기관제(AC)</c:v>
                </c:pt>
              </c:strCache>
            </c:strRef>
          </c:cat>
          <c:val>
            <c:numRef>
              <c:f>Sheet1!$C$2:$C$8</c:f>
              <c:numCache>
                <c:formatCode>General</c:formatCode>
                <c:ptCount val="7"/>
                <c:pt idx="0">
                  <c:v>53</c:v>
                </c:pt>
                <c:pt idx="1">
                  <c:v>22</c:v>
                </c:pt>
                <c:pt idx="2">
                  <c:v>28</c:v>
                </c:pt>
                <c:pt idx="3">
                  <c:v>89</c:v>
                </c:pt>
                <c:pt idx="4">
                  <c:v>0</c:v>
                </c:pt>
                <c:pt idx="5">
                  <c:v>50</c:v>
                </c:pt>
                <c:pt idx="6">
                  <c:v>10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0748-4658-9475-E5D85D44D0E9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조치요청/재조치</c:v>
                </c:pt>
              </c:strCache>
            </c:strRef>
          </c:tx>
          <c:spPr>
            <a:solidFill>
              <a:srgbClr val="DC2626"/>
            </a:solidFill>
            <a:effectLst/>
          </c:spPr>
          <c:invertIfNegative val="0"/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850" b="0" i="0" u="none" strike="noStrike">
                    <a:solidFill>
                      <a:srgbClr val="FFFFFF"/>
                    </a:solidFill>
                    <a:latin typeface="Rix고딕 L" panose="02020603020101020101" pitchFamily="18" charset="-127"/>
                    <a:ea typeface="Rix고딕 L" panose="02020603020101020101" pitchFamily="18" charset="-127"/>
                  </a:defRPr>
                </a:pPr>
                <a:endParaRPr lang="ko-KR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Sheet1!$A$2:$A$8</c:f>
              <c:strCache>
                <c:ptCount val="7"/>
                <c:pt idx="0">
                  <c:v>공항운영(GO)</c:v>
                </c:pt>
                <c:pt idx="1">
                  <c:v>예측관리(PM)</c:v>
                </c:pt>
                <c:pt idx="2">
                  <c:v>자원배정(RS)</c:v>
                </c:pt>
                <c:pt idx="3">
                  <c:v>항공통계포털(AS)</c:v>
                </c:pt>
                <c:pt idx="4">
                  <c:v>모바일(MES)</c:v>
                </c:pt>
                <c:pt idx="5">
                  <c:v>A-CDM(CM)</c:v>
                </c:pt>
                <c:pt idx="6">
                  <c:v>항공기관제(AC)</c:v>
                </c:pt>
              </c:strCache>
            </c:strRef>
          </c:cat>
          <c:val>
            <c:numRef>
              <c:f>Sheet1!$D$2:$D$8</c:f>
              <c:numCache>
                <c:formatCode>General</c:formatCode>
                <c:ptCount val="7"/>
                <c:pt idx="0">
                  <c:v>2</c:v>
                </c:pt>
                <c:pt idx="1">
                  <c:v>0</c:v>
                </c:pt>
                <c:pt idx="2">
                  <c:v>2</c:v>
                </c:pt>
                <c:pt idx="3">
                  <c:v>13</c:v>
                </c:pt>
                <c:pt idx="4">
                  <c:v>10</c:v>
                </c:pt>
                <c:pt idx="5">
                  <c:v>6</c:v>
                </c:pt>
                <c:pt idx="6">
                  <c:v>29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0748-4658-9475-E5D85D44D0E9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50"/>
        <c:overlap val="100"/>
        <c:axId val="2094734554"/>
        <c:axId val="2094734552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4B5563"/>
                </a:solidFill>
                <a:latin typeface="Rix고딕 L" panose="02020603020101020101" pitchFamily="18" charset="-127"/>
                <a:ea typeface="Rix고딕 L" panose="02020603020101020101" pitchFamily="18" charset="-127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b"/>
        <c:majorGridlines>
          <c:spPr>
            <a:ln w="6350" cap="flat">
              <a:solidFill>
                <a:srgbClr val="D1D9E6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9CA3AF"/>
                </a:solidFill>
                <a:latin typeface="Rix고딕 L" panose="02020603020101020101" pitchFamily="18" charset="-127"/>
                <a:ea typeface="Rix고딕 L" panose="02020603020101020101" pitchFamily="18" charset="-127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layout>
        <c:manualLayout>
          <c:xMode val="edge"/>
          <c:yMode val="edge"/>
          <c:x val="0.45016987130344321"/>
          <c:y val="0.44054120427928967"/>
          <c:w val="0.31225412087112292"/>
          <c:h val="7.7002655369833153E-2"/>
        </c:manualLayout>
      </c:layout>
      <c:overlay val="0"/>
      <c:txPr>
        <a:bodyPr/>
        <a:lstStyle/>
        <a:p>
          <a:pPr>
            <a:defRPr sz="900">
              <a:latin typeface="Rix고딕 L" panose="02020603020101020101" pitchFamily="18" charset="-127"/>
              <a:ea typeface="Rix고딕 L" panose="02020603020101020101" pitchFamily="18" charset="-127"/>
            </a:defRPr>
          </a:pPr>
          <a:endParaRPr lang="en-US"/>
        </a:p>
      </c:txPr>
    </c:legend>
    <c:plotVisOnly val="1"/>
    <c:dispBlanksAs val="span"/>
    <c:showDLblsOverMax val="1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1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ko-KR"/>
  <c:roundedCorners val="1"/>
  <c:style val="2"/>
  <c:chart>
    <c:title>
      <c:tx>
        <c:rich>
          <a:bodyPr/>
          <a:lstStyle/>
          <a:p>
            <a:pPr>
              <a:defRPr sz="1000" b="1" i="0" u="none" strike="noStrike">
                <a:solidFill>
                  <a:srgbClr val="1B3A6B"/>
                </a:solidFill>
                <a:latin typeface="Rix고딕 L" panose="02020603020101020101" pitchFamily="18" charset="-127"/>
                <a:ea typeface="Rix고딕 L" panose="02020603020101020101" pitchFamily="18" charset="-127"/>
              </a:defRPr>
            </a:pPr>
            <a:r>
              <a:rPr lang="ko-KR" altLang="en-US" sz="1000" b="1" i="0" u="none" strike="noStrike">
                <a:solidFill>
                  <a:srgbClr val="1B3A6B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공사테스트 단계 결함율 비교 </a:t>
            </a:r>
            <a:r>
              <a:rPr lang="en-US" altLang="ko-KR" sz="1000" b="1" i="0" u="none" strike="noStrike">
                <a:solidFill>
                  <a:srgbClr val="1B3A6B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(1</a:t>
            </a:r>
            <a:r>
              <a:rPr lang="ko-KR" altLang="en-US" sz="1000" b="1" i="0" u="none" strike="noStrike">
                <a:solidFill>
                  <a:srgbClr val="1B3A6B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차 </a:t>
            </a:r>
            <a:r>
              <a:rPr lang="en-US" altLang="ko-KR" sz="1000" b="1" i="0" u="none" strike="noStrike">
                <a:solidFill>
                  <a:srgbClr val="1B3A6B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vs 2</a:t>
            </a:r>
            <a:r>
              <a:rPr lang="ko-KR" altLang="en-US" sz="1000" b="1" i="0" u="none" strike="noStrike">
                <a:solidFill>
                  <a:srgbClr val="1B3A6B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차</a:t>
            </a:r>
            <a:r>
              <a:rPr lang="en-US" altLang="ko-KR" sz="1000" b="1" i="0" u="none" strike="noStrike">
                <a:solidFill>
                  <a:srgbClr val="1B3A6B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)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1차 공사테스트(%)</c:v>
                </c:pt>
              </c:strCache>
            </c:strRef>
          </c:tx>
          <c:spPr>
            <a:solidFill>
              <a:srgbClr val="DC2626"/>
            </a:solidFill>
            <a:effectLst/>
          </c:spPr>
          <c:invertIfNegative val="0"/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00" b="0" i="0" u="none" strike="noStrike">
                    <a:solidFill>
                      <a:srgbClr val="1B3A6B"/>
                    </a:solidFill>
                    <a:latin typeface="Arial"/>
                  </a:defRPr>
                </a:pPr>
                <a:endParaRPr lang="ko-KR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Sheet1!$A$2:$A$12</c:f>
              <c:strCache>
                <c:ptCount val="11"/>
                <c:pt idx="0">
                  <c:v>공항운영
(GO)</c:v>
                </c:pt>
                <c:pt idx="1">
                  <c:v>항공기관제
(AC)</c:v>
                </c:pt>
                <c:pt idx="2">
                  <c:v>공통관리
(FIMS-CA)</c:v>
                </c:pt>
                <c:pt idx="3">
                  <c:v>모바일
(WES)</c:v>
                </c:pt>
                <c:pt idx="4">
                  <c:v>운항계획
(FP)</c:v>
                </c:pt>
                <c:pt idx="5">
                  <c:v>자원배정
(RS)</c:v>
                </c:pt>
                <c:pt idx="6">
                  <c:v>항공보안
(FS)</c:v>
                </c:pt>
                <c:pt idx="7">
                  <c:v>공통관리
(AOMS-CA)</c:v>
                </c:pt>
                <c:pt idx="8">
                  <c:v>예측관리
(PM)</c:v>
                </c:pt>
                <c:pt idx="9">
                  <c:v>자원배정
차트(RC)</c:v>
                </c:pt>
                <c:pt idx="10">
                  <c:v>A-CDM
(CM)</c:v>
                </c:pt>
              </c:strCache>
            </c:strRef>
          </c:cat>
          <c:val>
            <c:numRef>
              <c:f>Sheet1!$B$2:$B$12</c:f>
              <c:numCache>
                <c:formatCode>General</c:formatCode>
                <c:ptCount val="11"/>
                <c:pt idx="0">
                  <c:v>61.1</c:v>
                </c:pt>
                <c:pt idx="1">
                  <c:v>0</c:v>
                </c:pt>
                <c:pt idx="2">
                  <c:v>80</c:v>
                </c:pt>
                <c:pt idx="3">
                  <c:v>0</c:v>
                </c:pt>
                <c:pt idx="4">
                  <c:v>67.5</c:v>
                </c:pt>
                <c:pt idx="5">
                  <c:v>53</c:v>
                </c:pt>
                <c:pt idx="6">
                  <c:v>95.7</c:v>
                </c:pt>
                <c:pt idx="7">
                  <c:v>124.6</c:v>
                </c:pt>
                <c:pt idx="8">
                  <c:v>75.599999999999994</c:v>
                </c:pt>
                <c:pt idx="9">
                  <c:v>60.9</c:v>
                </c:pt>
                <c:pt idx="10">
                  <c:v>9.8000000000000007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5188-4553-B36D-E72A78339E7D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2차 공사테스트(%)</c:v>
                </c:pt>
              </c:strCache>
            </c:strRef>
          </c:tx>
          <c:spPr>
            <a:solidFill>
              <a:srgbClr val="E85D2F"/>
            </a:solidFill>
            <a:effectLst/>
          </c:spPr>
          <c:invertIfNegative val="0"/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00" b="0" i="0" u="none" strike="noStrike">
                    <a:solidFill>
                      <a:srgbClr val="1B3A6B"/>
                    </a:solidFill>
                    <a:latin typeface="Arial"/>
                  </a:defRPr>
                </a:pPr>
                <a:endParaRPr lang="ko-KR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Sheet1!$A$2:$A$12</c:f>
              <c:strCache>
                <c:ptCount val="11"/>
                <c:pt idx="0">
                  <c:v>공항운영
(GO)</c:v>
                </c:pt>
                <c:pt idx="1">
                  <c:v>항공기관제
(AC)</c:v>
                </c:pt>
                <c:pt idx="2">
                  <c:v>공통관리
(FIMS-CA)</c:v>
                </c:pt>
                <c:pt idx="3">
                  <c:v>모바일
(WES)</c:v>
                </c:pt>
                <c:pt idx="4">
                  <c:v>운항계획
(FP)</c:v>
                </c:pt>
                <c:pt idx="5">
                  <c:v>자원배정
(RS)</c:v>
                </c:pt>
                <c:pt idx="6">
                  <c:v>항공보안
(FS)</c:v>
                </c:pt>
                <c:pt idx="7">
                  <c:v>공통관리
(AOMS-CA)</c:v>
                </c:pt>
                <c:pt idx="8">
                  <c:v>예측관리
(PM)</c:v>
                </c:pt>
                <c:pt idx="9">
                  <c:v>자원배정
차트(RC)</c:v>
                </c:pt>
                <c:pt idx="10">
                  <c:v>A-CDM
(CM)</c:v>
                </c:pt>
              </c:strCache>
            </c:strRef>
          </c:cat>
          <c:val>
            <c:numRef>
              <c:f>Sheet1!$C$2:$C$12</c:f>
              <c:numCache>
                <c:formatCode>General</c:formatCode>
                <c:ptCount val="11"/>
                <c:pt idx="0">
                  <c:v>33.9</c:v>
                </c:pt>
                <c:pt idx="1">
                  <c:v>17.2</c:v>
                </c:pt>
                <c:pt idx="2">
                  <c:v>42.6</c:v>
                </c:pt>
                <c:pt idx="3">
                  <c:v>8.4</c:v>
                </c:pt>
                <c:pt idx="4">
                  <c:v>24.8</c:v>
                </c:pt>
                <c:pt idx="5">
                  <c:v>22.3</c:v>
                </c:pt>
                <c:pt idx="6">
                  <c:v>70.599999999999994</c:v>
                </c:pt>
                <c:pt idx="7">
                  <c:v>49.4</c:v>
                </c:pt>
                <c:pt idx="8">
                  <c:v>12.5</c:v>
                </c:pt>
                <c:pt idx="9">
                  <c:v>67.599999999999994</c:v>
                </c:pt>
                <c:pt idx="10">
                  <c:v>17.7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5188-4553-B36D-E72A78339E7D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750" b="0" i="0" u="none" strike="noStrike">
                <a:solidFill>
                  <a:srgbClr val="4B5563"/>
                </a:solidFill>
                <a:latin typeface="Rix고딕 L" panose="02020603020101020101" pitchFamily="18" charset="-127"/>
                <a:ea typeface="Rix고딕 L" panose="02020603020101020101" pitchFamily="18" charset="-127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D1D9E6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9CA3AF"/>
                </a:solidFill>
                <a:latin typeface="Rix고딕 L" panose="02020603020101020101" pitchFamily="18" charset="-127"/>
                <a:ea typeface="Rix고딕 L" panose="02020603020101020101" pitchFamily="18" charset="-127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850">
              <a:latin typeface="Rix고딕 L" panose="02020603020101020101" pitchFamily="18" charset="-127"/>
              <a:ea typeface="Rix고딕 L" panose="02020603020101020101" pitchFamily="18" charset="-127"/>
            </a:defRPr>
          </a:pPr>
          <a:endParaRPr lang="en-US"/>
        </a:p>
      </c:txPr>
    </c:legend>
    <c:plotVisOnly val="1"/>
    <c:dispBlanksAs val="span"/>
    <c:showDLblsOverMax val="1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1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ko-KR"/>
  <c:roundedCorners val="1"/>
  <c:style val="2"/>
  <c:chart>
    <c:title>
      <c:tx>
        <c:rich>
          <a:bodyPr/>
          <a:lstStyle/>
          <a:p>
            <a:pPr>
              <a:defRPr sz="1050" b="1" i="0" u="none" strike="noStrike">
                <a:solidFill>
                  <a:srgbClr val="1B3A6B"/>
                </a:solidFill>
                <a:latin typeface="Rix고딕 L" panose="02020603020101020101" pitchFamily="18" charset="-127"/>
                <a:ea typeface="Rix고딕 L" panose="02020603020101020101" pitchFamily="18" charset="-127"/>
              </a:defRPr>
            </a:pPr>
            <a:r>
              <a:rPr lang="ko-KR" altLang="en-US" sz="1050" b="1" i="0" u="none" strike="noStrike">
                <a:solidFill>
                  <a:srgbClr val="1B3A6B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모듈별 개선</a:t>
            </a:r>
            <a:r>
              <a:rPr lang="en-US" altLang="ko-KR" sz="1050" b="1" i="0" u="none" strike="noStrike">
                <a:solidFill>
                  <a:srgbClr val="1B3A6B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·</a:t>
            </a:r>
            <a:r>
              <a:rPr lang="ko-KR" altLang="en-US" sz="1050" b="1" i="0" u="none" strike="noStrike">
                <a:solidFill>
                  <a:srgbClr val="1B3A6B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변경율 </a:t>
            </a:r>
            <a:r>
              <a:rPr lang="en-US" altLang="ko-KR" sz="1050" b="1" i="0" u="none" strike="noStrike">
                <a:solidFill>
                  <a:srgbClr val="1B3A6B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— </a:t>
            </a:r>
            <a:r>
              <a:rPr lang="ko-KR" altLang="en-US" sz="1050" b="1" i="0" u="none" strike="noStrike">
                <a:solidFill>
                  <a:srgbClr val="1B3A6B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공사</a:t>
            </a:r>
            <a:r>
              <a:rPr lang="en-US" altLang="ko-KR" sz="1050" b="1" i="0" u="none" strike="noStrike">
                <a:solidFill>
                  <a:srgbClr val="1B3A6B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·</a:t>
            </a:r>
            <a:r>
              <a:rPr lang="ko-KR" altLang="en-US" sz="1050" b="1" i="0" u="none" strike="noStrike">
                <a:solidFill>
                  <a:srgbClr val="1B3A6B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현업 단계 비교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1차 공사(%)</c:v>
                </c:pt>
              </c:strCache>
            </c:strRef>
          </c:tx>
          <c:spPr>
            <a:solidFill>
              <a:srgbClr val="2563A8"/>
            </a:solidFill>
            <a:effectLst/>
          </c:spPr>
          <c:invertIfNegative val="0"/>
          <c:cat>
            <c:strRef>
              <c:f>Sheet1!$A$2:$A$11</c:f>
              <c:strCache>
                <c:ptCount val="10"/>
                <c:pt idx="0">
                  <c:v>공항운영
(GO)</c:v>
                </c:pt>
                <c:pt idx="1">
                  <c:v>항공기관제
(AC)</c:v>
                </c:pt>
                <c:pt idx="2">
                  <c:v>공통관리
(FIMS-CA)</c:v>
                </c:pt>
                <c:pt idx="3">
                  <c:v>운항계획
(FP)</c:v>
                </c:pt>
                <c:pt idx="4">
                  <c:v>항공보안
(FS)</c:v>
                </c:pt>
                <c:pt idx="5">
                  <c:v>공통관리
(AOMS-CA)</c:v>
                </c:pt>
                <c:pt idx="6">
                  <c:v>자원배정
(RS)</c:v>
                </c:pt>
                <c:pt idx="7">
                  <c:v>모바일
(WES)</c:v>
                </c:pt>
                <c:pt idx="8">
                  <c:v>모바일
(MES)</c:v>
                </c:pt>
                <c:pt idx="9">
                  <c:v>통계포털
(AS)</c:v>
                </c:pt>
              </c:strCache>
            </c:strRef>
          </c:cat>
          <c:val>
            <c:numRef>
              <c:f>Sheet1!$B$2:$B$11</c:f>
              <c:numCache>
                <c:formatCode>General</c:formatCode>
                <c:ptCount val="10"/>
                <c:pt idx="0">
                  <c:v>43.9</c:v>
                </c:pt>
                <c:pt idx="1">
                  <c:v>0</c:v>
                </c:pt>
                <c:pt idx="2">
                  <c:v>36.9</c:v>
                </c:pt>
                <c:pt idx="3">
                  <c:v>48.8</c:v>
                </c:pt>
                <c:pt idx="4">
                  <c:v>56</c:v>
                </c:pt>
                <c:pt idx="5">
                  <c:v>62.3</c:v>
                </c:pt>
                <c:pt idx="6">
                  <c:v>39.4</c:v>
                </c:pt>
                <c:pt idx="7">
                  <c:v>0</c:v>
                </c:pt>
                <c:pt idx="8">
                  <c:v>0</c:v>
                </c:pt>
                <c:pt idx="9">
                  <c:v>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E48A-4711-A3C5-BDDA2A31FE72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1차 현업(%)</c:v>
                </c:pt>
              </c:strCache>
            </c:strRef>
          </c:tx>
          <c:spPr>
            <a:solidFill>
              <a:srgbClr val="3B82C4"/>
            </a:solidFill>
            <a:effectLst/>
          </c:spPr>
          <c:invertIfNegative val="0"/>
          <c:cat>
            <c:strRef>
              <c:f>Sheet1!$A$2:$A$11</c:f>
              <c:strCache>
                <c:ptCount val="10"/>
                <c:pt idx="0">
                  <c:v>공항운영
(GO)</c:v>
                </c:pt>
                <c:pt idx="1">
                  <c:v>항공기관제
(AC)</c:v>
                </c:pt>
                <c:pt idx="2">
                  <c:v>공통관리
(FIMS-CA)</c:v>
                </c:pt>
                <c:pt idx="3">
                  <c:v>운항계획
(FP)</c:v>
                </c:pt>
                <c:pt idx="4">
                  <c:v>항공보안
(FS)</c:v>
                </c:pt>
                <c:pt idx="5">
                  <c:v>공통관리
(AOMS-CA)</c:v>
                </c:pt>
                <c:pt idx="6">
                  <c:v>자원배정
(RS)</c:v>
                </c:pt>
                <c:pt idx="7">
                  <c:v>모바일
(WES)</c:v>
                </c:pt>
                <c:pt idx="8">
                  <c:v>모바일
(MES)</c:v>
                </c:pt>
                <c:pt idx="9">
                  <c:v>통계포털
(AS)</c:v>
                </c:pt>
              </c:strCache>
            </c:strRef>
          </c:cat>
          <c:val>
            <c:numRef>
              <c:f>Sheet1!$C$2:$C$11</c:f>
              <c:numCache>
                <c:formatCode>General</c:formatCode>
                <c:ptCount val="10"/>
                <c:pt idx="0">
                  <c:v>39.5</c:v>
                </c:pt>
                <c:pt idx="1">
                  <c:v>21.1</c:v>
                </c:pt>
                <c:pt idx="2">
                  <c:v>39.1</c:v>
                </c:pt>
                <c:pt idx="3">
                  <c:v>22.5</c:v>
                </c:pt>
                <c:pt idx="4">
                  <c:v>14</c:v>
                </c:pt>
                <c:pt idx="5">
                  <c:v>36.1</c:v>
                </c:pt>
                <c:pt idx="6">
                  <c:v>43.9</c:v>
                </c:pt>
                <c:pt idx="7">
                  <c:v>0</c:v>
                </c:pt>
                <c:pt idx="8">
                  <c:v>0</c:v>
                </c:pt>
                <c:pt idx="9">
                  <c:v>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E48A-4711-A3C5-BDDA2A31FE72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2차 공사(%)</c:v>
                </c:pt>
              </c:strCache>
            </c:strRef>
          </c:tx>
          <c:spPr>
            <a:solidFill>
              <a:srgbClr val="60A5FA"/>
            </a:solidFill>
            <a:effectLst/>
          </c:spPr>
          <c:invertIfNegative val="0"/>
          <c:cat>
            <c:strRef>
              <c:f>Sheet1!$A$2:$A$11</c:f>
              <c:strCache>
                <c:ptCount val="10"/>
                <c:pt idx="0">
                  <c:v>공항운영
(GO)</c:v>
                </c:pt>
                <c:pt idx="1">
                  <c:v>항공기관제
(AC)</c:v>
                </c:pt>
                <c:pt idx="2">
                  <c:v>공통관리
(FIMS-CA)</c:v>
                </c:pt>
                <c:pt idx="3">
                  <c:v>운항계획
(FP)</c:v>
                </c:pt>
                <c:pt idx="4">
                  <c:v>항공보안
(FS)</c:v>
                </c:pt>
                <c:pt idx="5">
                  <c:v>공통관리
(AOMS-CA)</c:v>
                </c:pt>
                <c:pt idx="6">
                  <c:v>자원배정
(RS)</c:v>
                </c:pt>
                <c:pt idx="7">
                  <c:v>모바일
(WES)</c:v>
                </c:pt>
                <c:pt idx="8">
                  <c:v>모바일
(MES)</c:v>
                </c:pt>
                <c:pt idx="9">
                  <c:v>통계포털
(AS)</c:v>
                </c:pt>
              </c:strCache>
            </c:strRef>
          </c:cat>
          <c:val>
            <c:numRef>
              <c:f>Sheet1!$D$2:$D$11</c:f>
              <c:numCache>
                <c:formatCode>General</c:formatCode>
                <c:ptCount val="10"/>
                <c:pt idx="0">
                  <c:v>10.1</c:v>
                </c:pt>
                <c:pt idx="1">
                  <c:v>19.5</c:v>
                </c:pt>
                <c:pt idx="2">
                  <c:v>42.6</c:v>
                </c:pt>
                <c:pt idx="3">
                  <c:v>22.2</c:v>
                </c:pt>
                <c:pt idx="4">
                  <c:v>25.5</c:v>
                </c:pt>
                <c:pt idx="5">
                  <c:v>49.4</c:v>
                </c:pt>
                <c:pt idx="6">
                  <c:v>21.5</c:v>
                </c:pt>
                <c:pt idx="7">
                  <c:v>10.8</c:v>
                </c:pt>
                <c:pt idx="8">
                  <c:v>26.7</c:v>
                </c:pt>
                <c:pt idx="9">
                  <c:v>6.2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E48A-4711-A3C5-BDDA2A31FE72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2차 현업(%)</c:v>
                </c:pt>
              </c:strCache>
            </c:strRef>
          </c:tx>
          <c:spPr>
            <a:solidFill>
              <a:srgbClr val="BAE6FD"/>
            </a:solidFill>
            <a:effectLst/>
          </c:spPr>
          <c:invertIfNegative val="0"/>
          <c:cat>
            <c:strRef>
              <c:f>Sheet1!$A$2:$A$11</c:f>
              <c:strCache>
                <c:ptCount val="10"/>
                <c:pt idx="0">
                  <c:v>공항운영
(GO)</c:v>
                </c:pt>
                <c:pt idx="1">
                  <c:v>항공기관제
(AC)</c:v>
                </c:pt>
                <c:pt idx="2">
                  <c:v>공통관리
(FIMS-CA)</c:v>
                </c:pt>
                <c:pt idx="3">
                  <c:v>운항계획
(FP)</c:v>
                </c:pt>
                <c:pt idx="4">
                  <c:v>항공보안
(FS)</c:v>
                </c:pt>
                <c:pt idx="5">
                  <c:v>공통관리
(AOMS-CA)</c:v>
                </c:pt>
                <c:pt idx="6">
                  <c:v>자원배정
(RS)</c:v>
                </c:pt>
                <c:pt idx="7">
                  <c:v>모바일
(WES)</c:v>
                </c:pt>
                <c:pt idx="8">
                  <c:v>모바일
(MES)</c:v>
                </c:pt>
                <c:pt idx="9">
                  <c:v>통계포털
(AS)</c:v>
                </c:pt>
              </c:strCache>
            </c:strRef>
          </c:cat>
          <c:val>
            <c:numRef>
              <c:f>Sheet1!$E$2:$E$11</c:f>
              <c:numCache>
                <c:formatCode>General</c:formatCode>
                <c:ptCount val="10"/>
                <c:pt idx="0">
                  <c:v>4.8</c:v>
                </c:pt>
                <c:pt idx="1">
                  <c:v>22.4</c:v>
                </c:pt>
                <c:pt idx="2">
                  <c:v>3.2</c:v>
                </c:pt>
                <c:pt idx="3">
                  <c:v>7</c:v>
                </c:pt>
                <c:pt idx="4">
                  <c:v>2</c:v>
                </c:pt>
                <c:pt idx="5">
                  <c:v>5.9</c:v>
                </c:pt>
                <c:pt idx="6">
                  <c:v>18.5</c:v>
                </c:pt>
                <c:pt idx="7">
                  <c:v>5.6</c:v>
                </c:pt>
                <c:pt idx="8">
                  <c:v>18.5</c:v>
                </c:pt>
                <c:pt idx="9">
                  <c:v>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3-E48A-4711-A3C5-BDDA2A31FE72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750" b="0" i="0" u="none" strike="noStrike">
                <a:solidFill>
                  <a:srgbClr val="4B5563"/>
                </a:solidFill>
                <a:latin typeface="Rix고딕 L" panose="02020603020101020101" pitchFamily="18" charset="-127"/>
                <a:ea typeface="Rix고딕 L" panose="02020603020101020101" pitchFamily="18" charset="-127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D1D9E6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9CA3AF"/>
                </a:solidFill>
                <a:latin typeface="Rix고딕 L" panose="02020603020101020101" pitchFamily="18" charset="-127"/>
                <a:ea typeface="Rix고딕 L" panose="02020603020101020101" pitchFamily="18" charset="-127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layout>
        <c:manualLayout>
          <c:xMode val="edge"/>
          <c:yMode val="edge"/>
          <c:x val="0.21082730352191417"/>
          <c:y val="0.85530509344226713"/>
          <c:w val="0.58835220087131856"/>
          <c:h val="7.6816878153388723E-2"/>
        </c:manualLayout>
      </c:layout>
      <c:overlay val="0"/>
      <c:txPr>
        <a:bodyPr/>
        <a:lstStyle/>
        <a:p>
          <a:pPr>
            <a:defRPr sz="800">
              <a:latin typeface="Rix고딕 L" panose="02020603020101020101" pitchFamily="18" charset="-127"/>
              <a:ea typeface="Rix고딕 L" panose="02020603020101020101" pitchFamily="18" charset="-127"/>
            </a:defRPr>
          </a:pPr>
          <a:endParaRPr lang="en-US"/>
        </a:p>
      </c:txPr>
    </c:legend>
    <c:plotVisOnly val="1"/>
    <c:dispBlanksAs val="span"/>
    <c:showDLblsOverMax val="1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1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ko-KR"/>
  <c:roundedCorners val="1"/>
  <c:style val="2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실질 결함율(%)</c:v>
                </c:pt>
              </c:strCache>
            </c:strRef>
          </c:tx>
          <c:spPr>
            <a:solidFill>
              <a:srgbClr val="2563A8"/>
            </a:solidFill>
            <a:effectLst/>
          </c:spPr>
          <c:invertIfNegative val="0"/>
          <c:dLbls>
            <c:dLbl>
              <c:idx val="2"/>
              <c:tx>
                <c:rich>
                  <a:bodyPr/>
                  <a:lstStyle/>
                  <a:p>
                    <a:r>
                      <a:rPr lang="en-US" altLang="ko-KR"/>
                      <a:t>221</a:t>
                    </a:r>
                    <a:endParaRPr lang="en-US" altLang="ko-KR" dirty="0"/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0-92A4-41F5-A0A5-C25FA05EA514}"/>
                </c:ext>
              </c:extLst>
            </c:dLbl>
            <c:numFmt formatCode="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800" b="0" i="0" u="none" strike="noStrike">
                    <a:solidFill>
                      <a:srgbClr val="1B3A6B"/>
                    </a:solidFill>
                    <a:latin typeface="Rix고딕 L" panose="02020603020101020101" pitchFamily="18" charset="-127"/>
                    <a:ea typeface="Rix고딕 L" panose="02020603020101020101" pitchFamily="18" charset="-127"/>
                  </a:defRPr>
                </a:pPr>
                <a:endParaRPr lang="ko-KR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Sheet1!$A$2:$A$12</c:f>
              <c:strCache>
                <c:ptCount val="11"/>
                <c:pt idx="0">
                  <c:v>공항운영</c:v>
                </c:pt>
                <c:pt idx="1">
                  <c:v>항공기관제</c:v>
                </c:pt>
                <c:pt idx="2">
                  <c:v>항공보안</c:v>
                </c:pt>
                <c:pt idx="3">
                  <c:v>FIMS-CA</c:v>
                </c:pt>
                <c:pt idx="4">
                  <c:v>운항계획</c:v>
                </c:pt>
                <c:pt idx="5">
                  <c:v>자원배정</c:v>
                </c:pt>
                <c:pt idx="6">
                  <c:v>AOMS-CA</c:v>
                </c:pt>
                <c:pt idx="7">
                  <c:v>모바일WES</c:v>
                </c:pt>
                <c:pt idx="8">
                  <c:v>예측관리</c:v>
                </c:pt>
                <c:pt idx="9">
                  <c:v>통계포털</c:v>
                </c:pt>
                <c:pt idx="10">
                  <c:v>A-CDM</c:v>
                </c:pt>
              </c:strCache>
            </c:strRef>
          </c:cat>
          <c:val>
            <c:numRef>
              <c:f>Sheet1!$B$2:$B$12</c:f>
              <c:numCache>
                <c:formatCode>General</c:formatCode>
                <c:ptCount val="11"/>
                <c:pt idx="0">
                  <c:v>162</c:v>
                </c:pt>
                <c:pt idx="1">
                  <c:v>256</c:v>
                </c:pt>
                <c:pt idx="2">
                  <c:v>233</c:v>
                </c:pt>
                <c:pt idx="3">
                  <c:v>185</c:v>
                </c:pt>
                <c:pt idx="4">
                  <c:v>87</c:v>
                </c:pt>
                <c:pt idx="5">
                  <c:v>149</c:v>
                </c:pt>
                <c:pt idx="6">
                  <c:v>195</c:v>
                </c:pt>
                <c:pt idx="7">
                  <c:v>105</c:v>
                </c:pt>
                <c:pt idx="8">
                  <c:v>124</c:v>
                </c:pt>
                <c:pt idx="9">
                  <c:v>103</c:v>
                </c:pt>
                <c:pt idx="10">
                  <c:v>88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19B1-445A-975B-8E9C2FC3897F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4B5563"/>
                </a:solidFill>
                <a:latin typeface="Rix고딕 L" panose="02020603020101020101" pitchFamily="18" charset="-127"/>
                <a:ea typeface="Rix고딕 L" panose="02020603020101020101" pitchFamily="18" charset="-127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b"/>
        <c:majorGridlines>
          <c:spPr>
            <a:ln w="6350" cap="flat">
              <a:solidFill>
                <a:srgbClr val="D1D9E6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750" b="0" i="0" u="none" strike="noStrike">
                <a:solidFill>
                  <a:srgbClr val="9CA3AF"/>
                </a:solidFill>
                <a:latin typeface="Rix고딕 L" panose="02020603020101020101" pitchFamily="18" charset="-127"/>
                <a:ea typeface="Rix고딕 L" panose="02020603020101020101" pitchFamily="18" charset="-127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  <c:showDLblsOverMax val="1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14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ko-KR"/>
  <c:roundedCorners val="1"/>
  <c:style val="2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결함 해소율(%)</c:v>
                </c:pt>
              </c:strCache>
            </c:strRef>
          </c:tx>
          <c:spPr>
            <a:solidFill>
              <a:srgbClr val="16A34A"/>
            </a:solidFill>
            <a:effectLst/>
          </c:spPr>
          <c:invertIfNegative val="0"/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800" b="0" i="0" u="none" strike="noStrike">
                    <a:solidFill>
                      <a:srgbClr val="1B3A6B"/>
                    </a:solidFill>
                    <a:latin typeface="Rix고딕 L" panose="02020603020101020101" pitchFamily="18" charset="-127"/>
                    <a:ea typeface="Rix고딕 L" panose="02020603020101020101" pitchFamily="18" charset="-127"/>
                  </a:defRPr>
                </a:pPr>
                <a:endParaRPr lang="ko-KR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Sheet1!$A$2:$A$12</c:f>
              <c:strCache>
                <c:ptCount val="11"/>
                <c:pt idx="0">
                  <c:v>공항운영</c:v>
                </c:pt>
                <c:pt idx="1">
                  <c:v>항공기관제</c:v>
                </c:pt>
                <c:pt idx="2">
                  <c:v>항공보안</c:v>
                </c:pt>
                <c:pt idx="3">
                  <c:v>FIMS-CA</c:v>
                </c:pt>
                <c:pt idx="4">
                  <c:v>운항계획</c:v>
                </c:pt>
                <c:pt idx="5">
                  <c:v>자원배정</c:v>
                </c:pt>
                <c:pt idx="6">
                  <c:v>AOMS-CA</c:v>
                </c:pt>
                <c:pt idx="7">
                  <c:v>모바일WES</c:v>
                </c:pt>
                <c:pt idx="8">
                  <c:v>예측관리</c:v>
                </c:pt>
                <c:pt idx="9">
                  <c:v>통계포털</c:v>
                </c:pt>
                <c:pt idx="10">
                  <c:v>A-CDM</c:v>
                </c:pt>
              </c:strCache>
            </c:strRef>
          </c:cat>
          <c:val>
            <c:numRef>
              <c:f>Sheet1!$B$2:$B$12</c:f>
              <c:numCache>
                <c:formatCode>General</c:formatCode>
                <c:ptCount val="11"/>
                <c:pt idx="0">
                  <c:v>46</c:v>
                </c:pt>
                <c:pt idx="1">
                  <c:v>41</c:v>
                </c:pt>
                <c:pt idx="2">
                  <c:v>55</c:v>
                </c:pt>
                <c:pt idx="3">
                  <c:v>56</c:v>
                </c:pt>
                <c:pt idx="4">
                  <c:v>65</c:v>
                </c:pt>
                <c:pt idx="5">
                  <c:v>62</c:v>
                </c:pt>
                <c:pt idx="6">
                  <c:v>52</c:v>
                </c:pt>
                <c:pt idx="7">
                  <c:v>70</c:v>
                </c:pt>
                <c:pt idx="8">
                  <c:v>51</c:v>
                </c:pt>
                <c:pt idx="9">
                  <c:v>38</c:v>
                </c:pt>
                <c:pt idx="10">
                  <c:v>58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4597-4440-AE69-2ADE4C27B858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4B5563"/>
                </a:solidFill>
                <a:latin typeface="Rix고딕 L" panose="02020603020101020101" pitchFamily="18" charset="-127"/>
                <a:ea typeface="Rix고딕 L" panose="02020603020101020101" pitchFamily="18" charset="-127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b"/>
        <c:majorGridlines>
          <c:spPr>
            <a:ln w="6350" cap="flat">
              <a:solidFill>
                <a:srgbClr val="D1D9E6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750" b="0" i="0" u="none" strike="noStrike">
                <a:solidFill>
                  <a:srgbClr val="9CA3AF"/>
                </a:solidFill>
                <a:latin typeface="Rix고딕 L" panose="02020603020101020101" pitchFamily="18" charset="-127"/>
                <a:ea typeface="Rix고딕 L" panose="02020603020101020101" pitchFamily="18" charset="-127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  <c:showDLblsOverMax val="1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15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ko-KR"/>
  <c:roundedCorners val="1"/>
  <c:style val="2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②가중지수(×10)</c:v>
                </c:pt>
              </c:strCache>
            </c:strRef>
          </c:tx>
          <c:spPr>
            <a:solidFill>
              <a:srgbClr val="DC2626"/>
            </a:solidFill>
            <a:effectLst/>
          </c:spPr>
          <c:invertIfNegative val="0"/>
          <c:cat>
            <c:strRef>
              <c:f>Sheet1!$A$2:$A$12</c:f>
              <c:strCache>
                <c:ptCount val="11"/>
                <c:pt idx="0">
                  <c:v>공항운영</c:v>
                </c:pt>
                <c:pt idx="1">
                  <c:v>항공기관제</c:v>
                </c:pt>
                <c:pt idx="2">
                  <c:v>항공보안</c:v>
                </c:pt>
                <c:pt idx="3">
                  <c:v>FIMS-CA</c:v>
                </c:pt>
                <c:pt idx="4">
                  <c:v>운항계획</c:v>
                </c:pt>
                <c:pt idx="5">
                  <c:v>자원배정</c:v>
                </c:pt>
                <c:pt idx="6">
                  <c:v>AOMS-CA</c:v>
                </c:pt>
                <c:pt idx="7">
                  <c:v>모바일WES</c:v>
                </c:pt>
                <c:pt idx="8">
                  <c:v>예측관리</c:v>
                </c:pt>
                <c:pt idx="9">
                  <c:v>통계포털</c:v>
                </c:pt>
                <c:pt idx="10">
                  <c:v>A-CDM</c:v>
                </c:pt>
              </c:strCache>
            </c:strRef>
          </c:cat>
          <c:val>
            <c:numRef>
              <c:f>Sheet1!$B$2:$B$12</c:f>
              <c:numCache>
                <c:formatCode>General</c:formatCode>
                <c:ptCount val="11"/>
                <c:pt idx="0">
                  <c:v>28</c:v>
                </c:pt>
                <c:pt idx="1">
                  <c:v>41</c:v>
                </c:pt>
                <c:pt idx="2">
                  <c:v>25</c:v>
                </c:pt>
                <c:pt idx="3">
                  <c:v>26</c:v>
                </c:pt>
                <c:pt idx="4">
                  <c:v>32</c:v>
                </c:pt>
                <c:pt idx="5">
                  <c:v>31</c:v>
                </c:pt>
                <c:pt idx="6">
                  <c:v>27</c:v>
                </c:pt>
                <c:pt idx="7">
                  <c:v>15</c:v>
                </c:pt>
                <c:pt idx="8">
                  <c:v>24</c:v>
                </c:pt>
                <c:pt idx="9">
                  <c:v>18</c:v>
                </c:pt>
                <c:pt idx="10">
                  <c:v>20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9378-4B04-8FD8-064FCE1A460C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④기능집중도(%)</c:v>
                </c:pt>
              </c:strCache>
            </c:strRef>
          </c:tx>
          <c:spPr>
            <a:solidFill>
              <a:srgbClr val="E85D2F"/>
            </a:solidFill>
            <a:effectLst/>
          </c:spPr>
          <c:invertIfNegative val="0"/>
          <c:cat>
            <c:strRef>
              <c:f>Sheet1!$A$2:$A$12</c:f>
              <c:strCache>
                <c:ptCount val="11"/>
                <c:pt idx="0">
                  <c:v>공항운영</c:v>
                </c:pt>
                <c:pt idx="1">
                  <c:v>항공기관제</c:v>
                </c:pt>
                <c:pt idx="2">
                  <c:v>항공보안</c:v>
                </c:pt>
                <c:pt idx="3">
                  <c:v>FIMS-CA</c:v>
                </c:pt>
                <c:pt idx="4">
                  <c:v>운항계획</c:v>
                </c:pt>
                <c:pt idx="5">
                  <c:v>자원배정</c:v>
                </c:pt>
                <c:pt idx="6">
                  <c:v>AOMS-CA</c:v>
                </c:pt>
                <c:pt idx="7">
                  <c:v>모바일WES</c:v>
                </c:pt>
                <c:pt idx="8">
                  <c:v>예측관리</c:v>
                </c:pt>
                <c:pt idx="9">
                  <c:v>통계포털</c:v>
                </c:pt>
                <c:pt idx="10">
                  <c:v>A-CDM</c:v>
                </c:pt>
              </c:strCache>
            </c:strRef>
          </c:cat>
          <c:val>
            <c:numRef>
              <c:f>Sheet1!$C$2:$C$12</c:f>
              <c:numCache>
                <c:formatCode>General</c:formatCode>
                <c:ptCount val="11"/>
                <c:pt idx="0">
                  <c:v>5</c:v>
                </c:pt>
                <c:pt idx="1">
                  <c:v>74</c:v>
                </c:pt>
                <c:pt idx="2">
                  <c:v>39</c:v>
                </c:pt>
                <c:pt idx="3">
                  <c:v>32</c:v>
                </c:pt>
                <c:pt idx="4">
                  <c:v>73</c:v>
                </c:pt>
                <c:pt idx="5">
                  <c:v>74</c:v>
                </c:pt>
                <c:pt idx="6">
                  <c:v>33</c:v>
                </c:pt>
                <c:pt idx="7">
                  <c:v>15</c:v>
                </c:pt>
                <c:pt idx="8">
                  <c:v>4</c:v>
                </c:pt>
                <c:pt idx="9">
                  <c:v>9</c:v>
                </c:pt>
                <c:pt idx="10">
                  <c:v>19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9378-4B04-8FD8-064FCE1A460C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⑤미결위험도(%)</c:v>
                </c:pt>
              </c:strCache>
            </c:strRef>
          </c:tx>
          <c:spPr>
            <a:solidFill>
              <a:srgbClr val="2563A8"/>
            </a:solidFill>
            <a:effectLst/>
          </c:spPr>
          <c:invertIfNegative val="0"/>
          <c:cat>
            <c:strRef>
              <c:f>Sheet1!$A$2:$A$12</c:f>
              <c:strCache>
                <c:ptCount val="11"/>
                <c:pt idx="0">
                  <c:v>공항운영</c:v>
                </c:pt>
                <c:pt idx="1">
                  <c:v>항공기관제</c:v>
                </c:pt>
                <c:pt idx="2">
                  <c:v>항공보안</c:v>
                </c:pt>
                <c:pt idx="3">
                  <c:v>FIMS-CA</c:v>
                </c:pt>
                <c:pt idx="4">
                  <c:v>운항계획</c:v>
                </c:pt>
                <c:pt idx="5">
                  <c:v>자원배정</c:v>
                </c:pt>
                <c:pt idx="6">
                  <c:v>AOMS-CA</c:v>
                </c:pt>
                <c:pt idx="7">
                  <c:v>모바일WES</c:v>
                </c:pt>
                <c:pt idx="8">
                  <c:v>예측관리</c:v>
                </c:pt>
                <c:pt idx="9">
                  <c:v>통계포털</c:v>
                </c:pt>
                <c:pt idx="10">
                  <c:v>A-CDM</c:v>
                </c:pt>
              </c:strCache>
            </c:strRef>
          </c:cat>
          <c:val>
            <c:numRef>
              <c:f>Sheet1!$D$2:$D$12</c:f>
              <c:numCache>
                <c:formatCode>General</c:formatCode>
                <c:ptCount val="11"/>
                <c:pt idx="0">
                  <c:v>14</c:v>
                </c:pt>
                <c:pt idx="1">
                  <c:v>11</c:v>
                </c:pt>
                <c:pt idx="2">
                  <c:v>8</c:v>
                </c:pt>
                <c:pt idx="3">
                  <c:v>9</c:v>
                </c:pt>
                <c:pt idx="4">
                  <c:v>8</c:v>
                </c:pt>
                <c:pt idx="5">
                  <c:v>12</c:v>
                </c:pt>
                <c:pt idx="6">
                  <c:v>12</c:v>
                </c:pt>
                <c:pt idx="7">
                  <c:v>5</c:v>
                </c:pt>
                <c:pt idx="8">
                  <c:v>13</c:v>
                </c:pt>
                <c:pt idx="9">
                  <c:v>53</c:v>
                </c:pt>
                <c:pt idx="10">
                  <c:v>11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9378-4B04-8FD8-064FCE1A460C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750" b="0" i="0" u="none" strike="noStrike">
                <a:solidFill>
                  <a:srgbClr val="4B5563"/>
                </a:solidFill>
                <a:latin typeface="Rix고딕 L" panose="02020603020101020101" pitchFamily="18" charset="-127"/>
                <a:ea typeface="Rix고딕 L" panose="02020603020101020101" pitchFamily="18" charset="-127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D1D9E6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700" b="0" i="0" u="none" strike="noStrike">
                <a:solidFill>
                  <a:srgbClr val="9CA3AF"/>
                </a:solidFill>
                <a:latin typeface="Rix고딕 L" panose="02020603020101020101" pitchFamily="18" charset="-127"/>
                <a:ea typeface="Rix고딕 L" panose="02020603020101020101" pitchFamily="18" charset="-127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r"/>
      <c:overlay val="0"/>
      <c:txPr>
        <a:bodyPr/>
        <a:lstStyle/>
        <a:p>
          <a:pPr>
            <a:defRPr sz="800">
              <a:latin typeface="Rix고딕 L" panose="02020603020101020101" pitchFamily="18" charset="-127"/>
              <a:ea typeface="Rix고딕 L" panose="02020603020101020101" pitchFamily="18" charset="-127"/>
            </a:defRPr>
          </a:pPr>
          <a:endParaRPr lang="en-US"/>
        </a:p>
      </c:txPr>
    </c:legend>
    <c:plotVisOnly val="1"/>
    <c:dispBlanksAs val="span"/>
    <c:showDLblsOverMax val="1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16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ko-KR"/>
  <c:roundedCorners val="1"/>
  <c:style val="2"/>
  <c:chart>
    <c:title>
      <c:tx>
        <c:rich>
          <a:bodyPr/>
          <a:lstStyle/>
          <a:p>
            <a:pPr>
              <a:defRPr sz="1100" b="1" i="0" u="none" strike="noStrike">
                <a:solidFill>
                  <a:srgbClr val="1B3A6B"/>
                </a:solidFill>
                <a:latin typeface="Rix고딕 L" panose="02020603020101020101" pitchFamily="18" charset="-127"/>
                <a:ea typeface="Rix고딕 L" panose="02020603020101020101" pitchFamily="18" charset="-127"/>
              </a:defRPr>
            </a:pPr>
            <a:r>
              <a:rPr lang="ko-KR" altLang="en-US" sz="1100" b="1" i="0" u="none" strike="noStrike" dirty="0">
                <a:solidFill>
                  <a:srgbClr val="1B3A6B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단계별 결함 건수 </a:t>
            </a:r>
            <a:r>
              <a:rPr lang="en-US" altLang="ko-KR" sz="1100" b="1" i="0" u="none" strike="noStrike" dirty="0">
                <a:solidFill>
                  <a:srgbClr val="1B3A6B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(</a:t>
            </a:r>
            <a:r>
              <a:rPr lang="ko-KR" altLang="en-US" sz="1100" b="1" i="0" u="none" strike="noStrike" dirty="0">
                <a:solidFill>
                  <a:srgbClr val="1B3A6B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분석대상 </a:t>
            </a:r>
            <a:r>
              <a:rPr lang="en-US" altLang="ko-KR" sz="1100" b="1" i="0" u="none" strike="noStrike" dirty="0">
                <a:solidFill>
                  <a:srgbClr val="1B3A6B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4,203</a:t>
            </a:r>
            <a:r>
              <a:rPr lang="ko-KR" altLang="en-US" sz="1100" b="1" i="0" u="none" strike="noStrike" dirty="0">
                <a:solidFill>
                  <a:srgbClr val="1B3A6B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건</a:t>
            </a:r>
            <a:r>
              <a:rPr lang="en-US" altLang="ko-KR" sz="1100" b="1" i="0" u="none" strike="noStrike" dirty="0">
                <a:solidFill>
                  <a:srgbClr val="1B3A6B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)</a:t>
            </a:r>
          </a:p>
        </c:rich>
      </c:tx>
      <c:layout>
        <c:manualLayout>
          <c:xMode val="edge"/>
          <c:yMode val="edge"/>
          <c:x val="0.26383474117392247"/>
          <c:y val="0.90619307832422591"/>
        </c:manualLayout>
      </c:layout>
      <c:overlay val="0"/>
    </c:title>
    <c:autoTitleDeleted val="0"/>
    <c:plotArea>
      <c:layout>
        <c:manualLayout>
          <c:layoutTarget val="inner"/>
          <c:xMode val="edge"/>
          <c:yMode val="edge"/>
          <c:x val="0.16883023028554178"/>
          <c:y val="5.0184300732900077E-3"/>
          <c:w val="0.78293902498298829"/>
          <c:h val="0.75160590277777772"/>
        </c:manualLayout>
      </c:layout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결함 건수</c:v>
                </c:pt>
              </c:strCache>
            </c:strRef>
          </c:tx>
          <c:spPr>
            <a:solidFill>
              <a:srgbClr val="9CA3AF"/>
            </a:solidFill>
            <a:effectLst/>
          </c:spPr>
          <c:invertIfNegative val="0"/>
          <c:dPt>
            <c:idx val="0"/>
            <c:invertIfNegative val="0"/>
            <c:bubble3D val="0"/>
            <c:spPr>
              <a:solidFill>
                <a:srgbClr val="9CA3AF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1-83D8-4374-96C5-FA93A6812679}"/>
              </c:ext>
            </c:extLst>
          </c:dPt>
          <c:dPt>
            <c:idx val="1"/>
            <c:invertIfNegative val="0"/>
            <c:bubble3D val="0"/>
            <c:spPr>
              <a:solidFill>
                <a:srgbClr val="3B82C4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3-83D8-4374-96C5-FA93A6812679}"/>
              </c:ext>
            </c:extLst>
          </c:dPt>
          <c:dPt>
            <c:idx val="2"/>
            <c:invertIfNegative val="0"/>
            <c:bubble3D val="0"/>
            <c:spPr>
              <a:solidFill>
                <a:srgbClr val="DC2626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5-83D8-4374-96C5-FA93A6812679}"/>
              </c:ext>
            </c:extLst>
          </c:dPt>
          <c:dPt>
            <c:idx val="3"/>
            <c:invertIfNegative val="0"/>
            <c:bubble3D val="0"/>
            <c:spPr>
              <a:solidFill>
                <a:srgbClr val="2563A8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7-83D8-4374-96C5-FA93A6812679}"/>
              </c:ext>
            </c:extLst>
          </c:dPt>
          <c:dPt>
            <c:idx val="4"/>
            <c:invertIfNegative val="0"/>
            <c:bubble3D val="0"/>
            <c:spPr>
              <a:solidFill>
                <a:srgbClr val="1B3A6B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9-83D8-4374-96C5-FA93A6812679}"/>
              </c:ext>
            </c:extLst>
          </c:dPt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000" b="0" i="0" u="none" strike="noStrike">
                    <a:solidFill>
                      <a:srgbClr val="1B3A6B"/>
                    </a:solidFill>
                    <a:latin typeface="Rix고딕 L" panose="02020603020101020101" pitchFamily="18" charset="-127"/>
                    <a:ea typeface="Rix고딕 L" panose="02020603020101020101" pitchFamily="18" charset="-127"/>
                  </a:defRPr>
                </a:pPr>
                <a:endParaRPr lang="ko-KR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Sheet1!$A$2:$A$6</c:f>
              <c:strCache>
                <c:ptCount val="5"/>
                <c:pt idx="0">
                  <c:v>감리 테스트</c:v>
                </c:pt>
                <c:pt idx="1">
                  <c:v>현업 테스트</c:v>
                </c:pt>
                <c:pt idx="2">
                  <c:v>공사 테스트</c:v>
                </c:pt>
                <c:pt idx="3">
                  <c:v>3자 테스트</c:v>
                </c:pt>
                <c:pt idx="4">
                  <c:v>개발자·PL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435</c:v>
                </c:pt>
                <c:pt idx="1">
                  <c:v>671</c:v>
                </c:pt>
                <c:pt idx="2">
                  <c:v>2007</c:v>
                </c:pt>
                <c:pt idx="3">
                  <c:v>882</c:v>
                </c:pt>
                <c:pt idx="4">
                  <c:v>208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A-83D8-4374-96C5-FA93A6812679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4B5563"/>
                </a:solidFill>
                <a:latin typeface="Rix고딕 L" panose="02020603020101020101" pitchFamily="18" charset="-127"/>
                <a:ea typeface="Rix고딕 L" panose="02020603020101020101" pitchFamily="18" charset="-127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b"/>
        <c:majorGridlines>
          <c:spPr>
            <a:ln w="6350" cap="flat">
              <a:solidFill>
                <a:srgbClr val="D1D9E6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9CA3AF"/>
                </a:solidFill>
                <a:latin typeface="Rix고딕 L" panose="02020603020101020101" pitchFamily="18" charset="-127"/>
                <a:ea typeface="Rix고딕 L" panose="02020603020101020101" pitchFamily="18" charset="-127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  <c:showDLblsOverMax val="1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17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ko-KR"/>
  <c:roundedCorners val="1"/>
  <c:style val="2"/>
  <c:chart>
    <c:title>
      <c:tx>
        <c:rich>
          <a:bodyPr/>
          <a:lstStyle/>
          <a:p>
            <a:pPr>
              <a:defRPr sz="1050" b="1" i="0" u="none" strike="noStrike">
                <a:solidFill>
                  <a:srgbClr val="1B3A6B"/>
                </a:solidFill>
                <a:latin typeface="Rix고딕 L" panose="02020603020101020101" pitchFamily="18" charset="-127"/>
                <a:ea typeface="Rix고딕 L" panose="02020603020101020101" pitchFamily="18" charset="-127"/>
              </a:defRPr>
            </a:pPr>
            <a:r>
              <a:rPr lang="ko-KR" altLang="en-US" sz="1050" b="1" i="0" u="none" strike="noStrike">
                <a:solidFill>
                  <a:srgbClr val="1B3A6B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모듈별 테스트 단계별 결함 누적 분포 </a:t>
            </a:r>
            <a:r>
              <a:rPr lang="en-US" altLang="ko-KR" sz="1050" b="1" i="0" u="none" strike="noStrike">
                <a:solidFill>
                  <a:srgbClr val="1B3A6B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(13</a:t>
            </a:r>
            <a:r>
              <a:rPr lang="ko-KR" altLang="en-US" sz="1050" b="1" i="0" u="none" strike="noStrike">
                <a:solidFill>
                  <a:srgbClr val="1B3A6B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개 주요 모듈</a:t>
            </a:r>
            <a:r>
              <a:rPr lang="en-US" altLang="ko-KR" sz="1050" b="1" i="0" u="none" strike="noStrike">
                <a:solidFill>
                  <a:srgbClr val="1B3A6B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)</a:t>
            </a:r>
          </a:p>
        </c:rich>
      </c:tx>
      <c:overlay val="0"/>
    </c:title>
    <c:autoTitleDeleted val="0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3자테스트</c:v>
                </c:pt>
              </c:strCache>
            </c:strRef>
          </c:tx>
          <c:spPr>
            <a:solidFill>
              <a:srgbClr val="3B82C4"/>
            </a:solidFill>
            <a:effectLst/>
          </c:spPr>
          <c:invertIfNegative val="0"/>
          <c:cat>
            <c:strRef>
              <c:f>Sheet1!$A$2:$A$14</c:f>
              <c:strCache>
                <c:ptCount val="13"/>
                <c:pt idx="0">
                  <c:v>공항운영(GO)</c:v>
                </c:pt>
                <c:pt idx="1">
                  <c:v>항공기관제(AC)</c:v>
                </c:pt>
                <c:pt idx="2">
                  <c:v>공통관리(FIMS-CA)</c:v>
                </c:pt>
                <c:pt idx="3">
                  <c:v>모바일(WES)</c:v>
                </c:pt>
                <c:pt idx="4">
                  <c:v>운항계획(FP)</c:v>
                </c:pt>
                <c:pt idx="5">
                  <c:v>자원배정(RS)</c:v>
                </c:pt>
                <c:pt idx="6">
                  <c:v>항공보안(FS)</c:v>
                </c:pt>
                <c:pt idx="7">
                  <c:v>공통관리(AOMS-CA)</c:v>
                </c:pt>
                <c:pt idx="8">
                  <c:v>모바일(MES)</c:v>
                </c:pt>
                <c:pt idx="9">
                  <c:v>예측관리(PM)</c:v>
                </c:pt>
                <c:pt idx="10">
                  <c:v>항공통계포털(AS)</c:v>
                </c:pt>
                <c:pt idx="11">
                  <c:v>자원배정차트(RC)</c:v>
                </c:pt>
                <c:pt idx="12">
                  <c:v>A-CDM(CM)</c:v>
                </c:pt>
              </c:strCache>
            </c:strRef>
          </c:cat>
          <c:val>
            <c:numRef>
              <c:f>Sheet1!$B$2:$B$14</c:f>
              <c:numCache>
                <c:formatCode>General</c:formatCode>
                <c:ptCount val="13"/>
                <c:pt idx="0">
                  <c:v>168</c:v>
                </c:pt>
                <c:pt idx="1">
                  <c:v>15</c:v>
                </c:pt>
                <c:pt idx="2">
                  <c:v>56</c:v>
                </c:pt>
                <c:pt idx="3">
                  <c:v>103</c:v>
                </c:pt>
                <c:pt idx="4">
                  <c:v>50</c:v>
                </c:pt>
                <c:pt idx="5">
                  <c:v>66</c:v>
                </c:pt>
                <c:pt idx="6">
                  <c:v>68</c:v>
                </c:pt>
                <c:pt idx="7">
                  <c:v>49</c:v>
                </c:pt>
                <c:pt idx="8">
                  <c:v>75</c:v>
                </c:pt>
                <c:pt idx="9">
                  <c:v>60</c:v>
                </c:pt>
                <c:pt idx="10">
                  <c:v>45</c:v>
                </c:pt>
                <c:pt idx="11">
                  <c:v>17</c:v>
                </c:pt>
                <c:pt idx="12">
                  <c:v>26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2D14-49D6-BB3A-D8B70642A553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공사테스트</c:v>
                </c:pt>
              </c:strCache>
            </c:strRef>
          </c:tx>
          <c:spPr>
            <a:solidFill>
              <a:srgbClr val="E85D2F"/>
            </a:solidFill>
            <a:effectLst/>
          </c:spPr>
          <c:invertIfNegative val="0"/>
          <c:cat>
            <c:strRef>
              <c:f>Sheet1!$A$2:$A$14</c:f>
              <c:strCache>
                <c:ptCount val="13"/>
                <c:pt idx="0">
                  <c:v>공항운영(GO)</c:v>
                </c:pt>
                <c:pt idx="1">
                  <c:v>항공기관제(AC)</c:v>
                </c:pt>
                <c:pt idx="2">
                  <c:v>공통관리(FIMS-CA)</c:v>
                </c:pt>
                <c:pt idx="3">
                  <c:v>모바일(WES)</c:v>
                </c:pt>
                <c:pt idx="4">
                  <c:v>운항계획(FP)</c:v>
                </c:pt>
                <c:pt idx="5">
                  <c:v>자원배정(RS)</c:v>
                </c:pt>
                <c:pt idx="6">
                  <c:v>항공보안(FS)</c:v>
                </c:pt>
                <c:pt idx="7">
                  <c:v>공통관리(AOMS-CA)</c:v>
                </c:pt>
                <c:pt idx="8">
                  <c:v>모바일(MES)</c:v>
                </c:pt>
                <c:pt idx="9">
                  <c:v>예측관리(PM)</c:v>
                </c:pt>
                <c:pt idx="10">
                  <c:v>항공통계포털(AS)</c:v>
                </c:pt>
                <c:pt idx="11">
                  <c:v>자원배정차트(RC)</c:v>
                </c:pt>
                <c:pt idx="12">
                  <c:v>A-CDM(CM)</c:v>
                </c:pt>
              </c:strCache>
            </c:strRef>
          </c:cat>
          <c:val>
            <c:numRef>
              <c:f>Sheet1!$C$2:$C$14</c:f>
              <c:numCache>
                <c:formatCode>General</c:formatCode>
                <c:ptCount val="13"/>
                <c:pt idx="0">
                  <c:v>115</c:v>
                </c:pt>
                <c:pt idx="1">
                  <c:v>7</c:v>
                </c:pt>
                <c:pt idx="2">
                  <c:v>30</c:v>
                </c:pt>
                <c:pt idx="3">
                  <c:v>18</c:v>
                </c:pt>
                <c:pt idx="4">
                  <c:v>16</c:v>
                </c:pt>
                <c:pt idx="5">
                  <c:v>36</c:v>
                </c:pt>
                <c:pt idx="6">
                  <c:v>20</c:v>
                </c:pt>
                <c:pt idx="7">
                  <c:v>16</c:v>
                </c:pt>
                <c:pt idx="8">
                  <c:v>9</c:v>
                </c:pt>
                <c:pt idx="9">
                  <c:v>38</c:v>
                </c:pt>
                <c:pt idx="10">
                  <c:v>49</c:v>
                </c:pt>
                <c:pt idx="11">
                  <c:v>17</c:v>
                </c:pt>
                <c:pt idx="12">
                  <c:v>40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2D14-49D6-BB3A-D8B70642A553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현업테스트</c:v>
                </c:pt>
              </c:strCache>
            </c:strRef>
          </c:tx>
          <c:spPr>
            <a:solidFill>
              <a:srgbClr val="2563A8"/>
            </a:solidFill>
            <a:effectLst/>
          </c:spPr>
          <c:invertIfNegative val="0"/>
          <c:cat>
            <c:strRef>
              <c:f>Sheet1!$A$2:$A$14</c:f>
              <c:strCache>
                <c:ptCount val="13"/>
                <c:pt idx="0">
                  <c:v>공항운영(GO)</c:v>
                </c:pt>
                <c:pt idx="1">
                  <c:v>항공기관제(AC)</c:v>
                </c:pt>
                <c:pt idx="2">
                  <c:v>공통관리(FIMS-CA)</c:v>
                </c:pt>
                <c:pt idx="3">
                  <c:v>모바일(WES)</c:v>
                </c:pt>
                <c:pt idx="4">
                  <c:v>운항계획(FP)</c:v>
                </c:pt>
                <c:pt idx="5">
                  <c:v>자원배정(RS)</c:v>
                </c:pt>
                <c:pt idx="6">
                  <c:v>항공보안(FS)</c:v>
                </c:pt>
                <c:pt idx="7">
                  <c:v>공통관리(AOMS-CA)</c:v>
                </c:pt>
                <c:pt idx="8">
                  <c:v>모바일(MES)</c:v>
                </c:pt>
                <c:pt idx="9">
                  <c:v>예측관리(PM)</c:v>
                </c:pt>
                <c:pt idx="10">
                  <c:v>항공통계포털(AS)</c:v>
                </c:pt>
                <c:pt idx="11">
                  <c:v>자원배정차트(RC)</c:v>
                </c:pt>
                <c:pt idx="12">
                  <c:v>A-CDM(CM)</c:v>
                </c:pt>
              </c:strCache>
            </c:strRef>
          </c:cat>
          <c:val>
            <c:numRef>
              <c:f>Sheet1!$D$2:$D$14</c:f>
              <c:numCache>
                <c:formatCode>General</c:formatCode>
                <c:ptCount val="13"/>
                <c:pt idx="0">
                  <c:v>248</c:v>
                </c:pt>
                <c:pt idx="1">
                  <c:v>144</c:v>
                </c:pt>
                <c:pt idx="2">
                  <c:v>185</c:v>
                </c:pt>
                <c:pt idx="3">
                  <c:v>131</c:v>
                </c:pt>
                <c:pt idx="4">
                  <c:v>189</c:v>
                </c:pt>
                <c:pt idx="5">
                  <c:v>101</c:v>
                </c:pt>
                <c:pt idx="6">
                  <c:v>223</c:v>
                </c:pt>
                <c:pt idx="7">
                  <c:v>193</c:v>
                </c:pt>
                <c:pt idx="8">
                  <c:v>139</c:v>
                </c:pt>
                <c:pt idx="9">
                  <c:v>93</c:v>
                </c:pt>
                <c:pt idx="10">
                  <c:v>106</c:v>
                </c:pt>
                <c:pt idx="11">
                  <c:v>87</c:v>
                </c:pt>
                <c:pt idx="12">
                  <c:v>92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2D14-49D6-BB3A-D8B70642A553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감리테스트</c:v>
                </c:pt>
              </c:strCache>
            </c:strRef>
          </c:tx>
          <c:spPr>
            <a:solidFill>
              <a:srgbClr val="1B3A6B"/>
            </a:solidFill>
            <a:effectLst/>
          </c:spPr>
          <c:invertIfNegative val="0"/>
          <c:cat>
            <c:strRef>
              <c:f>Sheet1!$A$2:$A$14</c:f>
              <c:strCache>
                <c:ptCount val="13"/>
                <c:pt idx="0">
                  <c:v>공항운영(GO)</c:v>
                </c:pt>
                <c:pt idx="1">
                  <c:v>항공기관제(AC)</c:v>
                </c:pt>
                <c:pt idx="2">
                  <c:v>공통관리(FIMS-CA)</c:v>
                </c:pt>
                <c:pt idx="3">
                  <c:v>모바일(WES)</c:v>
                </c:pt>
                <c:pt idx="4">
                  <c:v>운항계획(FP)</c:v>
                </c:pt>
                <c:pt idx="5">
                  <c:v>자원배정(RS)</c:v>
                </c:pt>
                <c:pt idx="6">
                  <c:v>항공보안(FS)</c:v>
                </c:pt>
                <c:pt idx="7">
                  <c:v>공통관리(AOMS-CA)</c:v>
                </c:pt>
                <c:pt idx="8">
                  <c:v>모바일(MES)</c:v>
                </c:pt>
                <c:pt idx="9">
                  <c:v>예측관리(PM)</c:v>
                </c:pt>
                <c:pt idx="10">
                  <c:v>항공통계포털(AS)</c:v>
                </c:pt>
                <c:pt idx="11">
                  <c:v>자원배정차트(RC)</c:v>
                </c:pt>
                <c:pt idx="12">
                  <c:v>A-CDM(CM)</c:v>
                </c:pt>
              </c:strCache>
            </c:strRef>
          </c:cat>
          <c:val>
            <c:numRef>
              <c:f>Sheet1!$E$2:$E$14</c:f>
              <c:numCache>
                <c:formatCode>General</c:formatCode>
                <c:ptCount val="13"/>
                <c:pt idx="0">
                  <c:v>88</c:v>
                </c:pt>
                <c:pt idx="1">
                  <c:v>99</c:v>
                </c:pt>
                <c:pt idx="2">
                  <c:v>68</c:v>
                </c:pt>
                <c:pt idx="3">
                  <c:v>60</c:v>
                </c:pt>
                <c:pt idx="4">
                  <c:v>50</c:v>
                </c:pt>
                <c:pt idx="5">
                  <c:v>89</c:v>
                </c:pt>
                <c:pt idx="6">
                  <c:v>18</c:v>
                </c:pt>
                <c:pt idx="7">
                  <c:v>42</c:v>
                </c:pt>
                <c:pt idx="8">
                  <c:v>58</c:v>
                </c:pt>
                <c:pt idx="9">
                  <c:v>17</c:v>
                </c:pt>
                <c:pt idx="10">
                  <c:v>0</c:v>
                </c:pt>
                <c:pt idx="11">
                  <c:v>21</c:v>
                </c:pt>
                <c:pt idx="12">
                  <c:v>37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3-2D14-49D6-BB3A-D8B70642A553}"/>
            </c:ext>
          </c:extLst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PL등</c:v>
                </c:pt>
              </c:strCache>
            </c:strRef>
          </c:tx>
          <c:spPr>
            <a:solidFill>
              <a:srgbClr val="9CA3AF"/>
            </a:solidFill>
            <a:effectLst/>
          </c:spPr>
          <c:invertIfNegative val="0"/>
          <c:cat>
            <c:strRef>
              <c:f>Sheet1!$A$2:$A$14</c:f>
              <c:strCache>
                <c:ptCount val="13"/>
                <c:pt idx="0">
                  <c:v>공항운영(GO)</c:v>
                </c:pt>
                <c:pt idx="1">
                  <c:v>항공기관제(AC)</c:v>
                </c:pt>
                <c:pt idx="2">
                  <c:v>공통관리(FIMS-CA)</c:v>
                </c:pt>
                <c:pt idx="3">
                  <c:v>모바일(WES)</c:v>
                </c:pt>
                <c:pt idx="4">
                  <c:v>운항계획(FP)</c:v>
                </c:pt>
                <c:pt idx="5">
                  <c:v>자원배정(RS)</c:v>
                </c:pt>
                <c:pt idx="6">
                  <c:v>항공보안(FS)</c:v>
                </c:pt>
                <c:pt idx="7">
                  <c:v>공통관리(AOMS-CA)</c:v>
                </c:pt>
                <c:pt idx="8">
                  <c:v>모바일(MES)</c:v>
                </c:pt>
                <c:pt idx="9">
                  <c:v>예측관리(PM)</c:v>
                </c:pt>
                <c:pt idx="10">
                  <c:v>항공통계포털(AS)</c:v>
                </c:pt>
                <c:pt idx="11">
                  <c:v>자원배정차트(RC)</c:v>
                </c:pt>
                <c:pt idx="12">
                  <c:v>A-CDM(CM)</c:v>
                </c:pt>
              </c:strCache>
            </c:strRef>
          </c:cat>
          <c:val>
            <c:numRef>
              <c:f>Sheet1!$F$2:$F$14</c:f>
              <c:numCache>
                <c:formatCode>General</c:formatCode>
                <c:ptCount val="13"/>
                <c:pt idx="0">
                  <c:v>57</c:v>
                </c:pt>
                <c:pt idx="1">
                  <c:v>40</c:v>
                </c:pt>
                <c:pt idx="2">
                  <c:v>47</c:v>
                </c:pt>
                <c:pt idx="3">
                  <c:v>35</c:v>
                </c:pt>
                <c:pt idx="4">
                  <c:v>50</c:v>
                </c:pt>
                <c:pt idx="5">
                  <c:v>33</c:v>
                </c:pt>
                <c:pt idx="6">
                  <c:v>17</c:v>
                </c:pt>
                <c:pt idx="7">
                  <c:v>34</c:v>
                </c:pt>
                <c:pt idx="8">
                  <c:v>42</c:v>
                </c:pt>
                <c:pt idx="9">
                  <c:v>38</c:v>
                </c:pt>
                <c:pt idx="10">
                  <c:v>1</c:v>
                </c:pt>
                <c:pt idx="11">
                  <c:v>2</c:v>
                </c:pt>
                <c:pt idx="12">
                  <c:v>22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4-2D14-49D6-BB3A-D8B70642A553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50"/>
        <c:overlap val="100"/>
        <c:axId val="2094734554"/>
        <c:axId val="2094734552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4B5563"/>
                </a:solidFill>
                <a:latin typeface="Rix고딕 L" panose="02020603020101020101" pitchFamily="18" charset="-127"/>
                <a:ea typeface="Rix고딕 L" panose="02020603020101020101" pitchFamily="18" charset="-127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b"/>
        <c:majorGridlines>
          <c:spPr>
            <a:ln w="6350" cap="flat">
              <a:solidFill>
                <a:srgbClr val="D1D9E6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9CA3AF"/>
                </a:solidFill>
                <a:latin typeface="Rix고딕 L" panose="02020603020101020101" pitchFamily="18" charset="-127"/>
                <a:ea typeface="Rix고딕 L" panose="02020603020101020101" pitchFamily="18" charset="-127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850">
              <a:latin typeface="Rix고딕 L" panose="02020603020101020101" pitchFamily="18" charset="-127"/>
              <a:ea typeface="Rix고딕 L" panose="02020603020101020101" pitchFamily="18" charset="-127"/>
            </a:defRPr>
          </a:pPr>
          <a:endParaRPr lang="en-US"/>
        </a:p>
      </c:txPr>
    </c:legend>
    <c:plotVisOnly val="1"/>
    <c:dispBlanksAs val="span"/>
    <c:showDLblsOverMax val="1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18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ko-KR"/>
  <c:roundedCorners val="1"/>
  <c:style val="2"/>
  <c:chart>
    <c:autoTitleDeleted val="1"/>
    <c:plotArea>
      <c:layout>
        <c:manualLayout>
          <c:layoutTarget val="inner"/>
          <c:xMode val="edge"/>
          <c:yMode val="edge"/>
          <c:x val="0.13747657708831174"/>
          <c:y val="0.10185185185185185"/>
          <c:w val="0.49233001658374792"/>
          <c:h val="0.87962962962962965"/>
        </c:manualLayout>
      </c:layout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단계별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9CA3AF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1-4FB9-4CE8-9497-A65E4839591C}"/>
              </c:ext>
            </c:extLst>
          </c:dPt>
          <c:dPt>
            <c:idx val="1"/>
            <c:bubble3D val="0"/>
            <c:spPr>
              <a:solidFill>
                <a:srgbClr val="3B82C4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3-4FB9-4CE8-9497-A65E4839591C}"/>
              </c:ext>
            </c:extLst>
          </c:dPt>
          <c:dPt>
            <c:idx val="2"/>
            <c:bubble3D val="0"/>
            <c:spPr>
              <a:solidFill>
                <a:srgbClr val="DC2626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5-4FB9-4CE8-9497-A65E4839591C}"/>
              </c:ext>
            </c:extLst>
          </c:dPt>
          <c:dPt>
            <c:idx val="3"/>
            <c:bubble3D val="0"/>
            <c:spPr>
              <a:solidFill>
                <a:srgbClr val="2563A8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7-4FB9-4CE8-9497-A65E4839591C}"/>
              </c:ext>
            </c:extLst>
          </c:dPt>
          <c:dPt>
            <c:idx val="4"/>
            <c:bubble3D val="0"/>
            <c:spPr>
              <a:solidFill>
                <a:srgbClr val="1B3A6B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9-4FB9-4CE8-9497-A65E4839591C}"/>
              </c:ext>
            </c:extLst>
          </c:dPt>
          <c:cat>
            <c:strRef>
              <c:f>Sheet1!$A$2:$A$6</c:f>
              <c:strCache>
                <c:ptCount val="5"/>
                <c:pt idx="0">
                  <c:v>PL(4.8%)</c:v>
                </c:pt>
                <c:pt idx="1">
                  <c:v>3자(24.0%)</c:v>
                </c:pt>
                <c:pt idx="2">
                  <c:v>공사(46.8%)</c:v>
                </c:pt>
                <c:pt idx="3">
                  <c:v>현업(16.5%)</c:v>
                </c:pt>
                <c:pt idx="4">
                  <c:v>감리(7.9%)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200</c:v>
                </c:pt>
                <c:pt idx="1">
                  <c:v>1008</c:v>
                </c:pt>
                <c:pt idx="2">
                  <c:v>1969</c:v>
                </c:pt>
                <c:pt idx="3">
                  <c:v>694</c:v>
                </c:pt>
                <c:pt idx="4">
                  <c:v>332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A-4FB9-4CE8-9497-A65E4839591C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firstSliceAng val="0"/>
        <c:holeSize val="55"/>
      </c:doughnutChart>
      <c:spPr>
        <a:noFill/>
        <a:ln>
          <a:noFill/>
        </a:ln>
        <a:effectLst/>
      </c:spPr>
    </c:plotArea>
    <c:legend>
      <c:legendPos val="r"/>
      <c:overlay val="0"/>
      <c:txPr>
        <a:bodyPr/>
        <a:lstStyle/>
        <a:p>
          <a:pPr>
            <a:defRPr sz="650">
              <a:latin typeface="Rix고딕 L" panose="02020603020101020101" pitchFamily="18" charset="-127"/>
              <a:ea typeface="Rix고딕 L" panose="02020603020101020101" pitchFamily="18" charset="-127"/>
            </a:defRPr>
          </a:pPr>
          <a:endParaRPr lang="en-US"/>
        </a:p>
      </c:txPr>
    </c:legend>
    <c:plotVisOnly val="1"/>
    <c:dispBlanksAs val="span"/>
    <c:showDLblsOverMax val="1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19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ko-KR"/>
  <c:roundedCorners val="1"/>
  <c:style val="2"/>
  <c:chart>
    <c:autoTitleDeleted val="1"/>
    <c:plotArea>
      <c:layout>
        <c:manualLayout>
          <c:layoutTarget val="inner"/>
          <c:xMode val="edge"/>
          <c:yMode val="edge"/>
          <c:x val="0.13747657708831174"/>
          <c:y val="0.10185185185185185"/>
          <c:w val="0.49233001658374792"/>
          <c:h val="0.87962962962962965"/>
        </c:manualLayout>
      </c:layout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유형별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E85D2F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1-54C5-47FE-88BF-00850DA679F7}"/>
              </c:ext>
            </c:extLst>
          </c:dPt>
          <c:dPt>
            <c:idx val="1"/>
            <c:bubble3D val="0"/>
            <c:spPr>
              <a:solidFill>
                <a:srgbClr val="2563A8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3-54C5-47FE-88BF-00850DA679F7}"/>
              </c:ext>
            </c:extLst>
          </c:dPt>
          <c:dPt>
            <c:idx val="2"/>
            <c:bubble3D val="0"/>
            <c:spPr>
              <a:solidFill>
                <a:srgbClr val="3B82C4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5-54C5-47FE-88BF-00850DA679F7}"/>
              </c:ext>
            </c:extLst>
          </c:dPt>
          <c:dPt>
            <c:idx val="3"/>
            <c:bubble3D val="0"/>
            <c:spPr>
              <a:solidFill>
                <a:srgbClr val="9CA3AF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7-54C5-47FE-88BF-00850DA679F7}"/>
              </c:ext>
            </c:extLst>
          </c:dPt>
          <c:cat>
            <c:strRef>
              <c:f>Sheet1!$A$2:$A$5</c:f>
              <c:strCache>
                <c:ptCount val="4"/>
                <c:pt idx="0">
                  <c:v>기능(61.8%)</c:v>
                </c:pt>
                <c:pt idx="1">
                  <c:v>UI(19.3%)</c:v>
                </c:pt>
                <c:pt idx="2">
                  <c:v>데이터(8%)</c:v>
                </c:pt>
                <c:pt idx="3">
                  <c:v>기타(10.9%)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2685</c:v>
                </c:pt>
                <c:pt idx="1">
                  <c:v>859</c:v>
                </c:pt>
                <c:pt idx="2">
                  <c:v>376</c:v>
                </c:pt>
                <c:pt idx="3">
                  <c:v>328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8-54C5-47FE-88BF-00850DA679F7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firstSliceAng val="0"/>
        <c:holeSize val="55"/>
      </c:doughnutChart>
      <c:spPr>
        <a:noFill/>
        <a:ln>
          <a:noFill/>
        </a:ln>
        <a:effectLst/>
      </c:spPr>
    </c:plotArea>
    <c:legend>
      <c:legendPos val="r"/>
      <c:overlay val="0"/>
      <c:txPr>
        <a:bodyPr/>
        <a:lstStyle/>
        <a:p>
          <a:pPr>
            <a:defRPr sz="650">
              <a:latin typeface="Rix고딕 L" panose="02020603020101020101" pitchFamily="18" charset="-127"/>
              <a:ea typeface="Rix고딕 L" panose="02020603020101020101" pitchFamily="18" charset="-127"/>
            </a:defRPr>
          </a:pPr>
          <a:endParaRPr lang="en-US"/>
        </a:p>
      </c:txPr>
    </c:legend>
    <c:plotVisOnly val="1"/>
    <c:dispBlanksAs val="span"/>
    <c:showDLblsOverMax val="1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20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ko-KR"/>
  <c:roundedCorners val="1"/>
  <c:style val="2"/>
  <c:chart>
    <c:title>
      <c:tx>
        <c:rich>
          <a:bodyPr/>
          <a:lstStyle/>
          <a:p>
            <a:pPr>
              <a:defRPr sz="1100" b="1" i="0" u="none" strike="noStrike">
                <a:solidFill>
                  <a:srgbClr val="1B3A6B"/>
                </a:solidFill>
                <a:latin typeface="Rix고딕 L" panose="02020603020101020101" pitchFamily="18" charset="-127"/>
                <a:ea typeface="Rix고딕 L" panose="02020603020101020101" pitchFamily="18" charset="-127"/>
              </a:defRPr>
            </a:pPr>
            <a:r>
              <a:rPr lang="ko-KR" altLang="en-US" sz="1100" b="1" i="0" u="none" strike="noStrike" dirty="0">
                <a:solidFill>
                  <a:srgbClr val="1B3A6B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모듈별 미결 결함 유형 </a:t>
            </a:r>
            <a:r>
              <a:rPr lang="en-US" altLang="ko-KR" sz="1100" b="1" i="0" u="none" strike="noStrike" dirty="0">
                <a:solidFill>
                  <a:srgbClr val="1B3A6B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(</a:t>
            </a:r>
            <a:r>
              <a:rPr lang="ko-KR" altLang="en-US" sz="1100" b="1" i="0" u="none" strike="noStrike" dirty="0">
                <a:solidFill>
                  <a:srgbClr val="1B3A6B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주요 </a:t>
            </a:r>
            <a:r>
              <a:rPr lang="en-US" altLang="ko-KR" sz="1100" b="1" i="0" u="none" strike="noStrike" dirty="0">
                <a:solidFill>
                  <a:srgbClr val="1B3A6B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7</a:t>
            </a:r>
            <a:r>
              <a:rPr lang="ko-KR" altLang="en-US" sz="1100" b="1" i="0" u="none" strike="noStrike" dirty="0">
                <a:solidFill>
                  <a:srgbClr val="1B3A6B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개 모듈</a:t>
            </a:r>
            <a:r>
              <a:rPr lang="en-US" altLang="ko-KR" sz="1100" b="1" i="0" u="none" strike="noStrike" dirty="0">
                <a:solidFill>
                  <a:srgbClr val="1B3A6B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)</a:t>
            </a:r>
          </a:p>
        </c:rich>
      </c:tx>
      <c:overlay val="0"/>
    </c:title>
    <c:autoTitleDeleted val="0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확인대기</c:v>
                </c:pt>
              </c:strCache>
            </c:strRef>
          </c:tx>
          <c:spPr>
            <a:solidFill>
              <a:srgbClr val="3B82C4"/>
            </a:solidFill>
            <a:effectLst/>
          </c:spPr>
          <c:invertIfNegative val="0"/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850" b="0" i="0" u="none" strike="noStrike">
                    <a:solidFill>
                      <a:srgbClr val="FFFFFF"/>
                    </a:solidFill>
                    <a:latin typeface="Arial"/>
                  </a:defRPr>
                </a:pPr>
                <a:endParaRPr lang="ko-KR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Sheet1!$A$2:$A$8</c:f>
              <c:strCache>
                <c:ptCount val="7"/>
                <c:pt idx="0">
                  <c:v>공항운영(GO)</c:v>
                </c:pt>
                <c:pt idx="1">
                  <c:v>예측관리(PM)</c:v>
                </c:pt>
                <c:pt idx="2">
                  <c:v>자원배정(RS)</c:v>
                </c:pt>
                <c:pt idx="3">
                  <c:v>항공통계포털(AS)</c:v>
                </c:pt>
                <c:pt idx="4">
                  <c:v>모바일(MES)</c:v>
                </c:pt>
                <c:pt idx="5">
                  <c:v>A-CDM(CM)</c:v>
                </c:pt>
                <c:pt idx="6">
                  <c:v>항공기관제(AC)</c:v>
                </c:pt>
              </c:strCache>
            </c: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330</c:v>
                </c:pt>
                <c:pt idx="1">
                  <c:v>103</c:v>
                </c:pt>
                <c:pt idx="2">
                  <c:v>123</c:v>
                </c:pt>
                <c:pt idx="3">
                  <c:v>57</c:v>
                </c:pt>
                <c:pt idx="4">
                  <c:v>112</c:v>
                </c:pt>
                <c:pt idx="5">
                  <c:v>61</c:v>
                </c:pt>
                <c:pt idx="6">
                  <c:v>34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0748-4658-9475-E5D85D44D0E9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결함검토요청</c:v>
                </c:pt>
              </c:strCache>
            </c:strRef>
          </c:tx>
          <c:spPr>
            <a:solidFill>
              <a:srgbClr val="D97706"/>
            </a:solidFill>
            <a:effectLst/>
          </c:spPr>
          <c:invertIfNegative val="0"/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850" b="0" i="0" u="none" strike="noStrike">
                    <a:solidFill>
                      <a:srgbClr val="FFFFFF"/>
                    </a:solidFill>
                    <a:latin typeface="Arial"/>
                  </a:defRPr>
                </a:pPr>
                <a:endParaRPr lang="ko-KR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Sheet1!$A$2:$A$8</c:f>
              <c:strCache>
                <c:ptCount val="7"/>
                <c:pt idx="0">
                  <c:v>공항운영(GO)</c:v>
                </c:pt>
                <c:pt idx="1">
                  <c:v>예측관리(PM)</c:v>
                </c:pt>
                <c:pt idx="2">
                  <c:v>자원배정(RS)</c:v>
                </c:pt>
                <c:pt idx="3">
                  <c:v>항공통계포털(AS)</c:v>
                </c:pt>
                <c:pt idx="4">
                  <c:v>모바일(MES)</c:v>
                </c:pt>
                <c:pt idx="5">
                  <c:v>A-CDM(CM)</c:v>
                </c:pt>
                <c:pt idx="6">
                  <c:v>항공기관제(AC)</c:v>
                </c:pt>
              </c:strCache>
            </c:strRef>
          </c:cat>
          <c:val>
            <c:numRef>
              <c:f>Sheet1!$C$2:$C$8</c:f>
              <c:numCache>
                <c:formatCode>General</c:formatCode>
                <c:ptCount val="7"/>
                <c:pt idx="0">
                  <c:v>53</c:v>
                </c:pt>
                <c:pt idx="1">
                  <c:v>22</c:v>
                </c:pt>
                <c:pt idx="2">
                  <c:v>28</c:v>
                </c:pt>
                <c:pt idx="3">
                  <c:v>89</c:v>
                </c:pt>
                <c:pt idx="4">
                  <c:v>0</c:v>
                </c:pt>
                <c:pt idx="5">
                  <c:v>50</c:v>
                </c:pt>
                <c:pt idx="6">
                  <c:v>10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0748-4658-9475-E5D85D44D0E9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조치요청/재조치</c:v>
                </c:pt>
              </c:strCache>
            </c:strRef>
          </c:tx>
          <c:spPr>
            <a:solidFill>
              <a:srgbClr val="DC2626"/>
            </a:solidFill>
            <a:effectLst/>
          </c:spPr>
          <c:invertIfNegative val="0"/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850" b="0" i="0" u="none" strike="noStrike">
                    <a:solidFill>
                      <a:srgbClr val="FFFFFF"/>
                    </a:solidFill>
                    <a:latin typeface="Arial"/>
                  </a:defRPr>
                </a:pPr>
                <a:endParaRPr lang="ko-KR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Sheet1!$A$2:$A$8</c:f>
              <c:strCache>
                <c:ptCount val="7"/>
                <c:pt idx="0">
                  <c:v>공항운영(GO)</c:v>
                </c:pt>
                <c:pt idx="1">
                  <c:v>예측관리(PM)</c:v>
                </c:pt>
                <c:pt idx="2">
                  <c:v>자원배정(RS)</c:v>
                </c:pt>
                <c:pt idx="3">
                  <c:v>항공통계포털(AS)</c:v>
                </c:pt>
                <c:pt idx="4">
                  <c:v>모바일(MES)</c:v>
                </c:pt>
                <c:pt idx="5">
                  <c:v>A-CDM(CM)</c:v>
                </c:pt>
                <c:pt idx="6">
                  <c:v>항공기관제(AC)</c:v>
                </c:pt>
              </c:strCache>
            </c:strRef>
          </c:cat>
          <c:val>
            <c:numRef>
              <c:f>Sheet1!$D$2:$D$8</c:f>
              <c:numCache>
                <c:formatCode>General</c:formatCode>
                <c:ptCount val="7"/>
                <c:pt idx="0">
                  <c:v>2</c:v>
                </c:pt>
                <c:pt idx="1">
                  <c:v>0</c:v>
                </c:pt>
                <c:pt idx="2">
                  <c:v>2</c:v>
                </c:pt>
                <c:pt idx="3">
                  <c:v>13</c:v>
                </c:pt>
                <c:pt idx="4">
                  <c:v>10</c:v>
                </c:pt>
                <c:pt idx="5">
                  <c:v>6</c:v>
                </c:pt>
                <c:pt idx="6">
                  <c:v>29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0748-4658-9475-E5D85D44D0E9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50"/>
        <c:overlap val="100"/>
        <c:axId val="2094734554"/>
        <c:axId val="2094734552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4B5563"/>
                </a:solidFill>
                <a:latin typeface="Rix고딕 L" panose="02020603020101020101" pitchFamily="18" charset="-127"/>
                <a:ea typeface="Rix고딕 L" panose="02020603020101020101" pitchFamily="18" charset="-127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b"/>
        <c:majorGridlines>
          <c:spPr>
            <a:ln w="6350" cap="flat">
              <a:solidFill>
                <a:srgbClr val="D1D9E6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9CA3AF"/>
                </a:solidFill>
                <a:latin typeface="Rix고딕 L" panose="02020603020101020101" pitchFamily="18" charset="-127"/>
                <a:ea typeface="Rix고딕 L" panose="02020603020101020101" pitchFamily="18" charset="-127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900">
              <a:latin typeface="Rix고딕 L" panose="02020603020101020101" pitchFamily="18" charset="-127"/>
              <a:ea typeface="Rix고딕 L" panose="02020603020101020101" pitchFamily="18" charset="-127"/>
            </a:defRPr>
          </a:pPr>
          <a:endParaRPr lang="en-US"/>
        </a:p>
      </c:txPr>
    </c:legend>
    <c:plotVisOnly val="1"/>
    <c:dispBlanksAs val="span"/>
    <c:showDLblsOverMax val="1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6692979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76B41CC7-FE31-4B6D-A108-F4AA61656A60}" type="slidenum">
              <a:rPr kumimoji="0" lang="ko-KR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n-cs"/>
              </a:rPr>
              <a:pPr marL="0" marR="0" lvl="0" indent="0" algn="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</a:t>
            </a:fld>
            <a:endParaRPr kumimoji="0" lang="ko-KR" alt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/>
              <a:ea typeface="맑은 고딕" panose="020B0503020000020004" pitchFamily="50" charset="-127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921904804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39F4822-14F3-8CE6-30D4-531F33ACA15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AF47863-AF5A-0C57-7D10-CFDF69C2C7D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35964BC-3DEF-445F-10C1-AF4D356FA93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A263E2E-301A-6679-9967-6FBB6B7FD251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5859896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498DD16-160F-FDE8-C20E-DA590C7090A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634F417-3E3A-91C4-CA7B-3FDA182B717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F7AF4C0-7495-EF14-125D-BD8C9AF9111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CC2EE54-C9C6-7EAF-F7D8-C0A0EFC4090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95625900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497E5D1-749E-D7DD-8551-2B70BDE13D4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C7BBE3C-C0E6-C7D9-4DA7-E176394F8AD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994C459-46CC-300A-B986-3E6D64FA41C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46DF340-6CD1-D824-0C0F-CB453D9F70D2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2858435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BCC5A37-00C0-88A2-FB30-6A2AEB04C26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136F779-B225-440F-20EE-82E895C1444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168562A-9550-A539-C11D-B320B9D10A5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820EBAA-B7C8-B78B-05D6-BAC9402E99AD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5996342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사각형: 둥근 모서리 1">
            <a:extLst>
              <a:ext uri="{FF2B5EF4-FFF2-40B4-BE49-F238E27FC236}">
                <a16:creationId xmlns:a16="http://schemas.microsoft.com/office/drawing/2014/main" id="{70585E34-5F14-45D3-BBB7-3055EB2B07EB}"/>
              </a:ext>
            </a:extLst>
          </p:cNvPr>
          <p:cNvSpPr/>
          <p:nvPr userDrawn="1"/>
        </p:nvSpPr>
        <p:spPr>
          <a:xfrm>
            <a:off x="6426201" y="69850"/>
            <a:ext cx="1079500" cy="304800"/>
          </a:xfrm>
          <a:prstGeom prst="roundRect">
            <a:avLst/>
          </a:prstGeom>
          <a:solidFill>
            <a:srgbClr val="FF0000"/>
          </a:solidFill>
          <a:ln w="3810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050" b="1" dirty="0">
              <a:ln w="76200">
                <a:solidFill>
                  <a:schemeClr val="tx1"/>
                </a:solidFill>
              </a:ln>
              <a:solidFill>
                <a:schemeClr val="bg1"/>
              </a:solidFill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A97929F4-DC14-4DDE-A4E7-07CE78C35A4D}"/>
              </a:ext>
            </a:extLst>
          </p:cNvPr>
          <p:cNvSpPr txBox="1"/>
          <p:nvPr userDrawn="1"/>
        </p:nvSpPr>
        <p:spPr>
          <a:xfrm>
            <a:off x="6533740" y="97651"/>
            <a:ext cx="990977" cy="30008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1350" b="1" dirty="0">
                <a:solidFill>
                  <a:schemeClr val="bg1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내부 내포용</a:t>
            </a:r>
          </a:p>
        </p:txBody>
      </p:sp>
    </p:spTree>
    <p:extLst>
      <p:ext uri="{BB962C8B-B14F-4D97-AF65-F5344CB8AC3E}">
        <p14:creationId xmlns:p14="http://schemas.microsoft.com/office/powerpoint/2010/main" val="2515528818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834870917"/>
      </p:ext>
    </p:extLst>
  </p:cSld>
  <p:clrMapOvr>
    <a:masterClrMapping/>
  </p:clrMapOvr>
  <p:transition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279496300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F0C49A2-89AB-3AF4-6017-E97D7D4892D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143000" y="841375"/>
            <a:ext cx="6858000" cy="17907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CE107334-5EF3-2E53-5043-FCC08A1E986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143000" y="2701925"/>
            <a:ext cx="6858000" cy="1241425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6E7A0537-D118-1ED1-ADFF-DBAF4E091DE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E1FE4C-3907-4147-9113-74616AA0E218}" type="datetimeFigureOut">
              <a:rPr lang="ko-KR" altLang="en-US" smtClean="0"/>
              <a:t>2026-03-30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2F4B3C82-874E-CB4C-809D-3E2CA922F10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2D451066-0326-014D-2205-54F3440522F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CFD031E-4C34-446C-AC42-45315A820F6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58600308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635D032-7A07-647A-3B92-88613BD8DE9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0EB1F000-F5A4-C4D7-EE31-358A9F7EB27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6E530E01-FA24-C92A-D296-F46D74196DC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E1FE4C-3907-4147-9113-74616AA0E218}" type="datetimeFigureOut">
              <a:rPr lang="ko-KR" altLang="en-US" smtClean="0"/>
              <a:t>2026-03-30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3C50ECDB-B608-707F-95AF-3CB3EB349A2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3D7DA98D-E134-ED48-B99C-5FC1E8B60CD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CFD031E-4C34-446C-AC42-45315A820F6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73532562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759D2AD-F860-0FF9-30E2-2EA0E000D64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3888" y="1282700"/>
            <a:ext cx="7886700" cy="2139950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8A24C2AC-962D-73DC-D93B-BF064D73B55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23888" y="3441700"/>
            <a:ext cx="7886700" cy="1125538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B1CC2D01-7073-7E0D-CEF3-DB796036C81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E1FE4C-3907-4147-9113-74616AA0E218}" type="datetimeFigureOut">
              <a:rPr lang="ko-KR" altLang="en-US" smtClean="0"/>
              <a:t>2026-03-30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8669B9D9-5D68-E724-4D6C-24E39872BC6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6CBD96B3-3C27-3DA4-728A-C37BD3803E5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CFD031E-4C34-446C-AC42-45315A820F6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01837431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3303D35-9609-9935-A6A6-2AD5FDF117B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882EE504-18BB-48B4-7AEE-02FF5F938B11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628650" y="1370013"/>
            <a:ext cx="3867150" cy="3262312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DE5050DD-8AD0-2BFB-0DAD-F2312014F99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4648200" y="1370013"/>
            <a:ext cx="3867150" cy="3262312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7887218D-6676-5296-1F35-D96365D6897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E1FE4C-3907-4147-9113-74616AA0E218}" type="datetimeFigureOut">
              <a:rPr lang="ko-KR" altLang="en-US" smtClean="0"/>
              <a:t>2026-03-30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9290C4F5-C841-750A-B32E-53BA3AA44F7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C9B617A2-5217-34F3-C0CA-115998F3E93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CFD031E-4C34-446C-AC42-45315A820F6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13803319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9FB1B44-4C39-6248-7D3E-AC07B934913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0238" y="274638"/>
            <a:ext cx="7886700" cy="993775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01726762-6320-05C6-1B67-7CDA77B4F94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30238" y="1260475"/>
            <a:ext cx="3868737" cy="619125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824AD234-759C-47D5-B8AC-21225C15142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30238" y="1879600"/>
            <a:ext cx="3868737" cy="2762250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2DF7149E-FA33-2DC9-DA2E-B0DF0A30ECBE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4629150" y="1260475"/>
            <a:ext cx="3887788" cy="619125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B61077DD-E79A-33E1-0996-F07926AE75D5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4629150" y="1879600"/>
            <a:ext cx="3887788" cy="2762250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3A739A27-DB17-40EB-7827-AA4816AC703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E1FE4C-3907-4147-9113-74616AA0E218}" type="datetimeFigureOut">
              <a:rPr lang="ko-KR" altLang="en-US" smtClean="0"/>
              <a:t>2026-03-30</a:t>
            </a:fld>
            <a:endParaRPr lang="ko-KR" altLang="en-US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2D5AE3CE-A607-8115-2FF3-EBF32AA031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6370770B-A925-8FB8-6354-9896E7873F8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CFD031E-4C34-446C-AC42-45315A820F6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97665759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D46F6F5-43C5-6103-F74E-5995DB1C4B3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A5A46F2D-8C9B-FA09-98FC-C03D36F9B4D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E1FE4C-3907-4147-9113-74616AA0E218}" type="datetimeFigureOut">
              <a:rPr lang="ko-KR" altLang="en-US" smtClean="0"/>
              <a:t>2026-03-30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F484A007-5A87-A756-BA4F-FE5F088122C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E2FC98A5-0840-E638-888E-DB9DEDEAAA1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CFD031E-4C34-446C-AC42-45315A820F6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55475577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8CDEAEE2-968B-042C-DE32-F204DE6BB49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E1FE4C-3907-4147-9113-74616AA0E218}" type="datetimeFigureOut">
              <a:rPr lang="ko-KR" altLang="en-US" smtClean="0"/>
              <a:t>2026-03-30</a:t>
            </a:fld>
            <a:endParaRPr lang="ko-KR" altLang="en-US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9BD14CE0-F534-F001-1C91-3AA23C4E074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85C45CD8-A52E-71DB-1EDB-C0316244A2B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CFD031E-4C34-446C-AC42-45315A820F6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10877623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79E2940-54C8-0046-C8EB-8956D365189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0238" y="342900"/>
            <a:ext cx="2949575" cy="120015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CC5A66D2-4987-9EDC-47AB-BFA3D2A7179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887788" y="741363"/>
            <a:ext cx="4629150" cy="36544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E80D20F7-D1B9-D3F2-3C50-3F24613C1CA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630238" y="1543050"/>
            <a:ext cx="2949575" cy="28590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8F0DB197-2811-0A15-0A43-946730FFE3F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E1FE4C-3907-4147-9113-74616AA0E218}" type="datetimeFigureOut">
              <a:rPr lang="ko-KR" altLang="en-US" smtClean="0"/>
              <a:t>2026-03-30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A0C13E8C-F3DD-D34E-77B0-792A7712E30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E3E03CBE-B0F0-2FCB-63ED-040FBFA4CF4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CFD031E-4C34-446C-AC42-45315A820F6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915341674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1C2023E-CF80-E6E3-180C-8C3DAFA6156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0238" y="342900"/>
            <a:ext cx="2949575" cy="120015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9CAC1149-F347-FA2E-2AAC-107840C9B059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3887788" y="741363"/>
            <a:ext cx="4629150" cy="36544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4F20880F-EAF0-0143-75F4-6DA7CE39C74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630238" y="1543050"/>
            <a:ext cx="2949575" cy="28590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85D7F6E2-C3F9-B025-6A28-D8999F05D02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E1FE4C-3907-4147-9113-74616AA0E218}" type="datetimeFigureOut">
              <a:rPr lang="ko-KR" altLang="en-US" smtClean="0"/>
              <a:t>2026-03-30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42D4E2D6-7FA8-6D78-713E-A491B1DD5F1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255F0E47-32E4-9830-9A70-8CAE91B091D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CFD031E-4C34-446C-AC42-45315A820F6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732402636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903E322-E4A1-DD62-614C-16E31003134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455A8936-D222-CADA-9273-6395A410B18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CCD01780-3F12-9C67-A19F-24788BC3ADB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E1FE4C-3907-4147-9113-74616AA0E218}" type="datetimeFigureOut">
              <a:rPr lang="ko-KR" altLang="en-US" smtClean="0"/>
              <a:t>2026-03-30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CEC99835-CBB3-A496-FBFF-30CC287498F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CA19CAAA-844D-FDD6-5D67-EEC2833C02D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CFD031E-4C34-446C-AC42-45315A820F6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792202732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>
            <a:extLst>
              <a:ext uri="{FF2B5EF4-FFF2-40B4-BE49-F238E27FC236}">
                <a16:creationId xmlns:a16="http://schemas.microsoft.com/office/drawing/2014/main" id="{A13B793B-0695-5F70-0B3D-8B65B905A44C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6543675" y="274638"/>
            <a:ext cx="1971675" cy="4357687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6F194C06-C0BF-891C-0C97-72D30D88608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628650" y="274638"/>
            <a:ext cx="5762625" cy="4357687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8AD1136D-038D-4718-8CF5-F333FD1F2CF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E1FE4C-3907-4147-9113-74616AA0E218}" type="datetimeFigureOut">
              <a:rPr lang="ko-KR" altLang="en-US" smtClean="0"/>
              <a:t>2026-03-30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C11648A6-DAB4-2733-8B24-728047563D8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B3773CDB-4A00-C1FB-AFEF-EE868101F14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CFD031E-4C34-446C-AC42-45315A820F6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023858461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25714042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7" Type="http://schemas.openxmlformats.org/officeDocument/2006/relationships/image" Target="../media/image3.jpg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.png"/><Relationship Id="rId5" Type="http://schemas.openxmlformats.org/officeDocument/2006/relationships/image" Target="../media/image1.emf"/><Relationship Id="rId4" Type="http://schemas.openxmlformats.org/officeDocument/2006/relationships/theme" Target="../theme/theme1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11.xml"/><Relationship Id="rId13" Type="http://schemas.openxmlformats.org/officeDocument/2006/relationships/theme" Target="../theme/theme2.xml"/><Relationship Id="rId3" Type="http://schemas.openxmlformats.org/officeDocument/2006/relationships/slideLayout" Target="../slideLayouts/slideLayout6.xml"/><Relationship Id="rId7" Type="http://schemas.openxmlformats.org/officeDocument/2006/relationships/slideLayout" Target="../slideLayouts/slideLayout10.xml"/><Relationship Id="rId12" Type="http://schemas.openxmlformats.org/officeDocument/2006/relationships/slideLayout" Target="../slideLayouts/slideLayout15.xml"/><Relationship Id="rId2" Type="http://schemas.openxmlformats.org/officeDocument/2006/relationships/slideLayout" Target="../slideLayouts/slideLayout5.xml"/><Relationship Id="rId1" Type="http://schemas.openxmlformats.org/officeDocument/2006/relationships/slideLayout" Target="../slideLayouts/slideLayout4.xml"/><Relationship Id="rId6" Type="http://schemas.openxmlformats.org/officeDocument/2006/relationships/slideLayout" Target="../slideLayouts/slideLayout9.xml"/><Relationship Id="rId11" Type="http://schemas.openxmlformats.org/officeDocument/2006/relationships/slideLayout" Target="../slideLayouts/slideLayout14.xml"/><Relationship Id="rId5" Type="http://schemas.openxmlformats.org/officeDocument/2006/relationships/slideLayout" Target="../slideLayouts/slideLayout8.xml"/><Relationship Id="rId10" Type="http://schemas.openxmlformats.org/officeDocument/2006/relationships/slideLayout" Target="../slideLayouts/slideLayout13.xml"/><Relationship Id="rId4" Type="http://schemas.openxmlformats.org/officeDocument/2006/relationships/slideLayout" Target="../slideLayouts/slideLayout7.xml"/><Relationship Id="rId9" Type="http://schemas.openxmlformats.org/officeDocument/2006/relationships/slideLayout" Target="../slideLayouts/slideLayout1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사각형: 둥근 한쪽 모서리 20">
            <a:extLst>
              <a:ext uri="{FF2B5EF4-FFF2-40B4-BE49-F238E27FC236}">
                <a16:creationId xmlns:a16="http://schemas.microsoft.com/office/drawing/2014/main" id="{ECF79BE5-BD41-D2A8-271E-758B9CCD8DAE}"/>
              </a:ext>
            </a:extLst>
          </p:cNvPr>
          <p:cNvSpPr/>
          <p:nvPr userDrawn="1"/>
        </p:nvSpPr>
        <p:spPr>
          <a:xfrm flipV="1">
            <a:off x="0" y="0"/>
            <a:ext cx="6765178" cy="438150"/>
          </a:xfrm>
          <a:prstGeom prst="round1Rect">
            <a:avLst>
              <a:gd name="adj" fmla="val 0"/>
            </a:avLst>
          </a:prstGeom>
          <a:gradFill flip="none" rotWithShape="1">
            <a:gsLst>
              <a:gs pos="100000">
                <a:srgbClr val="DEEBF9"/>
              </a:gs>
              <a:gs pos="9000">
                <a:srgbClr val="B0CAE1"/>
              </a:gs>
              <a:gs pos="100000">
                <a:srgbClr val="B0CAE1">
                  <a:tint val="44500"/>
                  <a:satMod val="160000"/>
                </a:srgbClr>
              </a:gs>
              <a:gs pos="100000">
                <a:srgbClr val="B0CAE1">
                  <a:tint val="23500"/>
                  <a:satMod val="160000"/>
                </a:srgbClr>
              </a:gs>
            </a:gsLst>
            <a:lin ang="15600000" scaled="0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ko-KR" altLang="en-US" sz="1350" noProof="0" dirty="0">
              <a:solidFill>
                <a:schemeClr val="lt1"/>
              </a:solidFill>
            </a:endParaRPr>
          </a:p>
        </p:txBody>
      </p:sp>
      <p:sp>
        <p:nvSpPr>
          <p:cNvPr id="4" name="Rectangle 59">
            <a:extLst>
              <a:ext uri="{FF2B5EF4-FFF2-40B4-BE49-F238E27FC236}">
                <a16:creationId xmlns:a16="http://schemas.microsoft.com/office/drawing/2014/main" id="{77B1A52D-67D2-512A-F1CD-8B280133ADAC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4479827" y="4940787"/>
            <a:ext cx="184346" cy="9233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AFCDE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bg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17961" dir="13500000" algn="ctr" rotWithShape="0">
                    <a:srgbClr val="697B8F"/>
                  </a:outerShdw>
                </a:effectLst>
              </a14:hiddenEffects>
            </a:ext>
          </a:extLst>
        </p:spPr>
        <p:txBody>
          <a:bodyPr wrap="none" lIns="0" tIns="0" rIns="0" bIns="0" anchor="ctr">
            <a:spAutoFit/>
          </a:bodyPr>
          <a:lstStyle/>
          <a:p>
            <a:pPr algn="ctr"/>
            <a:fld id="{B9BD96D4-FBDC-4909-BFD7-96760582A1EC}" type="slidenum">
              <a:rPr kumimoji="1" lang="en-US" altLang="ko-KR" sz="600" smtClean="0">
                <a:ln>
                  <a:solidFill>
                    <a:srgbClr val="00609F">
                      <a:alpha val="0"/>
                    </a:srgbClr>
                  </a:solidFill>
                </a:ln>
                <a:solidFill>
                  <a:srgbClr val="5F5F5F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pPr algn="ctr"/>
              <a:t>‹#›</a:t>
            </a:fld>
            <a:endParaRPr kumimoji="1" lang="en-US" altLang="ko-KR" sz="600" dirty="0">
              <a:ln>
                <a:solidFill>
                  <a:srgbClr val="00609F">
                    <a:alpha val="0"/>
                  </a:srgbClr>
                </a:solidFill>
              </a:ln>
              <a:solidFill>
                <a:srgbClr val="5F5F5F"/>
              </a:solidFill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grpSp>
        <p:nvGrpSpPr>
          <p:cNvPr id="5" name="그룹 4">
            <a:extLst>
              <a:ext uri="{FF2B5EF4-FFF2-40B4-BE49-F238E27FC236}">
                <a16:creationId xmlns:a16="http://schemas.microsoft.com/office/drawing/2014/main" id="{69115F56-5BC3-861C-344B-286546EA85EA}"/>
              </a:ext>
            </a:extLst>
          </p:cNvPr>
          <p:cNvGrpSpPr/>
          <p:nvPr userDrawn="1"/>
        </p:nvGrpSpPr>
        <p:grpSpPr>
          <a:xfrm>
            <a:off x="351224" y="4928568"/>
            <a:ext cx="2320307" cy="116770"/>
            <a:chOff x="299815" y="6545448"/>
            <a:chExt cx="2513666" cy="155693"/>
          </a:xfrm>
        </p:grpSpPr>
        <p:sp>
          <p:nvSpPr>
            <p:cNvPr id="6" name="Text Box 9">
              <a:extLst>
                <a:ext uri="{FF2B5EF4-FFF2-40B4-BE49-F238E27FC236}">
                  <a16:creationId xmlns:a16="http://schemas.microsoft.com/office/drawing/2014/main" id="{1A4676B3-4BA9-E359-B49F-A03AFC7065DA}"/>
                </a:ext>
              </a:extLst>
            </p:cNvPr>
            <p:cNvSpPr txBox="1">
              <a:spLocks noChangeArrowheads="1"/>
            </p:cNvSpPr>
            <p:nvPr userDrawn="1"/>
          </p:nvSpPr>
          <p:spPr bwMode="auto">
            <a:xfrm>
              <a:off x="1323489" y="6585448"/>
              <a:ext cx="1489992" cy="107721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none" lIns="0" tIns="0" rIns="0" bIns="0" anchor="ctr" anchorCtr="0">
              <a:spAutoFit/>
            </a:bodyPr>
            <a:lstStyle/>
            <a:p>
              <a:pPr defTabSz="718106" eaLnBrk="0" fontAlgn="base" hangingPunct="0">
                <a:spcBef>
                  <a:spcPct val="0"/>
                </a:spcBef>
                <a:spcAft>
                  <a:spcPct val="0"/>
                </a:spcAft>
                <a:defRPr/>
              </a:pPr>
              <a:r>
                <a:rPr kumimoji="1" lang="en-US" altLang="ko-KR" sz="525" dirty="0">
                  <a:ln>
                    <a:solidFill>
                      <a:prstClr val="white">
                        <a:lumMod val="75000"/>
                        <a:alpha val="0"/>
                      </a:prstClr>
                    </a:solidFill>
                  </a:ln>
                  <a:solidFill>
                    <a:prstClr val="black">
                      <a:lumMod val="50000"/>
                      <a:lumOff val="50000"/>
                    </a:prstClr>
                  </a:solidFill>
                  <a:latin typeface="Rix고딕 L" panose="02020603020101020101" pitchFamily="18" charset="-127"/>
                  <a:ea typeface="Rix고딕 L" panose="02020603020101020101" pitchFamily="18" charset="-127"/>
                  <a:cs typeface="Segoe UI" panose="020B0502040204020203" pitchFamily="34" charset="0"/>
                </a:rPr>
                <a:t>| </a:t>
              </a:r>
              <a:r>
                <a:rPr kumimoji="1" lang="ko-KR" altLang="en-US" sz="525" dirty="0">
                  <a:ln>
                    <a:solidFill>
                      <a:prstClr val="white">
                        <a:lumMod val="75000"/>
                        <a:alpha val="0"/>
                      </a:prstClr>
                    </a:solidFill>
                  </a:ln>
                  <a:solidFill>
                    <a:prstClr val="black">
                      <a:lumMod val="50000"/>
                      <a:lumOff val="50000"/>
                    </a:prstClr>
                  </a:solidFill>
                  <a:latin typeface="Rix고딕 L" panose="02020603020101020101" pitchFamily="18" charset="-127"/>
                  <a:ea typeface="Rix고딕 L" panose="02020603020101020101" pitchFamily="18" charset="-127"/>
                  <a:cs typeface="Segoe UI" panose="020B0502040204020203" pitchFamily="34" charset="0"/>
                </a:rPr>
                <a:t>인천국제공항　통합정보시스템 고도화 구축 사업</a:t>
              </a:r>
            </a:p>
          </p:txBody>
        </p:sp>
        <p:pic>
          <p:nvPicPr>
            <p:cNvPr id="10" name="그림 9">
              <a:extLst>
                <a:ext uri="{FF2B5EF4-FFF2-40B4-BE49-F238E27FC236}">
                  <a16:creationId xmlns:a16="http://schemas.microsoft.com/office/drawing/2014/main" id="{6D4A54F2-3B65-0FFC-4B3D-42D54653A8D6}"/>
                </a:ext>
              </a:extLst>
            </p:cNvPr>
            <p:cNvPicPr>
              <a:picLocks noChangeAspect="1"/>
            </p:cNvPicPr>
            <p:nvPr/>
          </p:nvPicPr>
          <p:blipFill>
            <a:blip r:embed="rId5" cstate="print"/>
            <a:stretch>
              <a:fillRect/>
            </a:stretch>
          </p:blipFill>
          <p:spPr bwMode="gray">
            <a:xfrm>
              <a:off x="299815" y="6545448"/>
              <a:ext cx="955164" cy="155693"/>
            </a:xfrm>
            <a:prstGeom prst="rect">
              <a:avLst/>
            </a:prstGeom>
          </p:spPr>
        </p:pic>
      </p:grpSp>
      <p:pic>
        <p:nvPicPr>
          <p:cNvPr id="15" name="그림 14"/>
          <p:cNvPicPr>
            <a:picLocks noChangeAspect="1"/>
          </p:cNvPicPr>
          <p:nvPr userDrawn="1"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793764" y="4883626"/>
            <a:ext cx="1088155" cy="182203"/>
          </a:xfrm>
          <a:prstGeom prst="rect">
            <a:avLst/>
          </a:prstGeom>
        </p:spPr>
      </p:pic>
      <p:grpSp>
        <p:nvGrpSpPr>
          <p:cNvPr id="2" name="그룹 1"/>
          <p:cNvGrpSpPr/>
          <p:nvPr userDrawn="1"/>
        </p:nvGrpSpPr>
        <p:grpSpPr>
          <a:xfrm>
            <a:off x="8569691" y="58060"/>
            <a:ext cx="312229" cy="332534"/>
            <a:chOff x="11426254" y="77413"/>
            <a:chExt cx="416305" cy="443379"/>
          </a:xfrm>
        </p:grpSpPr>
        <p:cxnSp>
          <p:nvCxnSpPr>
            <p:cNvPr id="19" name="직선 연결선 109">
              <a:extLst>
                <a:ext uri="{FF2B5EF4-FFF2-40B4-BE49-F238E27FC236}">
                  <a16:creationId xmlns:a16="http://schemas.microsoft.com/office/drawing/2014/main" id="{056C6A96-585D-F666-8E00-9B0A66536827}"/>
                </a:ext>
              </a:extLst>
            </p:cNvPr>
            <p:cNvCxnSpPr/>
            <p:nvPr/>
          </p:nvCxnSpPr>
          <p:spPr>
            <a:xfrm>
              <a:off x="11842559" y="77413"/>
              <a:ext cx="0" cy="443379"/>
            </a:xfrm>
            <a:prstGeom prst="line">
              <a:avLst/>
            </a:prstGeom>
            <a:ln w="9525" cap="flat">
              <a:solidFill>
                <a:srgbClr val="9AA3A8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0" name="타원 19">
              <a:extLst>
                <a:ext uri="{FF2B5EF4-FFF2-40B4-BE49-F238E27FC236}">
                  <a16:creationId xmlns:a16="http://schemas.microsoft.com/office/drawing/2014/main" id="{5AC935BD-F940-7942-B750-837F8997D518}"/>
                </a:ext>
              </a:extLst>
            </p:cNvPr>
            <p:cNvSpPr/>
            <p:nvPr userDrawn="1"/>
          </p:nvSpPr>
          <p:spPr>
            <a:xfrm>
              <a:off x="11641054" y="248898"/>
              <a:ext cx="57600" cy="57600"/>
            </a:xfrm>
            <a:prstGeom prst="ellips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marL="0" marR="0" lvl="0" indent="0" algn="ctr" defTabSz="3429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200" b="0" i="0" u="none" strike="noStrike" kern="1200" cap="none" spc="0" normalizeH="0" baseline="0" noProof="0">
                <a:ln>
                  <a:solidFill>
                    <a:srgbClr val="FF0000">
                      <a:alpha val="0"/>
                    </a:srgbClr>
                  </a:solidFill>
                </a:ln>
                <a:solidFill>
                  <a:prstClr val="white"/>
                </a:solidFill>
                <a:effectLst/>
                <a:uLnTx/>
                <a:uFillTx/>
                <a:latin typeface="KoPub돋움체 Bold" panose="00000800000000000000" pitchFamily="2" charset="-127"/>
                <a:ea typeface="KoPub돋움체 Bold" panose="00000800000000000000" pitchFamily="2" charset="-127"/>
                <a:cs typeface="+mn-cs"/>
              </a:endParaRPr>
            </a:p>
          </p:txBody>
        </p:sp>
        <p:sp>
          <p:nvSpPr>
            <p:cNvPr id="22" name="타원 21">
              <a:extLst>
                <a:ext uri="{FF2B5EF4-FFF2-40B4-BE49-F238E27FC236}">
                  <a16:creationId xmlns:a16="http://schemas.microsoft.com/office/drawing/2014/main" id="{A9B34389-9A8F-1649-6284-ACFAD5A8DA15}"/>
                </a:ext>
              </a:extLst>
            </p:cNvPr>
            <p:cNvSpPr/>
            <p:nvPr userDrawn="1"/>
          </p:nvSpPr>
          <p:spPr>
            <a:xfrm>
              <a:off x="11426254" y="248898"/>
              <a:ext cx="57600" cy="57600"/>
            </a:xfrm>
            <a:prstGeom prst="ellips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ko-KR" altLang="en-US" sz="1200">
                <a:ln>
                  <a:solidFill>
                    <a:srgbClr val="FF0000">
                      <a:alpha val="0"/>
                    </a:srgbClr>
                  </a:solidFill>
                </a:ln>
                <a:solidFill>
                  <a:prstClr val="white"/>
                </a:solidFill>
                <a:latin typeface="KoPub돋움체 Bold" panose="00000800000000000000" pitchFamily="2" charset="-127"/>
                <a:ea typeface="KoPub돋움체 Bold" panose="00000800000000000000" pitchFamily="2" charset="-127"/>
              </a:endParaRPr>
            </a:p>
          </p:txBody>
        </p:sp>
        <p:sp>
          <p:nvSpPr>
            <p:cNvPr id="23" name="타원 22">
              <a:extLst>
                <a:ext uri="{FF2B5EF4-FFF2-40B4-BE49-F238E27FC236}">
                  <a16:creationId xmlns:a16="http://schemas.microsoft.com/office/drawing/2014/main" id="{BF3E9267-D3B0-F322-8BDD-60A1AFD00E47}"/>
                </a:ext>
              </a:extLst>
            </p:cNvPr>
            <p:cNvSpPr/>
            <p:nvPr userDrawn="1"/>
          </p:nvSpPr>
          <p:spPr>
            <a:xfrm>
              <a:off x="11533654" y="248898"/>
              <a:ext cx="57600" cy="57600"/>
            </a:xfrm>
            <a:prstGeom prst="ellips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ko-KR" altLang="en-US" sz="1200">
                <a:ln>
                  <a:solidFill>
                    <a:srgbClr val="FF0000">
                      <a:alpha val="0"/>
                    </a:srgbClr>
                  </a:solidFill>
                </a:ln>
                <a:solidFill>
                  <a:prstClr val="white"/>
                </a:solidFill>
                <a:latin typeface="KoPub돋움체 Bold" panose="00000800000000000000" pitchFamily="2" charset="-127"/>
                <a:ea typeface="KoPub돋움체 Bold" panose="00000800000000000000" pitchFamily="2" charset="-127"/>
              </a:endParaRPr>
            </a:p>
          </p:txBody>
        </p:sp>
      </p:grpSp>
      <p:pic>
        <p:nvPicPr>
          <p:cNvPr id="3" name="object 2">
            <a:extLst>
              <a:ext uri="{FF2B5EF4-FFF2-40B4-BE49-F238E27FC236}">
                <a16:creationId xmlns:a16="http://schemas.microsoft.com/office/drawing/2014/main" id="{625D0C14-90BA-B16D-879C-59A685B8CA31}"/>
              </a:ext>
            </a:extLst>
          </p:cNvPr>
          <p:cNvPicPr/>
          <p:nvPr userDrawn="1"/>
        </p:nvPicPr>
        <p:blipFill>
          <a:blip r:embed="rId7" cstate="print"/>
          <a:stretch>
            <a:fillRect/>
          </a:stretch>
        </p:blipFill>
        <p:spPr>
          <a:xfrm>
            <a:off x="6312159" y="0"/>
            <a:ext cx="2831841" cy="438151"/>
          </a:xfrm>
          <a:prstGeom prst="rect">
            <a:avLst/>
          </a:prstGeom>
          <a:gradFill>
            <a:gsLst>
              <a:gs pos="18345">
                <a:srgbClr val="B0CAE1">
                  <a:alpha val="1000"/>
                </a:srgbClr>
              </a:gs>
              <a:gs pos="1835">
                <a:srgbClr val="B0CAE1"/>
              </a:gs>
              <a:gs pos="28000">
                <a:srgbClr val="B0CAE1"/>
              </a:gs>
              <a:gs pos="70000">
                <a:srgbClr val="B0CAE1">
                  <a:tint val="44500"/>
                  <a:satMod val="160000"/>
                </a:srgbClr>
              </a:gs>
              <a:gs pos="100000">
                <a:srgbClr val="B0CAE1">
                  <a:tint val="23500"/>
                  <a:satMod val="160000"/>
                </a:srgbClr>
              </a:gs>
            </a:gsLst>
            <a:lin ang="13200000" scaled="0"/>
          </a:gradFill>
        </p:spPr>
      </p:pic>
    </p:spTree>
    <p:extLst>
      <p:ext uri="{BB962C8B-B14F-4D97-AF65-F5344CB8AC3E}">
        <p14:creationId xmlns:p14="http://schemas.microsoft.com/office/powerpoint/2010/main" val="375734286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52" r:id="rId1"/>
    <p:sldLayoutId id="2147483653" r:id="rId2"/>
    <p:sldLayoutId id="2147483654" r:id="rId3"/>
  </p:sldLayoutIdLst>
  <p:txStyles>
    <p:titleStyle>
      <a:lvl1pPr algn="l" defTabSz="685800" rtl="0" eaLnBrk="1" latinLnBrk="1" hangingPunct="1">
        <a:lnSpc>
          <a:spcPct val="90000"/>
        </a:lnSpc>
        <a:spcBef>
          <a:spcPct val="0"/>
        </a:spcBef>
        <a:buNone/>
        <a:defRPr sz="33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71450" indent="-171450" algn="l" defTabSz="685800" rtl="0" eaLnBrk="1" latinLnBrk="1" hangingPunct="1">
        <a:lnSpc>
          <a:spcPct val="90000"/>
        </a:lnSpc>
        <a:spcBef>
          <a:spcPts val="750"/>
        </a:spcBef>
        <a:buFont typeface="Arial" panose="020B0604020202020204" pitchFamily="34" charset="0"/>
        <a:buChar char="•"/>
        <a:defRPr sz="2100" kern="1200">
          <a:solidFill>
            <a:schemeClr val="tx1"/>
          </a:solidFill>
          <a:latin typeface="+mn-lt"/>
          <a:ea typeface="+mn-ea"/>
          <a:cs typeface="+mn-cs"/>
        </a:defRPr>
      </a:lvl1pPr>
      <a:lvl2pPr marL="514350" indent="-171450" algn="l" defTabSz="685800" rtl="0" eaLnBrk="1" latinLnBrk="1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857250" indent="-171450" algn="l" defTabSz="685800" rtl="0" eaLnBrk="1" latinLnBrk="1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3pPr>
      <a:lvl4pPr marL="1200150" indent="-171450" algn="l" defTabSz="685800" rtl="0" eaLnBrk="1" latinLnBrk="1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543050" indent="-171450" algn="l" defTabSz="685800" rtl="0" eaLnBrk="1" latinLnBrk="1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885950" indent="-171450" algn="l" defTabSz="685800" rtl="0" eaLnBrk="1" latinLnBrk="1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228850" indent="-171450" algn="l" defTabSz="685800" rtl="0" eaLnBrk="1" latinLnBrk="1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571750" indent="-171450" algn="l" defTabSz="685800" rtl="0" eaLnBrk="1" latinLnBrk="1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914650" indent="-171450" algn="l" defTabSz="685800" rtl="0" eaLnBrk="1" latinLnBrk="1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685800" rtl="0" eaLnBrk="1" latinLnBrk="1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1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1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1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1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1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1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1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1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368">
          <p15:clr>
            <a:srgbClr val="F26B43"/>
          </p15:clr>
        </p15:guide>
        <p15:guide id="2" pos="3120">
          <p15:clr>
            <a:srgbClr val="F26B43"/>
          </p15:clr>
        </p15:guide>
        <p15:guide id="3" pos="240">
          <p15:clr>
            <a:srgbClr val="F26B43"/>
          </p15:clr>
        </p15:guide>
        <p15:guide id="4" pos="6000">
          <p15:clr>
            <a:srgbClr val="F26B43"/>
          </p15:clr>
        </p15:guide>
        <p15:guide id="5" orient="horz" pos="4065">
          <p15:clr>
            <a:srgbClr val="F26B43"/>
          </p15:clr>
        </p15:guide>
      </p15:sldGuideLst>
    </p:ext>
  </p:extLst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FBE9FE32-A270-3F9F-DCE2-3101501689E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50" y="274638"/>
            <a:ext cx="7886700" cy="99377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C1CD9473-6A1D-473D-9A24-408D630B866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28650" y="1370013"/>
            <a:ext cx="7886700" cy="326231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E095AA35-ACB5-CE3A-2FBF-470BB43D208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628650" y="4767263"/>
            <a:ext cx="2057400" cy="27463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9EE1FE4C-3907-4147-9113-74616AA0E218}" type="datetimeFigureOut">
              <a:rPr lang="ko-KR" altLang="en-US" smtClean="0"/>
              <a:t>2026-03-30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0585EB9E-F7B8-DFED-7A27-5ADA8662FF7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3028950" y="4767263"/>
            <a:ext cx="3086100" cy="27463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0A5D4B89-A64D-649F-A2D7-B51007E62D6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6457950" y="4767263"/>
            <a:ext cx="2057400" cy="27463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CFD031E-4C34-446C-AC42-45315A820F6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13867441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56" r:id="rId1"/>
    <p:sldLayoutId id="2147483657" r:id="rId2"/>
    <p:sldLayoutId id="2147483658" r:id="rId3"/>
    <p:sldLayoutId id="2147483659" r:id="rId4"/>
    <p:sldLayoutId id="2147483660" r:id="rId5"/>
    <p:sldLayoutId id="2147483661" r:id="rId6"/>
    <p:sldLayoutId id="2147483662" r:id="rId7"/>
    <p:sldLayoutId id="2147483663" r:id="rId8"/>
    <p:sldLayoutId id="2147483664" r:id="rId9"/>
    <p:sldLayoutId id="2147483665" r:id="rId10"/>
    <p:sldLayoutId id="2147483666" r:id="rId11"/>
    <p:sldLayoutId id="2147483667" r:id="rId12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1620" userDrawn="1">
          <p15:clr>
            <a:srgbClr val="F26B43"/>
          </p15:clr>
        </p15:guide>
        <p15:guide id="2" pos="2880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0.xml"/><Relationship Id="rId4" Type="http://schemas.openxmlformats.org/officeDocument/2006/relationships/image" Target="../media/image5.emf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chart" Target="../charts/chart1.xml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3.xml"/><Relationship Id="rId4" Type="http://schemas.openxmlformats.org/officeDocument/2006/relationships/chart" Target="../charts/char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3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chart" Target="../charts/chart3.xml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3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chart" Target="../charts/chart4.xml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3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chart" Target="../charts/chart5.xml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3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chart" Target="../charts/chart6.xml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3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chart" Target="../charts/chart7.xml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3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3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chart" Target="../charts/chart8.xml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3.xml"/><Relationship Id="rId4" Type="http://schemas.openxmlformats.org/officeDocument/2006/relationships/chart" Target="../charts/chart9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3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chart" Target="../charts/chart10.xml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3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3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chart" Target="../charts/chart11.xml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3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chart" Target="../charts/chart12.xml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3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0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3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3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chart" Target="../charts/chart13.xml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3.xml"/><Relationship Id="rId5" Type="http://schemas.openxmlformats.org/officeDocument/2006/relationships/chart" Target="../charts/chart15.xml"/><Relationship Id="rId4" Type="http://schemas.openxmlformats.org/officeDocument/2006/relationships/chart" Target="../charts/chart14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chart" Target="../charts/chart16.xml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3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chart" Target="../charts/chart17.xml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3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chart" Target="../charts/chart18.xml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3.xml"/><Relationship Id="rId4" Type="http://schemas.openxmlformats.org/officeDocument/2006/relationships/chart" Target="../charts/chart19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chart" Target="../charts/chart20.xml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3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 t="-12000" b="-12000"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직사각형 4">
            <a:extLst>
              <a:ext uri="{FF2B5EF4-FFF2-40B4-BE49-F238E27FC236}">
                <a16:creationId xmlns:a16="http://schemas.microsoft.com/office/drawing/2014/main" id="{601AADF5-7B5D-4FC5-24AD-4BFEA5EC92B6}"/>
              </a:ext>
            </a:extLst>
          </p:cNvPr>
          <p:cNvSpPr/>
          <p:nvPr/>
        </p:nvSpPr>
        <p:spPr bwMode="gray">
          <a:xfrm>
            <a:off x="471155" y="1185978"/>
            <a:ext cx="3942438" cy="1249766"/>
          </a:xfrm>
          <a:prstGeom prst="rect">
            <a:avLst/>
          </a:prstGeom>
          <a:noFill/>
          <a:ln>
            <a:noFill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CCFFFF">
                      <a:alpha val="50000"/>
                    </a:srgbClr>
                  </a:outerShdw>
                </a:effectLst>
              </a14:hiddenEffects>
            </a:ext>
          </a:extLst>
        </p:spPr>
        <p:txBody>
          <a:bodyPr wrap="square" lIns="0" tIns="0" rIns="0" bIns="0" anchor="ctr" anchorCtr="0">
            <a:spAutoFit/>
            <a:scene3d>
              <a:camera prst="orthographicFront"/>
              <a:lightRig rig="threePt" dir="t"/>
            </a:scene3d>
            <a:sp3d>
              <a:bevelT w="0" h="0"/>
            </a:sp3d>
          </a:bodyPr>
          <a:lstStyle/>
          <a:p>
            <a:pPr defTabSz="514350" fontAlgn="base">
              <a:lnSpc>
                <a:spcPct val="110000"/>
              </a:lnSpc>
              <a:defRPr/>
            </a:pPr>
            <a:r>
              <a:rPr lang="ko-KR" altLang="en-US" sz="2100" spc="-23" dirty="0">
                <a:ln>
                  <a:solidFill>
                    <a:srgbClr val="9933FF">
                      <a:alpha val="0"/>
                    </a:srgbClr>
                  </a:solidFill>
                </a:ln>
                <a:solidFill>
                  <a:prstClr val="black">
                    <a:lumMod val="75000"/>
                    <a:lumOff val="25000"/>
                  </a:prstClr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인천국제공항</a:t>
            </a:r>
          </a:p>
          <a:p>
            <a:pPr defTabSz="514350" fontAlgn="base">
              <a:lnSpc>
                <a:spcPct val="110000"/>
              </a:lnSpc>
              <a:defRPr/>
            </a:pPr>
            <a:r>
              <a:rPr lang="ko-KR" altLang="en-US" sz="2700" spc="-23" dirty="0">
                <a:ln>
                  <a:solidFill>
                    <a:srgbClr val="9933FF">
                      <a:alpha val="0"/>
                    </a:srgbClr>
                  </a:solidFill>
                </a:ln>
                <a:solidFill>
                  <a:srgbClr val="4472C4">
                    <a:lumMod val="75000"/>
                  </a:srgbClr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통합정보시스템 고도화</a:t>
            </a:r>
            <a:br>
              <a:rPr lang="en-US" altLang="ko-KR" sz="2700" spc="-23" dirty="0">
                <a:ln>
                  <a:solidFill>
                    <a:srgbClr val="9933FF">
                      <a:alpha val="0"/>
                    </a:srgbClr>
                  </a:solidFill>
                </a:ln>
                <a:solidFill>
                  <a:srgbClr val="4472C4">
                    <a:lumMod val="75000"/>
                  </a:srgbClr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</a:br>
            <a:r>
              <a:rPr lang="ko-KR" altLang="en-US" sz="2700" spc="-23" dirty="0">
                <a:ln>
                  <a:solidFill>
                    <a:srgbClr val="9933FF">
                      <a:alpha val="0"/>
                    </a:srgbClr>
                  </a:solidFill>
                </a:ln>
                <a:solidFill>
                  <a:srgbClr val="4472C4">
                    <a:lumMod val="75000"/>
                  </a:srgbClr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구축사업</a:t>
            </a:r>
            <a:endParaRPr lang="en-US" altLang="ko-KR" sz="2700" spc="-23" dirty="0">
              <a:ln>
                <a:solidFill>
                  <a:srgbClr val="9933FF">
                    <a:alpha val="0"/>
                  </a:srgbClr>
                </a:solidFill>
              </a:ln>
              <a:solidFill>
                <a:srgbClr val="4472C4">
                  <a:lumMod val="75000"/>
                </a:srgbClr>
              </a:solidFill>
              <a:latin typeface="KoPub돋움체 Bold" panose="02020603020101020101" pitchFamily="18" charset="-127"/>
              <a:ea typeface="KoPub돋움체 Bold" panose="02020603020101020101" pitchFamily="18" charset="-127"/>
            </a:endParaRPr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F223B5E8-A9CC-1E60-922D-D50CC07BB63B}"/>
              </a:ext>
            </a:extLst>
          </p:cNvPr>
          <p:cNvPicPr>
            <a:picLocks noChangeAspect="1"/>
          </p:cNvPicPr>
          <p:nvPr/>
        </p:nvPicPr>
        <p:blipFill>
          <a:blip r:embed="rId4" cstate="print"/>
          <a:stretch>
            <a:fillRect/>
          </a:stretch>
        </p:blipFill>
        <p:spPr>
          <a:xfrm>
            <a:off x="471156" y="530277"/>
            <a:ext cx="1442164" cy="232272"/>
          </a:xfrm>
          <a:prstGeom prst="rect">
            <a:avLst/>
          </a:prstGeom>
        </p:spPr>
      </p:pic>
      <p:sp>
        <p:nvSpPr>
          <p:cNvPr id="8" name="직사각형 7">
            <a:extLst>
              <a:ext uri="{FF2B5EF4-FFF2-40B4-BE49-F238E27FC236}">
                <a16:creationId xmlns:a16="http://schemas.microsoft.com/office/drawing/2014/main" id="{90C92C1E-EAB5-2D3E-D989-AC05435A2A9A}"/>
              </a:ext>
            </a:extLst>
          </p:cNvPr>
          <p:cNvSpPr/>
          <p:nvPr/>
        </p:nvSpPr>
        <p:spPr bwMode="gray">
          <a:xfrm>
            <a:off x="471155" y="2568544"/>
            <a:ext cx="5481073" cy="756617"/>
          </a:xfrm>
          <a:prstGeom prst="rect">
            <a:avLst/>
          </a:prstGeom>
          <a:noFill/>
          <a:ln>
            <a:noFill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CCFFFF">
                      <a:alpha val="50000"/>
                    </a:srgbClr>
                  </a:outerShdw>
                </a:effectLst>
              </a14:hiddenEffects>
            </a:ext>
          </a:extLst>
        </p:spPr>
        <p:txBody>
          <a:bodyPr wrap="square" lIns="0" tIns="0" rIns="0" bIns="0" anchor="ctr" anchorCtr="0">
            <a:spAutoFit/>
            <a:scene3d>
              <a:camera prst="orthographicFront"/>
              <a:lightRig rig="threePt" dir="t"/>
            </a:scene3d>
            <a:sp3d>
              <a:bevelT w="0" h="0"/>
            </a:sp3d>
          </a:bodyPr>
          <a:lstStyle/>
          <a:p>
            <a:pPr defTabSz="514350" fontAlgn="base">
              <a:spcBef>
                <a:spcPts val="450"/>
              </a:spcBef>
              <a:spcAft>
                <a:spcPct val="0"/>
              </a:spcAft>
              <a:defRPr/>
            </a:pPr>
            <a:r>
              <a:rPr lang="ko-KR" altLang="en-US" sz="2250" b="1" dirty="0">
                <a:ln>
                  <a:solidFill>
                    <a:srgbClr val="9933FF">
                      <a:alpha val="0"/>
                    </a:srgbClr>
                  </a:solidFill>
                </a:ln>
                <a:solidFill>
                  <a:prstClr val="white">
                    <a:lumMod val="50000"/>
                  </a:prstClr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단위테스트 결함</a:t>
            </a:r>
            <a:endParaRPr lang="en-US" altLang="ko-KR" sz="2250" b="1" dirty="0">
              <a:ln>
                <a:solidFill>
                  <a:srgbClr val="9933FF">
                    <a:alpha val="0"/>
                  </a:srgbClr>
                </a:solidFill>
              </a:ln>
              <a:solidFill>
                <a:prstClr val="white">
                  <a:lumMod val="50000"/>
                </a:prstClr>
              </a:solidFill>
              <a:latin typeface="Rix고딕 L" panose="02020603020101020101" pitchFamily="18" charset="-127"/>
              <a:ea typeface="Rix고딕 L" panose="02020603020101020101" pitchFamily="18" charset="-127"/>
            </a:endParaRPr>
          </a:p>
          <a:p>
            <a:pPr defTabSz="514350" fontAlgn="base">
              <a:spcBef>
                <a:spcPts val="450"/>
              </a:spcBef>
              <a:spcAft>
                <a:spcPct val="0"/>
              </a:spcAft>
              <a:defRPr/>
            </a:pPr>
            <a:r>
              <a:rPr lang="ko-KR" altLang="en-US" sz="2250" b="1" dirty="0">
                <a:ln>
                  <a:solidFill>
                    <a:srgbClr val="9933FF">
                      <a:alpha val="0"/>
                    </a:srgbClr>
                  </a:solidFill>
                </a:ln>
                <a:solidFill>
                  <a:prstClr val="white">
                    <a:lumMod val="50000"/>
                  </a:prstClr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정량 분석 보고서</a:t>
            </a:r>
            <a:endParaRPr lang="en-US" altLang="ko-KR" sz="2250" b="1" dirty="0">
              <a:ln>
                <a:solidFill>
                  <a:srgbClr val="9933FF">
                    <a:alpha val="0"/>
                  </a:srgbClr>
                </a:solidFill>
              </a:ln>
              <a:solidFill>
                <a:prstClr val="white">
                  <a:lumMod val="50000"/>
                </a:prstClr>
              </a:solidFill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4" name="object 5">
            <a:extLst>
              <a:ext uri="{FF2B5EF4-FFF2-40B4-BE49-F238E27FC236}">
                <a16:creationId xmlns:a16="http://schemas.microsoft.com/office/drawing/2014/main" id="{BEB9A8CF-E251-B8D8-78DD-9C4A2432E97F}"/>
              </a:ext>
            </a:extLst>
          </p:cNvPr>
          <p:cNvSpPr txBox="1"/>
          <p:nvPr/>
        </p:nvSpPr>
        <p:spPr>
          <a:xfrm>
            <a:off x="471155" y="3477431"/>
            <a:ext cx="2774965" cy="429382"/>
          </a:xfrm>
          <a:prstGeom prst="rect">
            <a:avLst/>
          </a:prstGeom>
        </p:spPr>
        <p:txBody>
          <a:bodyPr vert="horz" wrap="square" lIns="0" tIns="7780" rIns="0" bIns="0" rtlCol="0">
            <a:spAutoFit/>
          </a:bodyPr>
          <a:lstStyle/>
          <a:p>
            <a:pPr marL="8645">
              <a:spcBef>
                <a:spcPts val="62"/>
              </a:spcBef>
            </a:pPr>
            <a:r>
              <a:rPr lang="en-US" sz="1328" spc="-41" dirty="0">
                <a:solidFill>
                  <a:srgbClr val="64738B"/>
                </a:solidFill>
                <a:latin typeface="Noto Sans KR"/>
                <a:cs typeface="Noto Sans KR"/>
              </a:rPr>
              <a:t>Unit</a:t>
            </a:r>
            <a:r>
              <a:rPr sz="1328" spc="106" dirty="0">
                <a:solidFill>
                  <a:srgbClr val="64738B"/>
                </a:solidFill>
                <a:latin typeface="Noto Sans KR"/>
                <a:cs typeface="Noto Sans KR"/>
              </a:rPr>
              <a:t> </a:t>
            </a:r>
            <a:r>
              <a:rPr sz="1328" spc="-75" dirty="0">
                <a:solidFill>
                  <a:srgbClr val="64738B"/>
                </a:solidFill>
                <a:latin typeface="Noto Sans KR"/>
                <a:cs typeface="Noto Sans KR"/>
              </a:rPr>
              <a:t>Test</a:t>
            </a:r>
            <a:r>
              <a:rPr sz="1328" spc="109" dirty="0">
                <a:solidFill>
                  <a:srgbClr val="64738B"/>
                </a:solidFill>
                <a:latin typeface="Noto Sans KR"/>
                <a:cs typeface="Noto Sans KR"/>
              </a:rPr>
              <a:t> </a:t>
            </a:r>
            <a:r>
              <a:rPr lang="en-US" sz="1328" spc="109" dirty="0">
                <a:solidFill>
                  <a:srgbClr val="64738B"/>
                </a:solidFill>
                <a:latin typeface="Noto Sans KR"/>
                <a:cs typeface="Noto Sans KR"/>
              </a:rPr>
              <a:t> </a:t>
            </a:r>
          </a:p>
          <a:p>
            <a:pPr marL="8645">
              <a:spcBef>
                <a:spcPts val="62"/>
              </a:spcBef>
            </a:pPr>
            <a:r>
              <a:rPr lang="en-US" sz="1328" spc="109" dirty="0">
                <a:solidFill>
                  <a:srgbClr val="64738B"/>
                </a:solidFill>
                <a:latin typeface="Noto Sans KR"/>
                <a:cs typeface="Noto Sans KR"/>
              </a:rPr>
              <a:t>Quantitative Analysis</a:t>
            </a:r>
            <a:r>
              <a:rPr sz="1328" spc="109" dirty="0">
                <a:solidFill>
                  <a:srgbClr val="64738B"/>
                </a:solidFill>
                <a:latin typeface="Noto Sans KR"/>
                <a:cs typeface="Noto Sans KR"/>
              </a:rPr>
              <a:t> </a:t>
            </a:r>
            <a:r>
              <a:rPr sz="1328" spc="-48" dirty="0">
                <a:solidFill>
                  <a:srgbClr val="64738B"/>
                </a:solidFill>
                <a:latin typeface="Noto Sans KR"/>
                <a:cs typeface="Noto Sans KR"/>
              </a:rPr>
              <a:t>Report</a:t>
            </a:r>
            <a:endParaRPr sz="1328" dirty="0">
              <a:latin typeface="Noto Sans KR"/>
              <a:cs typeface="Noto Sans KR"/>
            </a:endParaRPr>
          </a:p>
        </p:txBody>
      </p:sp>
    </p:spTree>
    <p:extLst>
      <p:ext uri="{BB962C8B-B14F-4D97-AF65-F5344CB8AC3E}">
        <p14:creationId xmlns:p14="http://schemas.microsoft.com/office/powerpoint/2010/main" val="373908146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/>
          <p:cNvSpPr/>
          <p:nvPr/>
        </p:nvSpPr>
        <p:spPr>
          <a:xfrm>
            <a:off x="365760" y="5660"/>
            <a:ext cx="6400800" cy="4195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chemeClr val="accent1">
                    <a:lumMod val="50000"/>
                  </a:schemeClr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단위테스트 결함 종합 분석</a:t>
            </a:r>
            <a:endParaRPr lang="en-US" sz="2400" dirty="0">
              <a:solidFill>
                <a:schemeClr val="accent1">
                  <a:lumMod val="50000"/>
                </a:schemeClr>
              </a:solidFill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4" name="Text 2"/>
          <p:cNvSpPr/>
          <p:nvPr/>
        </p:nvSpPr>
        <p:spPr>
          <a:xfrm>
            <a:off x="365760" y="548640"/>
            <a:ext cx="7315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002060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시스템 고도화 사업  |  2-2차 감리 기준  |  전 차수(1-1차 ~ 2-3차) 누적</a:t>
            </a:r>
          </a:p>
        </p:txBody>
      </p:sp>
      <p:sp>
        <p:nvSpPr>
          <p:cNvPr id="5" name="Text 3"/>
          <p:cNvSpPr/>
          <p:nvPr/>
        </p:nvSpPr>
        <p:spPr>
          <a:xfrm>
            <a:off x="7200223" y="685800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002060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2026.03.26 15:00 </a:t>
            </a:r>
            <a:r>
              <a:rPr lang="ko-KR" altLang="en-US" sz="1100" dirty="0">
                <a:solidFill>
                  <a:srgbClr val="002060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기준</a:t>
            </a:r>
            <a:endParaRPr lang="en-US" sz="1100" dirty="0">
              <a:solidFill>
                <a:srgbClr val="002060"/>
              </a:solidFill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6" name="Shape 4"/>
          <p:cNvSpPr/>
          <p:nvPr/>
        </p:nvSpPr>
        <p:spPr>
          <a:xfrm>
            <a:off x="444186" y="1143000"/>
            <a:ext cx="2587752" cy="914400"/>
          </a:xfrm>
          <a:prstGeom prst="rect">
            <a:avLst/>
          </a:prstGeom>
          <a:solidFill>
            <a:srgbClr val="F4F7FB"/>
          </a:solidFill>
          <a:ln w="12700">
            <a:solidFill>
              <a:srgbClr val="D1D9E6"/>
            </a:solidFill>
            <a:prstDash val="solid"/>
          </a:ln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ko-KR" altLang="en-US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7" name="Shape 5"/>
          <p:cNvSpPr/>
          <p:nvPr/>
        </p:nvSpPr>
        <p:spPr>
          <a:xfrm>
            <a:off x="444186" y="1143000"/>
            <a:ext cx="64008" cy="91440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  <p:txBody>
          <a:bodyPr/>
          <a:lstStyle/>
          <a:p>
            <a:endParaRPr lang="ko-KR" altLang="en-US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8" name="Text 6"/>
          <p:cNvSpPr/>
          <p:nvPr/>
        </p:nvSpPr>
        <p:spPr>
          <a:xfrm>
            <a:off x="608778" y="1216152"/>
            <a:ext cx="24231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1B3A6B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4,648건</a:t>
            </a:r>
            <a:endParaRPr lang="en-US" sz="3200" dirty="0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9" name="Text 7"/>
          <p:cNvSpPr/>
          <p:nvPr/>
        </p:nvSpPr>
        <p:spPr>
          <a:xfrm>
            <a:off x="608778" y="1673352"/>
            <a:ext cx="2423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 err="1">
                <a:solidFill>
                  <a:srgbClr val="1B3A6B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전체</a:t>
            </a:r>
            <a:r>
              <a:rPr lang="en-US" sz="1000" b="1" dirty="0">
                <a:solidFill>
                  <a:srgbClr val="1B3A6B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 </a:t>
            </a:r>
            <a:r>
              <a:rPr lang="en-US" sz="1000" b="1" dirty="0" err="1">
                <a:solidFill>
                  <a:srgbClr val="1B3A6B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등록</a:t>
            </a:r>
            <a:r>
              <a:rPr lang="en-US" sz="1000" b="1" dirty="0">
                <a:solidFill>
                  <a:srgbClr val="1B3A6B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 </a:t>
            </a:r>
            <a:r>
              <a:rPr lang="ko-KR" altLang="en-US" sz="1000" b="1" dirty="0">
                <a:solidFill>
                  <a:srgbClr val="1B3A6B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결함</a:t>
            </a:r>
            <a:endParaRPr lang="en-US" sz="1000" dirty="0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10" name="Text 8"/>
          <p:cNvSpPr/>
          <p:nvPr/>
        </p:nvSpPr>
        <p:spPr>
          <a:xfrm>
            <a:off x="608778" y="1856232"/>
            <a:ext cx="24231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9CA3AF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결함 2,636 / 개선·변경 1,944</a:t>
            </a:r>
            <a:endParaRPr lang="en-US" sz="900" dirty="0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11" name="Shape 9"/>
          <p:cNvSpPr/>
          <p:nvPr/>
        </p:nvSpPr>
        <p:spPr>
          <a:xfrm>
            <a:off x="3260986" y="1143000"/>
            <a:ext cx="2587752" cy="914400"/>
          </a:xfrm>
          <a:prstGeom prst="rect">
            <a:avLst/>
          </a:prstGeom>
          <a:solidFill>
            <a:srgbClr val="F4F7FB"/>
          </a:solidFill>
          <a:ln w="12700">
            <a:solidFill>
              <a:srgbClr val="D1D9E6"/>
            </a:solidFill>
            <a:prstDash val="solid"/>
          </a:ln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ko-KR" altLang="en-US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12" name="Shape 10"/>
          <p:cNvSpPr/>
          <p:nvPr/>
        </p:nvSpPr>
        <p:spPr>
          <a:xfrm>
            <a:off x="3260986" y="1143000"/>
            <a:ext cx="64008" cy="914400"/>
          </a:xfrm>
          <a:prstGeom prst="rect">
            <a:avLst/>
          </a:prstGeom>
          <a:solidFill>
            <a:srgbClr val="2563A8"/>
          </a:solidFill>
          <a:ln w="12700">
            <a:solidFill>
              <a:srgbClr val="2563A8"/>
            </a:solidFill>
            <a:prstDash val="solid"/>
          </a:ln>
        </p:spPr>
        <p:txBody>
          <a:bodyPr/>
          <a:lstStyle/>
          <a:p>
            <a:endParaRPr lang="ko-KR" altLang="en-US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13" name="Text 11"/>
          <p:cNvSpPr/>
          <p:nvPr/>
        </p:nvSpPr>
        <p:spPr>
          <a:xfrm>
            <a:off x="3425578" y="1216152"/>
            <a:ext cx="24231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2563A8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4,203건</a:t>
            </a:r>
            <a:endParaRPr lang="en-US" sz="3200" dirty="0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14" name="Text 12"/>
          <p:cNvSpPr/>
          <p:nvPr/>
        </p:nvSpPr>
        <p:spPr>
          <a:xfrm>
            <a:off x="3425578" y="1673352"/>
            <a:ext cx="2423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B3A6B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분석 대상 (기각 제외)</a:t>
            </a:r>
            <a:endParaRPr lang="en-US" sz="1000" dirty="0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15" name="Text 13"/>
          <p:cNvSpPr/>
          <p:nvPr/>
        </p:nvSpPr>
        <p:spPr>
          <a:xfrm>
            <a:off x="3425578" y="1856232"/>
            <a:ext cx="24231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9CA3AF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결함기각 445건 별도 집계</a:t>
            </a:r>
            <a:endParaRPr lang="en-US" sz="900" dirty="0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16" name="Shape 14"/>
          <p:cNvSpPr/>
          <p:nvPr/>
        </p:nvSpPr>
        <p:spPr>
          <a:xfrm>
            <a:off x="6091540" y="1143000"/>
            <a:ext cx="2587752" cy="914400"/>
          </a:xfrm>
          <a:prstGeom prst="rect">
            <a:avLst/>
          </a:prstGeom>
          <a:solidFill>
            <a:srgbClr val="F4F7FB"/>
          </a:solidFill>
          <a:ln w="12700">
            <a:solidFill>
              <a:srgbClr val="D1D9E6"/>
            </a:solidFill>
            <a:prstDash val="solid"/>
          </a:ln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ko-KR" altLang="en-US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17" name="Shape 15"/>
          <p:cNvSpPr/>
          <p:nvPr/>
        </p:nvSpPr>
        <p:spPr>
          <a:xfrm>
            <a:off x="6091540" y="1143000"/>
            <a:ext cx="64008" cy="914400"/>
          </a:xfrm>
          <a:prstGeom prst="rect">
            <a:avLst/>
          </a:prstGeom>
          <a:solidFill>
            <a:srgbClr val="3B82C4"/>
          </a:solidFill>
          <a:ln w="12700">
            <a:solidFill>
              <a:srgbClr val="3B82C4"/>
            </a:solidFill>
            <a:prstDash val="solid"/>
          </a:ln>
        </p:spPr>
        <p:txBody>
          <a:bodyPr/>
          <a:lstStyle/>
          <a:p>
            <a:endParaRPr lang="ko-KR" altLang="en-US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18" name="Text 16"/>
          <p:cNvSpPr/>
          <p:nvPr/>
        </p:nvSpPr>
        <p:spPr>
          <a:xfrm>
            <a:off x="6256132" y="1216152"/>
            <a:ext cx="24231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3B82C4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2,613건</a:t>
            </a:r>
            <a:endParaRPr lang="en-US" sz="3200" dirty="0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19" name="Text 17"/>
          <p:cNvSpPr/>
          <p:nvPr/>
        </p:nvSpPr>
        <p:spPr>
          <a:xfrm>
            <a:off x="6256132" y="1673352"/>
            <a:ext cx="2423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B3A6B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테스트 시나리오</a:t>
            </a:r>
            <a:endParaRPr lang="en-US" sz="1000" dirty="0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20" name="Text 18"/>
          <p:cNvSpPr/>
          <p:nvPr/>
        </p:nvSpPr>
        <p:spPr>
          <a:xfrm>
            <a:off x="6256132" y="1856232"/>
            <a:ext cx="24231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9CA3AF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1차 781건 / 2차 1,832건</a:t>
            </a:r>
            <a:endParaRPr lang="en-US" sz="900" dirty="0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21" name="Shape 19"/>
          <p:cNvSpPr/>
          <p:nvPr/>
        </p:nvSpPr>
        <p:spPr>
          <a:xfrm>
            <a:off x="444186" y="2240280"/>
            <a:ext cx="2587752" cy="914400"/>
          </a:xfrm>
          <a:prstGeom prst="rect">
            <a:avLst/>
          </a:prstGeom>
          <a:solidFill>
            <a:srgbClr val="F4F7FB"/>
          </a:solidFill>
          <a:ln w="12700">
            <a:solidFill>
              <a:srgbClr val="D1D9E6"/>
            </a:solidFill>
            <a:prstDash val="solid"/>
          </a:ln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ko-KR" altLang="en-US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22" name="Shape 20"/>
          <p:cNvSpPr/>
          <p:nvPr/>
        </p:nvSpPr>
        <p:spPr>
          <a:xfrm>
            <a:off x="444186" y="2240280"/>
            <a:ext cx="64008" cy="914400"/>
          </a:xfrm>
          <a:prstGeom prst="rect">
            <a:avLst/>
          </a:prstGeom>
          <a:solidFill>
            <a:srgbClr val="E85D2F"/>
          </a:solidFill>
          <a:ln w="12700">
            <a:solidFill>
              <a:srgbClr val="E85D2F"/>
            </a:solidFill>
            <a:prstDash val="solid"/>
          </a:ln>
        </p:spPr>
        <p:txBody>
          <a:bodyPr/>
          <a:lstStyle/>
          <a:p>
            <a:endParaRPr lang="ko-KR" altLang="en-US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23" name="Text 21"/>
          <p:cNvSpPr/>
          <p:nvPr/>
        </p:nvSpPr>
        <p:spPr>
          <a:xfrm>
            <a:off x="608778" y="2313432"/>
            <a:ext cx="24231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E85D2F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17개</a:t>
            </a:r>
            <a:endParaRPr lang="en-US" sz="3200" dirty="0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24" name="Text 22"/>
          <p:cNvSpPr/>
          <p:nvPr/>
        </p:nvSpPr>
        <p:spPr>
          <a:xfrm>
            <a:off x="608778" y="2770632"/>
            <a:ext cx="2423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B3A6B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업무 모듈</a:t>
            </a:r>
            <a:endParaRPr lang="en-US" sz="1000" dirty="0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25" name="Text 23"/>
          <p:cNvSpPr/>
          <p:nvPr/>
        </p:nvSpPr>
        <p:spPr>
          <a:xfrm>
            <a:off x="608778" y="2953512"/>
            <a:ext cx="24231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 err="1">
                <a:solidFill>
                  <a:srgbClr val="9CA3AF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공항운영·운항</a:t>
            </a:r>
            <a:r>
              <a:rPr lang="ko-KR" altLang="en-US" sz="900" dirty="0">
                <a:solidFill>
                  <a:srgbClr val="9CA3AF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정보</a:t>
            </a:r>
            <a:r>
              <a:rPr lang="en-US" sz="900" dirty="0">
                <a:solidFill>
                  <a:srgbClr val="9CA3AF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 등</a:t>
            </a:r>
            <a:endParaRPr lang="en-US" sz="900" dirty="0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26" name="Shape 24"/>
          <p:cNvSpPr/>
          <p:nvPr/>
        </p:nvSpPr>
        <p:spPr>
          <a:xfrm>
            <a:off x="3260986" y="2240280"/>
            <a:ext cx="2587752" cy="914400"/>
          </a:xfrm>
          <a:prstGeom prst="rect">
            <a:avLst/>
          </a:prstGeom>
          <a:solidFill>
            <a:srgbClr val="F4F7FB"/>
          </a:solidFill>
          <a:ln w="12700">
            <a:solidFill>
              <a:srgbClr val="D1D9E6"/>
            </a:solidFill>
            <a:prstDash val="solid"/>
          </a:ln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ko-KR" altLang="en-US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27" name="Shape 25"/>
          <p:cNvSpPr/>
          <p:nvPr/>
        </p:nvSpPr>
        <p:spPr>
          <a:xfrm>
            <a:off x="3260986" y="2240280"/>
            <a:ext cx="64008" cy="914400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  <p:txBody>
          <a:bodyPr/>
          <a:lstStyle/>
          <a:p>
            <a:endParaRPr lang="ko-KR" altLang="en-US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28" name="Text 26"/>
          <p:cNvSpPr/>
          <p:nvPr/>
        </p:nvSpPr>
        <p:spPr>
          <a:xfrm>
            <a:off x="3425578" y="2313432"/>
            <a:ext cx="24231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DC2626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10.4%</a:t>
            </a:r>
            <a:endParaRPr lang="en-US" sz="3200" dirty="0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29" name="Text 27"/>
          <p:cNvSpPr/>
          <p:nvPr/>
        </p:nvSpPr>
        <p:spPr>
          <a:xfrm>
            <a:off x="3425578" y="2770632"/>
            <a:ext cx="2423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B3A6B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미결 결함 비율</a:t>
            </a:r>
            <a:endParaRPr lang="en-US" sz="1000" dirty="0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30" name="Text 28"/>
          <p:cNvSpPr/>
          <p:nvPr/>
        </p:nvSpPr>
        <p:spPr>
          <a:xfrm>
            <a:off x="3425578" y="2953512"/>
            <a:ext cx="24231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9CA3AF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438건 미처리 잔존</a:t>
            </a:r>
            <a:endParaRPr lang="en-US" sz="900" dirty="0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31" name="Shape 29"/>
          <p:cNvSpPr/>
          <p:nvPr/>
        </p:nvSpPr>
        <p:spPr>
          <a:xfrm>
            <a:off x="6091540" y="2240280"/>
            <a:ext cx="2587752" cy="914400"/>
          </a:xfrm>
          <a:prstGeom prst="rect">
            <a:avLst/>
          </a:prstGeom>
          <a:solidFill>
            <a:srgbClr val="F4F7FB"/>
          </a:solidFill>
          <a:ln w="12700">
            <a:solidFill>
              <a:srgbClr val="D1D9E6"/>
            </a:solidFill>
            <a:prstDash val="solid"/>
          </a:ln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ko-KR" altLang="en-US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32" name="Shape 30"/>
          <p:cNvSpPr/>
          <p:nvPr/>
        </p:nvSpPr>
        <p:spPr>
          <a:xfrm>
            <a:off x="6091540" y="2240280"/>
            <a:ext cx="64008" cy="914400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  <p:txBody>
          <a:bodyPr/>
          <a:lstStyle/>
          <a:p>
            <a:endParaRPr lang="ko-KR" altLang="en-US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33" name="Text 31"/>
          <p:cNvSpPr/>
          <p:nvPr/>
        </p:nvSpPr>
        <p:spPr>
          <a:xfrm>
            <a:off x="6256132" y="2313432"/>
            <a:ext cx="24231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D97706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25.5%</a:t>
            </a:r>
            <a:endParaRPr lang="en-US" sz="3200" dirty="0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34" name="Text 32"/>
          <p:cNvSpPr/>
          <p:nvPr/>
        </p:nvSpPr>
        <p:spPr>
          <a:xfrm>
            <a:off x="6256132" y="2770632"/>
            <a:ext cx="2423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B3A6B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복수단계 반복 결함</a:t>
            </a:r>
            <a:endParaRPr lang="en-US" sz="1000" dirty="0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35" name="Text 33"/>
          <p:cNvSpPr/>
          <p:nvPr/>
        </p:nvSpPr>
        <p:spPr>
          <a:xfrm>
            <a:off x="6256132" y="2953512"/>
            <a:ext cx="24231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9CA3AF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667개 시나리오 중복 발생</a:t>
            </a:r>
            <a:endParaRPr lang="en-US" sz="900" dirty="0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36" name="Shape 34"/>
          <p:cNvSpPr/>
          <p:nvPr/>
        </p:nvSpPr>
        <p:spPr>
          <a:xfrm>
            <a:off x="433876" y="4331227"/>
            <a:ext cx="8245415" cy="471232"/>
          </a:xfrm>
          <a:prstGeom prst="rect">
            <a:avLst/>
          </a:prstGeom>
          <a:solidFill>
            <a:srgbClr val="F4F7FB"/>
          </a:solidFill>
          <a:ln w="12700">
            <a:solidFill>
              <a:srgbClr val="D1D9E6"/>
            </a:solidFill>
            <a:prstDash val="solid"/>
          </a:ln>
        </p:spPr>
        <p:txBody>
          <a:bodyPr anchor="ctr" anchorCtr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100" b="1" i="0" u="none" strike="noStrike" kern="1200" cap="none" spc="0" normalizeH="0" baseline="0" noProof="0" dirty="0">
                <a:ln>
                  <a:noFill/>
                </a:ln>
                <a:solidFill>
                  <a:srgbClr val="1B3A6B"/>
                </a:solidFill>
                <a:effectLst/>
                <a:uLnTx/>
                <a:uFillTx/>
                <a:latin typeface="Rix고딕 L" panose="02020603020101020101" pitchFamily="18" charset="-127"/>
                <a:ea typeface="Rix고딕 L" panose="02020603020101020101" pitchFamily="18" charset="-127"/>
                <a:cs typeface="+mn-cs"/>
              </a:rPr>
              <a:t>▶  </a:t>
            </a:r>
            <a:r>
              <a:rPr kumimoji="0" lang="en-US" altLang="ko-KR" sz="1100" b="1" i="0" u="none" strike="noStrike" kern="1200" cap="none" spc="0" normalizeH="0" baseline="0" noProof="0" dirty="0" err="1">
                <a:ln>
                  <a:noFill/>
                </a:ln>
                <a:solidFill>
                  <a:srgbClr val="1B3A6B"/>
                </a:solidFill>
                <a:effectLst/>
                <a:uLnTx/>
                <a:uFillTx/>
                <a:latin typeface="Rix고딕 L" panose="02020603020101020101" pitchFamily="18" charset="-127"/>
                <a:ea typeface="Rix고딕 L" panose="02020603020101020101" pitchFamily="18" charset="-127"/>
                <a:cs typeface="+mn-cs"/>
              </a:rPr>
              <a:t>핵심</a:t>
            </a:r>
            <a:r>
              <a:rPr kumimoji="0" lang="en-US" altLang="ko-KR" sz="1100" b="1" i="0" u="none" strike="noStrike" kern="1200" cap="none" spc="0" normalizeH="0" baseline="0" noProof="0" dirty="0">
                <a:ln>
                  <a:noFill/>
                </a:ln>
                <a:solidFill>
                  <a:srgbClr val="1B3A6B"/>
                </a:solidFill>
                <a:effectLst/>
                <a:uLnTx/>
                <a:uFillTx/>
                <a:latin typeface="Rix고딕 L" panose="02020603020101020101" pitchFamily="18" charset="-127"/>
                <a:ea typeface="Rix고딕 L" panose="02020603020101020101" pitchFamily="18" charset="-127"/>
                <a:cs typeface="+mn-cs"/>
              </a:rPr>
              <a:t> </a:t>
            </a:r>
            <a:r>
              <a:rPr kumimoji="0" lang="en-US" altLang="ko-KR" sz="1100" b="1" i="0" u="none" strike="noStrike" kern="1200" cap="none" spc="0" normalizeH="0" baseline="0" noProof="0" dirty="0" err="1">
                <a:ln>
                  <a:noFill/>
                </a:ln>
                <a:solidFill>
                  <a:srgbClr val="1B3A6B"/>
                </a:solidFill>
                <a:effectLst/>
                <a:uLnTx/>
                <a:uFillTx/>
                <a:latin typeface="Rix고딕 L" panose="02020603020101020101" pitchFamily="18" charset="-127"/>
                <a:ea typeface="Rix고딕 L" panose="02020603020101020101" pitchFamily="18" charset="-127"/>
                <a:cs typeface="+mn-cs"/>
              </a:rPr>
              <a:t>구조적</a:t>
            </a:r>
            <a:r>
              <a:rPr kumimoji="0" lang="en-US" altLang="ko-KR" sz="1100" b="1" i="0" u="none" strike="noStrike" kern="1200" cap="none" spc="0" normalizeH="0" baseline="0" noProof="0" dirty="0">
                <a:ln>
                  <a:noFill/>
                </a:ln>
                <a:solidFill>
                  <a:srgbClr val="1B3A6B"/>
                </a:solidFill>
                <a:effectLst/>
                <a:uLnTx/>
                <a:uFillTx/>
                <a:latin typeface="Rix고딕 L" panose="02020603020101020101" pitchFamily="18" charset="-127"/>
                <a:ea typeface="Rix고딕 L" panose="02020603020101020101" pitchFamily="18" charset="-127"/>
                <a:cs typeface="+mn-cs"/>
              </a:rPr>
              <a:t> </a:t>
            </a:r>
            <a:r>
              <a:rPr kumimoji="0" lang="en-US" altLang="ko-KR" sz="1100" b="1" i="0" u="none" strike="noStrike" kern="1200" cap="none" spc="0" normalizeH="0" baseline="0" noProof="0" dirty="0" err="1">
                <a:ln>
                  <a:noFill/>
                </a:ln>
                <a:solidFill>
                  <a:srgbClr val="1B3A6B"/>
                </a:solidFill>
                <a:effectLst/>
                <a:uLnTx/>
                <a:uFillTx/>
                <a:latin typeface="Rix고딕 L" panose="02020603020101020101" pitchFamily="18" charset="-127"/>
                <a:ea typeface="Rix고딕 L" panose="02020603020101020101" pitchFamily="18" charset="-127"/>
                <a:cs typeface="+mn-cs"/>
              </a:rPr>
              <a:t>문제</a:t>
            </a:r>
            <a:r>
              <a:rPr kumimoji="0" lang="en-US" altLang="ko-KR" sz="1100" b="1" i="0" u="none" strike="noStrike" kern="1200" cap="none" spc="0" normalizeH="0" baseline="0" noProof="0" dirty="0">
                <a:ln>
                  <a:noFill/>
                </a:ln>
                <a:solidFill>
                  <a:srgbClr val="1B3A6B"/>
                </a:solidFill>
                <a:effectLst/>
                <a:uLnTx/>
                <a:uFillTx/>
                <a:latin typeface="Rix고딕 L" panose="02020603020101020101" pitchFamily="18" charset="-127"/>
                <a:ea typeface="Rix고딕 L" panose="02020603020101020101" pitchFamily="18" charset="-127"/>
                <a:cs typeface="+mn-cs"/>
              </a:rPr>
              <a:t> : </a:t>
            </a:r>
            <a:r>
              <a:rPr kumimoji="0" lang="en-US" altLang="ko-KR" sz="1100" b="1" i="0" u="none" strike="noStrike" kern="1200" cap="none" spc="0" normalizeH="0" baseline="0" noProof="0" dirty="0" err="1">
                <a:ln>
                  <a:noFill/>
                </a:ln>
                <a:solidFill>
                  <a:srgbClr val="1B3A6B"/>
                </a:solidFill>
                <a:effectLst/>
                <a:uLnTx/>
                <a:uFillTx/>
                <a:latin typeface="Rix고딕 L" panose="02020603020101020101" pitchFamily="18" charset="-127"/>
                <a:ea typeface="Rix고딕 L" panose="02020603020101020101" pitchFamily="18" charset="-127"/>
                <a:cs typeface="+mn-cs"/>
              </a:rPr>
              <a:t>공사테스트</a:t>
            </a:r>
            <a:r>
              <a:rPr kumimoji="0" lang="en-US" altLang="ko-KR" sz="1100" b="1" i="0" u="none" strike="noStrike" kern="1200" cap="none" spc="0" normalizeH="0" baseline="0" noProof="0" dirty="0">
                <a:ln>
                  <a:noFill/>
                </a:ln>
                <a:solidFill>
                  <a:srgbClr val="1B3A6B"/>
                </a:solidFill>
                <a:effectLst/>
                <a:uLnTx/>
                <a:uFillTx/>
                <a:latin typeface="Rix고딕 L" panose="02020603020101020101" pitchFamily="18" charset="-127"/>
                <a:ea typeface="Rix고딕 L" panose="02020603020101020101" pitchFamily="18" charset="-127"/>
                <a:cs typeface="+mn-cs"/>
              </a:rPr>
              <a:t> 49.7% </a:t>
            </a:r>
            <a:r>
              <a:rPr kumimoji="0" lang="en-US" altLang="ko-KR" sz="1100" b="1" i="0" u="none" strike="noStrike" kern="1200" cap="none" spc="0" normalizeH="0" baseline="0" noProof="0" dirty="0" err="1">
                <a:ln>
                  <a:noFill/>
                </a:ln>
                <a:solidFill>
                  <a:srgbClr val="1B3A6B"/>
                </a:solidFill>
                <a:effectLst/>
                <a:uLnTx/>
                <a:uFillTx/>
                <a:latin typeface="Rix고딕 L" panose="02020603020101020101" pitchFamily="18" charset="-127"/>
                <a:ea typeface="Rix고딕 L" panose="02020603020101020101" pitchFamily="18" charset="-127"/>
                <a:cs typeface="+mn-cs"/>
              </a:rPr>
              <a:t>집중</a:t>
            </a:r>
            <a:r>
              <a:rPr kumimoji="0" lang="en-US" altLang="ko-KR" sz="1100" b="1" i="0" u="none" strike="noStrike" kern="1200" cap="none" spc="0" normalizeH="0" baseline="0" noProof="0" dirty="0">
                <a:ln>
                  <a:noFill/>
                </a:ln>
                <a:solidFill>
                  <a:srgbClr val="1B3A6B"/>
                </a:solidFill>
                <a:effectLst/>
                <a:uLnTx/>
                <a:uFillTx/>
                <a:latin typeface="Rix고딕 L" panose="02020603020101020101" pitchFamily="18" charset="-127"/>
                <a:ea typeface="Rix고딕 L" panose="02020603020101020101" pitchFamily="18" charset="-127"/>
                <a:cs typeface="+mn-cs"/>
              </a:rPr>
              <a:t> / </a:t>
            </a:r>
            <a:r>
              <a:rPr kumimoji="0" lang="en-US" altLang="ko-KR" sz="1100" b="1" i="0" u="none" strike="noStrike" kern="1200" cap="none" spc="0" normalizeH="0" baseline="0" noProof="0" dirty="0" err="1">
                <a:ln>
                  <a:noFill/>
                </a:ln>
                <a:solidFill>
                  <a:srgbClr val="1B3A6B"/>
                </a:solidFill>
                <a:effectLst/>
                <a:uLnTx/>
                <a:uFillTx/>
                <a:latin typeface="Rix고딕 L" panose="02020603020101020101" pitchFamily="18" charset="-127"/>
                <a:ea typeface="Rix고딕 L" panose="02020603020101020101" pitchFamily="18" charset="-127"/>
                <a:cs typeface="+mn-cs"/>
              </a:rPr>
              <a:t>기능</a:t>
            </a:r>
            <a:r>
              <a:rPr kumimoji="0" lang="en-US" altLang="ko-KR" sz="1100" b="1" i="0" u="none" strike="noStrike" kern="1200" cap="none" spc="0" normalizeH="0" baseline="0" noProof="0" dirty="0">
                <a:ln>
                  <a:noFill/>
                </a:ln>
                <a:solidFill>
                  <a:srgbClr val="1B3A6B"/>
                </a:solidFill>
                <a:effectLst/>
                <a:uLnTx/>
                <a:uFillTx/>
                <a:latin typeface="Rix고딕 L" panose="02020603020101020101" pitchFamily="18" charset="-127"/>
                <a:ea typeface="Rix고딕 L" panose="02020603020101020101" pitchFamily="18" charset="-127"/>
                <a:cs typeface="+mn-cs"/>
              </a:rPr>
              <a:t> </a:t>
            </a:r>
            <a:r>
              <a:rPr kumimoji="0" lang="en-US" altLang="ko-KR" sz="1100" b="1" i="0" u="none" strike="noStrike" kern="1200" cap="none" spc="0" normalizeH="0" baseline="0" noProof="0" dirty="0" err="1">
                <a:ln>
                  <a:noFill/>
                </a:ln>
                <a:solidFill>
                  <a:srgbClr val="1B3A6B"/>
                </a:solidFill>
                <a:effectLst/>
                <a:uLnTx/>
                <a:uFillTx/>
                <a:latin typeface="Rix고딕 L" panose="02020603020101020101" pitchFamily="18" charset="-127"/>
                <a:ea typeface="Rix고딕 L" panose="02020603020101020101" pitchFamily="18" charset="-127"/>
                <a:cs typeface="+mn-cs"/>
              </a:rPr>
              <a:t>결함</a:t>
            </a:r>
            <a:r>
              <a:rPr kumimoji="0" lang="en-US" altLang="ko-KR" sz="1100" b="1" i="0" u="none" strike="noStrike" kern="1200" cap="none" spc="0" normalizeH="0" baseline="0" noProof="0" dirty="0">
                <a:ln>
                  <a:noFill/>
                </a:ln>
                <a:solidFill>
                  <a:srgbClr val="1B3A6B"/>
                </a:solidFill>
                <a:effectLst/>
                <a:uLnTx/>
                <a:uFillTx/>
                <a:latin typeface="Rix고딕 L" panose="02020603020101020101" pitchFamily="18" charset="-127"/>
                <a:ea typeface="Rix고딕 L" panose="02020603020101020101" pitchFamily="18" charset="-127"/>
                <a:cs typeface="+mn-cs"/>
              </a:rPr>
              <a:t> 61.8% / </a:t>
            </a:r>
            <a:r>
              <a:rPr kumimoji="0" lang="en-US" altLang="ko-KR" sz="1100" b="1" i="0" u="none" strike="noStrike" kern="1200" cap="none" spc="0" normalizeH="0" baseline="0" noProof="0" dirty="0" err="1">
                <a:ln>
                  <a:noFill/>
                </a:ln>
                <a:solidFill>
                  <a:srgbClr val="1B3A6B"/>
                </a:solidFill>
                <a:effectLst/>
                <a:uLnTx/>
                <a:uFillTx/>
                <a:latin typeface="Rix고딕 L" panose="02020603020101020101" pitchFamily="18" charset="-127"/>
                <a:ea typeface="Rix고딕 L" panose="02020603020101020101" pitchFamily="18" charset="-127"/>
                <a:cs typeface="+mn-cs"/>
              </a:rPr>
              <a:t>미결</a:t>
            </a:r>
            <a:r>
              <a:rPr kumimoji="0" lang="en-US" altLang="ko-KR" sz="1100" b="1" i="0" u="none" strike="noStrike" kern="1200" cap="none" spc="0" normalizeH="0" baseline="0" noProof="0" dirty="0">
                <a:ln>
                  <a:noFill/>
                </a:ln>
                <a:solidFill>
                  <a:srgbClr val="1B3A6B"/>
                </a:solidFill>
                <a:effectLst/>
                <a:uLnTx/>
                <a:uFillTx/>
                <a:latin typeface="Rix고딕 L" panose="02020603020101020101" pitchFamily="18" charset="-127"/>
                <a:ea typeface="Rix고딕 L" panose="02020603020101020101" pitchFamily="18" charset="-127"/>
                <a:cs typeface="+mn-cs"/>
              </a:rPr>
              <a:t> </a:t>
            </a:r>
            <a:r>
              <a:rPr kumimoji="0" lang="en-US" altLang="ko-KR" sz="1100" b="1" i="0" u="none" strike="noStrike" kern="1200" cap="none" spc="0" normalizeH="0" baseline="0" noProof="0" dirty="0" err="1">
                <a:ln>
                  <a:noFill/>
                </a:ln>
                <a:solidFill>
                  <a:srgbClr val="1B3A6B"/>
                </a:solidFill>
                <a:effectLst/>
                <a:uLnTx/>
                <a:uFillTx/>
                <a:latin typeface="Rix고딕 L" panose="02020603020101020101" pitchFamily="18" charset="-127"/>
                <a:ea typeface="Rix고딕 L" panose="02020603020101020101" pitchFamily="18" charset="-127"/>
                <a:cs typeface="+mn-cs"/>
              </a:rPr>
              <a:t>결함</a:t>
            </a:r>
            <a:r>
              <a:rPr kumimoji="0" lang="en-US" altLang="ko-KR" sz="1100" b="1" i="0" u="none" strike="noStrike" kern="1200" cap="none" spc="0" normalizeH="0" baseline="0" noProof="0" dirty="0">
                <a:ln>
                  <a:noFill/>
                </a:ln>
                <a:solidFill>
                  <a:srgbClr val="1B3A6B"/>
                </a:solidFill>
                <a:effectLst/>
                <a:uLnTx/>
                <a:uFillTx/>
                <a:latin typeface="Rix고딕 L" panose="02020603020101020101" pitchFamily="18" charset="-127"/>
                <a:ea typeface="Rix고딕 L" panose="02020603020101020101" pitchFamily="18" charset="-127"/>
                <a:cs typeface="+mn-cs"/>
              </a:rPr>
              <a:t> 10.4% </a:t>
            </a:r>
            <a:r>
              <a:rPr kumimoji="0" lang="en-US" altLang="ko-KR" sz="1100" b="1" i="0" u="none" strike="noStrike" kern="1200" cap="none" spc="0" normalizeH="0" baseline="0" noProof="0" dirty="0" err="1">
                <a:ln>
                  <a:noFill/>
                </a:ln>
                <a:solidFill>
                  <a:srgbClr val="1B3A6B"/>
                </a:solidFill>
                <a:effectLst/>
                <a:uLnTx/>
                <a:uFillTx/>
                <a:latin typeface="Rix고딕 L" panose="02020603020101020101" pitchFamily="18" charset="-127"/>
                <a:ea typeface="Rix고딕 L" panose="02020603020101020101" pitchFamily="18" charset="-127"/>
                <a:cs typeface="+mn-cs"/>
              </a:rPr>
              <a:t>잔존</a:t>
            </a:r>
            <a:r>
              <a:rPr kumimoji="0" lang="en-US" altLang="ko-KR" sz="1100" b="1" i="0" u="none" strike="noStrike" kern="1200" cap="none" spc="0" normalizeH="0" baseline="0" noProof="0" dirty="0">
                <a:ln>
                  <a:noFill/>
                </a:ln>
                <a:solidFill>
                  <a:srgbClr val="1B3A6B"/>
                </a:solidFill>
                <a:effectLst/>
                <a:uLnTx/>
                <a:uFillTx/>
                <a:latin typeface="Rix고딕 L" panose="02020603020101020101" pitchFamily="18" charset="-127"/>
                <a:ea typeface="Rix고딕 L" panose="02020603020101020101" pitchFamily="18" charset="-127"/>
                <a:cs typeface="+mn-cs"/>
              </a:rPr>
              <a:t> → </a:t>
            </a:r>
            <a:r>
              <a:rPr kumimoji="0" lang="ko-KR" altLang="en-US" sz="1100" b="1" i="0" u="none" strike="noStrike" kern="1200" cap="none" spc="0" normalizeH="0" baseline="0" noProof="0" dirty="0">
                <a:ln>
                  <a:noFill/>
                </a:ln>
                <a:solidFill>
                  <a:srgbClr val="1B3A6B"/>
                </a:solidFill>
                <a:effectLst/>
                <a:uLnTx/>
                <a:uFillTx/>
                <a:latin typeface="Rix고딕 L" panose="02020603020101020101" pitchFamily="18" charset="-127"/>
                <a:ea typeface="Rix고딕 L" panose="02020603020101020101" pitchFamily="18" charset="-127"/>
                <a:cs typeface="+mn-cs"/>
              </a:rPr>
              <a:t>즉시 </a:t>
            </a:r>
            <a:r>
              <a:rPr kumimoji="0" lang="en-US" altLang="ko-KR" sz="1100" b="1" i="0" u="none" strike="noStrike" kern="1200" cap="none" spc="0" normalizeH="0" baseline="0" noProof="0" dirty="0" err="1">
                <a:ln>
                  <a:noFill/>
                </a:ln>
                <a:solidFill>
                  <a:srgbClr val="1B3A6B"/>
                </a:solidFill>
                <a:effectLst/>
                <a:uLnTx/>
                <a:uFillTx/>
                <a:latin typeface="Rix고딕 L" panose="02020603020101020101" pitchFamily="18" charset="-127"/>
                <a:ea typeface="Rix고딕 L" panose="02020603020101020101" pitchFamily="18" charset="-127"/>
                <a:cs typeface="+mn-cs"/>
              </a:rPr>
              <a:t>개입</a:t>
            </a:r>
            <a:r>
              <a:rPr kumimoji="0" lang="en-US" altLang="ko-KR" sz="1100" b="1" i="0" u="none" strike="noStrike" kern="1200" cap="none" spc="0" normalizeH="0" baseline="0" noProof="0" dirty="0">
                <a:ln>
                  <a:noFill/>
                </a:ln>
                <a:solidFill>
                  <a:srgbClr val="1B3A6B"/>
                </a:solidFill>
                <a:effectLst/>
                <a:uLnTx/>
                <a:uFillTx/>
                <a:latin typeface="Rix고딕 L" panose="02020603020101020101" pitchFamily="18" charset="-127"/>
                <a:ea typeface="Rix고딕 L" panose="02020603020101020101" pitchFamily="18" charset="-127"/>
                <a:cs typeface="+mn-cs"/>
              </a:rPr>
              <a:t> </a:t>
            </a:r>
            <a:r>
              <a:rPr kumimoji="0" lang="en-US" altLang="ko-KR" sz="1100" b="1" i="0" u="none" strike="noStrike" kern="1200" cap="none" spc="0" normalizeH="0" baseline="0" noProof="0" dirty="0" err="1">
                <a:ln>
                  <a:noFill/>
                </a:ln>
                <a:solidFill>
                  <a:srgbClr val="1B3A6B"/>
                </a:solidFill>
                <a:effectLst/>
                <a:uLnTx/>
                <a:uFillTx/>
                <a:latin typeface="Rix고딕 L" panose="02020603020101020101" pitchFamily="18" charset="-127"/>
                <a:ea typeface="Rix고딕 L" panose="02020603020101020101" pitchFamily="18" charset="-127"/>
                <a:cs typeface="+mn-cs"/>
              </a:rPr>
              <a:t>없이는</a:t>
            </a:r>
            <a:r>
              <a:rPr kumimoji="0" lang="en-US" altLang="ko-KR" sz="1100" b="1" i="0" u="none" strike="noStrike" kern="1200" cap="none" spc="0" normalizeH="0" baseline="0" noProof="0" dirty="0">
                <a:ln>
                  <a:noFill/>
                </a:ln>
                <a:solidFill>
                  <a:srgbClr val="1B3A6B"/>
                </a:solidFill>
                <a:effectLst/>
                <a:uLnTx/>
                <a:uFillTx/>
                <a:latin typeface="Rix고딕 L" panose="02020603020101020101" pitchFamily="18" charset="-127"/>
                <a:ea typeface="Rix고딕 L" panose="02020603020101020101" pitchFamily="18" charset="-127"/>
                <a:cs typeface="+mn-cs"/>
              </a:rPr>
              <a:t> </a:t>
            </a:r>
            <a:r>
              <a:rPr kumimoji="0" lang="en-US" altLang="ko-KR" sz="1100" b="1" i="0" u="none" strike="noStrike" kern="1200" cap="none" spc="0" normalizeH="0" baseline="0" noProof="0" dirty="0" err="1">
                <a:ln>
                  <a:noFill/>
                </a:ln>
                <a:solidFill>
                  <a:srgbClr val="1B3A6B"/>
                </a:solidFill>
                <a:effectLst/>
                <a:uLnTx/>
                <a:uFillTx/>
                <a:latin typeface="Rix고딕 L" panose="02020603020101020101" pitchFamily="18" charset="-127"/>
                <a:ea typeface="Rix고딕 L" panose="02020603020101020101" pitchFamily="18" charset="-127"/>
                <a:cs typeface="+mn-cs"/>
              </a:rPr>
              <a:t>품질</a:t>
            </a:r>
            <a:r>
              <a:rPr kumimoji="0" lang="en-US" altLang="ko-KR" sz="1100" b="1" i="0" u="none" strike="noStrike" kern="1200" cap="none" spc="0" normalizeH="0" baseline="0" noProof="0" dirty="0">
                <a:ln>
                  <a:noFill/>
                </a:ln>
                <a:solidFill>
                  <a:srgbClr val="1B3A6B"/>
                </a:solidFill>
                <a:effectLst/>
                <a:uLnTx/>
                <a:uFillTx/>
                <a:latin typeface="Rix고딕 L" panose="02020603020101020101" pitchFamily="18" charset="-127"/>
                <a:ea typeface="Rix고딕 L" panose="02020603020101020101" pitchFamily="18" charset="-127"/>
                <a:cs typeface="+mn-cs"/>
              </a:rPr>
              <a:t> </a:t>
            </a:r>
            <a:r>
              <a:rPr kumimoji="0" lang="en-US" altLang="ko-KR" sz="1100" b="1" i="0" u="none" strike="noStrike" kern="1200" cap="none" spc="0" normalizeH="0" baseline="0" noProof="0" dirty="0" err="1">
                <a:ln>
                  <a:noFill/>
                </a:ln>
                <a:solidFill>
                  <a:srgbClr val="1B3A6B"/>
                </a:solidFill>
                <a:effectLst/>
                <a:uLnTx/>
                <a:uFillTx/>
                <a:latin typeface="Rix고딕 L" panose="02020603020101020101" pitchFamily="18" charset="-127"/>
                <a:ea typeface="Rix고딕 L" panose="02020603020101020101" pitchFamily="18" charset="-127"/>
                <a:cs typeface="+mn-cs"/>
              </a:rPr>
              <a:t>위기</a:t>
            </a:r>
            <a:r>
              <a:rPr kumimoji="0" lang="en-US" altLang="ko-KR" sz="1100" b="1" i="0" u="none" strike="noStrike" kern="1200" cap="none" spc="0" normalizeH="0" baseline="0" noProof="0" dirty="0">
                <a:ln>
                  <a:noFill/>
                </a:ln>
                <a:solidFill>
                  <a:srgbClr val="1B3A6B"/>
                </a:solidFill>
                <a:effectLst/>
                <a:uLnTx/>
                <a:uFillTx/>
                <a:latin typeface="Rix고딕 L" panose="02020603020101020101" pitchFamily="18" charset="-127"/>
                <a:ea typeface="Rix고딕 L" panose="02020603020101020101" pitchFamily="18" charset="-127"/>
                <a:cs typeface="+mn-cs"/>
              </a:rPr>
              <a:t> </a:t>
            </a:r>
            <a:r>
              <a:rPr kumimoji="0" lang="en-US" altLang="ko-KR" sz="1100" b="1" i="0" u="none" strike="noStrike" kern="1200" cap="none" spc="0" normalizeH="0" baseline="0" noProof="0" dirty="0" err="1">
                <a:ln>
                  <a:noFill/>
                </a:ln>
                <a:solidFill>
                  <a:srgbClr val="1B3A6B"/>
                </a:solidFill>
                <a:effectLst/>
                <a:uLnTx/>
                <a:uFillTx/>
                <a:latin typeface="Rix고딕 L" panose="02020603020101020101" pitchFamily="18" charset="-127"/>
                <a:ea typeface="Rix고딕 L" panose="02020603020101020101" pitchFamily="18" charset="-127"/>
                <a:cs typeface="+mn-cs"/>
              </a:rPr>
              <a:t>불가피</a:t>
            </a:r>
            <a:endParaRPr kumimoji="0" lang="en-US" altLang="ko-KR" sz="11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Rix고딕 L" panose="02020603020101020101" pitchFamily="18" charset="-127"/>
              <a:ea typeface="Rix고딕 L" panose="02020603020101020101" pitchFamily="18" charset="-127"/>
              <a:cs typeface="+mn-cs"/>
            </a:endParaRPr>
          </a:p>
        </p:txBody>
      </p:sp>
      <p:sp>
        <p:nvSpPr>
          <p:cNvPr id="58" name="Text 37"/>
          <p:cNvSpPr/>
          <p:nvPr/>
        </p:nvSpPr>
        <p:spPr>
          <a:xfrm>
            <a:off x="434788" y="3197647"/>
            <a:ext cx="17329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B3A6B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6단계 </a:t>
            </a:r>
            <a:r>
              <a:rPr lang="ko-KR" altLang="en-US" sz="1000" b="1" dirty="0">
                <a:solidFill>
                  <a:srgbClr val="1B3A6B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테스트 </a:t>
            </a:r>
            <a:r>
              <a:rPr lang="en-US" sz="1000" b="1" dirty="0" err="1">
                <a:solidFill>
                  <a:srgbClr val="1B3A6B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프로세스</a:t>
            </a:r>
            <a:endParaRPr lang="en-US" sz="1000" dirty="0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59" name="Shape 38"/>
          <p:cNvSpPr/>
          <p:nvPr/>
        </p:nvSpPr>
        <p:spPr>
          <a:xfrm>
            <a:off x="434788" y="3510271"/>
            <a:ext cx="1181364" cy="396000"/>
          </a:xfrm>
          <a:prstGeom prst="rect">
            <a:avLst/>
          </a:prstGeom>
          <a:solidFill>
            <a:srgbClr val="9CA3AF"/>
          </a:solidFill>
          <a:ln w="12700">
            <a:solidFill>
              <a:srgbClr val="9CA3AF"/>
            </a:solidFill>
            <a:prstDash val="solid"/>
          </a:ln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 anchor="ctr" anchorCtr="0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100" b="0" i="0" u="none" strike="noStrike" kern="1200" cap="none" spc="0" normalizeH="0" baseline="0" noProof="0" dirty="0" err="1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Rix고딕 L" panose="02020603020101020101" pitchFamily="18" charset="-127"/>
                <a:ea typeface="Rix고딕 L" panose="02020603020101020101" pitchFamily="18" charset="-127"/>
                <a:cs typeface="+mn-cs"/>
              </a:rPr>
              <a:t>개발자</a:t>
            </a:r>
            <a:endParaRPr kumimoji="0" lang="en-US" altLang="ko-KR" sz="11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Rix고딕 L" panose="02020603020101020101" pitchFamily="18" charset="-127"/>
              <a:ea typeface="Rix고딕 L" panose="02020603020101020101" pitchFamily="18" charset="-127"/>
              <a:cs typeface="+mn-cs"/>
            </a:endParaRPr>
          </a:p>
        </p:txBody>
      </p:sp>
      <p:sp>
        <p:nvSpPr>
          <p:cNvPr id="60" name="Shape 40"/>
          <p:cNvSpPr/>
          <p:nvPr/>
        </p:nvSpPr>
        <p:spPr>
          <a:xfrm>
            <a:off x="1625911" y="3693151"/>
            <a:ext cx="216000" cy="108000"/>
          </a:xfrm>
          <a:prstGeom prst="rect">
            <a:avLst/>
          </a:prstGeom>
          <a:solidFill>
            <a:srgbClr val="9CA3AF"/>
          </a:solidFill>
          <a:ln w="12700">
            <a:solidFill>
              <a:srgbClr val="9CA3AF"/>
            </a:solidFill>
            <a:prstDash val="solid"/>
          </a:ln>
        </p:spPr>
        <p:txBody>
          <a:bodyPr/>
          <a:lstStyle/>
          <a:p>
            <a:endParaRPr lang="ko-KR" altLang="en-US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61" name="Shape 41"/>
          <p:cNvSpPr/>
          <p:nvPr/>
        </p:nvSpPr>
        <p:spPr>
          <a:xfrm>
            <a:off x="1851670" y="3528559"/>
            <a:ext cx="1181364" cy="396000"/>
          </a:xfrm>
          <a:prstGeom prst="rect">
            <a:avLst/>
          </a:prstGeom>
          <a:solidFill>
            <a:srgbClr val="9CA3AF"/>
          </a:solidFill>
          <a:ln w="12700">
            <a:solidFill>
              <a:srgbClr val="9CA3AF"/>
            </a:solidFill>
            <a:prstDash val="solid"/>
          </a:ln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 anchor="ctr" anchorCtr="0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1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Rix고딕 L" panose="02020603020101020101" pitchFamily="18" charset="-127"/>
                <a:ea typeface="Rix고딕 L" panose="02020603020101020101" pitchFamily="18" charset="-127"/>
                <a:cs typeface="+mn-cs"/>
              </a:rPr>
              <a:t>PL</a:t>
            </a:r>
            <a:endParaRPr kumimoji="0" lang="en-US" altLang="ko-KR" sz="11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Rix고딕 L" panose="02020603020101020101" pitchFamily="18" charset="-127"/>
              <a:ea typeface="Rix고딕 L" panose="02020603020101020101" pitchFamily="18" charset="-127"/>
              <a:cs typeface="+mn-cs"/>
            </a:endParaRPr>
          </a:p>
        </p:txBody>
      </p:sp>
      <p:sp>
        <p:nvSpPr>
          <p:cNvPr id="62" name="Shape 43"/>
          <p:cNvSpPr/>
          <p:nvPr/>
        </p:nvSpPr>
        <p:spPr>
          <a:xfrm>
            <a:off x="3042793" y="3693151"/>
            <a:ext cx="216000" cy="108000"/>
          </a:xfrm>
          <a:prstGeom prst="rect">
            <a:avLst/>
          </a:prstGeom>
          <a:solidFill>
            <a:srgbClr val="9CA3AF"/>
          </a:solidFill>
          <a:ln w="12700">
            <a:solidFill>
              <a:srgbClr val="9CA3AF"/>
            </a:solidFill>
            <a:prstDash val="solid"/>
          </a:ln>
        </p:spPr>
        <p:txBody>
          <a:bodyPr/>
          <a:lstStyle/>
          <a:p>
            <a:endParaRPr lang="ko-KR" altLang="en-US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63" name="Shape 44"/>
          <p:cNvSpPr/>
          <p:nvPr/>
        </p:nvSpPr>
        <p:spPr>
          <a:xfrm>
            <a:off x="3268552" y="3528559"/>
            <a:ext cx="1181364" cy="396000"/>
          </a:xfrm>
          <a:prstGeom prst="rect">
            <a:avLst/>
          </a:prstGeom>
          <a:solidFill>
            <a:srgbClr val="3B82C4"/>
          </a:solidFill>
          <a:ln w="12700">
            <a:solidFill>
              <a:srgbClr val="3B82C4"/>
            </a:solidFill>
            <a:prstDash val="solid"/>
          </a:ln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 anchor="ctr" anchorCtr="0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1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Rix고딕 L" panose="02020603020101020101" pitchFamily="18" charset="-127"/>
                <a:ea typeface="Rix고딕 L" panose="02020603020101020101" pitchFamily="18" charset="-127"/>
                <a:cs typeface="+mn-cs"/>
              </a:rPr>
              <a:t>3자 </a:t>
            </a:r>
            <a:r>
              <a:rPr kumimoji="0" lang="en-US" altLang="ko-KR" sz="1100" b="0" i="0" u="none" strike="noStrike" kern="1200" cap="none" spc="0" normalizeH="0" baseline="0" noProof="0" dirty="0" err="1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Rix고딕 L" panose="02020603020101020101" pitchFamily="18" charset="-127"/>
                <a:ea typeface="Rix고딕 L" panose="02020603020101020101" pitchFamily="18" charset="-127"/>
                <a:cs typeface="+mn-cs"/>
              </a:rPr>
              <a:t>테스트</a:t>
            </a:r>
            <a:endParaRPr kumimoji="0" lang="en-US" altLang="ko-KR" sz="11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Rix고딕 L" panose="02020603020101020101" pitchFamily="18" charset="-127"/>
              <a:ea typeface="Rix고딕 L" panose="02020603020101020101" pitchFamily="18" charset="-127"/>
              <a:cs typeface="+mn-cs"/>
            </a:endParaRPr>
          </a:p>
        </p:txBody>
      </p:sp>
      <p:sp>
        <p:nvSpPr>
          <p:cNvPr id="64" name="Shape 46"/>
          <p:cNvSpPr/>
          <p:nvPr/>
        </p:nvSpPr>
        <p:spPr>
          <a:xfrm>
            <a:off x="4459675" y="3693151"/>
            <a:ext cx="216000" cy="108000"/>
          </a:xfrm>
          <a:prstGeom prst="rect">
            <a:avLst/>
          </a:prstGeom>
          <a:solidFill>
            <a:srgbClr val="9CA3AF"/>
          </a:solidFill>
          <a:ln w="12700">
            <a:solidFill>
              <a:srgbClr val="9CA3AF"/>
            </a:solidFill>
            <a:prstDash val="solid"/>
          </a:ln>
        </p:spPr>
        <p:txBody>
          <a:bodyPr/>
          <a:lstStyle/>
          <a:p>
            <a:endParaRPr lang="ko-KR" altLang="en-US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65" name="Shape 47"/>
          <p:cNvSpPr/>
          <p:nvPr/>
        </p:nvSpPr>
        <p:spPr>
          <a:xfrm>
            <a:off x="4685434" y="3528559"/>
            <a:ext cx="1181364" cy="396000"/>
          </a:xfrm>
          <a:prstGeom prst="rect">
            <a:avLst/>
          </a:prstGeom>
          <a:solidFill>
            <a:srgbClr val="E85D2F"/>
          </a:solidFill>
          <a:ln w="12700">
            <a:solidFill>
              <a:srgbClr val="E85D2F"/>
            </a:solidFill>
            <a:prstDash val="solid"/>
          </a:ln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 anchor="ctr" anchorCtr="0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100" b="1" i="0" u="none" strike="noStrike" kern="1200" cap="none" spc="0" normalizeH="0" baseline="0" noProof="0" dirty="0" err="1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Rix고딕 L" panose="02020603020101020101" pitchFamily="18" charset="-127"/>
                <a:ea typeface="Rix고딕 L" panose="02020603020101020101" pitchFamily="18" charset="-127"/>
                <a:cs typeface="+mn-cs"/>
              </a:rPr>
              <a:t>공사</a:t>
            </a:r>
            <a:r>
              <a:rPr kumimoji="0" lang="en-US" altLang="ko-KR" sz="11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Rix고딕 L" panose="02020603020101020101" pitchFamily="18" charset="-127"/>
                <a:ea typeface="Rix고딕 L" panose="02020603020101020101" pitchFamily="18" charset="-127"/>
                <a:cs typeface="+mn-cs"/>
              </a:rPr>
              <a:t> </a:t>
            </a:r>
            <a:r>
              <a:rPr kumimoji="0" lang="en-US" altLang="ko-KR" sz="1100" b="1" i="0" u="none" strike="noStrike" kern="1200" cap="none" spc="0" normalizeH="0" baseline="0" noProof="0" dirty="0" err="1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Rix고딕 L" panose="02020603020101020101" pitchFamily="18" charset="-127"/>
                <a:ea typeface="Rix고딕 L" panose="02020603020101020101" pitchFamily="18" charset="-127"/>
                <a:cs typeface="+mn-cs"/>
              </a:rPr>
              <a:t>테스트</a:t>
            </a:r>
            <a:r>
              <a:rPr kumimoji="0" lang="en-US" altLang="ko-KR" sz="11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Rix고딕 L" panose="02020603020101020101" pitchFamily="18" charset="-127"/>
                <a:ea typeface="Rix고딕 L" panose="02020603020101020101" pitchFamily="18" charset="-127"/>
                <a:cs typeface="+mn-cs"/>
              </a:rPr>
              <a:t>★</a:t>
            </a:r>
            <a:endParaRPr kumimoji="0" lang="en-US" altLang="ko-KR" sz="11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Rix고딕 L" panose="02020603020101020101" pitchFamily="18" charset="-127"/>
              <a:ea typeface="Rix고딕 L" panose="02020603020101020101" pitchFamily="18" charset="-127"/>
              <a:cs typeface="+mn-cs"/>
            </a:endParaRPr>
          </a:p>
        </p:txBody>
      </p:sp>
      <p:sp>
        <p:nvSpPr>
          <p:cNvPr id="66" name="Shape 49"/>
          <p:cNvSpPr/>
          <p:nvPr/>
        </p:nvSpPr>
        <p:spPr>
          <a:xfrm>
            <a:off x="5876557" y="3693151"/>
            <a:ext cx="216000" cy="108000"/>
          </a:xfrm>
          <a:prstGeom prst="rect">
            <a:avLst/>
          </a:prstGeom>
          <a:solidFill>
            <a:srgbClr val="9CA3AF"/>
          </a:solidFill>
          <a:ln w="12700">
            <a:solidFill>
              <a:srgbClr val="9CA3AF"/>
            </a:solidFill>
            <a:prstDash val="solid"/>
          </a:ln>
        </p:spPr>
        <p:txBody>
          <a:bodyPr/>
          <a:lstStyle/>
          <a:p>
            <a:endParaRPr lang="ko-KR" altLang="en-US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67" name="Shape 50"/>
          <p:cNvSpPr/>
          <p:nvPr/>
        </p:nvSpPr>
        <p:spPr>
          <a:xfrm>
            <a:off x="6102316" y="3528559"/>
            <a:ext cx="1181364" cy="396000"/>
          </a:xfrm>
          <a:prstGeom prst="rect">
            <a:avLst/>
          </a:prstGeom>
          <a:solidFill>
            <a:srgbClr val="2563A8"/>
          </a:solidFill>
          <a:ln w="12700">
            <a:solidFill>
              <a:srgbClr val="2563A8"/>
            </a:solidFill>
            <a:prstDash val="solid"/>
          </a:ln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 anchor="ctr" anchorCtr="0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100" b="1" i="0" u="none" strike="noStrike" kern="1200" cap="none" spc="0" normalizeH="0" baseline="0" noProof="0" dirty="0" err="1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Rix고딕 L" panose="02020603020101020101" pitchFamily="18" charset="-127"/>
                <a:ea typeface="Rix고딕 L" panose="02020603020101020101" pitchFamily="18" charset="-127"/>
                <a:cs typeface="+mn-cs"/>
              </a:rPr>
              <a:t>현업</a:t>
            </a:r>
            <a:r>
              <a:rPr kumimoji="0" lang="en-US" altLang="ko-KR" sz="11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Rix고딕 L" panose="02020603020101020101" pitchFamily="18" charset="-127"/>
                <a:ea typeface="Rix고딕 L" panose="02020603020101020101" pitchFamily="18" charset="-127"/>
                <a:cs typeface="+mn-cs"/>
              </a:rPr>
              <a:t> </a:t>
            </a:r>
            <a:r>
              <a:rPr kumimoji="0" lang="en-US" altLang="ko-KR" sz="1100" b="1" i="0" u="none" strike="noStrike" kern="1200" cap="none" spc="0" normalizeH="0" baseline="0" noProof="0" dirty="0" err="1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Rix고딕 L" panose="02020603020101020101" pitchFamily="18" charset="-127"/>
                <a:ea typeface="Rix고딕 L" panose="02020603020101020101" pitchFamily="18" charset="-127"/>
                <a:cs typeface="+mn-cs"/>
              </a:rPr>
              <a:t>테스트</a:t>
            </a:r>
            <a:endParaRPr kumimoji="0" lang="en-US" altLang="ko-KR" sz="11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Rix고딕 L" panose="02020603020101020101" pitchFamily="18" charset="-127"/>
              <a:ea typeface="Rix고딕 L" panose="02020603020101020101" pitchFamily="18" charset="-127"/>
              <a:cs typeface="+mn-cs"/>
            </a:endParaRPr>
          </a:p>
        </p:txBody>
      </p:sp>
      <p:sp>
        <p:nvSpPr>
          <p:cNvPr id="68" name="Shape 52"/>
          <p:cNvSpPr/>
          <p:nvPr/>
        </p:nvSpPr>
        <p:spPr>
          <a:xfrm>
            <a:off x="7293439" y="3693151"/>
            <a:ext cx="216000" cy="108000"/>
          </a:xfrm>
          <a:prstGeom prst="rect">
            <a:avLst/>
          </a:prstGeom>
          <a:solidFill>
            <a:srgbClr val="9CA3AF"/>
          </a:solidFill>
          <a:ln w="12700">
            <a:solidFill>
              <a:srgbClr val="9CA3AF"/>
            </a:solidFill>
            <a:prstDash val="solid"/>
          </a:ln>
        </p:spPr>
        <p:txBody>
          <a:bodyPr/>
          <a:lstStyle/>
          <a:p>
            <a:endParaRPr lang="ko-KR" altLang="en-US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69" name="Shape 53"/>
          <p:cNvSpPr/>
          <p:nvPr/>
        </p:nvSpPr>
        <p:spPr>
          <a:xfrm>
            <a:off x="7484559" y="3528559"/>
            <a:ext cx="1181364" cy="39600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 anchor="ctr" anchorCtr="0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100" b="1" i="0" u="none" strike="noStrike" kern="1200" cap="none" spc="0" normalizeH="0" baseline="0" noProof="0" dirty="0" err="1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Rix고딕 L" panose="02020603020101020101" pitchFamily="18" charset="-127"/>
                <a:ea typeface="Rix고딕 L" panose="02020603020101020101" pitchFamily="18" charset="-127"/>
                <a:cs typeface="+mn-cs"/>
              </a:rPr>
              <a:t>감리</a:t>
            </a:r>
            <a:r>
              <a:rPr kumimoji="0" lang="en-US" altLang="ko-KR" sz="11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Rix고딕 L" panose="02020603020101020101" pitchFamily="18" charset="-127"/>
                <a:ea typeface="Rix고딕 L" panose="02020603020101020101" pitchFamily="18" charset="-127"/>
                <a:cs typeface="+mn-cs"/>
              </a:rPr>
              <a:t> </a:t>
            </a:r>
            <a:r>
              <a:rPr kumimoji="0" lang="en-US" altLang="ko-KR" sz="1100" b="1" i="0" u="none" strike="noStrike" kern="1200" cap="none" spc="0" normalizeH="0" baseline="0" noProof="0" dirty="0" err="1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Rix고딕 L" panose="02020603020101020101" pitchFamily="18" charset="-127"/>
                <a:ea typeface="Rix고딕 L" panose="02020603020101020101" pitchFamily="18" charset="-127"/>
                <a:cs typeface="+mn-cs"/>
              </a:rPr>
              <a:t>테스트</a:t>
            </a:r>
            <a:endParaRPr kumimoji="0" lang="en-US" altLang="ko-KR" sz="11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Rix고딕 L" panose="02020603020101020101" pitchFamily="18" charset="-127"/>
              <a:ea typeface="Rix고딕 L" panose="02020603020101020101" pitchFamily="18" charset="-127"/>
              <a:cs typeface="+mn-cs"/>
            </a:endParaRPr>
          </a:p>
        </p:txBody>
      </p:sp>
      <p:sp>
        <p:nvSpPr>
          <p:cNvPr id="70" name="Text 55"/>
          <p:cNvSpPr/>
          <p:nvPr/>
        </p:nvSpPr>
        <p:spPr>
          <a:xfrm>
            <a:off x="5575100" y="3955260"/>
            <a:ext cx="3250247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i="1" dirty="0">
                <a:solidFill>
                  <a:srgbClr val="E85D2F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★ 공사테스트: 전체 결함의 49.7% 집중 발생 — 핵심 개입 지점</a:t>
            </a:r>
            <a:endParaRPr lang="en-US" sz="950" dirty="0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/>
          <p:cNvSpPr/>
          <p:nvPr/>
        </p:nvSpPr>
        <p:spPr>
          <a:xfrm>
            <a:off x="320040" y="0"/>
            <a:ext cx="7315200" cy="4310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002060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용어 정의 및 심각도 판단 기준</a:t>
            </a:r>
            <a:endParaRPr lang="en-US" sz="2000" dirty="0">
              <a:solidFill>
                <a:srgbClr val="002060"/>
              </a:solidFill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5" name="Shape 3"/>
          <p:cNvSpPr/>
          <p:nvPr/>
        </p:nvSpPr>
        <p:spPr>
          <a:xfrm>
            <a:off x="440576" y="772530"/>
            <a:ext cx="4069080" cy="292608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  <p:txBody>
          <a:bodyPr/>
          <a:lstStyle/>
          <a:p>
            <a:endParaRPr lang="ko-KR" altLang="en-US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6" name="Text 4"/>
          <p:cNvSpPr/>
          <p:nvPr/>
        </p:nvSpPr>
        <p:spPr>
          <a:xfrm>
            <a:off x="550304" y="772530"/>
            <a:ext cx="3931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 err="1">
                <a:solidFill>
                  <a:srgbClr val="FFFFFF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용어</a:t>
            </a:r>
            <a:r>
              <a:rPr lang="en-US" sz="1000" b="1" dirty="0">
                <a:solidFill>
                  <a:srgbClr val="FFFFFF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 정의 및 분석 기준</a:t>
            </a:r>
            <a:endParaRPr lang="en-US" sz="1000" dirty="0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7" name="Shape 5"/>
          <p:cNvSpPr/>
          <p:nvPr/>
        </p:nvSpPr>
        <p:spPr>
          <a:xfrm>
            <a:off x="440576" y="1274342"/>
            <a:ext cx="4069080" cy="621792"/>
          </a:xfrm>
          <a:prstGeom prst="rect">
            <a:avLst/>
          </a:prstGeom>
          <a:solidFill>
            <a:srgbClr val="F4F7FB"/>
          </a:solidFill>
          <a:ln w="12700">
            <a:solidFill>
              <a:srgbClr val="D1D9E6"/>
            </a:solidFill>
            <a:prstDash val="solid"/>
          </a:ln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ko-KR" altLang="en-US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8" name="Shape 6"/>
          <p:cNvSpPr/>
          <p:nvPr/>
        </p:nvSpPr>
        <p:spPr>
          <a:xfrm>
            <a:off x="440576" y="1274342"/>
            <a:ext cx="64008" cy="621792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  <p:txBody>
          <a:bodyPr/>
          <a:lstStyle/>
          <a:p>
            <a:endParaRPr lang="ko-KR" altLang="en-US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9" name="Shape 7"/>
          <p:cNvSpPr/>
          <p:nvPr/>
        </p:nvSpPr>
        <p:spPr>
          <a:xfrm>
            <a:off x="605168" y="1365782"/>
            <a:ext cx="914400" cy="219456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  <p:txBody>
          <a:bodyPr/>
          <a:lstStyle/>
          <a:p>
            <a:endParaRPr lang="ko-KR" altLang="en-US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10" name="Text 8"/>
          <p:cNvSpPr/>
          <p:nvPr/>
        </p:nvSpPr>
        <p:spPr>
          <a:xfrm>
            <a:off x="605168" y="136578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FFFFFF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결함</a:t>
            </a:r>
            <a:endParaRPr lang="en-US" sz="850" dirty="0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11" name="Text 9"/>
          <p:cNvSpPr/>
          <p:nvPr/>
        </p:nvSpPr>
        <p:spPr>
          <a:xfrm>
            <a:off x="1611008" y="1338350"/>
            <a:ext cx="278892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4B5563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테스트 중 발견된 기능 오작동, 요구사항 불충족 등 수정이 필요한 항목</a:t>
            </a:r>
            <a:endParaRPr lang="en-US" sz="900" dirty="0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12" name="Shape 10"/>
          <p:cNvSpPr/>
          <p:nvPr/>
        </p:nvSpPr>
        <p:spPr>
          <a:xfrm>
            <a:off x="440576" y="1978430"/>
            <a:ext cx="4069080" cy="621792"/>
          </a:xfrm>
          <a:prstGeom prst="rect">
            <a:avLst/>
          </a:prstGeom>
          <a:solidFill>
            <a:srgbClr val="F4F7FB"/>
          </a:solidFill>
          <a:ln w="12700">
            <a:solidFill>
              <a:srgbClr val="D1D9E6"/>
            </a:solidFill>
            <a:prstDash val="solid"/>
          </a:ln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ko-KR" altLang="en-US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13" name="Shape 11"/>
          <p:cNvSpPr/>
          <p:nvPr/>
        </p:nvSpPr>
        <p:spPr>
          <a:xfrm>
            <a:off x="440576" y="1978430"/>
            <a:ext cx="64008" cy="621792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  <p:txBody>
          <a:bodyPr/>
          <a:lstStyle/>
          <a:p>
            <a:endParaRPr lang="ko-KR" altLang="en-US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14" name="Shape 12"/>
          <p:cNvSpPr/>
          <p:nvPr/>
        </p:nvSpPr>
        <p:spPr>
          <a:xfrm>
            <a:off x="605168" y="2069870"/>
            <a:ext cx="914400" cy="219456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  <p:txBody>
          <a:bodyPr/>
          <a:lstStyle/>
          <a:p>
            <a:endParaRPr lang="ko-KR" altLang="en-US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15" name="Text 13"/>
          <p:cNvSpPr/>
          <p:nvPr/>
        </p:nvSpPr>
        <p:spPr>
          <a:xfrm>
            <a:off x="605168" y="2069870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FFFFFF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개선 / 변경</a:t>
            </a:r>
            <a:endParaRPr lang="en-US" sz="850" dirty="0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16" name="Text 14"/>
          <p:cNvSpPr/>
          <p:nvPr/>
        </p:nvSpPr>
        <p:spPr>
          <a:xfrm>
            <a:off x="1611008" y="2042438"/>
            <a:ext cx="278892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4B5563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결함이 아닌 요구사항 추가·변경 요청 항목 (결함 건수 산정 시 별도 구분)</a:t>
            </a:r>
            <a:endParaRPr lang="en-US" sz="900" dirty="0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17" name="Shape 15"/>
          <p:cNvSpPr/>
          <p:nvPr/>
        </p:nvSpPr>
        <p:spPr>
          <a:xfrm>
            <a:off x="440576" y="2682518"/>
            <a:ext cx="4069080" cy="621792"/>
          </a:xfrm>
          <a:prstGeom prst="rect">
            <a:avLst/>
          </a:prstGeom>
          <a:solidFill>
            <a:srgbClr val="F4F7FB"/>
          </a:solidFill>
          <a:ln w="12700">
            <a:solidFill>
              <a:srgbClr val="D1D9E6"/>
            </a:solidFill>
            <a:prstDash val="solid"/>
          </a:ln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ko-KR" altLang="en-US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18" name="Shape 16"/>
          <p:cNvSpPr/>
          <p:nvPr/>
        </p:nvSpPr>
        <p:spPr>
          <a:xfrm>
            <a:off x="440576" y="2682518"/>
            <a:ext cx="64008" cy="621792"/>
          </a:xfrm>
          <a:prstGeom prst="rect">
            <a:avLst/>
          </a:prstGeom>
          <a:solidFill>
            <a:srgbClr val="9CA3AF"/>
          </a:solidFill>
          <a:ln w="12700">
            <a:solidFill>
              <a:srgbClr val="9CA3AF"/>
            </a:solidFill>
            <a:prstDash val="solid"/>
          </a:ln>
        </p:spPr>
        <p:txBody>
          <a:bodyPr/>
          <a:lstStyle/>
          <a:p>
            <a:endParaRPr lang="ko-KR" altLang="en-US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19" name="Shape 17"/>
          <p:cNvSpPr/>
          <p:nvPr/>
        </p:nvSpPr>
        <p:spPr>
          <a:xfrm>
            <a:off x="605168" y="2773958"/>
            <a:ext cx="914400" cy="219456"/>
          </a:xfrm>
          <a:prstGeom prst="rect">
            <a:avLst/>
          </a:prstGeom>
          <a:solidFill>
            <a:srgbClr val="9CA3AF"/>
          </a:solidFill>
          <a:ln w="12700">
            <a:solidFill>
              <a:srgbClr val="9CA3AF"/>
            </a:solidFill>
            <a:prstDash val="solid"/>
          </a:ln>
        </p:spPr>
        <p:txBody>
          <a:bodyPr/>
          <a:lstStyle/>
          <a:p>
            <a:endParaRPr lang="ko-KR" altLang="en-US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20" name="Text 18"/>
          <p:cNvSpPr/>
          <p:nvPr/>
        </p:nvSpPr>
        <p:spPr>
          <a:xfrm>
            <a:off x="605168" y="2773958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FFFFFF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결함기각</a:t>
            </a:r>
            <a:endParaRPr lang="en-US" sz="850" dirty="0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21" name="Text 19"/>
          <p:cNvSpPr/>
          <p:nvPr/>
        </p:nvSpPr>
        <p:spPr>
          <a:xfrm>
            <a:off x="1611008" y="2746526"/>
            <a:ext cx="278892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4B5563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테스트 결과 결함으로 인정되지 않아 기각된 항목 — 원인 분석 제외, 별도 집계</a:t>
            </a:r>
            <a:endParaRPr lang="en-US" sz="900" dirty="0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22" name="Shape 20"/>
          <p:cNvSpPr/>
          <p:nvPr/>
        </p:nvSpPr>
        <p:spPr>
          <a:xfrm>
            <a:off x="440576" y="3386606"/>
            <a:ext cx="4069080" cy="621792"/>
          </a:xfrm>
          <a:prstGeom prst="rect">
            <a:avLst/>
          </a:prstGeom>
          <a:solidFill>
            <a:srgbClr val="F4F7FB"/>
          </a:solidFill>
          <a:ln w="12700">
            <a:solidFill>
              <a:srgbClr val="D1D9E6"/>
            </a:solidFill>
            <a:prstDash val="solid"/>
          </a:ln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ko-KR" altLang="en-US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23" name="Shape 21"/>
          <p:cNvSpPr/>
          <p:nvPr/>
        </p:nvSpPr>
        <p:spPr>
          <a:xfrm>
            <a:off x="440576" y="3386606"/>
            <a:ext cx="64008" cy="621792"/>
          </a:xfrm>
          <a:prstGeom prst="rect">
            <a:avLst/>
          </a:prstGeom>
          <a:solidFill>
            <a:srgbClr val="2563A8"/>
          </a:solidFill>
          <a:ln w="12700">
            <a:solidFill>
              <a:srgbClr val="2563A8"/>
            </a:solidFill>
            <a:prstDash val="solid"/>
          </a:ln>
        </p:spPr>
        <p:txBody>
          <a:bodyPr/>
          <a:lstStyle/>
          <a:p>
            <a:endParaRPr lang="ko-KR" altLang="en-US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24" name="Shape 22"/>
          <p:cNvSpPr/>
          <p:nvPr/>
        </p:nvSpPr>
        <p:spPr>
          <a:xfrm>
            <a:off x="605168" y="3478046"/>
            <a:ext cx="914400" cy="219456"/>
          </a:xfrm>
          <a:prstGeom prst="rect">
            <a:avLst/>
          </a:prstGeom>
          <a:solidFill>
            <a:srgbClr val="2563A8"/>
          </a:solidFill>
          <a:ln w="12700">
            <a:solidFill>
              <a:srgbClr val="2563A8"/>
            </a:solidFill>
            <a:prstDash val="solid"/>
          </a:ln>
        </p:spPr>
        <p:txBody>
          <a:bodyPr/>
          <a:lstStyle/>
          <a:p>
            <a:endParaRPr lang="ko-KR" altLang="en-US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25" name="Text 23"/>
          <p:cNvSpPr/>
          <p:nvPr/>
        </p:nvSpPr>
        <p:spPr>
          <a:xfrm>
            <a:off x="605168" y="3478046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FFFFFF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결함율</a:t>
            </a:r>
            <a:endParaRPr lang="en-US" sz="850" dirty="0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26" name="Text 24"/>
          <p:cNvSpPr/>
          <p:nvPr/>
        </p:nvSpPr>
        <p:spPr>
          <a:xfrm>
            <a:off x="1611008" y="3450614"/>
            <a:ext cx="278892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4B5563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해당 단계 결함 건수 ÷ 해당 업무 전체 시나리오 수 × 100 (%)</a:t>
            </a:r>
            <a:endParaRPr lang="en-US" sz="900" dirty="0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27" name="Shape 25"/>
          <p:cNvSpPr/>
          <p:nvPr/>
        </p:nvSpPr>
        <p:spPr>
          <a:xfrm>
            <a:off x="440576" y="4090694"/>
            <a:ext cx="4069080" cy="621792"/>
          </a:xfrm>
          <a:prstGeom prst="rect">
            <a:avLst/>
          </a:prstGeom>
          <a:solidFill>
            <a:srgbClr val="F4F7FB"/>
          </a:solidFill>
          <a:ln w="12700">
            <a:solidFill>
              <a:srgbClr val="D1D9E6"/>
            </a:solidFill>
            <a:prstDash val="solid"/>
          </a:ln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ko-KR" altLang="en-US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28" name="Shape 26"/>
          <p:cNvSpPr/>
          <p:nvPr/>
        </p:nvSpPr>
        <p:spPr>
          <a:xfrm>
            <a:off x="440576" y="4090694"/>
            <a:ext cx="64008" cy="621792"/>
          </a:xfrm>
          <a:prstGeom prst="rect">
            <a:avLst/>
          </a:prstGeom>
          <a:solidFill>
            <a:srgbClr val="3B82C4"/>
          </a:solidFill>
          <a:ln w="12700">
            <a:solidFill>
              <a:srgbClr val="3B82C4"/>
            </a:solidFill>
            <a:prstDash val="solid"/>
          </a:ln>
        </p:spPr>
        <p:txBody>
          <a:bodyPr/>
          <a:lstStyle/>
          <a:p>
            <a:endParaRPr lang="ko-KR" altLang="en-US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29" name="Shape 27"/>
          <p:cNvSpPr/>
          <p:nvPr/>
        </p:nvSpPr>
        <p:spPr>
          <a:xfrm>
            <a:off x="605168" y="4182134"/>
            <a:ext cx="914400" cy="219456"/>
          </a:xfrm>
          <a:prstGeom prst="rect">
            <a:avLst/>
          </a:prstGeom>
          <a:solidFill>
            <a:srgbClr val="3B82C4"/>
          </a:solidFill>
          <a:ln w="12700">
            <a:solidFill>
              <a:srgbClr val="3B82C4"/>
            </a:solidFill>
            <a:prstDash val="solid"/>
          </a:ln>
        </p:spPr>
        <p:txBody>
          <a:bodyPr/>
          <a:lstStyle/>
          <a:p>
            <a:endParaRPr lang="ko-KR" altLang="en-US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30" name="Text 28"/>
          <p:cNvSpPr/>
          <p:nvPr/>
        </p:nvSpPr>
        <p:spPr>
          <a:xfrm>
            <a:off x="605168" y="4182134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FFFFFF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조치상태</a:t>
            </a:r>
            <a:endParaRPr lang="en-US" sz="850" dirty="0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31" name="Text 29"/>
          <p:cNvSpPr/>
          <p:nvPr/>
        </p:nvSpPr>
        <p:spPr>
          <a:xfrm>
            <a:off x="1611008" y="4154702"/>
            <a:ext cx="278892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4B5563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최종확인 / 확인대기 / 결함검토요청 / 확인요청 / 조치요청 / 재조치요청 (6단계)</a:t>
            </a:r>
            <a:endParaRPr lang="en-US" sz="900" dirty="0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32" name="Shape 30"/>
          <p:cNvSpPr/>
          <p:nvPr/>
        </p:nvSpPr>
        <p:spPr>
          <a:xfrm>
            <a:off x="4800600" y="786384"/>
            <a:ext cx="3875088" cy="292608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  <p:txBody>
          <a:bodyPr/>
          <a:lstStyle/>
          <a:p>
            <a:endParaRPr lang="ko-KR" altLang="en-US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33" name="Text 31"/>
          <p:cNvSpPr/>
          <p:nvPr/>
        </p:nvSpPr>
        <p:spPr>
          <a:xfrm>
            <a:off x="4910328" y="786384"/>
            <a:ext cx="3931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 err="1">
                <a:solidFill>
                  <a:srgbClr val="FFFFFF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심각도</a:t>
            </a:r>
            <a:r>
              <a:rPr lang="en-US" sz="1000" b="1" dirty="0">
                <a:solidFill>
                  <a:srgbClr val="FFFFFF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 판단 기준 및 유의사항</a:t>
            </a:r>
            <a:endParaRPr lang="en-US" sz="1000" dirty="0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34" name="Shape 32"/>
          <p:cNvSpPr/>
          <p:nvPr/>
        </p:nvSpPr>
        <p:spPr>
          <a:xfrm>
            <a:off x="4800600" y="1288196"/>
            <a:ext cx="3875088" cy="690234"/>
          </a:xfrm>
          <a:prstGeom prst="rect">
            <a:avLst/>
          </a:prstGeom>
          <a:solidFill>
            <a:srgbClr val="FFF7ED"/>
          </a:solidFill>
          <a:ln w="12700">
            <a:solidFill>
              <a:srgbClr val="FDBA74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800" b="1" i="0" u="none" strike="noStrike" kern="1200" cap="none" spc="0" normalizeH="0" baseline="0" noProof="0" dirty="0">
                <a:ln>
                  <a:noFill/>
                </a:ln>
                <a:solidFill>
                  <a:srgbClr val="E85D2F"/>
                </a:solidFill>
                <a:effectLst/>
                <a:uLnTx/>
                <a:uFillTx/>
                <a:latin typeface="Rix고딕 L" panose="02020603020101020101" pitchFamily="18" charset="-127"/>
                <a:ea typeface="Rix고딕 L" panose="02020603020101020101" pitchFamily="18" charset="-127"/>
                <a:cs typeface="+mn-cs"/>
              </a:rPr>
              <a:t>⚠  </a:t>
            </a:r>
            <a:r>
              <a:rPr kumimoji="0" lang="en-US" altLang="ko-KR" sz="800" b="1" i="0" u="none" strike="noStrike" kern="1200" cap="none" spc="0" normalizeH="0" baseline="0" noProof="0" dirty="0" err="1">
                <a:ln>
                  <a:noFill/>
                </a:ln>
                <a:solidFill>
                  <a:srgbClr val="E85D2F"/>
                </a:solidFill>
                <a:effectLst/>
                <a:uLnTx/>
                <a:uFillTx/>
                <a:latin typeface="Rix고딕 L" panose="02020603020101020101" pitchFamily="18" charset="-127"/>
                <a:ea typeface="Rix고딕 L" panose="02020603020101020101" pitchFamily="18" charset="-127"/>
                <a:cs typeface="+mn-cs"/>
              </a:rPr>
              <a:t>심각도는</a:t>
            </a:r>
            <a:r>
              <a:rPr kumimoji="0" lang="en-US" altLang="ko-KR" sz="800" b="1" i="0" u="none" strike="noStrike" kern="1200" cap="none" spc="0" normalizeH="0" baseline="0" noProof="0" dirty="0">
                <a:ln>
                  <a:noFill/>
                </a:ln>
                <a:solidFill>
                  <a:srgbClr val="E85D2F"/>
                </a:solidFill>
                <a:effectLst/>
                <a:uLnTx/>
                <a:uFillTx/>
                <a:latin typeface="Rix고딕 L" panose="02020603020101020101" pitchFamily="18" charset="-127"/>
                <a:ea typeface="Rix고딕 L" panose="02020603020101020101" pitchFamily="18" charset="-127"/>
                <a:cs typeface="+mn-cs"/>
              </a:rPr>
              <a:t> </a:t>
            </a:r>
            <a:r>
              <a:rPr kumimoji="0" lang="en-US" altLang="ko-KR" sz="800" b="1" i="0" u="none" strike="noStrike" kern="1200" cap="none" spc="0" normalizeH="0" baseline="0" noProof="0" dirty="0" err="1">
                <a:ln>
                  <a:noFill/>
                </a:ln>
                <a:solidFill>
                  <a:srgbClr val="E85D2F"/>
                </a:solidFill>
                <a:effectLst/>
                <a:uLnTx/>
                <a:uFillTx/>
                <a:latin typeface="Rix고딕 L" panose="02020603020101020101" pitchFamily="18" charset="-127"/>
                <a:ea typeface="Rix고딕 L" panose="02020603020101020101" pitchFamily="18" charset="-127"/>
                <a:cs typeface="+mn-cs"/>
              </a:rPr>
              <a:t>테스터</a:t>
            </a:r>
            <a:r>
              <a:rPr kumimoji="0" lang="en-US" altLang="ko-KR" sz="800" b="1" i="0" u="none" strike="noStrike" kern="1200" cap="none" spc="0" normalizeH="0" baseline="0" noProof="0" dirty="0">
                <a:ln>
                  <a:noFill/>
                </a:ln>
                <a:solidFill>
                  <a:srgbClr val="E85D2F"/>
                </a:solidFill>
                <a:effectLst/>
                <a:uLnTx/>
                <a:uFillTx/>
                <a:latin typeface="Rix고딕 L" panose="02020603020101020101" pitchFamily="18" charset="-127"/>
                <a:ea typeface="Rix고딕 L" panose="02020603020101020101" pitchFamily="18" charset="-127"/>
                <a:cs typeface="+mn-cs"/>
              </a:rPr>
              <a:t> </a:t>
            </a:r>
            <a:r>
              <a:rPr kumimoji="0" lang="en-US" altLang="ko-KR" sz="800" b="1" i="0" u="none" strike="noStrike" kern="1200" cap="none" spc="0" normalizeH="0" baseline="0" noProof="0" dirty="0" err="1">
                <a:ln>
                  <a:noFill/>
                </a:ln>
                <a:solidFill>
                  <a:srgbClr val="E85D2F"/>
                </a:solidFill>
                <a:effectLst/>
                <a:uLnTx/>
                <a:uFillTx/>
                <a:latin typeface="Rix고딕 L" panose="02020603020101020101" pitchFamily="18" charset="-127"/>
                <a:ea typeface="Rix고딕 L" panose="02020603020101020101" pitchFamily="18" charset="-127"/>
                <a:cs typeface="+mn-cs"/>
              </a:rPr>
              <a:t>주관</a:t>
            </a:r>
            <a:r>
              <a:rPr kumimoji="0" lang="en-US" altLang="ko-KR" sz="800" b="1" i="0" u="none" strike="noStrike" kern="1200" cap="none" spc="0" normalizeH="0" baseline="0" noProof="0" dirty="0">
                <a:ln>
                  <a:noFill/>
                </a:ln>
                <a:solidFill>
                  <a:srgbClr val="E85D2F"/>
                </a:solidFill>
                <a:effectLst/>
                <a:uLnTx/>
                <a:uFillTx/>
                <a:latin typeface="Rix고딕 L" panose="02020603020101020101" pitchFamily="18" charset="-127"/>
                <a:ea typeface="Rix고딕 L" panose="02020603020101020101" pitchFamily="18" charset="-127"/>
                <a:cs typeface="+mn-cs"/>
              </a:rPr>
              <a:t> </a:t>
            </a:r>
            <a:r>
              <a:rPr kumimoji="0" lang="en-US" altLang="ko-KR" sz="800" b="1" i="0" u="none" strike="noStrike" kern="1200" cap="none" spc="0" normalizeH="0" baseline="0" noProof="0" dirty="0" err="1">
                <a:ln>
                  <a:noFill/>
                </a:ln>
                <a:solidFill>
                  <a:srgbClr val="E85D2F"/>
                </a:solidFill>
                <a:effectLst/>
                <a:uLnTx/>
                <a:uFillTx/>
                <a:latin typeface="Rix고딕 L" panose="02020603020101020101" pitchFamily="18" charset="-127"/>
                <a:ea typeface="Rix고딕 L" panose="02020603020101020101" pitchFamily="18" charset="-127"/>
                <a:cs typeface="+mn-cs"/>
              </a:rPr>
              <a:t>판단이</a:t>
            </a:r>
            <a:r>
              <a:rPr kumimoji="0" lang="en-US" altLang="ko-KR" sz="800" b="1" i="0" u="none" strike="noStrike" kern="1200" cap="none" spc="0" normalizeH="0" baseline="0" noProof="0" dirty="0">
                <a:ln>
                  <a:noFill/>
                </a:ln>
                <a:solidFill>
                  <a:srgbClr val="E85D2F"/>
                </a:solidFill>
                <a:effectLst/>
                <a:uLnTx/>
                <a:uFillTx/>
                <a:latin typeface="Rix고딕 L" panose="02020603020101020101" pitchFamily="18" charset="-127"/>
                <a:ea typeface="Rix고딕 L" panose="02020603020101020101" pitchFamily="18" charset="-127"/>
                <a:cs typeface="+mn-cs"/>
              </a:rPr>
              <a:t> </a:t>
            </a:r>
            <a:r>
              <a:rPr kumimoji="0" lang="ko-KR" altLang="en-US" sz="800" b="1" i="0" u="none" strike="noStrike" kern="1200" cap="none" spc="0" normalizeH="0" baseline="0" noProof="0" dirty="0">
                <a:ln>
                  <a:noFill/>
                </a:ln>
                <a:solidFill>
                  <a:srgbClr val="E85D2F"/>
                </a:solidFill>
                <a:effectLst/>
                <a:uLnTx/>
                <a:uFillTx/>
                <a:latin typeface="Rix고딕 L" panose="02020603020101020101" pitchFamily="18" charset="-127"/>
                <a:ea typeface="Rix고딕 L" panose="02020603020101020101" pitchFamily="18" charset="-127"/>
                <a:cs typeface="+mn-cs"/>
              </a:rPr>
              <a:t>개입 </a:t>
            </a:r>
            <a:r>
              <a:rPr kumimoji="0" lang="ko-KR" altLang="en-US" sz="800" b="1" i="0" u="none" strike="noStrike" kern="1200" cap="none" spc="0" normalizeH="0" baseline="0" noProof="0" dirty="0" err="1">
                <a:ln>
                  <a:noFill/>
                </a:ln>
                <a:solidFill>
                  <a:srgbClr val="E85D2F"/>
                </a:solidFill>
                <a:effectLst/>
                <a:uLnTx/>
                <a:uFillTx/>
                <a:latin typeface="Rix고딕 L" panose="02020603020101020101" pitchFamily="18" charset="-127"/>
                <a:ea typeface="Rix고딕 L" panose="02020603020101020101" pitchFamily="18" charset="-127"/>
                <a:cs typeface="+mn-cs"/>
              </a:rPr>
              <a:t>될수</a:t>
            </a:r>
            <a:r>
              <a:rPr kumimoji="0" lang="ko-KR" altLang="en-US" sz="800" b="1" i="0" u="none" strike="noStrike" kern="1200" cap="none" spc="0" normalizeH="0" baseline="0" noProof="0" dirty="0">
                <a:ln>
                  <a:noFill/>
                </a:ln>
                <a:solidFill>
                  <a:srgbClr val="E85D2F"/>
                </a:solidFill>
                <a:effectLst/>
                <a:uLnTx/>
                <a:uFillTx/>
                <a:latin typeface="Rix고딕 L" panose="02020603020101020101" pitchFamily="18" charset="-127"/>
                <a:ea typeface="Rix고딕 L" panose="02020603020101020101" pitchFamily="18" charset="-127"/>
                <a:cs typeface="+mn-cs"/>
              </a:rPr>
              <a:t> 있습니다</a:t>
            </a:r>
            <a:r>
              <a:rPr kumimoji="0" lang="en-US" altLang="ko-KR" sz="800" b="1" i="0" u="none" strike="noStrike" kern="1200" cap="none" spc="0" normalizeH="0" baseline="0" noProof="0" dirty="0">
                <a:ln>
                  <a:noFill/>
                </a:ln>
                <a:solidFill>
                  <a:srgbClr val="E85D2F"/>
                </a:solidFill>
                <a:effectLst/>
                <a:uLnTx/>
                <a:uFillTx/>
                <a:latin typeface="Rix고딕 L" panose="02020603020101020101" pitchFamily="18" charset="-127"/>
                <a:ea typeface="Rix고딕 L" panose="02020603020101020101" pitchFamily="18" charset="-127"/>
                <a:cs typeface="+mn-cs"/>
              </a:rPr>
              <a:t>.</a:t>
            </a:r>
          </a:p>
          <a:p>
            <a:pPr marL="0" marR="0" lvl="0" indent="0" algn="l" defTabSz="914400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800" b="1" i="0" u="none" strike="noStrike" kern="1200" cap="none" spc="0" normalizeH="0" baseline="0" noProof="0" dirty="0">
                <a:ln>
                  <a:noFill/>
                </a:ln>
                <a:solidFill>
                  <a:srgbClr val="E85D2F"/>
                </a:solidFill>
                <a:effectLst/>
                <a:uLnTx/>
                <a:uFillTx/>
                <a:latin typeface="Rix고딕 L" panose="02020603020101020101" pitchFamily="18" charset="-127"/>
                <a:ea typeface="Rix고딕 L" panose="02020603020101020101" pitchFamily="18" charset="-127"/>
                <a:cs typeface="+mn-cs"/>
              </a:rPr>
              <a:t> </a:t>
            </a:r>
            <a:r>
              <a:rPr kumimoji="0" lang="en-US" altLang="ko-KR" sz="800" i="0" u="none" strike="noStrike" kern="1200" cap="none" spc="0" normalizeH="0" baseline="0" noProof="0" dirty="0">
                <a:ln>
                  <a:noFill/>
                </a:ln>
                <a:solidFill>
                  <a:srgbClr val="E85D2F"/>
                </a:solidFill>
                <a:effectLst/>
                <a:uLnTx/>
                <a:uFillTx/>
                <a:latin typeface="Rix고딕 L" panose="02020603020101020101" pitchFamily="18" charset="-127"/>
                <a:ea typeface="Rix고딕 L" panose="02020603020101020101" pitchFamily="18" charset="-127"/>
                <a:cs typeface="+mn-cs"/>
              </a:rPr>
              <a:t> </a:t>
            </a:r>
            <a:r>
              <a:rPr kumimoji="0" lang="ko-KR" altLang="en-US" sz="800" i="0" u="none" strike="noStrike" kern="1200" cap="none" spc="0" normalizeH="0" baseline="0" noProof="0" dirty="0">
                <a:ln>
                  <a:noFill/>
                </a:ln>
                <a:solidFill>
                  <a:srgbClr val="E85D2F"/>
                </a:solidFill>
                <a:effectLst/>
                <a:uLnTx/>
                <a:uFillTx/>
                <a:latin typeface="Rix고딕 L" panose="02020603020101020101" pitchFamily="18" charset="-127"/>
                <a:ea typeface="Rix고딕 L" panose="02020603020101020101" pitchFamily="18" charset="-127"/>
                <a:cs typeface="+mn-cs"/>
              </a:rPr>
              <a:t>따라서</a:t>
            </a:r>
            <a:r>
              <a:rPr kumimoji="0" lang="en-US" altLang="ko-KR" sz="800" i="0" u="none" strike="noStrike" kern="1200" cap="none" spc="0" normalizeH="0" baseline="0" noProof="0" dirty="0">
                <a:ln>
                  <a:noFill/>
                </a:ln>
                <a:solidFill>
                  <a:srgbClr val="E85D2F"/>
                </a:solidFill>
                <a:effectLst/>
                <a:uLnTx/>
                <a:uFillTx/>
                <a:latin typeface="Rix고딕 L" panose="02020603020101020101" pitchFamily="18" charset="-127"/>
                <a:ea typeface="Rix고딕 L" panose="02020603020101020101" pitchFamily="18" charset="-127"/>
                <a:cs typeface="+mn-cs"/>
              </a:rPr>
              <a:t>, </a:t>
            </a:r>
            <a:r>
              <a:rPr kumimoji="0" lang="ko-KR" altLang="en-US" sz="800" i="0" u="none" strike="noStrike" kern="1200" cap="none" spc="0" normalizeH="0" baseline="0" noProof="0" dirty="0">
                <a:ln>
                  <a:noFill/>
                </a:ln>
                <a:solidFill>
                  <a:srgbClr val="E85D2F"/>
                </a:solidFill>
                <a:effectLst/>
                <a:uLnTx/>
                <a:uFillTx/>
                <a:latin typeface="Rix고딕 L" panose="02020603020101020101" pitchFamily="18" charset="-127"/>
                <a:ea typeface="Rix고딕 L" panose="02020603020101020101" pitchFamily="18" charset="-127"/>
                <a:cs typeface="+mn-cs"/>
              </a:rPr>
              <a:t>본 보고서에서 심각도는 </a:t>
            </a:r>
            <a:r>
              <a:rPr kumimoji="0" lang="en-US" altLang="ko-KR" sz="800" i="0" u="none" strike="noStrike" kern="1200" cap="none" spc="0" normalizeH="0" baseline="0" noProof="0" dirty="0" err="1">
                <a:ln>
                  <a:noFill/>
                </a:ln>
                <a:solidFill>
                  <a:srgbClr val="E85D2F"/>
                </a:solidFill>
                <a:effectLst/>
                <a:uLnTx/>
                <a:uFillTx/>
                <a:latin typeface="Rix고딕 L" panose="02020603020101020101" pitchFamily="18" charset="-127"/>
                <a:ea typeface="Rix고딕 L" panose="02020603020101020101" pitchFamily="18" charset="-127"/>
                <a:cs typeface="+mn-cs"/>
              </a:rPr>
              <a:t>절대적</a:t>
            </a:r>
            <a:r>
              <a:rPr kumimoji="0" lang="en-US" altLang="ko-KR" sz="800" i="0" u="none" strike="noStrike" kern="1200" cap="none" spc="0" normalizeH="0" baseline="0" noProof="0" dirty="0">
                <a:ln>
                  <a:noFill/>
                </a:ln>
                <a:solidFill>
                  <a:srgbClr val="E85D2F"/>
                </a:solidFill>
                <a:effectLst/>
                <a:uLnTx/>
                <a:uFillTx/>
                <a:latin typeface="Rix고딕 L" panose="02020603020101020101" pitchFamily="18" charset="-127"/>
                <a:ea typeface="Rix고딕 L" panose="02020603020101020101" pitchFamily="18" charset="-127"/>
                <a:cs typeface="+mn-cs"/>
              </a:rPr>
              <a:t> </a:t>
            </a:r>
            <a:r>
              <a:rPr kumimoji="0" lang="en-US" altLang="ko-KR" sz="800" i="0" u="none" strike="noStrike" kern="1200" cap="none" spc="0" normalizeH="0" baseline="0" noProof="0" dirty="0" err="1">
                <a:ln>
                  <a:noFill/>
                </a:ln>
                <a:solidFill>
                  <a:srgbClr val="E85D2F"/>
                </a:solidFill>
                <a:effectLst/>
                <a:uLnTx/>
                <a:uFillTx/>
                <a:latin typeface="Rix고딕 L" panose="02020603020101020101" pitchFamily="18" charset="-127"/>
                <a:ea typeface="Rix고딕 L" panose="02020603020101020101" pitchFamily="18" charset="-127"/>
                <a:cs typeface="+mn-cs"/>
              </a:rPr>
              <a:t>기준이</a:t>
            </a:r>
            <a:r>
              <a:rPr kumimoji="0" lang="en-US" altLang="ko-KR" sz="800" i="0" u="none" strike="noStrike" kern="1200" cap="none" spc="0" normalizeH="0" baseline="0" noProof="0" dirty="0">
                <a:ln>
                  <a:noFill/>
                </a:ln>
                <a:solidFill>
                  <a:srgbClr val="E85D2F"/>
                </a:solidFill>
                <a:effectLst/>
                <a:uLnTx/>
                <a:uFillTx/>
                <a:latin typeface="Rix고딕 L" panose="02020603020101020101" pitchFamily="18" charset="-127"/>
                <a:ea typeface="Rix고딕 L" panose="02020603020101020101" pitchFamily="18" charset="-127"/>
                <a:cs typeface="+mn-cs"/>
              </a:rPr>
              <a:t> </a:t>
            </a:r>
            <a:r>
              <a:rPr kumimoji="0" lang="en-US" altLang="ko-KR" sz="800" i="0" u="none" strike="noStrike" kern="1200" cap="none" spc="0" normalizeH="0" baseline="0" noProof="0" dirty="0" err="1">
                <a:ln>
                  <a:noFill/>
                </a:ln>
                <a:solidFill>
                  <a:srgbClr val="E85D2F"/>
                </a:solidFill>
                <a:effectLst/>
                <a:uLnTx/>
                <a:uFillTx/>
                <a:latin typeface="Rix고딕 L" panose="02020603020101020101" pitchFamily="18" charset="-127"/>
                <a:ea typeface="Rix고딕 L" panose="02020603020101020101" pitchFamily="18" charset="-127"/>
                <a:cs typeface="+mn-cs"/>
              </a:rPr>
              <a:t>아닌</a:t>
            </a:r>
            <a:r>
              <a:rPr kumimoji="0" lang="en-US" altLang="ko-KR" sz="800" i="0" u="none" strike="noStrike" kern="1200" cap="none" spc="0" normalizeH="0" baseline="0" noProof="0" dirty="0">
                <a:ln>
                  <a:noFill/>
                </a:ln>
                <a:solidFill>
                  <a:srgbClr val="E85D2F"/>
                </a:solidFill>
                <a:effectLst/>
                <a:uLnTx/>
                <a:uFillTx/>
                <a:latin typeface="Rix고딕 L" panose="02020603020101020101" pitchFamily="18" charset="-127"/>
                <a:ea typeface="Rix고딕 L" panose="02020603020101020101" pitchFamily="18" charset="-127"/>
                <a:cs typeface="+mn-cs"/>
              </a:rPr>
              <a:t> </a:t>
            </a:r>
            <a:r>
              <a:rPr kumimoji="0" lang="ko-KR" altLang="en-US" sz="800" i="0" u="none" strike="noStrike" kern="1200" cap="none" spc="0" normalizeH="0" baseline="0" noProof="0" dirty="0">
                <a:ln>
                  <a:noFill/>
                </a:ln>
                <a:solidFill>
                  <a:srgbClr val="E85D2F"/>
                </a:solidFill>
                <a:effectLst/>
                <a:uLnTx/>
                <a:uFillTx/>
                <a:latin typeface="Rix고딕 L" panose="02020603020101020101" pitchFamily="18" charset="-127"/>
                <a:ea typeface="Rix고딕 L" panose="02020603020101020101" pitchFamily="18" charset="-127"/>
                <a:cs typeface="+mn-cs"/>
              </a:rPr>
              <a:t>경향성 파악 </a:t>
            </a:r>
            <a:r>
              <a:rPr kumimoji="0" lang="en-US" altLang="ko-KR" sz="800" i="0" u="none" strike="noStrike" kern="1200" cap="none" spc="0" normalizeH="0" baseline="0" noProof="0" dirty="0" err="1">
                <a:ln>
                  <a:noFill/>
                </a:ln>
                <a:solidFill>
                  <a:srgbClr val="E85D2F"/>
                </a:solidFill>
                <a:effectLst/>
                <a:uLnTx/>
                <a:uFillTx/>
                <a:latin typeface="Rix고딕 L" panose="02020603020101020101" pitchFamily="18" charset="-127"/>
                <a:ea typeface="Rix고딕 L" panose="02020603020101020101" pitchFamily="18" charset="-127"/>
                <a:cs typeface="+mn-cs"/>
              </a:rPr>
              <a:t>참고</a:t>
            </a:r>
            <a:r>
              <a:rPr kumimoji="0" lang="en-US" altLang="ko-KR" sz="800" i="0" u="none" strike="noStrike" kern="1200" cap="none" spc="0" normalizeH="0" baseline="0" noProof="0" dirty="0">
                <a:ln>
                  <a:noFill/>
                </a:ln>
                <a:solidFill>
                  <a:srgbClr val="E85D2F"/>
                </a:solidFill>
                <a:effectLst/>
                <a:uLnTx/>
                <a:uFillTx/>
                <a:latin typeface="Rix고딕 L" panose="02020603020101020101" pitchFamily="18" charset="-127"/>
                <a:ea typeface="Rix고딕 L" panose="02020603020101020101" pitchFamily="18" charset="-127"/>
                <a:cs typeface="+mn-cs"/>
              </a:rPr>
              <a:t> </a:t>
            </a:r>
            <a:r>
              <a:rPr kumimoji="0" lang="en-US" altLang="ko-KR" sz="800" i="0" u="none" strike="noStrike" kern="1200" cap="none" spc="0" normalizeH="0" baseline="0" noProof="0" dirty="0" err="1">
                <a:ln>
                  <a:noFill/>
                </a:ln>
                <a:solidFill>
                  <a:srgbClr val="E85D2F"/>
                </a:solidFill>
                <a:effectLst/>
                <a:uLnTx/>
                <a:uFillTx/>
                <a:latin typeface="Rix고딕 L" panose="02020603020101020101" pitchFamily="18" charset="-127"/>
                <a:ea typeface="Rix고딕 L" panose="02020603020101020101" pitchFamily="18" charset="-127"/>
                <a:cs typeface="+mn-cs"/>
              </a:rPr>
              <a:t>지표로</a:t>
            </a:r>
            <a:r>
              <a:rPr kumimoji="0" lang="en-US" altLang="ko-KR" sz="800" i="0" u="none" strike="noStrike" kern="1200" cap="none" spc="0" normalizeH="0" baseline="0" noProof="0" dirty="0">
                <a:ln>
                  <a:noFill/>
                </a:ln>
                <a:solidFill>
                  <a:srgbClr val="E85D2F"/>
                </a:solidFill>
                <a:effectLst/>
                <a:uLnTx/>
                <a:uFillTx/>
                <a:latin typeface="Rix고딕 L" panose="02020603020101020101" pitchFamily="18" charset="-127"/>
                <a:ea typeface="Rix고딕 L" panose="02020603020101020101" pitchFamily="18" charset="-127"/>
                <a:cs typeface="+mn-cs"/>
              </a:rPr>
              <a:t> </a:t>
            </a:r>
            <a:r>
              <a:rPr kumimoji="0" lang="en-US" altLang="ko-KR" sz="800" i="0" u="none" strike="noStrike" kern="1200" cap="none" spc="0" normalizeH="0" baseline="0" noProof="0" dirty="0" err="1">
                <a:ln>
                  <a:noFill/>
                </a:ln>
                <a:solidFill>
                  <a:srgbClr val="E85D2F"/>
                </a:solidFill>
                <a:effectLst/>
                <a:uLnTx/>
                <a:uFillTx/>
                <a:latin typeface="Rix고딕 L" panose="02020603020101020101" pitchFamily="18" charset="-127"/>
                <a:ea typeface="Rix고딕 L" panose="02020603020101020101" pitchFamily="18" charset="-127"/>
                <a:cs typeface="+mn-cs"/>
              </a:rPr>
              <a:t>활용</a:t>
            </a:r>
            <a:r>
              <a:rPr kumimoji="0" lang="ko-KR" altLang="en-US" sz="800" i="0" u="none" strike="noStrike" kern="1200" cap="none" spc="0" normalizeH="0" baseline="0" noProof="0" dirty="0">
                <a:ln>
                  <a:noFill/>
                </a:ln>
                <a:solidFill>
                  <a:srgbClr val="E85D2F"/>
                </a:solidFill>
                <a:effectLst/>
                <a:uLnTx/>
                <a:uFillTx/>
                <a:latin typeface="Rix고딕 L" panose="02020603020101020101" pitchFamily="18" charset="-127"/>
                <a:ea typeface="Rix고딕 L" panose="02020603020101020101" pitchFamily="18" charset="-127"/>
                <a:cs typeface="+mn-cs"/>
              </a:rPr>
              <a:t>하며  </a:t>
            </a:r>
            <a:endParaRPr kumimoji="0" lang="en-US" altLang="ko-KR" sz="800" i="0" u="none" strike="noStrike" kern="1200" cap="none" spc="0" normalizeH="0" baseline="0" noProof="0" dirty="0">
              <a:ln>
                <a:noFill/>
              </a:ln>
              <a:solidFill>
                <a:srgbClr val="E85D2F"/>
              </a:solidFill>
              <a:effectLst/>
              <a:uLnTx/>
              <a:uFillTx/>
              <a:latin typeface="Rix고딕 L" panose="02020603020101020101" pitchFamily="18" charset="-127"/>
              <a:ea typeface="Rix고딕 L" panose="02020603020101020101" pitchFamily="18" charset="-127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sz="800" dirty="0">
                <a:solidFill>
                  <a:srgbClr val="E85D2F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  </a:t>
            </a:r>
            <a:r>
              <a:rPr kumimoji="0" lang="en-US" altLang="ko-KR" sz="850" i="0" u="none" strike="noStrike" kern="1200" cap="none" spc="0" normalizeH="0" baseline="0" noProof="0" dirty="0" err="1">
                <a:ln>
                  <a:noFill/>
                </a:ln>
                <a:solidFill>
                  <a:srgbClr val="E85D2F"/>
                </a:solidFill>
                <a:effectLst/>
                <a:uLnTx/>
                <a:uFillTx/>
                <a:latin typeface="Rix고딕 L" panose="02020603020101020101" pitchFamily="18" charset="-127"/>
                <a:ea typeface="Rix고딕 L" panose="02020603020101020101" pitchFamily="18" charset="-127"/>
                <a:cs typeface="+mn-cs"/>
              </a:rPr>
              <a:t>절대적</a:t>
            </a:r>
            <a:r>
              <a:rPr kumimoji="0" lang="en-US" altLang="ko-KR" sz="850" i="0" u="none" strike="noStrike" kern="1200" cap="none" spc="0" normalizeH="0" baseline="0" noProof="0" dirty="0">
                <a:ln>
                  <a:noFill/>
                </a:ln>
                <a:solidFill>
                  <a:srgbClr val="E85D2F"/>
                </a:solidFill>
                <a:effectLst/>
                <a:uLnTx/>
                <a:uFillTx/>
                <a:latin typeface="Rix고딕 L" panose="02020603020101020101" pitchFamily="18" charset="-127"/>
                <a:ea typeface="Rix고딕 L" panose="02020603020101020101" pitchFamily="18" charset="-127"/>
                <a:cs typeface="+mn-cs"/>
              </a:rPr>
              <a:t> </a:t>
            </a:r>
            <a:r>
              <a:rPr kumimoji="0" lang="en-US" altLang="ko-KR" sz="850" i="0" u="none" strike="noStrike" kern="1200" cap="none" spc="0" normalizeH="0" baseline="0" noProof="0" dirty="0" err="1">
                <a:ln>
                  <a:noFill/>
                </a:ln>
                <a:solidFill>
                  <a:srgbClr val="E85D2F"/>
                </a:solidFill>
                <a:effectLst/>
                <a:uLnTx/>
                <a:uFillTx/>
                <a:latin typeface="Rix고딕 L" panose="02020603020101020101" pitchFamily="18" charset="-127"/>
                <a:ea typeface="Rix고딕 L" panose="02020603020101020101" pitchFamily="18" charset="-127"/>
                <a:cs typeface="+mn-cs"/>
              </a:rPr>
              <a:t>품질</a:t>
            </a:r>
            <a:r>
              <a:rPr kumimoji="0" lang="en-US" altLang="ko-KR" sz="850" i="0" u="none" strike="noStrike" kern="1200" cap="none" spc="0" normalizeH="0" baseline="0" noProof="0" dirty="0">
                <a:ln>
                  <a:noFill/>
                </a:ln>
                <a:solidFill>
                  <a:srgbClr val="E85D2F"/>
                </a:solidFill>
                <a:effectLst/>
                <a:uLnTx/>
                <a:uFillTx/>
                <a:latin typeface="Rix고딕 L" panose="02020603020101020101" pitchFamily="18" charset="-127"/>
                <a:ea typeface="Rix고딕 L" panose="02020603020101020101" pitchFamily="18" charset="-127"/>
                <a:cs typeface="+mn-cs"/>
              </a:rPr>
              <a:t> </a:t>
            </a:r>
            <a:r>
              <a:rPr kumimoji="0" lang="en-US" altLang="ko-KR" sz="850" i="0" u="none" strike="noStrike" kern="1200" cap="none" spc="0" normalizeH="0" baseline="0" noProof="0" dirty="0" err="1">
                <a:ln>
                  <a:noFill/>
                </a:ln>
                <a:solidFill>
                  <a:srgbClr val="E85D2F"/>
                </a:solidFill>
                <a:effectLst/>
                <a:uLnTx/>
                <a:uFillTx/>
                <a:latin typeface="Rix고딕 L" panose="02020603020101020101" pitchFamily="18" charset="-127"/>
                <a:ea typeface="Rix고딕 L" panose="02020603020101020101" pitchFamily="18" charset="-127"/>
                <a:cs typeface="+mn-cs"/>
              </a:rPr>
              <a:t>기준으로</a:t>
            </a:r>
            <a:r>
              <a:rPr kumimoji="0" lang="en-US" altLang="ko-KR" sz="850" i="0" u="none" strike="noStrike" kern="1200" cap="none" spc="0" normalizeH="0" baseline="0" noProof="0" dirty="0">
                <a:ln>
                  <a:noFill/>
                </a:ln>
                <a:solidFill>
                  <a:srgbClr val="E85D2F"/>
                </a:solidFill>
                <a:effectLst/>
                <a:uLnTx/>
                <a:uFillTx/>
                <a:latin typeface="Rix고딕 L" panose="02020603020101020101" pitchFamily="18" charset="-127"/>
                <a:ea typeface="Rix고딕 L" panose="02020603020101020101" pitchFamily="18" charset="-127"/>
                <a:cs typeface="+mn-cs"/>
              </a:rPr>
              <a:t> </a:t>
            </a:r>
            <a:r>
              <a:rPr kumimoji="0" lang="en-US" altLang="ko-KR" sz="850" i="0" u="none" strike="noStrike" kern="1200" cap="none" spc="0" normalizeH="0" baseline="0" noProof="0" dirty="0" err="1">
                <a:ln>
                  <a:noFill/>
                </a:ln>
                <a:solidFill>
                  <a:srgbClr val="E85D2F"/>
                </a:solidFill>
                <a:effectLst/>
                <a:uLnTx/>
                <a:uFillTx/>
                <a:latin typeface="Rix고딕 L" panose="02020603020101020101" pitchFamily="18" charset="-127"/>
                <a:ea typeface="Rix고딕 L" panose="02020603020101020101" pitchFamily="18" charset="-127"/>
                <a:cs typeface="+mn-cs"/>
              </a:rPr>
              <a:t>해석하지</a:t>
            </a:r>
            <a:r>
              <a:rPr kumimoji="0" lang="en-US" altLang="ko-KR" sz="850" i="0" u="none" strike="noStrike" kern="1200" cap="none" spc="0" normalizeH="0" baseline="0" noProof="0" dirty="0">
                <a:ln>
                  <a:noFill/>
                </a:ln>
                <a:solidFill>
                  <a:srgbClr val="E85D2F"/>
                </a:solidFill>
                <a:effectLst/>
                <a:uLnTx/>
                <a:uFillTx/>
                <a:latin typeface="Rix고딕 L" panose="02020603020101020101" pitchFamily="18" charset="-127"/>
                <a:ea typeface="Rix고딕 L" panose="02020603020101020101" pitchFamily="18" charset="-127"/>
                <a:cs typeface="+mn-cs"/>
              </a:rPr>
              <a:t> </a:t>
            </a:r>
            <a:r>
              <a:rPr kumimoji="0" lang="ko-KR" altLang="en-US" sz="850" i="0" u="none" strike="noStrike" kern="1200" cap="none" spc="0" normalizeH="0" baseline="0" noProof="0" dirty="0">
                <a:ln>
                  <a:noFill/>
                </a:ln>
                <a:solidFill>
                  <a:srgbClr val="E85D2F"/>
                </a:solidFill>
                <a:effectLst/>
                <a:uLnTx/>
                <a:uFillTx/>
                <a:latin typeface="Rix고딕 L" panose="02020603020101020101" pitchFamily="18" charset="-127"/>
                <a:ea typeface="Rix고딕 L" panose="02020603020101020101" pitchFamily="18" charset="-127"/>
                <a:cs typeface="+mn-cs"/>
              </a:rPr>
              <a:t>않습니다</a:t>
            </a:r>
            <a:r>
              <a:rPr kumimoji="0" lang="en-US" altLang="ko-KR" sz="850" i="0" u="none" strike="noStrike" kern="1200" cap="none" spc="0" normalizeH="0" baseline="0" noProof="0" dirty="0">
                <a:ln>
                  <a:noFill/>
                </a:ln>
                <a:solidFill>
                  <a:srgbClr val="E85D2F"/>
                </a:solidFill>
                <a:effectLst/>
                <a:uLnTx/>
                <a:uFillTx/>
                <a:latin typeface="Rix고딕 L" panose="02020603020101020101" pitchFamily="18" charset="-127"/>
                <a:ea typeface="Rix고딕 L" panose="02020603020101020101" pitchFamily="18" charset="-127"/>
                <a:cs typeface="+mn-cs"/>
              </a:rPr>
              <a:t>.</a:t>
            </a:r>
            <a:endParaRPr kumimoji="0" lang="en-US" altLang="ko-KR" sz="85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Rix고딕 L" panose="02020603020101020101" pitchFamily="18" charset="-127"/>
              <a:ea typeface="Rix고딕 L" panose="02020603020101020101" pitchFamily="18" charset="-127"/>
              <a:cs typeface="+mn-cs"/>
            </a:endParaRPr>
          </a:p>
          <a:p>
            <a:endParaRPr lang="ko-KR" altLang="en-US" dirty="0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36" name="Shape 34"/>
          <p:cNvSpPr/>
          <p:nvPr/>
        </p:nvSpPr>
        <p:spPr>
          <a:xfrm>
            <a:off x="4800600" y="2125287"/>
            <a:ext cx="3875088" cy="786384"/>
          </a:xfrm>
          <a:prstGeom prst="rect">
            <a:avLst/>
          </a:prstGeom>
          <a:solidFill>
            <a:srgbClr val="F4F7FB"/>
          </a:solidFill>
          <a:ln w="12700">
            <a:solidFill>
              <a:srgbClr val="D1D9E6"/>
            </a:solidFill>
            <a:prstDash val="solid"/>
          </a:ln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ko-KR" altLang="en-US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37" name="Shape 35"/>
          <p:cNvSpPr/>
          <p:nvPr/>
        </p:nvSpPr>
        <p:spPr>
          <a:xfrm>
            <a:off x="4800600" y="2125287"/>
            <a:ext cx="64008" cy="786384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  <p:txBody>
          <a:bodyPr/>
          <a:lstStyle/>
          <a:p>
            <a:endParaRPr lang="ko-KR" altLang="en-US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38" name="Shape 36"/>
          <p:cNvSpPr/>
          <p:nvPr/>
        </p:nvSpPr>
        <p:spPr>
          <a:xfrm>
            <a:off x="4965192" y="2216727"/>
            <a:ext cx="822960" cy="237744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  <p:txBody>
          <a:bodyPr/>
          <a:lstStyle/>
          <a:p>
            <a:endParaRPr lang="ko-KR" altLang="en-US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39" name="Text 37"/>
          <p:cNvSpPr/>
          <p:nvPr/>
        </p:nvSpPr>
        <p:spPr>
          <a:xfrm>
            <a:off x="4965192" y="2216727"/>
            <a:ext cx="8229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Critical</a:t>
            </a:r>
            <a:endParaRPr lang="en-US" sz="900" dirty="0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40" name="Text 38"/>
          <p:cNvSpPr/>
          <p:nvPr/>
        </p:nvSpPr>
        <p:spPr>
          <a:xfrm>
            <a:off x="8037022" y="2216727"/>
            <a:ext cx="502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b="1" dirty="0">
                <a:solidFill>
                  <a:srgbClr val="DC2626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●●●</a:t>
            </a:r>
            <a:endParaRPr lang="en-US" sz="900" dirty="0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41" name="Text 39"/>
          <p:cNvSpPr/>
          <p:nvPr/>
        </p:nvSpPr>
        <p:spPr>
          <a:xfrm>
            <a:off x="5879592" y="2198439"/>
            <a:ext cx="2880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1B3A6B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시스템 운영 불가 수준의 심각한 오류</a:t>
            </a:r>
            <a:endParaRPr lang="en-US" sz="950" dirty="0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42" name="Text 40"/>
          <p:cNvSpPr/>
          <p:nvPr/>
        </p:nvSpPr>
        <p:spPr>
          <a:xfrm>
            <a:off x="4965192" y="2527623"/>
            <a:ext cx="3794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4B5563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서버 오류, 핵심 기능 전체 장애</a:t>
            </a:r>
            <a:endParaRPr lang="en-US" sz="850" dirty="0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43" name="Shape 41"/>
          <p:cNvSpPr/>
          <p:nvPr/>
        </p:nvSpPr>
        <p:spPr>
          <a:xfrm>
            <a:off x="4800600" y="3012255"/>
            <a:ext cx="3875088" cy="786384"/>
          </a:xfrm>
          <a:prstGeom prst="rect">
            <a:avLst/>
          </a:prstGeom>
          <a:solidFill>
            <a:srgbClr val="F4F7FB"/>
          </a:solidFill>
          <a:ln w="12700">
            <a:solidFill>
              <a:srgbClr val="D1D9E6"/>
            </a:solidFill>
            <a:prstDash val="solid"/>
          </a:ln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ko-KR" altLang="en-US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44" name="Shape 42"/>
          <p:cNvSpPr/>
          <p:nvPr/>
        </p:nvSpPr>
        <p:spPr>
          <a:xfrm>
            <a:off x="4800600" y="3012255"/>
            <a:ext cx="64008" cy="786384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  <p:txBody>
          <a:bodyPr/>
          <a:lstStyle/>
          <a:p>
            <a:endParaRPr lang="ko-KR" altLang="en-US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45" name="Shape 43"/>
          <p:cNvSpPr/>
          <p:nvPr/>
        </p:nvSpPr>
        <p:spPr>
          <a:xfrm>
            <a:off x="4965192" y="3103695"/>
            <a:ext cx="822960" cy="237744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  <p:txBody>
          <a:bodyPr/>
          <a:lstStyle/>
          <a:p>
            <a:endParaRPr lang="ko-KR" altLang="en-US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46" name="Text 44"/>
          <p:cNvSpPr/>
          <p:nvPr/>
        </p:nvSpPr>
        <p:spPr>
          <a:xfrm>
            <a:off x="4965192" y="3103695"/>
            <a:ext cx="8229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Major</a:t>
            </a:r>
            <a:endParaRPr lang="en-US" sz="900" dirty="0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47" name="Text 45"/>
          <p:cNvSpPr/>
          <p:nvPr/>
        </p:nvSpPr>
        <p:spPr>
          <a:xfrm>
            <a:off x="8037022" y="3103695"/>
            <a:ext cx="502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b="1" dirty="0">
                <a:solidFill>
                  <a:srgbClr val="D97706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●●○</a:t>
            </a:r>
            <a:endParaRPr lang="en-US" sz="900" dirty="0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48" name="Text 46"/>
          <p:cNvSpPr/>
          <p:nvPr/>
        </p:nvSpPr>
        <p:spPr>
          <a:xfrm>
            <a:off x="5879592" y="3085407"/>
            <a:ext cx="2880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1B3A6B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주요 기능 장애 또는 업무 처리에 심각한 영향</a:t>
            </a:r>
            <a:endParaRPr lang="en-US" sz="950" dirty="0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49" name="Text 47"/>
          <p:cNvSpPr/>
          <p:nvPr/>
        </p:nvSpPr>
        <p:spPr>
          <a:xfrm>
            <a:off x="4965192" y="3414591"/>
            <a:ext cx="3794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4B5563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데이터 오류, 기능 부분 장애</a:t>
            </a:r>
            <a:endParaRPr lang="en-US" sz="850" dirty="0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50" name="Shape 48"/>
          <p:cNvSpPr/>
          <p:nvPr/>
        </p:nvSpPr>
        <p:spPr>
          <a:xfrm>
            <a:off x="4800600" y="3899223"/>
            <a:ext cx="3875088" cy="786384"/>
          </a:xfrm>
          <a:prstGeom prst="rect">
            <a:avLst/>
          </a:prstGeom>
          <a:solidFill>
            <a:srgbClr val="F4F7FB"/>
          </a:solidFill>
          <a:ln w="12700">
            <a:solidFill>
              <a:srgbClr val="D1D9E6"/>
            </a:solidFill>
            <a:prstDash val="solid"/>
          </a:ln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ko-KR" altLang="en-US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51" name="Shape 49"/>
          <p:cNvSpPr/>
          <p:nvPr/>
        </p:nvSpPr>
        <p:spPr>
          <a:xfrm>
            <a:off x="4800600" y="3899223"/>
            <a:ext cx="64008" cy="786384"/>
          </a:xfrm>
          <a:prstGeom prst="rect">
            <a:avLst/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  <p:txBody>
          <a:bodyPr/>
          <a:lstStyle/>
          <a:p>
            <a:endParaRPr lang="ko-KR" altLang="en-US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52" name="Shape 50"/>
          <p:cNvSpPr/>
          <p:nvPr/>
        </p:nvSpPr>
        <p:spPr>
          <a:xfrm>
            <a:off x="4965192" y="3990663"/>
            <a:ext cx="822960" cy="237744"/>
          </a:xfrm>
          <a:prstGeom prst="rect">
            <a:avLst/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  <p:txBody>
          <a:bodyPr/>
          <a:lstStyle/>
          <a:p>
            <a:endParaRPr lang="ko-KR" altLang="en-US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53" name="Text 51"/>
          <p:cNvSpPr/>
          <p:nvPr/>
        </p:nvSpPr>
        <p:spPr>
          <a:xfrm>
            <a:off x="4965192" y="3990663"/>
            <a:ext cx="8229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Minor</a:t>
            </a:r>
            <a:endParaRPr lang="en-US" sz="900" dirty="0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54" name="Text 52"/>
          <p:cNvSpPr/>
          <p:nvPr/>
        </p:nvSpPr>
        <p:spPr>
          <a:xfrm>
            <a:off x="8037022" y="3990663"/>
            <a:ext cx="502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b="1" dirty="0">
                <a:solidFill>
                  <a:srgbClr val="16A34A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●○○</a:t>
            </a:r>
            <a:endParaRPr lang="en-US" sz="900" dirty="0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55" name="Text 53"/>
          <p:cNvSpPr/>
          <p:nvPr/>
        </p:nvSpPr>
        <p:spPr>
          <a:xfrm>
            <a:off x="5879592" y="3972375"/>
            <a:ext cx="2880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1B3A6B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경미한 오류 또는 UI 개선</a:t>
            </a:r>
            <a:endParaRPr lang="en-US" sz="950" dirty="0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56" name="Text 54"/>
          <p:cNvSpPr/>
          <p:nvPr/>
        </p:nvSpPr>
        <p:spPr>
          <a:xfrm>
            <a:off x="4965192" y="4301559"/>
            <a:ext cx="3794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4B5563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업무 처리에 미치는 영향 최소화</a:t>
            </a:r>
            <a:endParaRPr lang="en-US" sz="850" dirty="0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/>
          <p:cNvSpPr/>
          <p:nvPr/>
        </p:nvSpPr>
        <p:spPr>
          <a:xfrm>
            <a:off x="320040" y="0"/>
            <a:ext cx="6400800" cy="426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002060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차수별 결함 발생 추이 및 조치 현황</a:t>
            </a:r>
            <a:endParaRPr lang="en-US" sz="2000" dirty="0">
              <a:solidFill>
                <a:srgbClr val="002060"/>
              </a:solidFill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graphicFrame>
        <p:nvGraphicFramePr>
          <p:cNvPr id="5" name="Chart 0"/>
          <p:cNvGraphicFramePr/>
          <p:nvPr>
            <p:extLst>
              <p:ext uri="{D42A27DB-BD31-4B8C-83A1-F6EECF244321}">
                <p14:modId xmlns:p14="http://schemas.microsoft.com/office/powerpoint/2010/main" val="3217528751"/>
              </p:ext>
            </p:extLst>
          </p:nvPr>
        </p:nvGraphicFramePr>
        <p:xfrm>
          <a:off x="431800" y="777240"/>
          <a:ext cx="5120640" cy="2543118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6" name="Chart 1"/>
          <p:cNvGraphicFramePr/>
          <p:nvPr>
            <p:extLst>
              <p:ext uri="{D42A27DB-BD31-4B8C-83A1-F6EECF244321}">
                <p14:modId xmlns:p14="http://schemas.microsoft.com/office/powerpoint/2010/main" val="1737257698"/>
              </p:ext>
            </p:extLst>
          </p:nvPr>
        </p:nvGraphicFramePr>
        <p:xfrm>
          <a:off x="5440680" y="777240"/>
          <a:ext cx="3383280" cy="2543118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sp>
        <p:nvSpPr>
          <p:cNvPr id="7" name="Shape 3"/>
          <p:cNvSpPr/>
          <p:nvPr/>
        </p:nvSpPr>
        <p:spPr>
          <a:xfrm>
            <a:off x="548640" y="3555492"/>
            <a:ext cx="7840980" cy="329184"/>
          </a:xfrm>
          <a:prstGeom prst="rect">
            <a:avLst/>
          </a:prstGeom>
          <a:solidFill>
            <a:srgbClr val="F4F7FB"/>
          </a:solidFill>
          <a:ln w="12700">
            <a:solidFill>
              <a:srgbClr val="D1D9E6"/>
            </a:solidFill>
            <a:prstDash val="solid"/>
          </a:ln>
        </p:spPr>
        <p:txBody>
          <a:bodyPr/>
          <a:lstStyle/>
          <a:p>
            <a:endParaRPr lang="ko-KR" altLang="en-US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8" name="Shape 4"/>
          <p:cNvSpPr/>
          <p:nvPr/>
        </p:nvSpPr>
        <p:spPr>
          <a:xfrm>
            <a:off x="548640" y="3555492"/>
            <a:ext cx="50049" cy="329184"/>
          </a:xfrm>
          <a:prstGeom prst="rect">
            <a:avLst/>
          </a:prstGeom>
          <a:solidFill>
            <a:srgbClr val="2563A8"/>
          </a:solidFill>
          <a:ln w="12700">
            <a:solidFill>
              <a:srgbClr val="2563A8"/>
            </a:solidFill>
            <a:prstDash val="solid"/>
          </a:ln>
        </p:spPr>
        <p:txBody>
          <a:bodyPr/>
          <a:lstStyle/>
          <a:p>
            <a:endParaRPr lang="ko-KR" altLang="en-US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9" name="Text 5"/>
          <p:cNvSpPr/>
          <p:nvPr/>
        </p:nvSpPr>
        <p:spPr>
          <a:xfrm>
            <a:off x="713232" y="3555492"/>
            <a:ext cx="759073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B3A6B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📈  1-2차 최다 발생: 1,372건(29.5%) — 사업 중반 결함 집중 구간</a:t>
            </a:r>
            <a:endParaRPr lang="en-US" sz="1000" dirty="0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10" name="Shape 6"/>
          <p:cNvSpPr/>
          <p:nvPr/>
        </p:nvSpPr>
        <p:spPr>
          <a:xfrm>
            <a:off x="548640" y="3939540"/>
            <a:ext cx="7840980" cy="329184"/>
          </a:xfrm>
          <a:prstGeom prst="rect">
            <a:avLst/>
          </a:prstGeom>
          <a:solidFill>
            <a:srgbClr val="F4F7FB"/>
          </a:solidFill>
          <a:ln w="12700">
            <a:solidFill>
              <a:srgbClr val="D1D9E6"/>
            </a:solidFill>
            <a:prstDash val="solid"/>
          </a:ln>
        </p:spPr>
        <p:txBody>
          <a:bodyPr/>
          <a:lstStyle/>
          <a:p>
            <a:endParaRPr lang="ko-KR" altLang="en-US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11" name="Shape 7"/>
          <p:cNvSpPr/>
          <p:nvPr/>
        </p:nvSpPr>
        <p:spPr>
          <a:xfrm>
            <a:off x="548640" y="3939540"/>
            <a:ext cx="50049" cy="329184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  <p:txBody>
          <a:bodyPr/>
          <a:lstStyle/>
          <a:p>
            <a:endParaRPr lang="ko-KR" altLang="en-US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12" name="Text 8"/>
          <p:cNvSpPr/>
          <p:nvPr/>
        </p:nvSpPr>
        <p:spPr>
          <a:xfrm>
            <a:off x="713232" y="3939540"/>
            <a:ext cx="759073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000" dirty="0">
                <a:solidFill>
                  <a:srgbClr val="1B3A6B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⚠   </a:t>
            </a:r>
            <a:r>
              <a:rPr lang="en-US" sz="1000" dirty="0" err="1">
                <a:solidFill>
                  <a:srgbClr val="1B3A6B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확인대기</a:t>
            </a:r>
            <a:r>
              <a:rPr lang="en-US" sz="1000" dirty="0">
                <a:solidFill>
                  <a:srgbClr val="1B3A6B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 1,297건 (30.9%) </a:t>
            </a:r>
            <a:r>
              <a:rPr lang="en-US" sz="1000" dirty="0" err="1">
                <a:solidFill>
                  <a:srgbClr val="1B3A6B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집중</a:t>
            </a:r>
            <a:r>
              <a:rPr lang="en-US" sz="1000" dirty="0">
                <a:solidFill>
                  <a:srgbClr val="1B3A6B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 </a:t>
            </a:r>
            <a:r>
              <a:rPr lang="ko-KR" altLang="en-US" sz="1000" dirty="0">
                <a:solidFill>
                  <a:srgbClr val="1B3A6B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테스트 </a:t>
            </a:r>
            <a:r>
              <a:rPr lang="ko-KR" altLang="en-US" sz="1000" dirty="0" err="1">
                <a:solidFill>
                  <a:srgbClr val="1B3A6B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재수행</a:t>
            </a:r>
            <a:r>
              <a:rPr lang="ko-KR" altLang="en-US" sz="1000" dirty="0">
                <a:solidFill>
                  <a:srgbClr val="1B3A6B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 </a:t>
            </a:r>
            <a:r>
              <a:rPr lang="en-US" sz="1000" dirty="0" err="1">
                <a:solidFill>
                  <a:srgbClr val="1B3A6B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시급</a:t>
            </a:r>
            <a:r>
              <a:rPr lang="en-US" sz="1000" dirty="0">
                <a:solidFill>
                  <a:srgbClr val="1B3A6B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 </a:t>
            </a:r>
            <a:r>
              <a:rPr lang="en-US" altLang="ko-KR" sz="1000" dirty="0">
                <a:solidFill>
                  <a:srgbClr val="1B3A6B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— </a:t>
            </a:r>
            <a:r>
              <a:rPr lang="ko-KR" altLang="en-US" sz="1000" dirty="0">
                <a:solidFill>
                  <a:srgbClr val="1B3A6B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재결함 발생 여부 확인 필요</a:t>
            </a:r>
            <a:endParaRPr lang="en-US" sz="1000" dirty="0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13" name="Shape 9"/>
          <p:cNvSpPr/>
          <p:nvPr/>
        </p:nvSpPr>
        <p:spPr>
          <a:xfrm>
            <a:off x="548640" y="4323588"/>
            <a:ext cx="7840980" cy="329184"/>
          </a:xfrm>
          <a:prstGeom prst="rect">
            <a:avLst/>
          </a:prstGeom>
          <a:solidFill>
            <a:srgbClr val="F4F7FB"/>
          </a:solidFill>
          <a:ln w="12700">
            <a:solidFill>
              <a:srgbClr val="D1D9E6"/>
            </a:solidFill>
            <a:prstDash val="solid"/>
          </a:ln>
        </p:spPr>
        <p:txBody>
          <a:bodyPr/>
          <a:lstStyle/>
          <a:p>
            <a:endParaRPr lang="ko-KR" altLang="en-US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14" name="Shape 10"/>
          <p:cNvSpPr/>
          <p:nvPr/>
        </p:nvSpPr>
        <p:spPr>
          <a:xfrm>
            <a:off x="548640" y="4323588"/>
            <a:ext cx="50049" cy="329184"/>
          </a:xfrm>
          <a:prstGeom prst="rect">
            <a:avLst/>
          </a:prstGeom>
          <a:solidFill>
            <a:srgbClr val="E85D2F"/>
          </a:solidFill>
          <a:ln w="12700">
            <a:solidFill>
              <a:srgbClr val="E85D2F"/>
            </a:solidFill>
            <a:prstDash val="solid"/>
          </a:ln>
        </p:spPr>
        <p:txBody>
          <a:bodyPr/>
          <a:lstStyle/>
          <a:p>
            <a:endParaRPr lang="ko-KR" altLang="en-US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15" name="Text 11"/>
          <p:cNvSpPr/>
          <p:nvPr/>
        </p:nvSpPr>
        <p:spPr>
          <a:xfrm>
            <a:off x="713232" y="4323588"/>
            <a:ext cx="759073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B3A6B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🔄  2차 구간(2,507건) &gt; 1차 구간(2,141건) — 차수 증가에도 결함 감소 없음</a:t>
            </a:r>
            <a:endParaRPr lang="en-US" sz="1000" dirty="0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4" name="Text 8">
            <a:extLst>
              <a:ext uri="{FF2B5EF4-FFF2-40B4-BE49-F238E27FC236}">
                <a16:creationId xmlns:a16="http://schemas.microsoft.com/office/drawing/2014/main" id="{5FF3A3EC-EC35-DE47-F865-41055921A3BC}"/>
              </a:ext>
            </a:extLst>
          </p:cNvPr>
          <p:cNvSpPr/>
          <p:nvPr/>
        </p:nvSpPr>
        <p:spPr>
          <a:xfrm>
            <a:off x="1482635" y="2263644"/>
            <a:ext cx="411625" cy="18418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800" dirty="0">
                <a:solidFill>
                  <a:srgbClr val="0000FF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2.6%</a:t>
            </a:r>
          </a:p>
        </p:txBody>
      </p:sp>
      <p:sp>
        <p:nvSpPr>
          <p:cNvPr id="16" name="Text 8">
            <a:extLst>
              <a:ext uri="{FF2B5EF4-FFF2-40B4-BE49-F238E27FC236}">
                <a16:creationId xmlns:a16="http://schemas.microsoft.com/office/drawing/2014/main" id="{D05A308F-0A84-92F3-353A-AC1BED6F8613}"/>
              </a:ext>
            </a:extLst>
          </p:cNvPr>
          <p:cNvSpPr/>
          <p:nvPr/>
        </p:nvSpPr>
        <p:spPr>
          <a:xfrm>
            <a:off x="2318803" y="2171553"/>
            <a:ext cx="411625" cy="18418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800" dirty="0">
                <a:solidFill>
                  <a:srgbClr val="0000FF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8.7%</a:t>
            </a:r>
          </a:p>
        </p:txBody>
      </p:sp>
      <p:sp>
        <p:nvSpPr>
          <p:cNvPr id="17" name="Text 8">
            <a:extLst>
              <a:ext uri="{FF2B5EF4-FFF2-40B4-BE49-F238E27FC236}">
                <a16:creationId xmlns:a16="http://schemas.microsoft.com/office/drawing/2014/main" id="{9ADA3CB0-0B9C-F828-302F-2BB15764038F}"/>
              </a:ext>
            </a:extLst>
          </p:cNvPr>
          <p:cNvSpPr/>
          <p:nvPr/>
        </p:nvSpPr>
        <p:spPr>
          <a:xfrm>
            <a:off x="3280519" y="2173223"/>
            <a:ext cx="411625" cy="18418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800" dirty="0">
                <a:solidFill>
                  <a:srgbClr val="0000FF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9.9%</a:t>
            </a:r>
          </a:p>
        </p:txBody>
      </p:sp>
      <p:sp>
        <p:nvSpPr>
          <p:cNvPr id="18" name="Text 8">
            <a:extLst>
              <a:ext uri="{FF2B5EF4-FFF2-40B4-BE49-F238E27FC236}">
                <a16:creationId xmlns:a16="http://schemas.microsoft.com/office/drawing/2014/main" id="{1E479CEF-3802-B92B-79A3-D8B5E1769591}"/>
              </a:ext>
            </a:extLst>
          </p:cNvPr>
          <p:cNvSpPr/>
          <p:nvPr/>
        </p:nvSpPr>
        <p:spPr>
          <a:xfrm>
            <a:off x="4204317" y="2171551"/>
            <a:ext cx="411625" cy="18418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800" dirty="0">
                <a:solidFill>
                  <a:srgbClr val="0000FF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14.8%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Shape 117"/>
          <p:cNvSpPr/>
          <p:nvPr/>
        </p:nvSpPr>
        <p:spPr>
          <a:xfrm>
            <a:off x="439085" y="4072688"/>
            <a:ext cx="1890866" cy="252000"/>
          </a:xfrm>
          <a:prstGeom prst="rect">
            <a:avLst/>
          </a:prstGeom>
          <a:solidFill>
            <a:srgbClr val="F4F7FB"/>
          </a:solidFill>
          <a:ln w="12700">
            <a:solidFill>
              <a:srgbClr val="D1D9E6"/>
            </a:solidFill>
            <a:prstDash val="solid"/>
          </a:ln>
        </p:spPr>
        <p:txBody>
          <a:bodyPr/>
          <a:lstStyle/>
          <a:p>
            <a:endParaRPr lang="ko-KR" altLang="en-US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3" name="Text 1"/>
          <p:cNvSpPr/>
          <p:nvPr/>
        </p:nvSpPr>
        <p:spPr>
          <a:xfrm>
            <a:off x="320040" y="1"/>
            <a:ext cx="749808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002060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결함 조치 상태 현황 및 결함기각 집계</a:t>
            </a:r>
            <a:endParaRPr lang="en-US" sz="2000" dirty="0">
              <a:solidFill>
                <a:srgbClr val="002060"/>
              </a:solidFill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5" name="Shape 3"/>
          <p:cNvSpPr/>
          <p:nvPr/>
        </p:nvSpPr>
        <p:spPr>
          <a:xfrm>
            <a:off x="433646" y="775023"/>
            <a:ext cx="8242042" cy="256032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  <p:txBody>
          <a:bodyPr/>
          <a:lstStyle/>
          <a:p>
            <a:endParaRPr lang="ko-KR" altLang="en-US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6" name="Text 4"/>
          <p:cNvSpPr/>
          <p:nvPr/>
        </p:nvSpPr>
        <p:spPr>
          <a:xfrm>
            <a:off x="570806" y="775023"/>
            <a:ext cx="478397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ko-KR" altLang="en-US" sz="950" b="1" dirty="0">
                <a:solidFill>
                  <a:srgbClr val="FFFFFF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결</a:t>
            </a:r>
            <a:r>
              <a:rPr lang="en-US" sz="950" b="1" dirty="0">
                <a:solidFill>
                  <a:srgbClr val="FFFFFF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함 조치 상태 현황  (분석 대상 4,203건 기준)</a:t>
            </a:r>
            <a:endParaRPr lang="en-US" sz="950" dirty="0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7" name="Shape 5"/>
          <p:cNvSpPr/>
          <p:nvPr/>
        </p:nvSpPr>
        <p:spPr>
          <a:xfrm>
            <a:off x="433647" y="1115568"/>
            <a:ext cx="1260000" cy="967047"/>
          </a:xfrm>
          <a:prstGeom prst="rect">
            <a:avLst/>
          </a:prstGeom>
          <a:solidFill>
            <a:srgbClr val="F4F7FB"/>
          </a:solidFill>
          <a:ln w="12700">
            <a:solidFill>
              <a:srgbClr val="D1D9E6"/>
            </a:solidFill>
            <a:prstDash val="solid"/>
          </a:ln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ko-KR" altLang="en-US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8" name="Shape 6"/>
          <p:cNvSpPr/>
          <p:nvPr/>
        </p:nvSpPr>
        <p:spPr>
          <a:xfrm>
            <a:off x="433647" y="1115568"/>
            <a:ext cx="1260000" cy="64008"/>
          </a:xfrm>
          <a:prstGeom prst="rect">
            <a:avLst/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  <p:txBody>
          <a:bodyPr/>
          <a:lstStyle/>
          <a:p>
            <a:endParaRPr lang="ko-KR" altLang="en-US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9" name="Shape 7"/>
          <p:cNvSpPr/>
          <p:nvPr/>
        </p:nvSpPr>
        <p:spPr>
          <a:xfrm>
            <a:off x="1165476" y="1215598"/>
            <a:ext cx="466442" cy="201168"/>
          </a:xfrm>
          <a:prstGeom prst="roundRect">
            <a:avLst>
              <a:gd name="adj" fmla="val 36364"/>
            </a:avLst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  <p:txBody>
          <a:bodyPr lIns="0" tIns="0" rIns="0" bIns="0" anchor="ctr" anchorCtr="0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750" b="1" i="0" u="none" strike="noStrike" kern="1200" cap="none" spc="0" normalizeH="0" baseline="0" noProof="0" dirty="0" err="1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Rix고딕 L" panose="02020603020101020101" pitchFamily="18" charset="-127"/>
                <a:ea typeface="Rix고딕 L" panose="02020603020101020101" pitchFamily="18" charset="-127"/>
                <a:cs typeface="+mn-cs"/>
              </a:rPr>
              <a:t>처리완료</a:t>
            </a:r>
            <a:endParaRPr kumimoji="0" lang="en-US" altLang="ko-KR" sz="7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Rix고딕 L" panose="02020603020101020101" pitchFamily="18" charset="-127"/>
              <a:ea typeface="Rix고딕 L" panose="02020603020101020101" pitchFamily="18" charset="-127"/>
              <a:cs typeface="+mn-cs"/>
            </a:endParaRPr>
          </a:p>
        </p:txBody>
      </p:sp>
      <p:sp>
        <p:nvSpPr>
          <p:cNvPr id="11" name="Text 9"/>
          <p:cNvSpPr/>
          <p:nvPr/>
        </p:nvSpPr>
        <p:spPr>
          <a:xfrm>
            <a:off x="525087" y="1389888"/>
            <a:ext cx="922713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16A34A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2,468건</a:t>
            </a:r>
            <a:endParaRPr lang="en-US" sz="1800" dirty="0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12" name="Text 10"/>
          <p:cNvSpPr/>
          <p:nvPr/>
        </p:nvSpPr>
        <p:spPr>
          <a:xfrm>
            <a:off x="1203963" y="1753707"/>
            <a:ext cx="46644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B3A6B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58.7%</a:t>
            </a:r>
            <a:endParaRPr lang="en-US" sz="1100" dirty="0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13" name="Text 11"/>
          <p:cNvSpPr/>
          <p:nvPr/>
        </p:nvSpPr>
        <p:spPr>
          <a:xfrm>
            <a:off x="490452" y="1788621"/>
            <a:ext cx="842383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4B5563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최종확인</a:t>
            </a:r>
            <a:endParaRPr lang="en-US" sz="850" dirty="0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14" name="Shape 12"/>
          <p:cNvSpPr/>
          <p:nvPr/>
        </p:nvSpPr>
        <p:spPr>
          <a:xfrm>
            <a:off x="1829908" y="1115568"/>
            <a:ext cx="1260000" cy="967047"/>
          </a:xfrm>
          <a:prstGeom prst="rect">
            <a:avLst/>
          </a:prstGeom>
          <a:solidFill>
            <a:srgbClr val="F4F7FB"/>
          </a:solidFill>
          <a:ln w="12700">
            <a:solidFill>
              <a:srgbClr val="D1D9E6"/>
            </a:solidFill>
            <a:prstDash val="solid"/>
          </a:ln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ko-KR" altLang="en-US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15" name="Shape 13"/>
          <p:cNvSpPr/>
          <p:nvPr/>
        </p:nvSpPr>
        <p:spPr>
          <a:xfrm>
            <a:off x="1829908" y="1115568"/>
            <a:ext cx="1260000" cy="64008"/>
          </a:xfrm>
          <a:prstGeom prst="rect">
            <a:avLst/>
          </a:prstGeom>
          <a:solidFill>
            <a:srgbClr val="3B82C4"/>
          </a:solidFill>
          <a:ln w="12700">
            <a:solidFill>
              <a:srgbClr val="3B82C4"/>
            </a:solidFill>
            <a:prstDash val="solid"/>
          </a:ln>
        </p:spPr>
        <p:txBody>
          <a:bodyPr/>
          <a:lstStyle/>
          <a:p>
            <a:endParaRPr lang="ko-KR" altLang="en-US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16" name="Shape 14"/>
          <p:cNvSpPr/>
          <p:nvPr/>
        </p:nvSpPr>
        <p:spPr>
          <a:xfrm>
            <a:off x="2552003" y="1221140"/>
            <a:ext cx="466442" cy="201168"/>
          </a:xfrm>
          <a:prstGeom prst="roundRect">
            <a:avLst>
              <a:gd name="adj" fmla="val 36364"/>
            </a:avLst>
          </a:prstGeom>
          <a:solidFill>
            <a:srgbClr val="3B82C4"/>
          </a:solidFill>
          <a:ln w="12700">
            <a:solidFill>
              <a:srgbClr val="3B82C4"/>
            </a:solidFill>
            <a:prstDash val="solid"/>
          </a:ln>
        </p:spPr>
        <p:txBody>
          <a:bodyPr/>
          <a:lstStyle/>
          <a:p>
            <a:endParaRPr lang="ko-KR" altLang="en-US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17" name="Text 15"/>
          <p:cNvSpPr/>
          <p:nvPr/>
        </p:nvSpPr>
        <p:spPr>
          <a:xfrm>
            <a:off x="2552003" y="1221140"/>
            <a:ext cx="46644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ko-KR" altLang="en-US" sz="750" b="1" dirty="0">
                <a:solidFill>
                  <a:srgbClr val="FFFFFF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처리 완료</a:t>
            </a:r>
            <a:endParaRPr lang="en-US" sz="750" dirty="0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18" name="Text 16"/>
          <p:cNvSpPr/>
          <p:nvPr/>
        </p:nvSpPr>
        <p:spPr>
          <a:xfrm>
            <a:off x="1921348" y="1389888"/>
            <a:ext cx="979999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3B82C4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1,297건</a:t>
            </a:r>
            <a:endParaRPr lang="en-US" sz="1800" dirty="0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19" name="Text 17"/>
          <p:cNvSpPr/>
          <p:nvPr/>
        </p:nvSpPr>
        <p:spPr>
          <a:xfrm>
            <a:off x="2600223" y="1753707"/>
            <a:ext cx="418681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B3A6B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30.9%</a:t>
            </a:r>
            <a:endParaRPr lang="en-US" sz="1100" dirty="0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20" name="Text 18"/>
          <p:cNvSpPr/>
          <p:nvPr/>
        </p:nvSpPr>
        <p:spPr>
          <a:xfrm>
            <a:off x="1886713" y="1788621"/>
            <a:ext cx="703807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4B5563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확인대기</a:t>
            </a:r>
            <a:endParaRPr lang="en-US" sz="850" dirty="0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21" name="Shape 19"/>
          <p:cNvSpPr/>
          <p:nvPr/>
        </p:nvSpPr>
        <p:spPr>
          <a:xfrm>
            <a:off x="3226169" y="1115568"/>
            <a:ext cx="1260000" cy="967047"/>
          </a:xfrm>
          <a:prstGeom prst="rect">
            <a:avLst/>
          </a:prstGeom>
          <a:solidFill>
            <a:srgbClr val="F4F7FB"/>
          </a:solidFill>
          <a:ln w="12700">
            <a:solidFill>
              <a:srgbClr val="D1D9E6"/>
            </a:solidFill>
            <a:prstDash val="solid"/>
          </a:ln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ko-KR" altLang="en-US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22" name="Shape 20"/>
          <p:cNvSpPr/>
          <p:nvPr/>
        </p:nvSpPr>
        <p:spPr>
          <a:xfrm>
            <a:off x="3226169" y="1115568"/>
            <a:ext cx="1260000" cy="64008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  <p:txBody>
          <a:bodyPr/>
          <a:lstStyle/>
          <a:p>
            <a:endParaRPr lang="ko-KR" altLang="en-US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23" name="Shape 21"/>
          <p:cNvSpPr/>
          <p:nvPr/>
        </p:nvSpPr>
        <p:spPr>
          <a:xfrm>
            <a:off x="4021416" y="1221140"/>
            <a:ext cx="382361" cy="201168"/>
          </a:xfrm>
          <a:prstGeom prst="roundRect">
            <a:avLst>
              <a:gd name="adj" fmla="val 36364"/>
            </a:avLst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  <p:txBody>
          <a:bodyPr/>
          <a:lstStyle/>
          <a:p>
            <a:endParaRPr lang="ko-KR" altLang="en-US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24" name="Text 22"/>
          <p:cNvSpPr/>
          <p:nvPr/>
        </p:nvSpPr>
        <p:spPr>
          <a:xfrm>
            <a:off x="4021416" y="1221140"/>
            <a:ext cx="382361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FFFFFF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미결</a:t>
            </a:r>
            <a:endParaRPr lang="en-US" sz="750" dirty="0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25" name="Text 23"/>
          <p:cNvSpPr/>
          <p:nvPr/>
        </p:nvSpPr>
        <p:spPr>
          <a:xfrm>
            <a:off x="3317609" y="1389888"/>
            <a:ext cx="979999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D97706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277건</a:t>
            </a:r>
            <a:endParaRPr lang="en-US" sz="1800" dirty="0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26" name="Text 24"/>
          <p:cNvSpPr/>
          <p:nvPr/>
        </p:nvSpPr>
        <p:spPr>
          <a:xfrm>
            <a:off x="3996484" y="1753707"/>
            <a:ext cx="418681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B3A6B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6.6%</a:t>
            </a:r>
            <a:endParaRPr lang="en-US" sz="1100" dirty="0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27" name="Text 25"/>
          <p:cNvSpPr/>
          <p:nvPr/>
        </p:nvSpPr>
        <p:spPr>
          <a:xfrm>
            <a:off x="3282974" y="1788621"/>
            <a:ext cx="703807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4B5563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결함검토요청</a:t>
            </a:r>
            <a:endParaRPr lang="en-US" sz="850" dirty="0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28" name="Shape 26"/>
          <p:cNvSpPr/>
          <p:nvPr/>
        </p:nvSpPr>
        <p:spPr>
          <a:xfrm>
            <a:off x="4622430" y="1115568"/>
            <a:ext cx="1260000" cy="967047"/>
          </a:xfrm>
          <a:prstGeom prst="rect">
            <a:avLst/>
          </a:prstGeom>
          <a:solidFill>
            <a:srgbClr val="F4F7FB"/>
          </a:solidFill>
          <a:ln w="12700">
            <a:solidFill>
              <a:srgbClr val="D1D9E6"/>
            </a:solidFill>
            <a:prstDash val="solid"/>
          </a:ln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ko-KR" altLang="en-US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29" name="Shape 27"/>
          <p:cNvSpPr/>
          <p:nvPr/>
        </p:nvSpPr>
        <p:spPr>
          <a:xfrm>
            <a:off x="4622430" y="1115568"/>
            <a:ext cx="1260000" cy="64008"/>
          </a:xfrm>
          <a:prstGeom prst="rect">
            <a:avLst/>
          </a:prstGeom>
          <a:solidFill>
            <a:srgbClr val="E85D2F"/>
          </a:solidFill>
          <a:ln w="12700">
            <a:solidFill>
              <a:srgbClr val="E85D2F"/>
            </a:solidFill>
            <a:prstDash val="solid"/>
          </a:ln>
        </p:spPr>
        <p:txBody>
          <a:bodyPr/>
          <a:lstStyle/>
          <a:p>
            <a:endParaRPr lang="ko-KR" altLang="en-US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30" name="Shape 28"/>
          <p:cNvSpPr/>
          <p:nvPr/>
        </p:nvSpPr>
        <p:spPr>
          <a:xfrm>
            <a:off x="5417677" y="1221140"/>
            <a:ext cx="382361" cy="201168"/>
          </a:xfrm>
          <a:prstGeom prst="roundRect">
            <a:avLst>
              <a:gd name="adj" fmla="val 36364"/>
            </a:avLst>
          </a:prstGeom>
          <a:solidFill>
            <a:srgbClr val="E85D2F"/>
          </a:solidFill>
          <a:ln w="12700">
            <a:solidFill>
              <a:srgbClr val="E85D2F"/>
            </a:solidFill>
            <a:prstDash val="solid"/>
          </a:ln>
        </p:spPr>
        <p:txBody>
          <a:bodyPr/>
          <a:lstStyle/>
          <a:p>
            <a:endParaRPr lang="ko-KR" altLang="en-US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31" name="Text 29"/>
          <p:cNvSpPr/>
          <p:nvPr/>
        </p:nvSpPr>
        <p:spPr>
          <a:xfrm>
            <a:off x="5417677" y="1221140"/>
            <a:ext cx="382361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FFFFFF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미결</a:t>
            </a:r>
            <a:endParaRPr lang="en-US" sz="750" dirty="0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32" name="Text 30"/>
          <p:cNvSpPr/>
          <p:nvPr/>
        </p:nvSpPr>
        <p:spPr>
          <a:xfrm>
            <a:off x="4713870" y="1389888"/>
            <a:ext cx="979999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E85D2F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79건</a:t>
            </a:r>
            <a:endParaRPr lang="en-US" sz="1800" dirty="0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33" name="Text 31"/>
          <p:cNvSpPr/>
          <p:nvPr/>
        </p:nvSpPr>
        <p:spPr>
          <a:xfrm>
            <a:off x="5392745" y="1753707"/>
            <a:ext cx="418681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B3A6B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1.9%</a:t>
            </a:r>
            <a:endParaRPr lang="en-US" sz="1100" dirty="0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34" name="Text 32"/>
          <p:cNvSpPr/>
          <p:nvPr/>
        </p:nvSpPr>
        <p:spPr>
          <a:xfrm>
            <a:off x="4679235" y="1788621"/>
            <a:ext cx="703807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4B5563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확인요청</a:t>
            </a:r>
            <a:endParaRPr lang="en-US" sz="850" dirty="0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35" name="Shape 33"/>
          <p:cNvSpPr/>
          <p:nvPr/>
        </p:nvSpPr>
        <p:spPr>
          <a:xfrm>
            <a:off x="6018691" y="1115568"/>
            <a:ext cx="1260000" cy="967047"/>
          </a:xfrm>
          <a:prstGeom prst="rect">
            <a:avLst/>
          </a:prstGeom>
          <a:solidFill>
            <a:srgbClr val="F4F7FB"/>
          </a:solidFill>
          <a:ln w="12700">
            <a:solidFill>
              <a:srgbClr val="D1D9E6"/>
            </a:solidFill>
            <a:prstDash val="solid"/>
          </a:ln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ko-KR" altLang="en-US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36" name="Shape 34"/>
          <p:cNvSpPr/>
          <p:nvPr/>
        </p:nvSpPr>
        <p:spPr>
          <a:xfrm>
            <a:off x="6018691" y="1115568"/>
            <a:ext cx="1260000" cy="64008"/>
          </a:xfrm>
          <a:prstGeom prst="rect">
            <a:avLst/>
          </a:prstGeom>
          <a:solidFill>
            <a:srgbClr val="E85D2F"/>
          </a:solidFill>
          <a:ln w="12700">
            <a:solidFill>
              <a:srgbClr val="E85D2F"/>
            </a:solidFill>
            <a:prstDash val="solid"/>
          </a:ln>
        </p:spPr>
        <p:txBody>
          <a:bodyPr/>
          <a:lstStyle/>
          <a:p>
            <a:endParaRPr lang="ko-KR" altLang="en-US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37" name="Shape 35"/>
          <p:cNvSpPr/>
          <p:nvPr/>
        </p:nvSpPr>
        <p:spPr>
          <a:xfrm>
            <a:off x="6813938" y="1221140"/>
            <a:ext cx="382361" cy="201168"/>
          </a:xfrm>
          <a:prstGeom prst="roundRect">
            <a:avLst>
              <a:gd name="adj" fmla="val 36364"/>
            </a:avLst>
          </a:prstGeom>
          <a:solidFill>
            <a:srgbClr val="E85D2F"/>
          </a:solidFill>
          <a:ln w="12700">
            <a:solidFill>
              <a:srgbClr val="E85D2F"/>
            </a:solidFill>
            <a:prstDash val="solid"/>
          </a:ln>
        </p:spPr>
        <p:txBody>
          <a:bodyPr/>
          <a:lstStyle/>
          <a:p>
            <a:endParaRPr lang="ko-KR" altLang="en-US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38" name="Text 36"/>
          <p:cNvSpPr/>
          <p:nvPr/>
        </p:nvSpPr>
        <p:spPr>
          <a:xfrm>
            <a:off x="6813938" y="1221140"/>
            <a:ext cx="382361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FFFFFF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미결</a:t>
            </a:r>
            <a:endParaRPr lang="en-US" sz="750" dirty="0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39" name="Text 37"/>
          <p:cNvSpPr/>
          <p:nvPr/>
        </p:nvSpPr>
        <p:spPr>
          <a:xfrm>
            <a:off x="6110131" y="1389888"/>
            <a:ext cx="979999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E85D2F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73건</a:t>
            </a:r>
            <a:endParaRPr lang="en-US" sz="1800" dirty="0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40" name="Text 38"/>
          <p:cNvSpPr/>
          <p:nvPr/>
        </p:nvSpPr>
        <p:spPr>
          <a:xfrm>
            <a:off x="6789006" y="1753707"/>
            <a:ext cx="418681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B3A6B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1.7%</a:t>
            </a:r>
            <a:endParaRPr lang="en-US" sz="1100" dirty="0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41" name="Text 39"/>
          <p:cNvSpPr/>
          <p:nvPr/>
        </p:nvSpPr>
        <p:spPr>
          <a:xfrm>
            <a:off x="6075496" y="1788621"/>
            <a:ext cx="703807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4B5563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조치요청</a:t>
            </a:r>
            <a:endParaRPr lang="en-US" sz="850" dirty="0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42" name="Shape 40"/>
          <p:cNvSpPr/>
          <p:nvPr/>
        </p:nvSpPr>
        <p:spPr>
          <a:xfrm>
            <a:off x="7414953" y="1115568"/>
            <a:ext cx="1260000" cy="967047"/>
          </a:xfrm>
          <a:prstGeom prst="rect">
            <a:avLst/>
          </a:prstGeom>
          <a:solidFill>
            <a:srgbClr val="F4F7FB"/>
          </a:solidFill>
          <a:ln w="12700">
            <a:solidFill>
              <a:srgbClr val="D1D9E6"/>
            </a:solidFill>
            <a:prstDash val="solid"/>
          </a:ln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ko-KR" altLang="en-US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43" name="Shape 41"/>
          <p:cNvSpPr/>
          <p:nvPr/>
        </p:nvSpPr>
        <p:spPr>
          <a:xfrm>
            <a:off x="7414953" y="1115568"/>
            <a:ext cx="1260000" cy="64008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  <p:txBody>
          <a:bodyPr/>
          <a:lstStyle/>
          <a:p>
            <a:endParaRPr lang="ko-KR" altLang="en-US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44" name="Shape 42"/>
          <p:cNvSpPr/>
          <p:nvPr/>
        </p:nvSpPr>
        <p:spPr>
          <a:xfrm>
            <a:off x="8210200" y="1221140"/>
            <a:ext cx="382361" cy="201168"/>
          </a:xfrm>
          <a:prstGeom prst="roundRect">
            <a:avLst>
              <a:gd name="adj" fmla="val 36364"/>
            </a:avLst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  <p:txBody>
          <a:bodyPr/>
          <a:lstStyle/>
          <a:p>
            <a:endParaRPr lang="ko-KR" altLang="en-US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45" name="Text 43"/>
          <p:cNvSpPr/>
          <p:nvPr/>
        </p:nvSpPr>
        <p:spPr>
          <a:xfrm>
            <a:off x="8210200" y="1221140"/>
            <a:ext cx="382361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FFFFFF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미결</a:t>
            </a:r>
            <a:endParaRPr lang="en-US" sz="750" dirty="0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46" name="Text 44"/>
          <p:cNvSpPr/>
          <p:nvPr/>
        </p:nvSpPr>
        <p:spPr>
          <a:xfrm>
            <a:off x="7506393" y="1389888"/>
            <a:ext cx="979999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DC2626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9건</a:t>
            </a:r>
            <a:endParaRPr lang="en-US" sz="1800" dirty="0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47" name="Text 45"/>
          <p:cNvSpPr/>
          <p:nvPr/>
        </p:nvSpPr>
        <p:spPr>
          <a:xfrm>
            <a:off x="8185268" y="1753707"/>
            <a:ext cx="418681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B3A6B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0.2%</a:t>
            </a:r>
            <a:endParaRPr lang="en-US" sz="1100" dirty="0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48" name="Text 46"/>
          <p:cNvSpPr/>
          <p:nvPr/>
        </p:nvSpPr>
        <p:spPr>
          <a:xfrm>
            <a:off x="7471758" y="1788621"/>
            <a:ext cx="703807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4B5563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재조치요청</a:t>
            </a:r>
            <a:endParaRPr lang="en-US" sz="850" dirty="0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49" name="Shape 47"/>
          <p:cNvSpPr/>
          <p:nvPr/>
        </p:nvSpPr>
        <p:spPr>
          <a:xfrm>
            <a:off x="431800" y="2134154"/>
            <a:ext cx="8242042" cy="371179"/>
          </a:xfrm>
          <a:prstGeom prst="rect">
            <a:avLst/>
          </a:prstGeom>
          <a:solidFill>
            <a:srgbClr val="F4F7FB"/>
          </a:solidFill>
          <a:ln w="12700">
            <a:solidFill>
              <a:srgbClr val="D1D9E6"/>
            </a:solidFill>
            <a:prstDash val="solid"/>
          </a:ln>
        </p:spPr>
        <p:txBody>
          <a:bodyPr/>
          <a:lstStyle/>
          <a:p>
            <a:endParaRPr lang="ko-KR" altLang="en-US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50" name="Shape 48"/>
          <p:cNvSpPr/>
          <p:nvPr/>
        </p:nvSpPr>
        <p:spPr>
          <a:xfrm>
            <a:off x="431800" y="2134154"/>
            <a:ext cx="64008" cy="371179"/>
          </a:xfrm>
          <a:prstGeom prst="rect">
            <a:avLst/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  <p:txBody>
          <a:bodyPr/>
          <a:lstStyle/>
          <a:p>
            <a:endParaRPr lang="ko-KR" altLang="en-US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51" name="Text 49"/>
          <p:cNvSpPr/>
          <p:nvPr/>
        </p:nvSpPr>
        <p:spPr>
          <a:xfrm>
            <a:off x="596392" y="2134154"/>
            <a:ext cx="2825496" cy="37117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16A34A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✔  처리완료  2,468건 (58.7%)  —  </a:t>
            </a:r>
            <a:r>
              <a:rPr lang="en-US" sz="900" b="1" dirty="0" err="1">
                <a:solidFill>
                  <a:srgbClr val="16A34A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최종확인</a:t>
            </a:r>
            <a:r>
              <a:rPr lang="en-US" sz="900" b="1" dirty="0">
                <a:solidFill>
                  <a:srgbClr val="16A34A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 </a:t>
            </a:r>
            <a:r>
              <a:rPr lang="en-US" sz="900" b="1" dirty="0" err="1">
                <a:solidFill>
                  <a:srgbClr val="16A34A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완료</a:t>
            </a:r>
            <a:endParaRPr lang="en-US" sz="900" b="1" dirty="0">
              <a:solidFill>
                <a:srgbClr val="16A34A"/>
              </a:solidFill>
              <a:latin typeface="Rix고딕 L" panose="02020603020101020101" pitchFamily="18" charset="-127"/>
              <a:ea typeface="Rix고딕 L" panose="02020603020101020101" pitchFamily="18" charset="-127"/>
            </a:endParaRPr>
          </a:p>
          <a:p>
            <a:r>
              <a:rPr lang="en-US" altLang="ko-KR" sz="800" b="1" dirty="0">
                <a:solidFill>
                  <a:srgbClr val="16A34A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                       </a:t>
            </a:r>
            <a:r>
              <a:rPr lang="en-US" altLang="ko-KR" sz="900" b="1" dirty="0">
                <a:solidFill>
                  <a:srgbClr val="16A34A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1,297건 (30.9%)  —  </a:t>
            </a:r>
            <a:r>
              <a:rPr lang="en-US" altLang="ko-KR" sz="900" b="1" dirty="0" err="1">
                <a:solidFill>
                  <a:srgbClr val="16A34A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최종</a:t>
            </a:r>
            <a:r>
              <a:rPr lang="ko-KR" altLang="en-US" sz="900" b="1" dirty="0">
                <a:solidFill>
                  <a:srgbClr val="16A34A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확인 대기</a:t>
            </a:r>
            <a:endParaRPr lang="en-US" altLang="ko-KR" sz="900" b="1" dirty="0">
              <a:solidFill>
                <a:srgbClr val="16A34A"/>
              </a:solidFill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52" name="Shape 50"/>
          <p:cNvSpPr/>
          <p:nvPr/>
        </p:nvSpPr>
        <p:spPr>
          <a:xfrm>
            <a:off x="3217025" y="2230166"/>
            <a:ext cx="9144" cy="164592"/>
          </a:xfrm>
          <a:prstGeom prst="rect">
            <a:avLst/>
          </a:prstGeom>
          <a:solidFill>
            <a:srgbClr val="D1D9E6"/>
          </a:solidFill>
          <a:ln w="12700">
            <a:solidFill>
              <a:srgbClr val="D1D9E6"/>
            </a:solidFill>
            <a:prstDash val="solid"/>
          </a:ln>
        </p:spPr>
        <p:txBody>
          <a:bodyPr/>
          <a:lstStyle/>
          <a:p>
            <a:endParaRPr lang="ko-KR" altLang="en-US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53" name="Text 51"/>
          <p:cNvSpPr/>
          <p:nvPr/>
        </p:nvSpPr>
        <p:spPr>
          <a:xfrm>
            <a:off x="3477306" y="2217281"/>
            <a:ext cx="511897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E85D2F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⚠  미결 </a:t>
            </a:r>
            <a:r>
              <a:rPr lang="en-US" sz="900" b="1" dirty="0" err="1">
                <a:solidFill>
                  <a:srgbClr val="E85D2F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합계</a:t>
            </a:r>
            <a:r>
              <a:rPr lang="en-US" sz="900" b="1" dirty="0">
                <a:solidFill>
                  <a:srgbClr val="E85D2F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  438건 (10.4%)  =   </a:t>
            </a:r>
            <a:r>
              <a:rPr lang="en-US" sz="900" b="1" dirty="0" err="1">
                <a:solidFill>
                  <a:srgbClr val="E85D2F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결함검토요청</a:t>
            </a:r>
            <a:r>
              <a:rPr lang="en-US" sz="900" b="1" dirty="0">
                <a:solidFill>
                  <a:srgbClr val="E85D2F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(277) + 확인요청(79) + 조치요청(73) + 재조치요청(9)</a:t>
            </a:r>
            <a:endParaRPr lang="en-US" sz="900" dirty="0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54" name="Shape 52"/>
          <p:cNvSpPr/>
          <p:nvPr/>
        </p:nvSpPr>
        <p:spPr>
          <a:xfrm>
            <a:off x="431800" y="2716127"/>
            <a:ext cx="8242042" cy="256032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  <p:txBody>
          <a:bodyPr/>
          <a:lstStyle/>
          <a:p>
            <a:endParaRPr lang="ko-KR" altLang="en-US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55" name="Text 53"/>
          <p:cNvSpPr/>
          <p:nvPr/>
        </p:nvSpPr>
        <p:spPr>
          <a:xfrm>
            <a:off x="568960" y="2716127"/>
            <a:ext cx="7406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 err="1">
                <a:solidFill>
                  <a:srgbClr val="FFFFFF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결함기각</a:t>
            </a:r>
            <a:r>
              <a:rPr lang="en-US" sz="950" b="1" dirty="0">
                <a:solidFill>
                  <a:srgbClr val="FFFFFF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 현황 별도 집계  (총 445건 — 원인 분석 대상 제외)</a:t>
            </a:r>
            <a:endParaRPr lang="en-US" sz="950" dirty="0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56" name="Shape 54"/>
          <p:cNvSpPr/>
          <p:nvPr/>
        </p:nvSpPr>
        <p:spPr>
          <a:xfrm>
            <a:off x="439085" y="3087901"/>
            <a:ext cx="1890866" cy="252000"/>
          </a:xfrm>
          <a:prstGeom prst="rect">
            <a:avLst/>
          </a:prstGeom>
          <a:solidFill>
            <a:srgbClr val="F4F7FB"/>
          </a:solidFill>
          <a:ln w="12700">
            <a:solidFill>
              <a:srgbClr val="D1D9E6"/>
            </a:solidFill>
            <a:prstDash val="solid"/>
          </a:ln>
        </p:spPr>
        <p:txBody>
          <a:bodyPr/>
          <a:lstStyle/>
          <a:p>
            <a:endParaRPr lang="ko-KR" altLang="en-US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57" name="Shape 55"/>
          <p:cNvSpPr/>
          <p:nvPr/>
        </p:nvSpPr>
        <p:spPr>
          <a:xfrm>
            <a:off x="439085" y="3087901"/>
            <a:ext cx="54864" cy="252000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  <p:txBody>
          <a:bodyPr/>
          <a:lstStyle/>
          <a:p>
            <a:endParaRPr lang="ko-KR" altLang="en-US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58" name="Text 56"/>
          <p:cNvSpPr/>
          <p:nvPr/>
        </p:nvSpPr>
        <p:spPr>
          <a:xfrm>
            <a:off x="548813" y="3087901"/>
            <a:ext cx="667072" cy="252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20" dirty="0">
                <a:solidFill>
                  <a:srgbClr val="1B3A6B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공항운영(GO)</a:t>
            </a:r>
            <a:endParaRPr lang="en-US" sz="820" dirty="0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59" name="Shape 57"/>
          <p:cNvSpPr/>
          <p:nvPr/>
        </p:nvSpPr>
        <p:spPr>
          <a:xfrm>
            <a:off x="1292245" y="3167428"/>
            <a:ext cx="621792" cy="91440"/>
          </a:xfrm>
          <a:prstGeom prst="rect">
            <a:avLst/>
          </a:prstGeom>
          <a:solidFill>
            <a:srgbClr val="D1D9E6"/>
          </a:solidFill>
          <a:ln w="12700">
            <a:solidFill>
              <a:srgbClr val="D1D9E6"/>
            </a:solidFill>
            <a:prstDash val="solid"/>
          </a:ln>
        </p:spPr>
        <p:txBody>
          <a:bodyPr/>
          <a:lstStyle/>
          <a:p>
            <a:endParaRPr lang="ko-KR" altLang="en-US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60" name="Shape 58"/>
          <p:cNvSpPr/>
          <p:nvPr/>
        </p:nvSpPr>
        <p:spPr>
          <a:xfrm>
            <a:off x="1292245" y="3167428"/>
            <a:ext cx="621792" cy="91440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  <p:txBody>
          <a:bodyPr/>
          <a:lstStyle/>
          <a:p>
            <a:endParaRPr lang="ko-KR" altLang="en-US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61" name="Text 59"/>
          <p:cNvSpPr/>
          <p:nvPr/>
        </p:nvSpPr>
        <p:spPr>
          <a:xfrm>
            <a:off x="1945903" y="3039412"/>
            <a:ext cx="3840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DC2626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57건</a:t>
            </a:r>
            <a:endParaRPr lang="en-US" sz="800" dirty="0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62" name="Shape 60"/>
          <p:cNvSpPr/>
          <p:nvPr/>
        </p:nvSpPr>
        <p:spPr>
          <a:xfrm>
            <a:off x="2413083" y="3087901"/>
            <a:ext cx="2100434" cy="252000"/>
          </a:xfrm>
          <a:prstGeom prst="rect">
            <a:avLst/>
          </a:prstGeom>
          <a:solidFill>
            <a:srgbClr val="F4F7FB"/>
          </a:solidFill>
          <a:ln w="12700">
            <a:solidFill>
              <a:srgbClr val="D1D9E6"/>
            </a:solidFill>
            <a:prstDash val="solid"/>
          </a:ln>
        </p:spPr>
        <p:txBody>
          <a:bodyPr/>
          <a:lstStyle/>
          <a:p>
            <a:endParaRPr lang="ko-KR" altLang="en-US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63" name="Shape 61"/>
          <p:cNvSpPr/>
          <p:nvPr/>
        </p:nvSpPr>
        <p:spPr>
          <a:xfrm>
            <a:off x="2413083" y="3087901"/>
            <a:ext cx="54864" cy="252000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  <p:txBody>
          <a:bodyPr/>
          <a:lstStyle/>
          <a:p>
            <a:endParaRPr lang="ko-KR" altLang="en-US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64" name="Text 62"/>
          <p:cNvSpPr/>
          <p:nvPr/>
        </p:nvSpPr>
        <p:spPr>
          <a:xfrm>
            <a:off x="2522811" y="3087901"/>
            <a:ext cx="992820" cy="252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20" dirty="0">
                <a:solidFill>
                  <a:srgbClr val="1B3A6B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운항계획(FP)</a:t>
            </a:r>
            <a:endParaRPr lang="en-US" sz="820" dirty="0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65" name="Shape 63"/>
          <p:cNvSpPr/>
          <p:nvPr/>
        </p:nvSpPr>
        <p:spPr>
          <a:xfrm>
            <a:off x="3515631" y="3174355"/>
            <a:ext cx="621792" cy="91440"/>
          </a:xfrm>
          <a:prstGeom prst="rect">
            <a:avLst/>
          </a:prstGeom>
          <a:solidFill>
            <a:srgbClr val="D1D9E6"/>
          </a:solidFill>
          <a:ln w="12700">
            <a:solidFill>
              <a:srgbClr val="D1D9E6"/>
            </a:solidFill>
            <a:prstDash val="solid"/>
          </a:ln>
        </p:spPr>
        <p:txBody>
          <a:bodyPr/>
          <a:lstStyle/>
          <a:p>
            <a:endParaRPr lang="ko-KR" altLang="en-US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66" name="Shape 64"/>
          <p:cNvSpPr/>
          <p:nvPr/>
        </p:nvSpPr>
        <p:spPr>
          <a:xfrm>
            <a:off x="3515631" y="3174355"/>
            <a:ext cx="545432" cy="91440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  <p:txBody>
          <a:bodyPr/>
          <a:lstStyle/>
          <a:p>
            <a:endParaRPr lang="ko-KR" altLang="en-US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67" name="Text 65"/>
          <p:cNvSpPr/>
          <p:nvPr/>
        </p:nvSpPr>
        <p:spPr>
          <a:xfrm>
            <a:off x="4176214" y="3046339"/>
            <a:ext cx="3840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DC2626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50건</a:t>
            </a:r>
            <a:endParaRPr lang="en-US" sz="800" dirty="0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68" name="Shape 66"/>
          <p:cNvSpPr/>
          <p:nvPr/>
        </p:nvSpPr>
        <p:spPr>
          <a:xfrm>
            <a:off x="4608749" y="3087901"/>
            <a:ext cx="2113072" cy="252000"/>
          </a:xfrm>
          <a:prstGeom prst="rect">
            <a:avLst/>
          </a:prstGeom>
          <a:solidFill>
            <a:srgbClr val="F4F7FB"/>
          </a:solidFill>
          <a:ln w="12700">
            <a:solidFill>
              <a:srgbClr val="D1D9E6"/>
            </a:solidFill>
            <a:prstDash val="solid"/>
          </a:ln>
        </p:spPr>
        <p:txBody>
          <a:bodyPr/>
          <a:lstStyle/>
          <a:p>
            <a:endParaRPr lang="ko-KR" altLang="en-US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69" name="Shape 67"/>
          <p:cNvSpPr/>
          <p:nvPr/>
        </p:nvSpPr>
        <p:spPr>
          <a:xfrm>
            <a:off x="4608749" y="3087901"/>
            <a:ext cx="54864" cy="252000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  <p:txBody>
          <a:bodyPr/>
          <a:lstStyle/>
          <a:p>
            <a:endParaRPr lang="ko-KR" altLang="en-US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70" name="Text 68"/>
          <p:cNvSpPr/>
          <p:nvPr/>
        </p:nvSpPr>
        <p:spPr>
          <a:xfrm>
            <a:off x="4718477" y="3087901"/>
            <a:ext cx="911566" cy="252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20" dirty="0">
                <a:solidFill>
                  <a:srgbClr val="1B3A6B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공통관리(FIMS-CA)</a:t>
            </a:r>
            <a:endParaRPr lang="en-US" sz="820" dirty="0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71" name="Shape 69"/>
          <p:cNvSpPr/>
          <p:nvPr/>
        </p:nvSpPr>
        <p:spPr>
          <a:xfrm>
            <a:off x="5711293" y="3181282"/>
            <a:ext cx="621792" cy="91440"/>
          </a:xfrm>
          <a:prstGeom prst="rect">
            <a:avLst/>
          </a:prstGeom>
          <a:solidFill>
            <a:srgbClr val="D1D9E6"/>
          </a:solidFill>
          <a:ln w="12700">
            <a:solidFill>
              <a:srgbClr val="D1D9E6"/>
            </a:solidFill>
            <a:prstDash val="solid"/>
          </a:ln>
        </p:spPr>
        <p:txBody>
          <a:bodyPr/>
          <a:lstStyle/>
          <a:p>
            <a:endParaRPr lang="ko-KR" altLang="en-US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72" name="Shape 70"/>
          <p:cNvSpPr/>
          <p:nvPr/>
        </p:nvSpPr>
        <p:spPr>
          <a:xfrm>
            <a:off x="5711293" y="3181282"/>
            <a:ext cx="512706" cy="91440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  <p:txBody>
          <a:bodyPr/>
          <a:lstStyle/>
          <a:p>
            <a:endParaRPr lang="ko-KR" altLang="en-US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73" name="Text 71"/>
          <p:cNvSpPr/>
          <p:nvPr/>
        </p:nvSpPr>
        <p:spPr>
          <a:xfrm>
            <a:off x="6378805" y="3039412"/>
            <a:ext cx="3840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DC2626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47건</a:t>
            </a:r>
            <a:endParaRPr lang="en-US" sz="800" dirty="0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74" name="Shape 72"/>
          <p:cNvSpPr/>
          <p:nvPr/>
        </p:nvSpPr>
        <p:spPr>
          <a:xfrm>
            <a:off x="6882105" y="3074323"/>
            <a:ext cx="1793610" cy="234977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ko-KR" altLang="en-US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75" name="Text 73"/>
          <p:cNvSpPr/>
          <p:nvPr/>
        </p:nvSpPr>
        <p:spPr>
          <a:xfrm>
            <a:off x="6991833" y="3060469"/>
            <a:ext cx="552948" cy="252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FFFFFF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TOP 3</a:t>
            </a:r>
            <a:endParaRPr lang="en-US" sz="850" dirty="0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76" name="Text 74"/>
          <p:cNvSpPr/>
          <p:nvPr/>
        </p:nvSpPr>
        <p:spPr>
          <a:xfrm>
            <a:off x="7705065" y="3060469"/>
            <a:ext cx="781327" cy="252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FFFFFF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소계  154건</a:t>
            </a:r>
            <a:endParaRPr lang="en-US" sz="1000" dirty="0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77" name="Shape 75"/>
          <p:cNvSpPr/>
          <p:nvPr/>
        </p:nvSpPr>
        <p:spPr>
          <a:xfrm>
            <a:off x="439085" y="3411546"/>
            <a:ext cx="1890866" cy="252000"/>
          </a:xfrm>
          <a:prstGeom prst="rect">
            <a:avLst/>
          </a:prstGeom>
          <a:solidFill>
            <a:srgbClr val="F4F7FB"/>
          </a:solidFill>
          <a:ln w="12700">
            <a:solidFill>
              <a:srgbClr val="D1D9E6"/>
            </a:solidFill>
            <a:prstDash val="solid"/>
          </a:ln>
        </p:spPr>
        <p:txBody>
          <a:bodyPr/>
          <a:lstStyle/>
          <a:p>
            <a:endParaRPr lang="ko-KR" altLang="en-US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78" name="Shape 76"/>
          <p:cNvSpPr/>
          <p:nvPr/>
        </p:nvSpPr>
        <p:spPr>
          <a:xfrm>
            <a:off x="439085" y="3411546"/>
            <a:ext cx="54864" cy="252000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  <p:txBody>
          <a:bodyPr/>
          <a:lstStyle/>
          <a:p>
            <a:endParaRPr lang="ko-KR" altLang="en-US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79" name="Text 77"/>
          <p:cNvSpPr/>
          <p:nvPr/>
        </p:nvSpPr>
        <p:spPr>
          <a:xfrm>
            <a:off x="548813" y="3411546"/>
            <a:ext cx="667072" cy="252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20" dirty="0">
                <a:solidFill>
                  <a:srgbClr val="1B3A6B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모바일(MES)</a:t>
            </a:r>
            <a:endParaRPr lang="en-US" sz="820" dirty="0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80" name="Shape 78"/>
          <p:cNvSpPr/>
          <p:nvPr/>
        </p:nvSpPr>
        <p:spPr>
          <a:xfrm>
            <a:off x="1292245" y="3491073"/>
            <a:ext cx="621792" cy="91440"/>
          </a:xfrm>
          <a:prstGeom prst="rect">
            <a:avLst/>
          </a:prstGeom>
          <a:solidFill>
            <a:srgbClr val="D1D9E6"/>
          </a:solidFill>
          <a:ln w="12700">
            <a:solidFill>
              <a:srgbClr val="D1D9E6"/>
            </a:solidFill>
            <a:prstDash val="solid"/>
          </a:ln>
        </p:spPr>
        <p:txBody>
          <a:bodyPr/>
          <a:lstStyle/>
          <a:p>
            <a:endParaRPr lang="ko-KR" altLang="en-US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81" name="Shape 79"/>
          <p:cNvSpPr/>
          <p:nvPr/>
        </p:nvSpPr>
        <p:spPr>
          <a:xfrm>
            <a:off x="1292245" y="3491073"/>
            <a:ext cx="458163" cy="91440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  <p:txBody>
          <a:bodyPr/>
          <a:lstStyle/>
          <a:p>
            <a:endParaRPr lang="ko-KR" altLang="en-US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82" name="Text 80"/>
          <p:cNvSpPr/>
          <p:nvPr/>
        </p:nvSpPr>
        <p:spPr>
          <a:xfrm>
            <a:off x="1959757" y="3363057"/>
            <a:ext cx="3840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D97706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42건</a:t>
            </a:r>
            <a:endParaRPr lang="en-US" sz="800" dirty="0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83" name="Shape 81"/>
          <p:cNvSpPr/>
          <p:nvPr/>
        </p:nvSpPr>
        <p:spPr>
          <a:xfrm>
            <a:off x="2413083" y="3411546"/>
            <a:ext cx="2100434" cy="252000"/>
          </a:xfrm>
          <a:prstGeom prst="rect">
            <a:avLst/>
          </a:prstGeom>
          <a:solidFill>
            <a:srgbClr val="F4F7FB"/>
          </a:solidFill>
          <a:ln w="12700">
            <a:solidFill>
              <a:srgbClr val="D1D9E6"/>
            </a:solidFill>
            <a:prstDash val="solid"/>
          </a:ln>
        </p:spPr>
        <p:txBody>
          <a:bodyPr/>
          <a:lstStyle/>
          <a:p>
            <a:endParaRPr lang="ko-KR" altLang="en-US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84" name="Shape 82"/>
          <p:cNvSpPr/>
          <p:nvPr/>
        </p:nvSpPr>
        <p:spPr>
          <a:xfrm>
            <a:off x="2413083" y="3411546"/>
            <a:ext cx="54864" cy="252000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  <p:txBody>
          <a:bodyPr/>
          <a:lstStyle/>
          <a:p>
            <a:endParaRPr lang="ko-KR" altLang="en-US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85" name="Text 83"/>
          <p:cNvSpPr/>
          <p:nvPr/>
        </p:nvSpPr>
        <p:spPr>
          <a:xfrm>
            <a:off x="2522811" y="3411546"/>
            <a:ext cx="992820" cy="252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20" dirty="0">
                <a:solidFill>
                  <a:srgbClr val="1B3A6B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항공기관제(AC)</a:t>
            </a:r>
            <a:endParaRPr lang="en-US" sz="820" dirty="0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86" name="Shape 84"/>
          <p:cNvSpPr/>
          <p:nvPr/>
        </p:nvSpPr>
        <p:spPr>
          <a:xfrm>
            <a:off x="3515631" y="3498000"/>
            <a:ext cx="621792" cy="91440"/>
          </a:xfrm>
          <a:prstGeom prst="rect">
            <a:avLst/>
          </a:prstGeom>
          <a:solidFill>
            <a:srgbClr val="D1D9E6"/>
          </a:solidFill>
          <a:ln w="12700">
            <a:solidFill>
              <a:srgbClr val="D1D9E6"/>
            </a:solidFill>
            <a:prstDash val="solid"/>
          </a:ln>
        </p:spPr>
        <p:txBody>
          <a:bodyPr/>
          <a:lstStyle/>
          <a:p>
            <a:endParaRPr lang="ko-KR" altLang="en-US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87" name="Shape 85"/>
          <p:cNvSpPr/>
          <p:nvPr/>
        </p:nvSpPr>
        <p:spPr>
          <a:xfrm>
            <a:off x="3515631" y="3498000"/>
            <a:ext cx="436345" cy="91440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  <p:txBody>
          <a:bodyPr/>
          <a:lstStyle/>
          <a:p>
            <a:endParaRPr lang="ko-KR" altLang="en-US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88" name="Text 86"/>
          <p:cNvSpPr/>
          <p:nvPr/>
        </p:nvSpPr>
        <p:spPr>
          <a:xfrm>
            <a:off x="4176214" y="3369984"/>
            <a:ext cx="3840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D97706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40건</a:t>
            </a:r>
            <a:endParaRPr lang="en-US" sz="800" dirty="0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89" name="Shape 87"/>
          <p:cNvSpPr/>
          <p:nvPr/>
        </p:nvSpPr>
        <p:spPr>
          <a:xfrm>
            <a:off x="4608749" y="3411546"/>
            <a:ext cx="2113072" cy="252000"/>
          </a:xfrm>
          <a:prstGeom prst="rect">
            <a:avLst/>
          </a:prstGeom>
          <a:solidFill>
            <a:srgbClr val="F4F7FB"/>
          </a:solidFill>
          <a:ln w="12700">
            <a:solidFill>
              <a:srgbClr val="D1D9E6"/>
            </a:solidFill>
            <a:prstDash val="solid"/>
          </a:ln>
        </p:spPr>
        <p:txBody>
          <a:bodyPr/>
          <a:lstStyle/>
          <a:p>
            <a:endParaRPr lang="ko-KR" altLang="en-US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90" name="Shape 88"/>
          <p:cNvSpPr/>
          <p:nvPr/>
        </p:nvSpPr>
        <p:spPr>
          <a:xfrm>
            <a:off x="4608749" y="3411546"/>
            <a:ext cx="54864" cy="252000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  <p:txBody>
          <a:bodyPr/>
          <a:lstStyle/>
          <a:p>
            <a:endParaRPr lang="ko-KR" altLang="en-US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91" name="Text 89"/>
          <p:cNvSpPr/>
          <p:nvPr/>
        </p:nvSpPr>
        <p:spPr>
          <a:xfrm>
            <a:off x="4718477" y="3411546"/>
            <a:ext cx="911566" cy="252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20" dirty="0">
                <a:solidFill>
                  <a:srgbClr val="1B3A6B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예측관리(PM)</a:t>
            </a:r>
            <a:endParaRPr lang="en-US" sz="820" dirty="0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92" name="Shape 90"/>
          <p:cNvSpPr/>
          <p:nvPr/>
        </p:nvSpPr>
        <p:spPr>
          <a:xfrm>
            <a:off x="5711293" y="3504927"/>
            <a:ext cx="621792" cy="91440"/>
          </a:xfrm>
          <a:prstGeom prst="rect">
            <a:avLst/>
          </a:prstGeom>
          <a:solidFill>
            <a:srgbClr val="D1D9E6"/>
          </a:solidFill>
          <a:ln w="12700">
            <a:solidFill>
              <a:srgbClr val="D1D9E6"/>
            </a:solidFill>
            <a:prstDash val="solid"/>
          </a:ln>
        </p:spPr>
        <p:txBody>
          <a:bodyPr/>
          <a:lstStyle/>
          <a:p>
            <a:endParaRPr lang="ko-KR" altLang="en-US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93" name="Shape 91"/>
          <p:cNvSpPr/>
          <p:nvPr/>
        </p:nvSpPr>
        <p:spPr>
          <a:xfrm>
            <a:off x="5711293" y="3504927"/>
            <a:ext cx="414528" cy="91440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  <p:txBody>
          <a:bodyPr/>
          <a:lstStyle/>
          <a:p>
            <a:endParaRPr lang="ko-KR" altLang="en-US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94" name="Text 92"/>
          <p:cNvSpPr/>
          <p:nvPr/>
        </p:nvSpPr>
        <p:spPr>
          <a:xfrm>
            <a:off x="6378805" y="3390765"/>
            <a:ext cx="3840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D97706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38건</a:t>
            </a:r>
            <a:endParaRPr lang="en-US" sz="800" dirty="0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95" name="Shape 93"/>
          <p:cNvSpPr/>
          <p:nvPr/>
        </p:nvSpPr>
        <p:spPr>
          <a:xfrm>
            <a:off x="6882105" y="3411822"/>
            <a:ext cx="1793610" cy="234977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ko-KR" altLang="en-US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96" name="Text 94"/>
          <p:cNvSpPr/>
          <p:nvPr/>
        </p:nvSpPr>
        <p:spPr>
          <a:xfrm>
            <a:off x="6991833" y="3411822"/>
            <a:ext cx="552948" cy="252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FFFFFF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중 간</a:t>
            </a:r>
            <a:endParaRPr lang="en-US" sz="850" dirty="0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97" name="Text 95"/>
          <p:cNvSpPr/>
          <p:nvPr/>
        </p:nvSpPr>
        <p:spPr>
          <a:xfrm>
            <a:off x="7705065" y="3411822"/>
            <a:ext cx="781327" cy="252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FFFFFF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소계  120건</a:t>
            </a:r>
            <a:endParaRPr lang="en-US" sz="1000" dirty="0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98" name="Shape 96"/>
          <p:cNvSpPr/>
          <p:nvPr/>
        </p:nvSpPr>
        <p:spPr>
          <a:xfrm>
            <a:off x="439085" y="3742115"/>
            <a:ext cx="1890866" cy="252000"/>
          </a:xfrm>
          <a:prstGeom prst="rect">
            <a:avLst/>
          </a:prstGeom>
          <a:solidFill>
            <a:srgbClr val="F4F7FB"/>
          </a:solidFill>
          <a:ln w="12700">
            <a:solidFill>
              <a:srgbClr val="D1D9E6"/>
            </a:solidFill>
            <a:prstDash val="solid"/>
          </a:ln>
        </p:spPr>
        <p:txBody>
          <a:bodyPr/>
          <a:lstStyle/>
          <a:p>
            <a:endParaRPr lang="ko-KR" altLang="en-US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99" name="Shape 97"/>
          <p:cNvSpPr/>
          <p:nvPr/>
        </p:nvSpPr>
        <p:spPr>
          <a:xfrm>
            <a:off x="439085" y="3742115"/>
            <a:ext cx="54864" cy="252000"/>
          </a:xfrm>
          <a:prstGeom prst="rect">
            <a:avLst/>
          </a:prstGeom>
          <a:solidFill>
            <a:srgbClr val="3B82C4"/>
          </a:solidFill>
          <a:ln w="12700">
            <a:solidFill>
              <a:srgbClr val="3B82C4"/>
            </a:solidFill>
            <a:prstDash val="solid"/>
          </a:ln>
        </p:spPr>
        <p:txBody>
          <a:bodyPr/>
          <a:lstStyle/>
          <a:p>
            <a:endParaRPr lang="ko-KR" altLang="en-US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100" name="Text 98"/>
          <p:cNvSpPr/>
          <p:nvPr/>
        </p:nvSpPr>
        <p:spPr>
          <a:xfrm>
            <a:off x="548813" y="3742115"/>
            <a:ext cx="667072" cy="252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20" dirty="0">
                <a:solidFill>
                  <a:srgbClr val="1B3A6B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모바일(WES)</a:t>
            </a:r>
            <a:endParaRPr lang="en-US" sz="820" dirty="0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101" name="Shape 99"/>
          <p:cNvSpPr/>
          <p:nvPr/>
        </p:nvSpPr>
        <p:spPr>
          <a:xfrm>
            <a:off x="1292245" y="3821642"/>
            <a:ext cx="621792" cy="91440"/>
          </a:xfrm>
          <a:prstGeom prst="rect">
            <a:avLst/>
          </a:prstGeom>
          <a:solidFill>
            <a:srgbClr val="D1D9E6"/>
          </a:solidFill>
          <a:ln w="12700">
            <a:solidFill>
              <a:srgbClr val="D1D9E6"/>
            </a:solidFill>
            <a:prstDash val="solid"/>
          </a:ln>
        </p:spPr>
        <p:txBody>
          <a:bodyPr/>
          <a:lstStyle/>
          <a:p>
            <a:endParaRPr lang="ko-KR" altLang="en-US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102" name="Shape 100"/>
          <p:cNvSpPr/>
          <p:nvPr/>
        </p:nvSpPr>
        <p:spPr>
          <a:xfrm>
            <a:off x="1292245" y="3821642"/>
            <a:ext cx="381802" cy="91440"/>
          </a:xfrm>
          <a:prstGeom prst="rect">
            <a:avLst/>
          </a:prstGeom>
          <a:solidFill>
            <a:srgbClr val="3B82C4"/>
          </a:solidFill>
          <a:ln w="12700">
            <a:solidFill>
              <a:srgbClr val="3B82C4"/>
            </a:solidFill>
            <a:prstDash val="solid"/>
          </a:ln>
        </p:spPr>
        <p:txBody>
          <a:bodyPr/>
          <a:lstStyle/>
          <a:p>
            <a:endParaRPr lang="ko-KR" altLang="en-US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103" name="Text 101"/>
          <p:cNvSpPr/>
          <p:nvPr/>
        </p:nvSpPr>
        <p:spPr>
          <a:xfrm>
            <a:off x="1959757" y="3693626"/>
            <a:ext cx="3840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3B82C4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35건</a:t>
            </a:r>
            <a:endParaRPr lang="en-US" sz="800" dirty="0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104" name="Shape 102"/>
          <p:cNvSpPr/>
          <p:nvPr/>
        </p:nvSpPr>
        <p:spPr>
          <a:xfrm>
            <a:off x="2413083" y="3742115"/>
            <a:ext cx="2100434" cy="252000"/>
          </a:xfrm>
          <a:prstGeom prst="rect">
            <a:avLst/>
          </a:prstGeom>
          <a:solidFill>
            <a:srgbClr val="F4F7FB"/>
          </a:solidFill>
          <a:ln w="12700">
            <a:solidFill>
              <a:srgbClr val="D1D9E6"/>
            </a:solidFill>
            <a:prstDash val="solid"/>
          </a:ln>
        </p:spPr>
        <p:txBody>
          <a:bodyPr/>
          <a:lstStyle/>
          <a:p>
            <a:endParaRPr lang="ko-KR" altLang="en-US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105" name="Shape 103"/>
          <p:cNvSpPr/>
          <p:nvPr/>
        </p:nvSpPr>
        <p:spPr>
          <a:xfrm>
            <a:off x="2413083" y="3742115"/>
            <a:ext cx="54864" cy="252000"/>
          </a:xfrm>
          <a:prstGeom prst="rect">
            <a:avLst/>
          </a:prstGeom>
          <a:solidFill>
            <a:srgbClr val="3B82C4"/>
          </a:solidFill>
          <a:ln w="12700">
            <a:solidFill>
              <a:srgbClr val="3B82C4"/>
            </a:solidFill>
            <a:prstDash val="solid"/>
          </a:ln>
        </p:spPr>
        <p:txBody>
          <a:bodyPr/>
          <a:lstStyle/>
          <a:p>
            <a:endParaRPr lang="ko-KR" altLang="en-US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106" name="Text 104"/>
          <p:cNvSpPr/>
          <p:nvPr/>
        </p:nvSpPr>
        <p:spPr>
          <a:xfrm>
            <a:off x="2522811" y="3742115"/>
            <a:ext cx="992820" cy="252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20" dirty="0">
                <a:solidFill>
                  <a:srgbClr val="1B3A6B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공통관리(AOMS-CA)</a:t>
            </a:r>
            <a:endParaRPr lang="en-US" sz="820" dirty="0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107" name="Shape 105"/>
          <p:cNvSpPr/>
          <p:nvPr/>
        </p:nvSpPr>
        <p:spPr>
          <a:xfrm>
            <a:off x="3515631" y="3828569"/>
            <a:ext cx="621792" cy="91440"/>
          </a:xfrm>
          <a:prstGeom prst="rect">
            <a:avLst/>
          </a:prstGeom>
          <a:solidFill>
            <a:srgbClr val="D1D9E6"/>
          </a:solidFill>
          <a:ln w="12700">
            <a:solidFill>
              <a:srgbClr val="D1D9E6"/>
            </a:solidFill>
            <a:prstDash val="solid"/>
          </a:ln>
        </p:spPr>
        <p:txBody>
          <a:bodyPr/>
          <a:lstStyle/>
          <a:p>
            <a:endParaRPr lang="ko-KR" altLang="en-US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108" name="Shape 106"/>
          <p:cNvSpPr/>
          <p:nvPr/>
        </p:nvSpPr>
        <p:spPr>
          <a:xfrm>
            <a:off x="3515631" y="3828569"/>
            <a:ext cx="370893" cy="91440"/>
          </a:xfrm>
          <a:prstGeom prst="rect">
            <a:avLst/>
          </a:prstGeom>
          <a:solidFill>
            <a:srgbClr val="3B82C4"/>
          </a:solidFill>
          <a:ln w="12700">
            <a:solidFill>
              <a:srgbClr val="3B82C4"/>
            </a:solidFill>
            <a:prstDash val="solid"/>
          </a:ln>
        </p:spPr>
        <p:txBody>
          <a:bodyPr/>
          <a:lstStyle/>
          <a:p>
            <a:endParaRPr lang="ko-KR" altLang="en-US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109" name="Text 107"/>
          <p:cNvSpPr/>
          <p:nvPr/>
        </p:nvSpPr>
        <p:spPr>
          <a:xfrm>
            <a:off x="4176214" y="3700553"/>
            <a:ext cx="3840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3B82C4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34건</a:t>
            </a:r>
            <a:endParaRPr lang="en-US" sz="800" dirty="0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110" name="Shape 108"/>
          <p:cNvSpPr/>
          <p:nvPr/>
        </p:nvSpPr>
        <p:spPr>
          <a:xfrm>
            <a:off x="4608749" y="3742115"/>
            <a:ext cx="2113072" cy="252000"/>
          </a:xfrm>
          <a:prstGeom prst="rect">
            <a:avLst/>
          </a:prstGeom>
          <a:solidFill>
            <a:srgbClr val="F4F7FB"/>
          </a:solidFill>
          <a:ln w="12700">
            <a:solidFill>
              <a:srgbClr val="D1D9E6"/>
            </a:solidFill>
            <a:prstDash val="solid"/>
          </a:ln>
        </p:spPr>
        <p:txBody>
          <a:bodyPr/>
          <a:lstStyle/>
          <a:p>
            <a:endParaRPr lang="ko-KR" altLang="en-US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111" name="Shape 109"/>
          <p:cNvSpPr/>
          <p:nvPr/>
        </p:nvSpPr>
        <p:spPr>
          <a:xfrm>
            <a:off x="4608749" y="3742115"/>
            <a:ext cx="54864" cy="252000"/>
          </a:xfrm>
          <a:prstGeom prst="rect">
            <a:avLst/>
          </a:prstGeom>
          <a:solidFill>
            <a:srgbClr val="3B82C4"/>
          </a:solidFill>
          <a:ln w="12700">
            <a:solidFill>
              <a:srgbClr val="3B82C4"/>
            </a:solidFill>
            <a:prstDash val="solid"/>
          </a:ln>
        </p:spPr>
        <p:txBody>
          <a:bodyPr/>
          <a:lstStyle/>
          <a:p>
            <a:endParaRPr lang="ko-KR" altLang="en-US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112" name="Text 110"/>
          <p:cNvSpPr/>
          <p:nvPr/>
        </p:nvSpPr>
        <p:spPr>
          <a:xfrm>
            <a:off x="4718477" y="3742115"/>
            <a:ext cx="911566" cy="252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20" dirty="0">
                <a:solidFill>
                  <a:srgbClr val="1B3A6B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자원배정(RS)</a:t>
            </a:r>
            <a:endParaRPr lang="en-US" sz="820" dirty="0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113" name="Shape 111"/>
          <p:cNvSpPr/>
          <p:nvPr/>
        </p:nvSpPr>
        <p:spPr>
          <a:xfrm>
            <a:off x="5711293" y="3835496"/>
            <a:ext cx="621792" cy="91440"/>
          </a:xfrm>
          <a:prstGeom prst="rect">
            <a:avLst/>
          </a:prstGeom>
          <a:solidFill>
            <a:srgbClr val="D1D9E6"/>
          </a:solidFill>
          <a:ln w="12700">
            <a:solidFill>
              <a:srgbClr val="D1D9E6"/>
            </a:solidFill>
            <a:prstDash val="solid"/>
          </a:ln>
        </p:spPr>
        <p:txBody>
          <a:bodyPr/>
          <a:lstStyle/>
          <a:p>
            <a:endParaRPr lang="ko-KR" altLang="en-US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114" name="Shape 112"/>
          <p:cNvSpPr/>
          <p:nvPr/>
        </p:nvSpPr>
        <p:spPr>
          <a:xfrm>
            <a:off x="5711293" y="3835496"/>
            <a:ext cx="359985" cy="91440"/>
          </a:xfrm>
          <a:prstGeom prst="rect">
            <a:avLst/>
          </a:prstGeom>
          <a:solidFill>
            <a:srgbClr val="3B82C4"/>
          </a:solidFill>
          <a:ln w="12700">
            <a:solidFill>
              <a:srgbClr val="3B82C4"/>
            </a:solidFill>
            <a:prstDash val="solid"/>
          </a:ln>
        </p:spPr>
        <p:txBody>
          <a:bodyPr/>
          <a:lstStyle/>
          <a:p>
            <a:endParaRPr lang="ko-KR" altLang="en-US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115" name="Text 113"/>
          <p:cNvSpPr/>
          <p:nvPr/>
        </p:nvSpPr>
        <p:spPr>
          <a:xfrm>
            <a:off x="6378805" y="3721334"/>
            <a:ext cx="3840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3B82C4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33건</a:t>
            </a:r>
            <a:endParaRPr lang="en-US" sz="800" dirty="0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116" name="Shape 114"/>
          <p:cNvSpPr/>
          <p:nvPr/>
        </p:nvSpPr>
        <p:spPr>
          <a:xfrm>
            <a:off x="6882105" y="3749318"/>
            <a:ext cx="1793610" cy="234977"/>
          </a:xfrm>
          <a:prstGeom prst="rect">
            <a:avLst/>
          </a:prstGeom>
          <a:solidFill>
            <a:srgbClr val="3B82C4"/>
          </a:solidFill>
          <a:ln w="12700">
            <a:solidFill>
              <a:srgbClr val="3B82C4"/>
            </a:solidFill>
            <a:prstDash val="solid"/>
          </a:ln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ko-KR" altLang="en-US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117" name="Text 115"/>
          <p:cNvSpPr/>
          <p:nvPr/>
        </p:nvSpPr>
        <p:spPr>
          <a:xfrm>
            <a:off x="6991833" y="3749318"/>
            <a:ext cx="552948" cy="252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FFFFFF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하 위</a:t>
            </a:r>
            <a:endParaRPr lang="en-US" sz="850" dirty="0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118" name="Text 116"/>
          <p:cNvSpPr/>
          <p:nvPr/>
        </p:nvSpPr>
        <p:spPr>
          <a:xfrm>
            <a:off x="7705065" y="3749318"/>
            <a:ext cx="781327" cy="252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FFFFFF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소계  102건</a:t>
            </a:r>
            <a:endParaRPr lang="en-US" sz="1000" dirty="0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121" name="Text 119"/>
          <p:cNvSpPr/>
          <p:nvPr/>
        </p:nvSpPr>
        <p:spPr>
          <a:xfrm>
            <a:off x="548813" y="4072688"/>
            <a:ext cx="667072" cy="252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20" dirty="0">
                <a:solidFill>
                  <a:srgbClr val="1B3A6B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A-CDM(CM)</a:t>
            </a:r>
            <a:endParaRPr lang="en-US" sz="820" dirty="0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120" name="Shape 118"/>
          <p:cNvSpPr/>
          <p:nvPr/>
        </p:nvSpPr>
        <p:spPr>
          <a:xfrm>
            <a:off x="439085" y="4072688"/>
            <a:ext cx="54864" cy="252000"/>
          </a:xfrm>
          <a:prstGeom prst="rect">
            <a:avLst/>
          </a:prstGeom>
          <a:solidFill>
            <a:srgbClr val="3B82C4"/>
          </a:solidFill>
          <a:ln w="12700">
            <a:solidFill>
              <a:srgbClr val="3B82C4"/>
            </a:solidFill>
            <a:prstDash val="solid"/>
          </a:ln>
        </p:spPr>
        <p:txBody>
          <a:bodyPr/>
          <a:lstStyle/>
          <a:p>
            <a:endParaRPr lang="ko-KR" altLang="en-US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122" name="Shape 120"/>
          <p:cNvSpPr/>
          <p:nvPr/>
        </p:nvSpPr>
        <p:spPr>
          <a:xfrm>
            <a:off x="1292245" y="4152215"/>
            <a:ext cx="621792" cy="91440"/>
          </a:xfrm>
          <a:prstGeom prst="rect">
            <a:avLst/>
          </a:prstGeom>
          <a:solidFill>
            <a:srgbClr val="D1D9E6"/>
          </a:solidFill>
          <a:ln w="12700">
            <a:solidFill>
              <a:srgbClr val="D1D9E6"/>
            </a:solidFill>
            <a:prstDash val="solid"/>
          </a:ln>
        </p:spPr>
        <p:txBody>
          <a:bodyPr/>
          <a:lstStyle/>
          <a:p>
            <a:endParaRPr lang="ko-KR" altLang="en-US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123" name="Shape 121"/>
          <p:cNvSpPr/>
          <p:nvPr/>
        </p:nvSpPr>
        <p:spPr>
          <a:xfrm>
            <a:off x="1292245" y="4152215"/>
            <a:ext cx="239990" cy="91440"/>
          </a:xfrm>
          <a:prstGeom prst="rect">
            <a:avLst/>
          </a:prstGeom>
          <a:solidFill>
            <a:srgbClr val="3B82C4"/>
          </a:solidFill>
          <a:ln w="12700">
            <a:solidFill>
              <a:srgbClr val="3B82C4"/>
            </a:solidFill>
            <a:prstDash val="solid"/>
          </a:ln>
        </p:spPr>
        <p:txBody>
          <a:bodyPr/>
          <a:lstStyle/>
          <a:p>
            <a:endParaRPr lang="ko-KR" altLang="en-US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124" name="Text 122"/>
          <p:cNvSpPr/>
          <p:nvPr/>
        </p:nvSpPr>
        <p:spPr>
          <a:xfrm>
            <a:off x="1959757" y="4024199"/>
            <a:ext cx="3840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3B82C4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22건</a:t>
            </a:r>
            <a:endParaRPr lang="en-US" sz="800" dirty="0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125" name="Shape 123"/>
          <p:cNvSpPr/>
          <p:nvPr/>
        </p:nvSpPr>
        <p:spPr>
          <a:xfrm>
            <a:off x="2413083" y="4072688"/>
            <a:ext cx="2100434" cy="252000"/>
          </a:xfrm>
          <a:prstGeom prst="rect">
            <a:avLst/>
          </a:prstGeom>
          <a:solidFill>
            <a:srgbClr val="F4F7FB"/>
          </a:solidFill>
          <a:ln w="12700">
            <a:solidFill>
              <a:srgbClr val="D1D9E6"/>
            </a:solidFill>
            <a:prstDash val="solid"/>
          </a:ln>
        </p:spPr>
        <p:txBody>
          <a:bodyPr/>
          <a:lstStyle/>
          <a:p>
            <a:endParaRPr lang="ko-KR" altLang="en-US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126" name="Shape 124"/>
          <p:cNvSpPr/>
          <p:nvPr/>
        </p:nvSpPr>
        <p:spPr>
          <a:xfrm>
            <a:off x="2413083" y="4072688"/>
            <a:ext cx="54864" cy="252000"/>
          </a:xfrm>
          <a:prstGeom prst="rect">
            <a:avLst/>
          </a:prstGeom>
          <a:solidFill>
            <a:srgbClr val="3B82C4"/>
          </a:solidFill>
          <a:ln w="12700">
            <a:solidFill>
              <a:srgbClr val="3B82C4"/>
            </a:solidFill>
            <a:prstDash val="solid"/>
          </a:ln>
        </p:spPr>
        <p:txBody>
          <a:bodyPr/>
          <a:lstStyle/>
          <a:p>
            <a:endParaRPr lang="ko-KR" altLang="en-US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127" name="Text 125"/>
          <p:cNvSpPr/>
          <p:nvPr/>
        </p:nvSpPr>
        <p:spPr>
          <a:xfrm>
            <a:off x="2522811" y="4072688"/>
            <a:ext cx="992820" cy="252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20" dirty="0">
                <a:solidFill>
                  <a:srgbClr val="1B3A6B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기타(6개 모듈)</a:t>
            </a:r>
            <a:endParaRPr lang="en-US" sz="820" dirty="0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128" name="Shape 126"/>
          <p:cNvSpPr/>
          <p:nvPr/>
        </p:nvSpPr>
        <p:spPr>
          <a:xfrm>
            <a:off x="3515631" y="4159142"/>
            <a:ext cx="621792" cy="91440"/>
          </a:xfrm>
          <a:prstGeom prst="rect">
            <a:avLst/>
          </a:prstGeom>
          <a:solidFill>
            <a:srgbClr val="D1D9E6"/>
          </a:solidFill>
          <a:ln w="12700">
            <a:solidFill>
              <a:srgbClr val="D1D9E6"/>
            </a:solidFill>
            <a:prstDash val="solid"/>
          </a:ln>
        </p:spPr>
        <p:txBody>
          <a:bodyPr/>
          <a:lstStyle/>
          <a:p>
            <a:endParaRPr lang="ko-KR" altLang="en-US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129" name="Shape 127"/>
          <p:cNvSpPr/>
          <p:nvPr/>
        </p:nvSpPr>
        <p:spPr>
          <a:xfrm>
            <a:off x="3515631" y="4159142"/>
            <a:ext cx="392711" cy="91440"/>
          </a:xfrm>
          <a:prstGeom prst="rect">
            <a:avLst/>
          </a:prstGeom>
          <a:solidFill>
            <a:srgbClr val="3B82C4"/>
          </a:solidFill>
          <a:ln w="12700">
            <a:solidFill>
              <a:srgbClr val="3B82C4"/>
            </a:solidFill>
            <a:prstDash val="solid"/>
          </a:ln>
        </p:spPr>
        <p:txBody>
          <a:bodyPr/>
          <a:lstStyle/>
          <a:p>
            <a:endParaRPr lang="ko-KR" altLang="en-US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130" name="Text 128"/>
          <p:cNvSpPr/>
          <p:nvPr/>
        </p:nvSpPr>
        <p:spPr>
          <a:xfrm>
            <a:off x="4176214" y="4100397"/>
            <a:ext cx="384048" cy="22429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3B82C4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36건</a:t>
            </a:r>
            <a:endParaRPr lang="en-US" sz="800" dirty="0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131" name="Shape 129"/>
          <p:cNvSpPr/>
          <p:nvPr/>
        </p:nvSpPr>
        <p:spPr>
          <a:xfrm>
            <a:off x="4608749" y="4072688"/>
            <a:ext cx="2113072" cy="252000"/>
          </a:xfrm>
          <a:prstGeom prst="rect">
            <a:avLst/>
          </a:prstGeom>
          <a:solidFill>
            <a:srgbClr val="F4F7FB"/>
          </a:solidFill>
          <a:ln w="12700">
            <a:solidFill>
              <a:srgbClr val="D1D9E6"/>
            </a:solidFill>
            <a:prstDash val="solid"/>
          </a:ln>
        </p:spPr>
        <p:txBody>
          <a:bodyPr/>
          <a:lstStyle/>
          <a:p>
            <a:endParaRPr lang="ko-KR" altLang="en-US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132" name="Text 130"/>
          <p:cNvSpPr/>
          <p:nvPr/>
        </p:nvSpPr>
        <p:spPr>
          <a:xfrm>
            <a:off x="4718477" y="4072688"/>
            <a:ext cx="1494370" cy="252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9CA3AF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기타 소계  58건</a:t>
            </a:r>
            <a:endParaRPr lang="en-US" sz="900" dirty="0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133" name="Shape 131"/>
          <p:cNvSpPr/>
          <p:nvPr/>
        </p:nvSpPr>
        <p:spPr>
          <a:xfrm>
            <a:off x="6882105" y="4072688"/>
            <a:ext cx="1793610" cy="234977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ko-KR" altLang="en-US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134" name="Text 132"/>
          <p:cNvSpPr/>
          <p:nvPr/>
        </p:nvSpPr>
        <p:spPr>
          <a:xfrm>
            <a:off x="6979154" y="4072688"/>
            <a:ext cx="631941" cy="252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FFFFFF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총 합계</a:t>
            </a:r>
            <a:endParaRPr lang="en-US" sz="900" dirty="0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135" name="Text 133"/>
          <p:cNvSpPr/>
          <p:nvPr/>
        </p:nvSpPr>
        <p:spPr>
          <a:xfrm>
            <a:off x="7783826" y="4072688"/>
            <a:ext cx="729238" cy="252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AABBD4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445건</a:t>
            </a:r>
            <a:endParaRPr lang="en-US" sz="1200" dirty="0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136" name="Shape 134"/>
          <p:cNvSpPr/>
          <p:nvPr/>
        </p:nvSpPr>
        <p:spPr>
          <a:xfrm>
            <a:off x="439085" y="4429421"/>
            <a:ext cx="8242042" cy="371179"/>
          </a:xfrm>
          <a:prstGeom prst="rect">
            <a:avLst/>
          </a:prstGeom>
          <a:solidFill>
            <a:srgbClr val="FFF7ED"/>
          </a:solidFill>
          <a:ln w="6350">
            <a:solidFill>
              <a:srgbClr val="FDBA74"/>
            </a:solidFill>
            <a:prstDash val="solid"/>
          </a:ln>
        </p:spPr>
        <p:txBody>
          <a:bodyPr/>
          <a:lstStyle/>
          <a:p>
            <a:endParaRPr lang="ko-KR" altLang="en-US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138" name="Shape 136"/>
          <p:cNvSpPr/>
          <p:nvPr/>
        </p:nvSpPr>
        <p:spPr>
          <a:xfrm>
            <a:off x="613757" y="4598879"/>
            <a:ext cx="146304" cy="146304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  <p:txBody>
          <a:bodyPr/>
          <a:lstStyle/>
          <a:p>
            <a:endParaRPr lang="ko-KR" altLang="en-US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139" name="Text 137"/>
          <p:cNvSpPr/>
          <p:nvPr/>
        </p:nvSpPr>
        <p:spPr>
          <a:xfrm>
            <a:off x="805781" y="4562303"/>
            <a:ext cx="91173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4B5563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TOP 3 (57~47건)</a:t>
            </a:r>
            <a:endParaRPr lang="en-US" sz="850" dirty="0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140" name="Shape 138"/>
          <p:cNvSpPr/>
          <p:nvPr/>
        </p:nvSpPr>
        <p:spPr>
          <a:xfrm>
            <a:off x="2112825" y="4598879"/>
            <a:ext cx="146304" cy="146304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  <p:txBody>
          <a:bodyPr/>
          <a:lstStyle/>
          <a:p>
            <a:endParaRPr lang="ko-KR" altLang="en-US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141" name="Text 139"/>
          <p:cNvSpPr/>
          <p:nvPr/>
        </p:nvSpPr>
        <p:spPr>
          <a:xfrm>
            <a:off x="2304849" y="4562303"/>
            <a:ext cx="91173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4B5563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중간 (42~35건)</a:t>
            </a:r>
            <a:endParaRPr lang="en-US" sz="850" dirty="0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142" name="Shape 140"/>
          <p:cNvSpPr/>
          <p:nvPr/>
        </p:nvSpPr>
        <p:spPr>
          <a:xfrm>
            <a:off x="3591108" y="4598879"/>
            <a:ext cx="146304" cy="146304"/>
          </a:xfrm>
          <a:prstGeom prst="rect">
            <a:avLst/>
          </a:prstGeom>
          <a:solidFill>
            <a:srgbClr val="3B82C4"/>
          </a:solidFill>
          <a:ln w="12700">
            <a:solidFill>
              <a:srgbClr val="3B82C4"/>
            </a:solidFill>
            <a:prstDash val="solid"/>
          </a:ln>
        </p:spPr>
        <p:txBody>
          <a:bodyPr/>
          <a:lstStyle/>
          <a:p>
            <a:endParaRPr lang="ko-KR" altLang="en-US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143" name="Text 141"/>
          <p:cNvSpPr/>
          <p:nvPr/>
        </p:nvSpPr>
        <p:spPr>
          <a:xfrm>
            <a:off x="3783132" y="4562303"/>
            <a:ext cx="91173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4B5563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하위 (34~22건)</a:t>
            </a:r>
            <a:endParaRPr lang="en-US" sz="850" dirty="0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144" name="Text 142"/>
          <p:cNvSpPr/>
          <p:nvPr/>
        </p:nvSpPr>
        <p:spPr>
          <a:xfrm>
            <a:off x="5255755" y="4429851"/>
            <a:ext cx="337257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80" dirty="0">
                <a:solidFill>
                  <a:srgbClr val="E85D2F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※ 결함기각 445건은 원인 분석 대상에서 </a:t>
            </a:r>
            <a:r>
              <a:rPr lang="en-US" sz="780" dirty="0" err="1">
                <a:solidFill>
                  <a:srgbClr val="E85D2F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제외</a:t>
            </a:r>
            <a:r>
              <a:rPr lang="en-US" sz="780" dirty="0">
                <a:solidFill>
                  <a:srgbClr val="E85D2F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 </a:t>
            </a:r>
          </a:p>
          <a:p>
            <a:pPr marL="0" indent="0">
              <a:buNone/>
            </a:pPr>
            <a:r>
              <a:rPr lang="en-US" sz="780" dirty="0">
                <a:solidFill>
                  <a:srgbClr val="E85D2F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      -  공항운영(GO) 57건으로 최다, 테스터 간 결함 인정 기준 불일치 가능성 존재</a:t>
            </a:r>
            <a:endParaRPr lang="en-US" sz="780" dirty="0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/>
          <p:cNvSpPr/>
          <p:nvPr/>
        </p:nvSpPr>
        <p:spPr>
          <a:xfrm>
            <a:off x="320040" y="0"/>
            <a:ext cx="7498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2000" b="1" dirty="0">
                <a:solidFill>
                  <a:srgbClr val="002060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업무모듈별 · 차수별 테스트 대상 건수 </a:t>
            </a:r>
            <a:r>
              <a:rPr lang="en-US" sz="2000" b="1" dirty="0" err="1">
                <a:solidFill>
                  <a:srgbClr val="002060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대비</a:t>
            </a:r>
            <a:r>
              <a:rPr lang="en-US" sz="2000" b="1" dirty="0">
                <a:solidFill>
                  <a:srgbClr val="002060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 </a:t>
            </a:r>
            <a:r>
              <a:rPr lang="en-US" sz="2000" b="1" dirty="0" err="1">
                <a:solidFill>
                  <a:srgbClr val="002060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결함</a:t>
            </a:r>
            <a:r>
              <a:rPr lang="en-US" altLang="ko-KR" sz="2000" b="1" dirty="0">
                <a:solidFill>
                  <a:srgbClr val="1B3A6B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  </a:t>
            </a:r>
            <a:r>
              <a:rPr lang="en-US" sz="2000" b="1" dirty="0" err="1">
                <a:solidFill>
                  <a:srgbClr val="002060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현황</a:t>
            </a:r>
            <a:endParaRPr lang="en-US" sz="2000" dirty="0">
              <a:solidFill>
                <a:srgbClr val="002060"/>
              </a:solidFill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5" name="Shape 3"/>
          <p:cNvSpPr/>
          <p:nvPr/>
        </p:nvSpPr>
        <p:spPr>
          <a:xfrm>
            <a:off x="433646" y="765879"/>
            <a:ext cx="8242042" cy="292608"/>
          </a:xfrm>
          <a:prstGeom prst="rect">
            <a:avLst/>
          </a:prstGeom>
          <a:solidFill>
            <a:srgbClr val="F4F7FB"/>
          </a:solidFill>
          <a:ln w="12700">
            <a:solidFill>
              <a:srgbClr val="D1D9E6"/>
            </a:solidFill>
            <a:prstDash val="solid"/>
          </a:ln>
        </p:spPr>
        <p:txBody>
          <a:bodyPr/>
          <a:lstStyle/>
          <a:p>
            <a:endParaRPr lang="ko-KR" altLang="en-US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6" name="Shape 4"/>
          <p:cNvSpPr/>
          <p:nvPr/>
        </p:nvSpPr>
        <p:spPr>
          <a:xfrm>
            <a:off x="433647" y="765879"/>
            <a:ext cx="64008" cy="292608"/>
          </a:xfrm>
          <a:prstGeom prst="rect">
            <a:avLst/>
          </a:prstGeom>
          <a:solidFill>
            <a:srgbClr val="E85D2F"/>
          </a:solidFill>
          <a:ln w="12700">
            <a:solidFill>
              <a:srgbClr val="E85D2F"/>
            </a:solidFill>
            <a:prstDash val="solid"/>
          </a:ln>
        </p:spPr>
        <p:txBody>
          <a:bodyPr/>
          <a:lstStyle/>
          <a:p>
            <a:endParaRPr lang="ko-KR" altLang="en-US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7" name="Text 5"/>
          <p:cNvSpPr/>
          <p:nvPr/>
        </p:nvSpPr>
        <p:spPr>
          <a:xfrm>
            <a:off x="591312" y="758952"/>
            <a:ext cx="8321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1B3A6B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공항운영(GO) 562건 최다 · 자원배정엔진(RE) 기각율 94.1% 이상 수준 — 개발 완성도 점검 필요 · 전체 시나리오 2,613건 / 분석대상 결함 4,203건</a:t>
            </a:r>
            <a:endParaRPr lang="en-US" sz="950" dirty="0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graphicFrame>
        <p:nvGraphicFramePr>
          <p:cNvPr id="8" name="Chart 0"/>
          <p:cNvGraphicFramePr/>
          <p:nvPr>
            <p:extLst>
              <p:ext uri="{D42A27DB-BD31-4B8C-83A1-F6EECF244321}">
                <p14:modId xmlns:p14="http://schemas.microsoft.com/office/powerpoint/2010/main" val="981269169"/>
              </p:ext>
            </p:extLst>
          </p:nvPr>
        </p:nvGraphicFramePr>
        <p:xfrm>
          <a:off x="431800" y="1115569"/>
          <a:ext cx="4963160" cy="3342131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53769314"/>
              </p:ext>
            </p:extLst>
          </p:nvPr>
        </p:nvGraphicFramePr>
        <p:xfrm>
          <a:off x="5457826" y="1115568"/>
          <a:ext cx="3217863" cy="3580264"/>
        </p:xfrm>
        <a:graphic>
          <a:graphicData uri="http://schemas.openxmlformats.org/drawingml/2006/table">
            <a:tbl>
              <a:tblPr/>
              <a:tblGrid>
                <a:gridCol w="118876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2573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21481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521494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560389">
                  <a:extLst>
                    <a:ext uri="{9D8B030D-6E8A-4147-A177-3AD203B41FA5}">
                      <a16:colId xmlns:a16="http://schemas.microsoft.com/office/drawing/2014/main" val="846590810"/>
                    </a:ext>
                  </a:extLst>
                </a:gridCol>
              </a:tblGrid>
              <a:tr h="190874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Rix고딕 L" panose="02020603020101020101" pitchFamily="18" charset="-127"/>
                          <a:ea typeface="Rix고딕 L" panose="02020603020101020101" pitchFamily="18" charset="-127"/>
                          <a:cs typeface="Calibri" pitchFamily="34" charset="-120"/>
                        </a:rPr>
                        <a:t>업무 모듈</a:t>
                      </a:r>
                      <a:endParaRPr lang="en-US" sz="800" dirty="0">
                        <a:latin typeface="Rix고딕 L" panose="02020603020101020101" pitchFamily="18" charset="-127"/>
                        <a:ea typeface="Rix고딕 L" panose="02020603020101020101" pitchFamily="18" charset="-127"/>
                        <a:cs typeface="Calibri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Rix고딕 L" panose="02020603020101020101" pitchFamily="18" charset="-127"/>
                          <a:ea typeface="Rix고딕 L" panose="02020603020101020101" pitchFamily="18" charset="-127"/>
                          <a:cs typeface="Calibri" pitchFamily="34" charset="-120"/>
                        </a:rPr>
                        <a:t>시나리오</a:t>
                      </a:r>
                      <a:endParaRPr lang="en-US" sz="800" dirty="0">
                        <a:latin typeface="Rix고딕 L" panose="02020603020101020101" pitchFamily="18" charset="-127"/>
                        <a:ea typeface="Rix고딕 L" panose="02020603020101020101" pitchFamily="18" charset="-127"/>
                        <a:cs typeface="Calibri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Rix고딕 L" panose="02020603020101020101" pitchFamily="18" charset="-127"/>
                          <a:ea typeface="Rix고딕 L" panose="02020603020101020101" pitchFamily="18" charset="-127"/>
                          <a:cs typeface="Calibri" pitchFamily="34" charset="-120"/>
                        </a:rPr>
                        <a:t>기각</a:t>
                      </a:r>
                      <a:endParaRPr lang="en-US" sz="800" dirty="0">
                        <a:latin typeface="Rix고딕 L" panose="02020603020101020101" pitchFamily="18" charset="-127"/>
                        <a:ea typeface="Rix고딕 L" panose="02020603020101020101" pitchFamily="18" charset="-127"/>
                        <a:cs typeface="Calibri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ko-KR" altLang="en-US" sz="800" b="1" dirty="0" err="1">
                          <a:solidFill>
                            <a:srgbClr val="FFFFFF"/>
                          </a:solidFill>
                          <a:latin typeface="Rix고딕 L" panose="02020603020101020101" pitchFamily="18" charset="-127"/>
                          <a:ea typeface="Rix고딕 L" panose="02020603020101020101" pitchFamily="18" charset="-127"/>
                          <a:cs typeface="Calibri" pitchFamily="34" charset="-120"/>
                        </a:rPr>
                        <a:t>결함수</a:t>
                      </a:r>
                      <a:endParaRPr lang="en-US" sz="800" dirty="0">
                        <a:latin typeface="Rix고딕 L" panose="02020603020101020101" pitchFamily="18" charset="-127"/>
                        <a:ea typeface="Rix고딕 L" panose="02020603020101020101" pitchFamily="18" charset="-127"/>
                        <a:cs typeface="Calibri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ko-KR" altLang="en-US" sz="800" b="1" dirty="0" err="1">
                          <a:solidFill>
                            <a:srgbClr val="FFFFFF"/>
                          </a:solidFill>
                          <a:latin typeface="Rix고딕 L" panose="02020603020101020101" pitchFamily="18" charset="-127"/>
                          <a:ea typeface="Rix고딕 L" panose="02020603020101020101" pitchFamily="18" charset="-127"/>
                          <a:cs typeface="Calibri" pitchFamily="34" charset="-120"/>
                        </a:rPr>
                        <a:t>결함율</a:t>
                      </a:r>
                      <a:endParaRPr lang="en-US" sz="800" dirty="0">
                        <a:latin typeface="Rix고딕 L" panose="02020603020101020101" pitchFamily="18" charset="-127"/>
                        <a:ea typeface="Rix고딕 L" panose="02020603020101020101" pitchFamily="18" charset="-127"/>
                        <a:cs typeface="Calibri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8814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780" dirty="0">
                          <a:solidFill>
                            <a:srgbClr val="1B3A6B"/>
                          </a:solidFill>
                          <a:latin typeface="Rix고딕 L" panose="02020603020101020101" pitchFamily="18" charset="-127"/>
                          <a:ea typeface="Rix고딕 L" panose="02020603020101020101" pitchFamily="18" charset="-127"/>
                          <a:cs typeface="Calibri" pitchFamily="34" charset="-120"/>
                        </a:rPr>
                        <a:t>공항운영(GO)</a:t>
                      </a:r>
                      <a:endParaRPr lang="en-US" sz="780" dirty="0">
                        <a:latin typeface="Rix고딕 L" panose="02020603020101020101" pitchFamily="18" charset="-127"/>
                        <a:ea typeface="Rix고딕 L" panose="02020603020101020101" pitchFamily="18" charset="-127"/>
                        <a:cs typeface="Calibri" charset="0"/>
                      </a:endParaRPr>
                    </a:p>
                  </a:txBody>
                  <a:tcPr marL="72000" marR="0" marT="0" marB="0" anchor="ctr">
                    <a:lnL w="635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80" dirty="0">
                          <a:solidFill>
                            <a:srgbClr val="4B5563"/>
                          </a:solidFill>
                          <a:latin typeface="Rix고딕 L" panose="02020603020101020101" pitchFamily="18" charset="-127"/>
                          <a:ea typeface="Rix고딕 L" panose="02020603020101020101" pitchFamily="18" charset="-127"/>
                          <a:cs typeface="Calibri" pitchFamily="34" charset="-120"/>
                        </a:rPr>
                        <a:t>346</a:t>
                      </a:r>
                      <a:endParaRPr lang="en-US" sz="780" dirty="0">
                        <a:latin typeface="Rix고딕 L" panose="02020603020101020101" pitchFamily="18" charset="-127"/>
                        <a:ea typeface="Rix고딕 L" panose="02020603020101020101" pitchFamily="18" charset="-127"/>
                        <a:cs typeface="Calibri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80" dirty="0">
                          <a:solidFill>
                            <a:srgbClr val="DC2626"/>
                          </a:solidFill>
                          <a:latin typeface="Rix고딕 L" panose="02020603020101020101" pitchFamily="18" charset="-127"/>
                          <a:ea typeface="Rix고딕 L" panose="02020603020101020101" pitchFamily="18" charset="-127"/>
                          <a:cs typeface="Calibri" pitchFamily="34" charset="-120"/>
                        </a:rPr>
                        <a:t>57</a:t>
                      </a:r>
                      <a:endParaRPr lang="en-US" sz="780" dirty="0">
                        <a:latin typeface="Rix고딕 L" panose="02020603020101020101" pitchFamily="18" charset="-127"/>
                        <a:ea typeface="Rix고딕 L" panose="02020603020101020101" pitchFamily="18" charset="-127"/>
                        <a:cs typeface="Calibri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80" b="1" dirty="0">
                          <a:solidFill>
                            <a:srgbClr val="DC2626"/>
                          </a:solidFill>
                          <a:latin typeface="Rix고딕 L" panose="02020603020101020101" pitchFamily="18" charset="-127"/>
                          <a:ea typeface="Rix고딕 L" panose="02020603020101020101" pitchFamily="18" charset="-127"/>
                          <a:cs typeface="Calibri" pitchFamily="34" charset="-120"/>
                        </a:rPr>
                        <a:t>562</a:t>
                      </a:r>
                      <a:endParaRPr lang="en-US" sz="780" dirty="0">
                        <a:latin typeface="Rix고딕 L" panose="02020603020101020101" pitchFamily="18" charset="-127"/>
                        <a:ea typeface="Rix고딕 L" panose="02020603020101020101" pitchFamily="18" charset="-127"/>
                        <a:cs typeface="Calibri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altLang="ko-KR" sz="800" b="1" i="0" u="none" strike="noStrike" dirty="0">
                          <a:solidFill>
                            <a:srgbClr val="E85D2F"/>
                          </a:solidFill>
                          <a:effectLst/>
                          <a:latin typeface="Rix고딕 L" panose="02020603020101020101" pitchFamily="18" charset="-127"/>
                          <a:ea typeface="Rix고딕 L" panose="02020603020101020101" pitchFamily="18" charset="-127"/>
                        </a:rPr>
                        <a:t>162.4%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8814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780" dirty="0">
                          <a:solidFill>
                            <a:srgbClr val="1B3A6B"/>
                          </a:solidFill>
                          <a:latin typeface="Rix고딕 L" panose="02020603020101020101" pitchFamily="18" charset="-127"/>
                          <a:ea typeface="Rix고딕 L" panose="02020603020101020101" pitchFamily="18" charset="-127"/>
                          <a:cs typeface="Calibri" pitchFamily="34" charset="-120"/>
                        </a:rPr>
                        <a:t>항공기관제(AC)</a:t>
                      </a:r>
                      <a:endParaRPr lang="en-US" sz="780" dirty="0">
                        <a:latin typeface="Rix고딕 L" panose="02020603020101020101" pitchFamily="18" charset="-127"/>
                        <a:ea typeface="Rix고딕 L" panose="02020603020101020101" pitchFamily="18" charset="-127"/>
                        <a:cs typeface="Calibri" charset="0"/>
                      </a:endParaRPr>
                    </a:p>
                  </a:txBody>
                  <a:tcPr marL="72000" marR="0" marT="0" marB="0" anchor="ctr">
                    <a:lnL w="635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80" dirty="0">
                          <a:solidFill>
                            <a:srgbClr val="4B5563"/>
                          </a:solidFill>
                          <a:latin typeface="Rix고딕 L" panose="02020603020101020101" pitchFamily="18" charset="-127"/>
                          <a:ea typeface="Rix고딕 L" panose="02020603020101020101" pitchFamily="18" charset="-127"/>
                          <a:cs typeface="Calibri" pitchFamily="34" charset="-120"/>
                        </a:rPr>
                        <a:t>125</a:t>
                      </a:r>
                      <a:endParaRPr lang="en-US" sz="780" dirty="0">
                        <a:latin typeface="Rix고딕 L" panose="02020603020101020101" pitchFamily="18" charset="-127"/>
                        <a:ea typeface="Rix고딕 L" panose="02020603020101020101" pitchFamily="18" charset="-127"/>
                        <a:cs typeface="Calibri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80" dirty="0">
                          <a:solidFill>
                            <a:srgbClr val="9CA3AF"/>
                          </a:solidFill>
                          <a:latin typeface="Rix고딕 L" panose="02020603020101020101" pitchFamily="18" charset="-127"/>
                          <a:ea typeface="Rix고딕 L" panose="02020603020101020101" pitchFamily="18" charset="-127"/>
                          <a:cs typeface="Calibri" pitchFamily="34" charset="-120"/>
                        </a:rPr>
                        <a:t>40</a:t>
                      </a:r>
                      <a:endParaRPr lang="en-US" sz="780" dirty="0">
                        <a:latin typeface="Rix고딕 L" panose="02020603020101020101" pitchFamily="18" charset="-127"/>
                        <a:ea typeface="Rix고딕 L" panose="02020603020101020101" pitchFamily="18" charset="-127"/>
                        <a:cs typeface="Calibri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80" b="1" dirty="0">
                          <a:solidFill>
                            <a:srgbClr val="E85D2F"/>
                          </a:solidFill>
                          <a:latin typeface="Rix고딕 L" panose="02020603020101020101" pitchFamily="18" charset="-127"/>
                          <a:ea typeface="Rix고딕 L" panose="02020603020101020101" pitchFamily="18" charset="-127"/>
                          <a:cs typeface="Calibri" pitchFamily="34" charset="-120"/>
                        </a:rPr>
                        <a:t>320</a:t>
                      </a:r>
                      <a:endParaRPr lang="en-US" sz="780" dirty="0">
                        <a:latin typeface="Rix고딕 L" panose="02020603020101020101" pitchFamily="18" charset="-127"/>
                        <a:ea typeface="Rix고딕 L" panose="02020603020101020101" pitchFamily="18" charset="-127"/>
                        <a:cs typeface="Calibri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altLang="ko-KR" sz="800" b="1" i="0" u="none" strike="noStrike" dirty="0">
                          <a:solidFill>
                            <a:srgbClr val="FF0000"/>
                          </a:solidFill>
                          <a:effectLst/>
                          <a:latin typeface="Rix고딕 L" panose="02020603020101020101" pitchFamily="18" charset="-127"/>
                          <a:ea typeface="Rix고딕 L" panose="02020603020101020101" pitchFamily="18" charset="-127"/>
                        </a:rPr>
                        <a:t>256.0%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8814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780" dirty="0">
                          <a:solidFill>
                            <a:srgbClr val="1B3A6B"/>
                          </a:solidFill>
                          <a:latin typeface="Rix고딕 L" panose="02020603020101020101" pitchFamily="18" charset="-127"/>
                          <a:ea typeface="Rix고딕 L" panose="02020603020101020101" pitchFamily="18" charset="-127"/>
                          <a:cs typeface="Calibri" pitchFamily="34" charset="-120"/>
                        </a:rPr>
                        <a:t>공통관리(FIMS-CA)</a:t>
                      </a:r>
                      <a:endParaRPr lang="en-US" sz="780" dirty="0">
                        <a:latin typeface="Rix고딕 L" panose="02020603020101020101" pitchFamily="18" charset="-127"/>
                        <a:ea typeface="Rix고딕 L" panose="02020603020101020101" pitchFamily="18" charset="-127"/>
                        <a:cs typeface="Calibri" charset="0"/>
                      </a:endParaRPr>
                    </a:p>
                  </a:txBody>
                  <a:tcPr marL="72000" marR="0" marT="0" marB="0" anchor="ctr">
                    <a:lnL w="635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80" dirty="0">
                          <a:solidFill>
                            <a:srgbClr val="4B5563"/>
                          </a:solidFill>
                          <a:latin typeface="Rix고딕 L" panose="02020603020101020101" pitchFamily="18" charset="-127"/>
                          <a:ea typeface="Rix고딕 L" panose="02020603020101020101" pitchFamily="18" charset="-127"/>
                          <a:cs typeface="Calibri" pitchFamily="34" charset="-120"/>
                        </a:rPr>
                        <a:t>159</a:t>
                      </a:r>
                      <a:endParaRPr lang="en-US" sz="780" dirty="0">
                        <a:latin typeface="Rix고딕 L" panose="02020603020101020101" pitchFamily="18" charset="-127"/>
                        <a:ea typeface="Rix고딕 L" panose="02020603020101020101" pitchFamily="18" charset="-127"/>
                        <a:cs typeface="Calibri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80" dirty="0">
                          <a:solidFill>
                            <a:srgbClr val="9CA3AF"/>
                          </a:solidFill>
                          <a:latin typeface="Rix고딕 L" panose="02020603020101020101" pitchFamily="18" charset="-127"/>
                          <a:ea typeface="Rix고딕 L" panose="02020603020101020101" pitchFamily="18" charset="-127"/>
                          <a:cs typeface="Calibri" pitchFamily="34" charset="-120"/>
                        </a:rPr>
                        <a:t>47</a:t>
                      </a:r>
                      <a:endParaRPr lang="en-US" sz="780" dirty="0">
                        <a:latin typeface="Rix고딕 L" panose="02020603020101020101" pitchFamily="18" charset="-127"/>
                        <a:ea typeface="Rix고딕 L" panose="02020603020101020101" pitchFamily="18" charset="-127"/>
                        <a:cs typeface="Calibri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80" b="1" dirty="0">
                          <a:solidFill>
                            <a:srgbClr val="E85D2F"/>
                          </a:solidFill>
                          <a:latin typeface="Rix고딕 L" panose="02020603020101020101" pitchFamily="18" charset="-127"/>
                          <a:ea typeface="Rix고딕 L" panose="02020603020101020101" pitchFamily="18" charset="-127"/>
                          <a:cs typeface="Calibri" pitchFamily="34" charset="-120"/>
                        </a:rPr>
                        <a:t>294</a:t>
                      </a:r>
                      <a:endParaRPr lang="en-US" sz="780" dirty="0">
                        <a:latin typeface="Rix고딕 L" panose="02020603020101020101" pitchFamily="18" charset="-127"/>
                        <a:ea typeface="Rix고딕 L" panose="02020603020101020101" pitchFamily="18" charset="-127"/>
                        <a:cs typeface="Calibri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altLang="ko-KR" sz="800" b="1" i="0" u="none" strike="noStrike" dirty="0">
                          <a:solidFill>
                            <a:srgbClr val="E85D2F"/>
                          </a:solidFill>
                          <a:effectLst/>
                          <a:latin typeface="Rix고딕 L" panose="02020603020101020101" pitchFamily="18" charset="-127"/>
                          <a:ea typeface="Rix고딕 L" panose="02020603020101020101" pitchFamily="18" charset="-127"/>
                        </a:rPr>
                        <a:t>184.9%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8814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780" dirty="0">
                          <a:solidFill>
                            <a:srgbClr val="1B3A6B"/>
                          </a:solidFill>
                          <a:latin typeface="Rix고딕 L" panose="02020603020101020101" pitchFamily="18" charset="-127"/>
                          <a:ea typeface="Rix고딕 L" panose="02020603020101020101" pitchFamily="18" charset="-127"/>
                          <a:cs typeface="Calibri" pitchFamily="34" charset="-120"/>
                        </a:rPr>
                        <a:t>모바일(WES)</a:t>
                      </a:r>
                      <a:endParaRPr lang="en-US" sz="780" dirty="0">
                        <a:latin typeface="Rix고딕 L" panose="02020603020101020101" pitchFamily="18" charset="-127"/>
                        <a:ea typeface="Rix고딕 L" panose="02020603020101020101" pitchFamily="18" charset="-127"/>
                        <a:cs typeface="Calibri" charset="0"/>
                      </a:endParaRPr>
                    </a:p>
                  </a:txBody>
                  <a:tcPr marL="72000" marR="0" marT="0" marB="0" anchor="ctr">
                    <a:lnL w="635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80" dirty="0">
                          <a:solidFill>
                            <a:srgbClr val="4B5563"/>
                          </a:solidFill>
                          <a:latin typeface="Rix고딕 L" panose="02020603020101020101" pitchFamily="18" charset="-127"/>
                          <a:ea typeface="Rix고딕 L" panose="02020603020101020101" pitchFamily="18" charset="-127"/>
                          <a:cs typeface="Calibri" pitchFamily="34" charset="-120"/>
                        </a:rPr>
                        <a:t>263</a:t>
                      </a:r>
                      <a:endParaRPr lang="en-US" sz="780" dirty="0">
                        <a:latin typeface="Rix고딕 L" panose="02020603020101020101" pitchFamily="18" charset="-127"/>
                        <a:ea typeface="Rix고딕 L" panose="02020603020101020101" pitchFamily="18" charset="-127"/>
                        <a:cs typeface="Calibri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80" dirty="0">
                          <a:solidFill>
                            <a:srgbClr val="9CA3AF"/>
                          </a:solidFill>
                          <a:latin typeface="Rix고딕 L" panose="02020603020101020101" pitchFamily="18" charset="-127"/>
                          <a:ea typeface="Rix고딕 L" panose="02020603020101020101" pitchFamily="18" charset="-127"/>
                          <a:cs typeface="Calibri" pitchFamily="34" charset="-120"/>
                        </a:rPr>
                        <a:t>35</a:t>
                      </a:r>
                      <a:endParaRPr lang="en-US" sz="780" dirty="0">
                        <a:latin typeface="Rix고딕 L" panose="02020603020101020101" pitchFamily="18" charset="-127"/>
                        <a:ea typeface="Rix고딕 L" panose="02020603020101020101" pitchFamily="18" charset="-127"/>
                        <a:cs typeface="Calibri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80" b="1" dirty="0">
                          <a:solidFill>
                            <a:srgbClr val="2563A8"/>
                          </a:solidFill>
                          <a:latin typeface="Rix고딕 L" panose="02020603020101020101" pitchFamily="18" charset="-127"/>
                          <a:ea typeface="Rix고딕 L" panose="02020603020101020101" pitchFamily="18" charset="-127"/>
                          <a:cs typeface="Calibri" pitchFamily="34" charset="-120"/>
                        </a:rPr>
                        <a:t>277</a:t>
                      </a:r>
                      <a:endParaRPr lang="en-US" sz="780" dirty="0">
                        <a:latin typeface="Rix고딕 L" panose="02020603020101020101" pitchFamily="18" charset="-127"/>
                        <a:ea typeface="Rix고딕 L" panose="02020603020101020101" pitchFamily="18" charset="-127"/>
                        <a:cs typeface="Calibri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altLang="ko-KR" sz="800" b="1" i="0" u="none" strike="noStrike" dirty="0">
                          <a:solidFill>
                            <a:schemeClr val="bg2">
                              <a:lumMod val="50000"/>
                            </a:schemeClr>
                          </a:solidFill>
                          <a:effectLst/>
                          <a:latin typeface="Rix고딕 L" panose="02020603020101020101" pitchFamily="18" charset="-127"/>
                          <a:ea typeface="Rix고딕 L" panose="02020603020101020101" pitchFamily="18" charset="-127"/>
                        </a:rPr>
                        <a:t>105.3%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8814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780" dirty="0">
                          <a:solidFill>
                            <a:srgbClr val="1B3A6B"/>
                          </a:solidFill>
                          <a:latin typeface="Rix고딕 L" panose="02020603020101020101" pitchFamily="18" charset="-127"/>
                          <a:ea typeface="Rix고딕 L" panose="02020603020101020101" pitchFamily="18" charset="-127"/>
                          <a:cs typeface="Calibri" pitchFamily="34" charset="-120"/>
                        </a:rPr>
                        <a:t>운항계획(FP)</a:t>
                      </a:r>
                      <a:endParaRPr lang="en-US" sz="780" dirty="0">
                        <a:latin typeface="Rix고딕 L" panose="02020603020101020101" pitchFamily="18" charset="-127"/>
                        <a:ea typeface="Rix고딕 L" panose="02020603020101020101" pitchFamily="18" charset="-127"/>
                        <a:cs typeface="Calibri" charset="0"/>
                      </a:endParaRPr>
                    </a:p>
                  </a:txBody>
                  <a:tcPr marL="72000" marR="0" marT="0" marB="0" anchor="ctr">
                    <a:lnL w="635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80" dirty="0">
                          <a:solidFill>
                            <a:srgbClr val="4B5563"/>
                          </a:solidFill>
                          <a:latin typeface="Rix고딕 L" panose="02020603020101020101" pitchFamily="18" charset="-127"/>
                          <a:ea typeface="Rix고딕 L" panose="02020603020101020101" pitchFamily="18" charset="-127"/>
                          <a:cs typeface="Calibri" pitchFamily="34" charset="-120"/>
                        </a:rPr>
                        <a:t>310</a:t>
                      </a:r>
                      <a:endParaRPr lang="en-US" sz="780" dirty="0">
                        <a:latin typeface="Rix고딕 L" panose="02020603020101020101" pitchFamily="18" charset="-127"/>
                        <a:ea typeface="Rix고딕 L" panose="02020603020101020101" pitchFamily="18" charset="-127"/>
                        <a:cs typeface="Calibri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80" dirty="0">
                          <a:solidFill>
                            <a:srgbClr val="9CA3AF"/>
                          </a:solidFill>
                          <a:latin typeface="Rix고딕 L" panose="02020603020101020101" pitchFamily="18" charset="-127"/>
                          <a:ea typeface="Rix고딕 L" panose="02020603020101020101" pitchFamily="18" charset="-127"/>
                          <a:cs typeface="Calibri" pitchFamily="34" charset="-120"/>
                        </a:rPr>
                        <a:t>50</a:t>
                      </a:r>
                      <a:endParaRPr lang="en-US" sz="780" dirty="0">
                        <a:latin typeface="Rix고딕 L" panose="02020603020101020101" pitchFamily="18" charset="-127"/>
                        <a:ea typeface="Rix고딕 L" panose="02020603020101020101" pitchFamily="18" charset="-127"/>
                        <a:cs typeface="Calibri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80" b="1" dirty="0">
                          <a:solidFill>
                            <a:srgbClr val="2563A8"/>
                          </a:solidFill>
                          <a:latin typeface="Rix고딕 L" panose="02020603020101020101" pitchFamily="18" charset="-127"/>
                          <a:ea typeface="Rix고딕 L" panose="02020603020101020101" pitchFamily="18" charset="-127"/>
                          <a:cs typeface="Calibri" pitchFamily="34" charset="-120"/>
                        </a:rPr>
                        <a:t>269</a:t>
                      </a:r>
                      <a:endParaRPr lang="en-US" sz="780" dirty="0">
                        <a:latin typeface="Rix고딕 L" panose="02020603020101020101" pitchFamily="18" charset="-127"/>
                        <a:ea typeface="Rix고딕 L" panose="02020603020101020101" pitchFamily="18" charset="-127"/>
                        <a:cs typeface="Calibri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altLang="ko-KR" sz="800" b="1" i="0" u="none" strike="noStrike" dirty="0">
                          <a:solidFill>
                            <a:schemeClr val="bg2">
                              <a:lumMod val="50000"/>
                            </a:schemeClr>
                          </a:solidFill>
                          <a:effectLst/>
                          <a:latin typeface="Rix고딕 L" panose="02020603020101020101" pitchFamily="18" charset="-127"/>
                          <a:ea typeface="Rix고딕 L" panose="02020603020101020101" pitchFamily="18" charset="-127"/>
                        </a:rPr>
                        <a:t>86.8%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8814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780" dirty="0">
                          <a:solidFill>
                            <a:srgbClr val="1B3A6B"/>
                          </a:solidFill>
                          <a:latin typeface="Rix고딕 L" panose="02020603020101020101" pitchFamily="18" charset="-127"/>
                          <a:ea typeface="Rix고딕 L" panose="02020603020101020101" pitchFamily="18" charset="-127"/>
                          <a:cs typeface="Calibri" pitchFamily="34" charset="-120"/>
                        </a:rPr>
                        <a:t>자원배정(RS)</a:t>
                      </a:r>
                      <a:endParaRPr lang="en-US" sz="780" dirty="0">
                        <a:latin typeface="Rix고딕 L" panose="02020603020101020101" pitchFamily="18" charset="-127"/>
                        <a:ea typeface="Rix고딕 L" panose="02020603020101020101" pitchFamily="18" charset="-127"/>
                        <a:cs typeface="Calibri" charset="0"/>
                      </a:endParaRPr>
                    </a:p>
                  </a:txBody>
                  <a:tcPr marL="72000" marR="0" marT="0" marB="0" anchor="ctr">
                    <a:lnL w="635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80" dirty="0">
                          <a:solidFill>
                            <a:srgbClr val="4B5563"/>
                          </a:solidFill>
                          <a:latin typeface="Rix고딕 L" panose="02020603020101020101" pitchFamily="18" charset="-127"/>
                          <a:ea typeface="Rix고딕 L" panose="02020603020101020101" pitchFamily="18" charset="-127"/>
                          <a:cs typeface="Calibri" pitchFamily="34" charset="-120"/>
                        </a:rPr>
                        <a:t>196</a:t>
                      </a:r>
                      <a:endParaRPr lang="en-US" sz="780" dirty="0">
                        <a:latin typeface="Rix고딕 L" panose="02020603020101020101" pitchFamily="18" charset="-127"/>
                        <a:ea typeface="Rix고딕 L" panose="02020603020101020101" pitchFamily="18" charset="-127"/>
                        <a:cs typeface="Calibri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80" dirty="0">
                          <a:solidFill>
                            <a:srgbClr val="9CA3AF"/>
                          </a:solidFill>
                          <a:latin typeface="Rix고딕 L" panose="02020603020101020101" pitchFamily="18" charset="-127"/>
                          <a:ea typeface="Rix고딕 L" panose="02020603020101020101" pitchFamily="18" charset="-127"/>
                          <a:cs typeface="Calibri" pitchFamily="34" charset="-120"/>
                        </a:rPr>
                        <a:t>33</a:t>
                      </a:r>
                      <a:endParaRPr lang="en-US" sz="780" dirty="0">
                        <a:latin typeface="Rix고딕 L" panose="02020603020101020101" pitchFamily="18" charset="-127"/>
                        <a:ea typeface="Rix고딕 L" panose="02020603020101020101" pitchFamily="18" charset="-127"/>
                        <a:cs typeface="Calibri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80" b="1" dirty="0">
                          <a:solidFill>
                            <a:srgbClr val="2563A8"/>
                          </a:solidFill>
                          <a:latin typeface="Rix고딕 L" panose="02020603020101020101" pitchFamily="18" charset="-127"/>
                          <a:ea typeface="Rix고딕 L" panose="02020603020101020101" pitchFamily="18" charset="-127"/>
                          <a:cs typeface="Calibri" pitchFamily="34" charset="-120"/>
                        </a:rPr>
                        <a:t>292</a:t>
                      </a:r>
                      <a:endParaRPr lang="en-US" sz="780" dirty="0">
                        <a:latin typeface="Rix고딕 L" panose="02020603020101020101" pitchFamily="18" charset="-127"/>
                        <a:ea typeface="Rix고딕 L" panose="02020603020101020101" pitchFamily="18" charset="-127"/>
                        <a:cs typeface="Calibri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altLang="ko-KR" sz="800" b="1" i="0" u="none" strike="noStrike">
                          <a:solidFill>
                            <a:schemeClr val="bg2">
                              <a:lumMod val="50000"/>
                            </a:schemeClr>
                          </a:solidFill>
                          <a:effectLst/>
                          <a:latin typeface="Rix고딕 L" panose="02020603020101020101" pitchFamily="18" charset="-127"/>
                          <a:ea typeface="Rix고딕 L" panose="02020603020101020101" pitchFamily="18" charset="-127"/>
                        </a:rPr>
                        <a:t>149.0%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8814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780" dirty="0">
                          <a:solidFill>
                            <a:srgbClr val="1B3A6B"/>
                          </a:solidFill>
                          <a:latin typeface="Rix고딕 L" panose="02020603020101020101" pitchFamily="18" charset="-127"/>
                          <a:ea typeface="Rix고딕 L" panose="02020603020101020101" pitchFamily="18" charset="-127"/>
                          <a:cs typeface="Calibri" pitchFamily="34" charset="-120"/>
                        </a:rPr>
                        <a:t>항공보안(FS)</a:t>
                      </a:r>
                      <a:endParaRPr lang="en-US" sz="780" dirty="0">
                        <a:latin typeface="Rix고딕 L" panose="02020603020101020101" pitchFamily="18" charset="-127"/>
                        <a:ea typeface="Rix고딕 L" panose="02020603020101020101" pitchFamily="18" charset="-127"/>
                        <a:cs typeface="Calibri" charset="0"/>
                      </a:endParaRPr>
                    </a:p>
                  </a:txBody>
                  <a:tcPr marL="72000" marR="0" marT="0" marB="0" anchor="ctr">
                    <a:lnL w="635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80" dirty="0">
                          <a:solidFill>
                            <a:srgbClr val="4B5563"/>
                          </a:solidFill>
                          <a:latin typeface="Rix고딕 L" panose="02020603020101020101" pitchFamily="18" charset="-127"/>
                          <a:ea typeface="Rix고딕 L" panose="02020603020101020101" pitchFamily="18" charset="-127"/>
                          <a:cs typeface="Calibri" pitchFamily="34" charset="-120"/>
                        </a:rPr>
                        <a:t>144</a:t>
                      </a:r>
                      <a:endParaRPr lang="en-US" sz="780" dirty="0">
                        <a:latin typeface="Rix고딕 L" panose="02020603020101020101" pitchFamily="18" charset="-127"/>
                        <a:ea typeface="Rix고딕 L" panose="02020603020101020101" pitchFamily="18" charset="-127"/>
                        <a:cs typeface="Calibri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80" dirty="0">
                          <a:solidFill>
                            <a:srgbClr val="9CA3AF"/>
                          </a:solidFill>
                          <a:latin typeface="Rix고딕 L" panose="02020603020101020101" pitchFamily="18" charset="-127"/>
                          <a:ea typeface="Rix고딕 L" panose="02020603020101020101" pitchFamily="18" charset="-127"/>
                          <a:cs typeface="Calibri" pitchFamily="34" charset="-120"/>
                        </a:rPr>
                        <a:t>17</a:t>
                      </a:r>
                      <a:endParaRPr lang="en-US" sz="780" dirty="0">
                        <a:latin typeface="Rix고딕 L" panose="02020603020101020101" pitchFamily="18" charset="-127"/>
                        <a:ea typeface="Rix고딕 L" panose="02020603020101020101" pitchFamily="18" charset="-127"/>
                        <a:cs typeface="Calibri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80" b="1" dirty="0">
                          <a:solidFill>
                            <a:srgbClr val="E85D2F"/>
                          </a:solidFill>
                          <a:latin typeface="Rix고딕 L" panose="02020603020101020101" pitchFamily="18" charset="-127"/>
                          <a:ea typeface="Rix고딕 L" panose="02020603020101020101" pitchFamily="18" charset="-127"/>
                          <a:cs typeface="Calibri" pitchFamily="34" charset="-120"/>
                        </a:rPr>
                        <a:t>318</a:t>
                      </a:r>
                      <a:endParaRPr lang="en-US" sz="780" dirty="0">
                        <a:latin typeface="Rix고딕 L" panose="02020603020101020101" pitchFamily="18" charset="-127"/>
                        <a:ea typeface="Rix고딕 L" panose="02020603020101020101" pitchFamily="18" charset="-127"/>
                        <a:cs typeface="Calibri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altLang="ko-KR" sz="800" b="1" i="0" u="none" strike="noStrike" dirty="0">
                          <a:solidFill>
                            <a:srgbClr val="FF0000"/>
                          </a:solidFill>
                          <a:effectLst/>
                          <a:latin typeface="Rix고딕 L" panose="02020603020101020101" pitchFamily="18" charset="-127"/>
                          <a:ea typeface="Rix고딕 L" panose="02020603020101020101" pitchFamily="18" charset="-127"/>
                        </a:rPr>
                        <a:t>220.8%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18814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780" dirty="0">
                          <a:solidFill>
                            <a:srgbClr val="1B3A6B"/>
                          </a:solidFill>
                          <a:latin typeface="Rix고딕 L" panose="02020603020101020101" pitchFamily="18" charset="-127"/>
                          <a:ea typeface="Rix고딕 L" panose="02020603020101020101" pitchFamily="18" charset="-127"/>
                          <a:cs typeface="Calibri" pitchFamily="34" charset="-120"/>
                        </a:rPr>
                        <a:t>공통관리(AOMS-CA)</a:t>
                      </a:r>
                      <a:endParaRPr lang="en-US" sz="780" dirty="0">
                        <a:latin typeface="Rix고딕 L" panose="02020603020101020101" pitchFamily="18" charset="-127"/>
                        <a:ea typeface="Rix고딕 L" panose="02020603020101020101" pitchFamily="18" charset="-127"/>
                        <a:cs typeface="Calibri" charset="0"/>
                      </a:endParaRPr>
                    </a:p>
                  </a:txBody>
                  <a:tcPr marL="72000" marR="0" marT="0" marB="0" anchor="ctr">
                    <a:lnL w="635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80" dirty="0">
                          <a:solidFill>
                            <a:srgbClr val="4B5563"/>
                          </a:solidFill>
                          <a:latin typeface="Rix고딕 L" panose="02020603020101020101" pitchFamily="18" charset="-127"/>
                          <a:ea typeface="Rix고딕 L" panose="02020603020101020101" pitchFamily="18" charset="-127"/>
                          <a:cs typeface="Calibri" pitchFamily="34" charset="-120"/>
                        </a:rPr>
                        <a:t>146</a:t>
                      </a:r>
                      <a:endParaRPr lang="en-US" sz="780" dirty="0">
                        <a:latin typeface="Rix고딕 L" panose="02020603020101020101" pitchFamily="18" charset="-127"/>
                        <a:ea typeface="Rix고딕 L" panose="02020603020101020101" pitchFamily="18" charset="-127"/>
                        <a:cs typeface="Calibri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80" dirty="0">
                          <a:solidFill>
                            <a:srgbClr val="9CA3AF"/>
                          </a:solidFill>
                          <a:latin typeface="Rix고딕 L" panose="02020603020101020101" pitchFamily="18" charset="-127"/>
                          <a:ea typeface="Rix고딕 L" panose="02020603020101020101" pitchFamily="18" charset="-127"/>
                          <a:cs typeface="Calibri" pitchFamily="34" charset="-120"/>
                        </a:rPr>
                        <a:t>34</a:t>
                      </a:r>
                      <a:endParaRPr lang="en-US" sz="780" dirty="0">
                        <a:latin typeface="Rix고딕 L" panose="02020603020101020101" pitchFamily="18" charset="-127"/>
                        <a:ea typeface="Rix고딕 L" panose="02020603020101020101" pitchFamily="18" charset="-127"/>
                        <a:cs typeface="Calibri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80" b="1" dirty="0">
                          <a:solidFill>
                            <a:srgbClr val="2563A8"/>
                          </a:solidFill>
                          <a:latin typeface="Rix고딕 L" panose="02020603020101020101" pitchFamily="18" charset="-127"/>
                          <a:ea typeface="Rix고딕 L" panose="02020603020101020101" pitchFamily="18" charset="-127"/>
                          <a:cs typeface="Calibri" pitchFamily="34" charset="-120"/>
                        </a:rPr>
                        <a:t>285</a:t>
                      </a:r>
                      <a:endParaRPr lang="en-US" sz="780" dirty="0">
                        <a:latin typeface="Rix고딕 L" panose="02020603020101020101" pitchFamily="18" charset="-127"/>
                        <a:ea typeface="Rix고딕 L" panose="02020603020101020101" pitchFamily="18" charset="-127"/>
                        <a:cs typeface="Calibri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altLang="ko-KR" sz="800" b="1" i="0" u="none" strike="noStrike" dirty="0">
                          <a:solidFill>
                            <a:srgbClr val="E85D2F"/>
                          </a:solidFill>
                          <a:effectLst/>
                          <a:latin typeface="Rix고딕 L" panose="02020603020101020101" pitchFamily="18" charset="-127"/>
                          <a:ea typeface="Rix고딕 L" panose="02020603020101020101" pitchFamily="18" charset="-127"/>
                        </a:rPr>
                        <a:t>195.2%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18814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780" dirty="0">
                          <a:solidFill>
                            <a:srgbClr val="1B3A6B"/>
                          </a:solidFill>
                          <a:latin typeface="Rix고딕 L" panose="02020603020101020101" pitchFamily="18" charset="-127"/>
                          <a:ea typeface="Rix고딕 L" panose="02020603020101020101" pitchFamily="18" charset="-127"/>
                          <a:cs typeface="Calibri" pitchFamily="34" charset="-120"/>
                        </a:rPr>
                        <a:t>모바일(MES)</a:t>
                      </a:r>
                      <a:endParaRPr lang="en-US" sz="780" dirty="0">
                        <a:latin typeface="Rix고딕 L" panose="02020603020101020101" pitchFamily="18" charset="-127"/>
                        <a:ea typeface="Rix고딕 L" panose="02020603020101020101" pitchFamily="18" charset="-127"/>
                        <a:cs typeface="Calibri" charset="0"/>
                      </a:endParaRPr>
                    </a:p>
                  </a:txBody>
                  <a:tcPr marL="72000" marR="0" marT="0" marB="0" anchor="ctr">
                    <a:lnL w="635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80" dirty="0">
                          <a:solidFill>
                            <a:srgbClr val="4B5563"/>
                          </a:solidFill>
                          <a:latin typeface="Rix고딕 L" panose="02020603020101020101" pitchFamily="18" charset="-127"/>
                          <a:ea typeface="Rix고딕 L" panose="02020603020101020101" pitchFamily="18" charset="-127"/>
                          <a:cs typeface="Calibri" pitchFamily="34" charset="-120"/>
                        </a:rPr>
                        <a:t>184</a:t>
                      </a:r>
                      <a:endParaRPr lang="en-US" sz="780" dirty="0">
                        <a:latin typeface="Rix고딕 L" panose="02020603020101020101" pitchFamily="18" charset="-127"/>
                        <a:ea typeface="Rix고딕 L" panose="02020603020101020101" pitchFamily="18" charset="-127"/>
                        <a:cs typeface="Calibri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80" dirty="0">
                          <a:solidFill>
                            <a:srgbClr val="9CA3AF"/>
                          </a:solidFill>
                          <a:latin typeface="Rix고딕 L" panose="02020603020101020101" pitchFamily="18" charset="-127"/>
                          <a:ea typeface="Rix고딕 L" panose="02020603020101020101" pitchFamily="18" charset="-127"/>
                          <a:cs typeface="Calibri" pitchFamily="34" charset="-120"/>
                        </a:rPr>
                        <a:t>42</a:t>
                      </a:r>
                      <a:endParaRPr lang="en-US" sz="780" dirty="0">
                        <a:latin typeface="Rix고딕 L" panose="02020603020101020101" pitchFamily="18" charset="-127"/>
                        <a:ea typeface="Rix고딕 L" panose="02020603020101020101" pitchFamily="18" charset="-127"/>
                        <a:cs typeface="Calibri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80" b="1" dirty="0">
                          <a:solidFill>
                            <a:srgbClr val="2563A8"/>
                          </a:solidFill>
                          <a:latin typeface="Rix고딕 L" panose="02020603020101020101" pitchFamily="18" charset="-127"/>
                          <a:ea typeface="Rix고딕 L" panose="02020603020101020101" pitchFamily="18" charset="-127"/>
                          <a:cs typeface="Calibri" pitchFamily="34" charset="-120"/>
                        </a:rPr>
                        <a:t>245</a:t>
                      </a:r>
                      <a:endParaRPr lang="en-US" sz="780" dirty="0">
                        <a:latin typeface="Rix고딕 L" panose="02020603020101020101" pitchFamily="18" charset="-127"/>
                        <a:ea typeface="Rix고딕 L" panose="02020603020101020101" pitchFamily="18" charset="-127"/>
                        <a:cs typeface="Calibri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altLang="ko-KR" sz="800" b="1" i="0" u="none" strike="noStrike" dirty="0">
                          <a:solidFill>
                            <a:schemeClr val="bg2">
                              <a:lumMod val="50000"/>
                            </a:schemeClr>
                          </a:solidFill>
                          <a:effectLst/>
                          <a:latin typeface="Rix고딕 L" panose="02020603020101020101" pitchFamily="18" charset="-127"/>
                          <a:ea typeface="Rix고딕 L" panose="02020603020101020101" pitchFamily="18" charset="-127"/>
                        </a:rPr>
                        <a:t>133.2%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18814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780" dirty="0">
                          <a:solidFill>
                            <a:srgbClr val="1B3A6B"/>
                          </a:solidFill>
                          <a:latin typeface="Rix고딕 L" panose="02020603020101020101" pitchFamily="18" charset="-127"/>
                          <a:ea typeface="Rix고딕 L" panose="02020603020101020101" pitchFamily="18" charset="-127"/>
                          <a:cs typeface="Calibri" pitchFamily="34" charset="-120"/>
                        </a:rPr>
                        <a:t>예측관리(PM)</a:t>
                      </a:r>
                      <a:endParaRPr lang="en-US" sz="780" dirty="0">
                        <a:latin typeface="Rix고딕 L" panose="02020603020101020101" pitchFamily="18" charset="-127"/>
                        <a:ea typeface="Rix고딕 L" panose="02020603020101020101" pitchFamily="18" charset="-127"/>
                        <a:cs typeface="Calibri" charset="0"/>
                      </a:endParaRPr>
                    </a:p>
                  </a:txBody>
                  <a:tcPr marL="72000" marR="0" marT="0" marB="0" anchor="ctr">
                    <a:lnL w="635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80" dirty="0">
                          <a:solidFill>
                            <a:srgbClr val="4B5563"/>
                          </a:solidFill>
                          <a:latin typeface="Rix고딕 L" panose="02020603020101020101" pitchFamily="18" charset="-127"/>
                          <a:ea typeface="Rix고딕 L" panose="02020603020101020101" pitchFamily="18" charset="-127"/>
                          <a:cs typeface="Calibri" pitchFamily="34" charset="-120"/>
                        </a:rPr>
                        <a:t>137</a:t>
                      </a:r>
                      <a:endParaRPr lang="en-US" sz="780" dirty="0">
                        <a:latin typeface="Rix고딕 L" panose="02020603020101020101" pitchFamily="18" charset="-127"/>
                        <a:ea typeface="Rix고딕 L" panose="02020603020101020101" pitchFamily="18" charset="-127"/>
                        <a:cs typeface="Calibri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80" dirty="0">
                          <a:solidFill>
                            <a:srgbClr val="9CA3AF"/>
                          </a:solidFill>
                          <a:latin typeface="Rix고딕 L" panose="02020603020101020101" pitchFamily="18" charset="-127"/>
                          <a:ea typeface="Rix고딕 L" panose="02020603020101020101" pitchFamily="18" charset="-127"/>
                          <a:cs typeface="Calibri" pitchFamily="34" charset="-120"/>
                        </a:rPr>
                        <a:t>38</a:t>
                      </a:r>
                      <a:endParaRPr lang="en-US" sz="780" dirty="0">
                        <a:latin typeface="Rix고딕 L" panose="02020603020101020101" pitchFamily="18" charset="-127"/>
                        <a:ea typeface="Rix고딕 L" panose="02020603020101020101" pitchFamily="18" charset="-127"/>
                        <a:cs typeface="Calibri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80" b="1" dirty="0">
                          <a:solidFill>
                            <a:srgbClr val="3B82C4"/>
                          </a:solidFill>
                          <a:latin typeface="Rix고딕 L" panose="02020603020101020101" pitchFamily="18" charset="-127"/>
                          <a:ea typeface="Rix고딕 L" panose="02020603020101020101" pitchFamily="18" charset="-127"/>
                          <a:cs typeface="Calibri" pitchFamily="34" charset="-120"/>
                        </a:rPr>
                        <a:t>170</a:t>
                      </a:r>
                      <a:endParaRPr lang="en-US" sz="780" dirty="0">
                        <a:latin typeface="Rix고딕 L" panose="02020603020101020101" pitchFamily="18" charset="-127"/>
                        <a:ea typeface="Rix고딕 L" panose="02020603020101020101" pitchFamily="18" charset="-127"/>
                        <a:cs typeface="Calibri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altLang="ko-KR" sz="800" b="1" i="0" u="none" strike="noStrike">
                          <a:solidFill>
                            <a:schemeClr val="bg2">
                              <a:lumMod val="50000"/>
                            </a:schemeClr>
                          </a:solidFill>
                          <a:effectLst/>
                          <a:latin typeface="Rix고딕 L" panose="02020603020101020101" pitchFamily="18" charset="-127"/>
                          <a:ea typeface="Rix고딕 L" panose="02020603020101020101" pitchFamily="18" charset="-127"/>
                        </a:rPr>
                        <a:t>124.1%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18814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780" dirty="0">
                          <a:solidFill>
                            <a:srgbClr val="1B3A6B"/>
                          </a:solidFill>
                          <a:latin typeface="Rix고딕 L" panose="02020603020101020101" pitchFamily="18" charset="-127"/>
                          <a:ea typeface="Rix고딕 L" panose="02020603020101020101" pitchFamily="18" charset="-127"/>
                          <a:cs typeface="Calibri" pitchFamily="34" charset="-120"/>
                        </a:rPr>
                        <a:t>항공통계포털(AS)</a:t>
                      </a:r>
                      <a:endParaRPr lang="en-US" sz="780" dirty="0">
                        <a:latin typeface="Rix고딕 L" panose="02020603020101020101" pitchFamily="18" charset="-127"/>
                        <a:ea typeface="Rix고딕 L" panose="02020603020101020101" pitchFamily="18" charset="-127"/>
                        <a:cs typeface="Calibri" charset="0"/>
                      </a:endParaRPr>
                    </a:p>
                  </a:txBody>
                  <a:tcPr marL="72000" marR="0" marT="0" marB="0" anchor="ctr">
                    <a:lnL w="635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80" dirty="0">
                          <a:solidFill>
                            <a:srgbClr val="4B5563"/>
                          </a:solidFill>
                          <a:latin typeface="Rix고딕 L" panose="02020603020101020101" pitchFamily="18" charset="-127"/>
                          <a:ea typeface="Rix고딕 L" panose="02020603020101020101" pitchFamily="18" charset="-127"/>
                          <a:cs typeface="Calibri" pitchFamily="34" charset="-120"/>
                        </a:rPr>
                        <a:t>194</a:t>
                      </a:r>
                      <a:endParaRPr lang="en-US" sz="780" dirty="0">
                        <a:latin typeface="Rix고딕 L" panose="02020603020101020101" pitchFamily="18" charset="-127"/>
                        <a:ea typeface="Rix고딕 L" panose="02020603020101020101" pitchFamily="18" charset="-127"/>
                        <a:cs typeface="Calibri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80" dirty="0">
                          <a:solidFill>
                            <a:srgbClr val="9CA3AF"/>
                          </a:solidFill>
                          <a:latin typeface="Rix고딕 L" panose="02020603020101020101" pitchFamily="18" charset="-127"/>
                          <a:ea typeface="Rix고딕 L" panose="02020603020101020101" pitchFamily="18" charset="-127"/>
                          <a:cs typeface="Calibri" pitchFamily="34" charset="-120"/>
                        </a:rPr>
                        <a:t>1</a:t>
                      </a:r>
                      <a:endParaRPr lang="en-US" sz="780" dirty="0">
                        <a:latin typeface="Rix고딕 L" panose="02020603020101020101" pitchFamily="18" charset="-127"/>
                        <a:ea typeface="Rix고딕 L" panose="02020603020101020101" pitchFamily="18" charset="-127"/>
                        <a:cs typeface="Calibri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80" b="1" dirty="0">
                          <a:solidFill>
                            <a:srgbClr val="3B82C4"/>
                          </a:solidFill>
                          <a:latin typeface="Rix고딕 L" panose="02020603020101020101" pitchFamily="18" charset="-127"/>
                          <a:ea typeface="Rix고딕 L" panose="02020603020101020101" pitchFamily="18" charset="-127"/>
                          <a:cs typeface="Calibri" pitchFamily="34" charset="-120"/>
                        </a:rPr>
                        <a:t>199</a:t>
                      </a:r>
                      <a:endParaRPr lang="en-US" sz="780" dirty="0">
                        <a:latin typeface="Rix고딕 L" panose="02020603020101020101" pitchFamily="18" charset="-127"/>
                        <a:ea typeface="Rix고딕 L" panose="02020603020101020101" pitchFamily="18" charset="-127"/>
                        <a:cs typeface="Calibri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altLang="ko-KR" sz="800" b="1" i="0" u="none" strike="noStrike" dirty="0">
                          <a:solidFill>
                            <a:schemeClr val="bg2">
                              <a:lumMod val="50000"/>
                            </a:schemeClr>
                          </a:solidFill>
                          <a:effectLst/>
                          <a:latin typeface="Rix고딕 L" panose="02020603020101020101" pitchFamily="18" charset="-127"/>
                          <a:ea typeface="Rix고딕 L" panose="02020603020101020101" pitchFamily="18" charset="-127"/>
                        </a:rPr>
                        <a:t>102.6%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18814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780" dirty="0">
                          <a:solidFill>
                            <a:srgbClr val="1B3A6B"/>
                          </a:solidFill>
                          <a:latin typeface="Rix고딕 L" panose="02020603020101020101" pitchFamily="18" charset="-127"/>
                          <a:ea typeface="Rix고딕 L" panose="02020603020101020101" pitchFamily="18" charset="-127"/>
                          <a:cs typeface="Calibri" pitchFamily="34" charset="-120"/>
                        </a:rPr>
                        <a:t>자원배정차트(RC)</a:t>
                      </a:r>
                      <a:endParaRPr lang="en-US" sz="780" dirty="0">
                        <a:latin typeface="Rix고딕 L" panose="02020603020101020101" pitchFamily="18" charset="-127"/>
                        <a:ea typeface="Rix고딕 L" panose="02020603020101020101" pitchFamily="18" charset="-127"/>
                        <a:cs typeface="Calibri" charset="0"/>
                      </a:endParaRPr>
                    </a:p>
                  </a:txBody>
                  <a:tcPr marL="72000" marR="0" marT="0" marB="0" anchor="ctr">
                    <a:lnL w="635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80" dirty="0">
                          <a:solidFill>
                            <a:srgbClr val="4B5563"/>
                          </a:solidFill>
                          <a:latin typeface="Rix고딕 L" panose="02020603020101020101" pitchFamily="18" charset="-127"/>
                          <a:ea typeface="Rix고딕 L" panose="02020603020101020101" pitchFamily="18" charset="-127"/>
                          <a:cs typeface="Calibri" pitchFamily="34" charset="-120"/>
                        </a:rPr>
                        <a:t>57</a:t>
                      </a:r>
                      <a:endParaRPr lang="en-US" sz="780" dirty="0">
                        <a:latin typeface="Rix고딕 L" panose="02020603020101020101" pitchFamily="18" charset="-127"/>
                        <a:ea typeface="Rix고딕 L" panose="02020603020101020101" pitchFamily="18" charset="-127"/>
                        <a:cs typeface="Calibri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80" dirty="0">
                          <a:solidFill>
                            <a:srgbClr val="9CA3AF"/>
                          </a:solidFill>
                          <a:latin typeface="Rix고딕 L" panose="02020603020101020101" pitchFamily="18" charset="-127"/>
                          <a:ea typeface="Rix고딕 L" panose="02020603020101020101" pitchFamily="18" charset="-127"/>
                          <a:cs typeface="Calibri" pitchFamily="34" charset="-120"/>
                        </a:rPr>
                        <a:t>2</a:t>
                      </a:r>
                      <a:endParaRPr lang="en-US" sz="780" dirty="0">
                        <a:latin typeface="Rix고딕 L" panose="02020603020101020101" pitchFamily="18" charset="-127"/>
                        <a:ea typeface="Rix고딕 L" panose="02020603020101020101" pitchFamily="18" charset="-127"/>
                        <a:cs typeface="Calibri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80" b="1" dirty="0">
                          <a:solidFill>
                            <a:srgbClr val="3B82C4"/>
                          </a:solidFill>
                          <a:latin typeface="Rix고딕 L" panose="02020603020101020101" pitchFamily="18" charset="-127"/>
                          <a:ea typeface="Rix고딕 L" panose="02020603020101020101" pitchFamily="18" charset="-127"/>
                          <a:cs typeface="Calibri" pitchFamily="34" charset="-120"/>
                        </a:rPr>
                        <a:t>143</a:t>
                      </a:r>
                      <a:endParaRPr lang="en-US" sz="780" dirty="0">
                        <a:latin typeface="Rix고딕 L" panose="02020603020101020101" pitchFamily="18" charset="-127"/>
                        <a:ea typeface="Rix고딕 L" panose="02020603020101020101" pitchFamily="18" charset="-127"/>
                        <a:cs typeface="Calibri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altLang="ko-KR" sz="800" b="1" i="0" u="none" strike="noStrike" dirty="0">
                          <a:solidFill>
                            <a:srgbClr val="FF0000"/>
                          </a:solidFill>
                          <a:effectLst/>
                          <a:latin typeface="Rix고딕 L" panose="02020603020101020101" pitchFamily="18" charset="-127"/>
                          <a:ea typeface="Rix고딕 L" panose="02020603020101020101" pitchFamily="18" charset="-127"/>
                        </a:rPr>
                        <a:t>250.9%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  <a:tr h="18814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780" dirty="0">
                          <a:solidFill>
                            <a:srgbClr val="1B3A6B"/>
                          </a:solidFill>
                          <a:latin typeface="Rix고딕 L" panose="02020603020101020101" pitchFamily="18" charset="-127"/>
                          <a:ea typeface="Rix고딕 L" panose="02020603020101020101" pitchFamily="18" charset="-127"/>
                          <a:cs typeface="Calibri" pitchFamily="34" charset="-120"/>
                        </a:rPr>
                        <a:t>A-CDM(CM)</a:t>
                      </a:r>
                      <a:endParaRPr lang="en-US" sz="780" dirty="0">
                        <a:latin typeface="Rix고딕 L" panose="02020603020101020101" pitchFamily="18" charset="-127"/>
                        <a:ea typeface="Rix고딕 L" panose="02020603020101020101" pitchFamily="18" charset="-127"/>
                        <a:cs typeface="Calibri" charset="0"/>
                      </a:endParaRPr>
                    </a:p>
                  </a:txBody>
                  <a:tcPr marL="72000" marR="0" marT="0" marB="0" anchor="ctr">
                    <a:lnL w="635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80" dirty="0">
                          <a:solidFill>
                            <a:srgbClr val="4B5563"/>
                          </a:solidFill>
                          <a:latin typeface="Rix고딕 L" panose="02020603020101020101" pitchFamily="18" charset="-127"/>
                          <a:ea typeface="Rix고딕 L" panose="02020603020101020101" pitchFamily="18" charset="-127"/>
                          <a:cs typeface="Calibri" pitchFamily="34" charset="-120"/>
                        </a:rPr>
                        <a:t>209</a:t>
                      </a:r>
                      <a:endParaRPr lang="en-US" sz="780" dirty="0">
                        <a:latin typeface="Rix고딕 L" panose="02020603020101020101" pitchFamily="18" charset="-127"/>
                        <a:ea typeface="Rix고딕 L" panose="02020603020101020101" pitchFamily="18" charset="-127"/>
                        <a:cs typeface="Calibri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80" dirty="0">
                          <a:solidFill>
                            <a:srgbClr val="9CA3AF"/>
                          </a:solidFill>
                          <a:latin typeface="Rix고딕 L" panose="02020603020101020101" pitchFamily="18" charset="-127"/>
                          <a:ea typeface="Rix고딕 L" panose="02020603020101020101" pitchFamily="18" charset="-127"/>
                          <a:cs typeface="Calibri" pitchFamily="34" charset="-120"/>
                        </a:rPr>
                        <a:t>22</a:t>
                      </a:r>
                      <a:endParaRPr lang="en-US" sz="780" dirty="0">
                        <a:latin typeface="Rix고딕 L" panose="02020603020101020101" pitchFamily="18" charset="-127"/>
                        <a:ea typeface="Rix고딕 L" panose="02020603020101020101" pitchFamily="18" charset="-127"/>
                        <a:cs typeface="Calibri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80" b="1" dirty="0">
                          <a:solidFill>
                            <a:srgbClr val="3B82C4"/>
                          </a:solidFill>
                          <a:latin typeface="Rix고딕 L" panose="02020603020101020101" pitchFamily="18" charset="-127"/>
                          <a:ea typeface="Rix고딕 L" panose="02020603020101020101" pitchFamily="18" charset="-127"/>
                          <a:cs typeface="Calibri" pitchFamily="34" charset="-120"/>
                        </a:rPr>
                        <a:t>184</a:t>
                      </a:r>
                      <a:endParaRPr lang="en-US" sz="780" dirty="0">
                        <a:latin typeface="Rix고딕 L" panose="02020603020101020101" pitchFamily="18" charset="-127"/>
                        <a:ea typeface="Rix고딕 L" panose="02020603020101020101" pitchFamily="18" charset="-127"/>
                        <a:cs typeface="Calibri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altLang="ko-KR" sz="800" b="1" i="0" u="none" strike="noStrike" dirty="0">
                          <a:solidFill>
                            <a:schemeClr val="bg2">
                              <a:lumMod val="50000"/>
                            </a:schemeClr>
                          </a:solidFill>
                          <a:effectLst/>
                          <a:latin typeface="Rix고딕 L" panose="02020603020101020101" pitchFamily="18" charset="-127"/>
                          <a:ea typeface="Rix고딕 L" panose="02020603020101020101" pitchFamily="18" charset="-127"/>
                        </a:rPr>
                        <a:t>88.0%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  <a:tr h="18814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780" dirty="0">
                          <a:solidFill>
                            <a:srgbClr val="1B3A6B"/>
                          </a:solidFill>
                          <a:latin typeface="Rix고딕 L" panose="02020603020101020101" pitchFamily="18" charset="-127"/>
                          <a:ea typeface="Rix고딕 L" panose="02020603020101020101" pitchFamily="18" charset="-127"/>
                          <a:cs typeface="Calibri" pitchFamily="34" charset="-120"/>
                        </a:rPr>
                        <a:t>SLOT관리(SLOT)</a:t>
                      </a:r>
                      <a:endParaRPr lang="en-US" sz="780" dirty="0">
                        <a:latin typeface="Rix고딕 L" panose="02020603020101020101" pitchFamily="18" charset="-127"/>
                        <a:ea typeface="Rix고딕 L" panose="02020603020101020101" pitchFamily="18" charset="-127"/>
                        <a:cs typeface="Calibri" charset="0"/>
                      </a:endParaRPr>
                    </a:p>
                  </a:txBody>
                  <a:tcPr marL="72000" marR="0" marT="0" marB="0" anchor="ctr">
                    <a:lnL w="635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80" dirty="0">
                          <a:solidFill>
                            <a:srgbClr val="4B5563"/>
                          </a:solidFill>
                          <a:latin typeface="Rix고딕 L" panose="02020603020101020101" pitchFamily="18" charset="-127"/>
                          <a:ea typeface="Rix고딕 L" panose="02020603020101020101" pitchFamily="18" charset="-127"/>
                          <a:cs typeface="Calibri" pitchFamily="34" charset="-120"/>
                        </a:rPr>
                        <a:t>72</a:t>
                      </a:r>
                      <a:endParaRPr lang="en-US" sz="780" dirty="0">
                        <a:latin typeface="Rix고딕 L" panose="02020603020101020101" pitchFamily="18" charset="-127"/>
                        <a:ea typeface="Rix고딕 L" panose="02020603020101020101" pitchFamily="18" charset="-127"/>
                        <a:cs typeface="Calibri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80" dirty="0">
                          <a:solidFill>
                            <a:srgbClr val="9CA3AF"/>
                          </a:solidFill>
                          <a:latin typeface="Rix고딕 L" panose="02020603020101020101" pitchFamily="18" charset="-127"/>
                          <a:ea typeface="Rix고딕 L" panose="02020603020101020101" pitchFamily="18" charset="-127"/>
                          <a:cs typeface="Calibri" pitchFamily="34" charset="-120"/>
                        </a:rPr>
                        <a:t>10</a:t>
                      </a:r>
                      <a:endParaRPr lang="en-US" sz="780" dirty="0">
                        <a:latin typeface="Rix고딕 L" panose="02020603020101020101" pitchFamily="18" charset="-127"/>
                        <a:ea typeface="Rix고딕 L" panose="02020603020101020101" pitchFamily="18" charset="-127"/>
                        <a:cs typeface="Calibri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80" b="1" dirty="0">
                          <a:solidFill>
                            <a:srgbClr val="3B82C4"/>
                          </a:solidFill>
                          <a:latin typeface="Rix고딕 L" panose="02020603020101020101" pitchFamily="18" charset="-127"/>
                          <a:ea typeface="Rix고딕 L" panose="02020603020101020101" pitchFamily="18" charset="-127"/>
                          <a:cs typeface="Calibri" pitchFamily="34" charset="-120"/>
                        </a:rPr>
                        <a:t>156</a:t>
                      </a:r>
                      <a:endParaRPr lang="en-US" sz="780" dirty="0">
                        <a:latin typeface="Rix고딕 L" panose="02020603020101020101" pitchFamily="18" charset="-127"/>
                        <a:ea typeface="Rix고딕 L" panose="02020603020101020101" pitchFamily="18" charset="-127"/>
                        <a:cs typeface="Calibri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altLang="ko-KR" sz="800" b="1" i="0" u="none" strike="noStrike" dirty="0">
                          <a:solidFill>
                            <a:srgbClr val="FF0000"/>
                          </a:solidFill>
                          <a:effectLst/>
                          <a:latin typeface="Rix고딕 L" panose="02020603020101020101" pitchFamily="18" charset="-127"/>
                          <a:ea typeface="Rix고딕 L" panose="02020603020101020101" pitchFamily="18" charset="-127"/>
                        </a:rPr>
                        <a:t>216.7%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4"/>
                  </a:ext>
                </a:extLst>
              </a:tr>
              <a:tr h="18814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780" dirty="0">
                          <a:solidFill>
                            <a:srgbClr val="1B3A6B"/>
                          </a:solidFill>
                          <a:latin typeface="Rix고딕 L" panose="02020603020101020101" pitchFamily="18" charset="-127"/>
                          <a:ea typeface="Rix고딕 L" panose="02020603020101020101" pitchFamily="18" charset="-127"/>
                          <a:cs typeface="Calibri" pitchFamily="34" charset="-120"/>
                        </a:rPr>
                        <a:t>자원배정엔진(RE)</a:t>
                      </a:r>
                      <a:endParaRPr lang="en-US" sz="780" dirty="0">
                        <a:latin typeface="Rix고딕 L" panose="02020603020101020101" pitchFamily="18" charset="-127"/>
                        <a:ea typeface="Rix고딕 L" panose="02020603020101020101" pitchFamily="18" charset="-127"/>
                        <a:cs typeface="Calibri" charset="0"/>
                      </a:endParaRPr>
                    </a:p>
                  </a:txBody>
                  <a:tcPr marL="72000" marR="0" marT="0" marB="0" anchor="ctr">
                    <a:lnL w="635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80" dirty="0">
                          <a:solidFill>
                            <a:srgbClr val="4B5563"/>
                          </a:solidFill>
                          <a:latin typeface="Rix고딕 L" panose="02020603020101020101" pitchFamily="18" charset="-127"/>
                          <a:ea typeface="Rix고딕 L" panose="02020603020101020101" pitchFamily="18" charset="-127"/>
                          <a:cs typeface="Calibri" pitchFamily="34" charset="-120"/>
                        </a:rPr>
                        <a:t>14</a:t>
                      </a:r>
                      <a:endParaRPr lang="en-US" sz="780" dirty="0">
                        <a:latin typeface="Rix고딕 L" panose="02020603020101020101" pitchFamily="18" charset="-127"/>
                        <a:ea typeface="Rix고딕 L" panose="02020603020101020101" pitchFamily="18" charset="-127"/>
                        <a:cs typeface="Calibri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80" dirty="0">
                          <a:solidFill>
                            <a:srgbClr val="DC2626"/>
                          </a:solidFill>
                          <a:latin typeface="Rix고딕 L" panose="02020603020101020101" pitchFamily="18" charset="-127"/>
                          <a:ea typeface="Rix고딕 L" panose="02020603020101020101" pitchFamily="18" charset="-127"/>
                          <a:cs typeface="Calibri" pitchFamily="34" charset="-120"/>
                        </a:rPr>
                        <a:t>16</a:t>
                      </a:r>
                      <a:endParaRPr lang="en-US" sz="780" dirty="0">
                        <a:latin typeface="Rix고딕 L" panose="02020603020101020101" pitchFamily="18" charset="-127"/>
                        <a:ea typeface="Rix고딕 L" panose="02020603020101020101" pitchFamily="18" charset="-127"/>
                        <a:cs typeface="Calibri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80" b="1" dirty="0">
                          <a:solidFill>
                            <a:srgbClr val="DC2626"/>
                          </a:solidFill>
                          <a:latin typeface="Rix고딕 L" panose="02020603020101020101" pitchFamily="18" charset="-127"/>
                          <a:ea typeface="Rix고딕 L" panose="02020603020101020101" pitchFamily="18" charset="-127"/>
                          <a:cs typeface="Calibri" pitchFamily="34" charset="-120"/>
                        </a:rPr>
                        <a:t>1</a:t>
                      </a:r>
                      <a:endParaRPr lang="en-US" sz="780" dirty="0">
                        <a:latin typeface="Rix고딕 L" panose="02020603020101020101" pitchFamily="18" charset="-127"/>
                        <a:ea typeface="Rix고딕 L" panose="02020603020101020101" pitchFamily="18" charset="-127"/>
                        <a:cs typeface="Calibri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altLang="ko-KR" sz="800" b="1" i="0" u="none" strike="noStrike" dirty="0">
                          <a:solidFill>
                            <a:schemeClr val="bg2">
                              <a:lumMod val="50000"/>
                            </a:schemeClr>
                          </a:solidFill>
                          <a:effectLst/>
                          <a:latin typeface="Rix고딕 L" panose="02020603020101020101" pitchFamily="18" charset="-127"/>
                          <a:ea typeface="Rix고딕 L" panose="02020603020101020101" pitchFamily="18" charset="-127"/>
                        </a:rPr>
                        <a:t>7.1%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5"/>
                  </a:ext>
                </a:extLst>
              </a:tr>
              <a:tr h="18814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780" dirty="0">
                          <a:solidFill>
                            <a:srgbClr val="1B3A6B"/>
                          </a:solidFill>
                          <a:latin typeface="Rix고딕 L" panose="02020603020101020101" pitchFamily="18" charset="-127"/>
                          <a:ea typeface="Rix고딕 L" panose="02020603020101020101" pitchFamily="18" charset="-127"/>
                          <a:cs typeface="Calibri" pitchFamily="34" charset="-120"/>
                        </a:rPr>
                        <a:t>비상계획(CP)</a:t>
                      </a:r>
                      <a:endParaRPr lang="en-US" sz="780" dirty="0">
                        <a:latin typeface="Rix고딕 L" panose="02020603020101020101" pitchFamily="18" charset="-127"/>
                        <a:ea typeface="Rix고딕 L" panose="02020603020101020101" pitchFamily="18" charset="-127"/>
                        <a:cs typeface="Calibri" charset="0"/>
                      </a:endParaRPr>
                    </a:p>
                  </a:txBody>
                  <a:tcPr marL="72000" marR="0" marT="0" marB="0" anchor="ctr">
                    <a:lnL w="635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80" dirty="0">
                          <a:solidFill>
                            <a:srgbClr val="4B5563"/>
                          </a:solidFill>
                          <a:latin typeface="Rix고딕 L" panose="02020603020101020101" pitchFamily="18" charset="-127"/>
                          <a:ea typeface="Rix고딕 L" panose="02020603020101020101" pitchFamily="18" charset="-127"/>
                          <a:cs typeface="Calibri" pitchFamily="34" charset="-120"/>
                        </a:rPr>
                        <a:t>51</a:t>
                      </a:r>
                      <a:endParaRPr lang="en-US" sz="780" dirty="0">
                        <a:latin typeface="Rix고딕 L" panose="02020603020101020101" pitchFamily="18" charset="-127"/>
                        <a:ea typeface="Rix고딕 L" panose="02020603020101020101" pitchFamily="18" charset="-127"/>
                        <a:cs typeface="Calibri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80" dirty="0">
                          <a:solidFill>
                            <a:srgbClr val="9CA3AF"/>
                          </a:solidFill>
                          <a:latin typeface="Rix고딕 L" panose="02020603020101020101" pitchFamily="18" charset="-127"/>
                          <a:ea typeface="Rix고딕 L" panose="02020603020101020101" pitchFamily="18" charset="-127"/>
                          <a:cs typeface="Calibri" pitchFamily="34" charset="-120"/>
                        </a:rPr>
                        <a:t>1</a:t>
                      </a:r>
                      <a:endParaRPr lang="en-US" sz="780" dirty="0">
                        <a:latin typeface="Rix고딕 L" panose="02020603020101020101" pitchFamily="18" charset="-127"/>
                        <a:ea typeface="Rix고딕 L" panose="02020603020101020101" pitchFamily="18" charset="-127"/>
                        <a:cs typeface="Calibri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80" b="1" dirty="0">
                          <a:solidFill>
                            <a:srgbClr val="9CA3AF"/>
                          </a:solidFill>
                          <a:latin typeface="Rix고딕 L" panose="02020603020101020101" pitchFamily="18" charset="-127"/>
                          <a:ea typeface="Rix고딕 L" panose="02020603020101020101" pitchFamily="18" charset="-127"/>
                          <a:cs typeface="Calibri" pitchFamily="34" charset="-120"/>
                        </a:rPr>
                        <a:t>38</a:t>
                      </a:r>
                      <a:endParaRPr lang="en-US" sz="780" dirty="0">
                        <a:latin typeface="Rix고딕 L" panose="02020603020101020101" pitchFamily="18" charset="-127"/>
                        <a:ea typeface="Rix고딕 L" panose="02020603020101020101" pitchFamily="18" charset="-127"/>
                        <a:cs typeface="Calibri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altLang="ko-KR" sz="800" b="1" i="0" u="none" strike="noStrike" dirty="0">
                          <a:solidFill>
                            <a:schemeClr val="bg2">
                              <a:lumMod val="50000"/>
                            </a:schemeClr>
                          </a:solidFill>
                          <a:effectLst/>
                          <a:latin typeface="Rix고딕 L" panose="02020603020101020101" pitchFamily="18" charset="-127"/>
                          <a:ea typeface="Rix고딕 L" panose="02020603020101020101" pitchFamily="18" charset="-127"/>
                        </a:rPr>
                        <a:t>74.5%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6"/>
                  </a:ext>
                </a:extLst>
              </a:tr>
              <a:tr h="18814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780" dirty="0">
                          <a:solidFill>
                            <a:srgbClr val="1B3A6B"/>
                          </a:solidFill>
                          <a:latin typeface="Rix고딕 L" panose="02020603020101020101" pitchFamily="18" charset="-127"/>
                          <a:ea typeface="Rix고딕 L" panose="02020603020101020101" pitchFamily="18" charset="-127"/>
                          <a:cs typeface="Calibri" pitchFamily="34" charset="-120"/>
                        </a:rPr>
                        <a:t>푸시SW(PUSH)</a:t>
                      </a:r>
                      <a:endParaRPr lang="en-US" sz="780" dirty="0">
                        <a:latin typeface="Rix고딕 L" panose="02020603020101020101" pitchFamily="18" charset="-127"/>
                        <a:ea typeface="Rix고딕 L" panose="02020603020101020101" pitchFamily="18" charset="-127"/>
                        <a:cs typeface="Calibri" charset="0"/>
                      </a:endParaRPr>
                    </a:p>
                  </a:txBody>
                  <a:tcPr marL="72000" marR="0" marT="0" marB="0" anchor="ctr">
                    <a:lnL w="635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80" dirty="0">
                          <a:solidFill>
                            <a:srgbClr val="4B5563"/>
                          </a:solidFill>
                          <a:latin typeface="Rix고딕 L" panose="02020603020101020101" pitchFamily="18" charset="-127"/>
                          <a:ea typeface="Rix고딕 L" panose="02020603020101020101" pitchFamily="18" charset="-127"/>
                          <a:cs typeface="Calibri" pitchFamily="34" charset="-120"/>
                        </a:rPr>
                        <a:t>6</a:t>
                      </a:r>
                      <a:endParaRPr lang="en-US" sz="780" dirty="0">
                        <a:latin typeface="Rix고딕 L" panose="02020603020101020101" pitchFamily="18" charset="-127"/>
                        <a:ea typeface="Rix고딕 L" panose="02020603020101020101" pitchFamily="18" charset="-127"/>
                        <a:cs typeface="Calibri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80" dirty="0">
                          <a:solidFill>
                            <a:srgbClr val="9CA3AF"/>
                          </a:solidFill>
                          <a:latin typeface="Rix고딕 L" panose="02020603020101020101" pitchFamily="18" charset="-127"/>
                          <a:ea typeface="Rix고딕 L" panose="02020603020101020101" pitchFamily="18" charset="-127"/>
                          <a:cs typeface="Calibri" pitchFamily="34" charset="-120"/>
                        </a:rPr>
                        <a:t>0</a:t>
                      </a:r>
                      <a:endParaRPr lang="en-US" sz="780" dirty="0">
                        <a:latin typeface="Rix고딕 L" panose="02020603020101020101" pitchFamily="18" charset="-127"/>
                        <a:ea typeface="Rix고딕 L" panose="02020603020101020101" pitchFamily="18" charset="-127"/>
                        <a:cs typeface="Calibri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80" b="1" dirty="0">
                          <a:solidFill>
                            <a:srgbClr val="9CA3AF"/>
                          </a:solidFill>
                          <a:latin typeface="Rix고딕 L" panose="02020603020101020101" pitchFamily="18" charset="-127"/>
                          <a:ea typeface="Rix고딕 L" panose="02020603020101020101" pitchFamily="18" charset="-127"/>
                          <a:cs typeface="Calibri" pitchFamily="34" charset="-120"/>
                        </a:rPr>
                        <a:t>5</a:t>
                      </a:r>
                      <a:endParaRPr lang="en-US" sz="780" dirty="0">
                        <a:latin typeface="Rix고딕 L" panose="02020603020101020101" pitchFamily="18" charset="-127"/>
                        <a:ea typeface="Rix고딕 L" panose="02020603020101020101" pitchFamily="18" charset="-127"/>
                        <a:cs typeface="Calibri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altLang="ko-KR" sz="800" b="1" i="0" u="none" strike="noStrike" dirty="0">
                          <a:solidFill>
                            <a:schemeClr val="bg2">
                              <a:lumMod val="50000"/>
                            </a:schemeClr>
                          </a:solidFill>
                          <a:effectLst/>
                          <a:latin typeface="Rix고딕 L" panose="02020603020101020101" pitchFamily="18" charset="-127"/>
                          <a:ea typeface="Rix고딕 L" panose="02020603020101020101" pitchFamily="18" charset="-127"/>
                        </a:rPr>
                        <a:t>83.3%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7"/>
                  </a:ext>
                </a:extLst>
              </a:tr>
              <a:tr h="190874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Rix고딕 L" panose="02020603020101020101" pitchFamily="18" charset="-127"/>
                          <a:ea typeface="Rix고딕 L" panose="02020603020101020101" pitchFamily="18" charset="-127"/>
                          <a:cs typeface="Calibri" pitchFamily="34" charset="-120"/>
                        </a:rPr>
                        <a:t>합계</a:t>
                      </a:r>
                      <a:endParaRPr lang="en-US" sz="800" dirty="0">
                        <a:latin typeface="Rix고딕 L" panose="02020603020101020101" pitchFamily="18" charset="-127"/>
                        <a:ea typeface="Rix고딕 L" panose="02020603020101020101" pitchFamily="18" charset="-127"/>
                        <a:cs typeface="Calibri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Rix고딕 L" panose="02020603020101020101" pitchFamily="18" charset="-127"/>
                          <a:ea typeface="Rix고딕 L" panose="02020603020101020101" pitchFamily="18" charset="-127"/>
                          <a:cs typeface="Calibri" pitchFamily="34" charset="-120"/>
                        </a:rPr>
                        <a:t>2,613</a:t>
                      </a:r>
                      <a:endParaRPr lang="en-US" sz="800" dirty="0">
                        <a:latin typeface="Rix고딕 L" panose="02020603020101020101" pitchFamily="18" charset="-127"/>
                        <a:ea typeface="Rix고딕 L" panose="02020603020101020101" pitchFamily="18" charset="-127"/>
                        <a:cs typeface="Calibri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Rix고딕 L" panose="02020603020101020101" pitchFamily="18" charset="-127"/>
                          <a:ea typeface="Rix고딕 L" panose="02020603020101020101" pitchFamily="18" charset="-127"/>
                          <a:cs typeface="Calibri" pitchFamily="34" charset="-120"/>
                        </a:rPr>
                        <a:t>445</a:t>
                      </a:r>
                      <a:endParaRPr lang="en-US" sz="800" dirty="0">
                        <a:latin typeface="Rix고딕 L" panose="02020603020101020101" pitchFamily="18" charset="-127"/>
                        <a:ea typeface="Rix고딕 L" panose="02020603020101020101" pitchFamily="18" charset="-127"/>
                        <a:cs typeface="Calibri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Rix고딕 L" panose="02020603020101020101" pitchFamily="18" charset="-127"/>
                          <a:ea typeface="Rix고딕 L" panose="02020603020101020101" pitchFamily="18" charset="-127"/>
                          <a:cs typeface="Calibri" pitchFamily="34" charset="-120"/>
                        </a:rPr>
                        <a:t>4,203</a:t>
                      </a:r>
                      <a:endParaRPr lang="en-US" sz="800" dirty="0">
                        <a:latin typeface="Rix고딕 L" panose="02020603020101020101" pitchFamily="18" charset="-127"/>
                        <a:ea typeface="Rix고딕 L" panose="02020603020101020101" pitchFamily="18" charset="-127"/>
                        <a:cs typeface="Calibri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Rix고딕 L" panose="02020603020101020101" pitchFamily="18" charset="-127"/>
                          <a:ea typeface="Rix고딕 L" panose="02020603020101020101" pitchFamily="18" charset="-127"/>
                          <a:cs typeface="Calibri" pitchFamily="34" charset="-120"/>
                        </a:rPr>
                        <a:t>4,203</a:t>
                      </a:r>
                      <a:endParaRPr lang="en-US" sz="800" dirty="0">
                        <a:latin typeface="Rix고딕 L" panose="02020603020101020101" pitchFamily="18" charset="-127"/>
                        <a:ea typeface="Rix고딕 L" panose="02020603020101020101" pitchFamily="18" charset="-127"/>
                        <a:cs typeface="Calibri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8"/>
                  </a:ext>
                </a:extLst>
              </a:tr>
            </a:tbl>
          </a:graphicData>
        </a:graphic>
      </p:graphicFrame>
      <p:sp>
        <p:nvSpPr>
          <p:cNvPr id="10" name="Text 6"/>
          <p:cNvSpPr/>
          <p:nvPr/>
        </p:nvSpPr>
        <p:spPr>
          <a:xfrm>
            <a:off x="497655" y="4475829"/>
            <a:ext cx="4491921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i="1" dirty="0">
                <a:solidFill>
                  <a:srgbClr val="E85D2F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※ RE: 기각 16건 / 시나리오 14건 → 기각율 114% — 구조적 품질 이상 (점검 필수)</a:t>
            </a:r>
            <a:endParaRPr lang="en-US" sz="850" dirty="0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/>
          <p:cNvSpPr/>
          <p:nvPr/>
        </p:nvSpPr>
        <p:spPr>
          <a:xfrm>
            <a:off x="320040" y="0"/>
            <a:ext cx="7498080" cy="4228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002060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업무모듈별 · 단계별 결함 분포</a:t>
            </a:r>
            <a:endParaRPr lang="en-US" sz="2000" dirty="0">
              <a:solidFill>
                <a:srgbClr val="002060"/>
              </a:solidFill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graphicFrame>
        <p:nvGraphicFramePr>
          <p:cNvPr id="8" name="Chart 0"/>
          <p:cNvGraphicFramePr/>
          <p:nvPr>
            <p:extLst>
              <p:ext uri="{D42A27DB-BD31-4B8C-83A1-F6EECF244321}">
                <p14:modId xmlns:p14="http://schemas.microsoft.com/office/powerpoint/2010/main" val="4218840443"/>
              </p:ext>
            </p:extLst>
          </p:nvPr>
        </p:nvGraphicFramePr>
        <p:xfrm>
          <a:off x="411692" y="1016823"/>
          <a:ext cx="5235635" cy="29843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74" name="Shape 34">
            <a:extLst>
              <a:ext uri="{FF2B5EF4-FFF2-40B4-BE49-F238E27FC236}">
                <a16:creationId xmlns:a16="http://schemas.microsoft.com/office/drawing/2014/main" id="{2B1AB1C8-A0D2-ADD4-147E-E6E60A28D3CB}"/>
              </a:ext>
            </a:extLst>
          </p:cNvPr>
          <p:cNvSpPr/>
          <p:nvPr/>
        </p:nvSpPr>
        <p:spPr>
          <a:xfrm>
            <a:off x="433645" y="3804285"/>
            <a:ext cx="8243427" cy="891540"/>
          </a:xfrm>
          <a:prstGeom prst="rect">
            <a:avLst/>
          </a:prstGeom>
          <a:solidFill>
            <a:srgbClr val="FFF7ED"/>
          </a:solidFill>
          <a:ln w="12700">
            <a:solidFill>
              <a:srgbClr val="FDBA74"/>
            </a:solidFill>
            <a:prstDash val="solid"/>
          </a:ln>
        </p:spPr>
        <p:txBody>
          <a:bodyPr/>
          <a:lstStyle/>
          <a:p>
            <a:endParaRPr lang="ko-KR" altLang="en-US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75" name="Text 35">
            <a:extLst>
              <a:ext uri="{FF2B5EF4-FFF2-40B4-BE49-F238E27FC236}">
                <a16:creationId xmlns:a16="http://schemas.microsoft.com/office/drawing/2014/main" id="{98D84A67-B5E4-41B1-3C9D-10AD5661015B}"/>
              </a:ext>
            </a:extLst>
          </p:cNvPr>
          <p:cNvSpPr/>
          <p:nvPr/>
        </p:nvSpPr>
        <p:spPr>
          <a:xfrm>
            <a:off x="502920" y="3848764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E85D2F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🔍  핵심 인사이트 — 공사테스트 집중 문제</a:t>
            </a:r>
            <a:endParaRPr lang="en-US" sz="1100" dirty="0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76" name="Text 36">
            <a:extLst>
              <a:ext uri="{FF2B5EF4-FFF2-40B4-BE49-F238E27FC236}">
                <a16:creationId xmlns:a16="http://schemas.microsoft.com/office/drawing/2014/main" id="{3F1FEEC2-6D91-A722-EF8B-855AF7142168}"/>
              </a:ext>
            </a:extLst>
          </p:cNvPr>
          <p:cNvSpPr/>
          <p:nvPr/>
        </p:nvSpPr>
        <p:spPr>
          <a:xfrm>
            <a:off x="466928" y="4004536"/>
            <a:ext cx="83007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50000"/>
              </a:lnSpc>
              <a:buNone/>
            </a:pPr>
            <a:r>
              <a:rPr lang="en-US" sz="1000" dirty="0">
                <a:solidFill>
                  <a:srgbClr val="000000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공사테스트에 전체 </a:t>
            </a:r>
            <a:r>
              <a:rPr lang="en-US" sz="1000" dirty="0" err="1">
                <a:solidFill>
                  <a:srgbClr val="000000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결함의</a:t>
            </a:r>
            <a:r>
              <a:rPr lang="en-US" sz="1000" dirty="0">
                <a:solidFill>
                  <a:srgbClr val="000000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 47.8%(2,007건)가 집중 — 이는 개발자·PL 단계의 </a:t>
            </a:r>
            <a:r>
              <a:rPr lang="en-US" sz="1000" b="1" dirty="0">
                <a:solidFill>
                  <a:srgbClr val="DC2626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사전 자체 </a:t>
            </a:r>
            <a:r>
              <a:rPr lang="en-US" sz="1000" b="1" dirty="0" err="1">
                <a:solidFill>
                  <a:srgbClr val="DC2626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검증</a:t>
            </a:r>
            <a:r>
              <a:rPr lang="en-US" sz="1000" b="1" dirty="0">
                <a:solidFill>
                  <a:srgbClr val="DC2626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 </a:t>
            </a:r>
            <a:r>
              <a:rPr lang="ko-KR" altLang="en-US" sz="1000" b="1" dirty="0">
                <a:solidFill>
                  <a:srgbClr val="DC2626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미흡</a:t>
            </a:r>
            <a:r>
              <a:rPr lang="ko-KR" altLang="en-US" sz="1000" dirty="0">
                <a:solidFill>
                  <a:srgbClr val="000000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으로</a:t>
            </a:r>
            <a:r>
              <a:rPr lang="en-US" sz="1000" dirty="0">
                <a:solidFill>
                  <a:srgbClr val="000000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 인해 초기 결함이 이월되는 구조적 문제에서 비롯됩니다.
</a:t>
            </a:r>
            <a:r>
              <a:rPr lang="en-US" sz="1000" dirty="0">
                <a:solidFill>
                  <a:srgbClr val="4B5563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개발자·PL 단계 </a:t>
            </a:r>
            <a:r>
              <a:rPr lang="en-US" sz="1000" dirty="0" err="1">
                <a:solidFill>
                  <a:srgbClr val="4B5563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결함은</a:t>
            </a:r>
            <a:r>
              <a:rPr lang="en-US" sz="1000" dirty="0">
                <a:solidFill>
                  <a:srgbClr val="4B5563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 4.9%(208건)에 불과 → 실질적 검증 없이 공사테스트로 진입하는 관행이 전체 품질 저하의 근본 원인입니다.</a:t>
            </a:r>
            <a:endParaRPr lang="en-US" sz="1000" dirty="0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77" name="Shape 3">
            <a:extLst>
              <a:ext uri="{FF2B5EF4-FFF2-40B4-BE49-F238E27FC236}">
                <a16:creationId xmlns:a16="http://schemas.microsoft.com/office/drawing/2014/main" id="{28DFB9B1-2BD8-DEE3-7233-622CEA11AEF7}"/>
              </a:ext>
            </a:extLst>
          </p:cNvPr>
          <p:cNvSpPr/>
          <p:nvPr/>
        </p:nvSpPr>
        <p:spPr>
          <a:xfrm>
            <a:off x="433645" y="789311"/>
            <a:ext cx="5024180" cy="256032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  <p:txBody>
          <a:bodyPr/>
          <a:lstStyle/>
          <a:p>
            <a:endParaRPr lang="ko-KR" altLang="en-US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78" name="Text 4">
            <a:extLst>
              <a:ext uri="{FF2B5EF4-FFF2-40B4-BE49-F238E27FC236}">
                <a16:creationId xmlns:a16="http://schemas.microsoft.com/office/drawing/2014/main" id="{61242449-2313-5FF6-2969-E3A5716ABB84}"/>
              </a:ext>
            </a:extLst>
          </p:cNvPr>
          <p:cNvSpPr/>
          <p:nvPr/>
        </p:nvSpPr>
        <p:spPr>
          <a:xfrm>
            <a:off x="570805" y="775023"/>
            <a:ext cx="461846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ko-KR" altLang="en-US" sz="950" b="1" dirty="0">
                <a:solidFill>
                  <a:srgbClr val="FFFFFF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모듈별 테스트 단계별 결함 누적 분포 </a:t>
            </a:r>
            <a:r>
              <a:rPr lang="en-US" altLang="ko-KR" sz="950" b="1" dirty="0">
                <a:solidFill>
                  <a:srgbClr val="FFFFFF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(13</a:t>
            </a:r>
            <a:r>
              <a:rPr lang="ko-KR" altLang="en-US" sz="950" b="1" dirty="0">
                <a:solidFill>
                  <a:srgbClr val="FFFFFF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개 주요 모듈</a:t>
            </a:r>
            <a:r>
              <a:rPr lang="en-US" altLang="ko-KR" sz="950" b="1" dirty="0">
                <a:solidFill>
                  <a:srgbClr val="FFFFFF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)</a:t>
            </a:r>
          </a:p>
        </p:txBody>
      </p:sp>
      <p:sp>
        <p:nvSpPr>
          <p:cNvPr id="79" name="Shape 3">
            <a:extLst>
              <a:ext uri="{FF2B5EF4-FFF2-40B4-BE49-F238E27FC236}">
                <a16:creationId xmlns:a16="http://schemas.microsoft.com/office/drawing/2014/main" id="{266F1958-B97D-7634-86FC-DF020E1AB61D}"/>
              </a:ext>
            </a:extLst>
          </p:cNvPr>
          <p:cNvSpPr/>
          <p:nvPr/>
        </p:nvSpPr>
        <p:spPr>
          <a:xfrm>
            <a:off x="5733288" y="777250"/>
            <a:ext cx="2942400" cy="256032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  <p:txBody>
          <a:bodyPr/>
          <a:lstStyle/>
          <a:p>
            <a:endParaRPr lang="ko-KR" altLang="en-US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80" name="Text 4">
            <a:extLst>
              <a:ext uri="{FF2B5EF4-FFF2-40B4-BE49-F238E27FC236}">
                <a16:creationId xmlns:a16="http://schemas.microsoft.com/office/drawing/2014/main" id="{E8B6D061-A2AE-F7E1-95A0-500F88A6B6DC}"/>
              </a:ext>
            </a:extLst>
          </p:cNvPr>
          <p:cNvSpPr/>
          <p:nvPr/>
        </p:nvSpPr>
        <p:spPr>
          <a:xfrm>
            <a:off x="5801853" y="778696"/>
            <a:ext cx="276108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ko-KR" altLang="en-US" sz="950" b="1" dirty="0">
                <a:solidFill>
                  <a:srgbClr val="FFFFFF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단계별 합계</a:t>
            </a:r>
          </a:p>
        </p:txBody>
      </p:sp>
      <p:sp>
        <p:nvSpPr>
          <p:cNvPr id="81" name="Shape 4">
            <a:extLst>
              <a:ext uri="{FF2B5EF4-FFF2-40B4-BE49-F238E27FC236}">
                <a16:creationId xmlns:a16="http://schemas.microsoft.com/office/drawing/2014/main" id="{210AC9FE-5529-BF04-3D67-1A1C8E7D495C}"/>
              </a:ext>
            </a:extLst>
          </p:cNvPr>
          <p:cNvSpPr/>
          <p:nvPr/>
        </p:nvSpPr>
        <p:spPr>
          <a:xfrm>
            <a:off x="5733288" y="1117578"/>
            <a:ext cx="2942400" cy="402336"/>
          </a:xfrm>
          <a:prstGeom prst="rect">
            <a:avLst/>
          </a:prstGeom>
          <a:solidFill>
            <a:srgbClr val="F4F7FB"/>
          </a:solidFill>
          <a:ln w="12700">
            <a:solidFill>
              <a:srgbClr val="D1D9E6"/>
            </a:solidFill>
            <a:prstDash val="solid"/>
          </a:ln>
        </p:spPr>
        <p:txBody>
          <a:bodyPr/>
          <a:lstStyle/>
          <a:p>
            <a:endParaRPr lang="ko-KR" altLang="en-US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82" name="Shape 5">
            <a:extLst>
              <a:ext uri="{FF2B5EF4-FFF2-40B4-BE49-F238E27FC236}">
                <a16:creationId xmlns:a16="http://schemas.microsoft.com/office/drawing/2014/main" id="{8C8CF9B8-BF64-5A08-EF28-FAEFDA5D2F94}"/>
              </a:ext>
            </a:extLst>
          </p:cNvPr>
          <p:cNvSpPr/>
          <p:nvPr/>
        </p:nvSpPr>
        <p:spPr>
          <a:xfrm>
            <a:off x="5733288" y="1117578"/>
            <a:ext cx="64008" cy="402336"/>
          </a:xfrm>
          <a:prstGeom prst="rect">
            <a:avLst/>
          </a:prstGeom>
          <a:solidFill>
            <a:srgbClr val="9CA3AF"/>
          </a:solidFill>
          <a:ln w="12700">
            <a:solidFill>
              <a:srgbClr val="9CA3AF"/>
            </a:solidFill>
            <a:prstDash val="solid"/>
          </a:ln>
        </p:spPr>
        <p:txBody>
          <a:bodyPr/>
          <a:lstStyle/>
          <a:p>
            <a:endParaRPr lang="ko-KR" altLang="en-US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83" name="Text 6">
            <a:extLst>
              <a:ext uri="{FF2B5EF4-FFF2-40B4-BE49-F238E27FC236}">
                <a16:creationId xmlns:a16="http://schemas.microsoft.com/office/drawing/2014/main" id="{10957874-3863-6368-4B33-3857321C0009}"/>
              </a:ext>
            </a:extLst>
          </p:cNvPr>
          <p:cNvSpPr/>
          <p:nvPr/>
        </p:nvSpPr>
        <p:spPr>
          <a:xfrm>
            <a:off x="5870448" y="1117578"/>
            <a:ext cx="13716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1B3A6B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개발자·PL</a:t>
            </a:r>
            <a:endParaRPr lang="en-US" sz="950" dirty="0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84" name="Shape 7">
            <a:extLst>
              <a:ext uri="{FF2B5EF4-FFF2-40B4-BE49-F238E27FC236}">
                <a16:creationId xmlns:a16="http://schemas.microsoft.com/office/drawing/2014/main" id="{749026B7-9F96-235E-1512-7565CD252AC4}"/>
              </a:ext>
            </a:extLst>
          </p:cNvPr>
          <p:cNvSpPr/>
          <p:nvPr/>
        </p:nvSpPr>
        <p:spPr>
          <a:xfrm>
            <a:off x="6749125" y="1263882"/>
            <a:ext cx="1554480" cy="128016"/>
          </a:xfrm>
          <a:prstGeom prst="rect">
            <a:avLst/>
          </a:prstGeom>
          <a:solidFill>
            <a:srgbClr val="D1D9E6"/>
          </a:solidFill>
          <a:ln w="12700">
            <a:solidFill>
              <a:srgbClr val="D1D9E6"/>
            </a:solidFill>
            <a:prstDash val="solid"/>
          </a:ln>
        </p:spPr>
        <p:txBody>
          <a:bodyPr/>
          <a:lstStyle/>
          <a:p>
            <a:endParaRPr lang="ko-KR" altLang="en-US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85" name="Shape 8">
            <a:extLst>
              <a:ext uri="{FF2B5EF4-FFF2-40B4-BE49-F238E27FC236}">
                <a16:creationId xmlns:a16="http://schemas.microsoft.com/office/drawing/2014/main" id="{44ADA7BC-2624-C140-DC2F-22BD2593D3DC}"/>
              </a:ext>
            </a:extLst>
          </p:cNvPr>
          <p:cNvSpPr/>
          <p:nvPr/>
        </p:nvSpPr>
        <p:spPr>
          <a:xfrm>
            <a:off x="6749125" y="1180062"/>
            <a:ext cx="189610" cy="128016"/>
          </a:xfrm>
          <a:prstGeom prst="rect">
            <a:avLst/>
          </a:prstGeom>
          <a:solidFill>
            <a:srgbClr val="9CA3AF"/>
          </a:solidFill>
          <a:ln w="12700">
            <a:solidFill>
              <a:srgbClr val="9CA3AF"/>
            </a:solidFill>
            <a:prstDash val="solid"/>
          </a:ln>
        </p:spPr>
        <p:txBody>
          <a:bodyPr/>
          <a:lstStyle/>
          <a:p>
            <a:endParaRPr lang="ko-KR" altLang="en-US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86" name="Text 9">
            <a:extLst>
              <a:ext uri="{FF2B5EF4-FFF2-40B4-BE49-F238E27FC236}">
                <a16:creationId xmlns:a16="http://schemas.microsoft.com/office/drawing/2014/main" id="{FE7B0C71-26A5-C0EA-AD9F-9A1190C2DCE9}"/>
              </a:ext>
            </a:extLst>
          </p:cNvPr>
          <p:cNvSpPr/>
          <p:nvPr/>
        </p:nvSpPr>
        <p:spPr>
          <a:xfrm>
            <a:off x="6749125" y="1117578"/>
            <a:ext cx="169478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>
              <a:buNone/>
            </a:pPr>
            <a:r>
              <a:rPr lang="en-US" sz="900" b="1" dirty="0">
                <a:solidFill>
                  <a:srgbClr val="9CA3AF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208건 (4.9%)</a:t>
            </a:r>
            <a:endParaRPr lang="en-US" sz="900" dirty="0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87" name="Shape 10">
            <a:extLst>
              <a:ext uri="{FF2B5EF4-FFF2-40B4-BE49-F238E27FC236}">
                <a16:creationId xmlns:a16="http://schemas.microsoft.com/office/drawing/2014/main" id="{B0D60B0F-0672-67E2-A760-CC239937F6B9}"/>
              </a:ext>
            </a:extLst>
          </p:cNvPr>
          <p:cNvSpPr/>
          <p:nvPr/>
        </p:nvSpPr>
        <p:spPr>
          <a:xfrm>
            <a:off x="5733288" y="1629642"/>
            <a:ext cx="2942400" cy="402336"/>
          </a:xfrm>
          <a:prstGeom prst="rect">
            <a:avLst/>
          </a:prstGeom>
          <a:solidFill>
            <a:srgbClr val="F4F7FB"/>
          </a:solidFill>
          <a:ln w="12700">
            <a:solidFill>
              <a:srgbClr val="D1D9E6"/>
            </a:solidFill>
            <a:prstDash val="solid"/>
          </a:ln>
        </p:spPr>
        <p:txBody>
          <a:bodyPr/>
          <a:lstStyle/>
          <a:p>
            <a:endParaRPr lang="ko-KR" altLang="en-US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88" name="Shape 11">
            <a:extLst>
              <a:ext uri="{FF2B5EF4-FFF2-40B4-BE49-F238E27FC236}">
                <a16:creationId xmlns:a16="http://schemas.microsoft.com/office/drawing/2014/main" id="{51D31DB5-9A3C-94B3-A18D-1EBE3A97D8F8}"/>
              </a:ext>
            </a:extLst>
          </p:cNvPr>
          <p:cNvSpPr/>
          <p:nvPr/>
        </p:nvSpPr>
        <p:spPr>
          <a:xfrm>
            <a:off x="5733288" y="1629642"/>
            <a:ext cx="64008" cy="402336"/>
          </a:xfrm>
          <a:prstGeom prst="rect">
            <a:avLst/>
          </a:prstGeom>
          <a:solidFill>
            <a:srgbClr val="3B82C4"/>
          </a:solidFill>
          <a:ln w="12700">
            <a:solidFill>
              <a:srgbClr val="3B82C4"/>
            </a:solidFill>
            <a:prstDash val="solid"/>
          </a:ln>
        </p:spPr>
        <p:txBody>
          <a:bodyPr/>
          <a:lstStyle/>
          <a:p>
            <a:endParaRPr lang="ko-KR" altLang="en-US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89" name="Text 12">
            <a:extLst>
              <a:ext uri="{FF2B5EF4-FFF2-40B4-BE49-F238E27FC236}">
                <a16:creationId xmlns:a16="http://schemas.microsoft.com/office/drawing/2014/main" id="{CFA42EBF-9D1B-0226-E149-83025B48556B}"/>
              </a:ext>
            </a:extLst>
          </p:cNvPr>
          <p:cNvSpPr/>
          <p:nvPr/>
        </p:nvSpPr>
        <p:spPr>
          <a:xfrm>
            <a:off x="5870448" y="1629642"/>
            <a:ext cx="13716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1B3A6B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3자 테스트</a:t>
            </a:r>
            <a:endParaRPr lang="en-US" sz="950" dirty="0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90" name="Shape 13">
            <a:extLst>
              <a:ext uri="{FF2B5EF4-FFF2-40B4-BE49-F238E27FC236}">
                <a16:creationId xmlns:a16="http://schemas.microsoft.com/office/drawing/2014/main" id="{A4E782A2-864A-919C-4979-D48A1356D8FF}"/>
              </a:ext>
            </a:extLst>
          </p:cNvPr>
          <p:cNvSpPr/>
          <p:nvPr/>
        </p:nvSpPr>
        <p:spPr>
          <a:xfrm>
            <a:off x="6749125" y="1775946"/>
            <a:ext cx="1554480" cy="128016"/>
          </a:xfrm>
          <a:prstGeom prst="rect">
            <a:avLst/>
          </a:prstGeom>
          <a:solidFill>
            <a:srgbClr val="D1D9E6"/>
          </a:solidFill>
          <a:ln w="12700">
            <a:solidFill>
              <a:srgbClr val="D1D9E6"/>
            </a:solidFill>
            <a:prstDash val="solid"/>
          </a:ln>
        </p:spPr>
        <p:txBody>
          <a:bodyPr/>
          <a:lstStyle/>
          <a:p>
            <a:endParaRPr lang="ko-KR" altLang="en-US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91" name="Shape 14">
            <a:extLst>
              <a:ext uri="{FF2B5EF4-FFF2-40B4-BE49-F238E27FC236}">
                <a16:creationId xmlns:a16="http://schemas.microsoft.com/office/drawing/2014/main" id="{7B59F9F5-23AD-B3C6-3850-57EACB789EB4}"/>
              </a:ext>
            </a:extLst>
          </p:cNvPr>
          <p:cNvSpPr/>
          <p:nvPr/>
        </p:nvSpPr>
        <p:spPr>
          <a:xfrm>
            <a:off x="6749125" y="1686030"/>
            <a:ext cx="900000" cy="128016"/>
          </a:xfrm>
          <a:prstGeom prst="rect">
            <a:avLst/>
          </a:prstGeom>
          <a:solidFill>
            <a:srgbClr val="3B82C4"/>
          </a:solidFill>
          <a:ln w="12700">
            <a:solidFill>
              <a:srgbClr val="3B82C4"/>
            </a:solidFill>
            <a:prstDash val="solid"/>
          </a:ln>
        </p:spPr>
        <p:txBody>
          <a:bodyPr/>
          <a:lstStyle/>
          <a:p>
            <a:endParaRPr lang="ko-KR" altLang="en-US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92" name="Text 15">
            <a:extLst>
              <a:ext uri="{FF2B5EF4-FFF2-40B4-BE49-F238E27FC236}">
                <a16:creationId xmlns:a16="http://schemas.microsoft.com/office/drawing/2014/main" id="{11ADA742-F935-3687-5805-262DEAF3316D}"/>
              </a:ext>
            </a:extLst>
          </p:cNvPr>
          <p:cNvSpPr/>
          <p:nvPr/>
        </p:nvSpPr>
        <p:spPr>
          <a:xfrm>
            <a:off x="6749125" y="1629642"/>
            <a:ext cx="1616207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>
              <a:buNone/>
            </a:pPr>
            <a:r>
              <a:rPr lang="en-US" sz="900" b="1" dirty="0">
                <a:solidFill>
                  <a:srgbClr val="3B82C4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882건 (21.0%)</a:t>
            </a:r>
            <a:endParaRPr lang="en-US" sz="900" dirty="0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93" name="Shape 16">
            <a:extLst>
              <a:ext uri="{FF2B5EF4-FFF2-40B4-BE49-F238E27FC236}">
                <a16:creationId xmlns:a16="http://schemas.microsoft.com/office/drawing/2014/main" id="{F9CA3EB9-F3EA-7002-CBC9-6E399AC8186A}"/>
              </a:ext>
            </a:extLst>
          </p:cNvPr>
          <p:cNvSpPr/>
          <p:nvPr/>
        </p:nvSpPr>
        <p:spPr>
          <a:xfrm>
            <a:off x="5733288" y="2141706"/>
            <a:ext cx="2942400" cy="402336"/>
          </a:xfrm>
          <a:prstGeom prst="rect">
            <a:avLst/>
          </a:prstGeom>
          <a:solidFill>
            <a:srgbClr val="F4F7FB"/>
          </a:solidFill>
          <a:ln w="12700">
            <a:solidFill>
              <a:srgbClr val="D1D9E6"/>
            </a:solidFill>
            <a:prstDash val="solid"/>
          </a:ln>
        </p:spPr>
        <p:txBody>
          <a:bodyPr/>
          <a:lstStyle/>
          <a:p>
            <a:endParaRPr lang="ko-KR" altLang="en-US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94" name="Shape 17">
            <a:extLst>
              <a:ext uri="{FF2B5EF4-FFF2-40B4-BE49-F238E27FC236}">
                <a16:creationId xmlns:a16="http://schemas.microsoft.com/office/drawing/2014/main" id="{2E131601-B080-FD69-116F-D5A29BCAE176}"/>
              </a:ext>
            </a:extLst>
          </p:cNvPr>
          <p:cNvSpPr/>
          <p:nvPr/>
        </p:nvSpPr>
        <p:spPr>
          <a:xfrm>
            <a:off x="5733288" y="2141706"/>
            <a:ext cx="64008" cy="402336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  <p:txBody>
          <a:bodyPr/>
          <a:lstStyle/>
          <a:p>
            <a:endParaRPr lang="ko-KR" altLang="en-US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95" name="Text 18">
            <a:extLst>
              <a:ext uri="{FF2B5EF4-FFF2-40B4-BE49-F238E27FC236}">
                <a16:creationId xmlns:a16="http://schemas.microsoft.com/office/drawing/2014/main" id="{843EB54A-FD02-9C53-35A4-6CCADCA87891}"/>
              </a:ext>
            </a:extLst>
          </p:cNvPr>
          <p:cNvSpPr/>
          <p:nvPr/>
        </p:nvSpPr>
        <p:spPr>
          <a:xfrm>
            <a:off x="5870448" y="2141706"/>
            <a:ext cx="13716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1B3A6B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공사 테스트</a:t>
            </a:r>
            <a:endParaRPr lang="en-US" sz="950" dirty="0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96" name="Shape 19">
            <a:extLst>
              <a:ext uri="{FF2B5EF4-FFF2-40B4-BE49-F238E27FC236}">
                <a16:creationId xmlns:a16="http://schemas.microsoft.com/office/drawing/2014/main" id="{13700E01-914A-335A-98BA-658E26E02275}"/>
              </a:ext>
            </a:extLst>
          </p:cNvPr>
          <p:cNvSpPr/>
          <p:nvPr/>
        </p:nvSpPr>
        <p:spPr>
          <a:xfrm>
            <a:off x="6749125" y="2288010"/>
            <a:ext cx="1554480" cy="128016"/>
          </a:xfrm>
          <a:prstGeom prst="rect">
            <a:avLst/>
          </a:prstGeom>
          <a:solidFill>
            <a:srgbClr val="D1D9E6"/>
          </a:solidFill>
          <a:ln w="12700">
            <a:solidFill>
              <a:srgbClr val="D1D9E6"/>
            </a:solidFill>
            <a:prstDash val="solid"/>
          </a:ln>
        </p:spPr>
        <p:txBody>
          <a:bodyPr/>
          <a:lstStyle/>
          <a:p>
            <a:endParaRPr lang="ko-KR" altLang="en-US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97" name="Shape 20">
            <a:extLst>
              <a:ext uri="{FF2B5EF4-FFF2-40B4-BE49-F238E27FC236}">
                <a16:creationId xmlns:a16="http://schemas.microsoft.com/office/drawing/2014/main" id="{70D95E90-1722-06EE-3067-B35FA658CA4C}"/>
              </a:ext>
            </a:extLst>
          </p:cNvPr>
          <p:cNvSpPr/>
          <p:nvPr/>
        </p:nvSpPr>
        <p:spPr>
          <a:xfrm>
            <a:off x="6749125" y="2175234"/>
            <a:ext cx="1908000" cy="128016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  <p:txBody>
          <a:bodyPr/>
          <a:lstStyle/>
          <a:p>
            <a:endParaRPr lang="ko-KR" altLang="en-US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98" name="Text 21">
            <a:extLst>
              <a:ext uri="{FF2B5EF4-FFF2-40B4-BE49-F238E27FC236}">
                <a16:creationId xmlns:a16="http://schemas.microsoft.com/office/drawing/2014/main" id="{0BB1F26C-F554-EA7E-1334-665155EFC799}"/>
              </a:ext>
            </a:extLst>
          </p:cNvPr>
          <p:cNvSpPr/>
          <p:nvPr/>
        </p:nvSpPr>
        <p:spPr>
          <a:xfrm>
            <a:off x="6749125" y="2141706"/>
            <a:ext cx="147333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>
              <a:buNone/>
            </a:pPr>
            <a:r>
              <a:rPr lang="en-US" sz="900" b="1" dirty="0">
                <a:solidFill>
                  <a:srgbClr val="DC2626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2007건 (47.8%)</a:t>
            </a:r>
            <a:endParaRPr lang="en-US" sz="900" dirty="0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99" name="Shape 22">
            <a:extLst>
              <a:ext uri="{FF2B5EF4-FFF2-40B4-BE49-F238E27FC236}">
                <a16:creationId xmlns:a16="http://schemas.microsoft.com/office/drawing/2014/main" id="{42E63AA8-B07F-7FB8-C5DD-F5421623E4BE}"/>
              </a:ext>
            </a:extLst>
          </p:cNvPr>
          <p:cNvSpPr/>
          <p:nvPr/>
        </p:nvSpPr>
        <p:spPr>
          <a:xfrm>
            <a:off x="5733288" y="2653770"/>
            <a:ext cx="2942400" cy="402336"/>
          </a:xfrm>
          <a:prstGeom prst="rect">
            <a:avLst/>
          </a:prstGeom>
          <a:solidFill>
            <a:srgbClr val="F4F7FB"/>
          </a:solidFill>
          <a:ln w="12700">
            <a:solidFill>
              <a:srgbClr val="D1D9E6"/>
            </a:solidFill>
            <a:prstDash val="solid"/>
          </a:ln>
        </p:spPr>
        <p:txBody>
          <a:bodyPr/>
          <a:lstStyle/>
          <a:p>
            <a:endParaRPr lang="ko-KR" altLang="en-US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100" name="Shape 23">
            <a:extLst>
              <a:ext uri="{FF2B5EF4-FFF2-40B4-BE49-F238E27FC236}">
                <a16:creationId xmlns:a16="http://schemas.microsoft.com/office/drawing/2014/main" id="{74AB0896-3A7F-AB72-90E9-881FA6D4FA52}"/>
              </a:ext>
            </a:extLst>
          </p:cNvPr>
          <p:cNvSpPr/>
          <p:nvPr/>
        </p:nvSpPr>
        <p:spPr>
          <a:xfrm>
            <a:off x="5733288" y="2653770"/>
            <a:ext cx="64008" cy="402336"/>
          </a:xfrm>
          <a:prstGeom prst="rect">
            <a:avLst/>
          </a:prstGeom>
          <a:solidFill>
            <a:srgbClr val="2563A8"/>
          </a:solidFill>
          <a:ln w="12700">
            <a:solidFill>
              <a:srgbClr val="2563A8"/>
            </a:solidFill>
            <a:prstDash val="solid"/>
          </a:ln>
        </p:spPr>
        <p:txBody>
          <a:bodyPr/>
          <a:lstStyle/>
          <a:p>
            <a:endParaRPr lang="ko-KR" altLang="en-US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101" name="Text 24">
            <a:extLst>
              <a:ext uri="{FF2B5EF4-FFF2-40B4-BE49-F238E27FC236}">
                <a16:creationId xmlns:a16="http://schemas.microsoft.com/office/drawing/2014/main" id="{343BEEF2-F871-6797-5142-331334281B4D}"/>
              </a:ext>
            </a:extLst>
          </p:cNvPr>
          <p:cNvSpPr/>
          <p:nvPr/>
        </p:nvSpPr>
        <p:spPr>
          <a:xfrm>
            <a:off x="5870448" y="2653770"/>
            <a:ext cx="13716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1B3A6B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현업 테스트</a:t>
            </a:r>
            <a:endParaRPr lang="en-US" sz="950" dirty="0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102" name="Shape 25">
            <a:extLst>
              <a:ext uri="{FF2B5EF4-FFF2-40B4-BE49-F238E27FC236}">
                <a16:creationId xmlns:a16="http://schemas.microsoft.com/office/drawing/2014/main" id="{A0786C58-32DB-C36F-BAE0-5C1A5A1FCE09}"/>
              </a:ext>
            </a:extLst>
          </p:cNvPr>
          <p:cNvSpPr/>
          <p:nvPr/>
        </p:nvSpPr>
        <p:spPr>
          <a:xfrm>
            <a:off x="6749125" y="2800074"/>
            <a:ext cx="1554480" cy="128016"/>
          </a:xfrm>
          <a:prstGeom prst="rect">
            <a:avLst/>
          </a:prstGeom>
          <a:solidFill>
            <a:srgbClr val="D1D9E6"/>
          </a:solidFill>
          <a:ln w="12700">
            <a:solidFill>
              <a:srgbClr val="D1D9E6"/>
            </a:solidFill>
            <a:prstDash val="solid"/>
          </a:ln>
        </p:spPr>
        <p:txBody>
          <a:bodyPr/>
          <a:lstStyle/>
          <a:p>
            <a:endParaRPr lang="ko-KR" altLang="en-US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103" name="Shape 26">
            <a:extLst>
              <a:ext uri="{FF2B5EF4-FFF2-40B4-BE49-F238E27FC236}">
                <a16:creationId xmlns:a16="http://schemas.microsoft.com/office/drawing/2014/main" id="{284DFDB6-13FF-2850-A26A-1C76F8F00873}"/>
              </a:ext>
            </a:extLst>
          </p:cNvPr>
          <p:cNvSpPr/>
          <p:nvPr/>
        </p:nvSpPr>
        <p:spPr>
          <a:xfrm>
            <a:off x="6749125" y="2708634"/>
            <a:ext cx="612000" cy="128016"/>
          </a:xfrm>
          <a:prstGeom prst="rect">
            <a:avLst/>
          </a:prstGeom>
          <a:solidFill>
            <a:srgbClr val="2563A8"/>
          </a:solidFill>
          <a:ln w="12700">
            <a:solidFill>
              <a:srgbClr val="2563A8"/>
            </a:solidFill>
            <a:prstDash val="solid"/>
          </a:ln>
        </p:spPr>
        <p:txBody>
          <a:bodyPr/>
          <a:lstStyle/>
          <a:p>
            <a:endParaRPr lang="ko-KR" altLang="en-US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104" name="Text 27">
            <a:extLst>
              <a:ext uri="{FF2B5EF4-FFF2-40B4-BE49-F238E27FC236}">
                <a16:creationId xmlns:a16="http://schemas.microsoft.com/office/drawing/2014/main" id="{D9495D32-E16F-F41D-31D8-9919BEA0E04D}"/>
              </a:ext>
            </a:extLst>
          </p:cNvPr>
          <p:cNvSpPr/>
          <p:nvPr/>
        </p:nvSpPr>
        <p:spPr>
          <a:xfrm>
            <a:off x="6749125" y="2653770"/>
            <a:ext cx="147333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>
              <a:buNone/>
            </a:pPr>
            <a:r>
              <a:rPr lang="en-US" sz="900" b="1" dirty="0">
                <a:solidFill>
                  <a:srgbClr val="2563A8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671건 (16.0%)</a:t>
            </a:r>
            <a:endParaRPr lang="en-US" sz="900" dirty="0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105" name="Shape 28">
            <a:extLst>
              <a:ext uri="{FF2B5EF4-FFF2-40B4-BE49-F238E27FC236}">
                <a16:creationId xmlns:a16="http://schemas.microsoft.com/office/drawing/2014/main" id="{55FCB821-E7C5-3CC2-DE62-5A9806C89834}"/>
              </a:ext>
            </a:extLst>
          </p:cNvPr>
          <p:cNvSpPr/>
          <p:nvPr/>
        </p:nvSpPr>
        <p:spPr>
          <a:xfrm>
            <a:off x="5733288" y="3165834"/>
            <a:ext cx="2942400" cy="402336"/>
          </a:xfrm>
          <a:prstGeom prst="rect">
            <a:avLst/>
          </a:prstGeom>
          <a:solidFill>
            <a:srgbClr val="F4F7FB"/>
          </a:solidFill>
          <a:ln w="12700">
            <a:solidFill>
              <a:srgbClr val="D1D9E6"/>
            </a:solidFill>
            <a:prstDash val="solid"/>
          </a:ln>
        </p:spPr>
        <p:txBody>
          <a:bodyPr/>
          <a:lstStyle/>
          <a:p>
            <a:endParaRPr lang="ko-KR" altLang="en-US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106" name="Shape 29">
            <a:extLst>
              <a:ext uri="{FF2B5EF4-FFF2-40B4-BE49-F238E27FC236}">
                <a16:creationId xmlns:a16="http://schemas.microsoft.com/office/drawing/2014/main" id="{13E7700B-4183-CC79-2B6A-C6C42B206614}"/>
              </a:ext>
            </a:extLst>
          </p:cNvPr>
          <p:cNvSpPr/>
          <p:nvPr/>
        </p:nvSpPr>
        <p:spPr>
          <a:xfrm>
            <a:off x="5733288" y="3165834"/>
            <a:ext cx="64008" cy="402336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  <p:txBody>
          <a:bodyPr/>
          <a:lstStyle/>
          <a:p>
            <a:endParaRPr lang="ko-KR" altLang="en-US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107" name="Text 30">
            <a:extLst>
              <a:ext uri="{FF2B5EF4-FFF2-40B4-BE49-F238E27FC236}">
                <a16:creationId xmlns:a16="http://schemas.microsoft.com/office/drawing/2014/main" id="{FF17CF9B-0180-19F1-524F-5FDCA768C28B}"/>
              </a:ext>
            </a:extLst>
          </p:cNvPr>
          <p:cNvSpPr/>
          <p:nvPr/>
        </p:nvSpPr>
        <p:spPr>
          <a:xfrm>
            <a:off x="5870448" y="3165834"/>
            <a:ext cx="13716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1B3A6B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감리 테스트</a:t>
            </a:r>
            <a:endParaRPr lang="en-US" sz="950" dirty="0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108" name="Shape 31">
            <a:extLst>
              <a:ext uri="{FF2B5EF4-FFF2-40B4-BE49-F238E27FC236}">
                <a16:creationId xmlns:a16="http://schemas.microsoft.com/office/drawing/2014/main" id="{A957F37E-34B1-61A8-26E6-B2BB58BD4D59}"/>
              </a:ext>
            </a:extLst>
          </p:cNvPr>
          <p:cNvSpPr/>
          <p:nvPr/>
        </p:nvSpPr>
        <p:spPr>
          <a:xfrm>
            <a:off x="6749125" y="3312138"/>
            <a:ext cx="1554480" cy="128016"/>
          </a:xfrm>
          <a:prstGeom prst="rect">
            <a:avLst/>
          </a:prstGeom>
          <a:solidFill>
            <a:srgbClr val="D1D9E6"/>
          </a:solidFill>
          <a:ln w="12700">
            <a:solidFill>
              <a:srgbClr val="D1D9E6"/>
            </a:solidFill>
            <a:prstDash val="solid"/>
          </a:ln>
        </p:spPr>
        <p:txBody>
          <a:bodyPr/>
          <a:lstStyle/>
          <a:p>
            <a:endParaRPr lang="ko-KR" altLang="en-US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109" name="Shape 32">
            <a:extLst>
              <a:ext uri="{FF2B5EF4-FFF2-40B4-BE49-F238E27FC236}">
                <a16:creationId xmlns:a16="http://schemas.microsoft.com/office/drawing/2014/main" id="{F73BACE2-C706-ED19-02F6-85B6E10052B9}"/>
              </a:ext>
            </a:extLst>
          </p:cNvPr>
          <p:cNvSpPr/>
          <p:nvPr/>
        </p:nvSpPr>
        <p:spPr>
          <a:xfrm>
            <a:off x="6749125" y="3213078"/>
            <a:ext cx="432000" cy="128016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  <p:txBody>
          <a:bodyPr/>
          <a:lstStyle/>
          <a:p>
            <a:endParaRPr lang="ko-KR" altLang="en-US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110" name="Text 33">
            <a:extLst>
              <a:ext uri="{FF2B5EF4-FFF2-40B4-BE49-F238E27FC236}">
                <a16:creationId xmlns:a16="http://schemas.microsoft.com/office/drawing/2014/main" id="{A0B5121A-8E05-D73C-B060-448961136A80}"/>
              </a:ext>
            </a:extLst>
          </p:cNvPr>
          <p:cNvSpPr/>
          <p:nvPr/>
        </p:nvSpPr>
        <p:spPr>
          <a:xfrm>
            <a:off x="6749125" y="3165834"/>
            <a:ext cx="1616207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>
              <a:buNone/>
            </a:pPr>
            <a:r>
              <a:rPr lang="en-US" sz="900" b="1" dirty="0">
                <a:solidFill>
                  <a:srgbClr val="1B3A6B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435건 (10.3%)</a:t>
            </a:r>
            <a:endParaRPr lang="en-US" sz="900" dirty="0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/>
          <p:cNvSpPr/>
          <p:nvPr/>
        </p:nvSpPr>
        <p:spPr>
          <a:xfrm>
            <a:off x="320040" y="0"/>
            <a:ext cx="7498080" cy="450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002060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업무모듈별 결함 발생 유형 분석</a:t>
            </a:r>
            <a:endParaRPr lang="en-US" sz="2000" dirty="0">
              <a:solidFill>
                <a:srgbClr val="002060"/>
              </a:solidFill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5" name="Shape 3"/>
          <p:cNvSpPr/>
          <p:nvPr/>
        </p:nvSpPr>
        <p:spPr>
          <a:xfrm>
            <a:off x="426720" y="765879"/>
            <a:ext cx="8248968" cy="292608"/>
          </a:xfrm>
          <a:prstGeom prst="rect">
            <a:avLst/>
          </a:prstGeom>
          <a:solidFill>
            <a:srgbClr val="F4F7FB"/>
          </a:solidFill>
          <a:ln w="12700">
            <a:solidFill>
              <a:srgbClr val="D1D9E6"/>
            </a:solidFill>
            <a:prstDash val="solid"/>
          </a:ln>
        </p:spPr>
        <p:txBody>
          <a:bodyPr/>
          <a:lstStyle/>
          <a:p>
            <a:endParaRPr lang="ko-KR" altLang="en-US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6" name="Shape 4"/>
          <p:cNvSpPr/>
          <p:nvPr/>
        </p:nvSpPr>
        <p:spPr>
          <a:xfrm>
            <a:off x="426720" y="765879"/>
            <a:ext cx="64008" cy="292608"/>
          </a:xfrm>
          <a:prstGeom prst="rect">
            <a:avLst/>
          </a:prstGeom>
          <a:solidFill>
            <a:srgbClr val="E85D2F"/>
          </a:solidFill>
          <a:ln w="12700">
            <a:solidFill>
              <a:srgbClr val="E85D2F"/>
            </a:solidFill>
            <a:prstDash val="solid"/>
          </a:ln>
        </p:spPr>
        <p:txBody>
          <a:bodyPr/>
          <a:lstStyle/>
          <a:p>
            <a:endParaRPr lang="ko-KR" altLang="en-US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7" name="Text 5"/>
          <p:cNvSpPr/>
          <p:nvPr/>
        </p:nvSpPr>
        <p:spPr>
          <a:xfrm>
            <a:off x="591312" y="765879"/>
            <a:ext cx="57402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1B3A6B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기능 결함 61.8% 압도적 · 항공보안(FS) UI 39.4% 최다 · 공항운영(GO) 데이터 22.3% — ASIS 정합성 핵심 이슈</a:t>
            </a:r>
            <a:endParaRPr lang="en-US" sz="950" dirty="0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graphicFrame>
        <p:nvGraphicFramePr>
          <p:cNvPr id="8" name="Chart 0"/>
          <p:cNvGraphicFramePr/>
          <p:nvPr>
            <p:extLst>
              <p:ext uri="{D42A27DB-BD31-4B8C-83A1-F6EECF244321}">
                <p14:modId xmlns:p14="http://schemas.microsoft.com/office/powerpoint/2010/main" val="3876343981"/>
              </p:ext>
            </p:extLst>
          </p:nvPr>
        </p:nvGraphicFramePr>
        <p:xfrm>
          <a:off x="438912" y="1216152"/>
          <a:ext cx="5079355" cy="3310128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9" name="Text 6"/>
          <p:cNvSpPr/>
          <p:nvPr/>
        </p:nvSpPr>
        <p:spPr>
          <a:xfrm>
            <a:off x="5852160" y="1115568"/>
            <a:ext cx="3063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1B3A6B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전체 결함 유형 비율 (4,648건)</a:t>
            </a:r>
            <a:endParaRPr lang="en-US" sz="1050" dirty="0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10" name="Shape 7"/>
          <p:cNvSpPr/>
          <p:nvPr/>
        </p:nvSpPr>
        <p:spPr>
          <a:xfrm>
            <a:off x="5609703" y="1417044"/>
            <a:ext cx="1893082" cy="232758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  <p:txBody>
          <a:bodyPr/>
          <a:lstStyle/>
          <a:p>
            <a:endParaRPr lang="ko-KR" altLang="en-US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11" name="Text 8"/>
          <p:cNvSpPr/>
          <p:nvPr/>
        </p:nvSpPr>
        <p:spPr>
          <a:xfrm>
            <a:off x="5609703" y="1417044"/>
            <a:ext cx="1893082" cy="2419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FFFFFF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61.8%</a:t>
            </a:r>
            <a:endParaRPr lang="en-US" sz="800" dirty="0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12" name="Shape 9"/>
          <p:cNvSpPr/>
          <p:nvPr/>
        </p:nvSpPr>
        <p:spPr>
          <a:xfrm>
            <a:off x="7502785" y="1417044"/>
            <a:ext cx="591205" cy="232758"/>
          </a:xfrm>
          <a:prstGeom prst="rect">
            <a:avLst/>
          </a:prstGeom>
          <a:solidFill>
            <a:srgbClr val="2563A8"/>
          </a:solidFill>
          <a:ln w="12700">
            <a:solidFill>
              <a:srgbClr val="2563A8"/>
            </a:solidFill>
            <a:prstDash val="solid"/>
          </a:ln>
        </p:spPr>
        <p:txBody>
          <a:bodyPr/>
          <a:lstStyle/>
          <a:p>
            <a:endParaRPr lang="ko-KR" altLang="en-US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13" name="Text 10"/>
          <p:cNvSpPr/>
          <p:nvPr/>
        </p:nvSpPr>
        <p:spPr>
          <a:xfrm>
            <a:off x="7502785" y="1417044"/>
            <a:ext cx="591205" cy="2327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FFFFFF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19.3%</a:t>
            </a:r>
            <a:endParaRPr lang="en-US" sz="800" dirty="0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14" name="Shape 11"/>
          <p:cNvSpPr/>
          <p:nvPr/>
        </p:nvSpPr>
        <p:spPr>
          <a:xfrm>
            <a:off x="8093991" y="1417044"/>
            <a:ext cx="245059" cy="232758"/>
          </a:xfrm>
          <a:prstGeom prst="rect">
            <a:avLst/>
          </a:prstGeom>
          <a:solidFill>
            <a:srgbClr val="E85D2F"/>
          </a:solidFill>
          <a:ln w="12700">
            <a:solidFill>
              <a:srgbClr val="E85D2F"/>
            </a:solidFill>
            <a:prstDash val="solid"/>
          </a:ln>
        </p:spPr>
        <p:txBody>
          <a:bodyPr/>
          <a:lstStyle/>
          <a:p>
            <a:endParaRPr lang="ko-KR" altLang="en-US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15" name="Shape 12"/>
          <p:cNvSpPr/>
          <p:nvPr/>
        </p:nvSpPr>
        <p:spPr>
          <a:xfrm>
            <a:off x="8339050" y="1417044"/>
            <a:ext cx="333893" cy="232758"/>
          </a:xfrm>
          <a:prstGeom prst="rect">
            <a:avLst/>
          </a:prstGeom>
          <a:solidFill>
            <a:srgbClr val="9CA3AF"/>
          </a:solidFill>
          <a:ln w="12700">
            <a:solidFill>
              <a:srgbClr val="9CA3AF"/>
            </a:solidFill>
            <a:prstDash val="solid"/>
          </a:ln>
        </p:spPr>
        <p:txBody>
          <a:bodyPr/>
          <a:lstStyle/>
          <a:p>
            <a:endParaRPr lang="ko-KR" altLang="en-US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16" name="Text 13"/>
          <p:cNvSpPr/>
          <p:nvPr/>
        </p:nvSpPr>
        <p:spPr>
          <a:xfrm>
            <a:off x="8339050" y="1417044"/>
            <a:ext cx="333893" cy="2327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FFFFFF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10.9%</a:t>
            </a:r>
            <a:endParaRPr lang="en-US" sz="800" dirty="0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17" name="Shape 14"/>
          <p:cNvSpPr/>
          <p:nvPr/>
        </p:nvSpPr>
        <p:spPr>
          <a:xfrm>
            <a:off x="5609703" y="1738749"/>
            <a:ext cx="128016" cy="128016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  <p:txBody>
          <a:bodyPr/>
          <a:lstStyle/>
          <a:p>
            <a:endParaRPr lang="ko-KR" altLang="en-US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18" name="Text 15"/>
          <p:cNvSpPr/>
          <p:nvPr/>
        </p:nvSpPr>
        <p:spPr>
          <a:xfrm>
            <a:off x="5774295" y="1702173"/>
            <a:ext cx="1042141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4B5563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기능 61.8% (2,685건)</a:t>
            </a:r>
            <a:endParaRPr lang="en-US" sz="800" dirty="0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19" name="Shape 16"/>
          <p:cNvSpPr/>
          <p:nvPr/>
        </p:nvSpPr>
        <p:spPr>
          <a:xfrm>
            <a:off x="7182471" y="1738749"/>
            <a:ext cx="128016" cy="128016"/>
          </a:xfrm>
          <a:prstGeom prst="rect">
            <a:avLst/>
          </a:prstGeom>
          <a:solidFill>
            <a:srgbClr val="2563A8"/>
          </a:solidFill>
          <a:ln w="12700">
            <a:solidFill>
              <a:srgbClr val="2563A8"/>
            </a:solidFill>
            <a:prstDash val="solid"/>
          </a:ln>
        </p:spPr>
        <p:txBody>
          <a:bodyPr/>
          <a:lstStyle/>
          <a:p>
            <a:endParaRPr lang="ko-KR" altLang="en-US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20" name="Text 17"/>
          <p:cNvSpPr/>
          <p:nvPr/>
        </p:nvSpPr>
        <p:spPr>
          <a:xfrm>
            <a:off x="7347063" y="1702173"/>
            <a:ext cx="991987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4B5563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UI 19.3% (839건)</a:t>
            </a:r>
            <a:endParaRPr lang="en-US" sz="800" dirty="0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21" name="Shape 18"/>
          <p:cNvSpPr/>
          <p:nvPr/>
        </p:nvSpPr>
        <p:spPr>
          <a:xfrm>
            <a:off x="5609703" y="1958205"/>
            <a:ext cx="128016" cy="128016"/>
          </a:xfrm>
          <a:prstGeom prst="rect">
            <a:avLst/>
          </a:prstGeom>
          <a:solidFill>
            <a:srgbClr val="E85D2F"/>
          </a:solidFill>
          <a:ln w="12700">
            <a:solidFill>
              <a:srgbClr val="E85D2F"/>
            </a:solidFill>
            <a:prstDash val="solid"/>
          </a:ln>
        </p:spPr>
        <p:txBody>
          <a:bodyPr/>
          <a:lstStyle/>
          <a:p>
            <a:endParaRPr lang="ko-KR" altLang="en-US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22" name="Text 19"/>
          <p:cNvSpPr/>
          <p:nvPr/>
        </p:nvSpPr>
        <p:spPr>
          <a:xfrm>
            <a:off x="5774295" y="1921629"/>
            <a:ext cx="1042141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4B5563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데이터 8% (376건)</a:t>
            </a:r>
            <a:endParaRPr lang="en-US" sz="800" dirty="0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23" name="Shape 20"/>
          <p:cNvSpPr/>
          <p:nvPr/>
        </p:nvSpPr>
        <p:spPr>
          <a:xfrm>
            <a:off x="7182471" y="1958205"/>
            <a:ext cx="128016" cy="128016"/>
          </a:xfrm>
          <a:prstGeom prst="rect">
            <a:avLst/>
          </a:prstGeom>
          <a:solidFill>
            <a:srgbClr val="9CA3AF"/>
          </a:solidFill>
          <a:ln w="12700">
            <a:solidFill>
              <a:srgbClr val="9CA3AF"/>
            </a:solidFill>
            <a:prstDash val="solid"/>
          </a:ln>
        </p:spPr>
        <p:txBody>
          <a:bodyPr/>
          <a:lstStyle/>
          <a:p>
            <a:endParaRPr lang="ko-KR" altLang="en-US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24" name="Text 21"/>
          <p:cNvSpPr/>
          <p:nvPr/>
        </p:nvSpPr>
        <p:spPr>
          <a:xfrm>
            <a:off x="7347063" y="1921629"/>
            <a:ext cx="991987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4B5563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기타합 10.9% (748건)</a:t>
            </a:r>
            <a:endParaRPr lang="en-US" sz="800" dirty="0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25" name="Shape 22"/>
          <p:cNvSpPr/>
          <p:nvPr/>
        </p:nvSpPr>
        <p:spPr>
          <a:xfrm>
            <a:off x="5609703" y="2228091"/>
            <a:ext cx="3063240" cy="256032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  <p:txBody>
          <a:bodyPr/>
          <a:lstStyle/>
          <a:p>
            <a:endParaRPr lang="ko-KR" altLang="en-US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26" name="Text 23"/>
          <p:cNvSpPr/>
          <p:nvPr/>
        </p:nvSpPr>
        <p:spPr>
          <a:xfrm>
            <a:off x="5719431" y="2228091"/>
            <a:ext cx="2926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FFFFFF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유형별 고위험 모듈 특이점</a:t>
            </a:r>
            <a:endParaRPr lang="en-US" sz="950" dirty="0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27" name="Shape 24"/>
          <p:cNvSpPr/>
          <p:nvPr/>
        </p:nvSpPr>
        <p:spPr>
          <a:xfrm>
            <a:off x="5609703" y="2557275"/>
            <a:ext cx="3063240" cy="540000"/>
          </a:xfrm>
          <a:prstGeom prst="rect">
            <a:avLst/>
          </a:prstGeom>
          <a:solidFill>
            <a:srgbClr val="F4F7FB"/>
          </a:solidFill>
          <a:ln w="12700">
            <a:solidFill>
              <a:srgbClr val="D1D9E6"/>
            </a:solidFill>
            <a:prstDash val="solid"/>
          </a:ln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ko-KR" altLang="en-US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28" name="Shape 25"/>
          <p:cNvSpPr/>
          <p:nvPr/>
        </p:nvSpPr>
        <p:spPr>
          <a:xfrm>
            <a:off x="5609703" y="2557275"/>
            <a:ext cx="64008" cy="54000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  <p:txBody>
          <a:bodyPr/>
          <a:lstStyle/>
          <a:p>
            <a:endParaRPr lang="ko-KR" altLang="en-US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29" name="Text 26"/>
          <p:cNvSpPr/>
          <p:nvPr/>
        </p:nvSpPr>
        <p:spPr>
          <a:xfrm>
            <a:off x="5746863" y="2584707"/>
            <a:ext cx="20116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1B3A6B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기능 결함 집중</a:t>
            </a:r>
            <a:endParaRPr lang="en-US" sz="900" dirty="0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30" name="Text 27"/>
          <p:cNvSpPr/>
          <p:nvPr/>
        </p:nvSpPr>
        <p:spPr>
          <a:xfrm>
            <a:off x="7804263" y="2593851"/>
            <a:ext cx="7772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b="1" dirty="0">
                <a:solidFill>
                  <a:srgbClr val="1B3A6B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★★★</a:t>
            </a:r>
            <a:endParaRPr lang="en-US" sz="900" dirty="0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31" name="Text 28"/>
          <p:cNvSpPr/>
          <p:nvPr/>
        </p:nvSpPr>
        <p:spPr>
          <a:xfrm>
            <a:off x="5746863" y="2776731"/>
            <a:ext cx="286207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1B3A6B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운항계획(FP) 73.0% · 자원배정(RS) 73.8%</a:t>
            </a:r>
            <a:endParaRPr lang="en-US" sz="800" dirty="0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32" name="Text 29"/>
          <p:cNvSpPr/>
          <p:nvPr/>
        </p:nvSpPr>
        <p:spPr>
          <a:xfrm>
            <a:off x="5746863" y="2934948"/>
            <a:ext cx="2862072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4B5563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비즈니스 로직 구현 오류 — 요구사항 명세 재검토 필요</a:t>
            </a:r>
            <a:endParaRPr lang="en-US" sz="750" dirty="0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33" name="Shape 30"/>
          <p:cNvSpPr/>
          <p:nvPr/>
        </p:nvSpPr>
        <p:spPr>
          <a:xfrm>
            <a:off x="5609703" y="3122262"/>
            <a:ext cx="3063240" cy="540000"/>
          </a:xfrm>
          <a:prstGeom prst="rect">
            <a:avLst/>
          </a:prstGeom>
          <a:solidFill>
            <a:srgbClr val="F4F7FB"/>
          </a:solidFill>
          <a:ln w="12700">
            <a:solidFill>
              <a:srgbClr val="D1D9E6"/>
            </a:solidFill>
            <a:prstDash val="solid"/>
          </a:ln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ko-KR" altLang="en-US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34" name="Shape 31"/>
          <p:cNvSpPr/>
          <p:nvPr/>
        </p:nvSpPr>
        <p:spPr>
          <a:xfrm>
            <a:off x="5609703" y="3122262"/>
            <a:ext cx="64008" cy="540000"/>
          </a:xfrm>
          <a:prstGeom prst="rect">
            <a:avLst/>
          </a:prstGeom>
          <a:solidFill>
            <a:srgbClr val="2563A8"/>
          </a:solidFill>
          <a:ln w="12700">
            <a:solidFill>
              <a:srgbClr val="2563A8"/>
            </a:solidFill>
            <a:prstDash val="solid"/>
          </a:ln>
        </p:spPr>
        <p:txBody>
          <a:bodyPr/>
          <a:lstStyle/>
          <a:p>
            <a:endParaRPr lang="ko-KR" altLang="en-US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35" name="Text 32"/>
          <p:cNvSpPr/>
          <p:nvPr/>
        </p:nvSpPr>
        <p:spPr>
          <a:xfrm>
            <a:off x="5746863" y="3149694"/>
            <a:ext cx="20116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2563A8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UI 결함 집중</a:t>
            </a:r>
            <a:endParaRPr lang="en-US" sz="900" dirty="0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36" name="Text 33"/>
          <p:cNvSpPr/>
          <p:nvPr/>
        </p:nvSpPr>
        <p:spPr>
          <a:xfrm>
            <a:off x="7804263" y="3158838"/>
            <a:ext cx="7772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b="1" dirty="0">
                <a:solidFill>
                  <a:srgbClr val="2563A8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★★☆</a:t>
            </a:r>
            <a:endParaRPr lang="en-US" sz="900" dirty="0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37" name="Text 34"/>
          <p:cNvSpPr/>
          <p:nvPr/>
        </p:nvSpPr>
        <p:spPr>
          <a:xfrm>
            <a:off x="5746863" y="3341718"/>
            <a:ext cx="286207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1B3A6B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항공보안(FS) 39.4% — 전체 최고</a:t>
            </a:r>
            <a:endParaRPr lang="en-US" sz="800" dirty="0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38" name="Text 35"/>
          <p:cNvSpPr/>
          <p:nvPr/>
        </p:nvSpPr>
        <p:spPr>
          <a:xfrm>
            <a:off x="5746863" y="3499935"/>
            <a:ext cx="2862072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4B5563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화면 표준 미준수 — UI/UX 가이드 즉시 제정·적용</a:t>
            </a:r>
            <a:endParaRPr lang="en-US" sz="750" dirty="0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39" name="Shape 36"/>
          <p:cNvSpPr/>
          <p:nvPr/>
        </p:nvSpPr>
        <p:spPr>
          <a:xfrm>
            <a:off x="5609703" y="3694176"/>
            <a:ext cx="3063240" cy="540000"/>
          </a:xfrm>
          <a:prstGeom prst="rect">
            <a:avLst/>
          </a:prstGeom>
          <a:solidFill>
            <a:srgbClr val="F4F7FB"/>
          </a:solidFill>
          <a:ln w="12700">
            <a:solidFill>
              <a:srgbClr val="D1D9E6"/>
            </a:solidFill>
            <a:prstDash val="solid"/>
          </a:ln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ko-KR" altLang="en-US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40" name="Shape 37"/>
          <p:cNvSpPr/>
          <p:nvPr/>
        </p:nvSpPr>
        <p:spPr>
          <a:xfrm>
            <a:off x="5609703" y="3694176"/>
            <a:ext cx="64008" cy="540000"/>
          </a:xfrm>
          <a:prstGeom prst="rect">
            <a:avLst/>
          </a:prstGeom>
          <a:solidFill>
            <a:srgbClr val="E85D2F"/>
          </a:solidFill>
          <a:ln w="12700">
            <a:solidFill>
              <a:srgbClr val="E85D2F"/>
            </a:solidFill>
            <a:prstDash val="solid"/>
          </a:ln>
        </p:spPr>
        <p:txBody>
          <a:bodyPr/>
          <a:lstStyle/>
          <a:p>
            <a:endParaRPr lang="ko-KR" altLang="en-US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41" name="Text 38"/>
          <p:cNvSpPr/>
          <p:nvPr/>
        </p:nvSpPr>
        <p:spPr>
          <a:xfrm>
            <a:off x="5746863" y="3721608"/>
            <a:ext cx="20116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E85D2F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데이터 결함 집중</a:t>
            </a:r>
            <a:endParaRPr lang="en-US" sz="900" dirty="0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42" name="Text 39"/>
          <p:cNvSpPr/>
          <p:nvPr/>
        </p:nvSpPr>
        <p:spPr>
          <a:xfrm>
            <a:off x="7804263" y="3730752"/>
            <a:ext cx="7772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b="1" dirty="0">
                <a:solidFill>
                  <a:srgbClr val="E85D2F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★★★</a:t>
            </a:r>
            <a:endParaRPr lang="en-US" sz="900" dirty="0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43" name="Text 40"/>
          <p:cNvSpPr/>
          <p:nvPr/>
        </p:nvSpPr>
        <p:spPr>
          <a:xfrm>
            <a:off x="5746863" y="3913632"/>
            <a:ext cx="286207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1B3A6B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공항운영(GO) 22.3% — 압도적 최다</a:t>
            </a:r>
            <a:endParaRPr lang="en-US" sz="800" dirty="0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44" name="Text 41"/>
          <p:cNvSpPr/>
          <p:nvPr/>
        </p:nvSpPr>
        <p:spPr>
          <a:xfrm>
            <a:off x="5746863" y="4071849"/>
            <a:ext cx="2862072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4B5563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ASIS 정합성 검증 미실시 — 전수 비교 시나리오 추가</a:t>
            </a:r>
            <a:endParaRPr lang="en-US" sz="750" dirty="0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45" name="Shape 42"/>
          <p:cNvSpPr/>
          <p:nvPr/>
        </p:nvSpPr>
        <p:spPr>
          <a:xfrm>
            <a:off x="5609703" y="4259163"/>
            <a:ext cx="3063240" cy="540000"/>
          </a:xfrm>
          <a:prstGeom prst="rect">
            <a:avLst/>
          </a:prstGeom>
          <a:solidFill>
            <a:srgbClr val="F4F7FB"/>
          </a:solidFill>
          <a:ln w="12700">
            <a:solidFill>
              <a:srgbClr val="D1D9E6"/>
            </a:solidFill>
            <a:prstDash val="solid"/>
          </a:ln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ko-KR" altLang="en-US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46" name="Shape 43"/>
          <p:cNvSpPr/>
          <p:nvPr/>
        </p:nvSpPr>
        <p:spPr>
          <a:xfrm>
            <a:off x="5609703" y="4259163"/>
            <a:ext cx="64008" cy="540000"/>
          </a:xfrm>
          <a:prstGeom prst="rect">
            <a:avLst/>
          </a:prstGeom>
          <a:solidFill>
            <a:srgbClr val="9CA3AF"/>
          </a:solidFill>
          <a:ln w="12700">
            <a:solidFill>
              <a:srgbClr val="9CA3AF"/>
            </a:solidFill>
            <a:prstDash val="solid"/>
          </a:ln>
        </p:spPr>
        <p:txBody>
          <a:bodyPr/>
          <a:lstStyle/>
          <a:p>
            <a:endParaRPr lang="ko-KR" altLang="en-US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47" name="Text 44"/>
          <p:cNvSpPr/>
          <p:nvPr/>
        </p:nvSpPr>
        <p:spPr>
          <a:xfrm>
            <a:off x="5746863" y="4286595"/>
            <a:ext cx="20116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9CA3AF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기타/문서화 집중</a:t>
            </a:r>
            <a:endParaRPr lang="en-US" sz="900" dirty="0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48" name="Text 45"/>
          <p:cNvSpPr/>
          <p:nvPr/>
        </p:nvSpPr>
        <p:spPr>
          <a:xfrm>
            <a:off x="7804263" y="4295739"/>
            <a:ext cx="7772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b="1" dirty="0">
                <a:solidFill>
                  <a:srgbClr val="9CA3AF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★☆☆</a:t>
            </a:r>
            <a:endParaRPr lang="en-US" sz="900" dirty="0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49" name="Text 46"/>
          <p:cNvSpPr/>
          <p:nvPr/>
        </p:nvSpPr>
        <p:spPr>
          <a:xfrm>
            <a:off x="5746863" y="4478619"/>
            <a:ext cx="286207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1B3A6B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공통관리(FIMS-CA) 기타 27.0%</a:t>
            </a:r>
            <a:endParaRPr lang="en-US" sz="800" dirty="0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50" name="Text 47"/>
          <p:cNvSpPr/>
          <p:nvPr/>
        </p:nvSpPr>
        <p:spPr>
          <a:xfrm>
            <a:off x="5746863" y="4636836"/>
            <a:ext cx="2862072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4B5563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현업 협의 미완료 · 산출물 누락 — 협의체 운영 시급</a:t>
            </a:r>
            <a:endParaRPr lang="en-US" sz="750" dirty="0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51" name="Text 48"/>
          <p:cNvSpPr/>
          <p:nvPr/>
        </p:nvSpPr>
        <p:spPr>
          <a:xfrm>
            <a:off x="438912" y="4455068"/>
            <a:ext cx="479644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i="1" dirty="0">
                <a:solidFill>
                  <a:srgbClr val="E85D2F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※ 기타합 = 문서화(4.3%) + 기타(6.6%)  </a:t>
            </a:r>
          </a:p>
          <a:p>
            <a:pPr marL="0" indent="0">
              <a:buNone/>
            </a:pPr>
            <a:r>
              <a:rPr lang="en-US" sz="850" i="1" dirty="0">
                <a:solidFill>
                  <a:srgbClr val="E85D2F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     항공보안(FS) UI 39.4% — 화면 표준 개선 최우선 · 공항운영(GO) 데이터 138건 전수 검증 권고</a:t>
            </a:r>
            <a:endParaRPr lang="en-US" sz="850" dirty="0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52" name="Text 13">
            <a:extLst>
              <a:ext uri="{FF2B5EF4-FFF2-40B4-BE49-F238E27FC236}">
                <a16:creationId xmlns:a16="http://schemas.microsoft.com/office/drawing/2014/main" id="{1FA32A2F-475C-4200-04AC-C0FBA5747956}"/>
              </a:ext>
            </a:extLst>
          </p:cNvPr>
          <p:cNvSpPr/>
          <p:nvPr/>
        </p:nvSpPr>
        <p:spPr>
          <a:xfrm>
            <a:off x="8049574" y="1423971"/>
            <a:ext cx="333893" cy="2327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FFFFFF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8%</a:t>
            </a:r>
            <a:endParaRPr lang="en-US" sz="800" dirty="0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/>
          <p:cNvSpPr/>
          <p:nvPr/>
        </p:nvSpPr>
        <p:spPr>
          <a:xfrm>
            <a:off x="320040" y="0"/>
            <a:ext cx="6400800" cy="426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002060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결함 유형별 분류 및 근본 원인 분석</a:t>
            </a:r>
            <a:endParaRPr lang="en-US" sz="2000" dirty="0">
              <a:solidFill>
                <a:srgbClr val="002060"/>
              </a:solidFill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graphicFrame>
        <p:nvGraphicFramePr>
          <p:cNvPr id="5" name="Chart 0"/>
          <p:cNvGraphicFramePr/>
          <p:nvPr>
            <p:extLst>
              <p:ext uri="{D42A27DB-BD31-4B8C-83A1-F6EECF244321}">
                <p14:modId xmlns:p14="http://schemas.microsoft.com/office/powerpoint/2010/main" val="1335416537"/>
              </p:ext>
            </p:extLst>
          </p:nvPr>
        </p:nvGraphicFramePr>
        <p:xfrm>
          <a:off x="265176" y="870966"/>
          <a:ext cx="3657600" cy="29260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6" name="Shape 3"/>
          <p:cNvSpPr/>
          <p:nvPr/>
        </p:nvSpPr>
        <p:spPr>
          <a:xfrm>
            <a:off x="4160520" y="804672"/>
            <a:ext cx="4515168" cy="786384"/>
          </a:xfrm>
          <a:prstGeom prst="rect">
            <a:avLst/>
          </a:prstGeom>
          <a:solidFill>
            <a:srgbClr val="F4F7FB"/>
          </a:solidFill>
          <a:ln w="12700">
            <a:solidFill>
              <a:srgbClr val="D1D9E6"/>
            </a:solidFill>
            <a:prstDash val="solid"/>
          </a:ln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ko-KR" altLang="en-US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7" name="Shape 4"/>
          <p:cNvSpPr/>
          <p:nvPr/>
        </p:nvSpPr>
        <p:spPr>
          <a:xfrm>
            <a:off x="4160520" y="804672"/>
            <a:ext cx="73152" cy="786384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  <p:txBody>
          <a:bodyPr/>
          <a:lstStyle/>
          <a:p>
            <a:endParaRPr lang="ko-KR" altLang="en-US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8" name="Shape 5"/>
          <p:cNvSpPr/>
          <p:nvPr/>
        </p:nvSpPr>
        <p:spPr>
          <a:xfrm>
            <a:off x="7937546" y="850392"/>
            <a:ext cx="548640" cy="219456"/>
          </a:xfrm>
          <a:prstGeom prst="roundRect">
            <a:avLst>
              <a:gd name="adj" fmla="val 50000"/>
            </a:avLst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  <p:txBody>
          <a:bodyPr/>
          <a:lstStyle/>
          <a:p>
            <a:endParaRPr lang="ko-KR" altLang="en-US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9" name="Text 6"/>
          <p:cNvSpPr/>
          <p:nvPr/>
        </p:nvSpPr>
        <p:spPr>
          <a:xfrm>
            <a:off x="7937546" y="850392"/>
            <a:ext cx="5486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긴급</a:t>
            </a:r>
            <a:endParaRPr lang="en-US" sz="900" dirty="0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10" name="Text 7"/>
          <p:cNvSpPr/>
          <p:nvPr/>
        </p:nvSpPr>
        <p:spPr>
          <a:xfrm>
            <a:off x="4315968" y="841248"/>
            <a:ext cx="3931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B3A6B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기능 결함  2,685건  (61.8%)</a:t>
            </a:r>
            <a:endParaRPr lang="en-US" sz="1000" dirty="0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11" name="Text 8"/>
          <p:cNvSpPr/>
          <p:nvPr/>
        </p:nvSpPr>
        <p:spPr>
          <a:xfrm>
            <a:off x="4315968" y="1088136"/>
            <a:ext cx="42062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4B5563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원인: 요구사항 분석 미흡 / 비즈니스 로직 구현 오류</a:t>
            </a:r>
            <a:endParaRPr lang="en-US" sz="850" dirty="0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12" name="Text 9"/>
          <p:cNvSpPr/>
          <p:nvPr/>
        </p:nvSpPr>
        <p:spPr>
          <a:xfrm>
            <a:off x="4315968" y="1316736"/>
            <a:ext cx="42062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2563A8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대응: 예외 케이스 체크리스트 의무화 + 개발자 자체 테스트 강화</a:t>
            </a:r>
            <a:endParaRPr lang="en-US" sz="850" dirty="0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13" name="Shape 10"/>
          <p:cNvSpPr/>
          <p:nvPr/>
        </p:nvSpPr>
        <p:spPr>
          <a:xfrm>
            <a:off x="4160520" y="1655064"/>
            <a:ext cx="4515168" cy="786384"/>
          </a:xfrm>
          <a:prstGeom prst="rect">
            <a:avLst/>
          </a:prstGeom>
          <a:solidFill>
            <a:srgbClr val="F4F7FB"/>
          </a:solidFill>
          <a:ln w="12700">
            <a:solidFill>
              <a:srgbClr val="D1D9E6"/>
            </a:solidFill>
            <a:prstDash val="solid"/>
          </a:ln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ko-KR" altLang="en-US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14" name="Shape 11"/>
          <p:cNvSpPr/>
          <p:nvPr/>
        </p:nvSpPr>
        <p:spPr>
          <a:xfrm>
            <a:off x="4160520" y="1655064"/>
            <a:ext cx="73152" cy="786384"/>
          </a:xfrm>
          <a:prstGeom prst="rect">
            <a:avLst/>
          </a:prstGeom>
          <a:solidFill>
            <a:srgbClr val="2563A8"/>
          </a:solidFill>
          <a:ln w="12700">
            <a:solidFill>
              <a:srgbClr val="2563A8"/>
            </a:solidFill>
            <a:prstDash val="solid"/>
          </a:ln>
        </p:spPr>
        <p:txBody>
          <a:bodyPr/>
          <a:lstStyle/>
          <a:p>
            <a:endParaRPr lang="ko-KR" altLang="en-US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15" name="Shape 12"/>
          <p:cNvSpPr/>
          <p:nvPr/>
        </p:nvSpPr>
        <p:spPr>
          <a:xfrm>
            <a:off x="7937546" y="1700784"/>
            <a:ext cx="548640" cy="219456"/>
          </a:xfrm>
          <a:prstGeom prst="roundRect">
            <a:avLst>
              <a:gd name="adj" fmla="val 50000"/>
            </a:avLst>
          </a:prstGeom>
          <a:solidFill>
            <a:srgbClr val="E85D2F"/>
          </a:solidFill>
          <a:ln w="12700">
            <a:solidFill>
              <a:srgbClr val="E85D2F"/>
            </a:solidFill>
            <a:prstDash val="solid"/>
          </a:ln>
        </p:spPr>
        <p:txBody>
          <a:bodyPr/>
          <a:lstStyle/>
          <a:p>
            <a:endParaRPr lang="ko-KR" altLang="en-US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16" name="Text 13"/>
          <p:cNvSpPr/>
          <p:nvPr/>
        </p:nvSpPr>
        <p:spPr>
          <a:xfrm>
            <a:off x="7937546" y="1700784"/>
            <a:ext cx="5486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높음</a:t>
            </a:r>
            <a:endParaRPr lang="en-US" sz="900" dirty="0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17" name="Text 14"/>
          <p:cNvSpPr/>
          <p:nvPr/>
        </p:nvSpPr>
        <p:spPr>
          <a:xfrm>
            <a:off x="4315968" y="1691640"/>
            <a:ext cx="3931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2563A8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UI 결함  839건  (19.3%)</a:t>
            </a:r>
            <a:endParaRPr lang="en-US" sz="1000" dirty="0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18" name="Text 15"/>
          <p:cNvSpPr/>
          <p:nvPr/>
        </p:nvSpPr>
        <p:spPr>
          <a:xfrm>
            <a:off x="4315968" y="1938528"/>
            <a:ext cx="42062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4B5563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원인: 화면 설계 표준 부재 / 레이아웃·해상도 미대응</a:t>
            </a:r>
            <a:endParaRPr lang="en-US" sz="850" dirty="0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19" name="Text 16"/>
          <p:cNvSpPr/>
          <p:nvPr/>
        </p:nvSpPr>
        <p:spPr>
          <a:xfrm>
            <a:off x="4315968" y="2167128"/>
            <a:ext cx="42062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2563A8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대응: UI/UX 표준 가이드 제정 및 설계 단계 적용 의무화</a:t>
            </a:r>
            <a:endParaRPr lang="en-US" sz="850" dirty="0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20" name="Shape 17"/>
          <p:cNvSpPr/>
          <p:nvPr/>
        </p:nvSpPr>
        <p:spPr>
          <a:xfrm>
            <a:off x="4160520" y="2505456"/>
            <a:ext cx="4515168" cy="786384"/>
          </a:xfrm>
          <a:prstGeom prst="rect">
            <a:avLst/>
          </a:prstGeom>
          <a:solidFill>
            <a:srgbClr val="F4F7FB"/>
          </a:solidFill>
          <a:ln w="12700">
            <a:solidFill>
              <a:srgbClr val="D1D9E6"/>
            </a:solidFill>
            <a:prstDash val="solid"/>
          </a:ln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ko-KR" altLang="en-US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21" name="Shape 18"/>
          <p:cNvSpPr/>
          <p:nvPr/>
        </p:nvSpPr>
        <p:spPr>
          <a:xfrm>
            <a:off x="4160520" y="2505456"/>
            <a:ext cx="73152" cy="786384"/>
          </a:xfrm>
          <a:prstGeom prst="rect">
            <a:avLst/>
          </a:prstGeom>
          <a:solidFill>
            <a:srgbClr val="E85D2F"/>
          </a:solidFill>
          <a:ln w="12700">
            <a:solidFill>
              <a:srgbClr val="E85D2F"/>
            </a:solidFill>
            <a:prstDash val="solid"/>
          </a:ln>
        </p:spPr>
        <p:txBody>
          <a:bodyPr/>
          <a:lstStyle/>
          <a:p>
            <a:endParaRPr lang="ko-KR" altLang="en-US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22" name="Shape 19"/>
          <p:cNvSpPr/>
          <p:nvPr/>
        </p:nvSpPr>
        <p:spPr>
          <a:xfrm>
            <a:off x="7937546" y="2551176"/>
            <a:ext cx="548640" cy="219456"/>
          </a:xfrm>
          <a:prstGeom prst="roundRect">
            <a:avLst>
              <a:gd name="adj" fmla="val 50000"/>
            </a:avLst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  <p:txBody>
          <a:bodyPr/>
          <a:lstStyle/>
          <a:p>
            <a:endParaRPr lang="ko-KR" altLang="en-US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23" name="Text 20"/>
          <p:cNvSpPr/>
          <p:nvPr/>
        </p:nvSpPr>
        <p:spPr>
          <a:xfrm>
            <a:off x="7937546" y="2551176"/>
            <a:ext cx="5486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긴급</a:t>
            </a:r>
            <a:endParaRPr lang="en-US" sz="900" dirty="0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24" name="Text 21"/>
          <p:cNvSpPr/>
          <p:nvPr/>
        </p:nvSpPr>
        <p:spPr>
          <a:xfrm>
            <a:off x="4315968" y="2542032"/>
            <a:ext cx="3931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E85D2F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데이터 결함  347건  (8.0%)</a:t>
            </a:r>
            <a:endParaRPr lang="en-US" sz="1000" dirty="0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25" name="Text 22"/>
          <p:cNvSpPr/>
          <p:nvPr/>
        </p:nvSpPr>
        <p:spPr>
          <a:xfrm>
            <a:off x="4315968" y="2788920"/>
            <a:ext cx="42062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4B5563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원인: ASIS 데이터 정합성 검증 미실시 / 집계 로직 불일치</a:t>
            </a:r>
            <a:endParaRPr lang="en-US" sz="850" dirty="0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26" name="Text 23"/>
          <p:cNvSpPr/>
          <p:nvPr/>
        </p:nvSpPr>
        <p:spPr>
          <a:xfrm>
            <a:off x="4315968" y="3017520"/>
            <a:ext cx="42062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2563A8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대응: ASIS 기준값 정의 + 전수 검증 시나리오 추가</a:t>
            </a:r>
            <a:endParaRPr lang="en-US" sz="850" dirty="0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27" name="Shape 24"/>
          <p:cNvSpPr/>
          <p:nvPr/>
        </p:nvSpPr>
        <p:spPr>
          <a:xfrm>
            <a:off x="4160520" y="3355848"/>
            <a:ext cx="4515168" cy="786384"/>
          </a:xfrm>
          <a:prstGeom prst="rect">
            <a:avLst/>
          </a:prstGeom>
          <a:solidFill>
            <a:srgbClr val="F4F7FB"/>
          </a:solidFill>
          <a:ln w="12700">
            <a:solidFill>
              <a:srgbClr val="D1D9E6"/>
            </a:solidFill>
            <a:prstDash val="solid"/>
          </a:ln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ko-KR" altLang="en-US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28" name="Shape 25"/>
          <p:cNvSpPr/>
          <p:nvPr/>
        </p:nvSpPr>
        <p:spPr>
          <a:xfrm>
            <a:off x="4160520" y="3355848"/>
            <a:ext cx="73152" cy="786384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  <p:txBody>
          <a:bodyPr/>
          <a:lstStyle/>
          <a:p>
            <a:endParaRPr lang="ko-KR" altLang="en-US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29" name="Shape 26"/>
          <p:cNvSpPr/>
          <p:nvPr/>
        </p:nvSpPr>
        <p:spPr>
          <a:xfrm>
            <a:off x="7937546" y="3401568"/>
            <a:ext cx="548640" cy="219456"/>
          </a:xfrm>
          <a:prstGeom prst="roundRect">
            <a:avLst>
              <a:gd name="adj" fmla="val 50000"/>
            </a:avLst>
          </a:prstGeom>
          <a:solidFill>
            <a:srgbClr val="9CA3AF"/>
          </a:solidFill>
          <a:ln w="12700">
            <a:solidFill>
              <a:srgbClr val="9CA3AF"/>
            </a:solidFill>
            <a:prstDash val="solid"/>
          </a:ln>
        </p:spPr>
        <p:txBody>
          <a:bodyPr/>
          <a:lstStyle/>
          <a:p>
            <a:endParaRPr lang="ko-KR" altLang="en-US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30" name="Text 27"/>
          <p:cNvSpPr/>
          <p:nvPr/>
        </p:nvSpPr>
        <p:spPr>
          <a:xfrm>
            <a:off x="7937546" y="3401568"/>
            <a:ext cx="5486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보통</a:t>
            </a:r>
            <a:endParaRPr lang="en-US" sz="900" dirty="0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31" name="Text 28"/>
          <p:cNvSpPr/>
          <p:nvPr/>
        </p:nvSpPr>
        <p:spPr>
          <a:xfrm>
            <a:off x="4315968" y="3392424"/>
            <a:ext cx="3931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D97706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기타/프로세스  287건  (6.6%)</a:t>
            </a:r>
            <a:endParaRPr lang="en-US" sz="1000" dirty="0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32" name="Text 29"/>
          <p:cNvSpPr/>
          <p:nvPr/>
        </p:nvSpPr>
        <p:spPr>
          <a:xfrm>
            <a:off x="4315968" y="3639312"/>
            <a:ext cx="42062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4B5563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원인: 현업 협의 미완료 / 요구사항 변경 미반영</a:t>
            </a:r>
            <a:endParaRPr lang="en-US" sz="850" dirty="0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33" name="Text 30"/>
          <p:cNvSpPr/>
          <p:nvPr/>
        </p:nvSpPr>
        <p:spPr>
          <a:xfrm>
            <a:off x="4315968" y="3867912"/>
            <a:ext cx="42062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2563A8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대응: 현업-수행사 정기 협의체 운영(주 1회)</a:t>
            </a:r>
            <a:endParaRPr lang="en-US" sz="850" dirty="0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34" name="Shape 31"/>
          <p:cNvSpPr/>
          <p:nvPr/>
        </p:nvSpPr>
        <p:spPr>
          <a:xfrm>
            <a:off x="431800" y="4302252"/>
            <a:ext cx="8243888" cy="501523"/>
          </a:xfrm>
          <a:prstGeom prst="rect">
            <a:avLst/>
          </a:prstGeom>
          <a:solidFill>
            <a:srgbClr val="EFF6FF"/>
          </a:solidFill>
          <a:ln w="12700">
            <a:solidFill>
              <a:srgbClr val="93C5FD"/>
            </a:solidFill>
            <a:prstDash val="solid"/>
          </a:ln>
        </p:spPr>
        <p:txBody>
          <a:bodyPr anchor="ctr" anchorCtr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050" b="1" i="0" u="none" strike="noStrike" kern="1200" cap="none" spc="0" normalizeH="0" baseline="0" noProof="0" dirty="0" err="1">
                <a:ln>
                  <a:noFill/>
                </a:ln>
                <a:solidFill>
                  <a:srgbClr val="1B3A6B"/>
                </a:solidFill>
                <a:effectLst/>
                <a:uLnTx/>
                <a:uFillTx/>
                <a:latin typeface="Rix고딕 L" panose="02020603020101020101" pitchFamily="18" charset="-127"/>
                <a:ea typeface="Rix고딕 L" panose="02020603020101020101" pitchFamily="18" charset="-127"/>
                <a:cs typeface="+mn-cs"/>
              </a:rPr>
              <a:t>기능+데이터</a:t>
            </a:r>
            <a:r>
              <a:rPr kumimoji="0" lang="en-US" altLang="ko-KR" sz="1050" b="1" i="0" u="none" strike="noStrike" kern="1200" cap="none" spc="0" normalizeH="0" baseline="0" noProof="0" dirty="0">
                <a:ln>
                  <a:noFill/>
                </a:ln>
                <a:solidFill>
                  <a:srgbClr val="1B3A6B"/>
                </a:solidFill>
                <a:effectLst/>
                <a:uLnTx/>
                <a:uFillTx/>
                <a:latin typeface="Rix고딕 L" panose="02020603020101020101" pitchFamily="18" charset="-127"/>
                <a:ea typeface="Rix고딕 L" panose="02020603020101020101" pitchFamily="18" charset="-127"/>
                <a:cs typeface="+mn-cs"/>
              </a:rPr>
              <a:t> </a:t>
            </a:r>
            <a:r>
              <a:rPr kumimoji="0" lang="en-US" altLang="ko-KR" sz="1050" b="1" i="0" u="none" strike="noStrike" kern="1200" cap="none" spc="0" normalizeH="0" baseline="0" noProof="0" dirty="0" err="1">
                <a:ln>
                  <a:noFill/>
                </a:ln>
                <a:solidFill>
                  <a:srgbClr val="1B3A6B"/>
                </a:solidFill>
                <a:effectLst/>
                <a:uLnTx/>
                <a:uFillTx/>
                <a:latin typeface="Rix고딕 L" panose="02020603020101020101" pitchFamily="18" charset="-127"/>
                <a:ea typeface="Rix고딕 L" panose="02020603020101020101" pitchFamily="18" charset="-127"/>
                <a:cs typeface="+mn-cs"/>
              </a:rPr>
              <a:t>결함</a:t>
            </a:r>
            <a:r>
              <a:rPr kumimoji="0" lang="en-US" altLang="ko-KR" sz="1050" b="1" i="0" u="none" strike="noStrike" kern="1200" cap="none" spc="0" normalizeH="0" baseline="0" noProof="0" dirty="0">
                <a:ln>
                  <a:noFill/>
                </a:ln>
                <a:solidFill>
                  <a:srgbClr val="1B3A6B"/>
                </a:solidFill>
                <a:effectLst/>
                <a:uLnTx/>
                <a:uFillTx/>
                <a:latin typeface="Rix고딕 L" panose="02020603020101020101" pitchFamily="18" charset="-127"/>
                <a:ea typeface="Rix고딕 L" panose="02020603020101020101" pitchFamily="18" charset="-127"/>
                <a:cs typeface="+mn-cs"/>
              </a:rPr>
              <a:t> </a:t>
            </a:r>
            <a:r>
              <a:rPr kumimoji="0" lang="en-US" altLang="ko-KR" sz="1050" b="1" i="0" u="none" strike="noStrike" kern="1200" cap="none" spc="0" normalizeH="0" baseline="0" noProof="0" dirty="0" err="1">
                <a:ln>
                  <a:noFill/>
                </a:ln>
                <a:solidFill>
                  <a:srgbClr val="1B3A6B"/>
                </a:solidFill>
                <a:effectLst/>
                <a:uLnTx/>
                <a:uFillTx/>
                <a:latin typeface="Rix고딕 L" panose="02020603020101020101" pitchFamily="18" charset="-127"/>
                <a:ea typeface="Rix고딕 L" panose="02020603020101020101" pitchFamily="18" charset="-127"/>
                <a:cs typeface="+mn-cs"/>
              </a:rPr>
              <a:t>합산</a:t>
            </a:r>
            <a:r>
              <a:rPr kumimoji="0" lang="en-US" altLang="ko-KR" sz="1050" b="1" i="0" u="none" strike="noStrike" kern="1200" cap="none" spc="0" normalizeH="0" baseline="0" noProof="0" dirty="0">
                <a:ln>
                  <a:noFill/>
                </a:ln>
                <a:solidFill>
                  <a:srgbClr val="1B3A6B"/>
                </a:solidFill>
                <a:effectLst/>
                <a:uLnTx/>
                <a:uFillTx/>
                <a:latin typeface="Rix고딕 L" panose="02020603020101020101" pitchFamily="18" charset="-127"/>
                <a:ea typeface="Rix고딕 L" panose="02020603020101020101" pitchFamily="18" charset="-127"/>
                <a:cs typeface="+mn-cs"/>
              </a:rPr>
              <a:t> 2,032건(69.8%) — </a:t>
            </a:r>
            <a:r>
              <a:rPr kumimoji="0" lang="en-US" altLang="ko-KR" sz="1050" b="1" i="0" u="none" strike="noStrike" kern="1200" cap="none" spc="0" normalizeH="0" baseline="0" noProof="0" dirty="0" err="1">
                <a:ln>
                  <a:noFill/>
                </a:ln>
                <a:solidFill>
                  <a:srgbClr val="1B3A6B"/>
                </a:solidFill>
                <a:effectLst/>
                <a:uLnTx/>
                <a:uFillTx/>
                <a:latin typeface="Rix고딕 L" panose="02020603020101020101" pitchFamily="18" charset="-127"/>
                <a:ea typeface="Rix고딕 L" panose="02020603020101020101" pitchFamily="18" charset="-127"/>
                <a:cs typeface="+mn-cs"/>
              </a:rPr>
              <a:t>요구사항</a:t>
            </a:r>
            <a:r>
              <a:rPr kumimoji="0" lang="en-US" altLang="ko-KR" sz="1050" b="1" i="0" u="none" strike="noStrike" kern="1200" cap="none" spc="0" normalizeH="0" baseline="0" noProof="0" dirty="0">
                <a:ln>
                  <a:noFill/>
                </a:ln>
                <a:solidFill>
                  <a:srgbClr val="1B3A6B"/>
                </a:solidFill>
                <a:effectLst/>
                <a:uLnTx/>
                <a:uFillTx/>
                <a:latin typeface="Rix고딕 L" panose="02020603020101020101" pitchFamily="18" charset="-127"/>
                <a:ea typeface="Rix고딕 L" panose="02020603020101020101" pitchFamily="18" charset="-127"/>
                <a:cs typeface="+mn-cs"/>
              </a:rPr>
              <a:t> </a:t>
            </a:r>
            <a:r>
              <a:rPr kumimoji="0" lang="en-US" altLang="ko-KR" sz="1050" b="1" i="0" u="none" strike="noStrike" kern="1200" cap="none" spc="0" normalizeH="0" baseline="0" noProof="0" dirty="0" err="1">
                <a:ln>
                  <a:noFill/>
                </a:ln>
                <a:solidFill>
                  <a:srgbClr val="1B3A6B"/>
                </a:solidFill>
                <a:effectLst/>
                <a:uLnTx/>
                <a:uFillTx/>
                <a:latin typeface="Rix고딕 L" panose="02020603020101020101" pitchFamily="18" charset="-127"/>
                <a:ea typeface="Rix고딕 L" panose="02020603020101020101" pitchFamily="18" charset="-127"/>
                <a:cs typeface="+mn-cs"/>
              </a:rPr>
              <a:t>명세</a:t>
            </a:r>
            <a:r>
              <a:rPr kumimoji="0" lang="en-US" altLang="ko-KR" sz="1050" b="1" i="0" u="none" strike="noStrike" kern="1200" cap="none" spc="0" normalizeH="0" baseline="0" noProof="0" dirty="0">
                <a:ln>
                  <a:noFill/>
                </a:ln>
                <a:solidFill>
                  <a:srgbClr val="1B3A6B"/>
                </a:solidFill>
                <a:effectLst/>
                <a:uLnTx/>
                <a:uFillTx/>
                <a:latin typeface="Rix고딕 L" panose="02020603020101020101" pitchFamily="18" charset="-127"/>
                <a:ea typeface="Rix고딕 L" panose="02020603020101020101" pitchFamily="18" charset="-127"/>
                <a:cs typeface="+mn-cs"/>
              </a:rPr>
              <a:t> </a:t>
            </a:r>
            <a:r>
              <a:rPr kumimoji="0" lang="en-US" altLang="ko-KR" sz="1050" b="1" i="0" u="none" strike="noStrike" kern="1200" cap="none" spc="0" normalizeH="0" baseline="0" noProof="0" dirty="0" err="1">
                <a:ln>
                  <a:noFill/>
                </a:ln>
                <a:solidFill>
                  <a:srgbClr val="1B3A6B"/>
                </a:solidFill>
                <a:effectLst/>
                <a:uLnTx/>
                <a:uFillTx/>
                <a:latin typeface="Rix고딕 L" panose="02020603020101020101" pitchFamily="18" charset="-127"/>
                <a:ea typeface="Rix고딕 L" panose="02020603020101020101" pitchFamily="18" charset="-127"/>
                <a:cs typeface="+mn-cs"/>
              </a:rPr>
              <a:t>재검토와</a:t>
            </a:r>
            <a:r>
              <a:rPr kumimoji="0" lang="en-US" altLang="ko-KR" sz="1050" b="1" i="0" u="none" strike="noStrike" kern="1200" cap="none" spc="0" normalizeH="0" baseline="0" noProof="0" dirty="0">
                <a:ln>
                  <a:noFill/>
                </a:ln>
                <a:solidFill>
                  <a:srgbClr val="1B3A6B"/>
                </a:solidFill>
                <a:effectLst/>
                <a:uLnTx/>
                <a:uFillTx/>
                <a:latin typeface="Rix고딕 L" panose="02020603020101020101" pitchFamily="18" charset="-127"/>
                <a:ea typeface="Rix고딕 L" panose="02020603020101020101" pitchFamily="18" charset="-127"/>
                <a:cs typeface="+mn-cs"/>
              </a:rPr>
              <a:t> </a:t>
            </a:r>
            <a:r>
              <a:rPr kumimoji="0" lang="en-US" altLang="ko-KR" sz="1050" b="1" i="0" u="none" strike="noStrike" kern="1200" cap="none" spc="0" normalizeH="0" baseline="0" noProof="0" dirty="0" err="1">
                <a:ln>
                  <a:noFill/>
                </a:ln>
                <a:solidFill>
                  <a:srgbClr val="1B3A6B"/>
                </a:solidFill>
                <a:effectLst/>
                <a:uLnTx/>
                <a:uFillTx/>
                <a:latin typeface="Rix고딕 L" panose="02020603020101020101" pitchFamily="18" charset="-127"/>
                <a:ea typeface="Rix고딕 L" panose="02020603020101020101" pitchFamily="18" charset="-127"/>
                <a:cs typeface="+mn-cs"/>
              </a:rPr>
              <a:t>개발자</a:t>
            </a:r>
            <a:r>
              <a:rPr kumimoji="0" lang="en-US" altLang="ko-KR" sz="1050" b="1" i="0" u="none" strike="noStrike" kern="1200" cap="none" spc="0" normalizeH="0" baseline="0" noProof="0" dirty="0">
                <a:ln>
                  <a:noFill/>
                </a:ln>
                <a:solidFill>
                  <a:srgbClr val="1B3A6B"/>
                </a:solidFill>
                <a:effectLst/>
                <a:uLnTx/>
                <a:uFillTx/>
                <a:latin typeface="Rix고딕 L" panose="02020603020101020101" pitchFamily="18" charset="-127"/>
                <a:ea typeface="Rix고딕 L" panose="02020603020101020101" pitchFamily="18" charset="-127"/>
                <a:cs typeface="+mn-cs"/>
              </a:rPr>
              <a:t> </a:t>
            </a:r>
            <a:r>
              <a:rPr kumimoji="0" lang="en-US" altLang="ko-KR" sz="1050" b="1" i="0" u="none" strike="noStrike" kern="1200" cap="none" spc="0" normalizeH="0" baseline="0" noProof="0" dirty="0" err="1">
                <a:ln>
                  <a:noFill/>
                </a:ln>
                <a:solidFill>
                  <a:srgbClr val="1B3A6B"/>
                </a:solidFill>
                <a:effectLst/>
                <a:uLnTx/>
                <a:uFillTx/>
                <a:latin typeface="Rix고딕 L" panose="02020603020101020101" pitchFamily="18" charset="-127"/>
                <a:ea typeface="Rix고딕 L" panose="02020603020101020101" pitchFamily="18" charset="-127"/>
                <a:cs typeface="+mn-cs"/>
              </a:rPr>
              <a:t>자체</a:t>
            </a:r>
            <a:r>
              <a:rPr kumimoji="0" lang="en-US" altLang="ko-KR" sz="1050" b="1" i="0" u="none" strike="noStrike" kern="1200" cap="none" spc="0" normalizeH="0" baseline="0" noProof="0" dirty="0">
                <a:ln>
                  <a:noFill/>
                </a:ln>
                <a:solidFill>
                  <a:srgbClr val="1B3A6B"/>
                </a:solidFill>
                <a:effectLst/>
                <a:uLnTx/>
                <a:uFillTx/>
                <a:latin typeface="Rix고딕 L" panose="02020603020101020101" pitchFamily="18" charset="-127"/>
                <a:ea typeface="Rix고딕 L" panose="02020603020101020101" pitchFamily="18" charset="-127"/>
                <a:cs typeface="+mn-cs"/>
              </a:rPr>
              <a:t> </a:t>
            </a:r>
            <a:r>
              <a:rPr kumimoji="0" lang="en-US" altLang="ko-KR" sz="1050" b="1" i="0" u="none" strike="noStrike" kern="1200" cap="none" spc="0" normalizeH="0" baseline="0" noProof="0" dirty="0" err="1">
                <a:ln>
                  <a:noFill/>
                </a:ln>
                <a:solidFill>
                  <a:srgbClr val="1B3A6B"/>
                </a:solidFill>
                <a:effectLst/>
                <a:uLnTx/>
                <a:uFillTx/>
                <a:latin typeface="Rix고딕 L" panose="02020603020101020101" pitchFamily="18" charset="-127"/>
                <a:ea typeface="Rix고딕 L" panose="02020603020101020101" pitchFamily="18" charset="-127"/>
                <a:cs typeface="+mn-cs"/>
              </a:rPr>
              <a:t>검증</a:t>
            </a:r>
            <a:r>
              <a:rPr kumimoji="0" lang="en-US" altLang="ko-KR" sz="1050" b="1" i="0" u="none" strike="noStrike" kern="1200" cap="none" spc="0" normalizeH="0" baseline="0" noProof="0" dirty="0">
                <a:ln>
                  <a:noFill/>
                </a:ln>
                <a:solidFill>
                  <a:srgbClr val="1B3A6B"/>
                </a:solidFill>
                <a:effectLst/>
                <a:uLnTx/>
                <a:uFillTx/>
                <a:latin typeface="Rix고딕 L" panose="02020603020101020101" pitchFamily="18" charset="-127"/>
                <a:ea typeface="Rix고딕 L" panose="02020603020101020101" pitchFamily="18" charset="-127"/>
                <a:cs typeface="+mn-cs"/>
              </a:rPr>
              <a:t> </a:t>
            </a:r>
            <a:r>
              <a:rPr kumimoji="0" lang="en-US" altLang="ko-KR" sz="1050" b="1" i="0" u="none" strike="noStrike" kern="1200" cap="none" spc="0" normalizeH="0" baseline="0" noProof="0" dirty="0" err="1">
                <a:ln>
                  <a:noFill/>
                </a:ln>
                <a:solidFill>
                  <a:srgbClr val="1B3A6B"/>
                </a:solidFill>
                <a:effectLst/>
                <a:uLnTx/>
                <a:uFillTx/>
                <a:latin typeface="Rix고딕 L" panose="02020603020101020101" pitchFamily="18" charset="-127"/>
                <a:ea typeface="Rix고딕 L" panose="02020603020101020101" pitchFamily="18" charset="-127"/>
                <a:cs typeface="+mn-cs"/>
              </a:rPr>
              <a:t>체계</a:t>
            </a:r>
            <a:r>
              <a:rPr kumimoji="0" lang="en-US" altLang="ko-KR" sz="1050" b="1" i="0" u="none" strike="noStrike" kern="1200" cap="none" spc="0" normalizeH="0" baseline="0" noProof="0" dirty="0">
                <a:ln>
                  <a:noFill/>
                </a:ln>
                <a:solidFill>
                  <a:srgbClr val="1B3A6B"/>
                </a:solidFill>
                <a:effectLst/>
                <a:uLnTx/>
                <a:uFillTx/>
                <a:latin typeface="Rix고딕 L" panose="02020603020101020101" pitchFamily="18" charset="-127"/>
                <a:ea typeface="Rix고딕 L" panose="02020603020101020101" pitchFamily="18" charset="-127"/>
                <a:cs typeface="+mn-cs"/>
              </a:rPr>
              <a:t> </a:t>
            </a:r>
            <a:r>
              <a:rPr kumimoji="0" lang="en-US" altLang="ko-KR" sz="1050" b="1" i="0" u="none" strike="noStrike" kern="1200" cap="none" spc="0" normalizeH="0" baseline="0" noProof="0" dirty="0" err="1">
                <a:ln>
                  <a:noFill/>
                </a:ln>
                <a:solidFill>
                  <a:srgbClr val="1B3A6B"/>
                </a:solidFill>
                <a:effectLst/>
                <a:uLnTx/>
                <a:uFillTx/>
                <a:latin typeface="Rix고딕 L" panose="02020603020101020101" pitchFamily="18" charset="-127"/>
                <a:ea typeface="Rix고딕 L" panose="02020603020101020101" pitchFamily="18" charset="-127"/>
                <a:cs typeface="+mn-cs"/>
              </a:rPr>
              <a:t>구축이</a:t>
            </a:r>
            <a:r>
              <a:rPr kumimoji="0" lang="en-US" altLang="ko-KR" sz="1050" b="1" i="0" u="none" strike="noStrike" kern="1200" cap="none" spc="0" normalizeH="0" baseline="0" noProof="0" dirty="0">
                <a:ln>
                  <a:noFill/>
                </a:ln>
                <a:solidFill>
                  <a:srgbClr val="1B3A6B"/>
                </a:solidFill>
                <a:effectLst/>
                <a:uLnTx/>
                <a:uFillTx/>
                <a:latin typeface="Rix고딕 L" panose="02020603020101020101" pitchFamily="18" charset="-127"/>
                <a:ea typeface="Rix고딕 L" panose="02020603020101020101" pitchFamily="18" charset="-127"/>
                <a:cs typeface="+mn-cs"/>
              </a:rPr>
              <a:t> </a:t>
            </a:r>
            <a:r>
              <a:rPr kumimoji="0" lang="en-US" altLang="ko-KR" sz="1050" b="1" i="0" u="none" strike="noStrike" kern="1200" cap="none" spc="0" normalizeH="0" baseline="0" noProof="0" dirty="0" err="1">
                <a:ln>
                  <a:noFill/>
                </a:ln>
                <a:solidFill>
                  <a:srgbClr val="1B3A6B"/>
                </a:solidFill>
                <a:effectLst/>
                <a:uLnTx/>
                <a:uFillTx/>
                <a:latin typeface="Rix고딕 L" panose="02020603020101020101" pitchFamily="18" charset="-127"/>
                <a:ea typeface="Rix고딕 L" panose="02020603020101020101" pitchFamily="18" charset="-127"/>
                <a:cs typeface="+mn-cs"/>
              </a:rPr>
              <a:t>품질</a:t>
            </a:r>
            <a:r>
              <a:rPr kumimoji="0" lang="en-US" altLang="ko-KR" sz="1050" b="1" i="0" u="none" strike="noStrike" kern="1200" cap="none" spc="0" normalizeH="0" baseline="0" noProof="0" dirty="0">
                <a:ln>
                  <a:noFill/>
                </a:ln>
                <a:solidFill>
                  <a:srgbClr val="1B3A6B"/>
                </a:solidFill>
                <a:effectLst/>
                <a:uLnTx/>
                <a:uFillTx/>
                <a:latin typeface="Rix고딕 L" panose="02020603020101020101" pitchFamily="18" charset="-127"/>
                <a:ea typeface="Rix고딕 L" panose="02020603020101020101" pitchFamily="18" charset="-127"/>
                <a:cs typeface="+mn-cs"/>
              </a:rPr>
              <a:t> </a:t>
            </a:r>
            <a:r>
              <a:rPr kumimoji="0" lang="en-US" altLang="ko-KR" sz="1050" b="1" i="0" u="none" strike="noStrike" kern="1200" cap="none" spc="0" normalizeH="0" baseline="0" noProof="0" dirty="0" err="1">
                <a:ln>
                  <a:noFill/>
                </a:ln>
                <a:solidFill>
                  <a:srgbClr val="1B3A6B"/>
                </a:solidFill>
                <a:effectLst/>
                <a:uLnTx/>
                <a:uFillTx/>
                <a:latin typeface="Rix고딕 L" panose="02020603020101020101" pitchFamily="18" charset="-127"/>
                <a:ea typeface="Rix고딕 L" panose="02020603020101020101" pitchFamily="18" charset="-127"/>
                <a:cs typeface="+mn-cs"/>
              </a:rPr>
              <a:t>개선의</a:t>
            </a:r>
            <a:r>
              <a:rPr kumimoji="0" lang="en-US" altLang="ko-KR" sz="1050" b="1" i="0" u="none" strike="noStrike" kern="1200" cap="none" spc="0" normalizeH="0" baseline="0" noProof="0" dirty="0">
                <a:ln>
                  <a:noFill/>
                </a:ln>
                <a:solidFill>
                  <a:srgbClr val="1B3A6B"/>
                </a:solidFill>
                <a:effectLst/>
                <a:uLnTx/>
                <a:uFillTx/>
                <a:latin typeface="Rix고딕 L" panose="02020603020101020101" pitchFamily="18" charset="-127"/>
                <a:ea typeface="Rix고딕 L" panose="02020603020101020101" pitchFamily="18" charset="-127"/>
                <a:cs typeface="+mn-cs"/>
              </a:rPr>
              <a:t> </a:t>
            </a:r>
            <a:r>
              <a:rPr kumimoji="0" lang="en-US" altLang="ko-KR" sz="1050" b="1" i="0" u="none" strike="noStrike" kern="1200" cap="none" spc="0" normalizeH="0" baseline="0" noProof="0" dirty="0" err="1">
                <a:ln>
                  <a:noFill/>
                </a:ln>
                <a:solidFill>
                  <a:srgbClr val="1B3A6B"/>
                </a:solidFill>
                <a:effectLst/>
                <a:uLnTx/>
                <a:uFillTx/>
                <a:latin typeface="Rix고딕 L" panose="02020603020101020101" pitchFamily="18" charset="-127"/>
                <a:ea typeface="Rix고딕 L" panose="02020603020101020101" pitchFamily="18" charset="-127"/>
                <a:cs typeface="+mn-cs"/>
              </a:rPr>
              <a:t>핵심</a:t>
            </a:r>
            <a:r>
              <a:rPr kumimoji="0" lang="en-US" altLang="ko-KR" sz="1050" b="1" i="0" u="none" strike="noStrike" kern="1200" cap="none" spc="0" normalizeH="0" baseline="0" noProof="0" dirty="0">
                <a:ln>
                  <a:noFill/>
                </a:ln>
                <a:solidFill>
                  <a:srgbClr val="1B3A6B"/>
                </a:solidFill>
                <a:effectLst/>
                <a:uLnTx/>
                <a:uFillTx/>
                <a:latin typeface="Rix고딕 L" panose="02020603020101020101" pitchFamily="18" charset="-127"/>
                <a:ea typeface="Rix고딕 L" panose="02020603020101020101" pitchFamily="18" charset="-127"/>
                <a:cs typeface="+mn-cs"/>
              </a:rPr>
              <a:t> </a:t>
            </a:r>
            <a:r>
              <a:rPr kumimoji="0" lang="en-US" altLang="ko-KR" sz="1050" b="1" i="0" u="none" strike="noStrike" kern="1200" cap="none" spc="0" normalizeH="0" baseline="0" noProof="0" dirty="0" err="1">
                <a:ln>
                  <a:noFill/>
                </a:ln>
                <a:solidFill>
                  <a:srgbClr val="1B3A6B"/>
                </a:solidFill>
                <a:effectLst/>
                <a:uLnTx/>
                <a:uFillTx/>
                <a:latin typeface="Rix고딕 L" panose="02020603020101020101" pitchFamily="18" charset="-127"/>
                <a:ea typeface="Rix고딕 L" panose="02020603020101020101" pitchFamily="18" charset="-127"/>
                <a:cs typeface="+mn-cs"/>
              </a:rPr>
              <a:t>레버</a:t>
            </a:r>
            <a:endParaRPr kumimoji="0" lang="en-US" altLang="ko-KR" sz="10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Rix고딕 L" panose="02020603020101020101" pitchFamily="18" charset="-127"/>
              <a:ea typeface="Rix고딕 L" panose="02020603020101020101" pitchFamily="18" charset="-127"/>
              <a:cs typeface="+mn-cs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/>
          <p:cNvSpPr/>
          <p:nvPr/>
        </p:nvSpPr>
        <p:spPr>
          <a:xfrm>
            <a:off x="320040" y="0"/>
            <a:ext cx="6400800" cy="4343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002060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업무모듈별 결함 현황 및 고위험 모듈 식별</a:t>
            </a:r>
            <a:endParaRPr lang="en-US" sz="2000" dirty="0">
              <a:solidFill>
                <a:srgbClr val="002060"/>
              </a:solidFill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graphicFrame>
        <p:nvGraphicFramePr>
          <p:cNvPr id="5" name="Chart 0"/>
          <p:cNvGraphicFramePr/>
          <p:nvPr>
            <p:extLst>
              <p:ext uri="{D42A27DB-BD31-4B8C-83A1-F6EECF244321}">
                <p14:modId xmlns:p14="http://schemas.microsoft.com/office/powerpoint/2010/main" val="1034443669"/>
              </p:ext>
            </p:extLst>
          </p:nvPr>
        </p:nvGraphicFramePr>
        <p:xfrm>
          <a:off x="431800" y="803565"/>
          <a:ext cx="8243888" cy="227076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6" name="Text 3"/>
          <p:cNvSpPr/>
          <p:nvPr/>
        </p:nvSpPr>
        <p:spPr>
          <a:xfrm>
            <a:off x="431800" y="3096630"/>
            <a:ext cx="4572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B3A6B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고위험 모듈 집중 분석</a:t>
            </a:r>
            <a:endParaRPr lang="en-US" sz="1200" dirty="0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83004242"/>
              </p:ext>
            </p:extLst>
          </p:nvPr>
        </p:nvGraphicFramePr>
        <p:xfrm>
          <a:off x="431800" y="3389238"/>
          <a:ext cx="8243888" cy="1417320"/>
        </p:xfrm>
        <a:graphic>
          <a:graphicData uri="http://schemas.openxmlformats.org/drawingml/2006/table">
            <a:tbl>
              <a:tblPr/>
              <a:tblGrid>
                <a:gridCol w="1754019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578617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134056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777196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283464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 err="1">
                          <a:solidFill>
                            <a:srgbClr val="FFFFFF"/>
                          </a:solidFill>
                          <a:latin typeface="Rix고딕 L" panose="02020603020101020101" pitchFamily="18" charset="-127"/>
                          <a:ea typeface="Rix고딕 L" panose="02020603020101020101" pitchFamily="18" charset="-127"/>
                          <a:cs typeface="Calibri" pitchFamily="34" charset="-120"/>
                        </a:rPr>
                        <a:t>모듈</a:t>
                      </a:r>
                      <a:endParaRPr lang="en-US" sz="900" dirty="0">
                        <a:latin typeface="Rix고딕 L" panose="02020603020101020101" pitchFamily="18" charset="-127"/>
                        <a:ea typeface="Rix고딕 L" panose="02020603020101020101" pitchFamily="18" charset="-127"/>
                        <a:cs typeface="Calibri" charset="0"/>
                      </a:endParaRPr>
                    </a:p>
                  </a:txBody>
                  <a:tcPr marL="108000" marR="0" marT="0" marB="0" anchor="ctr">
                    <a:lnL w="1016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016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016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016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 err="1">
                          <a:solidFill>
                            <a:srgbClr val="FFFFFF"/>
                          </a:solidFill>
                          <a:latin typeface="Rix고딕 L" panose="02020603020101020101" pitchFamily="18" charset="-127"/>
                          <a:ea typeface="Rix고딕 L" panose="02020603020101020101" pitchFamily="18" charset="-127"/>
                          <a:cs typeface="Calibri" pitchFamily="34" charset="-120"/>
                        </a:rPr>
                        <a:t>최다</a:t>
                      </a: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Rix고딕 L" panose="02020603020101020101" pitchFamily="18" charset="-127"/>
                          <a:ea typeface="Rix고딕 L" panose="02020603020101020101" pitchFamily="18" charset="-127"/>
                          <a:cs typeface="Calibri" pitchFamily="34" charset="-120"/>
                        </a:rPr>
                        <a:t> </a:t>
                      </a:r>
                      <a:r>
                        <a:rPr lang="en-US" sz="900" b="1" dirty="0" err="1">
                          <a:solidFill>
                            <a:srgbClr val="FFFFFF"/>
                          </a:solidFill>
                          <a:latin typeface="Rix고딕 L" panose="02020603020101020101" pitchFamily="18" charset="-127"/>
                          <a:ea typeface="Rix고딕 L" panose="02020603020101020101" pitchFamily="18" charset="-127"/>
                          <a:cs typeface="Calibri" pitchFamily="34" charset="-120"/>
                        </a:rPr>
                        <a:t>결함유형</a:t>
                      </a:r>
                      <a:endParaRPr lang="en-US" sz="900" dirty="0">
                        <a:latin typeface="Rix고딕 L" panose="02020603020101020101" pitchFamily="18" charset="-127"/>
                        <a:ea typeface="Rix고딕 L" panose="02020603020101020101" pitchFamily="18" charset="-127"/>
                        <a:cs typeface="Calibri" charset="0"/>
                      </a:endParaRPr>
                    </a:p>
                  </a:txBody>
                  <a:tcPr marL="108000" marR="0" marT="0" marB="0" anchor="ctr">
                    <a:lnL w="1016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016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016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016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Rix고딕 L" panose="02020603020101020101" pitchFamily="18" charset="-127"/>
                          <a:ea typeface="Rix고딕 L" panose="02020603020101020101" pitchFamily="18" charset="-127"/>
                          <a:cs typeface="Calibri" pitchFamily="34" charset="-120"/>
                        </a:rPr>
                        <a:t>핵심 위험요소</a:t>
                      </a:r>
                      <a:endParaRPr lang="en-US" sz="900" dirty="0">
                        <a:latin typeface="Rix고딕 L" panose="02020603020101020101" pitchFamily="18" charset="-127"/>
                        <a:ea typeface="Rix고딕 L" panose="02020603020101020101" pitchFamily="18" charset="-127"/>
                        <a:cs typeface="Calibri" charset="0"/>
                      </a:endParaRPr>
                    </a:p>
                  </a:txBody>
                  <a:tcPr marL="108000" marR="0" marT="0" marB="0" anchor="ctr">
                    <a:lnL w="1016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016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016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016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Rix고딕 L" panose="02020603020101020101" pitchFamily="18" charset="-127"/>
                          <a:ea typeface="Rix고딕 L" panose="02020603020101020101" pitchFamily="18" charset="-127"/>
                          <a:cs typeface="Calibri" pitchFamily="34" charset="-120"/>
                        </a:rPr>
                        <a:t>권고 대응</a:t>
                      </a:r>
                      <a:endParaRPr lang="en-US" sz="900" dirty="0">
                        <a:latin typeface="Rix고딕 L" panose="02020603020101020101" pitchFamily="18" charset="-127"/>
                        <a:ea typeface="Rix고딕 L" panose="02020603020101020101" pitchFamily="18" charset="-127"/>
                        <a:cs typeface="Calibri" charset="0"/>
                      </a:endParaRPr>
                    </a:p>
                  </a:txBody>
                  <a:tcPr marL="108000" marR="0" marT="0" marB="0" anchor="ctr">
                    <a:lnL w="1016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016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016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016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Rix고딕 L" panose="02020603020101020101" pitchFamily="18" charset="-127"/>
                          <a:ea typeface="Rix고딕 L" panose="02020603020101020101" pitchFamily="18" charset="-127"/>
                          <a:cs typeface="Calibri" pitchFamily="34" charset="-120"/>
                        </a:rPr>
                        <a:t>공항운영(GO) 562건</a:t>
                      </a:r>
                      <a:endParaRPr lang="en-US" sz="900" dirty="0">
                        <a:latin typeface="Rix고딕 L" panose="02020603020101020101" pitchFamily="18" charset="-127"/>
                        <a:ea typeface="Rix고딕 L" panose="02020603020101020101" pitchFamily="18" charset="-127"/>
                        <a:cs typeface="Calibri" charset="0"/>
                      </a:endParaRPr>
                    </a:p>
                  </a:txBody>
                  <a:tcPr marL="108000" marR="0" marT="0" marB="0" anchor="ctr">
                    <a:lnL w="1016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016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016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016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Rix고딕 L" panose="02020603020101020101" pitchFamily="18" charset="-127"/>
                          <a:ea typeface="Rix고딕 L" panose="02020603020101020101" pitchFamily="18" charset="-127"/>
                          <a:cs typeface="Calibri" pitchFamily="34" charset="-120"/>
                        </a:rPr>
                        <a:t>데이터(22.3%)</a:t>
                      </a:r>
                      <a:endParaRPr lang="en-US" sz="900" dirty="0">
                        <a:latin typeface="Rix고딕 L" panose="02020603020101020101" pitchFamily="18" charset="-127"/>
                        <a:ea typeface="Rix고딕 L" panose="02020603020101020101" pitchFamily="18" charset="-127"/>
                        <a:cs typeface="Calibri" charset="0"/>
                      </a:endParaRPr>
                    </a:p>
                  </a:txBody>
                  <a:tcPr marL="108000" marR="0" marT="0" marB="0" anchor="ctr">
                    <a:lnL w="1016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016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016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016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Rix고딕 L" panose="02020603020101020101" pitchFamily="18" charset="-127"/>
                          <a:ea typeface="Rix고딕 L" panose="02020603020101020101" pitchFamily="18" charset="-127"/>
                          <a:cs typeface="Calibri" pitchFamily="34" charset="-120"/>
                        </a:rPr>
                        <a:t>ASIS 정합성 미검증 다수</a:t>
                      </a:r>
                      <a:endParaRPr lang="en-US" sz="900" dirty="0">
                        <a:latin typeface="Rix고딕 L" panose="02020603020101020101" pitchFamily="18" charset="-127"/>
                        <a:ea typeface="Rix고딕 L" panose="02020603020101020101" pitchFamily="18" charset="-127"/>
                        <a:cs typeface="Calibri" charset="0"/>
                      </a:endParaRPr>
                    </a:p>
                  </a:txBody>
                  <a:tcPr marL="108000" marR="0" marT="0" marB="0" anchor="ctr">
                    <a:lnL w="1016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016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016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016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Rix고딕 L" panose="02020603020101020101" pitchFamily="18" charset="-127"/>
                          <a:ea typeface="Rix고딕 L" panose="02020603020101020101" pitchFamily="18" charset="-127"/>
                          <a:cs typeface="Calibri" pitchFamily="34" charset="-120"/>
                        </a:rPr>
                        <a:t>ASIS 전수 </a:t>
                      </a:r>
                      <a:r>
                        <a:rPr lang="en-US" sz="900" dirty="0" err="1">
                          <a:solidFill>
                            <a:srgbClr val="000000"/>
                          </a:solidFill>
                          <a:latin typeface="Rix고딕 L" panose="02020603020101020101" pitchFamily="18" charset="-127"/>
                          <a:ea typeface="Rix고딕 L" panose="02020603020101020101" pitchFamily="18" charset="-127"/>
                          <a:cs typeface="Calibri" pitchFamily="34" charset="-120"/>
                        </a:rPr>
                        <a:t>비교</a:t>
                      </a:r>
                      <a:r>
                        <a:rPr lang="en-US" sz="900" dirty="0">
                          <a:solidFill>
                            <a:srgbClr val="000000"/>
                          </a:solidFill>
                          <a:latin typeface="Rix고딕 L" panose="02020603020101020101" pitchFamily="18" charset="-127"/>
                          <a:ea typeface="Rix고딕 L" panose="02020603020101020101" pitchFamily="18" charset="-127"/>
                          <a:cs typeface="Calibri" pitchFamily="34" charset="-120"/>
                        </a:rPr>
                        <a:t> </a:t>
                      </a:r>
                      <a:r>
                        <a:rPr lang="en-US" sz="900" dirty="0" err="1">
                          <a:solidFill>
                            <a:srgbClr val="000000"/>
                          </a:solidFill>
                          <a:latin typeface="Rix고딕 L" panose="02020603020101020101" pitchFamily="18" charset="-127"/>
                          <a:ea typeface="Rix고딕 L" panose="02020603020101020101" pitchFamily="18" charset="-127"/>
                          <a:cs typeface="Calibri" pitchFamily="34" charset="-120"/>
                        </a:rPr>
                        <a:t>검증</a:t>
                      </a:r>
                      <a:r>
                        <a:rPr lang="en-US" sz="900" dirty="0">
                          <a:solidFill>
                            <a:srgbClr val="000000"/>
                          </a:solidFill>
                          <a:latin typeface="Rix고딕 L" panose="02020603020101020101" pitchFamily="18" charset="-127"/>
                          <a:ea typeface="Rix고딕 L" panose="02020603020101020101" pitchFamily="18" charset="-127"/>
                          <a:cs typeface="Calibri" pitchFamily="34" charset="-120"/>
                        </a:rPr>
                        <a:t>  </a:t>
                      </a:r>
                      <a:r>
                        <a:rPr lang="en-US" altLang="ko-KR" sz="900" dirty="0">
                          <a:solidFill>
                            <a:srgbClr val="000000"/>
                          </a:solidFill>
                          <a:latin typeface="Rix고딕 L" panose="02020603020101020101" pitchFamily="18" charset="-127"/>
                          <a:ea typeface="Rix고딕 L" panose="02020603020101020101" pitchFamily="18" charset="-127"/>
                          <a:cs typeface="Calibri" pitchFamily="34" charset="-120"/>
                        </a:rPr>
                        <a:t>→ 2-3</a:t>
                      </a:r>
                      <a:r>
                        <a:rPr lang="ko-KR" altLang="en-US" sz="900" dirty="0">
                          <a:solidFill>
                            <a:srgbClr val="000000"/>
                          </a:solidFill>
                          <a:latin typeface="Rix고딕 L" panose="02020603020101020101" pitchFamily="18" charset="-127"/>
                          <a:ea typeface="Rix고딕 L" panose="02020603020101020101" pitchFamily="18" charset="-127"/>
                          <a:cs typeface="Calibri" pitchFamily="34" charset="-120"/>
                        </a:rPr>
                        <a:t>차 </a:t>
                      </a:r>
                      <a:r>
                        <a:rPr lang="ko-KR" altLang="en-US" sz="900" dirty="0" err="1">
                          <a:solidFill>
                            <a:srgbClr val="000000"/>
                          </a:solidFill>
                          <a:latin typeface="Rix고딕 L" panose="02020603020101020101" pitchFamily="18" charset="-127"/>
                          <a:ea typeface="Rix고딕 L" panose="02020603020101020101" pitchFamily="18" charset="-127"/>
                          <a:cs typeface="Calibri" pitchFamily="34" charset="-120"/>
                        </a:rPr>
                        <a:t>값비교</a:t>
                      </a:r>
                      <a:r>
                        <a:rPr lang="ko-KR" altLang="en-US" sz="900" dirty="0">
                          <a:solidFill>
                            <a:srgbClr val="000000"/>
                          </a:solidFill>
                          <a:latin typeface="Rix고딕 L" panose="02020603020101020101" pitchFamily="18" charset="-127"/>
                          <a:ea typeface="Rix고딕 L" panose="02020603020101020101" pitchFamily="18" charset="-127"/>
                          <a:cs typeface="Calibri" pitchFamily="34" charset="-120"/>
                        </a:rPr>
                        <a:t> 검증</a:t>
                      </a:r>
                      <a:r>
                        <a:rPr lang="en-US" altLang="ko-KR" sz="900" dirty="0">
                          <a:solidFill>
                            <a:srgbClr val="000000"/>
                          </a:solidFill>
                          <a:latin typeface="Rix고딕 L" panose="02020603020101020101" pitchFamily="18" charset="-127"/>
                          <a:ea typeface="Rix고딕 L" panose="02020603020101020101" pitchFamily="18" charset="-127"/>
                          <a:cs typeface="Calibri" pitchFamily="34" charset="-120"/>
                        </a:rPr>
                        <a:t>(</a:t>
                      </a:r>
                      <a:r>
                        <a:rPr lang="ko-KR" altLang="en-US" sz="900" dirty="0">
                          <a:solidFill>
                            <a:srgbClr val="000000"/>
                          </a:solidFill>
                          <a:latin typeface="Rix고딕 L" panose="02020603020101020101" pitchFamily="18" charset="-127"/>
                          <a:ea typeface="Rix고딕 L" panose="02020603020101020101" pitchFamily="18" charset="-127"/>
                          <a:cs typeface="Calibri" pitchFamily="34" charset="-120"/>
                        </a:rPr>
                        <a:t>감리</a:t>
                      </a:r>
                      <a:r>
                        <a:rPr lang="en-US" altLang="ko-KR" sz="900" dirty="0">
                          <a:solidFill>
                            <a:srgbClr val="000000"/>
                          </a:solidFill>
                          <a:latin typeface="Rix고딕 L" panose="02020603020101020101" pitchFamily="18" charset="-127"/>
                          <a:ea typeface="Rix고딕 L" panose="02020603020101020101" pitchFamily="18" charset="-127"/>
                          <a:cs typeface="Calibri" pitchFamily="34" charset="-120"/>
                        </a:rPr>
                        <a:t>)</a:t>
                      </a:r>
                      <a:r>
                        <a:rPr lang="ko-KR" altLang="en-US" sz="900" dirty="0">
                          <a:solidFill>
                            <a:srgbClr val="000000"/>
                          </a:solidFill>
                          <a:latin typeface="Rix고딕 L" panose="02020603020101020101" pitchFamily="18" charset="-127"/>
                          <a:ea typeface="Rix고딕 L" panose="02020603020101020101" pitchFamily="18" charset="-127"/>
                          <a:cs typeface="Calibri" pitchFamily="34" charset="-120"/>
                        </a:rPr>
                        <a:t> 진행 </a:t>
                      </a:r>
                      <a:endParaRPr lang="en-US" sz="900" dirty="0">
                        <a:latin typeface="Rix고딕 L" panose="02020603020101020101" pitchFamily="18" charset="-127"/>
                        <a:ea typeface="Rix고딕 L" panose="02020603020101020101" pitchFamily="18" charset="-127"/>
                        <a:cs typeface="Calibri" charset="0"/>
                      </a:endParaRPr>
                    </a:p>
                  </a:txBody>
                  <a:tcPr marL="108000" marR="0" marT="0" marB="0" anchor="ctr">
                    <a:lnL w="1016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016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016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016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Rix고딕 L" panose="02020603020101020101" pitchFamily="18" charset="-127"/>
                          <a:ea typeface="Rix고딕 L" panose="02020603020101020101" pitchFamily="18" charset="-127"/>
                          <a:cs typeface="Calibri" pitchFamily="34" charset="-120"/>
                        </a:rPr>
                        <a:t>항공기관제(AC) 320건</a:t>
                      </a:r>
                      <a:endParaRPr lang="en-US" sz="900" dirty="0">
                        <a:latin typeface="Rix고딕 L" panose="02020603020101020101" pitchFamily="18" charset="-127"/>
                        <a:ea typeface="Rix고딕 L" panose="02020603020101020101" pitchFamily="18" charset="-127"/>
                        <a:cs typeface="Calibri" charset="0"/>
                      </a:endParaRPr>
                    </a:p>
                  </a:txBody>
                  <a:tcPr marL="108000" marR="0" marT="0" marB="0" anchor="ctr">
                    <a:lnL w="1016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016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016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016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Rix고딕 L" panose="02020603020101020101" pitchFamily="18" charset="-127"/>
                          <a:ea typeface="Rix고딕 L" panose="02020603020101020101" pitchFamily="18" charset="-127"/>
                          <a:cs typeface="Calibri" pitchFamily="34" charset="-120"/>
                        </a:rPr>
                        <a:t>기능(73.6%)</a:t>
                      </a:r>
                      <a:endParaRPr lang="en-US" sz="900" dirty="0">
                        <a:latin typeface="Rix고딕 L" panose="02020603020101020101" pitchFamily="18" charset="-127"/>
                        <a:ea typeface="Rix고딕 L" panose="02020603020101020101" pitchFamily="18" charset="-127"/>
                        <a:cs typeface="Calibri" charset="0"/>
                      </a:endParaRPr>
                    </a:p>
                  </a:txBody>
                  <a:tcPr marL="108000" marR="0" marT="0" marB="0" anchor="ctr">
                    <a:lnL w="1016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016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016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016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Rix고딕 L" panose="02020603020101020101" pitchFamily="18" charset="-127"/>
                          <a:ea typeface="Rix고딕 L" panose="02020603020101020101" pitchFamily="18" charset="-127"/>
                          <a:cs typeface="Calibri" pitchFamily="34" charset="-120"/>
                        </a:rPr>
                        <a:t>PL단계 95건 집중, 구조적 오류</a:t>
                      </a:r>
                      <a:endParaRPr lang="en-US" sz="900" dirty="0">
                        <a:latin typeface="Rix고딕 L" panose="02020603020101020101" pitchFamily="18" charset="-127"/>
                        <a:ea typeface="Rix고딕 L" panose="02020603020101020101" pitchFamily="18" charset="-127"/>
                        <a:cs typeface="Calibri" charset="0"/>
                      </a:endParaRPr>
                    </a:p>
                  </a:txBody>
                  <a:tcPr marL="108000" marR="0" marT="0" marB="0" anchor="ctr">
                    <a:lnL w="1016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016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016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016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ko-KR" altLang="en-US" sz="900" dirty="0">
                          <a:solidFill>
                            <a:srgbClr val="000000"/>
                          </a:solidFill>
                          <a:latin typeface="Rix고딕 L" panose="02020603020101020101" pitchFamily="18" charset="-127"/>
                          <a:ea typeface="Rix고딕 L" panose="02020603020101020101" pitchFamily="18" charset="-127"/>
                          <a:cs typeface="Calibri" pitchFamily="34" charset="-120"/>
                        </a:rPr>
                        <a:t>요구사항 재검토 및 </a:t>
                      </a:r>
                      <a:r>
                        <a:rPr lang="en-US" sz="900" dirty="0">
                          <a:solidFill>
                            <a:srgbClr val="000000"/>
                          </a:solidFill>
                          <a:latin typeface="Rix고딕 L" panose="02020603020101020101" pitchFamily="18" charset="-127"/>
                          <a:ea typeface="Rix고딕 L" panose="02020603020101020101" pitchFamily="18" charset="-127"/>
                          <a:cs typeface="Calibri" pitchFamily="34" charset="-120"/>
                        </a:rPr>
                        <a:t>PL 단계 품질게이트 즉시 도입</a:t>
                      </a:r>
                      <a:endParaRPr lang="en-US" sz="900" dirty="0">
                        <a:latin typeface="Rix고딕 L" panose="02020603020101020101" pitchFamily="18" charset="-127"/>
                        <a:ea typeface="Rix고딕 L" panose="02020603020101020101" pitchFamily="18" charset="-127"/>
                        <a:cs typeface="Calibri" charset="0"/>
                      </a:endParaRPr>
                    </a:p>
                  </a:txBody>
                  <a:tcPr marL="108000" marR="0" marT="0" marB="0" anchor="ctr">
                    <a:lnL w="1016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016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016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016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Rix고딕 L" panose="02020603020101020101" pitchFamily="18" charset="-127"/>
                          <a:ea typeface="Rix고딕 L" panose="02020603020101020101" pitchFamily="18" charset="-127"/>
                          <a:cs typeface="Calibri" pitchFamily="34" charset="-120"/>
                        </a:rPr>
                        <a:t>항공보안(FS) 318건</a:t>
                      </a:r>
                      <a:endParaRPr lang="en-US" sz="900" dirty="0">
                        <a:latin typeface="Rix고딕 L" panose="02020603020101020101" pitchFamily="18" charset="-127"/>
                        <a:ea typeface="Rix고딕 L" panose="02020603020101020101" pitchFamily="18" charset="-127"/>
                        <a:cs typeface="Calibri" charset="0"/>
                      </a:endParaRPr>
                    </a:p>
                  </a:txBody>
                  <a:tcPr marL="108000" marR="0" marT="0" marB="0" anchor="ctr">
                    <a:lnL w="1016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016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016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016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Rix고딕 L" panose="02020603020101020101" pitchFamily="18" charset="-127"/>
                          <a:ea typeface="Rix고딕 L" panose="02020603020101020101" pitchFamily="18" charset="-127"/>
                          <a:cs typeface="Calibri" pitchFamily="34" charset="-120"/>
                        </a:rPr>
                        <a:t>UI(39.4%)</a:t>
                      </a:r>
                      <a:endParaRPr lang="en-US" sz="900" dirty="0">
                        <a:latin typeface="Rix고딕 L" panose="02020603020101020101" pitchFamily="18" charset="-127"/>
                        <a:ea typeface="Rix고딕 L" panose="02020603020101020101" pitchFamily="18" charset="-127"/>
                        <a:cs typeface="Calibri" charset="0"/>
                      </a:endParaRPr>
                    </a:p>
                  </a:txBody>
                  <a:tcPr marL="108000" marR="0" marT="0" marB="0" anchor="ctr">
                    <a:lnL w="1016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016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016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016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Rix고딕 L" panose="02020603020101020101" pitchFamily="18" charset="-127"/>
                          <a:ea typeface="Rix고딕 L" panose="02020603020101020101" pitchFamily="18" charset="-127"/>
                          <a:cs typeface="Calibri" pitchFamily="34" charset="-120"/>
                        </a:rPr>
                        <a:t>화면 표준 미준수 두드러짐</a:t>
                      </a:r>
                      <a:endParaRPr lang="en-US" sz="900" dirty="0">
                        <a:latin typeface="Rix고딕 L" panose="02020603020101020101" pitchFamily="18" charset="-127"/>
                        <a:ea typeface="Rix고딕 L" panose="02020603020101020101" pitchFamily="18" charset="-127"/>
                        <a:cs typeface="Calibri" charset="0"/>
                      </a:endParaRPr>
                    </a:p>
                  </a:txBody>
                  <a:tcPr marL="108000" marR="0" marT="0" marB="0" anchor="ctr">
                    <a:lnL w="1016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016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016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016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Rix고딕 L" panose="02020603020101020101" pitchFamily="18" charset="-127"/>
                          <a:ea typeface="Rix고딕 L" panose="02020603020101020101" pitchFamily="18" charset="-127"/>
                          <a:cs typeface="Calibri" pitchFamily="34" charset="-120"/>
                        </a:rPr>
                        <a:t>UI 표준 가이드 수립·적용</a:t>
                      </a:r>
                      <a:endParaRPr lang="en-US" sz="900" dirty="0">
                        <a:latin typeface="Rix고딕 L" panose="02020603020101020101" pitchFamily="18" charset="-127"/>
                        <a:ea typeface="Rix고딕 L" panose="02020603020101020101" pitchFamily="18" charset="-127"/>
                        <a:cs typeface="Calibri" charset="0"/>
                      </a:endParaRPr>
                    </a:p>
                  </a:txBody>
                  <a:tcPr marL="108000" marR="0" marT="0" marB="0" anchor="ctr">
                    <a:lnL w="1016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016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016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016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Rix고딕 L" panose="02020603020101020101" pitchFamily="18" charset="-127"/>
                          <a:ea typeface="Rix고딕 L" panose="02020603020101020101" pitchFamily="18" charset="-127"/>
                          <a:cs typeface="Calibri" pitchFamily="34" charset="-120"/>
                        </a:rPr>
                        <a:t>공통관리AOMS 285건</a:t>
                      </a:r>
                      <a:endParaRPr lang="en-US" sz="900" dirty="0">
                        <a:latin typeface="Rix고딕 L" panose="02020603020101020101" pitchFamily="18" charset="-127"/>
                        <a:ea typeface="Rix고딕 L" panose="02020603020101020101" pitchFamily="18" charset="-127"/>
                        <a:cs typeface="Calibri" charset="0"/>
                      </a:endParaRPr>
                    </a:p>
                  </a:txBody>
                  <a:tcPr marL="108000" marR="0" marT="0" marB="0" anchor="ctr">
                    <a:lnL w="1016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016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016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016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Rix고딕 L" panose="02020603020101020101" pitchFamily="18" charset="-127"/>
                          <a:ea typeface="Rix고딕 L" panose="02020603020101020101" pitchFamily="18" charset="-127"/>
                          <a:cs typeface="Calibri" pitchFamily="34" charset="-120"/>
                        </a:rPr>
                        <a:t>기능·기타 복합</a:t>
                      </a:r>
                      <a:endParaRPr lang="en-US" sz="900" dirty="0">
                        <a:latin typeface="Rix고딕 L" panose="02020603020101020101" pitchFamily="18" charset="-127"/>
                        <a:ea typeface="Rix고딕 L" panose="02020603020101020101" pitchFamily="18" charset="-127"/>
                        <a:cs typeface="Calibri" charset="0"/>
                      </a:endParaRPr>
                    </a:p>
                  </a:txBody>
                  <a:tcPr marL="108000" marR="0" marT="0" marB="0" anchor="ctr">
                    <a:lnL w="1016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016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016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016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Rix고딕 L" panose="02020603020101020101" pitchFamily="18" charset="-127"/>
                          <a:ea typeface="Rix고딕 L" panose="02020603020101020101" pitchFamily="18" charset="-127"/>
                          <a:cs typeface="Calibri" pitchFamily="34" charset="-120"/>
                        </a:rPr>
                        <a:t>1차 공사결함율 124.6% 이상값</a:t>
                      </a:r>
                      <a:endParaRPr lang="en-US" sz="900" dirty="0">
                        <a:latin typeface="Rix고딕 L" panose="02020603020101020101" pitchFamily="18" charset="-127"/>
                        <a:ea typeface="Rix고딕 L" panose="02020603020101020101" pitchFamily="18" charset="-127"/>
                        <a:cs typeface="Calibri" charset="0"/>
                      </a:endParaRPr>
                    </a:p>
                  </a:txBody>
                  <a:tcPr marL="108000" marR="0" marT="0" marB="0" anchor="ctr">
                    <a:lnL w="1016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016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016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016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Rix고딕 L" panose="02020603020101020101" pitchFamily="18" charset="-127"/>
                          <a:ea typeface="Rix고딕 L" panose="02020603020101020101" pitchFamily="18" charset="-127"/>
                          <a:cs typeface="Calibri" pitchFamily="34" charset="-120"/>
                        </a:rPr>
                        <a:t>요구사항 재검토 + 현업 협의</a:t>
                      </a:r>
                      <a:endParaRPr lang="en-US" sz="900" dirty="0">
                        <a:latin typeface="Rix고딕 L" panose="02020603020101020101" pitchFamily="18" charset="-127"/>
                        <a:ea typeface="Rix고딕 L" panose="02020603020101020101" pitchFamily="18" charset="-127"/>
                        <a:cs typeface="Calibri" charset="0"/>
                      </a:endParaRPr>
                    </a:p>
                  </a:txBody>
                  <a:tcPr marL="108000" marR="0" marT="0" marB="0" anchor="ctr">
                    <a:lnL w="1016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016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016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016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/>
          <p:cNvSpPr/>
          <p:nvPr/>
        </p:nvSpPr>
        <p:spPr>
          <a:xfrm>
            <a:off x="320040" y="0"/>
            <a:ext cx="6400800" cy="4317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002060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복수 단계 반복 결함 패턴 분석</a:t>
            </a:r>
            <a:endParaRPr lang="en-US" sz="2000" dirty="0">
              <a:solidFill>
                <a:srgbClr val="002060"/>
              </a:solidFill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grpSp>
        <p:nvGrpSpPr>
          <p:cNvPr id="47" name="그룹 46">
            <a:extLst>
              <a:ext uri="{FF2B5EF4-FFF2-40B4-BE49-F238E27FC236}">
                <a16:creationId xmlns:a16="http://schemas.microsoft.com/office/drawing/2014/main" id="{ED3C6422-3926-975F-61E1-DD21AF73F080}"/>
              </a:ext>
            </a:extLst>
          </p:cNvPr>
          <p:cNvGrpSpPr/>
          <p:nvPr/>
        </p:nvGrpSpPr>
        <p:grpSpPr>
          <a:xfrm>
            <a:off x="433646" y="936568"/>
            <a:ext cx="2587752" cy="896112"/>
            <a:chOff x="274320" y="777240"/>
            <a:chExt cx="2587752" cy="896112"/>
          </a:xfrm>
        </p:grpSpPr>
        <p:sp>
          <p:nvSpPr>
            <p:cNvPr id="5" name="Shape 3"/>
            <p:cNvSpPr/>
            <p:nvPr/>
          </p:nvSpPr>
          <p:spPr>
            <a:xfrm>
              <a:off x="274320" y="777240"/>
              <a:ext cx="2494344" cy="896112"/>
            </a:xfrm>
            <a:prstGeom prst="rect">
              <a:avLst/>
            </a:prstGeom>
            <a:solidFill>
              <a:srgbClr val="F4F7FB"/>
            </a:solidFill>
            <a:ln w="12700">
              <a:solidFill>
                <a:srgbClr val="D1D9E6"/>
              </a:solidFill>
              <a:prstDash val="solid"/>
            </a:ln>
            <a:effectLst>
              <a:outerShdw blurRad="50800" dist="25400" dir="8100000" algn="bl" rotWithShape="0">
                <a:srgbClr val="000000">
                  <a:alpha val="8000"/>
                </a:srgbClr>
              </a:outerShdw>
            </a:effectLst>
          </p:spPr>
          <p:txBody>
            <a:bodyPr/>
            <a:lstStyle/>
            <a:p>
              <a:endParaRPr lang="ko-KR" altLang="en-US">
                <a:latin typeface="Rix고딕 L" panose="02020603020101020101" pitchFamily="18" charset="-127"/>
                <a:ea typeface="Rix고딕 L" panose="02020603020101020101" pitchFamily="18" charset="-127"/>
              </a:endParaRPr>
            </a:p>
          </p:txBody>
        </p:sp>
        <p:sp>
          <p:nvSpPr>
            <p:cNvPr id="6" name="Shape 4"/>
            <p:cNvSpPr/>
            <p:nvPr/>
          </p:nvSpPr>
          <p:spPr>
            <a:xfrm>
              <a:off x="274320" y="777240"/>
              <a:ext cx="64008" cy="896112"/>
            </a:xfrm>
            <a:prstGeom prst="rect">
              <a:avLst/>
            </a:prstGeom>
            <a:solidFill>
              <a:srgbClr val="E85D2F"/>
            </a:solidFill>
            <a:ln w="12700">
              <a:solidFill>
                <a:srgbClr val="E85D2F"/>
              </a:solidFill>
              <a:prstDash val="solid"/>
            </a:ln>
          </p:spPr>
          <p:txBody>
            <a:bodyPr/>
            <a:lstStyle/>
            <a:p>
              <a:endParaRPr lang="ko-KR" altLang="en-US">
                <a:latin typeface="Rix고딕 L" panose="02020603020101020101" pitchFamily="18" charset="-127"/>
                <a:ea typeface="Rix고딕 L" panose="02020603020101020101" pitchFamily="18" charset="-127"/>
              </a:endParaRPr>
            </a:p>
          </p:txBody>
        </p:sp>
        <p:sp>
          <p:nvSpPr>
            <p:cNvPr id="7" name="Text 5"/>
            <p:cNvSpPr/>
            <p:nvPr/>
          </p:nvSpPr>
          <p:spPr>
            <a:xfrm>
              <a:off x="438912" y="850392"/>
              <a:ext cx="2423160" cy="46597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3200" b="1" dirty="0">
                  <a:solidFill>
                    <a:srgbClr val="E85D2F"/>
                  </a:solidFill>
                  <a:latin typeface="Rix고딕 L" panose="02020603020101020101" pitchFamily="18" charset="-127"/>
                  <a:ea typeface="Rix고딕 L" panose="02020603020101020101" pitchFamily="18" charset="-127"/>
                </a:rPr>
                <a:t>667개</a:t>
              </a:r>
              <a:endParaRPr lang="en-US" sz="3200" dirty="0">
                <a:latin typeface="Rix고딕 L" panose="02020603020101020101" pitchFamily="18" charset="-127"/>
                <a:ea typeface="Rix고딕 L" panose="02020603020101020101" pitchFamily="18" charset="-127"/>
              </a:endParaRPr>
            </a:p>
          </p:txBody>
        </p:sp>
        <p:sp>
          <p:nvSpPr>
            <p:cNvPr id="8" name="Text 6"/>
            <p:cNvSpPr/>
            <p:nvPr/>
          </p:nvSpPr>
          <p:spPr>
            <a:xfrm>
              <a:off x="438912" y="1296985"/>
              <a:ext cx="2158815" cy="22402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1000" b="1" dirty="0">
                  <a:solidFill>
                    <a:srgbClr val="1B3A6B"/>
                  </a:solidFill>
                  <a:latin typeface="Rix고딕 L" panose="02020603020101020101" pitchFamily="18" charset="-127"/>
                  <a:ea typeface="Rix고딕 L" panose="02020603020101020101" pitchFamily="18" charset="-127"/>
                </a:rPr>
                <a:t>복수단계 결함 시나리오</a:t>
              </a:r>
              <a:endParaRPr lang="en-US" sz="1000" dirty="0">
                <a:latin typeface="Rix고딕 L" panose="02020603020101020101" pitchFamily="18" charset="-127"/>
                <a:ea typeface="Rix고딕 L" panose="02020603020101020101" pitchFamily="18" charset="-127"/>
              </a:endParaRPr>
            </a:p>
          </p:txBody>
        </p:sp>
        <p:sp>
          <p:nvSpPr>
            <p:cNvPr id="9" name="Text 7"/>
            <p:cNvSpPr/>
            <p:nvPr/>
          </p:nvSpPr>
          <p:spPr>
            <a:xfrm>
              <a:off x="438912" y="1476207"/>
              <a:ext cx="2158815" cy="179222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900" dirty="0">
                  <a:solidFill>
                    <a:srgbClr val="9CA3AF"/>
                  </a:solidFill>
                  <a:latin typeface="Rix고딕 L" panose="02020603020101020101" pitchFamily="18" charset="-127"/>
                  <a:ea typeface="Rix고딕 L" panose="02020603020101020101" pitchFamily="18" charset="-127"/>
                </a:rPr>
                <a:t>전체 2,613개 시나리오의 25.5%</a:t>
              </a:r>
              <a:endParaRPr lang="en-US" sz="900" dirty="0">
                <a:latin typeface="Rix고딕 L" panose="02020603020101020101" pitchFamily="18" charset="-127"/>
                <a:ea typeface="Rix고딕 L" panose="02020603020101020101" pitchFamily="18" charset="-127"/>
              </a:endParaRPr>
            </a:p>
          </p:txBody>
        </p:sp>
      </p:grpSp>
      <p:grpSp>
        <p:nvGrpSpPr>
          <p:cNvPr id="49" name="그룹 48">
            <a:extLst>
              <a:ext uri="{FF2B5EF4-FFF2-40B4-BE49-F238E27FC236}">
                <a16:creationId xmlns:a16="http://schemas.microsoft.com/office/drawing/2014/main" id="{58EB0029-0C16-67D1-9DE0-87D833B6F0BA}"/>
              </a:ext>
            </a:extLst>
          </p:cNvPr>
          <p:cNvGrpSpPr/>
          <p:nvPr/>
        </p:nvGrpSpPr>
        <p:grpSpPr>
          <a:xfrm>
            <a:off x="3354199" y="936568"/>
            <a:ext cx="2494344" cy="896112"/>
            <a:chOff x="3227832" y="777240"/>
            <a:chExt cx="2494344" cy="896112"/>
          </a:xfrm>
        </p:grpSpPr>
        <p:sp>
          <p:nvSpPr>
            <p:cNvPr id="10" name="Shape 8"/>
            <p:cNvSpPr/>
            <p:nvPr/>
          </p:nvSpPr>
          <p:spPr>
            <a:xfrm>
              <a:off x="3227832" y="777240"/>
              <a:ext cx="2494344" cy="896112"/>
            </a:xfrm>
            <a:prstGeom prst="rect">
              <a:avLst/>
            </a:prstGeom>
            <a:solidFill>
              <a:srgbClr val="F4F7FB"/>
            </a:solidFill>
            <a:ln w="12700">
              <a:solidFill>
                <a:srgbClr val="D1D9E6"/>
              </a:solidFill>
              <a:prstDash val="solid"/>
            </a:ln>
            <a:effectLst>
              <a:outerShdw blurRad="50800" dist="25400" dir="8100000" algn="bl" rotWithShape="0">
                <a:srgbClr val="000000">
                  <a:alpha val="8000"/>
                </a:srgbClr>
              </a:outerShdw>
            </a:effectLst>
          </p:spPr>
          <p:txBody>
            <a:bodyPr/>
            <a:lstStyle/>
            <a:p>
              <a:endParaRPr lang="ko-KR" altLang="en-US">
                <a:latin typeface="Rix고딕 L" panose="02020603020101020101" pitchFamily="18" charset="-127"/>
                <a:ea typeface="Rix고딕 L" panose="02020603020101020101" pitchFamily="18" charset="-127"/>
              </a:endParaRPr>
            </a:p>
          </p:txBody>
        </p:sp>
        <p:sp>
          <p:nvSpPr>
            <p:cNvPr id="11" name="Shape 9"/>
            <p:cNvSpPr/>
            <p:nvPr/>
          </p:nvSpPr>
          <p:spPr>
            <a:xfrm>
              <a:off x="3227832" y="777240"/>
              <a:ext cx="64008" cy="896112"/>
            </a:xfrm>
            <a:prstGeom prst="rect">
              <a:avLst/>
            </a:prstGeom>
            <a:solidFill>
              <a:srgbClr val="DC2626"/>
            </a:solidFill>
            <a:ln w="12700">
              <a:solidFill>
                <a:srgbClr val="DC2626"/>
              </a:solidFill>
              <a:prstDash val="solid"/>
            </a:ln>
          </p:spPr>
          <p:txBody>
            <a:bodyPr/>
            <a:lstStyle/>
            <a:p>
              <a:endParaRPr lang="ko-KR" altLang="en-US">
                <a:latin typeface="Rix고딕 L" panose="02020603020101020101" pitchFamily="18" charset="-127"/>
                <a:ea typeface="Rix고딕 L" panose="02020603020101020101" pitchFamily="18" charset="-127"/>
              </a:endParaRPr>
            </a:p>
          </p:txBody>
        </p:sp>
        <p:sp>
          <p:nvSpPr>
            <p:cNvPr id="12" name="Text 10"/>
            <p:cNvSpPr/>
            <p:nvPr/>
          </p:nvSpPr>
          <p:spPr>
            <a:xfrm>
              <a:off x="3392424" y="850392"/>
              <a:ext cx="1560576" cy="46597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3200" b="1" dirty="0">
                  <a:solidFill>
                    <a:srgbClr val="DC2626"/>
                  </a:solidFill>
                  <a:latin typeface="Rix고딕 L" panose="02020603020101020101" pitchFamily="18" charset="-127"/>
                  <a:ea typeface="Rix고딕 L" panose="02020603020101020101" pitchFamily="18" charset="-127"/>
                </a:rPr>
                <a:t>45건</a:t>
              </a:r>
              <a:endParaRPr lang="en-US" sz="3200" dirty="0">
                <a:latin typeface="Rix고딕 L" panose="02020603020101020101" pitchFamily="18" charset="-127"/>
                <a:ea typeface="Rix고딕 L" panose="02020603020101020101" pitchFamily="18" charset="-127"/>
              </a:endParaRPr>
            </a:p>
          </p:txBody>
        </p:sp>
        <p:sp>
          <p:nvSpPr>
            <p:cNvPr id="13" name="Text 11"/>
            <p:cNvSpPr/>
            <p:nvPr/>
          </p:nvSpPr>
          <p:spPr>
            <a:xfrm>
              <a:off x="3392424" y="1296985"/>
              <a:ext cx="1976212" cy="22402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1000" b="1" dirty="0">
                  <a:solidFill>
                    <a:srgbClr val="1B3A6B"/>
                  </a:solidFill>
                  <a:latin typeface="Rix고딕 L" panose="02020603020101020101" pitchFamily="18" charset="-127"/>
                  <a:ea typeface="Rix고딕 L" panose="02020603020101020101" pitchFamily="18" charset="-127"/>
                </a:rPr>
                <a:t>단일 시나리오 최다 결함</a:t>
              </a:r>
              <a:endParaRPr lang="en-US" sz="1000" dirty="0">
                <a:latin typeface="Rix고딕 L" panose="02020603020101020101" pitchFamily="18" charset="-127"/>
                <a:ea typeface="Rix고딕 L" panose="02020603020101020101" pitchFamily="18" charset="-127"/>
              </a:endParaRPr>
            </a:p>
          </p:txBody>
        </p:sp>
        <p:sp>
          <p:nvSpPr>
            <p:cNvPr id="14" name="Text 12"/>
            <p:cNvSpPr/>
            <p:nvPr/>
          </p:nvSpPr>
          <p:spPr>
            <a:xfrm>
              <a:off x="3392424" y="1476207"/>
              <a:ext cx="1976212" cy="179222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900" dirty="0">
                  <a:solidFill>
                    <a:srgbClr val="9CA3AF"/>
                  </a:solidFill>
                  <a:latin typeface="Rix고딕 L" panose="02020603020101020101" pitchFamily="18" charset="-127"/>
                  <a:ea typeface="Rix고딕 L" panose="02020603020101020101" pitchFamily="18" charset="-127"/>
                </a:rPr>
                <a:t>UT-AC01021S (항공기관제)</a:t>
              </a:r>
              <a:endParaRPr lang="en-US" sz="900" dirty="0">
                <a:latin typeface="Rix고딕 L" panose="02020603020101020101" pitchFamily="18" charset="-127"/>
                <a:ea typeface="Rix고딕 L" panose="02020603020101020101" pitchFamily="18" charset="-127"/>
              </a:endParaRPr>
            </a:p>
          </p:txBody>
        </p:sp>
      </p:grpSp>
      <p:grpSp>
        <p:nvGrpSpPr>
          <p:cNvPr id="48" name="그룹 47">
            <a:extLst>
              <a:ext uri="{FF2B5EF4-FFF2-40B4-BE49-F238E27FC236}">
                <a16:creationId xmlns:a16="http://schemas.microsoft.com/office/drawing/2014/main" id="{D3B12F06-DCA8-4B2B-23B4-B77D1953F6E6}"/>
              </a:ext>
            </a:extLst>
          </p:cNvPr>
          <p:cNvGrpSpPr/>
          <p:nvPr/>
        </p:nvGrpSpPr>
        <p:grpSpPr>
          <a:xfrm>
            <a:off x="6181344" y="936568"/>
            <a:ext cx="2494344" cy="896112"/>
            <a:chOff x="6181344" y="777240"/>
            <a:chExt cx="2494344" cy="896112"/>
          </a:xfrm>
        </p:grpSpPr>
        <p:sp>
          <p:nvSpPr>
            <p:cNvPr id="15" name="Shape 13"/>
            <p:cNvSpPr/>
            <p:nvPr/>
          </p:nvSpPr>
          <p:spPr>
            <a:xfrm>
              <a:off x="6181344" y="777240"/>
              <a:ext cx="2494344" cy="896112"/>
            </a:xfrm>
            <a:prstGeom prst="rect">
              <a:avLst/>
            </a:prstGeom>
            <a:solidFill>
              <a:srgbClr val="F4F7FB"/>
            </a:solidFill>
            <a:ln w="12700">
              <a:solidFill>
                <a:srgbClr val="D1D9E6"/>
              </a:solidFill>
              <a:prstDash val="solid"/>
            </a:ln>
            <a:effectLst>
              <a:outerShdw blurRad="50800" dist="25400" dir="8100000" algn="bl" rotWithShape="0">
                <a:srgbClr val="000000">
                  <a:alpha val="8000"/>
                </a:srgbClr>
              </a:outerShdw>
            </a:effectLst>
          </p:spPr>
          <p:txBody>
            <a:bodyPr/>
            <a:lstStyle/>
            <a:p>
              <a:endParaRPr lang="ko-KR" altLang="en-US">
                <a:latin typeface="Rix고딕 L" panose="02020603020101020101" pitchFamily="18" charset="-127"/>
                <a:ea typeface="Rix고딕 L" panose="02020603020101020101" pitchFamily="18" charset="-127"/>
              </a:endParaRPr>
            </a:p>
          </p:txBody>
        </p:sp>
        <p:sp>
          <p:nvSpPr>
            <p:cNvPr id="16" name="Shape 14"/>
            <p:cNvSpPr/>
            <p:nvPr/>
          </p:nvSpPr>
          <p:spPr>
            <a:xfrm>
              <a:off x="6181344" y="777240"/>
              <a:ext cx="64008" cy="896112"/>
            </a:xfrm>
            <a:prstGeom prst="rect">
              <a:avLst/>
            </a:prstGeom>
            <a:solidFill>
              <a:srgbClr val="1B3A6B"/>
            </a:solidFill>
            <a:ln w="12700">
              <a:solidFill>
                <a:srgbClr val="1B3A6B"/>
              </a:solidFill>
              <a:prstDash val="solid"/>
            </a:ln>
          </p:spPr>
          <p:txBody>
            <a:bodyPr/>
            <a:lstStyle/>
            <a:p>
              <a:endParaRPr lang="ko-KR" altLang="en-US">
                <a:latin typeface="Rix고딕 L" panose="02020603020101020101" pitchFamily="18" charset="-127"/>
                <a:ea typeface="Rix고딕 L" panose="02020603020101020101" pitchFamily="18" charset="-127"/>
              </a:endParaRPr>
            </a:p>
          </p:txBody>
        </p:sp>
        <p:sp>
          <p:nvSpPr>
            <p:cNvPr id="17" name="Text 15"/>
            <p:cNvSpPr/>
            <p:nvPr/>
          </p:nvSpPr>
          <p:spPr>
            <a:xfrm>
              <a:off x="6345936" y="850392"/>
              <a:ext cx="2048256" cy="46597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3200" b="1" dirty="0">
                  <a:solidFill>
                    <a:srgbClr val="1B3A6B"/>
                  </a:solidFill>
                  <a:latin typeface="Rix고딕 L" panose="02020603020101020101" pitchFamily="18" charset="-127"/>
                  <a:ea typeface="Rix고딕 L" panose="02020603020101020101" pitchFamily="18" charset="-127"/>
                </a:rPr>
                <a:t>3가지</a:t>
              </a:r>
              <a:endParaRPr lang="en-US" sz="3200" dirty="0">
                <a:latin typeface="Rix고딕 L" panose="02020603020101020101" pitchFamily="18" charset="-127"/>
                <a:ea typeface="Rix고딕 L" panose="02020603020101020101" pitchFamily="18" charset="-127"/>
              </a:endParaRPr>
            </a:p>
          </p:txBody>
        </p:sp>
        <p:sp>
          <p:nvSpPr>
            <p:cNvPr id="18" name="Text 16"/>
            <p:cNvSpPr/>
            <p:nvPr/>
          </p:nvSpPr>
          <p:spPr>
            <a:xfrm>
              <a:off x="6345936" y="1296985"/>
              <a:ext cx="2048256" cy="22402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1000" b="1" dirty="0">
                  <a:solidFill>
                    <a:srgbClr val="1B3A6B"/>
                  </a:solidFill>
                  <a:latin typeface="Rix고딕 L" panose="02020603020101020101" pitchFamily="18" charset="-127"/>
                  <a:ea typeface="Rix고딕 L" panose="02020603020101020101" pitchFamily="18" charset="-127"/>
                </a:rPr>
                <a:t>주요 반복 패턴 유형</a:t>
              </a:r>
              <a:endParaRPr lang="en-US" sz="1000" dirty="0">
                <a:latin typeface="Rix고딕 L" panose="02020603020101020101" pitchFamily="18" charset="-127"/>
                <a:ea typeface="Rix고딕 L" panose="02020603020101020101" pitchFamily="18" charset="-127"/>
              </a:endParaRPr>
            </a:p>
          </p:txBody>
        </p:sp>
        <p:sp>
          <p:nvSpPr>
            <p:cNvPr id="19" name="Text 17"/>
            <p:cNvSpPr/>
            <p:nvPr/>
          </p:nvSpPr>
          <p:spPr>
            <a:xfrm>
              <a:off x="6345936" y="1476207"/>
              <a:ext cx="2048256" cy="179222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900" dirty="0">
                  <a:solidFill>
                    <a:srgbClr val="9CA3AF"/>
                  </a:solidFill>
                  <a:latin typeface="Rix고딕 L" panose="02020603020101020101" pitchFamily="18" charset="-127"/>
                  <a:ea typeface="Rix고딕 L" panose="02020603020101020101" pitchFamily="18" charset="-127"/>
                </a:rPr>
                <a:t>미조치이월·복합혼재·감리신규</a:t>
              </a:r>
              <a:endParaRPr lang="en-US" sz="900" dirty="0">
                <a:latin typeface="Rix고딕 L" panose="02020603020101020101" pitchFamily="18" charset="-127"/>
                <a:ea typeface="Rix고딕 L" panose="02020603020101020101" pitchFamily="18" charset="-127"/>
              </a:endParaRPr>
            </a:p>
          </p:txBody>
        </p:sp>
      </p:grpSp>
      <p:grpSp>
        <p:nvGrpSpPr>
          <p:cNvPr id="51" name="그룹 50">
            <a:extLst>
              <a:ext uri="{FF2B5EF4-FFF2-40B4-BE49-F238E27FC236}">
                <a16:creationId xmlns:a16="http://schemas.microsoft.com/office/drawing/2014/main" id="{338A4D07-3DE6-9653-CE88-68C20006F619}"/>
              </a:ext>
            </a:extLst>
          </p:cNvPr>
          <p:cNvGrpSpPr/>
          <p:nvPr/>
        </p:nvGrpSpPr>
        <p:grpSpPr>
          <a:xfrm>
            <a:off x="433647" y="2015837"/>
            <a:ext cx="2679192" cy="2695956"/>
            <a:chOff x="433647" y="1828800"/>
            <a:chExt cx="2679192" cy="2695956"/>
          </a:xfrm>
        </p:grpSpPr>
        <p:sp>
          <p:nvSpPr>
            <p:cNvPr id="20" name="Shape 18"/>
            <p:cNvSpPr/>
            <p:nvPr/>
          </p:nvSpPr>
          <p:spPr>
            <a:xfrm>
              <a:off x="433647" y="1828800"/>
              <a:ext cx="2679192" cy="2695956"/>
            </a:xfrm>
            <a:prstGeom prst="rect">
              <a:avLst/>
            </a:prstGeom>
            <a:solidFill>
              <a:srgbClr val="F4F7FB"/>
            </a:solidFill>
            <a:ln w="12700">
              <a:solidFill>
                <a:srgbClr val="D1D9E6"/>
              </a:solidFill>
              <a:prstDash val="solid"/>
            </a:ln>
            <a:effectLst>
              <a:outerShdw blurRad="50800" dist="25400" dir="8100000" algn="bl" rotWithShape="0">
                <a:srgbClr val="000000">
                  <a:alpha val="8000"/>
                </a:srgbClr>
              </a:outerShdw>
            </a:effectLst>
          </p:spPr>
          <p:txBody>
            <a:bodyPr/>
            <a:lstStyle/>
            <a:p>
              <a:endParaRPr lang="ko-KR" altLang="en-US">
                <a:latin typeface="Rix고딕 L" panose="02020603020101020101" pitchFamily="18" charset="-127"/>
                <a:ea typeface="Rix고딕 L" panose="02020603020101020101" pitchFamily="18" charset="-127"/>
              </a:endParaRPr>
            </a:p>
          </p:txBody>
        </p:sp>
        <p:sp>
          <p:nvSpPr>
            <p:cNvPr id="21" name="Shape 19"/>
            <p:cNvSpPr/>
            <p:nvPr/>
          </p:nvSpPr>
          <p:spPr>
            <a:xfrm>
              <a:off x="433647" y="1828800"/>
              <a:ext cx="2679192" cy="384048"/>
            </a:xfrm>
            <a:prstGeom prst="rect">
              <a:avLst/>
            </a:prstGeom>
            <a:solidFill>
              <a:srgbClr val="DC2626"/>
            </a:solidFill>
            <a:ln w="12700">
              <a:solidFill>
                <a:srgbClr val="DC2626"/>
              </a:solidFill>
              <a:prstDash val="solid"/>
            </a:ln>
          </p:spPr>
          <p:txBody>
            <a:bodyPr/>
            <a:lstStyle/>
            <a:p>
              <a:endParaRPr lang="ko-KR" altLang="en-US">
                <a:latin typeface="Rix고딕 L" panose="02020603020101020101" pitchFamily="18" charset="-127"/>
                <a:ea typeface="Rix고딕 L" panose="02020603020101020101" pitchFamily="18" charset="-127"/>
              </a:endParaRPr>
            </a:p>
          </p:txBody>
        </p:sp>
        <p:sp>
          <p:nvSpPr>
            <p:cNvPr id="22" name="Text 20"/>
            <p:cNvSpPr/>
            <p:nvPr/>
          </p:nvSpPr>
          <p:spPr>
            <a:xfrm>
              <a:off x="543375" y="1828800"/>
              <a:ext cx="2482718" cy="38404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1050" b="1" dirty="0">
                  <a:solidFill>
                    <a:srgbClr val="FFFFFF"/>
                  </a:solidFill>
                  <a:latin typeface="Rix고딕 L" panose="02020603020101020101" pitchFamily="18" charset="-127"/>
                  <a:ea typeface="Rix고딕 L" panose="02020603020101020101" pitchFamily="18" charset="-127"/>
                </a:rPr>
                <a:t>① 미조치 이월 패턴</a:t>
              </a:r>
              <a:endParaRPr lang="en-US" sz="1050" dirty="0">
                <a:latin typeface="Rix고딕 L" panose="02020603020101020101" pitchFamily="18" charset="-127"/>
                <a:ea typeface="Rix고딕 L" panose="02020603020101020101" pitchFamily="18" charset="-127"/>
              </a:endParaRPr>
            </a:p>
          </p:txBody>
        </p:sp>
        <p:sp>
          <p:nvSpPr>
            <p:cNvPr id="23" name="Text 21"/>
            <p:cNvSpPr/>
            <p:nvPr/>
          </p:nvSpPr>
          <p:spPr>
            <a:xfrm>
              <a:off x="543375" y="2267712"/>
              <a:ext cx="2464857" cy="54864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900" dirty="0">
                  <a:solidFill>
                    <a:srgbClr val="1B3A6B"/>
                  </a:solidFill>
                  <a:latin typeface="Rix고딕 L" panose="02020603020101020101" pitchFamily="18" charset="-127"/>
                  <a:ea typeface="Rix고딕 L" panose="02020603020101020101" pitchFamily="18" charset="-127"/>
                </a:rPr>
                <a:t>공사테스트 결함이 조치 없이 현업·감리 단계로 이월되어 재등록</a:t>
              </a:r>
              <a:endParaRPr lang="en-US" sz="900" dirty="0">
                <a:latin typeface="Rix고딕 L" panose="02020603020101020101" pitchFamily="18" charset="-127"/>
                <a:ea typeface="Rix고딕 L" panose="02020603020101020101" pitchFamily="18" charset="-127"/>
              </a:endParaRPr>
            </a:p>
          </p:txBody>
        </p:sp>
        <p:sp>
          <p:nvSpPr>
            <p:cNvPr id="24" name="Shape 22"/>
            <p:cNvSpPr/>
            <p:nvPr/>
          </p:nvSpPr>
          <p:spPr>
            <a:xfrm>
              <a:off x="525087" y="2871216"/>
              <a:ext cx="2482718" cy="9144"/>
            </a:xfrm>
            <a:prstGeom prst="rect">
              <a:avLst/>
            </a:prstGeom>
            <a:solidFill>
              <a:srgbClr val="D1D9E6"/>
            </a:solidFill>
            <a:ln w="12700">
              <a:solidFill>
                <a:srgbClr val="D1D9E6"/>
              </a:solidFill>
              <a:prstDash val="solid"/>
            </a:ln>
          </p:spPr>
          <p:txBody>
            <a:bodyPr/>
            <a:lstStyle/>
            <a:p>
              <a:endParaRPr lang="ko-KR" altLang="en-US">
                <a:latin typeface="Rix고딕 L" panose="02020603020101020101" pitchFamily="18" charset="-127"/>
                <a:ea typeface="Rix고딕 L" panose="02020603020101020101" pitchFamily="18" charset="-127"/>
              </a:endParaRPr>
            </a:p>
          </p:txBody>
        </p:sp>
        <p:sp>
          <p:nvSpPr>
            <p:cNvPr id="25" name="Text 23"/>
            <p:cNvSpPr/>
            <p:nvPr/>
          </p:nvSpPr>
          <p:spPr>
            <a:xfrm>
              <a:off x="543375" y="2907792"/>
              <a:ext cx="2464857" cy="530352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850" i="1" dirty="0">
                  <a:solidFill>
                    <a:srgbClr val="4B5563"/>
                  </a:solidFill>
                  <a:latin typeface="Rix고딕 L" panose="02020603020101020101" pitchFamily="18" charset="-127"/>
                  <a:ea typeface="Rix고딕 L" panose="02020603020101020101" pitchFamily="18" charset="-127"/>
                </a:rPr>
                <a:t>📌 예: UT-GO11101S — 공사단계 기능 오류가 현업·감리 단계까지 지속</a:t>
              </a:r>
              <a:endParaRPr lang="en-US" sz="850" dirty="0">
                <a:latin typeface="Rix고딕 L" panose="02020603020101020101" pitchFamily="18" charset="-127"/>
                <a:ea typeface="Rix고딕 L" panose="02020603020101020101" pitchFamily="18" charset="-127"/>
              </a:endParaRPr>
            </a:p>
          </p:txBody>
        </p:sp>
        <p:sp>
          <p:nvSpPr>
            <p:cNvPr id="26" name="Shape 24"/>
            <p:cNvSpPr/>
            <p:nvPr/>
          </p:nvSpPr>
          <p:spPr>
            <a:xfrm>
              <a:off x="525087" y="3493008"/>
              <a:ext cx="2482718" cy="9144"/>
            </a:xfrm>
            <a:prstGeom prst="rect">
              <a:avLst/>
            </a:prstGeom>
            <a:solidFill>
              <a:srgbClr val="D1D9E6"/>
            </a:solidFill>
            <a:ln w="12700">
              <a:solidFill>
                <a:srgbClr val="D1D9E6"/>
              </a:solidFill>
              <a:prstDash val="solid"/>
            </a:ln>
          </p:spPr>
          <p:txBody>
            <a:bodyPr/>
            <a:lstStyle/>
            <a:p>
              <a:endParaRPr lang="ko-KR" altLang="en-US">
                <a:latin typeface="Rix고딕 L" panose="02020603020101020101" pitchFamily="18" charset="-127"/>
                <a:ea typeface="Rix고딕 L" panose="02020603020101020101" pitchFamily="18" charset="-127"/>
              </a:endParaRPr>
            </a:p>
          </p:txBody>
        </p:sp>
        <p:sp>
          <p:nvSpPr>
            <p:cNvPr id="27" name="Text 25"/>
            <p:cNvSpPr/>
            <p:nvPr/>
          </p:nvSpPr>
          <p:spPr>
            <a:xfrm>
              <a:off x="543375" y="3529584"/>
              <a:ext cx="2464857" cy="36576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850" b="1" dirty="0">
                  <a:solidFill>
                    <a:srgbClr val="DC2626"/>
                  </a:solidFill>
                  <a:latin typeface="Rix고딕 L" panose="02020603020101020101" pitchFamily="18" charset="-127"/>
                  <a:ea typeface="Rix고딕 L" panose="02020603020101020101" pitchFamily="18" charset="-127"/>
                </a:rPr>
                <a:t>영향: 이월 결함 누적 → 감리 단계 급증 위험</a:t>
              </a:r>
              <a:endParaRPr lang="en-US" sz="850" dirty="0">
                <a:latin typeface="Rix고딕 L" panose="02020603020101020101" pitchFamily="18" charset="-127"/>
                <a:ea typeface="Rix고딕 L" panose="02020603020101020101" pitchFamily="18" charset="-127"/>
              </a:endParaRPr>
            </a:p>
          </p:txBody>
        </p:sp>
        <p:sp>
          <p:nvSpPr>
            <p:cNvPr id="28" name="Text 26"/>
            <p:cNvSpPr/>
            <p:nvPr/>
          </p:nvSpPr>
          <p:spPr>
            <a:xfrm>
              <a:off x="543375" y="3913632"/>
              <a:ext cx="2464857" cy="4572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850" dirty="0">
                  <a:solidFill>
                    <a:srgbClr val="1B3A6B"/>
                  </a:solidFill>
                  <a:latin typeface="Rix고딕 L" panose="02020603020101020101" pitchFamily="18" charset="-127"/>
                  <a:ea typeface="Rix고딕 L" panose="02020603020101020101" pitchFamily="18" charset="-127"/>
                </a:rPr>
                <a:t>▶ 공사테스트 조치 완료 확인 후 다음 단계 진입 허용</a:t>
              </a:r>
              <a:endParaRPr lang="en-US" sz="850" dirty="0">
                <a:latin typeface="Rix고딕 L" panose="02020603020101020101" pitchFamily="18" charset="-127"/>
                <a:ea typeface="Rix고딕 L" panose="02020603020101020101" pitchFamily="18" charset="-127"/>
              </a:endParaRPr>
            </a:p>
          </p:txBody>
        </p:sp>
      </p:grpSp>
      <p:grpSp>
        <p:nvGrpSpPr>
          <p:cNvPr id="52" name="그룹 51">
            <a:extLst>
              <a:ext uri="{FF2B5EF4-FFF2-40B4-BE49-F238E27FC236}">
                <a16:creationId xmlns:a16="http://schemas.microsoft.com/office/drawing/2014/main" id="{CDC4BBC3-BD95-DCE1-68B0-8B029E89A9E6}"/>
              </a:ext>
            </a:extLst>
          </p:cNvPr>
          <p:cNvGrpSpPr/>
          <p:nvPr/>
        </p:nvGrpSpPr>
        <p:grpSpPr>
          <a:xfrm>
            <a:off x="3211483" y="2015837"/>
            <a:ext cx="2679192" cy="2695956"/>
            <a:chOff x="3218688" y="1828800"/>
            <a:chExt cx="2679192" cy="2695956"/>
          </a:xfrm>
        </p:grpSpPr>
        <p:sp>
          <p:nvSpPr>
            <p:cNvPr id="29" name="Shape 27"/>
            <p:cNvSpPr/>
            <p:nvPr/>
          </p:nvSpPr>
          <p:spPr>
            <a:xfrm>
              <a:off x="3218688" y="1828800"/>
              <a:ext cx="2679192" cy="2695956"/>
            </a:xfrm>
            <a:prstGeom prst="rect">
              <a:avLst/>
            </a:prstGeom>
            <a:solidFill>
              <a:srgbClr val="F4F7FB"/>
            </a:solidFill>
            <a:ln w="12700">
              <a:solidFill>
                <a:srgbClr val="D1D9E6"/>
              </a:solidFill>
              <a:prstDash val="solid"/>
            </a:ln>
            <a:effectLst>
              <a:outerShdw blurRad="50800" dist="25400" dir="8100000" algn="bl" rotWithShape="0">
                <a:srgbClr val="000000">
                  <a:alpha val="8000"/>
                </a:srgbClr>
              </a:outerShdw>
            </a:effectLst>
          </p:spPr>
          <p:txBody>
            <a:bodyPr/>
            <a:lstStyle/>
            <a:p>
              <a:endParaRPr lang="ko-KR" altLang="en-US">
                <a:latin typeface="Rix고딕 L" panose="02020603020101020101" pitchFamily="18" charset="-127"/>
                <a:ea typeface="Rix고딕 L" panose="02020603020101020101" pitchFamily="18" charset="-127"/>
              </a:endParaRPr>
            </a:p>
          </p:txBody>
        </p:sp>
        <p:sp>
          <p:nvSpPr>
            <p:cNvPr id="30" name="Shape 28"/>
            <p:cNvSpPr/>
            <p:nvPr/>
          </p:nvSpPr>
          <p:spPr>
            <a:xfrm>
              <a:off x="3218688" y="1828800"/>
              <a:ext cx="2679192" cy="384048"/>
            </a:xfrm>
            <a:prstGeom prst="rect">
              <a:avLst/>
            </a:prstGeom>
            <a:solidFill>
              <a:srgbClr val="E85D2F"/>
            </a:solidFill>
            <a:ln w="12700">
              <a:solidFill>
                <a:srgbClr val="E85D2F"/>
              </a:solidFill>
              <a:prstDash val="solid"/>
            </a:ln>
          </p:spPr>
          <p:txBody>
            <a:bodyPr/>
            <a:lstStyle/>
            <a:p>
              <a:endParaRPr lang="ko-KR" altLang="en-US">
                <a:latin typeface="Rix고딕 L" panose="02020603020101020101" pitchFamily="18" charset="-127"/>
                <a:ea typeface="Rix고딕 L" panose="02020603020101020101" pitchFamily="18" charset="-127"/>
              </a:endParaRPr>
            </a:p>
          </p:txBody>
        </p:sp>
        <p:sp>
          <p:nvSpPr>
            <p:cNvPr id="31" name="Text 29"/>
            <p:cNvSpPr/>
            <p:nvPr/>
          </p:nvSpPr>
          <p:spPr>
            <a:xfrm>
              <a:off x="3328416" y="1828800"/>
              <a:ext cx="2482718" cy="38404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1050" b="1" dirty="0">
                  <a:solidFill>
                    <a:srgbClr val="FFFFFF"/>
                  </a:solidFill>
                  <a:latin typeface="Rix고딕 L" panose="02020603020101020101" pitchFamily="18" charset="-127"/>
                  <a:ea typeface="Rix고딕 L" panose="02020603020101020101" pitchFamily="18" charset="-127"/>
                </a:rPr>
                <a:t>② 복합 결함 혼재 패턴</a:t>
              </a:r>
              <a:endParaRPr lang="en-US" sz="1050" dirty="0">
                <a:latin typeface="Rix고딕 L" panose="02020603020101020101" pitchFamily="18" charset="-127"/>
                <a:ea typeface="Rix고딕 L" panose="02020603020101020101" pitchFamily="18" charset="-127"/>
              </a:endParaRPr>
            </a:p>
          </p:txBody>
        </p:sp>
        <p:sp>
          <p:nvSpPr>
            <p:cNvPr id="32" name="Text 30"/>
            <p:cNvSpPr/>
            <p:nvPr/>
          </p:nvSpPr>
          <p:spPr>
            <a:xfrm>
              <a:off x="3328416" y="2267712"/>
              <a:ext cx="2464856" cy="54864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900" dirty="0">
                  <a:solidFill>
                    <a:srgbClr val="1B3A6B"/>
                  </a:solidFill>
                  <a:latin typeface="Rix고딕 L" panose="02020603020101020101" pitchFamily="18" charset="-127"/>
                  <a:ea typeface="Rix고딕 L" panose="02020603020101020101" pitchFamily="18" charset="-127"/>
                </a:rPr>
                <a:t>단일 시나리오에서 기능·UI·데이터·프로세스 유형이 동시 발생</a:t>
              </a:r>
              <a:endParaRPr lang="en-US" sz="900" dirty="0">
                <a:latin typeface="Rix고딕 L" panose="02020603020101020101" pitchFamily="18" charset="-127"/>
                <a:ea typeface="Rix고딕 L" panose="02020603020101020101" pitchFamily="18" charset="-127"/>
              </a:endParaRPr>
            </a:p>
          </p:txBody>
        </p:sp>
        <p:sp>
          <p:nvSpPr>
            <p:cNvPr id="33" name="Shape 31"/>
            <p:cNvSpPr/>
            <p:nvPr/>
          </p:nvSpPr>
          <p:spPr>
            <a:xfrm>
              <a:off x="3310128" y="2871216"/>
              <a:ext cx="2482718" cy="9144"/>
            </a:xfrm>
            <a:prstGeom prst="rect">
              <a:avLst/>
            </a:prstGeom>
            <a:solidFill>
              <a:srgbClr val="D1D9E6"/>
            </a:solidFill>
            <a:ln w="12700">
              <a:solidFill>
                <a:srgbClr val="D1D9E6"/>
              </a:solidFill>
              <a:prstDash val="solid"/>
            </a:ln>
          </p:spPr>
          <p:txBody>
            <a:bodyPr/>
            <a:lstStyle/>
            <a:p>
              <a:endParaRPr lang="ko-KR" altLang="en-US">
                <a:latin typeface="Rix고딕 L" panose="02020603020101020101" pitchFamily="18" charset="-127"/>
                <a:ea typeface="Rix고딕 L" panose="02020603020101020101" pitchFamily="18" charset="-127"/>
              </a:endParaRPr>
            </a:p>
          </p:txBody>
        </p:sp>
        <p:sp>
          <p:nvSpPr>
            <p:cNvPr id="34" name="Text 32"/>
            <p:cNvSpPr/>
            <p:nvPr/>
          </p:nvSpPr>
          <p:spPr>
            <a:xfrm>
              <a:off x="3328416" y="2907792"/>
              <a:ext cx="2464856" cy="530352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850" i="1" dirty="0">
                  <a:solidFill>
                    <a:srgbClr val="4B5563"/>
                  </a:solidFill>
                  <a:latin typeface="Rix고딕 L" panose="02020603020101020101" pitchFamily="18" charset="-127"/>
                  <a:ea typeface="Rix고딕 L" panose="02020603020101020101" pitchFamily="18" charset="-127"/>
                </a:rPr>
                <a:t>📌 예: UT-CASY011S — 공사·현업·감리 3단계에서 37건, 5가지 유형 혼재</a:t>
              </a:r>
              <a:endParaRPr lang="en-US" sz="850" dirty="0">
                <a:latin typeface="Rix고딕 L" panose="02020603020101020101" pitchFamily="18" charset="-127"/>
                <a:ea typeface="Rix고딕 L" panose="02020603020101020101" pitchFamily="18" charset="-127"/>
              </a:endParaRPr>
            </a:p>
          </p:txBody>
        </p:sp>
        <p:sp>
          <p:nvSpPr>
            <p:cNvPr id="35" name="Shape 33"/>
            <p:cNvSpPr/>
            <p:nvPr/>
          </p:nvSpPr>
          <p:spPr>
            <a:xfrm>
              <a:off x="3310128" y="3493008"/>
              <a:ext cx="2482718" cy="9144"/>
            </a:xfrm>
            <a:prstGeom prst="rect">
              <a:avLst/>
            </a:prstGeom>
            <a:solidFill>
              <a:srgbClr val="D1D9E6"/>
            </a:solidFill>
            <a:ln w="12700">
              <a:solidFill>
                <a:srgbClr val="D1D9E6"/>
              </a:solidFill>
              <a:prstDash val="solid"/>
            </a:ln>
          </p:spPr>
          <p:txBody>
            <a:bodyPr/>
            <a:lstStyle/>
            <a:p>
              <a:endParaRPr lang="ko-KR" altLang="en-US">
                <a:latin typeface="Rix고딕 L" panose="02020603020101020101" pitchFamily="18" charset="-127"/>
                <a:ea typeface="Rix고딕 L" panose="02020603020101020101" pitchFamily="18" charset="-127"/>
              </a:endParaRPr>
            </a:p>
          </p:txBody>
        </p:sp>
        <p:sp>
          <p:nvSpPr>
            <p:cNvPr id="36" name="Text 34"/>
            <p:cNvSpPr/>
            <p:nvPr/>
          </p:nvSpPr>
          <p:spPr>
            <a:xfrm>
              <a:off x="3328416" y="3529584"/>
              <a:ext cx="2464856" cy="36576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850" b="1" dirty="0">
                  <a:solidFill>
                    <a:srgbClr val="E85D2F"/>
                  </a:solidFill>
                  <a:latin typeface="Rix고딕 L" panose="02020603020101020101" pitchFamily="18" charset="-127"/>
                  <a:ea typeface="Rix고딕 L" panose="02020603020101020101" pitchFamily="18" charset="-127"/>
                </a:rPr>
                <a:t>영향: 개발 완성도 전반 저하 — 단순 수정 아닌 재설계 필요</a:t>
              </a:r>
              <a:endParaRPr lang="en-US" sz="850" dirty="0">
                <a:latin typeface="Rix고딕 L" panose="02020603020101020101" pitchFamily="18" charset="-127"/>
                <a:ea typeface="Rix고딕 L" panose="02020603020101020101" pitchFamily="18" charset="-127"/>
              </a:endParaRPr>
            </a:p>
          </p:txBody>
        </p:sp>
        <p:sp>
          <p:nvSpPr>
            <p:cNvPr id="37" name="Text 35"/>
            <p:cNvSpPr/>
            <p:nvPr/>
          </p:nvSpPr>
          <p:spPr>
            <a:xfrm>
              <a:off x="3328416" y="3913632"/>
              <a:ext cx="2464856" cy="4572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850" dirty="0">
                  <a:solidFill>
                    <a:srgbClr val="1B3A6B"/>
                  </a:solidFill>
                  <a:latin typeface="Rix고딕 L" panose="02020603020101020101" pitchFamily="18" charset="-127"/>
                  <a:ea typeface="Rix고딕 L" panose="02020603020101020101" pitchFamily="18" charset="-127"/>
                </a:rPr>
                <a:t>▶ 화면/기능 단위 전수 재검토 및 리팩토링 계획 수립</a:t>
              </a:r>
              <a:endParaRPr lang="en-US" sz="850" dirty="0">
                <a:latin typeface="Rix고딕 L" panose="02020603020101020101" pitchFamily="18" charset="-127"/>
                <a:ea typeface="Rix고딕 L" panose="02020603020101020101" pitchFamily="18" charset="-127"/>
              </a:endParaRPr>
            </a:p>
          </p:txBody>
        </p:sp>
      </p:grpSp>
      <p:grpSp>
        <p:nvGrpSpPr>
          <p:cNvPr id="53" name="그룹 52">
            <a:extLst>
              <a:ext uri="{FF2B5EF4-FFF2-40B4-BE49-F238E27FC236}">
                <a16:creationId xmlns:a16="http://schemas.microsoft.com/office/drawing/2014/main" id="{F6AB92D7-2118-2DE8-4448-E832C8457CA7}"/>
              </a:ext>
            </a:extLst>
          </p:cNvPr>
          <p:cNvGrpSpPr/>
          <p:nvPr/>
        </p:nvGrpSpPr>
        <p:grpSpPr>
          <a:xfrm>
            <a:off x="5989320" y="2015837"/>
            <a:ext cx="2679192" cy="2695956"/>
            <a:chOff x="6163056" y="1828800"/>
            <a:chExt cx="2679192" cy="2695956"/>
          </a:xfrm>
        </p:grpSpPr>
        <p:sp>
          <p:nvSpPr>
            <p:cNvPr id="38" name="Shape 36"/>
            <p:cNvSpPr/>
            <p:nvPr/>
          </p:nvSpPr>
          <p:spPr>
            <a:xfrm>
              <a:off x="6163056" y="1828800"/>
              <a:ext cx="2679192" cy="2695956"/>
            </a:xfrm>
            <a:prstGeom prst="rect">
              <a:avLst/>
            </a:prstGeom>
            <a:solidFill>
              <a:srgbClr val="F4F7FB"/>
            </a:solidFill>
            <a:ln w="12700">
              <a:solidFill>
                <a:srgbClr val="D1D9E6"/>
              </a:solidFill>
              <a:prstDash val="solid"/>
            </a:ln>
            <a:effectLst>
              <a:outerShdw blurRad="50800" dist="25400" dir="8100000" algn="bl" rotWithShape="0">
                <a:srgbClr val="000000">
                  <a:alpha val="8000"/>
                </a:srgbClr>
              </a:outerShdw>
            </a:effectLst>
          </p:spPr>
          <p:txBody>
            <a:bodyPr/>
            <a:lstStyle/>
            <a:p>
              <a:endParaRPr lang="ko-KR" altLang="en-US">
                <a:latin typeface="Rix고딕 L" panose="02020603020101020101" pitchFamily="18" charset="-127"/>
                <a:ea typeface="Rix고딕 L" panose="02020603020101020101" pitchFamily="18" charset="-127"/>
              </a:endParaRPr>
            </a:p>
          </p:txBody>
        </p:sp>
        <p:sp>
          <p:nvSpPr>
            <p:cNvPr id="39" name="Shape 37"/>
            <p:cNvSpPr/>
            <p:nvPr/>
          </p:nvSpPr>
          <p:spPr>
            <a:xfrm>
              <a:off x="6163056" y="1828800"/>
              <a:ext cx="2679192" cy="384048"/>
            </a:xfrm>
            <a:prstGeom prst="rect">
              <a:avLst/>
            </a:prstGeom>
            <a:solidFill>
              <a:srgbClr val="2563A8"/>
            </a:solidFill>
            <a:ln w="12700">
              <a:solidFill>
                <a:srgbClr val="2563A8"/>
              </a:solidFill>
              <a:prstDash val="solid"/>
            </a:ln>
          </p:spPr>
          <p:txBody>
            <a:bodyPr/>
            <a:lstStyle/>
            <a:p>
              <a:endParaRPr lang="ko-KR" altLang="en-US">
                <a:latin typeface="Rix고딕 L" panose="02020603020101020101" pitchFamily="18" charset="-127"/>
                <a:ea typeface="Rix고딕 L" panose="02020603020101020101" pitchFamily="18" charset="-127"/>
              </a:endParaRPr>
            </a:p>
          </p:txBody>
        </p:sp>
        <p:sp>
          <p:nvSpPr>
            <p:cNvPr id="40" name="Text 38"/>
            <p:cNvSpPr/>
            <p:nvPr/>
          </p:nvSpPr>
          <p:spPr>
            <a:xfrm>
              <a:off x="6272784" y="1828800"/>
              <a:ext cx="2482718" cy="38404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1050" b="1" dirty="0">
                  <a:solidFill>
                    <a:srgbClr val="FFFFFF"/>
                  </a:solidFill>
                  <a:latin typeface="Rix고딕 L" panose="02020603020101020101" pitchFamily="18" charset="-127"/>
                  <a:ea typeface="Rix고딕 L" panose="02020603020101020101" pitchFamily="18" charset="-127"/>
                </a:rPr>
                <a:t>③ 감리 단계 신규 도출 패턴</a:t>
              </a:r>
              <a:endParaRPr lang="en-US" sz="1050" dirty="0">
                <a:latin typeface="Rix고딕 L" panose="02020603020101020101" pitchFamily="18" charset="-127"/>
                <a:ea typeface="Rix고딕 L" panose="02020603020101020101" pitchFamily="18" charset="-127"/>
              </a:endParaRPr>
            </a:p>
          </p:txBody>
        </p:sp>
        <p:sp>
          <p:nvSpPr>
            <p:cNvPr id="41" name="Text 39"/>
            <p:cNvSpPr/>
            <p:nvPr/>
          </p:nvSpPr>
          <p:spPr>
            <a:xfrm>
              <a:off x="6272784" y="2267712"/>
              <a:ext cx="2464857" cy="54864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900" dirty="0">
                  <a:solidFill>
                    <a:srgbClr val="1B3A6B"/>
                  </a:solidFill>
                  <a:latin typeface="Rix고딕 L" panose="02020603020101020101" pitchFamily="18" charset="-127"/>
                  <a:ea typeface="Rix고딕 L" panose="02020603020101020101" pitchFamily="18" charset="-127"/>
                </a:rPr>
                <a:t>하위 단계(공사·현업)에서 발견되지 않다가 감리에서 처음 도출</a:t>
              </a:r>
              <a:endParaRPr lang="en-US" sz="900" dirty="0">
                <a:latin typeface="Rix고딕 L" panose="02020603020101020101" pitchFamily="18" charset="-127"/>
                <a:ea typeface="Rix고딕 L" panose="02020603020101020101" pitchFamily="18" charset="-127"/>
              </a:endParaRPr>
            </a:p>
          </p:txBody>
        </p:sp>
        <p:sp>
          <p:nvSpPr>
            <p:cNvPr id="42" name="Shape 40"/>
            <p:cNvSpPr/>
            <p:nvPr/>
          </p:nvSpPr>
          <p:spPr>
            <a:xfrm>
              <a:off x="6254496" y="2871216"/>
              <a:ext cx="2482718" cy="9144"/>
            </a:xfrm>
            <a:prstGeom prst="rect">
              <a:avLst/>
            </a:prstGeom>
            <a:solidFill>
              <a:srgbClr val="D1D9E6"/>
            </a:solidFill>
            <a:ln w="12700">
              <a:solidFill>
                <a:srgbClr val="D1D9E6"/>
              </a:solidFill>
              <a:prstDash val="solid"/>
            </a:ln>
          </p:spPr>
          <p:txBody>
            <a:bodyPr/>
            <a:lstStyle/>
            <a:p>
              <a:endParaRPr lang="ko-KR" altLang="en-US">
                <a:latin typeface="Rix고딕 L" panose="02020603020101020101" pitchFamily="18" charset="-127"/>
                <a:ea typeface="Rix고딕 L" panose="02020603020101020101" pitchFamily="18" charset="-127"/>
              </a:endParaRPr>
            </a:p>
          </p:txBody>
        </p:sp>
        <p:sp>
          <p:nvSpPr>
            <p:cNvPr id="43" name="Text 41"/>
            <p:cNvSpPr/>
            <p:nvPr/>
          </p:nvSpPr>
          <p:spPr>
            <a:xfrm>
              <a:off x="6272784" y="2907792"/>
              <a:ext cx="2464857" cy="530352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850" i="1" dirty="0">
                  <a:solidFill>
                    <a:srgbClr val="4B5563"/>
                  </a:solidFill>
                  <a:latin typeface="Rix고딕 L" panose="02020603020101020101" pitchFamily="18" charset="-127"/>
                  <a:ea typeface="Rix고딕 L" panose="02020603020101020101" pitchFamily="18" charset="-127"/>
                </a:rPr>
                <a:t>📌 예: 항공통계포털(AS) — 감리 집중도 24.5%, 현업 단계 0건 대비 급등</a:t>
              </a:r>
              <a:endParaRPr lang="en-US" sz="850" dirty="0">
                <a:latin typeface="Rix고딕 L" panose="02020603020101020101" pitchFamily="18" charset="-127"/>
                <a:ea typeface="Rix고딕 L" panose="02020603020101020101" pitchFamily="18" charset="-127"/>
              </a:endParaRPr>
            </a:p>
          </p:txBody>
        </p:sp>
        <p:sp>
          <p:nvSpPr>
            <p:cNvPr id="44" name="Shape 42"/>
            <p:cNvSpPr/>
            <p:nvPr/>
          </p:nvSpPr>
          <p:spPr>
            <a:xfrm>
              <a:off x="6254496" y="3493008"/>
              <a:ext cx="2482718" cy="9144"/>
            </a:xfrm>
            <a:prstGeom prst="rect">
              <a:avLst/>
            </a:prstGeom>
            <a:solidFill>
              <a:srgbClr val="D1D9E6"/>
            </a:solidFill>
            <a:ln w="12700">
              <a:solidFill>
                <a:srgbClr val="D1D9E6"/>
              </a:solidFill>
              <a:prstDash val="solid"/>
            </a:ln>
          </p:spPr>
          <p:txBody>
            <a:bodyPr/>
            <a:lstStyle/>
            <a:p>
              <a:endParaRPr lang="ko-KR" altLang="en-US">
                <a:latin typeface="Rix고딕 L" panose="02020603020101020101" pitchFamily="18" charset="-127"/>
                <a:ea typeface="Rix고딕 L" panose="02020603020101020101" pitchFamily="18" charset="-127"/>
              </a:endParaRPr>
            </a:p>
          </p:txBody>
        </p:sp>
        <p:sp>
          <p:nvSpPr>
            <p:cNvPr id="45" name="Text 43"/>
            <p:cNvSpPr/>
            <p:nvPr/>
          </p:nvSpPr>
          <p:spPr>
            <a:xfrm>
              <a:off x="6272784" y="3529584"/>
              <a:ext cx="2464857" cy="36576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850" b="1" dirty="0">
                  <a:solidFill>
                    <a:srgbClr val="2563A8"/>
                  </a:solidFill>
                  <a:latin typeface="Rix고딕 L" panose="02020603020101020101" pitchFamily="18" charset="-127"/>
                  <a:ea typeface="Rix고딕 L" panose="02020603020101020101" pitchFamily="18" charset="-127"/>
                </a:rPr>
                <a:t>영향: 하위 단계 테스트 커버리지 부족 → 감리 집중 부담</a:t>
              </a:r>
              <a:endParaRPr lang="en-US" sz="850" dirty="0">
                <a:latin typeface="Rix고딕 L" panose="02020603020101020101" pitchFamily="18" charset="-127"/>
                <a:ea typeface="Rix고딕 L" panose="02020603020101020101" pitchFamily="18" charset="-127"/>
              </a:endParaRPr>
            </a:p>
          </p:txBody>
        </p:sp>
        <p:sp>
          <p:nvSpPr>
            <p:cNvPr id="46" name="Text 44"/>
            <p:cNvSpPr/>
            <p:nvPr/>
          </p:nvSpPr>
          <p:spPr>
            <a:xfrm>
              <a:off x="6272784" y="3913632"/>
              <a:ext cx="2464857" cy="4572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850" dirty="0">
                  <a:solidFill>
                    <a:srgbClr val="1B3A6B"/>
                  </a:solidFill>
                  <a:latin typeface="Rix고딕 L" panose="02020603020101020101" pitchFamily="18" charset="-127"/>
                  <a:ea typeface="Rix고딕 L" panose="02020603020101020101" pitchFamily="18" charset="-127"/>
                </a:rPr>
                <a:t>▶ 테스트 케이스 커버리지 보강 / 하위 단계 수행 충실도 점검</a:t>
              </a:r>
              <a:endParaRPr lang="en-US" sz="850" dirty="0">
                <a:latin typeface="Rix고딕 L" panose="02020603020101020101" pitchFamily="18" charset="-127"/>
                <a:ea typeface="Rix고딕 L" panose="02020603020101020101" pitchFamily="18" charset="-127"/>
              </a:endParaRPr>
            </a:p>
          </p:txBody>
        </p:sp>
      </p:grp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D60EAA6-54A3-1772-2909-3D084A764C7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Shape 34">
            <a:extLst>
              <a:ext uri="{FF2B5EF4-FFF2-40B4-BE49-F238E27FC236}">
                <a16:creationId xmlns:a16="http://schemas.microsoft.com/office/drawing/2014/main" id="{60033664-2F9F-C906-B0ED-7268AE6B8272}"/>
              </a:ext>
            </a:extLst>
          </p:cNvPr>
          <p:cNvSpPr/>
          <p:nvPr/>
        </p:nvSpPr>
        <p:spPr>
          <a:xfrm>
            <a:off x="6179111" y="2595532"/>
            <a:ext cx="2496577" cy="891540"/>
          </a:xfrm>
          <a:prstGeom prst="rect">
            <a:avLst/>
          </a:prstGeom>
          <a:solidFill>
            <a:srgbClr val="FFF7ED"/>
          </a:solidFill>
          <a:ln w="12700">
            <a:solidFill>
              <a:srgbClr val="FDBA74"/>
            </a:solidFill>
            <a:prstDash val="solid"/>
          </a:ln>
        </p:spPr>
        <p:txBody>
          <a:bodyPr/>
          <a:lstStyle/>
          <a:p>
            <a:endParaRPr lang="ko-KR" altLang="en-US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D803E875-6DB7-4FB1-066B-243D8FCE13AA}"/>
              </a:ext>
            </a:extLst>
          </p:cNvPr>
          <p:cNvSpPr/>
          <p:nvPr/>
        </p:nvSpPr>
        <p:spPr>
          <a:xfrm>
            <a:off x="320040" y="-4154"/>
            <a:ext cx="7680960" cy="4373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 err="1">
                <a:solidFill>
                  <a:srgbClr val="002060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핵심</a:t>
            </a:r>
            <a:r>
              <a:rPr lang="en-US" sz="2000" b="1" dirty="0">
                <a:solidFill>
                  <a:srgbClr val="002060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 분석 결과 요약 및 잔여 차수 시사점</a:t>
            </a:r>
            <a:endParaRPr lang="en-US" sz="2000" dirty="0">
              <a:solidFill>
                <a:srgbClr val="002060"/>
              </a:solidFill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5" name="Shape 3">
            <a:extLst>
              <a:ext uri="{FF2B5EF4-FFF2-40B4-BE49-F238E27FC236}">
                <a16:creationId xmlns:a16="http://schemas.microsoft.com/office/drawing/2014/main" id="{A37AF8E3-8D14-071D-A953-4AACBF547A2D}"/>
              </a:ext>
            </a:extLst>
          </p:cNvPr>
          <p:cNvSpPr/>
          <p:nvPr/>
        </p:nvSpPr>
        <p:spPr>
          <a:xfrm>
            <a:off x="433645" y="775023"/>
            <a:ext cx="4789516" cy="256032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  <p:txBody>
          <a:bodyPr/>
          <a:lstStyle/>
          <a:p>
            <a:endParaRPr lang="ko-KR" altLang="en-US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6" name="Text 4">
            <a:extLst>
              <a:ext uri="{FF2B5EF4-FFF2-40B4-BE49-F238E27FC236}">
                <a16:creationId xmlns:a16="http://schemas.microsoft.com/office/drawing/2014/main" id="{9DFDDD64-A2B1-FBC1-D37E-1C0A9868F49B}"/>
              </a:ext>
            </a:extLst>
          </p:cNvPr>
          <p:cNvSpPr/>
          <p:nvPr/>
        </p:nvSpPr>
        <p:spPr>
          <a:xfrm>
            <a:off x="570805" y="775023"/>
            <a:ext cx="461846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 err="1">
                <a:solidFill>
                  <a:srgbClr val="FFFFFF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핵심</a:t>
            </a:r>
            <a:r>
              <a:rPr lang="en-US" sz="950" b="1" dirty="0">
                <a:solidFill>
                  <a:srgbClr val="FFFFFF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 분석 결과 요약</a:t>
            </a:r>
            <a:endParaRPr lang="en-US" sz="950" dirty="0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grpSp>
        <p:nvGrpSpPr>
          <p:cNvPr id="88" name="그룹 87">
            <a:extLst>
              <a:ext uri="{FF2B5EF4-FFF2-40B4-BE49-F238E27FC236}">
                <a16:creationId xmlns:a16="http://schemas.microsoft.com/office/drawing/2014/main" id="{30B893D4-D22A-9F0B-BC90-8A3188C0C1CB}"/>
              </a:ext>
            </a:extLst>
          </p:cNvPr>
          <p:cNvGrpSpPr/>
          <p:nvPr/>
        </p:nvGrpSpPr>
        <p:grpSpPr>
          <a:xfrm>
            <a:off x="426719" y="1136716"/>
            <a:ext cx="2505721" cy="1181446"/>
            <a:chOff x="426719" y="1106425"/>
            <a:chExt cx="2505721" cy="1181446"/>
          </a:xfrm>
        </p:grpSpPr>
        <p:sp>
          <p:nvSpPr>
            <p:cNvPr id="7" name="Shape 5">
              <a:extLst>
                <a:ext uri="{FF2B5EF4-FFF2-40B4-BE49-F238E27FC236}">
                  <a16:creationId xmlns:a16="http://schemas.microsoft.com/office/drawing/2014/main" id="{2F181F3C-713F-5120-787F-D5E72AA3C3F9}"/>
                </a:ext>
              </a:extLst>
            </p:cNvPr>
            <p:cNvSpPr/>
            <p:nvPr/>
          </p:nvSpPr>
          <p:spPr>
            <a:xfrm>
              <a:off x="435863" y="1106425"/>
              <a:ext cx="2496577" cy="1181446"/>
            </a:xfrm>
            <a:prstGeom prst="rect">
              <a:avLst/>
            </a:prstGeom>
            <a:solidFill>
              <a:srgbClr val="F4F7FB"/>
            </a:solidFill>
            <a:ln w="12700">
              <a:solidFill>
                <a:srgbClr val="D1D9E6"/>
              </a:solidFill>
              <a:prstDash val="solid"/>
            </a:ln>
            <a:effectLst>
              <a:outerShdw blurRad="50800" dist="25400" dir="8100000" algn="bl" rotWithShape="0">
                <a:srgbClr val="000000">
                  <a:alpha val="8000"/>
                </a:srgbClr>
              </a:outerShdw>
            </a:effectLst>
          </p:spPr>
          <p:txBody>
            <a:bodyPr/>
            <a:lstStyle/>
            <a:p>
              <a:endParaRPr lang="ko-KR" altLang="en-US">
                <a:latin typeface="Rix고딕 L" panose="02020603020101020101" pitchFamily="18" charset="-127"/>
                <a:ea typeface="Rix고딕 L" panose="02020603020101020101" pitchFamily="18" charset="-127"/>
              </a:endParaRPr>
            </a:p>
          </p:txBody>
        </p:sp>
        <p:sp>
          <p:nvSpPr>
            <p:cNvPr id="8" name="Shape 6">
              <a:extLst>
                <a:ext uri="{FF2B5EF4-FFF2-40B4-BE49-F238E27FC236}">
                  <a16:creationId xmlns:a16="http://schemas.microsoft.com/office/drawing/2014/main" id="{CF31A27A-D6B6-8C68-5BD8-5765781EE79C}"/>
                </a:ext>
              </a:extLst>
            </p:cNvPr>
            <p:cNvSpPr/>
            <p:nvPr/>
          </p:nvSpPr>
          <p:spPr>
            <a:xfrm>
              <a:off x="426719" y="1115568"/>
              <a:ext cx="2496577" cy="54864"/>
            </a:xfrm>
            <a:prstGeom prst="rect">
              <a:avLst/>
            </a:prstGeom>
            <a:solidFill>
              <a:srgbClr val="DC2626"/>
            </a:solidFill>
            <a:ln w="12700">
              <a:solidFill>
                <a:srgbClr val="DC2626"/>
              </a:solidFill>
              <a:prstDash val="solid"/>
            </a:ln>
          </p:spPr>
          <p:txBody>
            <a:bodyPr/>
            <a:lstStyle/>
            <a:p>
              <a:endParaRPr lang="ko-KR" altLang="en-US">
                <a:latin typeface="Rix고딕 L" panose="02020603020101020101" pitchFamily="18" charset="-127"/>
                <a:ea typeface="Rix고딕 L" panose="02020603020101020101" pitchFamily="18" charset="-127"/>
              </a:endParaRPr>
            </a:p>
          </p:txBody>
        </p:sp>
        <p:sp>
          <p:nvSpPr>
            <p:cNvPr id="9" name="Text 7">
              <a:extLst>
                <a:ext uri="{FF2B5EF4-FFF2-40B4-BE49-F238E27FC236}">
                  <a16:creationId xmlns:a16="http://schemas.microsoft.com/office/drawing/2014/main" id="{6CC96BCF-3764-0B70-F5A8-F995440227AE}"/>
                </a:ext>
              </a:extLst>
            </p:cNvPr>
            <p:cNvSpPr/>
            <p:nvPr/>
          </p:nvSpPr>
          <p:spPr>
            <a:xfrm>
              <a:off x="536448" y="1207008"/>
              <a:ext cx="256032" cy="2743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1300" b="1" dirty="0">
                  <a:solidFill>
                    <a:srgbClr val="DC2626"/>
                  </a:solidFill>
                  <a:latin typeface="Rix고딕 L" panose="02020603020101020101" pitchFamily="18" charset="-127"/>
                  <a:ea typeface="Rix고딕 L" panose="02020603020101020101" pitchFamily="18" charset="-127"/>
                </a:rPr>
                <a:t>①</a:t>
              </a:r>
              <a:endParaRPr lang="en-US" sz="1300" dirty="0">
                <a:latin typeface="Rix고딕 L" panose="02020603020101020101" pitchFamily="18" charset="-127"/>
                <a:ea typeface="Rix고딕 L" panose="02020603020101020101" pitchFamily="18" charset="-127"/>
              </a:endParaRPr>
            </a:p>
          </p:txBody>
        </p:sp>
        <p:sp>
          <p:nvSpPr>
            <p:cNvPr id="10" name="Text 8">
              <a:extLst>
                <a:ext uri="{FF2B5EF4-FFF2-40B4-BE49-F238E27FC236}">
                  <a16:creationId xmlns:a16="http://schemas.microsoft.com/office/drawing/2014/main" id="{5168CD61-F40A-DF7F-96EA-93CF164DDFCD}"/>
                </a:ext>
              </a:extLst>
            </p:cNvPr>
            <p:cNvSpPr/>
            <p:nvPr/>
          </p:nvSpPr>
          <p:spPr>
            <a:xfrm>
              <a:off x="810768" y="1207008"/>
              <a:ext cx="1947672" cy="2743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1000" b="1" dirty="0">
                  <a:solidFill>
                    <a:srgbClr val="1B3A6B"/>
                  </a:solidFill>
                  <a:latin typeface="Rix고딕 L" panose="02020603020101020101" pitchFamily="18" charset="-127"/>
                  <a:ea typeface="Rix고딕 L" panose="02020603020101020101" pitchFamily="18" charset="-127"/>
                </a:rPr>
                <a:t>공사테스트 집중 현상</a:t>
              </a:r>
              <a:endParaRPr lang="en-US" sz="1000" dirty="0">
                <a:latin typeface="Rix고딕 L" panose="02020603020101020101" pitchFamily="18" charset="-127"/>
                <a:ea typeface="Rix고딕 L" panose="02020603020101020101" pitchFamily="18" charset="-127"/>
              </a:endParaRPr>
            </a:p>
          </p:txBody>
        </p:sp>
        <p:sp>
          <p:nvSpPr>
            <p:cNvPr id="11" name="Text 9">
              <a:extLst>
                <a:ext uri="{FF2B5EF4-FFF2-40B4-BE49-F238E27FC236}">
                  <a16:creationId xmlns:a16="http://schemas.microsoft.com/office/drawing/2014/main" id="{98CA6DF4-1B31-0AFA-0F3C-D158D3135281}"/>
                </a:ext>
              </a:extLst>
            </p:cNvPr>
            <p:cNvSpPr/>
            <p:nvPr/>
          </p:nvSpPr>
          <p:spPr>
            <a:xfrm>
              <a:off x="536448" y="1471908"/>
              <a:ext cx="1280160" cy="420624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2800" b="1" dirty="0">
                  <a:solidFill>
                    <a:srgbClr val="DC2626"/>
                  </a:solidFill>
                  <a:latin typeface="Rix고딕 L" panose="02020603020101020101" pitchFamily="18" charset="-127"/>
                  <a:ea typeface="Rix고딕 L" panose="02020603020101020101" pitchFamily="18" charset="-127"/>
                </a:rPr>
                <a:t>49.7%</a:t>
              </a:r>
              <a:endParaRPr lang="en-US" sz="2800" dirty="0">
                <a:latin typeface="Rix고딕 L" panose="02020603020101020101" pitchFamily="18" charset="-127"/>
                <a:ea typeface="Rix고딕 L" panose="02020603020101020101" pitchFamily="18" charset="-127"/>
              </a:endParaRPr>
            </a:p>
          </p:txBody>
        </p:sp>
        <p:sp>
          <p:nvSpPr>
            <p:cNvPr id="12" name="Text 10">
              <a:extLst>
                <a:ext uri="{FF2B5EF4-FFF2-40B4-BE49-F238E27FC236}">
                  <a16:creationId xmlns:a16="http://schemas.microsoft.com/office/drawing/2014/main" id="{6F0B902B-5C33-79B8-B60C-28CD70525878}"/>
                </a:ext>
              </a:extLst>
            </p:cNvPr>
            <p:cNvSpPr/>
            <p:nvPr/>
          </p:nvSpPr>
          <p:spPr>
            <a:xfrm>
              <a:off x="1725168" y="1668504"/>
              <a:ext cx="1082040" cy="210312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800" dirty="0">
                  <a:solidFill>
                    <a:srgbClr val="9CA3AF"/>
                  </a:solidFill>
                  <a:latin typeface="Rix고딕 L" panose="02020603020101020101" pitchFamily="18" charset="-127"/>
                  <a:ea typeface="Rix고딕 L" panose="02020603020101020101" pitchFamily="18" charset="-127"/>
                </a:rPr>
                <a:t>1,969건 / 4,203건</a:t>
              </a:r>
              <a:endParaRPr lang="en-US" sz="800" dirty="0">
                <a:latin typeface="Rix고딕 L" panose="02020603020101020101" pitchFamily="18" charset="-127"/>
                <a:ea typeface="Rix고딕 L" panose="02020603020101020101" pitchFamily="18" charset="-127"/>
              </a:endParaRPr>
            </a:p>
          </p:txBody>
        </p:sp>
        <p:sp>
          <p:nvSpPr>
            <p:cNvPr id="13" name="Text 11">
              <a:extLst>
                <a:ext uri="{FF2B5EF4-FFF2-40B4-BE49-F238E27FC236}">
                  <a16:creationId xmlns:a16="http://schemas.microsoft.com/office/drawing/2014/main" id="{7DB1968D-EDFB-D68C-BB8C-3D0EB0B4DF36}"/>
                </a:ext>
              </a:extLst>
            </p:cNvPr>
            <p:cNvSpPr/>
            <p:nvPr/>
          </p:nvSpPr>
          <p:spPr>
            <a:xfrm>
              <a:off x="528412" y="1883112"/>
              <a:ext cx="2221992" cy="376807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850" dirty="0">
                  <a:solidFill>
                    <a:srgbClr val="4B5563"/>
                  </a:solidFill>
                  <a:latin typeface="Rix고딕 L" panose="02020603020101020101" pitchFamily="18" charset="-127"/>
                  <a:ea typeface="Rix고딕 L" panose="02020603020101020101" pitchFamily="18" charset="-127"/>
                </a:rPr>
                <a:t>개발자·PL 단계 사전 검증 부재</a:t>
              </a:r>
              <a:endParaRPr lang="en-US" sz="850" dirty="0">
                <a:latin typeface="Rix고딕 L" panose="02020603020101020101" pitchFamily="18" charset="-127"/>
                <a:ea typeface="Rix고딕 L" panose="02020603020101020101" pitchFamily="18" charset="-127"/>
              </a:endParaRPr>
            </a:p>
            <a:p>
              <a:pPr marL="0" indent="0">
                <a:buNone/>
              </a:pPr>
              <a:r>
                <a:rPr lang="en-US" sz="850" dirty="0">
                  <a:solidFill>
                    <a:srgbClr val="4B5563"/>
                  </a:solidFill>
                  <a:latin typeface="Rix고딕 L" panose="02020603020101020101" pitchFamily="18" charset="-127"/>
                  <a:ea typeface="Rix고딕 L" panose="02020603020101020101" pitchFamily="18" charset="-127"/>
                </a:rPr>
                <a:t>→ 초기 결함 이월 구조 고착화</a:t>
              </a:r>
              <a:endParaRPr lang="en-US" sz="850" dirty="0">
                <a:latin typeface="Rix고딕 L" panose="02020603020101020101" pitchFamily="18" charset="-127"/>
                <a:ea typeface="Rix고딕 L" panose="02020603020101020101" pitchFamily="18" charset="-127"/>
              </a:endParaRPr>
            </a:p>
          </p:txBody>
        </p:sp>
      </p:grpSp>
      <p:grpSp>
        <p:nvGrpSpPr>
          <p:cNvPr id="87" name="그룹 86">
            <a:extLst>
              <a:ext uri="{FF2B5EF4-FFF2-40B4-BE49-F238E27FC236}">
                <a16:creationId xmlns:a16="http://schemas.microsoft.com/office/drawing/2014/main" id="{8B7A52A7-F005-12F9-9B27-761B8BC6E123}"/>
              </a:ext>
            </a:extLst>
          </p:cNvPr>
          <p:cNvGrpSpPr/>
          <p:nvPr/>
        </p:nvGrpSpPr>
        <p:grpSpPr>
          <a:xfrm>
            <a:off x="3308319" y="1136716"/>
            <a:ext cx="2496577" cy="1181447"/>
            <a:chOff x="2880359" y="1115568"/>
            <a:chExt cx="2496577" cy="1181447"/>
          </a:xfrm>
        </p:grpSpPr>
        <p:sp>
          <p:nvSpPr>
            <p:cNvPr id="14" name="Shape 12">
              <a:extLst>
                <a:ext uri="{FF2B5EF4-FFF2-40B4-BE49-F238E27FC236}">
                  <a16:creationId xmlns:a16="http://schemas.microsoft.com/office/drawing/2014/main" id="{09F5D3D9-674E-DCE5-BE7C-E8BFC29D0B26}"/>
                </a:ext>
              </a:extLst>
            </p:cNvPr>
            <p:cNvSpPr/>
            <p:nvPr/>
          </p:nvSpPr>
          <p:spPr>
            <a:xfrm>
              <a:off x="2880359" y="1115569"/>
              <a:ext cx="2496577" cy="1181446"/>
            </a:xfrm>
            <a:prstGeom prst="rect">
              <a:avLst/>
            </a:prstGeom>
            <a:solidFill>
              <a:srgbClr val="F4F7FB"/>
            </a:solidFill>
            <a:ln w="12700">
              <a:solidFill>
                <a:srgbClr val="D1D9E6"/>
              </a:solidFill>
              <a:prstDash val="solid"/>
            </a:ln>
            <a:effectLst>
              <a:outerShdw blurRad="50800" dist="25400" dir="8100000" algn="bl" rotWithShape="0">
                <a:srgbClr val="000000">
                  <a:alpha val="8000"/>
                </a:srgbClr>
              </a:outerShdw>
            </a:effectLst>
          </p:spPr>
          <p:txBody>
            <a:bodyPr/>
            <a:lstStyle/>
            <a:p>
              <a:endParaRPr lang="ko-KR" altLang="en-US">
                <a:latin typeface="Rix고딕 L" panose="02020603020101020101" pitchFamily="18" charset="-127"/>
                <a:ea typeface="Rix고딕 L" panose="02020603020101020101" pitchFamily="18" charset="-127"/>
              </a:endParaRPr>
            </a:p>
          </p:txBody>
        </p:sp>
        <p:sp>
          <p:nvSpPr>
            <p:cNvPr id="15" name="Shape 13">
              <a:extLst>
                <a:ext uri="{FF2B5EF4-FFF2-40B4-BE49-F238E27FC236}">
                  <a16:creationId xmlns:a16="http://schemas.microsoft.com/office/drawing/2014/main" id="{AE21FC1A-DC39-0FF4-82DA-806B411B65BA}"/>
                </a:ext>
              </a:extLst>
            </p:cNvPr>
            <p:cNvSpPr/>
            <p:nvPr/>
          </p:nvSpPr>
          <p:spPr>
            <a:xfrm>
              <a:off x="2880359" y="1115568"/>
              <a:ext cx="2496577" cy="54864"/>
            </a:xfrm>
            <a:prstGeom prst="rect">
              <a:avLst/>
            </a:prstGeom>
            <a:solidFill>
              <a:srgbClr val="E85D2F"/>
            </a:solidFill>
            <a:ln w="12700">
              <a:solidFill>
                <a:srgbClr val="E85D2F"/>
              </a:solidFill>
              <a:prstDash val="solid"/>
            </a:ln>
          </p:spPr>
          <p:txBody>
            <a:bodyPr/>
            <a:lstStyle/>
            <a:p>
              <a:endParaRPr lang="ko-KR" altLang="en-US">
                <a:latin typeface="Rix고딕 L" panose="02020603020101020101" pitchFamily="18" charset="-127"/>
                <a:ea typeface="Rix고딕 L" panose="02020603020101020101" pitchFamily="18" charset="-127"/>
              </a:endParaRPr>
            </a:p>
          </p:txBody>
        </p:sp>
        <p:sp>
          <p:nvSpPr>
            <p:cNvPr id="16" name="Text 14">
              <a:extLst>
                <a:ext uri="{FF2B5EF4-FFF2-40B4-BE49-F238E27FC236}">
                  <a16:creationId xmlns:a16="http://schemas.microsoft.com/office/drawing/2014/main" id="{7EBB6B28-6084-B0B2-1E29-A19F8FBED532}"/>
                </a:ext>
              </a:extLst>
            </p:cNvPr>
            <p:cNvSpPr/>
            <p:nvPr/>
          </p:nvSpPr>
          <p:spPr>
            <a:xfrm>
              <a:off x="2990088" y="1207008"/>
              <a:ext cx="256032" cy="2743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1300" b="1" dirty="0">
                  <a:solidFill>
                    <a:srgbClr val="E85D2F"/>
                  </a:solidFill>
                  <a:latin typeface="Rix고딕 L" panose="02020603020101020101" pitchFamily="18" charset="-127"/>
                  <a:ea typeface="Rix고딕 L" panose="02020603020101020101" pitchFamily="18" charset="-127"/>
                </a:rPr>
                <a:t>②</a:t>
              </a:r>
              <a:endParaRPr lang="en-US" sz="1300" dirty="0">
                <a:latin typeface="Rix고딕 L" panose="02020603020101020101" pitchFamily="18" charset="-127"/>
                <a:ea typeface="Rix고딕 L" panose="02020603020101020101" pitchFamily="18" charset="-127"/>
              </a:endParaRPr>
            </a:p>
          </p:txBody>
        </p:sp>
        <p:sp>
          <p:nvSpPr>
            <p:cNvPr id="17" name="Text 15">
              <a:extLst>
                <a:ext uri="{FF2B5EF4-FFF2-40B4-BE49-F238E27FC236}">
                  <a16:creationId xmlns:a16="http://schemas.microsoft.com/office/drawing/2014/main" id="{B68112A8-4F98-4B6D-5FAA-F3AE9ED11F80}"/>
                </a:ext>
              </a:extLst>
            </p:cNvPr>
            <p:cNvSpPr/>
            <p:nvPr/>
          </p:nvSpPr>
          <p:spPr>
            <a:xfrm>
              <a:off x="3264408" y="1207008"/>
              <a:ext cx="1947672" cy="2743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1000" b="1" dirty="0">
                  <a:solidFill>
                    <a:srgbClr val="1B3A6B"/>
                  </a:solidFill>
                  <a:latin typeface="Rix고딕 L" panose="02020603020101020101" pitchFamily="18" charset="-127"/>
                  <a:ea typeface="Rix고딕 L" panose="02020603020101020101" pitchFamily="18" charset="-127"/>
                </a:rPr>
                <a:t>기능 결함 압도적 집중</a:t>
              </a:r>
              <a:endParaRPr lang="en-US" sz="1000" dirty="0">
                <a:latin typeface="Rix고딕 L" panose="02020603020101020101" pitchFamily="18" charset="-127"/>
                <a:ea typeface="Rix고딕 L" panose="02020603020101020101" pitchFamily="18" charset="-127"/>
              </a:endParaRPr>
            </a:p>
          </p:txBody>
        </p:sp>
        <p:sp>
          <p:nvSpPr>
            <p:cNvPr id="18" name="Text 16">
              <a:extLst>
                <a:ext uri="{FF2B5EF4-FFF2-40B4-BE49-F238E27FC236}">
                  <a16:creationId xmlns:a16="http://schemas.microsoft.com/office/drawing/2014/main" id="{2883F398-F434-44A6-28BA-1F2F68CD2E34}"/>
                </a:ext>
              </a:extLst>
            </p:cNvPr>
            <p:cNvSpPr/>
            <p:nvPr/>
          </p:nvSpPr>
          <p:spPr>
            <a:xfrm>
              <a:off x="2990088" y="1471908"/>
              <a:ext cx="1280160" cy="420624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2800" b="1" dirty="0">
                  <a:solidFill>
                    <a:srgbClr val="E85D2F"/>
                  </a:solidFill>
                  <a:latin typeface="Rix고딕 L" panose="02020603020101020101" pitchFamily="18" charset="-127"/>
                  <a:ea typeface="Rix고딕 L" panose="02020603020101020101" pitchFamily="18" charset="-127"/>
                </a:rPr>
                <a:t>61.8%</a:t>
              </a:r>
              <a:endParaRPr lang="en-US" sz="2800" dirty="0">
                <a:latin typeface="Rix고딕 L" panose="02020603020101020101" pitchFamily="18" charset="-127"/>
                <a:ea typeface="Rix고딕 L" panose="02020603020101020101" pitchFamily="18" charset="-127"/>
              </a:endParaRPr>
            </a:p>
          </p:txBody>
        </p:sp>
        <p:sp>
          <p:nvSpPr>
            <p:cNvPr id="19" name="Text 17">
              <a:extLst>
                <a:ext uri="{FF2B5EF4-FFF2-40B4-BE49-F238E27FC236}">
                  <a16:creationId xmlns:a16="http://schemas.microsoft.com/office/drawing/2014/main" id="{FE05DB80-C8B2-DD55-C058-649CB0BED38A}"/>
                </a:ext>
              </a:extLst>
            </p:cNvPr>
            <p:cNvSpPr/>
            <p:nvPr/>
          </p:nvSpPr>
          <p:spPr>
            <a:xfrm>
              <a:off x="4151930" y="1668504"/>
              <a:ext cx="1020803" cy="18288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800" dirty="0">
                  <a:solidFill>
                    <a:srgbClr val="9CA3AF"/>
                  </a:solidFill>
                  <a:latin typeface="Rix고딕 L" panose="02020603020101020101" pitchFamily="18" charset="-127"/>
                  <a:ea typeface="Rix고딕 L" panose="02020603020101020101" pitchFamily="18" charset="-127"/>
                </a:rPr>
                <a:t>2,685건 / 4,648건</a:t>
              </a:r>
              <a:endParaRPr lang="en-US" sz="800" dirty="0">
                <a:latin typeface="Rix고딕 L" panose="02020603020101020101" pitchFamily="18" charset="-127"/>
                <a:ea typeface="Rix고딕 L" panose="02020603020101020101" pitchFamily="18" charset="-127"/>
              </a:endParaRPr>
            </a:p>
          </p:txBody>
        </p:sp>
        <p:sp>
          <p:nvSpPr>
            <p:cNvPr id="20" name="Text 18">
              <a:extLst>
                <a:ext uri="{FF2B5EF4-FFF2-40B4-BE49-F238E27FC236}">
                  <a16:creationId xmlns:a16="http://schemas.microsoft.com/office/drawing/2014/main" id="{0CB99496-8C62-3186-B422-2A54EF78770F}"/>
                </a:ext>
              </a:extLst>
            </p:cNvPr>
            <p:cNvSpPr/>
            <p:nvPr/>
          </p:nvSpPr>
          <p:spPr>
            <a:xfrm>
              <a:off x="2976372" y="1916640"/>
              <a:ext cx="2221992" cy="322569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850" dirty="0">
                  <a:solidFill>
                    <a:srgbClr val="4B5563"/>
                  </a:solidFill>
                  <a:latin typeface="Rix고딕 L" panose="02020603020101020101" pitchFamily="18" charset="-127"/>
                  <a:ea typeface="Rix고딕 L" panose="02020603020101020101" pitchFamily="18" charset="-127"/>
                </a:rPr>
                <a:t>요구사항 분석 미흡·개발 </a:t>
              </a:r>
              <a:r>
                <a:rPr lang="en-US" sz="850" dirty="0" err="1">
                  <a:solidFill>
                    <a:srgbClr val="4B5563"/>
                  </a:solidFill>
                  <a:latin typeface="Rix고딕 L" panose="02020603020101020101" pitchFamily="18" charset="-127"/>
                  <a:ea typeface="Rix고딕 L" panose="02020603020101020101" pitchFamily="18" charset="-127"/>
                </a:rPr>
                <a:t>로직</a:t>
              </a:r>
              <a:r>
                <a:rPr lang="en-US" sz="850" dirty="0">
                  <a:solidFill>
                    <a:srgbClr val="4B5563"/>
                  </a:solidFill>
                  <a:latin typeface="Rix고딕 L" panose="02020603020101020101" pitchFamily="18" charset="-127"/>
                  <a:ea typeface="Rix고딕 L" panose="02020603020101020101" pitchFamily="18" charset="-127"/>
                </a:rPr>
                <a:t> </a:t>
              </a:r>
              <a:r>
                <a:rPr lang="en-US" sz="850" dirty="0" err="1">
                  <a:solidFill>
                    <a:srgbClr val="4B5563"/>
                  </a:solidFill>
                  <a:latin typeface="Rix고딕 L" panose="02020603020101020101" pitchFamily="18" charset="-127"/>
                  <a:ea typeface="Rix고딕 L" panose="02020603020101020101" pitchFamily="18" charset="-127"/>
                </a:rPr>
                <a:t>오류가</a:t>
              </a:r>
              <a:r>
                <a:rPr lang="en-US" sz="850" dirty="0">
                  <a:solidFill>
                    <a:srgbClr val="4B5563"/>
                  </a:solidFill>
                  <a:latin typeface="Rix고딕 L" panose="02020603020101020101" pitchFamily="18" charset="-127"/>
                  <a:ea typeface="Rix고딕 L" panose="02020603020101020101" pitchFamily="18" charset="-127"/>
                </a:rPr>
                <a:t> 주원인</a:t>
              </a:r>
              <a:endParaRPr lang="en-US" sz="850" dirty="0">
                <a:latin typeface="Rix고딕 L" panose="02020603020101020101" pitchFamily="18" charset="-127"/>
                <a:ea typeface="Rix고딕 L" panose="02020603020101020101" pitchFamily="18" charset="-127"/>
              </a:endParaRPr>
            </a:p>
          </p:txBody>
        </p:sp>
      </p:grpSp>
      <p:graphicFrame>
        <p:nvGraphicFramePr>
          <p:cNvPr id="21" name="Chart 0">
            <a:extLst>
              <a:ext uri="{FF2B5EF4-FFF2-40B4-BE49-F238E27FC236}">
                <a16:creationId xmlns:a16="http://schemas.microsoft.com/office/drawing/2014/main" id="{DF0974A3-CAC8-1EBD-68D9-4303D2B9155D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326071047"/>
              </p:ext>
            </p:extLst>
          </p:nvPr>
        </p:nvGraphicFramePr>
        <p:xfrm>
          <a:off x="426719" y="2398425"/>
          <a:ext cx="2657600" cy="1003456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22" name="Chart 1">
            <a:extLst>
              <a:ext uri="{FF2B5EF4-FFF2-40B4-BE49-F238E27FC236}">
                <a16:creationId xmlns:a16="http://schemas.microsoft.com/office/drawing/2014/main" id="{50284BDC-BC0D-90E5-DCBA-B82B2599E343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258942257"/>
              </p:ext>
            </p:extLst>
          </p:nvPr>
        </p:nvGraphicFramePr>
        <p:xfrm>
          <a:off x="3186240" y="2335358"/>
          <a:ext cx="2414453" cy="1017379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grpSp>
        <p:nvGrpSpPr>
          <p:cNvPr id="93" name="그룹 92">
            <a:extLst>
              <a:ext uri="{FF2B5EF4-FFF2-40B4-BE49-F238E27FC236}">
                <a16:creationId xmlns:a16="http://schemas.microsoft.com/office/drawing/2014/main" id="{F23C7FA7-EF14-1244-E1FB-F75A2C694F9E}"/>
              </a:ext>
            </a:extLst>
          </p:cNvPr>
          <p:cNvGrpSpPr/>
          <p:nvPr/>
        </p:nvGrpSpPr>
        <p:grpSpPr>
          <a:xfrm>
            <a:off x="435864" y="3822159"/>
            <a:ext cx="2519572" cy="810055"/>
            <a:chOff x="435864" y="3472680"/>
            <a:chExt cx="2519572" cy="810055"/>
          </a:xfrm>
        </p:grpSpPr>
        <p:sp>
          <p:nvSpPr>
            <p:cNvPr id="29" name="Shape 25">
              <a:extLst>
                <a:ext uri="{FF2B5EF4-FFF2-40B4-BE49-F238E27FC236}">
                  <a16:creationId xmlns:a16="http://schemas.microsoft.com/office/drawing/2014/main" id="{DC7B322F-642E-C336-1036-ECAC7C73BCF1}"/>
                </a:ext>
              </a:extLst>
            </p:cNvPr>
            <p:cNvSpPr/>
            <p:nvPr/>
          </p:nvSpPr>
          <p:spPr>
            <a:xfrm>
              <a:off x="458859" y="3472680"/>
              <a:ext cx="2496577" cy="804672"/>
            </a:xfrm>
            <a:prstGeom prst="rect">
              <a:avLst/>
            </a:prstGeom>
            <a:solidFill>
              <a:srgbClr val="F4F7FB"/>
            </a:solidFill>
            <a:ln w="12700">
              <a:solidFill>
                <a:srgbClr val="D1D9E6"/>
              </a:solidFill>
              <a:prstDash val="solid"/>
            </a:ln>
            <a:effectLst>
              <a:outerShdw blurRad="50800" dist="25400" dir="8100000" algn="bl" rotWithShape="0">
                <a:srgbClr val="000000">
                  <a:alpha val="8000"/>
                </a:srgbClr>
              </a:outerShdw>
            </a:effectLst>
          </p:spPr>
          <p:txBody>
            <a:bodyPr/>
            <a:lstStyle/>
            <a:p>
              <a:endParaRPr lang="ko-KR" altLang="en-US">
                <a:latin typeface="Rix고딕 L" panose="02020603020101020101" pitchFamily="18" charset="-127"/>
                <a:ea typeface="Rix고딕 L" panose="02020603020101020101" pitchFamily="18" charset="-127"/>
              </a:endParaRPr>
            </a:p>
          </p:txBody>
        </p:sp>
        <p:sp>
          <p:nvSpPr>
            <p:cNvPr id="30" name="Shape 26">
              <a:extLst>
                <a:ext uri="{FF2B5EF4-FFF2-40B4-BE49-F238E27FC236}">
                  <a16:creationId xmlns:a16="http://schemas.microsoft.com/office/drawing/2014/main" id="{81C14C75-FF1E-61E3-432B-C225E46198D0}"/>
                </a:ext>
              </a:extLst>
            </p:cNvPr>
            <p:cNvSpPr/>
            <p:nvPr/>
          </p:nvSpPr>
          <p:spPr>
            <a:xfrm>
              <a:off x="435864" y="3478063"/>
              <a:ext cx="64008" cy="804672"/>
            </a:xfrm>
            <a:prstGeom prst="rect">
              <a:avLst/>
            </a:prstGeom>
            <a:solidFill>
              <a:srgbClr val="2563A8"/>
            </a:solidFill>
            <a:ln w="12700">
              <a:solidFill>
                <a:srgbClr val="2563A8"/>
              </a:solidFill>
              <a:prstDash val="solid"/>
            </a:ln>
          </p:spPr>
          <p:txBody>
            <a:bodyPr/>
            <a:lstStyle/>
            <a:p>
              <a:endParaRPr lang="ko-KR" altLang="en-US">
                <a:latin typeface="Rix고딕 L" panose="02020603020101020101" pitchFamily="18" charset="-127"/>
                <a:ea typeface="Rix고딕 L" panose="02020603020101020101" pitchFamily="18" charset="-127"/>
              </a:endParaRPr>
            </a:p>
          </p:txBody>
        </p:sp>
        <p:sp>
          <p:nvSpPr>
            <p:cNvPr id="31" name="Text 27">
              <a:extLst>
                <a:ext uri="{FF2B5EF4-FFF2-40B4-BE49-F238E27FC236}">
                  <a16:creationId xmlns:a16="http://schemas.microsoft.com/office/drawing/2014/main" id="{03931D17-4E5E-2747-62AF-9BEB96CB5430}"/>
                </a:ext>
              </a:extLst>
            </p:cNvPr>
            <p:cNvSpPr/>
            <p:nvPr/>
          </p:nvSpPr>
          <p:spPr>
            <a:xfrm>
              <a:off x="582168" y="3523783"/>
              <a:ext cx="1463040" cy="20116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1000" b="1" dirty="0">
                  <a:solidFill>
                    <a:srgbClr val="2563A8"/>
                  </a:solidFill>
                  <a:latin typeface="Rix고딕 L" panose="02020603020101020101" pitchFamily="18" charset="-127"/>
                  <a:ea typeface="Rix고딕 L" panose="02020603020101020101" pitchFamily="18" charset="-127"/>
                </a:rPr>
                <a:t>④  </a:t>
              </a:r>
              <a:r>
                <a:rPr lang="ko-KR" altLang="en-US" sz="1000" b="1" dirty="0">
                  <a:solidFill>
                    <a:srgbClr val="2563A8"/>
                  </a:solidFill>
                  <a:latin typeface="Rix고딕 L" panose="02020603020101020101" pitchFamily="18" charset="-127"/>
                  <a:ea typeface="Rix고딕 L" panose="02020603020101020101" pitchFamily="18" charset="-127"/>
                </a:rPr>
                <a:t>확인대기</a:t>
              </a:r>
              <a:r>
                <a:rPr lang="en-US" sz="1000" b="1" dirty="0">
                  <a:solidFill>
                    <a:srgbClr val="2563A8"/>
                  </a:solidFill>
                  <a:latin typeface="Rix고딕 L" panose="02020603020101020101" pitchFamily="18" charset="-127"/>
                  <a:ea typeface="Rix고딕 L" panose="02020603020101020101" pitchFamily="18" charset="-127"/>
                </a:rPr>
                <a:t> 30.9% 잔존</a:t>
              </a:r>
              <a:endParaRPr lang="en-US" sz="1000" dirty="0">
                <a:latin typeface="Rix고딕 L" panose="02020603020101020101" pitchFamily="18" charset="-127"/>
                <a:ea typeface="Rix고딕 L" panose="02020603020101020101" pitchFamily="18" charset="-127"/>
              </a:endParaRPr>
            </a:p>
          </p:txBody>
        </p:sp>
        <p:sp>
          <p:nvSpPr>
            <p:cNvPr id="32" name="Text 28">
              <a:extLst>
                <a:ext uri="{FF2B5EF4-FFF2-40B4-BE49-F238E27FC236}">
                  <a16:creationId xmlns:a16="http://schemas.microsoft.com/office/drawing/2014/main" id="{E38679CB-9852-6229-3C9D-9D262029A914}"/>
                </a:ext>
              </a:extLst>
            </p:cNvPr>
            <p:cNvSpPr/>
            <p:nvPr/>
          </p:nvSpPr>
          <p:spPr>
            <a:xfrm>
              <a:off x="582168" y="3715807"/>
              <a:ext cx="1463040" cy="2743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1600" b="1" dirty="0">
                  <a:solidFill>
                    <a:srgbClr val="1B3A6B"/>
                  </a:solidFill>
                  <a:latin typeface="Rix고딕 L" panose="02020603020101020101" pitchFamily="18" charset="-127"/>
                  <a:ea typeface="Rix고딕 L" panose="02020603020101020101" pitchFamily="18" charset="-127"/>
                </a:rPr>
                <a:t>1,297건</a:t>
              </a:r>
              <a:endParaRPr lang="en-US" sz="1600" dirty="0">
                <a:latin typeface="Rix고딕 L" panose="02020603020101020101" pitchFamily="18" charset="-127"/>
                <a:ea typeface="Rix고딕 L" panose="02020603020101020101" pitchFamily="18" charset="-127"/>
              </a:endParaRPr>
            </a:p>
          </p:txBody>
        </p:sp>
        <p:sp>
          <p:nvSpPr>
            <p:cNvPr id="34" name="Text 30">
              <a:extLst>
                <a:ext uri="{FF2B5EF4-FFF2-40B4-BE49-F238E27FC236}">
                  <a16:creationId xmlns:a16="http://schemas.microsoft.com/office/drawing/2014/main" id="{F5DC4201-8E13-A6F6-EF87-15E4E97D509B}"/>
                </a:ext>
              </a:extLst>
            </p:cNvPr>
            <p:cNvSpPr/>
            <p:nvPr/>
          </p:nvSpPr>
          <p:spPr>
            <a:xfrm>
              <a:off x="578288" y="4014910"/>
              <a:ext cx="2354149" cy="20116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750" dirty="0">
                  <a:solidFill>
                    <a:srgbClr val="4B5563"/>
                  </a:solidFill>
                  <a:latin typeface="Rix고딕 L" panose="02020603020101020101" pitchFamily="18" charset="-127"/>
                  <a:ea typeface="Rix고딕 L" panose="02020603020101020101" pitchFamily="18" charset="-127"/>
                </a:rPr>
                <a:t>2-3차 감리 전 </a:t>
              </a:r>
              <a:r>
                <a:rPr lang="en-US" sz="750" dirty="0" err="1">
                  <a:solidFill>
                    <a:srgbClr val="4B5563"/>
                  </a:solidFill>
                  <a:latin typeface="Rix고딕 L" panose="02020603020101020101" pitchFamily="18" charset="-127"/>
                  <a:ea typeface="Rix고딕 L" panose="02020603020101020101" pitchFamily="18" charset="-127"/>
                </a:rPr>
                <a:t>전수</a:t>
              </a:r>
              <a:r>
                <a:rPr lang="en-US" sz="750" dirty="0">
                  <a:solidFill>
                    <a:srgbClr val="4B5563"/>
                  </a:solidFill>
                  <a:latin typeface="Rix고딕 L" panose="02020603020101020101" pitchFamily="18" charset="-127"/>
                  <a:ea typeface="Rix고딕 L" panose="02020603020101020101" pitchFamily="18" charset="-127"/>
                </a:rPr>
                <a:t> </a:t>
              </a:r>
              <a:r>
                <a:rPr lang="en-US" sz="750" dirty="0" err="1">
                  <a:solidFill>
                    <a:srgbClr val="4B5563"/>
                  </a:solidFill>
                  <a:latin typeface="Rix고딕 L" panose="02020603020101020101" pitchFamily="18" charset="-127"/>
                  <a:ea typeface="Rix고딕 L" panose="02020603020101020101" pitchFamily="18" charset="-127"/>
                </a:rPr>
                <a:t>해소</a:t>
              </a:r>
              <a:r>
                <a:rPr lang="ko-KR" altLang="en-US" sz="750" dirty="0">
                  <a:solidFill>
                    <a:srgbClr val="4B5563"/>
                  </a:solidFill>
                  <a:latin typeface="Rix고딕 L" panose="02020603020101020101" pitchFamily="18" charset="-127"/>
                  <a:ea typeface="Rix고딕 L" panose="02020603020101020101" pitchFamily="18" charset="-127"/>
                </a:rPr>
                <a:t>를 통한 재결함 여부 확인</a:t>
              </a:r>
              <a:r>
                <a:rPr lang="en-US" sz="750" dirty="0">
                  <a:solidFill>
                    <a:srgbClr val="4B5563"/>
                  </a:solidFill>
                  <a:latin typeface="Rix고딕 L" panose="02020603020101020101" pitchFamily="18" charset="-127"/>
                  <a:ea typeface="Rix고딕 L" panose="02020603020101020101" pitchFamily="18" charset="-127"/>
                </a:rPr>
                <a:t> 시급</a:t>
              </a:r>
              <a:endParaRPr lang="en-US" sz="750" dirty="0">
                <a:latin typeface="Rix고딕 L" panose="02020603020101020101" pitchFamily="18" charset="-127"/>
                <a:ea typeface="Rix고딕 L" panose="02020603020101020101" pitchFamily="18" charset="-127"/>
              </a:endParaRPr>
            </a:p>
          </p:txBody>
        </p:sp>
      </p:grpSp>
      <p:grpSp>
        <p:nvGrpSpPr>
          <p:cNvPr id="90" name="그룹 89">
            <a:extLst>
              <a:ext uri="{FF2B5EF4-FFF2-40B4-BE49-F238E27FC236}">
                <a16:creationId xmlns:a16="http://schemas.microsoft.com/office/drawing/2014/main" id="{31B65396-3B4A-4F52-066F-83439144CC55}"/>
              </a:ext>
            </a:extLst>
          </p:cNvPr>
          <p:cNvGrpSpPr/>
          <p:nvPr/>
        </p:nvGrpSpPr>
        <p:grpSpPr>
          <a:xfrm>
            <a:off x="3319817" y="3822159"/>
            <a:ext cx="2496577" cy="804672"/>
            <a:chOff x="3809999" y="3453248"/>
            <a:chExt cx="2496577" cy="804672"/>
          </a:xfrm>
        </p:grpSpPr>
        <p:sp>
          <p:nvSpPr>
            <p:cNvPr id="35" name="Shape 31">
              <a:extLst>
                <a:ext uri="{FF2B5EF4-FFF2-40B4-BE49-F238E27FC236}">
                  <a16:creationId xmlns:a16="http://schemas.microsoft.com/office/drawing/2014/main" id="{23ABBA0A-54EA-3A10-6921-735FA44AC515}"/>
                </a:ext>
              </a:extLst>
            </p:cNvPr>
            <p:cNvSpPr/>
            <p:nvPr/>
          </p:nvSpPr>
          <p:spPr>
            <a:xfrm>
              <a:off x="3809999" y="3453248"/>
              <a:ext cx="2496577" cy="804672"/>
            </a:xfrm>
            <a:prstGeom prst="rect">
              <a:avLst/>
            </a:prstGeom>
            <a:solidFill>
              <a:srgbClr val="F4F7FB"/>
            </a:solidFill>
            <a:ln w="12700">
              <a:solidFill>
                <a:srgbClr val="D1D9E6"/>
              </a:solidFill>
              <a:prstDash val="solid"/>
            </a:ln>
            <a:effectLst>
              <a:outerShdw blurRad="50800" dist="25400" dir="8100000" algn="bl" rotWithShape="0">
                <a:srgbClr val="000000">
                  <a:alpha val="8000"/>
                </a:srgbClr>
              </a:outerShdw>
            </a:effectLst>
          </p:spPr>
          <p:txBody>
            <a:bodyPr/>
            <a:lstStyle/>
            <a:p>
              <a:endParaRPr lang="ko-KR" altLang="en-US">
                <a:latin typeface="Rix고딕 L" panose="02020603020101020101" pitchFamily="18" charset="-127"/>
                <a:ea typeface="Rix고딕 L" panose="02020603020101020101" pitchFamily="18" charset="-127"/>
              </a:endParaRPr>
            </a:p>
          </p:txBody>
        </p:sp>
        <p:grpSp>
          <p:nvGrpSpPr>
            <p:cNvPr id="75" name="그룹 74">
              <a:extLst>
                <a:ext uri="{FF2B5EF4-FFF2-40B4-BE49-F238E27FC236}">
                  <a16:creationId xmlns:a16="http://schemas.microsoft.com/office/drawing/2014/main" id="{81B6CE30-600E-BE4B-1510-1734A2E02729}"/>
                </a:ext>
              </a:extLst>
            </p:cNvPr>
            <p:cNvGrpSpPr/>
            <p:nvPr/>
          </p:nvGrpSpPr>
          <p:grpSpPr>
            <a:xfrm>
              <a:off x="3810000" y="3453248"/>
              <a:ext cx="2267712" cy="804672"/>
              <a:chOff x="3803904" y="4005072"/>
              <a:chExt cx="2267712" cy="804672"/>
            </a:xfrm>
          </p:grpSpPr>
          <p:sp>
            <p:nvSpPr>
              <p:cNvPr id="36" name="Shape 32">
                <a:extLst>
                  <a:ext uri="{FF2B5EF4-FFF2-40B4-BE49-F238E27FC236}">
                    <a16:creationId xmlns:a16="http://schemas.microsoft.com/office/drawing/2014/main" id="{20CAC33B-CC54-C3BC-A82A-2A34ED7A260E}"/>
                  </a:ext>
                </a:extLst>
              </p:cNvPr>
              <p:cNvSpPr/>
              <p:nvPr/>
            </p:nvSpPr>
            <p:spPr>
              <a:xfrm>
                <a:off x="3803904" y="4005072"/>
                <a:ext cx="64008" cy="804672"/>
              </a:xfrm>
              <a:prstGeom prst="rect">
                <a:avLst/>
              </a:prstGeom>
              <a:solidFill>
                <a:srgbClr val="9CA3AF"/>
              </a:solidFill>
              <a:ln w="12700">
                <a:solidFill>
                  <a:srgbClr val="9CA3AF"/>
                </a:solidFill>
                <a:prstDash val="solid"/>
              </a:ln>
            </p:spPr>
            <p:txBody>
              <a:bodyPr/>
              <a:lstStyle/>
              <a:p>
                <a:endParaRPr lang="ko-KR" altLang="en-US">
                  <a:latin typeface="Rix고딕 L" panose="02020603020101020101" pitchFamily="18" charset="-127"/>
                  <a:ea typeface="Rix고딕 L" panose="02020603020101020101" pitchFamily="18" charset="-127"/>
                </a:endParaRPr>
              </a:p>
            </p:txBody>
          </p:sp>
          <p:grpSp>
            <p:nvGrpSpPr>
              <p:cNvPr id="74" name="그룹 73">
                <a:extLst>
                  <a:ext uri="{FF2B5EF4-FFF2-40B4-BE49-F238E27FC236}">
                    <a16:creationId xmlns:a16="http://schemas.microsoft.com/office/drawing/2014/main" id="{683C444D-3D03-B82A-33EA-098F55A701BE}"/>
                  </a:ext>
                </a:extLst>
              </p:cNvPr>
              <p:cNvGrpSpPr/>
              <p:nvPr/>
            </p:nvGrpSpPr>
            <p:grpSpPr>
              <a:xfrm>
                <a:off x="3950208" y="4050792"/>
                <a:ext cx="2121408" cy="712470"/>
                <a:chOff x="3950208" y="4050792"/>
                <a:chExt cx="2121408" cy="712470"/>
              </a:xfrm>
            </p:grpSpPr>
            <p:sp>
              <p:nvSpPr>
                <p:cNvPr id="37" name="Text 33">
                  <a:extLst>
                    <a:ext uri="{FF2B5EF4-FFF2-40B4-BE49-F238E27FC236}">
                      <a16:creationId xmlns:a16="http://schemas.microsoft.com/office/drawing/2014/main" id="{075B7892-38B1-30C6-8C78-36A2327860CB}"/>
                    </a:ext>
                  </a:extLst>
                </p:cNvPr>
                <p:cNvSpPr/>
                <p:nvPr/>
              </p:nvSpPr>
              <p:spPr>
                <a:xfrm>
                  <a:off x="3950208" y="4050792"/>
                  <a:ext cx="1626928" cy="201168"/>
                </a:xfrm>
                <a:prstGeom prst="rect">
                  <a:avLst/>
                </a:prstGeom>
                <a:noFill/>
                <a:ln/>
              </p:spPr>
              <p:txBody>
                <a:bodyPr wrap="square" lIns="0" tIns="0" rIns="0" bIns="0" rtlCol="0" anchor="ctr"/>
                <a:lstStyle/>
                <a:p>
                  <a:pPr marL="0" indent="0">
                    <a:buNone/>
                  </a:pPr>
                  <a:r>
                    <a:rPr lang="en-US" sz="1000" b="1" dirty="0">
                      <a:solidFill>
                        <a:srgbClr val="9CA3AF"/>
                      </a:solidFill>
                      <a:latin typeface="Rix고딕 L" panose="02020603020101020101" pitchFamily="18" charset="-127"/>
                      <a:ea typeface="Rix고딕 L" panose="02020603020101020101" pitchFamily="18" charset="-127"/>
                    </a:rPr>
                    <a:t>⑤  결함기각 최다 — 공항운영</a:t>
                  </a:r>
                  <a:endParaRPr lang="en-US" sz="1000" dirty="0">
                    <a:latin typeface="Rix고딕 L" panose="02020603020101020101" pitchFamily="18" charset="-127"/>
                    <a:ea typeface="Rix고딕 L" panose="02020603020101020101" pitchFamily="18" charset="-127"/>
                  </a:endParaRPr>
                </a:p>
              </p:txBody>
            </p:sp>
            <p:sp>
              <p:nvSpPr>
                <p:cNvPr id="38" name="Text 34">
                  <a:extLst>
                    <a:ext uri="{FF2B5EF4-FFF2-40B4-BE49-F238E27FC236}">
                      <a16:creationId xmlns:a16="http://schemas.microsoft.com/office/drawing/2014/main" id="{150488AE-CFD9-60F5-EDAB-5960BFEC8CE9}"/>
                    </a:ext>
                  </a:extLst>
                </p:cNvPr>
                <p:cNvSpPr/>
                <p:nvPr/>
              </p:nvSpPr>
              <p:spPr>
                <a:xfrm>
                  <a:off x="3950208" y="4242816"/>
                  <a:ext cx="1463040" cy="274320"/>
                </a:xfrm>
                <a:prstGeom prst="rect">
                  <a:avLst/>
                </a:prstGeom>
                <a:noFill/>
                <a:ln/>
              </p:spPr>
              <p:txBody>
                <a:bodyPr wrap="square" lIns="0" tIns="0" rIns="0" bIns="0" rtlCol="0" anchor="ctr"/>
                <a:lstStyle/>
                <a:p>
                  <a:pPr marL="0" indent="0">
                    <a:buNone/>
                  </a:pPr>
                  <a:r>
                    <a:rPr lang="en-US" sz="1600" b="1" dirty="0">
                      <a:solidFill>
                        <a:srgbClr val="1B3A6B"/>
                      </a:solidFill>
                      <a:latin typeface="Rix고딕 L" panose="02020603020101020101" pitchFamily="18" charset="-127"/>
                      <a:ea typeface="Rix고딕 L" panose="02020603020101020101" pitchFamily="18" charset="-127"/>
                    </a:rPr>
                    <a:t>57건</a:t>
                  </a:r>
                  <a:endParaRPr lang="en-US" sz="1600" dirty="0">
                    <a:latin typeface="Rix고딕 L" panose="02020603020101020101" pitchFamily="18" charset="-127"/>
                    <a:ea typeface="Rix고딕 L" panose="02020603020101020101" pitchFamily="18" charset="-127"/>
                  </a:endParaRPr>
                </a:p>
              </p:txBody>
            </p:sp>
            <p:sp>
              <p:nvSpPr>
                <p:cNvPr id="39" name="Text 35">
                  <a:extLst>
                    <a:ext uri="{FF2B5EF4-FFF2-40B4-BE49-F238E27FC236}">
                      <a16:creationId xmlns:a16="http://schemas.microsoft.com/office/drawing/2014/main" id="{E4F4F96D-75A2-B27C-95C5-FD999AEFB55B}"/>
                    </a:ext>
                  </a:extLst>
                </p:cNvPr>
                <p:cNvSpPr/>
                <p:nvPr/>
              </p:nvSpPr>
              <p:spPr>
                <a:xfrm>
                  <a:off x="4404637" y="4374157"/>
                  <a:ext cx="944603" cy="126562"/>
                </a:xfrm>
                <a:prstGeom prst="rect">
                  <a:avLst/>
                </a:prstGeom>
                <a:noFill/>
                <a:ln/>
              </p:spPr>
              <p:txBody>
                <a:bodyPr wrap="square" lIns="0" tIns="0" rIns="0" bIns="0" rtlCol="0" anchor="ctr"/>
                <a:lstStyle/>
                <a:p>
                  <a:pPr marL="0" indent="0">
                    <a:buNone/>
                  </a:pPr>
                  <a:r>
                    <a:rPr lang="en-US" sz="750" dirty="0">
                      <a:solidFill>
                        <a:srgbClr val="9CA3AF"/>
                      </a:solidFill>
                      <a:latin typeface="Rix고딕 L" panose="02020603020101020101" pitchFamily="18" charset="-127"/>
                      <a:ea typeface="Rix고딕 L" panose="02020603020101020101" pitchFamily="18" charset="-127"/>
                    </a:rPr>
                    <a:t>총 기각 445건 중 최다</a:t>
                  </a:r>
                  <a:endParaRPr lang="en-US" sz="750" dirty="0">
                    <a:latin typeface="Rix고딕 L" panose="02020603020101020101" pitchFamily="18" charset="-127"/>
                    <a:ea typeface="Rix고딕 L" panose="02020603020101020101" pitchFamily="18" charset="-127"/>
                  </a:endParaRPr>
                </a:p>
              </p:txBody>
            </p:sp>
            <p:sp>
              <p:nvSpPr>
                <p:cNvPr id="40" name="Text 36">
                  <a:extLst>
                    <a:ext uri="{FF2B5EF4-FFF2-40B4-BE49-F238E27FC236}">
                      <a16:creationId xmlns:a16="http://schemas.microsoft.com/office/drawing/2014/main" id="{6069F9F9-9217-5FBA-DA3E-BD7679B057CE}"/>
                    </a:ext>
                  </a:extLst>
                </p:cNvPr>
                <p:cNvSpPr/>
                <p:nvPr/>
              </p:nvSpPr>
              <p:spPr>
                <a:xfrm>
                  <a:off x="3950208" y="4562094"/>
                  <a:ext cx="2121408" cy="201168"/>
                </a:xfrm>
                <a:prstGeom prst="rect">
                  <a:avLst/>
                </a:prstGeom>
                <a:noFill/>
                <a:ln/>
              </p:spPr>
              <p:txBody>
                <a:bodyPr wrap="square" lIns="0" tIns="0" rIns="0" bIns="0" rtlCol="0" anchor="ctr"/>
                <a:lstStyle/>
                <a:p>
                  <a:pPr marL="0" indent="0">
                    <a:buNone/>
                  </a:pPr>
                  <a:r>
                    <a:rPr lang="en-US" sz="750" dirty="0">
                      <a:solidFill>
                        <a:srgbClr val="4B5563"/>
                      </a:solidFill>
                      <a:latin typeface="Rix고딕 L" panose="02020603020101020101" pitchFamily="18" charset="-127"/>
                      <a:ea typeface="Rix고딕 L" panose="02020603020101020101" pitchFamily="18" charset="-127"/>
                    </a:rPr>
                    <a:t>테스터 간 결함 인정 기준</a:t>
                  </a:r>
                  <a:endParaRPr lang="en-US" sz="750" dirty="0">
                    <a:latin typeface="Rix고딕 L" panose="02020603020101020101" pitchFamily="18" charset="-127"/>
                    <a:ea typeface="Rix고딕 L" panose="02020603020101020101" pitchFamily="18" charset="-127"/>
                  </a:endParaRPr>
                </a:p>
                <a:p>
                  <a:pPr marL="0" indent="0">
                    <a:buNone/>
                  </a:pPr>
                  <a:r>
                    <a:rPr lang="en-US" sz="750" dirty="0">
                      <a:solidFill>
                        <a:srgbClr val="4B5563"/>
                      </a:solidFill>
                      <a:latin typeface="Rix고딕 L" panose="02020603020101020101" pitchFamily="18" charset="-127"/>
                      <a:ea typeface="Rix고딕 L" panose="02020603020101020101" pitchFamily="18" charset="-127"/>
                    </a:rPr>
                    <a:t>불일치 가능성</a:t>
                  </a:r>
                  <a:endParaRPr lang="en-US" sz="750" dirty="0">
                    <a:latin typeface="Rix고딕 L" panose="02020603020101020101" pitchFamily="18" charset="-127"/>
                    <a:ea typeface="Rix고딕 L" panose="02020603020101020101" pitchFamily="18" charset="-127"/>
                  </a:endParaRPr>
                </a:p>
              </p:txBody>
            </p:sp>
          </p:grpSp>
        </p:grpSp>
      </p:grpSp>
      <p:sp>
        <p:nvSpPr>
          <p:cNvPr id="72" name="Text 68">
            <a:extLst>
              <a:ext uri="{FF2B5EF4-FFF2-40B4-BE49-F238E27FC236}">
                <a16:creationId xmlns:a16="http://schemas.microsoft.com/office/drawing/2014/main" id="{3EFDE6DC-DDB4-D672-3F4D-E820A09317EE}"/>
              </a:ext>
            </a:extLst>
          </p:cNvPr>
          <p:cNvSpPr/>
          <p:nvPr/>
        </p:nvSpPr>
        <p:spPr>
          <a:xfrm>
            <a:off x="6249793" y="2649924"/>
            <a:ext cx="2123398" cy="54301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200000"/>
              </a:lnSpc>
              <a:buNone/>
            </a:pPr>
            <a:r>
              <a:rPr lang="en-US" sz="950" b="1" dirty="0">
                <a:solidFill>
                  <a:schemeClr val="accent2">
                    <a:lumMod val="75000"/>
                  </a:schemeClr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▶  </a:t>
            </a:r>
            <a:r>
              <a:rPr lang="ko-KR" altLang="en-US" sz="950" b="1" dirty="0">
                <a:solidFill>
                  <a:schemeClr val="accent2">
                    <a:lumMod val="75000"/>
                  </a:schemeClr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추가 인력의 </a:t>
            </a:r>
            <a:r>
              <a:rPr lang="en-US" sz="950" b="1" dirty="0" err="1">
                <a:solidFill>
                  <a:schemeClr val="accent2">
                    <a:lumMod val="75000"/>
                  </a:schemeClr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개입</a:t>
            </a:r>
            <a:r>
              <a:rPr lang="en-US" sz="950" b="1" dirty="0">
                <a:solidFill>
                  <a:schemeClr val="accent2">
                    <a:lumMod val="75000"/>
                  </a:schemeClr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 + </a:t>
            </a:r>
            <a:r>
              <a:rPr lang="ko-KR" altLang="en-US" sz="950" b="1" dirty="0">
                <a:solidFill>
                  <a:schemeClr val="accent2">
                    <a:lumMod val="75000"/>
                  </a:schemeClr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집중 관리 </a:t>
            </a:r>
            <a:r>
              <a:rPr lang="en-US" sz="950" b="1" dirty="0" err="1">
                <a:solidFill>
                  <a:schemeClr val="accent2">
                    <a:lumMod val="75000"/>
                  </a:schemeClr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없이는</a:t>
            </a:r>
            <a:r>
              <a:rPr lang="en-US" sz="950" b="1" dirty="0">
                <a:solidFill>
                  <a:schemeClr val="accent2">
                    <a:lumMod val="75000"/>
                  </a:schemeClr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 </a:t>
            </a:r>
          </a:p>
          <a:p>
            <a:pPr marL="0" indent="0">
              <a:lnSpc>
                <a:spcPct val="200000"/>
              </a:lnSpc>
              <a:buNone/>
            </a:pPr>
            <a:r>
              <a:rPr lang="en-US" sz="950" b="1" dirty="0">
                <a:solidFill>
                  <a:schemeClr val="accent2">
                    <a:lumMod val="75000"/>
                  </a:schemeClr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     </a:t>
            </a:r>
            <a:r>
              <a:rPr lang="ko-KR" altLang="en-US" sz="950" b="1" dirty="0">
                <a:solidFill>
                  <a:schemeClr val="accent2">
                    <a:lumMod val="75000"/>
                  </a:schemeClr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후속 단계</a:t>
            </a:r>
            <a:r>
              <a:rPr lang="en-US" sz="950" b="1" dirty="0">
                <a:solidFill>
                  <a:schemeClr val="accent2">
                    <a:lumMod val="75000"/>
                  </a:schemeClr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 </a:t>
            </a:r>
            <a:r>
              <a:rPr lang="en-US" sz="950" b="1" dirty="0" err="1">
                <a:solidFill>
                  <a:schemeClr val="accent2">
                    <a:lumMod val="75000"/>
                  </a:schemeClr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품질</a:t>
            </a:r>
            <a:r>
              <a:rPr lang="en-US" sz="950" b="1" dirty="0">
                <a:solidFill>
                  <a:schemeClr val="accent2">
                    <a:lumMod val="75000"/>
                  </a:schemeClr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 </a:t>
            </a:r>
            <a:r>
              <a:rPr lang="en-US" sz="950" b="1" dirty="0" err="1">
                <a:solidFill>
                  <a:schemeClr val="accent2">
                    <a:lumMod val="75000"/>
                  </a:schemeClr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위기</a:t>
            </a:r>
            <a:r>
              <a:rPr lang="en-US" sz="950" b="1" dirty="0">
                <a:solidFill>
                  <a:schemeClr val="accent2">
                    <a:lumMod val="75000"/>
                  </a:schemeClr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 </a:t>
            </a:r>
            <a:r>
              <a:rPr lang="ko-KR" altLang="en-US" sz="950" b="1" dirty="0">
                <a:solidFill>
                  <a:schemeClr val="accent2">
                    <a:lumMod val="75000"/>
                  </a:schemeClr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우려</a:t>
            </a:r>
            <a:endParaRPr lang="en-US" sz="950" dirty="0">
              <a:solidFill>
                <a:schemeClr val="accent2">
                  <a:lumMod val="75000"/>
                </a:schemeClr>
              </a:solidFill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grpSp>
        <p:nvGrpSpPr>
          <p:cNvPr id="92" name="그룹 91">
            <a:extLst>
              <a:ext uri="{FF2B5EF4-FFF2-40B4-BE49-F238E27FC236}">
                <a16:creationId xmlns:a16="http://schemas.microsoft.com/office/drawing/2014/main" id="{8B1FEA52-45B9-1255-D53F-758B5C9E8B23}"/>
              </a:ext>
            </a:extLst>
          </p:cNvPr>
          <p:cNvGrpSpPr/>
          <p:nvPr/>
        </p:nvGrpSpPr>
        <p:grpSpPr>
          <a:xfrm>
            <a:off x="6180775" y="3822159"/>
            <a:ext cx="2533719" cy="810000"/>
            <a:chOff x="6180775" y="3461941"/>
            <a:chExt cx="2533719" cy="810000"/>
          </a:xfrm>
        </p:grpSpPr>
        <p:sp>
          <p:nvSpPr>
            <p:cNvPr id="4" name="Shape 23">
              <a:extLst>
                <a:ext uri="{FF2B5EF4-FFF2-40B4-BE49-F238E27FC236}">
                  <a16:creationId xmlns:a16="http://schemas.microsoft.com/office/drawing/2014/main" id="{DFFACCDB-E924-A42E-56A7-6EFC2899B795}"/>
                </a:ext>
              </a:extLst>
            </p:cNvPr>
            <p:cNvSpPr/>
            <p:nvPr/>
          </p:nvSpPr>
          <p:spPr>
            <a:xfrm>
              <a:off x="6180775" y="3461941"/>
              <a:ext cx="2494912" cy="808843"/>
            </a:xfrm>
            <a:prstGeom prst="rect">
              <a:avLst/>
            </a:prstGeom>
            <a:solidFill>
              <a:srgbClr val="F4F7FB"/>
            </a:solidFill>
            <a:ln w="12700">
              <a:solidFill>
                <a:srgbClr val="D1D9E6"/>
              </a:solidFill>
              <a:prstDash val="solid"/>
            </a:ln>
            <a:effectLst>
              <a:outerShdw blurRad="50800" dist="25400" dir="8100000" algn="bl" rotWithShape="0">
                <a:srgbClr val="000000">
                  <a:alpha val="8000"/>
                </a:srgbClr>
              </a:outerShdw>
            </a:effectLst>
          </p:spPr>
          <p:txBody>
            <a:bodyPr/>
            <a:lstStyle/>
            <a:p>
              <a:endParaRPr lang="ko-KR" altLang="en-US">
                <a:latin typeface="Rix고딕 L" panose="02020603020101020101" pitchFamily="18" charset="-127"/>
                <a:ea typeface="Rix고딕 L" panose="02020603020101020101" pitchFamily="18" charset="-127"/>
              </a:endParaRPr>
            </a:p>
          </p:txBody>
        </p:sp>
        <p:sp>
          <p:nvSpPr>
            <p:cNvPr id="33" name="Shape 24">
              <a:extLst>
                <a:ext uri="{FF2B5EF4-FFF2-40B4-BE49-F238E27FC236}">
                  <a16:creationId xmlns:a16="http://schemas.microsoft.com/office/drawing/2014/main" id="{46443BCC-021A-34C5-EEB8-7FE6A293A9E0}"/>
                </a:ext>
              </a:extLst>
            </p:cNvPr>
            <p:cNvSpPr/>
            <p:nvPr/>
          </p:nvSpPr>
          <p:spPr>
            <a:xfrm>
              <a:off x="6180775" y="3461941"/>
              <a:ext cx="61463" cy="810000"/>
            </a:xfrm>
            <a:prstGeom prst="rect">
              <a:avLst/>
            </a:prstGeom>
            <a:solidFill>
              <a:srgbClr val="2563A8"/>
            </a:solidFill>
            <a:ln w="12700">
              <a:solidFill>
                <a:srgbClr val="2563A8"/>
              </a:solidFill>
              <a:prstDash val="solid"/>
            </a:ln>
          </p:spPr>
          <p:txBody>
            <a:bodyPr/>
            <a:lstStyle/>
            <a:p>
              <a:endParaRPr lang="ko-KR" altLang="en-US">
                <a:latin typeface="Rix고딕 L" panose="02020603020101020101" pitchFamily="18" charset="-127"/>
                <a:ea typeface="Rix고딕 L" panose="02020603020101020101" pitchFamily="18" charset="-127"/>
              </a:endParaRPr>
            </a:p>
          </p:txBody>
        </p:sp>
        <p:sp>
          <p:nvSpPr>
            <p:cNvPr id="46" name="Text 25">
              <a:extLst>
                <a:ext uri="{FF2B5EF4-FFF2-40B4-BE49-F238E27FC236}">
                  <a16:creationId xmlns:a16="http://schemas.microsoft.com/office/drawing/2014/main" id="{EEB1275C-2535-D15A-1B6D-35C5F552E9A6}"/>
                </a:ext>
              </a:extLst>
            </p:cNvPr>
            <p:cNvSpPr/>
            <p:nvPr/>
          </p:nvSpPr>
          <p:spPr>
            <a:xfrm>
              <a:off x="6327079" y="3479741"/>
              <a:ext cx="2387415" cy="2743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1000" b="1" dirty="0">
                  <a:solidFill>
                    <a:srgbClr val="2563A8"/>
                  </a:solidFill>
                  <a:latin typeface="Rix고딕 L" panose="02020603020101020101" pitchFamily="18" charset="-127"/>
                  <a:ea typeface="Rix고딕 L" panose="02020603020101020101" pitchFamily="18" charset="-127"/>
                </a:rPr>
                <a:t>⑥ </a:t>
              </a:r>
              <a:r>
                <a:rPr lang="en-US" sz="1000" b="1" dirty="0" err="1">
                  <a:solidFill>
                    <a:srgbClr val="2563A8"/>
                  </a:solidFill>
                  <a:latin typeface="Rix고딕 L" panose="02020603020101020101" pitchFamily="18" charset="-127"/>
                  <a:ea typeface="Rix고딕 L" panose="02020603020101020101" pitchFamily="18" charset="-127"/>
                </a:rPr>
                <a:t>고위험</a:t>
              </a:r>
              <a:r>
                <a:rPr lang="en-US" sz="1000" b="1" dirty="0">
                  <a:solidFill>
                    <a:srgbClr val="2563A8"/>
                  </a:solidFill>
                  <a:latin typeface="Rix고딕 L" panose="02020603020101020101" pitchFamily="18" charset="-127"/>
                  <a:ea typeface="Rix고딕 L" panose="02020603020101020101" pitchFamily="18" charset="-127"/>
                </a:rPr>
                <a:t> 모듈 3개 집중</a:t>
              </a:r>
              <a:endParaRPr lang="en-US" sz="1000" dirty="0">
                <a:latin typeface="Rix고딕 L" panose="02020603020101020101" pitchFamily="18" charset="-127"/>
                <a:ea typeface="Rix고딕 L" panose="02020603020101020101" pitchFamily="18" charset="-127"/>
              </a:endParaRPr>
            </a:p>
          </p:txBody>
        </p:sp>
        <p:sp>
          <p:nvSpPr>
            <p:cNvPr id="53" name="Text 26">
              <a:extLst>
                <a:ext uri="{FF2B5EF4-FFF2-40B4-BE49-F238E27FC236}">
                  <a16:creationId xmlns:a16="http://schemas.microsoft.com/office/drawing/2014/main" id="{A49E04FA-DD83-A428-38E2-7A212C359FD0}"/>
                </a:ext>
              </a:extLst>
            </p:cNvPr>
            <p:cNvSpPr/>
            <p:nvPr/>
          </p:nvSpPr>
          <p:spPr>
            <a:xfrm>
              <a:off x="6532404" y="3732835"/>
              <a:ext cx="1264428" cy="237744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1100" b="1" dirty="0">
                  <a:solidFill>
                    <a:srgbClr val="1B3A6B"/>
                  </a:solidFill>
                  <a:latin typeface="Rix고딕 L" panose="02020603020101020101" pitchFamily="18" charset="-127"/>
                  <a:ea typeface="Rix고딕 L" panose="02020603020101020101" pitchFamily="18" charset="-127"/>
                </a:rPr>
                <a:t>AC·AS·GO</a:t>
              </a:r>
              <a:endParaRPr lang="en-US" sz="1100" dirty="0">
                <a:latin typeface="Rix고딕 L" panose="02020603020101020101" pitchFamily="18" charset="-127"/>
                <a:ea typeface="Rix고딕 L" panose="02020603020101020101" pitchFamily="18" charset="-127"/>
              </a:endParaRPr>
            </a:p>
          </p:txBody>
        </p:sp>
        <p:sp>
          <p:nvSpPr>
            <p:cNvPr id="60" name="Text 27">
              <a:extLst>
                <a:ext uri="{FF2B5EF4-FFF2-40B4-BE49-F238E27FC236}">
                  <a16:creationId xmlns:a16="http://schemas.microsoft.com/office/drawing/2014/main" id="{D47E963D-313D-F990-5C13-B47210A27EB6}"/>
                </a:ext>
              </a:extLst>
            </p:cNvPr>
            <p:cNvSpPr/>
            <p:nvPr/>
          </p:nvSpPr>
          <p:spPr>
            <a:xfrm>
              <a:off x="6327079" y="4010581"/>
              <a:ext cx="2387415" cy="256032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850" dirty="0">
                  <a:solidFill>
                    <a:srgbClr val="4B5563"/>
                  </a:solidFill>
                  <a:latin typeface="Rix고딕 L" panose="02020603020101020101" pitchFamily="18" charset="-127"/>
                  <a:ea typeface="Rix고딕 L" panose="02020603020101020101" pitchFamily="18" charset="-127"/>
                </a:rPr>
                <a:t>즉시 전담 QA 지정 및 집중 모니터링 체계 가동 필요</a:t>
              </a:r>
              <a:endParaRPr lang="en-US" sz="850" dirty="0">
                <a:latin typeface="Rix고딕 L" panose="02020603020101020101" pitchFamily="18" charset="-127"/>
                <a:ea typeface="Rix고딕 L" panose="02020603020101020101" pitchFamily="18" charset="-127"/>
              </a:endParaRPr>
            </a:p>
          </p:txBody>
        </p:sp>
      </p:grpSp>
      <p:grpSp>
        <p:nvGrpSpPr>
          <p:cNvPr id="86" name="그룹 85">
            <a:extLst>
              <a:ext uri="{FF2B5EF4-FFF2-40B4-BE49-F238E27FC236}">
                <a16:creationId xmlns:a16="http://schemas.microsoft.com/office/drawing/2014/main" id="{A3668AAD-7462-4638-3C58-E305A6548F5E}"/>
              </a:ext>
            </a:extLst>
          </p:cNvPr>
          <p:cNvGrpSpPr/>
          <p:nvPr/>
        </p:nvGrpSpPr>
        <p:grpSpPr>
          <a:xfrm>
            <a:off x="6180775" y="1136716"/>
            <a:ext cx="2496577" cy="1181447"/>
            <a:chOff x="5504422" y="1115568"/>
            <a:chExt cx="2496577" cy="1181447"/>
          </a:xfrm>
        </p:grpSpPr>
        <p:sp>
          <p:nvSpPr>
            <p:cNvPr id="67" name="Shape 12">
              <a:extLst>
                <a:ext uri="{FF2B5EF4-FFF2-40B4-BE49-F238E27FC236}">
                  <a16:creationId xmlns:a16="http://schemas.microsoft.com/office/drawing/2014/main" id="{4DDBDABA-EBE2-64F1-DF43-44575AC3BE6A}"/>
                </a:ext>
              </a:extLst>
            </p:cNvPr>
            <p:cNvSpPr/>
            <p:nvPr/>
          </p:nvSpPr>
          <p:spPr>
            <a:xfrm>
              <a:off x="5504422" y="1115569"/>
              <a:ext cx="2496577" cy="1181446"/>
            </a:xfrm>
            <a:prstGeom prst="rect">
              <a:avLst/>
            </a:prstGeom>
            <a:solidFill>
              <a:srgbClr val="F4F7FB"/>
            </a:solidFill>
            <a:ln w="12700">
              <a:solidFill>
                <a:srgbClr val="D1D9E6"/>
              </a:solidFill>
              <a:prstDash val="solid"/>
            </a:ln>
            <a:effectLst>
              <a:outerShdw blurRad="50800" dist="25400" dir="8100000" algn="bl" rotWithShape="0">
                <a:srgbClr val="000000">
                  <a:alpha val="8000"/>
                </a:srgbClr>
              </a:outerShdw>
            </a:effectLst>
          </p:spPr>
          <p:txBody>
            <a:bodyPr/>
            <a:lstStyle/>
            <a:p>
              <a:endParaRPr lang="ko-KR" altLang="en-US">
                <a:latin typeface="Rix고딕 L" panose="02020603020101020101" pitchFamily="18" charset="-127"/>
                <a:ea typeface="Rix고딕 L" panose="02020603020101020101" pitchFamily="18" charset="-127"/>
              </a:endParaRPr>
            </a:p>
          </p:txBody>
        </p:sp>
        <p:sp>
          <p:nvSpPr>
            <p:cNvPr id="76" name="Shape 13">
              <a:extLst>
                <a:ext uri="{FF2B5EF4-FFF2-40B4-BE49-F238E27FC236}">
                  <a16:creationId xmlns:a16="http://schemas.microsoft.com/office/drawing/2014/main" id="{C6FA7883-2EBC-6BF9-FDB5-02671B3786EC}"/>
                </a:ext>
              </a:extLst>
            </p:cNvPr>
            <p:cNvSpPr/>
            <p:nvPr/>
          </p:nvSpPr>
          <p:spPr>
            <a:xfrm>
              <a:off x="5504422" y="1115568"/>
              <a:ext cx="2496577" cy="54864"/>
            </a:xfrm>
            <a:prstGeom prst="rect">
              <a:avLst/>
            </a:prstGeom>
            <a:solidFill>
              <a:srgbClr val="E85D2F"/>
            </a:solidFill>
            <a:ln w="12700">
              <a:solidFill>
                <a:srgbClr val="E85D2F"/>
              </a:solidFill>
              <a:prstDash val="solid"/>
            </a:ln>
          </p:spPr>
          <p:txBody>
            <a:bodyPr/>
            <a:lstStyle/>
            <a:p>
              <a:endParaRPr lang="ko-KR" altLang="en-US">
                <a:latin typeface="Rix고딕 L" panose="02020603020101020101" pitchFamily="18" charset="-127"/>
                <a:ea typeface="Rix고딕 L" panose="02020603020101020101" pitchFamily="18" charset="-127"/>
              </a:endParaRPr>
            </a:p>
          </p:txBody>
        </p:sp>
        <p:sp>
          <p:nvSpPr>
            <p:cNvPr id="81" name="Text 14">
              <a:extLst>
                <a:ext uri="{FF2B5EF4-FFF2-40B4-BE49-F238E27FC236}">
                  <a16:creationId xmlns:a16="http://schemas.microsoft.com/office/drawing/2014/main" id="{195A4608-DB02-FC69-DB99-38CDBDCA9AD9}"/>
                </a:ext>
              </a:extLst>
            </p:cNvPr>
            <p:cNvSpPr/>
            <p:nvPr/>
          </p:nvSpPr>
          <p:spPr>
            <a:xfrm>
              <a:off x="5614151" y="1207008"/>
              <a:ext cx="256032" cy="2743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1300" b="1" dirty="0">
                  <a:solidFill>
                    <a:srgbClr val="E85D2F"/>
                  </a:solidFill>
                  <a:latin typeface="Rix고딕 L" panose="02020603020101020101" pitchFamily="18" charset="-127"/>
                  <a:ea typeface="Rix고딕 L" panose="02020603020101020101" pitchFamily="18" charset="-127"/>
                </a:rPr>
                <a:t>③</a:t>
              </a:r>
              <a:endParaRPr lang="en-US" sz="1300" dirty="0">
                <a:latin typeface="Rix고딕 L" panose="02020603020101020101" pitchFamily="18" charset="-127"/>
                <a:ea typeface="Rix고딕 L" panose="02020603020101020101" pitchFamily="18" charset="-127"/>
              </a:endParaRPr>
            </a:p>
          </p:txBody>
        </p:sp>
        <p:sp>
          <p:nvSpPr>
            <p:cNvPr id="82" name="Text 15">
              <a:extLst>
                <a:ext uri="{FF2B5EF4-FFF2-40B4-BE49-F238E27FC236}">
                  <a16:creationId xmlns:a16="http://schemas.microsoft.com/office/drawing/2014/main" id="{D931A6B1-89D5-344B-25A3-6A9D3B4219B4}"/>
                </a:ext>
              </a:extLst>
            </p:cNvPr>
            <p:cNvSpPr/>
            <p:nvPr/>
          </p:nvSpPr>
          <p:spPr>
            <a:xfrm>
              <a:off x="5888471" y="1207008"/>
              <a:ext cx="1947672" cy="2743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ko-KR" altLang="en-US" sz="1000" b="1" dirty="0">
                  <a:solidFill>
                    <a:srgbClr val="1B3A6B"/>
                  </a:solidFill>
                  <a:latin typeface="Rix고딕 L" panose="02020603020101020101" pitchFamily="18" charset="-127"/>
                  <a:ea typeface="Rix고딕 L" panose="02020603020101020101" pitchFamily="18" charset="-127"/>
                </a:rPr>
                <a:t>복수단계 반복 결함</a:t>
              </a:r>
            </a:p>
          </p:txBody>
        </p:sp>
        <p:sp>
          <p:nvSpPr>
            <p:cNvPr id="83" name="Text 16">
              <a:extLst>
                <a:ext uri="{FF2B5EF4-FFF2-40B4-BE49-F238E27FC236}">
                  <a16:creationId xmlns:a16="http://schemas.microsoft.com/office/drawing/2014/main" id="{B2F8AFD7-DAA6-4D81-7D83-64AF8C541746}"/>
                </a:ext>
              </a:extLst>
            </p:cNvPr>
            <p:cNvSpPr/>
            <p:nvPr/>
          </p:nvSpPr>
          <p:spPr>
            <a:xfrm>
              <a:off x="5614151" y="1471908"/>
              <a:ext cx="1280160" cy="420624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2800" b="1" dirty="0">
                  <a:solidFill>
                    <a:srgbClr val="E85D2F"/>
                  </a:solidFill>
                  <a:latin typeface="Rix고딕 L" panose="02020603020101020101" pitchFamily="18" charset="-127"/>
                  <a:ea typeface="Rix고딕 L" panose="02020603020101020101" pitchFamily="18" charset="-127"/>
                </a:rPr>
                <a:t>25.5%</a:t>
              </a:r>
              <a:endParaRPr lang="en-US" sz="2800" dirty="0">
                <a:latin typeface="Rix고딕 L" panose="02020603020101020101" pitchFamily="18" charset="-127"/>
                <a:ea typeface="Rix고딕 L" panose="02020603020101020101" pitchFamily="18" charset="-127"/>
              </a:endParaRPr>
            </a:p>
          </p:txBody>
        </p:sp>
        <p:sp>
          <p:nvSpPr>
            <p:cNvPr id="84" name="Text 17">
              <a:extLst>
                <a:ext uri="{FF2B5EF4-FFF2-40B4-BE49-F238E27FC236}">
                  <a16:creationId xmlns:a16="http://schemas.microsoft.com/office/drawing/2014/main" id="{CC64A51A-B1B5-6A73-AD32-82E67B7FEF75}"/>
                </a:ext>
              </a:extLst>
            </p:cNvPr>
            <p:cNvSpPr/>
            <p:nvPr/>
          </p:nvSpPr>
          <p:spPr>
            <a:xfrm>
              <a:off x="6775993" y="1668504"/>
              <a:ext cx="1020803" cy="18288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800" dirty="0">
                  <a:solidFill>
                    <a:srgbClr val="9CA3AF"/>
                  </a:solidFill>
                  <a:latin typeface="Rix고딕 L" panose="02020603020101020101" pitchFamily="18" charset="-127"/>
                  <a:ea typeface="Rix고딕 L" panose="02020603020101020101" pitchFamily="18" charset="-127"/>
                </a:rPr>
                <a:t>667</a:t>
              </a:r>
              <a:r>
                <a:rPr lang="ko-KR" altLang="en-US" sz="800" dirty="0">
                  <a:solidFill>
                    <a:srgbClr val="9CA3AF"/>
                  </a:solidFill>
                  <a:latin typeface="Rix고딕 L" panose="02020603020101020101" pitchFamily="18" charset="-127"/>
                  <a:ea typeface="Rix고딕 L" panose="02020603020101020101" pitchFamily="18" charset="-127"/>
                </a:rPr>
                <a:t>개 시나리오</a:t>
              </a:r>
              <a:endParaRPr lang="en-US" sz="800" dirty="0">
                <a:latin typeface="Rix고딕 L" panose="02020603020101020101" pitchFamily="18" charset="-127"/>
                <a:ea typeface="Rix고딕 L" panose="02020603020101020101" pitchFamily="18" charset="-127"/>
              </a:endParaRPr>
            </a:p>
          </p:txBody>
        </p:sp>
        <p:sp>
          <p:nvSpPr>
            <p:cNvPr id="85" name="Text 18">
              <a:extLst>
                <a:ext uri="{FF2B5EF4-FFF2-40B4-BE49-F238E27FC236}">
                  <a16:creationId xmlns:a16="http://schemas.microsoft.com/office/drawing/2014/main" id="{7F3C113E-B0E4-B2A8-F434-F7CA8E027A5B}"/>
                </a:ext>
              </a:extLst>
            </p:cNvPr>
            <p:cNvSpPr/>
            <p:nvPr/>
          </p:nvSpPr>
          <p:spPr>
            <a:xfrm>
              <a:off x="5600435" y="1916640"/>
              <a:ext cx="2221992" cy="322569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ko-KR" altLang="en-US" sz="850" dirty="0" err="1">
                  <a:solidFill>
                    <a:srgbClr val="4B5563"/>
                  </a:solidFill>
                  <a:latin typeface="Rix고딕 L" panose="02020603020101020101" pitchFamily="18" charset="-127"/>
                  <a:ea typeface="Rix고딕 L" panose="02020603020101020101" pitchFamily="18" charset="-127"/>
                </a:rPr>
                <a:t>미조치</a:t>
              </a:r>
              <a:r>
                <a:rPr lang="ko-KR" altLang="en-US" sz="850" dirty="0">
                  <a:solidFill>
                    <a:srgbClr val="4B5563"/>
                  </a:solidFill>
                  <a:latin typeface="Rix고딕 L" panose="02020603020101020101" pitchFamily="18" charset="-127"/>
                  <a:ea typeface="Rix고딕 L" panose="02020603020101020101" pitchFamily="18" charset="-127"/>
                </a:rPr>
                <a:t> 이월 구조 고착</a:t>
              </a:r>
              <a:endParaRPr lang="en-US" altLang="ko-KR" sz="850" dirty="0">
                <a:solidFill>
                  <a:srgbClr val="4B5563"/>
                </a:solidFill>
                <a:latin typeface="Rix고딕 L" panose="02020603020101020101" pitchFamily="18" charset="-127"/>
                <a:ea typeface="Rix고딕 L" panose="02020603020101020101" pitchFamily="18" charset="-127"/>
              </a:endParaRPr>
            </a:p>
            <a:p>
              <a:pPr marL="0" indent="0">
                <a:buNone/>
              </a:pPr>
              <a:r>
                <a:rPr lang="ko-KR" altLang="en-US" sz="850" dirty="0">
                  <a:solidFill>
                    <a:srgbClr val="4B5563"/>
                  </a:solidFill>
                  <a:latin typeface="Rix고딕 L" panose="02020603020101020101" pitchFamily="18" charset="-127"/>
                  <a:ea typeface="Rix고딕 L" panose="02020603020101020101" pitchFamily="18" charset="-127"/>
                </a:rPr>
                <a:t>조치 확인 프로세스 작동 미흡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886411639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/>
          <p:cNvSpPr/>
          <p:nvPr/>
        </p:nvSpPr>
        <p:spPr>
          <a:xfrm>
            <a:off x="320040" y="0"/>
            <a:ext cx="6400800" cy="4343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002060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업무모듈별 공사테스트 결함율 현황 (위험 구간 집중 분석)</a:t>
            </a:r>
            <a:endParaRPr lang="en-US" sz="2000" dirty="0">
              <a:solidFill>
                <a:srgbClr val="002060"/>
              </a:solidFill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6" name="Shape 4"/>
          <p:cNvSpPr/>
          <p:nvPr/>
        </p:nvSpPr>
        <p:spPr>
          <a:xfrm>
            <a:off x="431800" y="891958"/>
            <a:ext cx="3074786" cy="27432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  <p:txBody>
          <a:bodyPr/>
          <a:lstStyle/>
          <a:p>
            <a:endParaRPr lang="ko-KR" altLang="en-US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7" name="Shape 5"/>
          <p:cNvSpPr/>
          <p:nvPr/>
        </p:nvSpPr>
        <p:spPr>
          <a:xfrm>
            <a:off x="3524874" y="891958"/>
            <a:ext cx="2103120" cy="27432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  <p:txBody>
          <a:bodyPr/>
          <a:lstStyle/>
          <a:p>
            <a:endParaRPr lang="ko-KR" altLang="en-US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8" name="Shape 6"/>
          <p:cNvSpPr/>
          <p:nvPr/>
        </p:nvSpPr>
        <p:spPr>
          <a:xfrm>
            <a:off x="5646282" y="891958"/>
            <a:ext cx="2103120" cy="27432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  <p:txBody>
          <a:bodyPr/>
          <a:lstStyle/>
          <a:p>
            <a:endParaRPr lang="ko-KR" altLang="en-US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9" name="Shape 7"/>
          <p:cNvSpPr/>
          <p:nvPr/>
        </p:nvSpPr>
        <p:spPr>
          <a:xfrm>
            <a:off x="7774617" y="891958"/>
            <a:ext cx="907998" cy="27432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  <p:txBody>
          <a:bodyPr/>
          <a:lstStyle/>
          <a:p>
            <a:endParaRPr lang="ko-KR" altLang="en-US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10" name="Text 8"/>
          <p:cNvSpPr/>
          <p:nvPr/>
        </p:nvSpPr>
        <p:spPr>
          <a:xfrm>
            <a:off x="337982" y="891958"/>
            <a:ext cx="341105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업무 모듈</a:t>
            </a:r>
            <a:endParaRPr lang="en-US" sz="900" dirty="0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11" name="Text 9"/>
          <p:cNvSpPr/>
          <p:nvPr/>
        </p:nvSpPr>
        <p:spPr>
          <a:xfrm>
            <a:off x="3524874" y="891958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1차 공사테스트(%)</a:t>
            </a:r>
            <a:endParaRPr lang="en-US" sz="900" dirty="0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12" name="Text 10"/>
          <p:cNvSpPr/>
          <p:nvPr/>
        </p:nvSpPr>
        <p:spPr>
          <a:xfrm>
            <a:off x="5646282" y="891958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2차 공사테스트(%)</a:t>
            </a:r>
            <a:endParaRPr lang="en-US" sz="900" dirty="0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13" name="Text 11"/>
          <p:cNvSpPr/>
          <p:nvPr/>
        </p:nvSpPr>
        <p:spPr>
          <a:xfrm>
            <a:off x="7767690" y="891958"/>
            <a:ext cx="8595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위험도</a:t>
            </a:r>
            <a:endParaRPr lang="en-US" sz="900" dirty="0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14" name="Shape 12"/>
          <p:cNvSpPr/>
          <p:nvPr/>
        </p:nvSpPr>
        <p:spPr>
          <a:xfrm>
            <a:off x="431800" y="1184566"/>
            <a:ext cx="8243888" cy="265176"/>
          </a:xfrm>
          <a:prstGeom prst="rect">
            <a:avLst/>
          </a:prstGeom>
          <a:solidFill>
            <a:srgbClr val="FFFFFF"/>
          </a:solidFill>
          <a:ln w="12700">
            <a:solidFill>
              <a:srgbClr val="D1D9E6"/>
            </a:solidFill>
            <a:prstDash val="solid"/>
          </a:ln>
        </p:spPr>
        <p:txBody>
          <a:bodyPr/>
          <a:lstStyle/>
          <a:p>
            <a:endParaRPr lang="ko-KR" altLang="en-US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15" name="Text 13"/>
          <p:cNvSpPr/>
          <p:nvPr/>
        </p:nvSpPr>
        <p:spPr>
          <a:xfrm>
            <a:off x="582999" y="1184566"/>
            <a:ext cx="1827692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1B3A6B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공통관리(AOMS-CA)</a:t>
            </a:r>
            <a:endParaRPr lang="en-US" sz="900" dirty="0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16" name="Shape 14"/>
          <p:cNvSpPr/>
          <p:nvPr/>
        </p:nvSpPr>
        <p:spPr>
          <a:xfrm>
            <a:off x="3524874" y="1221142"/>
            <a:ext cx="2103120" cy="201168"/>
          </a:xfrm>
          <a:prstGeom prst="rect">
            <a:avLst/>
          </a:prstGeom>
          <a:solidFill>
            <a:srgbClr val="FEF2F2"/>
          </a:solidFill>
          <a:ln w="12700">
            <a:solidFill>
              <a:srgbClr val="DC2626"/>
            </a:solidFill>
            <a:prstDash val="solid"/>
          </a:ln>
        </p:spPr>
        <p:txBody>
          <a:bodyPr/>
          <a:lstStyle/>
          <a:p>
            <a:endParaRPr lang="ko-KR" altLang="en-US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17" name="Text 15"/>
          <p:cNvSpPr/>
          <p:nvPr/>
        </p:nvSpPr>
        <p:spPr>
          <a:xfrm>
            <a:off x="3524874" y="1184566"/>
            <a:ext cx="21031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DC2626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124.6%</a:t>
            </a:r>
            <a:endParaRPr lang="en-US" sz="950" dirty="0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18" name="Shape 16"/>
          <p:cNvSpPr/>
          <p:nvPr/>
        </p:nvSpPr>
        <p:spPr>
          <a:xfrm>
            <a:off x="5646282" y="1221142"/>
            <a:ext cx="2103120" cy="201168"/>
          </a:xfrm>
          <a:prstGeom prst="rect">
            <a:avLst/>
          </a:prstGeom>
          <a:solidFill>
            <a:srgbClr val="FEF2F2"/>
          </a:solidFill>
          <a:ln w="12700">
            <a:solidFill>
              <a:srgbClr val="D97706"/>
            </a:solidFill>
            <a:prstDash val="solid"/>
          </a:ln>
        </p:spPr>
        <p:txBody>
          <a:bodyPr/>
          <a:lstStyle/>
          <a:p>
            <a:endParaRPr lang="ko-KR" altLang="en-US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19" name="Text 17"/>
          <p:cNvSpPr/>
          <p:nvPr/>
        </p:nvSpPr>
        <p:spPr>
          <a:xfrm>
            <a:off x="5646282" y="1184566"/>
            <a:ext cx="21031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D97706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49.4%</a:t>
            </a:r>
            <a:endParaRPr lang="en-US" sz="950" dirty="0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20" name="Shape 18"/>
          <p:cNvSpPr/>
          <p:nvPr/>
        </p:nvSpPr>
        <p:spPr>
          <a:xfrm>
            <a:off x="7822554" y="1221142"/>
            <a:ext cx="768096" cy="201168"/>
          </a:xfrm>
          <a:prstGeom prst="roundRect">
            <a:avLst>
              <a:gd name="adj" fmla="val 54545"/>
            </a:avLst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  <p:txBody>
          <a:bodyPr/>
          <a:lstStyle/>
          <a:p>
            <a:endParaRPr lang="ko-KR" altLang="en-US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21" name="Text 19"/>
          <p:cNvSpPr/>
          <p:nvPr/>
        </p:nvSpPr>
        <p:spPr>
          <a:xfrm>
            <a:off x="7822554" y="1221142"/>
            <a:ext cx="7680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위험</a:t>
            </a:r>
            <a:endParaRPr lang="en-US" sz="900" dirty="0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22" name="Shape 20"/>
          <p:cNvSpPr/>
          <p:nvPr/>
        </p:nvSpPr>
        <p:spPr>
          <a:xfrm>
            <a:off x="431800" y="1468030"/>
            <a:ext cx="8243888" cy="265176"/>
          </a:xfrm>
          <a:prstGeom prst="rect">
            <a:avLst/>
          </a:prstGeom>
          <a:solidFill>
            <a:srgbClr val="F4F7FB"/>
          </a:solidFill>
          <a:ln w="12700">
            <a:solidFill>
              <a:srgbClr val="D1D9E6"/>
            </a:solidFill>
            <a:prstDash val="solid"/>
          </a:ln>
        </p:spPr>
        <p:txBody>
          <a:bodyPr/>
          <a:lstStyle/>
          <a:p>
            <a:endParaRPr lang="ko-KR" altLang="en-US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23" name="Text 21"/>
          <p:cNvSpPr/>
          <p:nvPr/>
        </p:nvSpPr>
        <p:spPr>
          <a:xfrm>
            <a:off x="582999" y="1468030"/>
            <a:ext cx="1827692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1B3A6B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항공보안(FS)</a:t>
            </a:r>
            <a:endParaRPr lang="en-US" sz="900" dirty="0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24" name="Shape 22"/>
          <p:cNvSpPr/>
          <p:nvPr/>
        </p:nvSpPr>
        <p:spPr>
          <a:xfrm>
            <a:off x="3524874" y="1504606"/>
            <a:ext cx="2103120" cy="201168"/>
          </a:xfrm>
          <a:prstGeom prst="rect">
            <a:avLst/>
          </a:prstGeom>
          <a:solidFill>
            <a:srgbClr val="FEF2F2"/>
          </a:solidFill>
          <a:ln w="12700">
            <a:solidFill>
              <a:srgbClr val="DC2626"/>
            </a:solidFill>
            <a:prstDash val="solid"/>
          </a:ln>
        </p:spPr>
        <p:txBody>
          <a:bodyPr/>
          <a:lstStyle/>
          <a:p>
            <a:endParaRPr lang="ko-KR" altLang="en-US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25" name="Text 23"/>
          <p:cNvSpPr/>
          <p:nvPr/>
        </p:nvSpPr>
        <p:spPr>
          <a:xfrm>
            <a:off x="3524874" y="1468030"/>
            <a:ext cx="21031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DC2626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95.7%</a:t>
            </a:r>
            <a:endParaRPr lang="en-US" sz="950" dirty="0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26" name="Shape 24"/>
          <p:cNvSpPr/>
          <p:nvPr/>
        </p:nvSpPr>
        <p:spPr>
          <a:xfrm>
            <a:off x="5646282" y="1504606"/>
            <a:ext cx="2103120" cy="201168"/>
          </a:xfrm>
          <a:prstGeom prst="rect">
            <a:avLst/>
          </a:prstGeom>
          <a:solidFill>
            <a:srgbClr val="FEF2F2"/>
          </a:solidFill>
          <a:ln w="12700">
            <a:solidFill>
              <a:srgbClr val="DC2626"/>
            </a:solidFill>
            <a:prstDash val="solid"/>
          </a:ln>
        </p:spPr>
        <p:txBody>
          <a:bodyPr/>
          <a:lstStyle/>
          <a:p>
            <a:endParaRPr lang="ko-KR" altLang="en-US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27" name="Text 25"/>
          <p:cNvSpPr/>
          <p:nvPr/>
        </p:nvSpPr>
        <p:spPr>
          <a:xfrm>
            <a:off x="5646282" y="1468030"/>
            <a:ext cx="21031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DC2626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70.6%</a:t>
            </a:r>
            <a:endParaRPr lang="en-US" sz="950" dirty="0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28" name="Shape 26"/>
          <p:cNvSpPr/>
          <p:nvPr/>
        </p:nvSpPr>
        <p:spPr>
          <a:xfrm>
            <a:off x="7822554" y="1504606"/>
            <a:ext cx="768096" cy="201168"/>
          </a:xfrm>
          <a:prstGeom prst="roundRect">
            <a:avLst>
              <a:gd name="adj" fmla="val 54545"/>
            </a:avLst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  <p:txBody>
          <a:bodyPr/>
          <a:lstStyle/>
          <a:p>
            <a:endParaRPr lang="ko-KR" altLang="en-US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29" name="Text 27"/>
          <p:cNvSpPr/>
          <p:nvPr/>
        </p:nvSpPr>
        <p:spPr>
          <a:xfrm>
            <a:off x="7822554" y="1504606"/>
            <a:ext cx="7680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위험</a:t>
            </a:r>
            <a:endParaRPr lang="en-US" sz="900" dirty="0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30" name="Shape 28"/>
          <p:cNvSpPr/>
          <p:nvPr/>
        </p:nvSpPr>
        <p:spPr>
          <a:xfrm>
            <a:off x="431800" y="1751494"/>
            <a:ext cx="8243888" cy="265176"/>
          </a:xfrm>
          <a:prstGeom prst="rect">
            <a:avLst/>
          </a:prstGeom>
          <a:solidFill>
            <a:srgbClr val="FFFFFF"/>
          </a:solidFill>
          <a:ln w="12700">
            <a:solidFill>
              <a:srgbClr val="D1D9E6"/>
            </a:solidFill>
            <a:prstDash val="solid"/>
          </a:ln>
        </p:spPr>
        <p:txBody>
          <a:bodyPr/>
          <a:lstStyle/>
          <a:p>
            <a:endParaRPr lang="ko-KR" altLang="en-US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31" name="Text 29"/>
          <p:cNvSpPr/>
          <p:nvPr/>
        </p:nvSpPr>
        <p:spPr>
          <a:xfrm>
            <a:off x="582999" y="1751494"/>
            <a:ext cx="1827692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1B3A6B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예측관리(PM)</a:t>
            </a:r>
            <a:endParaRPr lang="en-US" sz="900" dirty="0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32" name="Shape 30"/>
          <p:cNvSpPr/>
          <p:nvPr/>
        </p:nvSpPr>
        <p:spPr>
          <a:xfrm>
            <a:off x="3524874" y="1788070"/>
            <a:ext cx="2103120" cy="201168"/>
          </a:xfrm>
          <a:prstGeom prst="rect">
            <a:avLst/>
          </a:prstGeom>
          <a:solidFill>
            <a:srgbClr val="FEF2F2"/>
          </a:solidFill>
          <a:ln w="12700">
            <a:solidFill>
              <a:srgbClr val="DC2626"/>
            </a:solidFill>
            <a:prstDash val="solid"/>
          </a:ln>
        </p:spPr>
        <p:txBody>
          <a:bodyPr/>
          <a:lstStyle/>
          <a:p>
            <a:endParaRPr lang="ko-KR" altLang="en-US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33" name="Text 31"/>
          <p:cNvSpPr/>
          <p:nvPr/>
        </p:nvSpPr>
        <p:spPr>
          <a:xfrm>
            <a:off x="3524874" y="1751494"/>
            <a:ext cx="21031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DC2626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75.6%</a:t>
            </a:r>
            <a:endParaRPr lang="en-US" sz="950" dirty="0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34" name="Shape 32"/>
          <p:cNvSpPr/>
          <p:nvPr/>
        </p:nvSpPr>
        <p:spPr>
          <a:xfrm>
            <a:off x="5646282" y="1788070"/>
            <a:ext cx="2103120" cy="201168"/>
          </a:xfrm>
          <a:prstGeom prst="rect">
            <a:avLst/>
          </a:prstGeom>
          <a:solidFill>
            <a:srgbClr val="FEF2F2"/>
          </a:solidFill>
          <a:ln w="12700">
            <a:solidFill>
              <a:srgbClr val="9CA3AF"/>
            </a:solidFill>
            <a:prstDash val="solid"/>
          </a:ln>
        </p:spPr>
        <p:txBody>
          <a:bodyPr/>
          <a:lstStyle/>
          <a:p>
            <a:endParaRPr lang="ko-KR" altLang="en-US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35" name="Text 33"/>
          <p:cNvSpPr/>
          <p:nvPr/>
        </p:nvSpPr>
        <p:spPr>
          <a:xfrm>
            <a:off x="5646282" y="1751494"/>
            <a:ext cx="21031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9CA3AF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12.5%</a:t>
            </a:r>
            <a:endParaRPr lang="en-US" sz="950" dirty="0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36" name="Shape 34"/>
          <p:cNvSpPr/>
          <p:nvPr/>
        </p:nvSpPr>
        <p:spPr>
          <a:xfrm>
            <a:off x="7822554" y="1788070"/>
            <a:ext cx="768096" cy="201168"/>
          </a:xfrm>
          <a:prstGeom prst="roundRect">
            <a:avLst>
              <a:gd name="adj" fmla="val 54545"/>
            </a:avLst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  <p:txBody>
          <a:bodyPr/>
          <a:lstStyle/>
          <a:p>
            <a:endParaRPr lang="ko-KR" altLang="en-US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37" name="Text 35"/>
          <p:cNvSpPr/>
          <p:nvPr/>
        </p:nvSpPr>
        <p:spPr>
          <a:xfrm>
            <a:off x="7822554" y="1788070"/>
            <a:ext cx="7680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위험</a:t>
            </a:r>
            <a:endParaRPr lang="en-US" sz="900" dirty="0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38" name="Shape 36"/>
          <p:cNvSpPr/>
          <p:nvPr/>
        </p:nvSpPr>
        <p:spPr>
          <a:xfrm>
            <a:off x="431800" y="2034958"/>
            <a:ext cx="8243888" cy="265176"/>
          </a:xfrm>
          <a:prstGeom prst="rect">
            <a:avLst/>
          </a:prstGeom>
          <a:solidFill>
            <a:srgbClr val="F4F7FB"/>
          </a:solidFill>
          <a:ln w="12700">
            <a:solidFill>
              <a:srgbClr val="D1D9E6"/>
            </a:solidFill>
            <a:prstDash val="solid"/>
          </a:ln>
        </p:spPr>
        <p:txBody>
          <a:bodyPr/>
          <a:lstStyle/>
          <a:p>
            <a:endParaRPr lang="ko-KR" altLang="en-US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39" name="Text 37"/>
          <p:cNvSpPr/>
          <p:nvPr/>
        </p:nvSpPr>
        <p:spPr>
          <a:xfrm>
            <a:off x="582999" y="2034958"/>
            <a:ext cx="1827692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1B3A6B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공통관리(FIMS-CA)</a:t>
            </a:r>
            <a:endParaRPr lang="en-US" sz="900" dirty="0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40" name="Shape 38"/>
          <p:cNvSpPr/>
          <p:nvPr/>
        </p:nvSpPr>
        <p:spPr>
          <a:xfrm>
            <a:off x="3524874" y="2071534"/>
            <a:ext cx="2103120" cy="201168"/>
          </a:xfrm>
          <a:prstGeom prst="rect">
            <a:avLst/>
          </a:prstGeom>
          <a:solidFill>
            <a:srgbClr val="FEF2F2"/>
          </a:solidFill>
          <a:ln w="12700">
            <a:solidFill>
              <a:srgbClr val="DC2626"/>
            </a:solidFill>
            <a:prstDash val="solid"/>
          </a:ln>
        </p:spPr>
        <p:txBody>
          <a:bodyPr/>
          <a:lstStyle/>
          <a:p>
            <a:endParaRPr lang="ko-KR" altLang="en-US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41" name="Text 39"/>
          <p:cNvSpPr/>
          <p:nvPr/>
        </p:nvSpPr>
        <p:spPr>
          <a:xfrm>
            <a:off x="3524874" y="2034958"/>
            <a:ext cx="21031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DC2626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80%</a:t>
            </a:r>
            <a:endParaRPr lang="en-US" sz="950" dirty="0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42" name="Shape 40"/>
          <p:cNvSpPr/>
          <p:nvPr/>
        </p:nvSpPr>
        <p:spPr>
          <a:xfrm>
            <a:off x="5646282" y="2071534"/>
            <a:ext cx="2103120" cy="201168"/>
          </a:xfrm>
          <a:prstGeom prst="rect">
            <a:avLst/>
          </a:prstGeom>
          <a:solidFill>
            <a:srgbClr val="FEF2F2"/>
          </a:solidFill>
          <a:ln w="12700">
            <a:solidFill>
              <a:srgbClr val="D97706"/>
            </a:solidFill>
            <a:prstDash val="solid"/>
          </a:ln>
        </p:spPr>
        <p:txBody>
          <a:bodyPr/>
          <a:lstStyle/>
          <a:p>
            <a:endParaRPr lang="ko-KR" altLang="en-US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43" name="Text 41"/>
          <p:cNvSpPr/>
          <p:nvPr/>
        </p:nvSpPr>
        <p:spPr>
          <a:xfrm>
            <a:off x="5646282" y="2034958"/>
            <a:ext cx="21031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D97706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42.6%</a:t>
            </a:r>
            <a:endParaRPr lang="en-US" sz="950" dirty="0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44" name="Shape 42"/>
          <p:cNvSpPr/>
          <p:nvPr/>
        </p:nvSpPr>
        <p:spPr>
          <a:xfrm>
            <a:off x="7822554" y="2071534"/>
            <a:ext cx="768096" cy="201168"/>
          </a:xfrm>
          <a:prstGeom prst="roundRect">
            <a:avLst>
              <a:gd name="adj" fmla="val 54545"/>
            </a:avLst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  <p:txBody>
          <a:bodyPr/>
          <a:lstStyle/>
          <a:p>
            <a:endParaRPr lang="ko-KR" altLang="en-US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45" name="Text 43"/>
          <p:cNvSpPr/>
          <p:nvPr/>
        </p:nvSpPr>
        <p:spPr>
          <a:xfrm>
            <a:off x="7822554" y="2071534"/>
            <a:ext cx="7680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위험</a:t>
            </a:r>
            <a:endParaRPr lang="en-US" sz="900" dirty="0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46" name="Shape 44"/>
          <p:cNvSpPr/>
          <p:nvPr/>
        </p:nvSpPr>
        <p:spPr>
          <a:xfrm>
            <a:off x="431800" y="2318422"/>
            <a:ext cx="8243888" cy="265176"/>
          </a:xfrm>
          <a:prstGeom prst="rect">
            <a:avLst/>
          </a:prstGeom>
          <a:solidFill>
            <a:srgbClr val="FFFFFF"/>
          </a:solidFill>
          <a:ln w="12700">
            <a:solidFill>
              <a:srgbClr val="D1D9E6"/>
            </a:solidFill>
            <a:prstDash val="solid"/>
          </a:ln>
        </p:spPr>
        <p:txBody>
          <a:bodyPr/>
          <a:lstStyle/>
          <a:p>
            <a:endParaRPr lang="ko-KR" altLang="en-US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47" name="Text 45"/>
          <p:cNvSpPr/>
          <p:nvPr/>
        </p:nvSpPr>
        <p:spPr>
          <a:xfrm>
            <a:off x="582999" y="2318422"/>
            <a:ext cx="1827692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1B3A6B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공항운영(GO)</a:t>
            </a:r>
            <a:endParaRPr lang="en-US" sz="900" dirty="0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48" name="Shape 46"/>
          <p:cNvSpPr/>
          <p:nvPr/>
        </p:nvSpPr>
        <p:spPr>
          <a:xfrm>
            <a:off x="3524874" y="2354998"/>
            <a:ext cx="2103120" cy="201168"/>
          </a:xfrm>
          <a:prstGeom prst="rect">
            <a:avLst/>
          </a:prstGeom>
          <a:solidFill>
            <a:srgbClr val="FEF2F2"/>
          </a:solidFill>
          <a:ln w="12700">
            <a:solidFill>
              <a:srgbClr val="D97706"/>
            </a:solidFill>
            <a:prstDash val="solid"/>
          </a:ln>
        </p:spPr>
        <p:txBody>
          <a:bodyPr/>
          <a:lstStyle/>
          <a:p>
            <a:endParaRPr lang="ko-KR" altLang="en-US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49" name="Text 47"/>
          <p:cNvSpPr/>
          <p:nvPr/>
        </p:nvSpPr>
        <p:spPr>
          <a:xfrm>
            <a:off x="3524874" y="2318422"/>
            <a:ext cx="21031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D97706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61.1%</a:t>
            </a:r>
            <a:endParaRPr lang="en-US" sz="950" dirty="0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50" name="Shape 48"/>
          <p:cNvSpPr/>
          <p:nvPr/>
        </p:nvSpPr>
        <p:spPr>
          <a:xfrm>
            <a:off x="5646282" y="2354998"/>
            <a:ext cx="2103120" cy="201168"/>
          </a:xfrm>
          <a:prstGeom prst="rect">
            <a:avLst/>
          </a:prstGeom>
          <a:solidFill>
            <a:srgbClr val="FEF2F2"/>
          </a:solidFill>
          <a:ln w="12700">
            <a:solidFill>
              <a:srgbClr val="84CC16"/>
            </a:solidFill>
            <a:prstDash val="solid"/>
          </a:ln>
        </p:spPr>
        <p:txBody>
          <a:bodyPr/>
          <a:lstStyle/>
          <a:p>
            <a:endParaRPr lang="ko-KR" altLang="en-US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51" name="Text 49"/>
          <p:cNvSpPr/>
          <p:nvPr/>
        </p:nvSpPr>
        <p:spPr>
          <a:xfrm>
            <a:off x="5646282" y="2318422"/>
            <a:ext cx="21031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9CA3AF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33.9%</a:t>
            </a:r>
            <a:endParaRPr lang="en-US" sz="950" dirty="0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52" name="Shape 50"/>
          <p:cNvSpPr/>
          <p:nvPr/>
        </p:nvSpPr>
        <p:spPr>
          <a:xfrm>
            <a:off x="7822554" y="2354998"/>
            <a:ext cx="768096" cy="201168"/>
          </a:xfrm>
          <a:prstGeom prst="roundRect">
            <a:avLst>
              <a:gd name="adj" fmla="val 54545"/>
            </a:avLst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  <p:txBody>
          <a:bodyPr/>
          <a:lstStyle/>
          <a:p>
            <a:endParaRPr lang="ko-KR" altLang="en-US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53" name="Text 51"/>
          <p:cNvSpPr/>
          <p:nvPr/>
        </p:nvSpPr>
        <p:spPr>
          <a:xfrm>
            <a:off x="7822554" y="2354998"/>
            <a:ext cx="7680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주의</a:t>
            </a:r>
            <a:endParaRPr lang="en-US" sz="900" dirty="0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54" name="Shape 52"/>
          <p:cNvSpPr/>
          <p:nvPr/>
        </p:nvSpPr>
        <p:spPr>
          <a:xfrm>
            <a:off x="431800" y="2601886"/>
            <a:ext cx="8243888" cy="265176"/>
          </a:xfrm>
          <a:prstGeom prst="rect">
            <a:avLst/>
          </a:prstGeom>
          <a:solidFill>
            <a:srgbClr val="F4F7FB"/>
          </a:solidFill>
          <a:ln w="12700">
            <a:solidFill>
              <a:srgbClr val="D1D9E6"/>
            </a:solidFill>
            <a:prstDash val="solid"/>
          </a:ln>
        </p:spPr>
        <p:txBody>
          <a:bodyPr/>
          <a:lstStyle/>
          <a:p>
            <a:endParaRPr lang="ko-KR" altLang="en-US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55" name="Text 53"/>
          <p:cNvSpPr/>
          <p:nvPr/>
        </p:nvSpPr>
        <p:spPr>
          <a:xfrm>
            <a:off x="582999" y="2601886"/>
            <a:ext cx="1827692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1B3A6B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운항계획(FP)</a:t>
            </a:r>
            <a:endParaRPr lang="en-US" sz="900" dirty="0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56" name="Shape 54"/>
          <p:cNvSpPr/>
          <p:nvPr/>
        </p:nvSpPr>
        <p:spPr>
          <a:xfrm>
            <a:off x="3524874" y="2638462"/>
            <a:ext cx="2103120" cy="201168"/>
          </a:xfrm>
          <a:prstGeom prst="rect">
            <a:avLst/>
          </a:prstGeom>
          <a:solidFill>
            <a:srgbClr val="FEF2F2"/>
          </a:solidFill>
          <a:ln w="12700">
            <a:solidFill>
              <a:srgbClr val="D97706"/>
            </a:solidFill>
            <a:prstDash val="solid"/>
          </a:ln>
        </p:spPr>
        <p:txBody>
          <a:bodyPr/>
          <a:lstStyle/>
          <a:p>
            <a:endParaRPr lang="ko-KR" altLang="en-US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57" name="Text 55"/>
          <p:cNvSpPr/>
          <p:nvPr/>
        </p:nvSpPr>
        <p:spPr>
          <a:xfrm>
            <a:off x="3524874" y="2601886"/>
            <a:ext cx="21031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D97706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67.5%</a:t>
            </a:r>
            <a:endParaRPr lang="en-US" sz="950" dirty="0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58" name="Shape 56"/>
          <p:cNvSpPr/>
          <p:nvPr/>
        </p:nvSpPr>
        <p:spPr>
          <a:xfrm>
            <a:off x="5646282" y="2638462"/>
            <a:ext cx="2103120" cy="201168"/>
          </a:xfrm>
          <a:prstGeom prst="rect">
            <a:avLst/>
          </a:prstGeom>
          <a:solidFill>
            <a:srgbClr val="FEF2F2"/>
          </a:solidFill>
          <a:ln w="12700">
            <a:solidFill>
              <a:srgbClr val="84CC16"/>
            </a:solidFill>
            <a:prstDash val="solid"/>
          </a:ln>
        </p:spPr>
        <p:txBody>
          <a:bodyPr/>
          <a:lstStyle/>
          <a:p>
            <a:endParaRPr lang="ko-KR" altLang="en-US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59" name="Text 57"/>
          <p:cNvSpPr/>
          <p:nvPr/>
        </p:nvSpPr>
        <p:spPr>
          <a:xfrm>
            <a:off x="5646282" y="2601886"/>
            <a:ext cx="21031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9CA3AF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24.8%</a:t>
            </a:r>
            <a:endParaRPr lang="en-US" sz="950" dirty="0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60" name="Shape 58"/>
          <p:cNvSpPr/>
          <p:nvPr/>
        </p:nvSpPr>
        <p:spPr>
          <a:xfrm>
            <a:off x="7822554" y="2638462"/>
            <a:ext cx="768096" cy="201168"/>
          </a:xfrm>
          <a:prstGeom prst="roundRect">
            <a:avLst>
              <a:gd name="adj" fmla="val 54545"/>
            </a:avLst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  <p:txBody>
          <a:bodyPr/>
          <a:lstStyle/>
          <a:p>
            <a:endParaRPr lang="ko-KR" altLang="en-US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61" name="Text 59"/>
          <p:cNvSpPr/>
          <p:nvPr/>
        </p:nvSpPr>
        <p:spPr>
          <a:xfrm>
            <a:off x="7822554" y="2638462"/>
            <a:ext cx="7680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주의</a:t>
            </a:r>
            <a:endParaRPr lang="en-US" sz="900" dirty="0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62" name="Shape 60"/>
          <p:cNvSpPr/>
          <p:nvPr/>
        </p:nvSpPr>
        <p:spPr>
          <a:xfrm>
            <a:off x="431800" y="2885350"/>
            <a:ext cx="8243888" cy="265176"/>
          </a:xfrm>
          <a:prstGeom prst="rect">
            <a:avLst/>
          </a:prstGeom>
          <a:solidFill>
            <a:srgbClr val="FFFFFF"/>
          </a:solidFill>
          <a:ln w="12700">
            <a:solidFill>
              <a:srgbClr val="D1D9E6"/>
            </a:solidFill>
            <a:prstDash val="solid"/>
          </a:ln>
        </p:spPr>
        <p:txBody>
          <a:bodyPr/>
          <a:lstStyle/>
          <a:p>
            <a:endParaRPr lang="ko-KR" altLang="en-US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63" name="Text 61"/>
          <p:cNvSpPr/>
          <p:nvPr/>
        </p:nvSpPr>
        <p:spPr>
          <a:xfrm>
            <a:off x="582999" y="2885350"/>
            <a:ext cx="1827692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1B3A6B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자원배정(RS)</a:t>
            </a:r>
            <a:endParaRPr lang="en-US" sz="900" dirty="0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64" name="Shape 62"/>
          <p:cNvSpPr/>
          <p:nvPr/>
        </p:nvSpPr>
        <p:spPr>
          <a:xfrm>
            <a:off x="3524874" y="2921926"/>
            <a:ext cx="2103120" cy="201168"/>
          </a:xfrm>
          <a:prstGeom prst="rect">
            <a:avLst/>
          </a:prstGeom>
          <a:solidFill>
            <a:srgbClr val="FEF2F2"/>
          </a:solidFill>
          <a:ln w="12700">
            <a:solidFill>
              <a:srgbClr val="D97706"/>
            </a:solidFill>
            <a:prstDash val="solid"/>
          </a:ln>
        </p:spPr>
        <p:txBody>
          <a:bodyPr/>
          <a:lstStyle/>
          <a:p>
            <a:endParaRPr lang="ko-KR" altLang="en-US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65" name="Text 63"/>
          <p:cNvSpPr/>
          <p:nvPr/>
        </p:nvSpPr>
        <p:spPr>
          <a:xfrm>
            <a:off x="3524874" y="2885350"/>
            <a:ext cx="21031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D97706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53%</a:t>
            </a:r>
            <a:endParaRPr lang="en-US" sz="950" dirty="0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66" name="Shape 64"/>
          <p:cNvSpPr/>
          <p:nvPr/>
        </p:nvSpPr>
        <p:spPr>
          <a:xfrm>
            <a:off x="5646282" y="2921926"/>
            <a:ext cx="2103120" cy="201168"/>
          </a:xfrm>
          <a:prstGeom prst="rect">
            <a:avLst/>
          </a:prstGeom>
          <a:solidFill>
            <a:srgbClr val="FEF2F2"/>
          </a:solidFill>
          <a:ln w="12700">
            <a:solidFill>
              <a:srgbClr val="84CC16"/>
            </a:solidFill>
            <a:prstDash val="solid"/>
          </a:ln>
        </p:spPr>
        <p:txBody>
          <a:bodyPr/>
          <a:lstStyle/>
          <a:p>
            <a:endParaRPr lang="ko-KR" altLang="en-US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67" name="Text 65"/>
          <p:cNvSpPr/>
          <p:nvPr/>
        </p:nvSpPr>
        <p:spPr>
          <a:xfrm>
            <a:off x="5646282" y="2885350"/>
            <a:ext cx="21031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9CA3AF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22.3%</a:t>
            </a:r>
            <a:endParaRPr lang="en-US" sz="950" dirty="0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68" name="Shape 66"/>
          <p:cNvSpPr/>
          <p:nvPr/>
        </p:nvSpPr>
        <p:spPr>
          <a:xfrm>
            <a:off x="7822554" y="2921926"/>
            <a:ext cx="768096" cy="201168"/>
          </a:xfrm>
          <a:prstGeom prst="roundRect">
            <a:avLst>
              <a:gd name="adj" fmla="val 54545"/>
            </a:avLst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  <p:txBody>
          <a:bodyPr/>
          <a:lstStyle/>
          <a:p>
            <a:endParaRPr lang="ko-KR" altLang="en-US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69" name="Text 67"/>
          <p:cNvSpPr/>
          <p:nvPr/>
        </p:nvSpPr>
        <p:spPr>
          <a:xfrm>
            <a:off x="7822554" y="2921926"/>
            <a:ext cx="7680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주의</a:t>
            </a:r>
            <a:endParaRPr lang="en-US" sz="900" dirty="0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70" name="Shape 68"/>
          <p:cNvSpPr/>
          <p:nvPr/>
        </p:nvSpPr>
        <p:spPr>
          <a:xfrm>
            <a:off x="431800" y="3168814"/>
            <a:ext cx="8243888" cy="265176"/>
          </a:xfrm>
          <a:prstGeom prst="rect">
            <a:avLst/>
          </a:prstGeom>
          <a:solidFill>
            <a:srgbClr val="F4F7FB"/>
          </a:solidFill>
          <a:ln w="12700">
            <a:solidFill>
              <a:srgbClr val="D1D9E6"/>
            </a:solidFill>
            <a:prstDash val="solid"/>
          </a:ln>
        </p:spPr>
        <p:txBody>
          <a:bodyPr/>
          <a:lstStyle/>
          <a:p>
            <a:endParaRPr lang="ko-KR" altLang="en-US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71" name="Text 69"/>
          <p:cNvSpPr/>
          <p:nvPr/>
        </p:nvSpPr>
        <p:spPr>
          <a:xfrm>
            <a:off x="582999" y="3168814"/>
            <a:ext cx="1827692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1B3A6B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자원배정차트(RC)</a:t>
            </a:r>
            <a:endParaRPr lang="en-US" sz="900" dirty="0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72" name="Shape 70"/>
          <p:cNvSpPr/>
          <p:nvPr/>
        </p:nvSpPr>
        <p:spPr>
          <a:xfrm>
            <a:off x="3524874" y="3205390"/>
            <a:ext cx="2103120" cy="201168"/>
          </a:xfrm>
          <a:prstGeom prst="rect">
            <a:avLst/>
          </a:prstGeom>
          <a:solidFill>
            <a:srgbClr val="FEF2F2"/>
          </a:solidFill>
          <a:ln w="12700">
            <a:solidFill>
              <a:srgbClr val="D97706"/>
            </a:solidFill>
            <a:prstDash val="solid"/>
          </a:ln>
        </p:spPr>
        <p:txBody>
          <a:bodyPr/>
          <a:lstStyle/>
          <a:p>
            <a:endParaRPr lang="ko-KR" altLang="en-US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73" name="Text 71"/>
          <p:cNvSpPr/>
          <p:nvPr/>
        </p:nvSpPr>
        <p:spPr>
          <a:xfrm>
            <a:off x="3524874" y="3168814"/>
            <a:ext cx="21031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D97706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60.9%</a:t>
            </a:r>
            <a:endParaRPr lang="en-US" sz="950" dirty="0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74" name="Shape 72"/>
          <p:cNvSpPr/>
          <p:nvPr/>
        </p:nvSpPr>
        <p:spPr>
          <a:xfrm>
            <a:off x="5646282" y="3205390"/>
            <a:ext cx="2103120" cy="201168"/>
          </a:xfrm>
          <a:prstGeom prst="rect">
            <a:avLst/>
          </a:prstGeom>
          <a:solidFill>
            <a:srgbClr val="FEF2F2"/>
          </a:solidFill>
          <a:ln w="12700">
            <a:solidFill>
              <a:srgbClr val="D97706"/>
            </a:solidFill>
            <a:prstDash val="solid"/>
          </a:ln>
        </p:spPr>
        <p:txBody>
          <a:bodyPr/>
          <a:lstStyle/>
          <a:p>
            <a:endParaRPr lang="ko-KR" altLang="en-US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75" name="Text 73"/>
          <p:cNvSpPr/>
          <p:nvPr/>
        </p:nvSpPr>
        <p:spPr>
          <a:xfrm>
            <a:off x="5646282" y="3168814"/>
            <a:ext cx="21031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D97706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67.6%</a:t>
            </a:r>
            <a:endParaRPr lang="en-US" sz="950" dirty="0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76" name="Shape 74"/>
          <p:cNvSpPr/>
          <p:nvPr/>
        </p:nvSpPr>
        <p:spPr>
          <a:xfrm>
            <a:off x="7822554" y="3205390"/>
            <a:ext cx="768096" cy="201168"/>
          </a:xfrm>
          <a:prstGeom prst="roundRect">
            <a:avLst>
              <a:gd name="adj" fmla="val 54545"/>
            </a:avLst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  <p:txBody>
          <a:bodyPr/>
          <a:lstStyle/>
          <a:p>
            <a:endParaRPr lang="ko-KR" altLang="en-US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77" name="Text 75"/>
          <p:cNvSpPr/>
          <p:nvPr/>
        </p:nvSpPr>
        <p:spPr>
          <a:xfrm>
            <a:off x="7822554" y="3205390"/>
            <a:ext cx="7680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주의</a:t>
            </a:r>
            <a:endParaRPr lang="en-US" sz="900" dirty="0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78" name="Shape 76"/>
          <p:cNvSpPr/>
          <p:nvPr/>
        </p:nvSpPr>
        <p:spPr>
          <a:xfrm>
            <a:off x="431800" y="3452278"/>
            <a:ext cx="8243888" cy="265176"/>
          </a:xfrm>
          <a:prstGeom prst="rect">
            <a:avLst/>
          </a:prstGeom>
          <a:solidFill>
            <a:srgbClr val="FFFFFF"/>
          </a:solidFill>
          <a:ln w="12700">
            <a:solidFill>
              <a:srgbClr val="D1D9E6"/>
            </a:solidFill>
            <a:prstDash val="solid"/>
          </a:ln>
        </p:spPr>
        <p:txBody>
          <a:bodyPr/>
          <a:lstStyle/>
          <a:p>
            <a:endParaRPr lang="ko-KR" altLang="en-US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79" name="Text 77"/>
          <p:cNvSpPr/>
          <p:nvPr/>
        </p:nvSpPr>
        <p:spPr>
          <a:xfrm>
            <a:off x="582999" y="3452278"/>
            <a:ext cx="1827692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1B3A6B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A-CDM(CM)</a:t>
            </a:r>
            <a:endParaRPr lang="en-US" sz="900" dirty="0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80" name="Shape 78"/>
          <p:cNvSpPr/>
          <p:nvPr/>
        </p:nvSpPr>
        <p:spPr>
          <a:xfrm>
            <a:off x="3524874" y="3488854"/>
            <a:ext cx="2103120" cy="201168"/>
          </a:xfrm>
          <a:prstGeom prst="rect">
            <a:avLst/>
          </a:prstGeom>
          <a:solidFill>
            <a:srgbClr val="FEF2F2"/>
          </a:solidFill>
          <a:ln w="12700">
            <a:solidFill>
              <a:srgbClr val="9CA3AF"/>
            </a:solidFill>
            <a:prstDash val="solid"/>
          </a:ln>
        </p:spPr>
        <p:txBody>
          <a:bodyPr/>
          <a:lstStyle/>
          <a:p>
            <a:endParaRPr lang="ko-KR" altLang="en-US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81" name="Text 79"/>
          <p:cNvSpPr/>
          <p:nvPr/>
        </p:nvSpPr>
        <p:spPr>
          <a:xfrm>
            <a:off x="3524874" y="3452278"/>
            <a:ext cx="21031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9CA3AF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9.8%</a:t>
            </a:r>
            <a:endParaRPr lang="en-US" sz="950" dirty="0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82" name="Shape 80"/>
          <p:cNvSpPr/>
          <p:nvPr/>
        </p:nvSpPr>
        <p:spPr>
          <a:xfrm>
            <a:off x="5646282" y="3488854"/>
            <a:ext cx="2103120" cy="201168"/>
          </a:xfrm>
          <a:prstGeom prst="rect">
            <a:avLst/>
          </a:prstGeom>
          <a:solidFill>
            <a:srgbClr val="FEF2F2"/>
          </a:solidFill>
          <a:ln w="12700">
            <a:solidFill>
              <a:srgbClr val="9CA3AF"/>
            </a:solidFill>
            <a:prstDash val="solid"/>
          </a:ln>
        </p:spPr>
        <p:txBody>
          <a:bodyPr/>
          <a:lstStyle/>
          <a:p>
            <a:endParaRPr lang="ko-KR" altLang="en-US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83" name="Text 81"/>
          <p:cNvSpPr/>
          <p:nvPr/>
        </p:nvSpPr>
        <p:spPr>
          <a:xfrm>
            <a:off x="5646282" y="3452278"/>
            <a:ext cx="21031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9CA3AF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17.7%</a:t>
            </a:r>
            <a:endParaRPr lang="en-US" sz="950" dirty="0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84" name="Shape 82"/>
          <p:cNvSpPr/>
          <p:nvPr/>
        </p:nvSpPr>
        <p:spPr>
          <a:xfrm>
            <a:off x="7822554" y="3488854"/>
            <a:ext cx="768096" cy="201168"/>
          </a:xfrm>
          <a:prstGeom prst="roundRect">
            <a:avLst>
              <a:gd name="adj" fmla="val 54545"/>
            </a:avLst>
          </a:prstGeom>
          <a:solidFill>
            <a:srgbClr val="9CA3AF"/>
          </a:solidFill>
          <a:ln w="12700">
            <a:solidFill>
              <a:srgbClr val="9CA3AF"/>
            </a:solidFill>
            <a:prstDash val="solid"/>
          </a:ln>
        </p:spPr>
        <p:txBody>
          <a:bodyPr/>
          <a:lstStyle/>
          <a:p>
            <a:endParaRPr lang="ko-KR" altLang="en-US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85" name="Text 83"/>
          <p:cNvSpPr/>
          <p:nvPr/>
        </p:nvSpPr>
        <p:spPr>
          <a:xfrm>
            <a:off x="7822554" y="3488854"/>
            <a:ext cx="7680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정상</a:t>
            </a:r>
            <a:endParaRPr lang="en-US" sz="900" dirty="0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86" name="Shape 84"/>
          <p:cNvSpPr/>
          <p:nvPr/>
        </p:nvSpPr>
        <p:spPr>
          <a:xfrm>
            <a:off x="431800" y="3735742"/>
            <a:ext cx="8243888" cy="265176"/>
          </a:xfrm>
          <a:prstGeom prst="rect">
            <a:avLst/>
          </a:prstGeom>
          <a:solidFill>
            <a:srgbClr val="F4F7FB"/>
          </a:solidFill>
          <a:ln w="12700">
            <a:solidFill>
              <a:srgbClr val="D1D9E6"/>
            </a:solidFill>
            <a:prstDash val="solid"/>
          </a:ln>
        </p:spPr>
        <p:txBody>
          <a:bodyPr/>
          <a:lstStyle/>
          <a:p>
            <a:endParaRPr lang="ko-KR" altLang="en-US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87" name="Text 85"/>
          <p:cNvSpPr/>
          <p:nvPr/>
        </p:nvSpPr>
        <p:spPr>
          <a:xfrm>
            <a:off x="582999" y="3735742"/>
            <a:ext cx="1827692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1B3A6B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모바일(WES)</a:t>
            </a:r>
            <a:endParaRPr lang="en-US" sz="900" dirty="0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88" name="Shape 86"/>
          <p:cNvSpPr/>
          <p:nvPr/>
        </p:nvSpPr>
        <p:spPr>
          <a:xfrm>
            <a:off x="3524874" y="3772318"/>
            <a:ext cx="2103120" cy="201168"/>
          </a:xfrm>
          <a:prstGeom prst="rect">
            <a:avLst/>
          </a:prstGeom>
          <a:solidFill>
            <a:srgbClr val="FEF2F2"/>
          </a:solidFill>
          <a:ln w="12700">
            <a:solidFill>
              <a:srgbClr val="9CA3AF"/>
            </a:solidFill>
            <a:prstDash val="solid"/>
          </a:ln>
        </p:spPr>
        <p:txBody>
          <a:bodyPr/>
          <a:lstStyle/>
          <a:p>
            <a:endParaRPr lang="ko-KR" altLang="en-US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89" name="Text 87"/>
          <p:cNvSpPr/>
          <p:nvPr/>
        </p:nvSpPr>
        <p:spPr>
          <a:xfrm>
            <a:off x="3524874" y="3735742"/>
            <a:ext cx="21031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9CA3AF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0%</a:t>
            </a:r>
            <a:endParaRPr lang="en-US" sz="950" dirty="0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90" name="Shape 88"/>
          <p:cNvSpPr/>
          <p:nvPr/>
        </p:nvSpPr>
        <p:spPr>
          <a:xfrm>
            <a:off x="5646282" y="3772318"/>
            <a:ext cx="2103120" cy="201168"/>
          </a:xfrm>
          <a:prstGeom prst="rect">
            <a:avLst/>
          </a:prstGeom>
          <a:solidFill>
            <a:srgbClr val="FEF2F2"/>
          </a:solidFill>
          <a:ln w="12700">
            <a:solidFill>
              <a:srgbClr val="9CA3AF"/>
            </a:solidFill>
            <a:prstDash val="solid"/>
          </a:ln>
        </p:spPr>
        <p:txBody>
          <a:bodyPr/>
          <a:lstStyle/>
          <a:p>
            <a:endParaRPr lang="ko-KR" altLang="en-US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91" name="Text 89"/>
          <p:cNvSpPr/>
          <p:nvPr/>
        </p:nvSpPr>
        <p:spPr>
          <a:xfrm>
            <a:off x="5646282" y="3735742"/>
            <a:ext cx="21031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9CA3AF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8.4%</a:t>
            </a:r>
            <a:endParaRPr lang="en-US" sz="950" dirty="0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92" name="Shape 90"/>
          <p:cNvSpPr/>
          <p:nvPr/>
        </p:nvSpPr>
        <p:spPr>
          <a:xfrm>
            <a:off x="7822554" y="3772318"/>
            <a:ext cx="768096" cy="201168"/>
          </a:xfrm>
          <a:prstGeom prst="roundRect">
            <a:avLst>
              <a:gd name="adj" fmla="val 54545"/>
            </a:avLst>
          </a:prstGeom>
          <a:solidFill>
            <a:srgbClr val="9CA3AF"/>
          </a:solidFill>
          <a:ln w="12700">
            <a:solidFill>
              <a:srgbClr val="9CA3AF"/>
            </a:solidFill>
            <a:prstDash val="solid"/>
          </a:ln>
        </p:spPr>
        <p:txBody>
          <a:bodyPr/>
          <a:lstStyle/>
          <a:p>
            <a:endParaRPr lang="ko-KR" altLang="en-US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93" name="Text 91"/>
          <p:cNvSpPr/>
          <p:nvPr/>
        </p:nvSpPr>
        <p:spPr>
          <a:xfrm>
            <a:off x="7822554" y="3772318"/>
            <a:ext cx="7680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정상</a:t>
            </a:r>
            <a:endParaRPr lang="en-US" sz="900" dirty="0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94" name="Text 92"/>
          <p:cNvSpPr/>
          <p:nvPr/>
        </p:nvSpPr>
        <p:spPr>
          <a:xfrm>
            <a:off x="431800" y="4054186"/>
            <a:ext cx="8595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i="1" dirty="0">
                <a:solidFill>
                  <a:srgbClr val="E85D2F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※ AOMS-CA 1차 공사 결함율 124.6%: 단일 시나리오에서 복수 결함 발생 — 개발 완성도 근본 점검 필요</a:t>
            </a:r>
            <a:endParaRPr lang="en-US" sz="900" dirty="0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95" name="Shape 93"/>
          <p:cNvSpPr/>
          <p:nvPr/>
        </p:nvSpPr>
        <p:spPr>
          <a:xfrm>
            <a:off x="1371600" y="4377793"/>
            <a:ext cx="201168" cy="201168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  <p:txBody>
          <a:bodyPr/>
          <a:lstStyle/>
          <a:p>
            <a:endParaRPr lang="ko-KR" altLang="en-US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96" name="Text 94"/>
          <p:cNvSpPr/>
          <p:nvPr/>
        </p:nvSpPr>
        <p:spPr>
          <a:xfrm>
            <a:off x="1609344" y="4377793"/>
            <a:ext cx="1371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4B5563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70%↑ 위험</a:t>
            </a:r>
            <a:endParaRPr lang="en-US" sz="900" dirty="0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97" name="Shape 95"/>
          <p:cNvSpPr/>
          <p:nvPr/>
        </p:nvSpPr>
        <p:spPr>
          <a:xfrm>
            <a:off x="3200400" y="4377793"/>
            <a:ext cx="201168" cy="201168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  <p:txBody>
          <a:bodyPr/>
          <a:lstStyle/>
          <a:p>
            <a:endParaRPr lang="ko-KR" altLang="en-US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98" name="Text 96"/>
          <p:cNvSpPr/>
          <p:nvPr/>
        </p:nvSpPr>
        <p:spPr>
          <a:xfrm>
            <a:off x="3438144" y="4377793"/>
            <a:ext cx="1371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4B5563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40~70% 주의</a:t>
            </a:r>
            <a:endParaRPr lang="en-US" sz="900" dirty="0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99" name="Shape 97"/>
          <p:cNvSpPr/>
          <p:nvPr/>
        </p:nvSpPr>
        <p:spPr>
          <a:xfrm>
            <a:off x="5029200" y="4377793"/>
            <a:ext cx="201168" cy="201168"/>
          </a:xfrm>
          <a:prstGeom prst="rect">
            <a:avLst/>
          </a:prstGeom>
          <a:solidFill>
            <a:srgbClr val="84CC16"/>
          </a:solidFill>
          <a:ln w="12700">
            <a:solidFill>
              <a:srgbClr val="84CC16"/>
            </a:solidFill>
            <a:prstDash val="solid"/>
          </a:ln>
        </p:spPr>
        <p:txBody>
          <a:bodyPr/>
          <a:lstStyle/>
          <a:p>
            <a:endParaRPr lang="ko-KR" altLang="en-US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100" name="Text 98"/>
          <p:cNvSpPr/>
          <p:nvPr/>
        </p:nvSpPr>
        <p:spPr>
          <a:xfrm>
            <a:off x="5266944" y="4377793"/>
            <a:ext cx="1371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4B5563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20~40% 관심</a:t>
            </a:r>
            <a:endParaRPr lang="en-US" sz="900" dirty="0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101" name="Shape 99"/>
          <p:cNvSpPr/>
          <p:nvPr/>
        </p:nvSpPr>
        <p:spPr>
          <a:xfrm>
            <a:off x="6858000" y="4377793"/>
            <a:ext cx="201168" cy="201168"/>
          </a:xfrm>
          <a:prstGeom prst="rect">
            <a:avLst/>
          </a:prstGeom>
          <a:solidFill>
            <a:srgbClr val="9CA3AF"/>
          </a:solidFill>
          <a:ln w="12700">
            <a:solidFill>
              <a:srgbClr val="9CA3AF"/>
            </a:solidFill>
            <a:prstDash val="solid"/>
          </a:ln>
        </p:spPr>
        <p:txBody>
          <a:bodyPr/>
          <a:lstStyle/>
          <a:p>
            <a:endParaRPr lang="ko-KR" altLang="en-US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102" name="Text 100"/>
          <p:cNvSpPr/>
          <p:nvPr/>
        </p:nvSpPr>
        <p:spPr>
          <a:xfrm>
            <a:off x="7095744" y="4377793"/>
            <a:ext cx="1371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4B5563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20%↓ 정상</a:t>
            </a:r>
            <a:endParaRPr lang="en-US" sz="900" dirty="0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/>
          <p:cNvSpPr/>
          <p:nvPr/>
        </p:nvSpPr>
        <p:spPr>
          <a:xfrm>
            <a:off x="320040" y="0"/>
            <a:ext cx="6400800" cy="441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002060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주요 미결 </a:t>
            </a:r>
            <a:r>
              <a:rPr lang="en-US" sz="2000" b="1" dirty="0" err="1">
                <a:solidFill>
                  <a:srgbClr val="002060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결함</a:t>
            </a:r>
            <a:r>
              <a:rPr lang="en-US" sz="2000" b="1" dirty="0">
                <a:solidFill>
                  <a:srgbClr val="002060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 </a:t>
            </a:r>
            <a:r>
              <a:rPr lang="en-US" sz="2000" b="1" dirty="0" err="1">
                <a:solidFill>
                  <a:srgbClr val="002060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현황</a:t>
            </a:r>
            <a:endParaRPr lang="en-US" sz="2000" dirty="0">
              <a:solidFill>
                <a:srgbClr val="002060"/>
              </a:solidFill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graphicFrame>
        <p:nvGraphicFramePr>
          <p:cNvPr id="5" name="Chart 0"/>
          <p:cNvGraphicFramePr/>
          <p:nvPr>
            <p:extLst>
              <p:ext uri="{D42A27DB-BD31-4B8C-83A1-F6EECF244321}">
                <p14:modId xmlns:p14="http://schemas.microsoft.com/office/powerpoint/2010/main" val="334643816"/>
              </p:ext>
            </p:extLst>
          </p:nvPr>
        </p:nvGraphicFramePr>
        <p:xfrm>
          <a:off x="431800" y="756229"/>
          <a:ext cx="8243888" cy="1979991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22" name="Shape 37">
            <a:extLst>
              <a:ext uri="{FF2B5EF4-FFF2-40B4-BE49-F238E27FC236}">
                <a16:creationId xmlns:a16="http://schemas.microsoft.com/office/drawing/2014/main" id="{1D165D4B-A55D-FD7B-94FE-EF91D313AE7B}"/>
              </a:ext>
            </a:extLst>
          </p:cNvPr>
          <p:cNvSpPr/>
          <p:nvPr/>
        </p:nvSpPr>
        <p:spPr>
          <a:xfrm>
            <a:off x="431800" y="2761988"/>
            <a:ext cx="8243888" cy="256032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  <p:txBody>
          <a:bodyPr/>
          <a:lstStyle/>
          <a:p>
            <a:endParaRPr lang="ko-KR" altLang="en-US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23" name="Text 38">
            <a:extLst>
              <a:ext uri="{FF2B5EF4-FFF2-40B4-BE49-F238E27FC236}">
                <a16:creationId xmlns:a16="http://schemas.microsoft.com/office/drawing/2014/main" id="{E393D76D-C68A-F237-76B6-65A526E66EFD}"/>
              </a:ext>
            </a:extLst>
          </p:cNvPr>
          <p:cNvSpPr/>
          <p:nvPr/>
        </p:nvSpPr>
        <p:spPr>
          <a:xfrm>
            <a:off x="550672" y="2755061"/>
            <a:ext cx="30906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 err="1">
                <a:solidFill>
                  <a:srgbClr val="FFFFFF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잔여</a:t>
            </a:r>
            <a:r>
              <a:rPr lang="en-US" sz="950" b="1" dirty="0">
                <a:solidFill>
                  <a:srgbClr val="FFFFFF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 차수(2-3차) 대비 시사점</a:t>
            </a:r>
            <a:endParaRPr lang="en-US" sz="950" dirty="0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25" name="Shape 39">
            <a:extLst>
              <a:ext uri="{FF2B5EF4-FFF2-40B4-BE49-F238E27FC236}">
                <a16:creationId xmlns:a16="http://schemas.microsoft.com/office/drawing/2014/main" id="{B9881A78-4A23-A535-B7BF-771E7970A275}"/>
              </a:ext>
            </a:extLst>
          </p:cNvPr>
          <p:cNvSpPr/>
          <p:nvPr/>
        </p:nvSpPr>
        <p:spPr>
          <a:xfrm>
            <a:off x="445760" y="3193973"/>
            <a:ext cx="3828308" cy="694944"/>
          </a:xfrm>
          <a:prstGeom prst="rect">
            <a:avLst/>
          </a:prstGeom>
          <a:solidFill>
            <a:srgbClr val="F4F7FB"/>
          </a:solidFill>
          <a:ln w="12700">
            <a:solidFill>
              <a:srgbClr val="D1D9E6"/>
            </a:solidFill>
            <a:prstDash val="solid"/>
          </a:ln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ko-KR" altLang="en-US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26" name="Shape 40">
            <a:extLst>
              <a:ext uri="{FF2B5EF4-FFF2-40B4-BE49-F238E27FC236}">
                <a16:creationId xmlns:a16="http://schemas.microsoft.com/office/drawing/2014/main" id="{AF67607B-FC00-0D97-0F2B-ECD519F15BDB}"/>
              </a:ext>
            </a:extLst>
          </p:cNvPr>
          <p:cNvSpPr/>
          <p:nvPr/>
        </p:nvSpPr>
        <p:spPr>
          <a:xfrm>
            <a:off x="445760" y="3193973"/>
            <a:ext cx="64008" cy="694944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  <p:txBody>
          <a:bodyPr/>
          <a:lstStyle/>
          <a:p>
            <a:endParaRPr lang="ko-KR" altLang="en-US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27" name="Shape 41">
            <a:extLst>
              <a:ext uri="{FF2B5EF4-FFF2-40B4-BE49-F238E27FC236}">
                <a16:creationId xmlns:a16="http://schemas.microsoft.com/office/drawing/2014/main" id="{C9B6B5DE-ED68-B544-8263-7CB3EC9D6BE3}"/>
              </a:ext>
            </a:extLst>
          </p:cNvPr>
          <p:cNvSpPr/>
          <p:nvPr/>
        </p:nvSpPr>
        <p:spPr>
          <a:xfrm>
            <a:off x="3280678" y="3267125"/>
            <a:ext cx="748792" cy="201168"/>
          </a:xfrm>
          <a:prstGeom prst="roundRect">
            <a:avLst>
              <a:gd name="adj" fmla="val 27273"/>
            </a:avLst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  <p:txBody>
          <a:bodyPr lIns="0" tIns="0" rIns="0" bIns="0" anchor="ctr" anchorCtr="0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75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Rix고딕 L" panose="02020603020101020101" pitchFamily="18" charset="-127"/>
                <a:ea typeface="Rix고딕 L" panose="02020603020101020101" pitchFamily="18" charset="-127"/>
                <a:cs typeface="+mn-cs"/>
              </a:rPr>
              <a:t>HIGH RISK</a:t>
            </a:r>
            <a:endParaRPr kumimoji="0" lang="en-US" altLang="ko-KR" sz="7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Rix고딕 L" panose="02020603020101020101" pitchFamily="18" charset="-127"/>
              <a:ea typeface="Rix고딕 L" panose="02020603020101020101" pitchFamily="18" charset="-127"/>
              <a:cs typeface="+mn-cs"/>
            </a:endParaRPr>
          </a:p>
        </p:txBody>
      </p:sp>
      <p:sp>
        <p:nvSpPr>
          <p:cNvPr id="28" name="Text 43">
            <a:extLst>
              <a:ext uri="{FF2B5EF4-FFF2-40B4-BE49-F238E27FC236}">
                <a16:creationId xmlns:a16="http://schemas.microsoft.com/office/drawing/2014/main" id="{1D87D07B-CB9E-9D46-9251-884427D4B08B}"/>
              </a:ext>
            </a:extLst>
          </p:cNvPr>
          <p:cNvSpPr/>
          <p:nvPr/>
        </p:nvSpPr>
        <p:spPr>
          <a:xfrm>
            <a:off x="582920" y="3248837"/>
            <a:ext cx="212140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ko-KR" altLang="en-US" sz="950" b="1" dirty="0">
                <a:solidFill>
                  <a:srgbClr val="DC2626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확인대기</a:t>
            </a:r>
            <a:r>
              <a:rPr lang="en-US" sz="950" b="1" dirty="0">
                <a:solidFill>
                  <a:srgbClr val="DC2626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 결함 이월 위험</a:t>
            </a:r>
            <a:endParaRPr lang="en-US" sz="950" dirty="0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29" name="Text 44">
            <a:extLst>
              <a:ext uri="{FF2B5EF4-FFF2-40B4-BE49-F238E27FC236}">
                <a16:creationId xmlns:a16="http://schemas.microsoft.com/office/drawing/2014/main" id="{94291A07-DEC6-9201-2E19-50CDBA025AC5}"/>
              </a:ext>
            </a:extLst>
          </p:cNvPr>
          <p:cNvSpPr/>
          <p:nvPr/>
        </p:nvSpPr>
        <p:spPr>
          <a:xfrm>
            <a:off x="582920" y="3468293"/>
            <a:ext cx="1234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B3A6B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1,735건</a:t>
            </a:r>
            <a:endParaRPr lang="en-US" sz="1500" dirty="0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30" name="Text 45">
            <a:extLst>
              <a:ext uri="{FF2B5EF4-FFF2-40B4-BE49-F238E27FC236}">
                <a16:creationId xmlns:a16="http://schemas.microsoft.com/office/drawing/2014/main" id="{2A753932-8519-E34F-5611-E79D4C82D393}"/>
              </a:ext>
            </a:extLst>
          </p:cNvPr>
          <p:cNvSpPr/>
          <p:nvPr/>
        </p:nvSpPr>
        <p:spPr>
          <a:xfrm>
            <a:off x="1817360" y="3494061"/>
            <a:ext cx="2280212" cy="3297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 err="1">
                <a:solidFill>
                  <a:srgbClr val="4B5563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현재</a:t>
            </a:r>
            <a:r>
              <a:rPr lang="en-US" sz="800" dirty="0">
                <a:solidFill>
                  <a:srgbClr val="4B5563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 </a:t>
            </a:r>
            <a:r>
              <a:rPr lang="ko-KR" altLang="en-US" sz="800" dirty="0">
                <a:solidFill>
                  <a:srgbClr val="4B5563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확인 대기 </a:t>
            </a:r>
            <a:r>
              <a:rPr lang="en-US" sz="800" dirty="0" err="1">
                <a:solidFill>
                  <a:srgbClr val="4B5563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결함이</a:t>
            </a:r>
            <a:r>
              <a:rPr lang="en-US" sz="800" dirty="0">
                <a:solidFill>
                  <a:srgbClr val="4B5563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 2-3차 </a:t>
            </a:r>
            <a:r>
              <a:rPr lang="en-US" sz="800" dirty="0" err="1">
                <a:solidFill>
                  <a:srgbClr val="4B5563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이월</a:t>
            </a:r>
            <a:r>
              <a:rPr lang="en-US" sz="800" dirty="0">
                <a:solidFill>
                  <a:srgbClr val="4B5563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 시</a:t>
            </a:r>
            <a:r>
              <a:rPr lang="en-US" sz="800" dirty="0">
                <a:latin typeface="Rix고딕 L" panose="02020603020101020101" pitchFamily="18" charset="-127"/>
                <a:ea typeface="Rix고딕 L" panose="02020603020101020101" pitchFamily="18" charset="-127"/>
              </a:rPr>
              <a:t> </a:t>
            </a:r>
            <a:r>
              <a:rPr lang="en-US" sz="800" dirty="0" err="1">
                <a:solidFill>
                  <a:srgbClr val="4B5563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결함</a:t>
            </a:r>
            <a:r>
              <a:rPr lang="en-US" sz="800" dirty="0">
                <a:solidFill>
                  <a:srgbClr val="4B5563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 급증 예상</a:t>
            </a:r>
            <a:endParaRPr lang="en-US" sz="800" dirty="0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32" name="Shape 46">
            <a:extLst>
              <a:ext uri="{FF2B5EF4-FFF2-40B4-BE49-F238E27FC236}">
                <a16:creationId xmlns:a16="http://schemas.microsoft.com/office/drawing/2014/main" id="{9FC71AEB-A555-980A-D32F-4FDEE833E043}"/>
              </a:ext>
            </a:extLst>
          </p:cNvPr>
          <p:cNvSpPr/>
          <p:nvPr/>
        </p:nvSpPr>
        <p:spPr>
          <a:xfrm>
            <a:off x="4847380" y="3190108"/>
            <a:ext cx="3828308" cy="694944"/>
          </a:xfrm>
          <a:prstGeom prst="rect">
            <a:avLst/>
          </a:prstGeom>
          <a:solidFill>
            <a:srgbClr val="F4F7FB"/>
          </a:solidFill>
          <a:ln w="12700">
            <a:solidFill>
              <a:srgbClr val="D1D9E6"/>
            </a:solidFill>
            <a:prstDash val="solid"/>
          </a:ln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ko-KR" altLang="en-US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33" name="Shape 47">
            <a:extLst>
              <a:ext uri="{FF2B5EF4-FFF2-40B4-BE49-F238E27FC236}">
                <a16:creationId xmlns:a16="http://schemas.microsoft.com/office/drawing/2014/main" id="{CA5AF5D3-96FD-D345-D73C-618D99270947}"/>
              </a:ext>
            </a:extLst>
          </p:cNvPr>
          <p:cNvSpPr/>
          <p:nvPr/>
        </p:nvSpPr>
        <p:spPr>
          <a:xfrm>
            <a:off x="4847380" y="3190108"/>
            <a:ext cx="64008" cy="694944"/>
          </a:xfrm>
          <a:prstGeom prst="rect">
            <a:avLst/>
          </a:prstGeom>
          <a:solidFill>
            <a:srgbClr val="E85D2F"/>
          </a:solidFill>
          <a:ln w="12700">
            <a:solidFill>
              <a:srgbClr val="E85D2F"/>
            </a:solidFill>
            <a:prstDash val="solid"/>
          </a:ln>
        </p:spPr>
        <p:txBody>
          <a:bodyPr/>
          <a:lstStyle/>
          <a:p>
            <a:endParaRPr lang="ko-KR" altLang="en-US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34" name="Shape 48">
            <a:extLst>
              <a:ext uri="{FF2B5EF4-FFF2-40B4-BE49-F238E27FC236}">
                <a16:creationId xmlns:a16="http://schemas.microsoft.com/office/drawing/2014/main" id="{5AEBB57E-EED4-FC5E-1E9A-D81ADC7996BF}"/>
              </a:ext>
            </a:extLst>
          </p:cNvPr>
          <p:cNvSpPr/>
          <p:nvPr/>
        </p:nvSpPr>
        <p:spPr>
          <a:xfrm>
            <a:off x="7682298" y="3263260"/>
            <a:ext cx="748792" cy="201168"/>
          </a:xfrm>
          <a:prstGeom prst="roundRect">
            <a:avLst>
              <a:gd name="adj" fmla="val 27273"/>
            </a:avLst>
          </a:prstGeom>
          <a:solidFill>
            <a:srgbClr val="E85D2F"/>
          </a:solidFill>
          <a:ln w="12700">
            <a:solidFill>
              <a:srgbClr val="E85D2F"/>
            </a:solidFill>
            <a:prstDash val="solid"/>
          </a:ln>
        </p:spPr>
        <p:txBody>
          <a:bodyPr lIns="0" tIns="0" rIns="0" bIns="0" anchor="ctr" anchorCtr="0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75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Rix고딕 L" panose="02020603020101020101" pitchFamily="18" charset="-127"/>
                <a:ea typeface="Rix고딕 L" panose="02020603020101020101" pitchFamily="18" charset="-127"/>
                <a:cs typeface="+mn-cs"/>
              </a:rPr>
              <a:t>HIGH RISK</a:t>
            </a:r>
            <a:endParaRPr kumimoji="0" lang="en-US" altLang="ko-KR" sz="7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Rix고딕 L" panose="02020603020101020101" pitchFamily="18" charset="-127"/>
              <a:ea typeface="Rix고딕 L" panose="02020603020101020101" pitchFamily="18" charset="-127"/>
              <a:cs typeface="+mn-cs"/>
            </a:endParaRPr>
          </a:p>
        </p:txBody>
      </p:sp>
      <p:sp>
        <p:nvSpPr>
          <p:cNvPr id="35" name="Text 50">
            <a:extLst>
              <a:ext uri="{FF2B5EF4-FFF2-40B4-BE49-F238E27FC236}">
                <a16:creationId xmlns:a16="http://schemas.microsoft.com/office/drawing/2014/main" id="{722CD7B3-EB17-E23D-C89F-D980DBCFB9C7}"/>
              </a:ext>
            </a:extLst>
          </p:cNvPr>
          <p:cNvSpPr/>
          <p:nvPr/>
        </p:nvSpPr>
        <p:spPr>
          <a:xfrm>
            <a:off x="4984540" y="3244972"/>
            <a:ext cx="212140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E85D2F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항공기관제(AC) 지속 위험</a:t>
            </a:r>
            <a:endParaRPr lang="en-US" sz="950" dirty="0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36" name="Text 51">
            <a:extLst>
              <a:ext uri="{FF2B5EF4-FFF2-40B4-BE49-F238E27FC236}">
                <a16:creationId xmlns:a16="http://schemas.microsoft.com/office/drawing/2014/main" id="{253C7744-A473-B66B-8B24-3587C828E4CE}"/>
              </a:ext>
            </a:extLst>
          </p:cNvPr>
          <p:cNvSpPr/>
          <p:nvPr/>
        </p:nvSpPr>
        <p:spPr>
          <a:xfrm>
            <a:off x="4984540" y="3484616"/>
            <a:ext cx="1234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B3A6B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37건 발생</a:t>
            </a:r>
            <a:endParaRPr lang="en-US" sz="1500" dirty="0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37" name="Text 52">
            <a:extLst>
              <a:ext uri="{FF2B5EF4-FFF2-40B4-BE49-F238E27FC236}">
                <a16:creationId xmlns:a16="http://schemas.microsoft.com/office/drawing/2014/main" id="{A193FB29-A764-AAFE-CF80-1E15F839FA1F}"/>
              </a:ext>
            </a:extLst>
          </p:cNvPr>
          <p:cNvSpPr/>
          <p:nvPr/>
        </p:nvSpPr>
        <p:spPr>
          <a:xfrm>
            <a:off x="6188668" y="3531347"/>
            <a:ext cx="2335680" cy="35018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4B5563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2-3차 이미 37건 · PL 집중(95건)</a:t>
            </a:r>
            <a:endParaRPr lang="en-US" sz="800" dirty="0">
              <a:latin typeface="Rix고딕 L" panose="02020603020101020101" pitchFamily="18" charset="-127"/>
              <a:ea typeface="Rix고딕 L" panose="02020603020101020101" pitchFamily="18" charset="-127"/>
            </a:endParaRPr>
          </a:p>
          <a:p>
            <a:pPr marL="0" indent="0">
              <a:buNone/>
            </a:pPr>
            <a:r>
              <a:rPr lang="ko-KR" altLang="en-US" sz="800" dirty="0">
                <a:solidFill>
                  <a:srgbClr val="4B5563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개발 기능의 </a:t>
            </a:r>
            <a:r>
              <a:rPr lang="en-US" sz="800" dirty="0" err="1">
                <a:solidFill>
                  <a:srgbClr val="4B5563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구조적</a:t>
            </a:r>
            <a:r>
              <a:rPr lang="en-US" sz="800" dirty="0">
                <a:solidFill>
                  <a:srgbClr val="4B5563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 문제 미해소</a:t>
            </a:r>
            <a:endParaRPr lang="en-US" sz="800" dirty="0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39" name="Shape 53">
            <a:extLst>
              <a:ext uri="{FF2B5EF4-FFF2-40B4-BE49-F238E27FC236}">
                <a16:creationId xmlns:a16="http://schemas.microsoft.com/office/drawing/2014/main" id="{5A3A2143-DDCE-9AB2-0B90-CC09C55F197D}"/>
              </a:ext>
            </a:extLst>
          </p:cNvPr>
          <p:cNvSpPr/>
          <p:nvPr/>
        </p:nvSpPr>
        <p:spPr>
          <a:xfrm>
            <a:off x="445760" y="4006806"/>
            <a:ext cx="3828308" cy="694944"/>
          </a:xfrm>
          <a:prstGeom prst="rect">
            <a:avLst/>
          </a:prstGeom>
          <a:solidFill>
            <a:srgbClr val="F4F7FB"/>
          </a:solidFill>
          <a:ln w="12700">
            <a:solidFill>
              <a:srgbClr val="D1D9E6"/>
            </a:solidFill>
            <a:prstDash val="solid"/>
          </a:ln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ko-KR" altLang="en-US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40" name="Shape 54">
            <a:extLst>
              <a:ext uri="{FF2B5EF4-FFF2-40B4-BE49-F238E27FC236}">
                <a16:creationId xmlns:a16="http://schemas.microsoft.com/office/drawing/2014/main" id="{AAAB152D-2505-9F3C-DC8D-150C8624ABD5}"/>
              </a:ext>
            </a:extLst>
          </p:cNvPr>
          <p:cNvSpPr/>
          <p:nvPr/>
        </p:nvSpPr>
        <p:spPr>
          <a:xfrm>
            <a:off x="445760" y="4006806"/>
            <a:ext cx="64008" cy="694944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  <p:txBody>
          <a:bodyPr/>
          <a:lstStyle/>
          <a:p>
            <a:endParaRPr lang="ko-KR" altLang="en-US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41" name="Shape 55">
            <a:extLst>
              <a:ext uri="{FF2B5EF4-FFF2-40B4-BE49-F238E27FC236}">
                <a16:creationId xmlns:a16="http://schemas.microsoft.com/office/drawing/2014/main" id="{2744A50A-E0CB-1B04-5F4F-E8CA956C36EB}"/>
              </a:ext>
            </a:extLst>
          </p:cNvPr>
          <p:cNvSpPr/>
          <p:nvPr/>
        </p:nvSpPr>
        <p:spPr>
          <a:xfrm>
            <a:off x="3426982" y="4079958"/>
            <a:ext cx="612648" cy="201168"/>
          </a:xfrm>
          <a:prstGeom prst="roundRect">
            <a:avLst>
              <a:gd name="adj" fmla="val 27273"/>
            </a:avLst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  <p:txBody>
          <a:bodyPr lIns="0" tIns="0" rIns="0" bIns="0" anchor="ctr" anchorCtr="0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750" b="1" i="0" u="none" strike="noStrike" kern="1200" cap="none" spc="0" normalizeH="0" baseline="0" noProof="0" dirty="0" err="1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Rix고딕 L" panose="02020603020101020101" pitchFamily="18" charset="-127"/>
                <a:ea typeface="Rix고딕 L" panose="02020603020101020101" pitchFamily="18" charset="-127"/>
                <a:cs typeface="+mn-cs"/>
              </a:rPr>
              <a:t>긴급조치</a:t>
            </a:r>
            <a:endParaRPr kumimoji="0" lang="en-US" altLang="ko-KR" sz="7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Rix고딕 L" panose="02020603020101020101" pitchFamily="18" charset="-127"/>
              <a:ea typeface="Rix고딕 L" panose="02020603020101020101" pitchFamily="18" charset="-127"/>
              <a:cs typeface="+mn-cs"/>
            </a:endParaRPr>
          </a:p>
        </p:txBody>
      </p:sp>
      <p:sp>
        <p:nvSpPr>
          <p:cNvPr id="42" name="Text 57">
            <a:extLst>
              <a:ext uri="{FF2B5EF4-FFF2-40B4-BE49-F238E27FC236}">
                <a16:creationId xmlns:a16="http://schemas.microsoft.com/office/drawing/2014/main" id="{49C294CF-8740-E755-62B0-182E744EE412}"/>
              </a:ext>
            </a:extLst>
          </p:cNvPr>
          <p:cNvSpPr/>
          <p:nvPr/>
        </p:nvSpPr>
        <p:spPr>
          <a:xfrm>
            <a:off x="582920" y="4061670"/>
            <a:ext cx="226771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D97706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항공통계포털(AS) 위험</a:t>
            </a:r>
            <a:endParaRPr lang="en-US" sz="950" dirty="0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43" name="Text 58">
            <a:extLst>
              <a:ext uri="{FF2B5EF4-FFF2-40B4-BE49-F238E27FC236}">
                <a16:creationId xmlns:a16="http://schemas.microsoft.com/office/drawing/2014/main" id="{D322F341-8173-B642-BC3F-1E272F66F491}"/>
              </a:ext>
            </a:extLst>
          </p:cNvPr>
          <p:cNvSpPr/>
          <p:nvPr/>
        </p:nvSpPr>
        <p:spPr>
          <a:xfrm>
            <a:off x="582920" y="4281126"/>
            <a:ext cx="1234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B3A6B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89건 미결</a:t>
            </a:r>
            <a:endParaRPr lang="en-US" sz="1500" dirty="0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44" name="Text 59">
            <a:extLst>
              <a:ext uri="{FF2B5EF4-FFF2-40B4-BE49-F238E27FC236}">
                <a16:creationId xmlns:a16="http://schemas.microsoft.com/office/drawing/2014/main" id="{16C501B2-690E-1D04-B7E4-470C290C54AF}"/>
              </a:ext>
            </a:extLst>
          </p:cNvPr>
          <p:cNvSpPr/>
          <p:nvPr/>
        </p:nvSpPr>
        <p:spPr>
          <a:xfrm>
            <a:off x="1828536" y="4299966"/>
            <a:ext cx="2200934" cy="3553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4B5563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감리 단계 검토요청 89건</a:t>
            </a:r>
            <a:endParaRPr lang="en-US" sz="800" dirty="0">
              <a:latin typeface="Rix고딕 L" panose="02020603020101020101" pitchFamily="18" charset="-127"/>
              <a:ea typeface="Rix고딕 L" panose="02020603020101020101" pitchFamily="18" charset="-127"/>
            </a:endParaRPr>
          </a:p>
          <a:p>
            <a:pPr marL="0" indent="0">
              <a:buNone/>
            </a:pPr>
            <a:r>
              <a:rPr lang="en-US" sz="800" dirty="0">
                <a:solidFill>
                  <a:srgbClr val="4B5563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2-3차 감리 전 전수 조치 필수</a:t>
            </a:r>
            <a:endParaRPr lang="en-US" sz="800" dirty="0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46" name="Shape 60">
            <a:extLst>
              <a:ext uri="{FF2B5EF4-FFF2-40B4-BE49-F238E27FC236}">
                <a16:creationId xmlns:a16="http://schemas.microsoft.com/office/drawing/2014/main" id="{D712C2F9-B14E-53E7-3401-9C169DECB10B}"/>
              </a:ext>
            </a:extLst>
          </p:cNvPr>
          <p:cNvSpPr/>
          <p:nvPr/>
        </p:nvSpPr>
        <p:spPr>
          <a:xfrm>
            <a:off x="4869488" y="4006806"/>
            <a:ext cx="3828308" cy="694944"/>
          </a:xfrm>
          <a:prstGeom prst="rect">
            <a:avLst/>
          </a:prstGeom>
          <a:solidFill>
            <a:srgbClr val="F4F7FB"/>
          </a:solidFill>
          <a:ln w="12700">
            <a:solidFill>
              <a:srgbClr val="D1D9E6"/>
            </a:solidFill>
            <a:prstDash val="solid"/>
          </a:ln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ko-KR" altLang="en-US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47" name="Shape 61">
            <a:extLst>
              <a:ext uri="{FF2B5EF4-FFF2-40B4-BE49-F238E27FC236}">
                <a16:creationId xmlns:a16="http://schemas.microsoft.com/office/drawing/2014/main" id="{1F86D7A1-407B-B3BF-A2D4-B43B31A54A86}"/>
              </a:ext>
            </a:extLst>
          </p:cNvPr>
          <p:cNvSpPr/>
          <p:nvPr/>
        </p:nvSpPr>
        <p:spPr>
          <a:xfrm>
            <a:off x="4869488" y="4006806"/>
            <a:ext cx="64008" cy="694944"/>
          </a:xfrm>
          <a:prstGeom prst="rect">
            <a:avLst/>
          </a:prstGeom>
          <a:solidFill>
            <a:srgbClr val="2563A8"/>
          </a:solidFill>
          <a:ln w="12700">
            <a:solidFill>
              <a:srgbClr val="2563A8"/>
            </a:solidFill>
            <a:prstDash val="solid"/>
          </a:ln>
        </p:spPr>
        <p:txBody>
          <a:bodyPr/>
          <a:lstStyle/>
          <a:p>
            <a:endParaRPr lang="ko-KR" altLang="en-US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48" name="Shape 62">
            <a:extLst>
              <a:ext uri="{FF2B5EF4-FFF2-40B4-BE49-F238E27FC236}">
                <a16:creationId xmlns:a16="http://schemas.microsoft.com/office/drawing/2014/main" id="{7F788561-D665-689A-A734-2D7D72646A85}"/>
              </a:ext>
            </a:extLst>
          </p:cNvPr>
          <p:cNvSpPr/>
          <p:nvPr/>
        </p:nvSpPr>
        <p:spPr>
          <a:xfrm>
            <a:off x="7850710" y="4079958"/>
            <a:ext cx="612648" cy="201168"/>
          </a:xfrm>
          <a:prstGeom prst="roundRect">
            <a:avLst>
              <a:gd name="adj" fmla="val 27273"/>
            </a:avLst>
          </a:prstGeom>
          <a:solidFill>
            <a:srgbClr val="2563A8"/>
          </a:solidFill>
          <a:ln w="12700">
            <a:solidFill>
              <a:srgbClr val="2563A8"/>
            </a:solidFill>
            <a:prstDash val="solid"/>
          </a:ln>
        </p:spPr>
        <p:txBody>
          <a:bodyPr lIns="0" tIns="0" rIns="0" bIns="0" anchor="ctr" anchorCtr="0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750" b="1" i="0" u="none" strike="noStrike" kern="1200" cap="none" spc="0" normalizeH="0" baseline="0" noProof="0" dirty="0" err="1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Rix고딕 L" panose="02020603020101020101" pitchFamily="18" charset="-127"/>
                <a:ea typeface="Rix고딕 L" panose="02020603020101020101" pitchFamily="18" charset="-127"/>
                <a:cs typeface="+mn-cs"/>
              </a:rPr>
              <a:t>제도개선</a:t>
            </a:r>
            <a:endParaRPr kumimoji="0" lang="en-US" altLang="ko-KR" sz="7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Rix고딕 L" panose="02020603020101020101" pitchFamily="18" charset="-127"/>
              <a:ea typeface="Rix고딕 L" panose="02020603020101020101" pitchFamily="18" charset="-127"/>
              <a:cs typeface="+mn-cs"/>
            </a:endParaRPr>
          </a:p>
        </p:txBody>
      </p:sp>
      <p:sp>
        <p:nvSpPr>
          <p:cNvPr id="49" name="Text 64">
            <a:extLst>
              <a:ext uri="{FF2B5EF4-FFF2-40B4-BE49-F238E27FC236}">
                <a16:creationId xmlns:a16="http://schemas.microsoft.com/office/drawing/2014/main" id="{AA6F16B0-849A-A6C3-7120-2E562DADB8DB}"/>
              </a:ext>
            </a:extLst>
          </p:cNvPr>
          <p:cNvSpPr/>
          <p:nvPr/>
        </p:nvSpPr>
        <p:spPr>
          <a:xfrm>
            <a:off x="5006648" y="4061670"/>
            <a:ext cx="226771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2563A8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품질 게이트 부재</a:t>
            </a:r>
            <a:endParaRPr lang="en-US" sz="950" dirty="0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50" name="Text 65">
            <a:extLst>
              <a:ext uri="{FF2B5EF4-FFF2-40B4-BE49-F238E27FC236}">
                <a16:creationId xmlns:a16="http://schemas.microsoft.com/office/drawing/2014/main" id="{AAFD74FB-00DC-BD6C-1997-964E98C88CAD}"/>
              </a:ext>
            </a:extLst>
          </p:cNvPr>
          <p:cNvSpPr/>
          <p:nvPr/>
        </p:nvSpPr>
        <p:spPr>
          <a:xfrm>
            <a:off x="5006648" y="4281126"/>
            <a:ext cx="1234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B3A6B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구조적 반복</a:t>
            </a:r>
            <a:endParaRPr lang="en-US" sz="1500" dirty="0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51" name="Text 66">
            <a:extLst>
              <a:ext uri="{FF2B5EF4-FFF2-40B4-BE49-F238E27FC236}">
                <a16:creationId xmlns:a16="http://schemas.microsoft.com/office/drawing/2014/main" id="{3D8B349D-9A48-530B-1607-003A7D697756}"/>
              </a:ext>
            </a:extLst>
          </p:cNvPr>
          <p:cNvSpPr/>
          <p:nvPr/>
        </p:nvSpPr>
        <p:spPr>
          <a:xfrm>
            <a:off x="6182278" y="4306910"/>
            <a:ext cx="20214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4B5563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공사 진입 전 PL </a:t>
            </a:r>
            <a:r>
              <a:rPr lang="en-US" sz="800" dirty="0" err="1">
                <a:solidFill>
                  <a:srgbClr val="4B5563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검수</a:t>
            </a:r>
            <a:r>
              <a:rPr lang="en-US" sz="800" dirty="0">
                <a:solidFill>
                  <a:srgbClr val="4B5563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 </a:t>
            </a:r>
            <a:r>
              <a:rPr lang="ko-KR" altLang="en-US" sz="800" dirty="0">
                <a:solidFill>
                  <a:srgbClr val="4B5563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강화 </a:t>
            </a:r>
            <a:r>
              <a:rPr lang="en-US" sz="800" dirty="0" err="1">
                <a:solidFill>
                  <a:srgbClr val="4B5563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없이는</a:t>
            </a:r>
            <a:r>
              <a:rPr lang="en-US" sz="800" dirty="0">
                <a:solidFill>
                  <a:srgbClr val="4B5563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 반복 지속</a:t>
            </a:r>
            <a:endParaRPr lang="en-US" sz="800" dirty="0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/>
          <p:cNvSpPr/>
          <p:nvPr/>
        </p:nvSpPr>
        <p:spPr>
          <a:xfrm>
            <a:off x="320040" y="0"/>
            <a:ext cx="7680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002060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결함율 </a:t>
            </a:r>
            <a:r>
              <a:rPr lang="en-US" sz="2000" b="1" dirty="0" err="1">
                <a:solidFill>
                  <a:srgbClr val="002060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산출</a:t>
            </a:r>
            <a:r>
              <a:rPr lang="en-US" sz="2000" b="1" dirty="0">
                <a:solidFill>
                  <a:srgbClr val="002060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 </a:t>
            </a:r>
            <a:r>
              <a:rPr lang="en-US" sz="2000" b="1" dirty="0" err="1">
                <a:solidFill>
                  <a:srgbClr val="002060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기준</a:t>
            </a:r>
            <a:endParaRPr lang="en-US" sz="2000" dirty="0">
              <a:solidFill>
                <a:srgbClr val="002060"/>
              </a:solidFill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4" name="Text 2"/>
          <p:cNvSpPr/>
          <p:nvPr/>
        </p:nvSpPr>
        <p:spPr>
          <a:xfrm>
            <a:off x="7863840" y="0"/>
            <a:ext cx="10972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AABBD4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4.1</a:t>
            </a:r>
            <a:endParaRPr lang="en-US" sz="1100" dirty="0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5" name="Shape 3"/>
          <p:cNvSpPr/>
          <p:nvPr/>
        </p:nvSpPr>
        <p:spPr>
          <a:xfrm>
            <a:off x="449580" y="768096"/>
            <a:ext cx="8226108" cy="292608"/>
          </a:xfrm>
          <a:prstGeom prst="rect">
            <a:avLst/>
          </a:prstGeom>
          <a:solidFill>
            <a:srgbClr val="F4F7FB"/>
          </a:solidFill>
          <a:ln w="12700">
            <a:solidFill>
              <a:srgbClr val="D1D9E6"/>
            </a:solidFill>
            <a:prstDash val="solid"/>
          </a:ln>
        </p:spPr>
        <p:txBody>
          <a:bodyPr/>
          <a:lstStyle/>
          <a:p>
            <a:endParaRPr lang="ko-KR" altLang="en-US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6" name="Shape 4"/>
          <p:cNvSpPr/>
          <p:nvPr/>
        </p:nvSpPr>
        <p:spPr>
          <a:xfrm>
            <a:off x="449580" y="768096"/>
            <a:ext cx="64008" cy="292608"/>
          </a:xfrm>
          <a:prstGeom prst="rect">
            <a:avLst/>
          </a:prstGeom>
          <a:solidFill>
            <a:srgbClr val="E85D2F"/>
          </a:solidFill>
          <a:ln w="12700">
            <a:solidFill>
              <a:srgbClr val="E85D2F"/>
            </a:solidFill>
            <a:prstDash val="solid"/>
          </a:ln>
        </p:spPr>
        <p:txBody>
          <a:bodyPr/>
          <a:lstStyle/>
          <a:p>
            <a:endParaRPr lang="ko-KR" altLang="en-US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7" name="Text 5"/>
          <p:cNvSpPr/>
          <p:nvPr/>
        </p:nvSpPr>
        <p:spPr>
          <a:xfrm>
            <a:off x="614172" y="768096"/>
            <a:ext cx="7488937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20" b="1" dirty="0">
                <a:solidFill>
                  <a:srgbClr val="1B3A6B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결함율은 '결함+신규' 기준으로만 산출 — 개선·변경은 별도 집계하여 품질 왜곡 방지 · 결함율 100% 초과 시 단일 시나리오 복수 결함 발생 의미</a:t>
            </a:r>
            <a:endParaRPr lang="en-US" sz="920" dirty="0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8" name="Shape 6"/>
          <p:cNvSpPr/>
          <p:nvPr/>
        </p:nvSpPr>
        <p:spPr>
          <a:xfrm>
            <a:off x="449580" y="1152144"/>
            <a:ext cx="8226108" cy="694944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ko-KR" altLang="en-US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9" name="Shape 7"/>
          <p:cNvSpPr/>
          <p:nvPr/>
        </p:nvSpPr>
        <p:spPr>
          <a:xfrm>
            <a:off x="449580" y="1152144"/>
            <a:ext cx="96520" cy="694944"/>
          </a:xfrm>
          <a:prstGeom prst="rect">
            <a:avLst/>
          </a:prstGeom>
          <a:solidFill>
            <a:srgbClr val="E85D2F"/>
          </a:solidFill>
          <a:ln w="12700">
            <a:solidFill>
              <a:srgbClr val="E85D2F"/>
            </a:solidFill>
            <a:prstDash val="solid"/>
          </a:ln>
        </p:spPr>
        <p:txBody>
          <a:bodyPr/>
          <a:lstStyle/>
          <a:p>
            <a:endParaRPr lang="ko-KR" altLang="en-US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10" name="Text 8"/>
          <p:cNvSpPr/>
          <p:nvPr/>
        </p:nvSpPr>
        <p:spPr>
          <a:xfrm>
            <a:off x="678180" y="1188720"/>
            <a:ext cx="20116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9CA3AF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결함율 산출 공식</a:t>
            </a:r>
            <a:endParaRPr lang="en-US" sz="900" dirty="0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11" name="Text 9"/>
          <p:cNvSpPr/>
          <p:nvPr/>
        </p:nvSpPr>
        <p:spPr>
          <a:xfrm>
            <a:off x="678180" y="1426464"/>
            <a:ext cx="7876061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결함율 (%)  =  해당 단계 결함 건수 (결함 + 신규)  ÷  해당 업무 전체 시나리오 수  ×  100</a:t>
            </a:r>
            <a:endParaRPr lang="en-US" sz="1600" dirty="0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grpSp>
        <p:nvGrpSpPr>
          <p:cNvPr id="52" name="그룹 51">
            <a:extLst>
              <a:ext uri="{FF2B5EF4-FFF2-40B4-BE49-F238E27FC236}">
                <a16:creationId xmlns:a16="http://schemas.microsoft.com/office/drawing/2014/main" id="{1C089C35-0A49-D8CB-A554-23B18D2CC20C}"/>
              </a:ext>
            </a:extLst>
          </p:cNvPr>
          <p:cNvGrpSpPr/>
          <p:nvPr/>
        </p:nvGrpSpPr>
        <p:grpSpPr>
          <a:xfrm>
            <a:off x="431800" y="1939873"/>
            <a:ext cx="2747772" cy="2121408"/>
            <a:chOff x="251460" y="2084832"/>
            <a:chExt cx="2747772" cy="2121408"/>
          </a:xfrm>
        </p:grpSpPr>
        <p:sp>
          <p:nvSpPr>
            <p:cNvPr id="12" name="Shape 10"/>
            <p:cNvSpPr/>
            <p:nvPr/>
          </p:nvSpPr>
          <p:spPr>
            <a:xfrm>
              <a:off x="251460" y="2084832"/>
              <a:ext cx="2633472" cy="2099893"/>
            </a:xfrm>
            <a:prstGeom prst="rect">
              <a:avLst/>
            </a:prstGeom>
            <a:solidFill>
              <a:srgbClr val="F4F7FB"/>
            </a:solidFill>
            <a:ln w="12700">
              <a:solidFill>
                <a:srgbClr val="D1D9E6"/>
              </a:solidFill>
              <a:prstDash val="solid"/>
            </a:ln>
            <a:effectLst>
              <a:outerShdw blurRad="50800" dist="25400" dir="8100000" algn="bl" rotWithShape="0">
                <a:srgbClr val="000000">
                  <a:alpha val="8000"/>
                </a:srgbClr>
              </a:outerShdw>
            </a:effectLst>
          </p:spPr>
          <p:txBody>
            <a:bodyPr/>
            <a:lstStyle/>
            <a:p>
              <a:endParaRPr lang="ko-KR" altLang="en-US">
                <a:latin typeface="Rix고딕 L" panose="02020603020101020101" pitchFamily="18" charset="-127"/>
                <a:ea typeface="Rix고딕 L" panose="02020603020101020101" pitchFamily="18" charset="-127"/>
              </a:endParaRPr>
            </a:p>
          </p:txBody>
        </p:sp>
        <p:sp>
          <p:nvSpPr>
            <p:cNvPr id="13" name="Shape 11"/>
            <p:cNvSpPr/>
            <p:nvPr/>
          </p:nvSpPr>
          <p:spPr>
            <a:xfrm>
              <a:off x="251460" y="2084832"/>
              <a:ext cx="2633472" cy="54864"/>
            </a:xfrm>
            <a:prstGeom prst="rect">
              <a:avLst/>
            </a:prstGeom>
            <a:solidFill>
              <a:srgbClr val="DC2626"/>
            </a:solidFill>
            <a:ln w="12700">
              <a:solidFill>
                <a:srgbClr val="DC2626"/>
              </a:solidFill>
              <a:prstDash val="solid"/>
            </a:ln>
          </p:spPr>
          <p:txBody>
            <a:bodyPr/>
            <a:lstStyle/>
            <a:p>
              <a:endParaRPr lang="ko-KR" altLang="en-US">
                <a:latin typeface="Rix고딕 L" panose="02020603020101020101" pitchFamily="18" charset="-127"/>
                <a:ea typeface="Rix고딕 L" panose="02020603020101020101" pitchFamily="18" charset="-127"/>
              </a:endParaRPr>
            </a:p>
          </p:txBody>
        </p:sp>
        <p:sp>
          <p:nvSpPr>
            <p:cNvPr id="14" name="Text 12"/>
            <p:cNvSpPr/>
            <p:nvPr/>
          </p:nvSpPr>
          <p:spPr>
            <a:xfrm>
              <a:off x="402336" y="2176272"/>
              <a:ext cx="1737360" cy="256032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1100" b="1" dirty="0">
                  <a:solidFill>
                    <a:srgbClr val="DC2626"/>
                  </a:solidFill>
                  <a:latin typeface="Rix고딕 L" panose="02020603020101020101" pitchFamily="18" charset="-127"/>
                  <a:ea typeface="Rix고딕 L" panose="02020603020101020101" pitchFamily="18" charset="-127"/>
                </a:rPr>
                <a:t>결함 (Defect)</a:t>
              </a:r>
              <a:endParaRPr lang="en-US" sz="1100" dirty="0">
                <a:latin typeface="Rix고딕 L" panose="02020603020101020101" pitchFamily="18" charset="-127"/>
                <a:ea typeface="Rix고딕 L" panose="02020603020101020101" pitchFamily="18" charset="-127"/>
              </a:endParaRPr>
            </a:p>
          </p:txBody>
        </p:sp>
        <p:sp>
          <p:nvSpPr>
            <p:cNvPr id="15" name="Shape 13"/>
            <p:cNvSpPr/>
            <p:nvPr/>
          </p:nvSpPr>
          <p:spPr>
            <a:xfrm>
              <a:off x="2046732" y="2194560"/>
              <a:ext cx="749808" cy="201168"/>
            </a:xfrm>
            <a:prstGeom prst="roundRect">
              <a:avLst>
                <a:gd name="adj" fmla="val 27273"/>
              </a:avLst>
            </a:prstGeom>
            <a:solidFill>
              <a:srgbClr val="DC2626"/>
            </a:solidFill>
            <a:ln w="12700">
              <a:solidFill>
                <a:srgbClr val="DC2626"/>
              </a:solidFill>
              <a:prstDash val="solid"/>
            </a:ln>
          </p:spPr>
          <p:txBody>
            <a:bodyPr/>
            <a:lstStyle/>
            <a:p>
              <a:endParaRPr lang="ko-KR" altLang="en-US">
                <a:latin typeface="Rix고딕 L" panose="02020603020101020101" pitchFamily="18" charset="-127"/>
                <a:ea typeface="Rix고딕 L" panose="02020603020101020101" pitchFamily="18" charset="-127"/>
              </a:endParaRPr>
            </a:p>
          </p:txBody>
        </p:sp>
        <p:sp>
          <p:nvSpPr>
            <p:cNvPr id="16" name="Text 14"/>
            <p:cNvSpPr/>
            <p:nvPr/>
          </p:nvSpPr>
          <p:spPr>
            <a:xfrm>
              <a:off x="2046732" y="2194560"/>
              <a:ext cx="749808" cy="20116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750" b="1" dirty="0">
                  <a:solidFill>
                    <a:srgbClr val="FFFFFF"/>
                  </a:solidFill>
                  <a:latin typeface="Rix고딕 L" panose="02020603020101020101" pitchFamily="18" charset="-127"/>
                  <a:ea typeface="Rix고딕 L" panose="02020603020101020101" pitchFamily="18" charset="-127"/>
                </a:rPr>
                <a:t>결함율 산입</a:t>
              </a:r>
              <a:endParaRPr lang="en-US" sz="750" dirty="0">
                <a:latin typeface="Rix고딕 L" panose="02020603020101020101" pitchFamily="18" charset="-127"/>
                <a:ea typeface="Rix고딕 L" panose="02020603020101020101" pitchFamily="18" charset="-127"/>
              </a:endParaRPr>
            </a:p>
          </p:txBody>
        </p:sp>
        <p:sp>
          <p:nvSpPr>
            <p:cNvPr id="17" name="Text 15"/>
            <p:cNvSpPr/>
            <p:nvPr/>
          </p:nvSpPr>
          <p:spPr>
            <a:xfrm>
              <a:off x="402336" y="2487168"/>
              <a:ext cx="2542032" cy="402336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900" dirty="0">
                  <a:solidFill>
                    <a:srgbClr val="4B5563"/>
                  </a:solidFill>
                  <a:latin typeface="Rix고딕 L" panose="02020603020101020101" pitchFamily="18" charset="-127"/>
                  <a:ea typeface="Rix고딕 L" panose="02020603020101020101" pitchFamily="18" charset="-127"/>
                </a:rPr>
                <a:t>테스트 중 발견된 기능 오작동·요구사항 불충족 등</a:t>
              </a:r>
              <a:endParaRPr lang="en-US" sz="900" dirty="0">
                <a:latin typeface="Rix고딕 L" panose="02020603020101020101" pitchFamily="18" charset="-127"/>
                <a:ea typeface="Rix고딕 L" panose="02020603020101020101" pitchFamily="18" charset="-127"/>
              </a:endParaRPr>
            </a:p>
            <a:p>
              <a:pPr marL="0" indent="0">
                <a:buNone/>
              </a:pPr>
              <a:r>
                <a:rPr lang="en-US" sz="900" dirty="0">
                  <a:solidFill>
                    <a:srgbClr val="4B5563"/>
                  </a:solidFill>
                  <a:latin typeface="Rix고딕 L" panose="02020603020101020101" pitchFamily="18" charset="-127"/>
                  <a:ea typeface="Rix고딕 L" panose="02020603020101020101" pitchFamily="18" charset="-127"/>
                </a:rPr>
                <a:t>수정이 필요한 항목</a:t>
              </a:r>
              <a:endParaRPr lang="en-US" sz="900" dirty="0">
                <a:latin typeface="Rix고딕 L" panose="02020603020101020101" pitchFamily="18" charset="-127"/>
                <a:ea typeface="Rix고딕 L" panose="02020603020101020101" pitchFamily="18" charset="-127"/>
              </a:endParaRPr>
            </a:p>
          </p:txBody>
        </p:sp>
        <p:sp>
          <p:nvSpPr>
            <p:cNvPr id="18" name="Shape 16"/>
            <p:cNvSpPr/>
            <p:nvPr/>
          </p:nvSpPr>
          <p:spPr>
            <a:xfrm>
              <a:off x="379476" y="2944368"/>
              <a:ext cx="2389309" cy="18288"/>
            </a:xfrm>
            <a:prstGeom prst="rect">
              <a:avLst/>
            </a:prstGeom>
            <a:solidFill>
              <a:srgbClr val="D1D9E6"/>
            </a:solidFill>
            <a:ln w="12700">
              <a:solidFill>
                <a:srgbClr val="D1D9E6"/>
              </a:solidFill>
              <a:prstDash val="solid"/>
            </a:ln>
          </p:spPr>
          <p:txBody>
            <a:bodyPr/>
            <a:lstStyle/>
            <a:p>
              <a:endParaRPr lang="ko-KR" altLang="en-US">
                <a:latin typeface="Rix고딕 L" panose="02020603020101020101" pitchFamily="18" charset="-127"/>
                <a:ea typeface="Rix고딕 L" panose="02020603020101020101" pitchFamily="18" charset="-127"/>
              </a:endParaRPr>
            </a:p>
          </p:txBody>
        </p:sp>
        <p:sp>
          <p:nvSpPr>
            <p:cNvPr id="19" name="Text 17"/>
            <p:cNvSpPr/>
            <p:nvPr/>
          </p:nvSpPr>
          <p:spPr>
            <a:xfrm>
              <a:off x="379476" y="2953512"/>
              <a:ext cx="2542032" cy="905959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lnSpc>
                  <a:spcPct val="150000"/>
                </a:lnSpc>
                <a:buNone/>
              </a:pPr>
              <a:r>
                <a:rPr lang="en-US" sz="900" b="1" dirty="0">
                  <a:solidFill>
                    <a:srgbClr val="DC2626"/>
                  </a:solidFill>
                  <a:latin typeface="Rix고딕 L" panose="02020603020101020101" pitchFamily="18" charset="-127"/>
                  <a:ea typeface="Rix고딕 L" panose="02020603020101020101" pitchFamily="18" charset="-127"/>
                </a:rPr>
                <a:t>• </a:t>
              </a:r>
              <a:r>
                <a:rPr lang="en-US" sz="900" dirty="0" err="1">
                  <a:solidFill>
                    <a:srgbClr val="4B5563"/>
                  </a:solidFill>
                  <a:latin typeface="Rix고딕 L" panose="02020603020101020101" pitchFamily="18" charset="-127"/>
                  <a:ea typeface="Rix고딕 L" panose="02020603020101020101" pitchFamily="18" charset="-127"/>
                </a:rPr>
                <a:t>기능</a:t>
              </a:r>
              <a:r>
                <a:rPr lang="en-US" sz="900" dirty="0">
                  <a:solidFill>
                    <a:srgbClr val="4B5563"/>
                  </a:solidFill>
                  <a:latin typeface="Rix고딕 L" panose="02020603020101020101" pitchFamily="18" charset="-127"/>
                  <a:ea typeface="Rix고딕 L" panose="02020603020101020101" pitchFamily="18" charset="-127"/>
                </a:rPr>
                <a:t> </a:t>
              </a:r>
              <a:r>
                <a:rPr lang="en-US" sz="900" dirty="0" err="1">
                  <a:solidFill>
                    <a:srgbClr val="4B5563"/>
                  </a:solidFill>
                  <a:latin typeface="Rix고딕 L" panose="02020603020101020101" pitchFamily="18" charset="-127"/>
                  <a:ea typeface="Rix고딕 L" panose="02020603020101020101" pitchFamily="18" charset="-127"/>
                </a:rPr>
                <a:t>오작동</a:t>
              </a:r>
              <a:endParaRPr lang="en-US" sz="900" dirty="0">
                <a:solidFill>
                  <a:srgbClr val="4B5563"/>
                </a:solidFill>
                <a:latin typeface="Rix고딕 L" panose="02020603020101020101" pitchFamily="18" charset="-127"/>
                <a:ea typeface="Rix고딕 L" panose="02020603020101020101" pitchFamily="18" charset="-127"/>
              </a:endParaRPr>
            </a:p>
            <a:p>
              <a:pPr>
                <a:lnSpc>
                  <a:spcPct val="150000"/>
                </a:lnSpc>
              </a:pPr>
              <a:r>
                <a:rPr lang="en-US" altLang="ko-KR" sz="900" b="1" dirty="0">
                  <a:solidFill>
                    <a:srgbClr val="DC2626"/>
                  </a:solidFill>
                  <a:latin typeface="Rix고딕 L" panose="02020603020101020101" pitchFamily="18" charset="-127"/>
                  <a:ea typeface="Rix고딕 L" panose="02020603020101020101" pitchFamily="18" charset="-127"/>
                </a:rPr>
                <a:t>• </a:t>
              </a:r>
              <a:r>
                <a:rPr lang="en-US" altLang="ko-KR" sz="900" dirty="0" err="1">
                  <a:solidFill>
                    <a:srgbClr val="4B5563"/>
                  </a:solidFill>
                  <a:latin typeface="Rix고딕 L" panose="02020603020101020101" pitchFamily="18" charset="-127"/>
                  <a:ea typeface="Rix고딕 L" panose="02020603020101020101" pitchFamily="18" charset="-127"/>
                </a:rPr>
                <a:t>요구사항</a:t>
              </a:r>
              <a:r>
                <a:rPr lang="en-US" altLang="ko-KR" sz="900" dirty="0">
                  <a:solidFill>
                    <a:srgbClr val="4B5563"/>
                  </a:solidFill>
                  <a:latin typeface="Rix고딕 L" panose="02020603020101020101" pitchFamily="18" charset="-127"/>
                  <a:ea typeface="Rix고딕 L" panose="02020603020101020101" pitchFamily="18" charset="-127"/>
                </a:rPr>
                <a:t> </a:t>
              </a:r>
              <a:r>
                <a:rPr lang="en-US" altLang="ko-KR" sz="900" dirty="0" err="1">
                  <a:solidFill>
                    <a:srgbClr val="4B5563"/>
                  </a:solidFill>
                  <a:latin typeface="Rix고딕 L" panose="02020603020101020101" pitchFamily="18" charset="-127"/>
                  <a:ea typeface="Rix고딕 L" panose="02020603020101020101" pitchFamily="18" charset="-127"/>
                </a:rPr>
                <a:t>불충족</a:t>
              </a:r>
              <a:endParaRPr lang="en-US" altLang="ko-KR" sz="900" dirty="0">
                <a:latin typeface="Rix고딕 L" panose="02020603020101020101" pitchFamily="18" charset="-127"/>
                <a:ea typeface="Rix고딕 L" panose="02020603020101020101" pitchFamily="18" charset="-127"/>
              </a:endParaRPr>
            </a:p>
            <a:p>
              <a:pPr>
                <a:lnSpc>
                  <a:spcPct val="150000"/>
                </a:lnSpc>
              </a:pPr>
              <a:r>
                <a:rPr lang="en-US" altLang="ko-KR" sz="900" b="1" dirty="0">
                  <a:solidFill>
                    <a:srgbClr val="DC2626"/>
                  </a:solidFill>
                  <a:latin typeface="Rix고딕 L" panose="02020603020101020101" pitchFamily="18" charset="-127"/>
                  <a:ea typeface="Rix고딕 L" panose="02020603020101020101" pitchFamily="18" charset="-127"/>
                </a:rPr>
                <a:t>• </a:t>
              </a:r>
              <a:r>
                <a:rPr lang="en-US" altLang="ko-KR" sz="900" dirty="0" err="1">
                  <a:solidFill>
                    <a:srgbClr val="4B5563"/>
                  </a:solidFill>
                  <a:latin typeface="Rix고딕 L" panose="02020603020101020101" pitchFamily="18" charset="-127"/>
                  <a:ea typeface="Rix고딕 L" panose="02020603020101020101" pitchFamily="18" charset="-127"/>
                </a:rPr>
                <a:t>데이터</a:t>
              </a:r>
              <a:r>
                <a:rPr lang="en-US" altLang="ko-KR" sz="900" dirty="0">
                  <a:solidFill>
                    <a:srgbClr val="4B5563"/>
                  </a:solidFill>
                  <a:latin typeface="Rix고딕 L" panose="02020603020101020101" pitchFamily="18" charset="-127"/>
                  <a:ea typeface="Rix고딕 L" panose="02020603020101020101" pitchFamily="18" charset="-127"/>
                </a:rPr>
                <a:t> </a:t>
              </a:r>
              <a:r>
                <a:rPr lang="en-US" altLang="ko-KR" sz="900" dirty="0" err="1">
                  <a:solidFill>
                    <a:srgbClr val="4B5563"/>
                  </a:solidFill>
                  <a:latin typeface="Rix고딕 L" panose="02020603020101020101" pitchFamily="18" charset="-127"/>
                  <a:ea typeface="Rix고딕 L" panose="02020603020101020101" pitchFamily="18" charset="-127"/>
                </a:rPr>
                <a:t>오류</a:t>
              </a:r>
              <a:endParaRPr lang="en-US" altLang="ko-KR" sz="900" dirty="0">
                <a:latin typeface="Rix고딕 L" panose="02020603020101020101" pitchFamily="18" charset="-127"/>
                <a:ea typeface="Rix고딕 L" panose="02020603020101020101" pitchFamily="18" charset="-127"/>
              </a:endParaRPr>
            </a:p>
            <a:p>
              <a:pPr>
                <a:lnSpc>
                  <a:spcPct val="150000"/>
                </a:lnSpc>
              </a:pPr>
              <a:r>
                <a:rPr lang="en-US" altLang="ko-KR" sz="900" b="1" dirty="0">
                  <a:solidFill>
                    <a:srgbClr val="DC2626"/>
                  </a:solidFill>
                  <a:latin typeface="Rix고딕 L" panose="02020603020101020101" pitchFamily="18" charset="-127"/>
                  <a:ea typeface="Rix고딕 L" panose="02020603020101020101" pitchFamily="18" charset="-127"/>
                </a:rPr>
                <a:t>• </a:t>
              </a:r>
              <a:r>
                <a:rPr lang="en-US" altLang="ko-KR" sz="900" dirty="0">
                  <a:solidFill>
                    <a:srgbClr val="4B5563"/>
                  </a:solidFill>
                  <a:latin typeface="Rix고딕 L" panose="02020603020101020101" pitchFamily="18" charset="-127"/>
                  <a:ea typeface="Rix고딕 L" panose="02020603020101020101" pitchFamily="18" charset="-127"/>
                </a:rPr>
                <a:t>UI/</a:t>
              </a:r>
              <a:r>
                <a:rPr lang="en-US" altLang="ko-KR" sz="900" dirty="0" err="1">
                  <a:solidFill>
                    <a:srgbClr val="4B5563"/>
                  </a:solidFill>
                  <a:latin typeface="Rix고딕 L" panose="02020603020101020101" pitchFamily="18" charset="-127"/>
                  <a:ea typeface="Rix고딕 L" panose="02020603020101020101" pitchFamily="18" charset="-127"/>
                </a:rPr>
                <a:t>프로세스</a:t>
              </a:r>
              <a:r>
                <a:rPr lang="en-US" altLang="ko-KR" sz="900" dirty="0">
                  <a:solidFill>
                    <a:srgbClr val="4B5563"/>
                  </a:solidFill>
                  <a:latin typeface="Rix고딕 L" panose="02020603020101020101" pitchFamily="18" charset="-127"/>
                  <a:ea typeface="Rix고딕 L" panose="02020603020101020101" pitchFamily="18" charset="-127"/>
                </a:rPr>
                <a:t> </a:t>
              </a:r>
              <a:r>
                <a:rPr lang="en-US" altLang="ko-KR" sz="900" dirty="0" err="1">
                  <a:solidFill>
                    <a:srgbClr val="4B5563"/>
                  </a:solidFill>
                  <a:latin typeface="Rix고딕 L" panose="02020603020101020101" pitchFamily="18" charset="-127"/>
                  <a:ea typeface="Rix고딕 L" panose="02020603020101020101" pitchFamily="18" charset="-127"/>
                </a:rPr>
                <a:t>오류</a:t>
              </a:r>
              <a:endParaRPr lang="en-US" altLang="ko-KR" sz="900" dirty="0">
                <a:latin typeface="Rix고딕 L" panose="02020603020101020101" pitchFamily="18" charset="-127"/>
                <a:ea typeface="Rix고딕 L" panose="02020603020101020101" pitchFamily="18" charset="-127"/>
              </a:endParaRPr>
            </a:p>
          </p:txBody>
        </p:sp>
        <p:sp>
          <p:nvSpPr>
            <p:cNvPr id="23" name="Shape 21"/>
            <p:cNvSpPr/>
            <p:nvPr/>
          </p:nvSpPr>
          <p:spPr>
            <a:xfrm>
              <a:off x="251460" y="3950208"/>
              <a:ext cx="2633472" cy="256032"/>
            </a:xfrm>
            <a:prstGeom prst="rect">
              <a:avLst/>
            </a:prstGeom>
            <a:solidFill>
              <a:srgbClr val="DC2626"/>
            </a:solidFill>
            <a:ln w="12700">
              <a:solidFill>
                <a:srgbClr val="DC2626"/>
              </a:solidFill>
              <a:prstDash val="solid"/>
            </a:ln>
          </p:spPr>
          <p:txBody>
            <a:bodyPr/>
            <a:lstStyle/>
            <a:p>
              <a:endParaRPr lang="ko-KR" altLang="en-US">
                <a:latin typeface="Rix고딕 L" panose="02020603020101020101" pitchFamily="18" charset="-127"/>
                <a:ea typeface="Rix고딕 L" panose="02020603020101020101" pitchFamily="18" charset="-127"/>
              </a:endParaRPr>
            </a:p>
          </p:txBody>
        </p:sp>
        <p:sp>
          <p:nvSpPr>
            <p:cNvPr id="24" name="Text 22"/>
            <p:cNvSpPr/>
            <p:nvPr/>
          </p:nvSpPr>
          <p:spPr>
            <a:xfrm>
              <a:off x="365760" y="3950208"/>
              <a:ext cx="2633472" cy="256032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850" b="1" dirty="0">
                  <a:solidFill>
                    <a:srgbClr val="FFFFFF"/>
                  </a:solidFill>
                  <a:latin typeface="Rix고딕 L" panose="02020603020101020101" pitchFamily="18" charset="-127"/>
                  <a:ea typeface="Rix고딕 L" panose="02020603020101020101" pitchFamily="18" charset="-127"/>
                </a:rPr>
                <a:t>→ 결함율 산출 분자에 포함</a:t>
              </a:r>
              <a:endParaRPr lang="en-US" sz="850" dirty="0">
                <a:latin typeface="Rix고딕 L" panose="02020603020101020101" pitchFamily="18" charset="-127"/>
                <a:ea typeface="Rix고딕 L" panose="02020603020101020101" pitchFamily="18" charset="-127"/>
              </a:endParaRPr>
            </a:p>
          </p:txBody>
        </p:sp>
      </p:grpSp>
      <p:grpSp>
        <p:nvGrpSpPr>
          <p:cNvPr id="53" name="그룹 52">
            <a:extLst>
              <a:ext uri="{FF2B5EF4-FFF2-40B4-BE49-F238E27FC236}">
                <a16:creationId xmlns:a16="http://schemas.microsoft.com/office/drawing/2014/main" id="{0F5ACD6C-A333-29B5-BAEB-C91B9ACCE566}"/>
              </a:ext>
            </a:extLst>
          </p:cNvPr>
          <p:cNvGrpSpPr/>
          <p:nvPr/>
        </p:nvGrpSpPr>
        <p:grpSpPr>
          <a:xfrm>
            <a:off x="3240278" y="1940052"/>
            <a:ext cx="2747772" cy="2121408"/>
            <a:chOff x="3150108" y="2084832"/>
            <a:chExt cx="2747772" cy="2121408"/>
          </a:xfrm>
        </p:grpSpPr>
        <p:sp>
          <p:nvSpPr>
            <p:cNvPr id="25" name="Shape 23"/>
            <p:cNvSpPr/>
            <p:nvPr/>
          </p:nvSpPr>
          <p:spPr>
            <a:xfrm>
              <a:off x="3150108" y="2084832"/>
              <a:ext cx="2633472" cy="2121408"/>
            </a:xfrm>
            <a:prstGeom prst="rect">
              <a:avLst/>
            </a:prstGeom>
            <a:solidFill>
              <a:srgbClr val="F4F7FB"/>
            </a:solidFill>
            <a:ln w="12700">
              <a:solidFill>
                <a:srgbClr val="D1D9E6"/>
              </a:solidFill>
              <a:prstDash val="solid"/>
            </a:ln>
            <a:effectLst>
              <a:outerShdw blurRad="50800" dist="25400" dir="8100000" algn="bl" rotWithShape="0">
                <a:srgbClr val="000000">
                  <a:alpha val="8000"/>
                </a:srgbClr>
              </a:outerShdw>
            </a:effectLst>
          </p:spPr>
          <p:txBody>
            <a:bodyPr/>
            <a:lstStyle/>
            <a:p>
              <a:endParaRPr lang="ko-KR" altLang="en-US">
                <a:latin typeface="Rix고딕 L" panose="02020603020101020101" pitchFamily="18" charset="-127"/>
                <a:ea typeface="Rix고딕 L" panose="02020603020101020101" pitchFamily="18" charset="-127"/>
              </a:endParaRPr>
            </a:p>
          </p:txBody>
        </p:sp>
        <p:sp>
          <p:nvSpPr>
            <p:cNvPr id="26" name="Shape 24"/>
            <p:cNvSpPr/>
            <p:nvPr/>
          </p:nvSpPr>
          <p:spPr>
            <a:xfrm>
              <a:off x="3150108" y="2084832"/>
              <a:ext cx="2633472" cy="54864"/>
            </a:xfrm>
            <a:prstGeom prst="rect">
              <a:avLst/>
            </a:prstGeom>
            <a:solidFill>
              <a:srgbClr val="E85D2F"/>
            </a:solidFill>
            <a:ln w="12700">
              <a:solidFill>
                <a:srgbClr val="E85D2F"/>
              </a:solidFill>
              <a:prstDash val="solid"/>
            </a:ln>
          </p:spPr>
          <p:txBody>
            <a:bodyPr/>
            <a:lstStyle/>
            <a:p>
              <a:endParaRPr lang="ko-KR" altLang="en-US">
                <a:latin typeface="Rix고딕 L" panose="02020603020101020101" pitchFamily="18" charset="-127"/>
                <a:ea typeface="Rix고딕 L" panose="02020603020101020101" pitchFamily="18" charset="-127"/>
              </a:endParaRPr>
            </a:p>
          </p:txBody>
        </p:sp>
        <p:sp>
          <p:nvSpPr>
            <p:cNvPr id="27" name="Text 25"/>
            <p:cNvSpPr/>
            <p:nvPr/>
          </p:nvSpPr>
          <p:spPr>
            <a:xfrm>
              <a:off x="3300984" y="2176272"/>
              <a:ext cx="1737360" cy="256032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1100" b="1" dirty="0">
                  <a:solidFill>
                    <a:srgbClr val="E85D2F"/>
                  </a:solidFill>
                  <a:latin typeface="Rix고딕 L" panose="02020603020101020101" pitchFamily="18" charset="-127"/>
                  <a:ea typeface="Rix고딕 L" panose="02020603020101020101" pitchFamily="18" charset="-127"/>
                </a:rPr>
                <a:t>신규 (New)</a:t>
              </a:r>
              <a:endParaRPr lang="en-US" sz="1100" dirty="0">
                <a:latin typeface="Rix고딕 L" panose="02020603020101020101" pitchFamily="18" charset="-127"/>
                <a:ea typeface="Rix고딕 L" panose="02020603020101020101" pitchFamily="18" charset="-127"/>
              </a:endParaRPr>
            </a:p>
          </p:txBody>
        </p:sp>
        <p:sp>
          <p:nvSpPr>
            <p:cNvPr id="28" name="Shape 26"/>
            <p:cNvSpPr/>
            <p:nvPr/>
          </p:nvSpPr>
          <p:spPr>
            <a:xfrm>
              <a:off x="4945380" y="2194560"/>
              <a:ext cx="749808" cy="201168"/>
            </a:xfrm>
            <a:prstGeom prst="roundRect">
              <a:avLst>
                <a:gd name="adj" fmla="val 27273"/>
              </a:avLst>
            </a:prstGeom>
            <a:solidFill>
              <a:srgbClr val="E85D2F"/>
            </a:solidFill>
            <a:ln w="12700">
              <a:solidFill>
                <a:srgbClr val="E85D2F"/>
              </a:solidFill>
              <a:prstDash val="solid"/>
            </a:ln>
          </p:spPr>
          <p:txBody>
            <a:bodyPr/>
            <a:lstStyle/>
            <a:p>
              <a:endParaRPr lang="ko-KR" altLang="en-US">
                <a:latin typeface="Rix고딕 L" panose="02020603020101020101" pitchFamily="18" charset="-127"/>
                <a:ea typeface="Rix고딕 L" panose="02020603020101020101" pitchFamily="18" charset="-127"/>
              </a:endParaRPr>
            </a:p>
          </p:txBody>
        </p:sp>
        <p:sp>
          <p:nvSpPr>
            <p:cNvPr id="29" name="Text 27"/>
            <p:cNvSpPr/>
            <p:nvPr/>
          </p:nvSpPr>
          <p:spPr>
            <a:xfrm>
              <a:off x="4945380" y="2194560"/>
              <a:ext cx="749808" cy="20116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750" b="1" dirty="0">
                  <a:solidFill>
                    <a:srgbClr val="FFFFFF"/>
                  </a:solidFill>
                  <a:latin typeface="Rix고딕 L" panose="02020603020101020101" pitchFamily="18" charset="-127"/>
                  <a:ea typeface="Rix고딕 L" panose="02020603020101020101" pitchFamily="18" charset="-127"/>
                </a:rPr>
                <a:t>결함율 산입</a:t>
              </a:r>
              <a:endParaRPr lang="en-US" sz="750" dirty="0">
                <a:latin typeface="Rix고딕 L" panose="02020603020101020101" pitchFamily="18" charset="-127"/>
                <a:ea typeface="Rix고딕 L" panose="02020603020101020101" pitchFamily="18" charset="-127"/>
              </a:endParaRPr>
            </a:p>
          </p:txBody>
        </p:sp>
        <p:sp>
          <p:nvSpPr>
            <p:cNvPr id="30" name="Text 28"/>
            <p:cNvSpPr/>
            <p:nvPr/>
          </p:nvSpPr>
          <p:spPr>
            <a:xfrm>
              <a:off x="3300984" y="2487168"/>
              <a:ext cx="2542032" cy="402336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900" dirty="0">
                  <a:solidFill>
                    <a:srgbClr val="4B5563"/>
                  </a:solidFill>
                  <a:latin typeface="Rix고딕 L" panose="02020603020101020101" pitchFamily="18" charset="-127"/>
                  <a:ea typeface="Rix고딕 L" panose="02020603020101020101" pitchFamily="18" charset="-127"/>
                </a:rPr>
                <a:t>테스트 과정에서 신규로 도출된</a:t>
              </a:r>
              <a:endParaRPr lang="en-US" sz="900" dirty="0">
                <a:latin typeface="Rix고딕 L" panose="02020603020101020101" pitchFamily="18" charset="-127"/>
                <a:ea typeface="Rix고딕 L" panose="02020603020101020101" pitchFamily="18" charset="-127"/>
              </a:endParaRPr>
            </a:p>
            <a:p>
              <a:pPr marL="0" indent="0">
                <a:buNone/>
              </a:pPr>
              <a:r>
                <a:rPr lang="en-US" sz="900" dirty="0">
                  <a:solidFill>
                    <a:srgbClr val="4B5563"/>
                  </a:solidFill>
                  <a:latin typeface="Rix고딕 L" panose="02020603020101020101" pitchFamily="18" charset="-127"/>
                  <a:ea typeface="Rix고딕 L" panose="02020603020101020101" pitchFamily="18" charset="-127"/>
                </a:rPr>
                <a:t>추가 결함 항목</a:t>
              </a:r>
              <a:endParaRPr lang="en-US" sz="900" dirty="0">
                <a:latin typeface="Rix고딕 L" panose="02020603020101020101" pitchFamily="18" charset="-127"/>
                <a:ea typeface="Rix고딕 L" panose="02020603020101020101" pitchFamily="18" charset="-127"/>
              </a:endParaRPr>
            </a:p>
          </p:txBody>
        </p:sp>
        <p:sp>
          <p:nvSpPr>
            <p:cNvPr id="31" name="Shape 29"/>
            <p:cNvSpPr/>
            <p:nvPr/>
          </p:nvSpPr>
          <p:spPr>
            <a:xfrm>
              <a:off x="3278124" y="2944368"/>
              <a:ext cx="2389309" cy="18288"/>
            </a:xfrm>
            <a:prstGeom prst="rect">
              <a:avLst/>
            </a:prstGeom>
            <a:solidFill>
              <a:srgbClr val="D1D9E6"/>
            </a:solidFill>
            <a:ln w="12700">
              <a:solidFill>
                <a:srgbClr val="D1D9E6"/>
              </a:solidFill>
              <a:prstDash val="solid"/>
            </a:ln>
          </p:spPr>
          <p:txBody>
            <a:bodyPr/>
            <a:lstStyle/>
            <a:p>
              <a:endParaRPr lang="ko-KR" altLang="en-US">
                <a:latin typeface="Rix고딕 L" panose="02020603020101020101" pitchFamily="18" charset="-127"/>
                <a:ea typeface="Rix고딕 L" panose="02020603020101020101" pitchFamily="18" charset="-127"/>
              </a:endParaRPr>
            </a:p>
          </p:txBody>
        </p:sp>
        <p:sp>
          <p:nvSpPr>
            <p:cNvPr id="32" name="Text 30"/>
            <p:cNvSpPr/>
            <p:nvPr/>
          </p:nvSpPr>
          <p:spPr>
            <a:xfrm>
              <a:off x="3300984" y="3017520"/>
              <a:ext cx="2542032" cy="64008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lnSpc>
                  <a:spcPct val="150000"/>
                </a:lnSpc>
                <a:buNone/>
              </a:pPr>
              <a:r>
                <a:rPr lang="en-US" sz="900" b="1" dirty="0">
                  <a:solidFill>
                    <a:srgbClr val="E85D2F"/>
                  </a:solidFill>
                  <a:latin typeface="Rix고딕 L" panose="02020603020101020101" pitchFamily="18" charset="-127"/>
                  <a:ea typeface="Rix고딕 L" panose="02020603020101020101" pitchFamily="18" charset="-127"/>
                </a:rPr>
                <a:t>• </a:t>
              </a:r>
              <a:r>
                <a:rPr lang="ko-KR" altLang="en-US" sz="900" b="1" dirty="0">
                  <a:solidFill>
                    <a:srgbClr val="E85D2F"/>
                  </a:solidFill>
                  <a:latin typeface="Rix고딕 L" panose="02020603020101020101" pitchFamily="18" charset="-127"/>
                  <a:ea typeface="Rix고딕 L" panose="02020603020101020101" pitchFamily="18" charset="-127"/>
                </a:rPr>
                <a:t>총 </a:t>
              </a:r>
              <a:r>
                <a:rPr lang="en-US" altLang="ko-KR" sz="900" b="1" dirty="0">
                  <a:solidFill>
                    <a:srgbClr val="E85D2F"/>
                  </a:solidFill>
                  <a:latin typeface="Rix고딕 L" panose="02020603020101020101" pitchFamily="18" charset="-127"/>
                  <a:ea typeface="Rix고딕 L" panose="02020603020101020101" pitchFamily="18" charset="-127"/>
                </a:rPr>
                <a:t>68</a:t>
              </a:r>
              <a:r>
                <a:rPr lang="ko-KR" altLang="en-US" sz="900" b="1" dirty="0">
                  <a:solidFill>
                    <a:srgbClr val="E85D2F"/>
                  </a:solidFill>
                  <a:latin typeface="Rix고딕 L" panose="02020603020101020101" pitchFamily="18" charset="-127"/>
                  <a:ea typeface="Rix고딕 L" panose="02020603020101020101" pitchFamily="18" charset="-127"/>
                </a:rPr>
                <a:t>건</a:t>
              </a:r>
              <a:endParaRPr lang="en-US" altLang="ko-KR" sz="900" b="1" dirty="0">
                <a:solidFill>
                  <a:srgbClr val="E85D2F"/>
                </a:solidFill>
                <a:latin typeface="Rix고딕 L" panose="02020603020101020101" pitchFamily="18" charset="-127"/>
                <a:ea typeface="Rix고딕 L" panose="02020603020101020101" pitchFamily="18" charset="-127"/>
              </a:endParaRPr>
            </a:p>
            <a:p>
              <a:pPr>
                <a:lnSpc>
                  <a:spcPct val="150000"/>
                </a:lnSpc>
              </a:pPr>
              <a:r>
                <a:rPr lang="en-US" altLang="ko-KR" sz="900" b="1" dirty="0">
                  <a:solidFill>
                    <a:srgbClr val="E85D2F"/>
                  </a:solidFill>
                  <a:latin typeface="Rix고딕 L" panose="02020603020101020101" pitchFamily="18" charset="-127"/>
                  <a:ea typeface="Rix고딕 L" panose="02020603020101020101" pitchFamily="18" charset="-127"/>
                </a:rPr>
                <a:t>•  </a:t>
              </a:r>
              <a:r>
                <a:rPr lang="en-US" sz="900" dirty="0" err="1">
                  <a:solidFill>
                    <a:srgbClr val="4B5563"/>
                  </a:solidFill>
                  <a:latin typeface="Rix고딕 L" panose="02020603020101020101" pitchFamily="18" charset="-127"/>
                  <a:ea typeface="Rix고딕 L" panose="02020603020101020101" pitchFamily="18" charset="-127"/>
                </a:rPr>
                <a:t>테스트</a:t>
              </a:r>
              <a:r>
                <a:rPr lang="en-US" sz="900" dirty="0">
                  <a:solidFill>
                    <a:srgbClr val="4B5563"/>
                  </a:solidFill>
                  <a:latin typeface="Rix고딕 L" panose="02020603020101020101" pitchFamily="18" charset="-127"/>
                  <a:ea typeface="Rix고딕 L" panose="02020603020101020101" pitchFamily="18" charset="-127"/>
                </a:rPr>
                <a:t> 중 </a:t>
              </a:r>
              <a:r>
                <a:rPr lang="en-US" sz="900" dirty="0" err="1">
                  <a:solidFill>
                    <a:srgbClr val="4B5563"/>
                  </a:solidFill>
                  <a:latin typeface="Rix고딕 L" panose="02020603020101020101" pitchFamily="18" charset="-127"/>
                  <a:ea typeface="Rix고딕 L" panose="02020603020101020101" pitchFamily="18" charset="-127"/>
                </a:rPr>
                <a:t>신규</a:t>
              </a:r>
              <a:r>
                <a:rPr lang="en-US" sz="900" dirty="0">
                  <a:solidFill>
                    <a:srgbClr val="4B5563"/>
                  </a:solidFill>
                  <a:latin typeface="Rix고딕 L" panose="02020603020101020101" pitchFamily="18" charset="-127"/>
                  <a:ea typeface="Rix고딕 L" panose="02020603020101020101" pitchFamily="18" charset="-127"/>
                </a:rPr>
                <a:t> </a:t>
              </a:r>
              <a:r>
                <a:rPr lang="ko-KR" altLang="en-US" sz="900" dirty="0">
                  <a:solidFill>
                    <a:srgbClr val="4B5563"/>
                  </a:solidFill>
                  <a:latin typeface="Rix고딕 L" panose="02020603020101020101" pitchFamily="18" charset="-127"/>
                  <a:ea typeface="Rix고딕 L" panose="02020603020101020101" pitchFamily="18" charset="-127"/>
                </a:rPr>
                <a:t>요건 발견</a:t>
              </a:r>
              <a:endParaRPr lang="en-US" altLang="ko-KR" sz="900" dirty="0">
                <a:solidFill>
                  <a:srgbClr val="4B5563"/>
                </a:solidFill>
                <a:latin typeface="Rix고딕 L" panose="02020603020101020101" pitchFamily="18" charset="-127"/>
                <a:ea typeface="Rix고딕 L" panose="02020603020101020101" pitchFamily="18" charset="-127"/>
              </a:endParaRPr>
            </a:p>
            <a:p>
              <a:pPr>
                <a:lnSpc>
                  <a:spcPct val="150000"/>
                </a:lnSpc>
              </a:pPr>
              <a:r>
                <a:rPr lang="en-US" altLang="ko-KR" sz="900" b="1" dirty="0">
                  <a:solidFill>
                    <a:srgbClr val="E85D2F"/>
                  </a:solidFill>
                  <a:latin typeface="Rix고딕 L" panose="02020603020101020101" pitchFamily="18" charset="-127"/>
                  <a:ea typeface="Rix고딕 L" panose="02020603020101020101" pitchFamily="18" charset="-127"/>
                </a:rPr>
                <a:t>• </a:t>
              </a:r>
              <a:r>
                <a:rPr lang="en-US" altLang="ko-KR" sz="900" dirty="0" err="1">
                  <a:solidFill>
                    <a:srgbClr val="4B5563"/>
                  </a:solidFill>
                  <a:latin typeface="Rix고딕 L" panose="02020603020101020101" pitchFamily="18" charset="-127"/>
                  <a:ea typeface="Rix고딕 L" panose="02020603020101020101" pitchFamily="18" charset="-127"/>
                </a:rPr>
                <a:t>기존</a:t>
              </a:r>
              <a:r>
                <a:rPr lang="en-US" altLang="ko-KR" sz="900" dirty="0">
                  <a:solidFill>
                    <a:srgbClr val="4B5563"/>
                  </a:solidFill>
                  <a:latin typeface="Rix고딕 L" panose="02020603020101020101" pitchFamily="18" charset="-127"/>
                  <a:ea typeface="Rix고딕 L" panose="02020603020101020101" pitchFamily="18" charset="-127"/>
                </a:rPr>
                <a:t> </a:t>
              </a:r>
              <a:r>
                <a:rPr lang="en-US" altLang="ko-KR" sz="900" dirty="0" err="1">
                  <a:solidFill>
                    <a:srgbClr val="4B5563"/>
                  </a:solidFill>
                  <a:latin typeface="Rix고딕 L" panose="02020603020101020101" pitchFamily="18" charset="-127"/>
                  <a:ea typeface="Rix고딕 L" panose="02020603020101020101" pitchFamily="18" charset="-127"/>
                </a:rPr>
                <a:t>시나리오</a:t>
              </a:r>
              <a:r>
                <a:rPr lang="en-US" altLang="ko-KR" sz="900" dirty="0">
                  <a:solidFill>
                    <a:srgbClr val="4B5563"/>
                  </a:solidFill>
                  <a:latin typeface="Rix고딕 L" panose="02020603020101020101" pitchFamily="18" charset="-127"/>
                  <a:ea typeface="Rix고딕 L" panose="02020603020101020101" pitchFamily="18" charset="-127"/>
                </a:rPr>
                <a:t> </a:t>
              </a:r>
              <a:r>
                <a:rPr lang="en-US" altLang="ko-KR" sz="900" dirty="0" err="1">
                  <a:solidFill>
                    <a:srgbClr val="4B5563"/>
                  </a:solidFill>
                  <a:latin typeface="Rix고딕 L" panose="02020603020101020101" pitchFamily="18" charset="-127"/>
                  <a:ea typeface="Rix고딕 L" panose="02020603020101020101" pitchFamily="18" charset="-127"/>
                </a:rPr>
                <a:t>미포함</a:t>
              </a:r>
              <a:r>
                <a:rPr lang="en-US" altLang="ko-KR" sz="900" dirty="0">
                  <a:solidFill>
                    <a:srgbClr val="4B5563"/>
                  </a:solidFill>
                  <a:latin typeface="Rix고딕 L" panose="02020603020101020101" pitchFamily="18" charset="-127"/>
                  <a:ea typeface="Rix고딕 L" panose="02020603020101020101" pitchFamily="18" charset="-127"/>
                </a:rPr>
                <a:t> </a:t>
              </a:r>
              <a:r>
                <a:rPr lang="en-US" altLang="ko-KR" sz="900" dirty="0" err="1">
                  <a:solidFill>
                    <a:srgbClr val="4B5563"/>
                  </a:solidFill>
                  <a:latin typeface="Rix고딕 L" panose="02020603020101020101" pitchFamily="18" charset="-127"/>
                  <a:ea typeface="Rix고딕 L" panose="02020603020101020101" pitchFamily="18" charset="-127"/>
                </a:rPr>
                <a:t>결함</a:t>
              </a:r>
              <a:r>
                <a:rPr lang="ko-KR" altLang="en-US" sz="900" dirty="0">
                  <a:solidFill>
                    <a:srgbClr val="4B5563"/>
                  </a:solidFill>
                  <a:latin typeface="Rix고딕 L" panose="02020603020101020101" pitchFamily="18" charset="-127"/>
                  <a:ea typeface="Rix고딕 L" panose="02020603020101020101" pitchFamily="18" charset="-127"/>
                </a:rPr>
                <a:t> </a:t>
              </a:r>
              <a:endParaRPr lang="en-US" sz="900" dirty="0">
                <a:latin typeface="Rix고딕 L" panose="02020603020101020101" pitchFamily="18" charset="-127"/>
                <a:ea typeface="Rix고딕 L" panose="02020603020101020101" pitchFamily="18" charset="-127"/>
              </a:endParaRPr>
            </a:p>
          </p:txBody>
        </p:sp>
        <p:sp>
          <p:nvSpPr>
            <p:cNvPr id="34" name="Shape 32"/>
            <p:cNvSpPr/>
            <p:nvPr/>
          </p:nvSpPr>
          <p:spPr>
            <a:xfrm>
              <a:off x="3150108" y="3950208"/>
              <a:ext cx="2633472" cy="256032"/>
            </a:xfrm>
            <a:prstGeom prst="rect">
              <a:avLst/>
            </a:prstGeom>
            <a:solidFill>
              <a:srgbClr val="E85D2F"/>
            </a:solidFill>
            <a:ln w="12700">
              <a:solidFill>
                <a:srgbClr val="E85D2F"/>
              </a:solidFill>
              <a:prstDash val="solid"/>
            </a:ln>
          </p:spPr>
          <p:txBody>
            <a:bodyPr/>
            <a:lstStyle/>
            <a:p>
              <a:endParaRPr lang="ko-KR" altLang="en-US">
                <a:latin typeface="Rix고딕 L" panose="02020603020101020101" pitchFamily="18" charset="-127"/>
                <a:ea typeface="Rix고딕 L" panose="02020603020101020101" pitchFamily="18" charset="-127"/>
              </a:endParaRPr>
            </a:p>
          </p:txBody>
        </p:sp>
        <p:sp>
          <p:nvSpPr>
            <p:cNvPr id="35" name="Text 33"/>
            <p:cNvSpPr/>
            <p:nvPr/>
          </p:nvSpPr>
          <p:spPr>
            <a:xfrm>
              <a:off x="3264408" y="3950208"/>
              <a:ext cx="2633472" cy="256032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850" b="1" dirty="0">
                  <a:solidFill>
                    <a:srgbClr val="FFFFFF"/>
                  </a:solidFill>
                  <a:latin typeface="Rix고딕 L" panose="02020603020101020101" pitchFamily="18" charset="-127"/>
                  <a:ea typeface="Rix고딕 L" panose="02020603020101020101" pitchFamily="18" charset="-127"/>
                </a:rPr>
                <a:t>→ 결함과 동일하게 결함율 분자 산입</a:t>
              </a:r>
              <a:endParaRPr lang="en-US" sz="850" dirty="0">
                <a:latin typeface="Rix고딕 L" panose="02020603020101020101" pitchFamily="18" charset="-127"/>
                <a:ea typeface="Rix고딕 L" panose="02020603020101020101" pitchFamily="18" charset="-127"/>
              </a:endParaRPr>
            </a:p>
          </p:txBody>
        </p:sp>
      </p:grpSp>
      <p:grpSp>
        <p:nvGrpSpPr>
          <p:cNvPr id="54" name="그룹 53">
            <a:extLst>
              <a:ext uri="{FF2B5EF4-FFF2-40B4-BE49-F238E27FC236}">
                <a16:creationId xmlns:a16="http://schemas.microsoft.com/office/drawing/2014/main" id="{E165E339-BC19-2C26-2A34-BBCB88F592E7}"/>
              </a:ext>
            </a:extLst>
          </p:cNvPr>
          <p:cNvGrpSpPr/>
          <p:nvPr/>
        </p:nvGrpSpPr>
        <p:grpSpPr>
          <a:xfrm>
            <a:off x="6048756" y="1940052"/>
            <a:ext cx="2747772" cy="2121408"/>
            <a:chOff x="6048756" y="2084832"/>
            <a:chExt cx="2747772" cy="2121408"/>
          </a:xfrm>
        </p:grpSpPr>
        <p:sp>
          <p:nvSpPr>
            <p:cNvPr id="36" name="Shape 34"/>
            <p:cNvSpPr/>
            <p:nvPr/>
          </p:nvSpPr>
          <p:spPr>
            <a:xfrm>
              <a:off x="6048756" y="2084832"/>
              <a:ext cx="2633472" cy="2121408"/>
            </a:xfrm>
            <a:prstGeom prst="rect">
              <a:avLst/>
            </a:prstGeom>
            <a:solidFill>
              <a:srgbClr val="F4F7FB"/>
            </a:solidFill>
            <a:ln w="12700">
              <a:solidFill>
                <a:srgbClr val="D1D9E6"/>
              </a:solidFill>
              <a:prstDash val="solid"/>
            </a:ln>
            <a:effectLst>
              <a:outerShdw blurRad="50800" dist="25400" dir="8100000" algn="bl" rotWithShape="0">
                <a:srgbClr val="000000">
                  <a:alpha val="8000"/>
                </a:srgbClr>
              </a:outerShdw>
            </a:effectLst>
          </p:spPr>
          <p:txBody>
            <a:bodyPr/>
            <a:lstStyle/>
            <a:p>
              <a:endParaRPr lang="ko-KR" altLang="en-US">
                <a:latin typeface="Rix고딕 L" panose="02020603020101020101" pitchFamily="18" charset="-127"/>
                <a:ea typeface="Rix고딕 L" panose="02020603020101020101" pitchFamily="18" charset="-127"/>
              </a:endParaRPr>
            </a:p>
          </p:txBody>
        </p:sp>
        <p:sp>
          <p:nvSpPr>
            <p:cNvPr id="37" name="Shape 35"/>
            <p:cNvSpPr/>
            <p:nvPr/>
          </p:nvSpPr>
          <p:spPr>
            <a:xfrm>
              <a:off x="6048756" y="2084832"/>
              <a:ext cx="2633472" cy="54864"/>
            </a:xfrm>
            <a:prstGeom prst="rect">
              <a:avLst/>
            </a:prstGeom>
            <a:solidFill>
              <a:srgbClr val="2563A8"/>
            </a:solidFill>
            <a:ln w="12700">
              <a:solidFill>
                <a:srgbClr val="2563A8"/>
              </a:solidFill>
              <a:prstDash val="solid"/>
            </a:ln>
          </p:spPr>
          <p:txBody>
            <a:bodyPr/>
            <a:lstStyle/>
            <a:p>
              <a:endParaRPr lang="ko-KR" altLang="en-US">
                <a:latin typeface="Rix고딕 L" panose="02020603020101020101" pitchFamily="18" charset="-127"/>
                <a:ea typeface="Rix고딕 L" panose="02020603020101020101" pitchFamily="18" charset="-127"/>
              </a:endParaRPr>
            </a:p>
          </p:txBody>
        </p:sp>
        <p:sp>
          <p:nvSpPr>
            <p:cNvPr id="38" name="Text 36"/>
            <p:cNvSpPr/>
            <p:nvPr/>
          </p:nvSpPr>
          <p:spPr>
            <a:xfrm>
              <a:off x="6199632" y="2176272"/>
              <a:ext cx="1737360" cy="256032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1100" b="1" dirty="0">
                  <a:solidFill>
                    <a:srgbClr val="2563A8"/>
                  </a:solidFill>
                  <a:latin typeface="Rix고딕 L" panose="02020603020101020101" pitchFamily="18" charset="-127"/>
                  <a:ea typeface="Rix고딕 L" panose="02020603020101020101" pitchFamily="18" charset="-127"/>
                </a:rPr>
                <a:t>개선·변경 (Improvement)</a:t>
              </a:r>
              <a:endParaRPr lang="en-US" sz="1100" dirty="0">
                <a:latin typeface="Rix고딕 L" panose="02020603020101020101" pitchFamily="18" charset="-127"/>
                <a:ea typeface="Rix고딕 L" panose="02020603020101020101" pitchFamily="18" charset="-127"/>
              </a:endParaRPr>
            </a:p>
          </p:txBody>
        </p:sp>
        <p:sp>
          <p:nvSpPr>
            <p:cNvPr id="39" name="Shape 37"/>
            <p:cNvSpPr/>
            <p:nvPr/>
          </p:nvSpPr>
          <p:spPr>
            <a:xfrm>
              <a:off x="7844028" y="2194560"/>
              <a:ext cx="749808" cy="201168"/>
            </a:xfrm>
            <a:prstGeom prst="roundRect">
              <a:avLst>
                <a:gd name="adj" fmla="val 27273"/>
              </a:avLst>
            </a:prstGeom>
            <a:solidFill>
              <a:srgbClr val="2563A8"/>
            </a:solidFill>
            <a:ln w="12700">
              <a:solidFill>
                <a:srgbClr val="2563A8"/>
              </a:solidFill>
              <a:prstDash val="solid"/>
            </a:ln>
          </p:spPr>
          <p:txBody>
            <a:bodyPr/>
            <a:lstStyle/>
            <a:p>
              <a:endParaRPr lang="ko-KR" altLang="en-US">
                <a:latin typeface="Rix고딕 L" panose="02020603020101020101" pitchFamily="18" charset="-127"/>
                <a:ea typeface="Rix고딕 L" panose="02020603020101020101" pitchFamily="18" charset="-127"/>
              </a:endParaRPr>
            </a:p>
          </p:txBody>
        </p:sp>
        <p:sp>
          <p:nvSpPr>
            <p:cNvPr id="40" name="Text 38"/>
            <p:cNvSpPr/>
            <p:nvPr/>
          </p:nvSpPr>
          <p:spPr>
            <a:xfrm>
              <a:off x="7844028" y="2194560"/>
              <a:ext cx="749808" cy="20116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750" b="1" dirty="0">
                  <a:solidFill>
                    <a:srgbClr val="FFFFFF"/>
                  </a:solidFill>
                  <a:latin typeface="Rix고딕 L" panose="02020603020101020101" pitchFamily="18" charset="-127"/>
                  <a:ea typeface="Rix고딕 L" panose="02020603020101020101" pitchFamily="18" charset="-127"/>
                </a:rPr>
                <a:t>별도 집계</a:t>
              </a:r>
              <a:endParaRPr lang="en-US" sz="750" dirty="0">
                <a:latin typeface="Rix고딕 L" panose="02020603020101020101" pitchFamily="18" charset="-127"/>
                <a:ea typeface="Rix고딕 L" panose="02020603020101020101" pitchFamily="18" charset="-127"/>
              </a:endParaRPr>
            </a:p>
          </p:txBody>
        </p:sp>
        <p:sp>
          <p:nvSpPr>
            <p:cNvPr id="41" name="Text 39"/>
            <p:cNvSpPr/>
            <p:nvPr/>
          </p:nvSpPr>
          <p:spPr>
            <a:xfrm>
              <a:off x="6199632" y="2487168"/>
              <a:ext cx="2542032" cy="402336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900" dirty="0">
                  <a:solidFill>
                    <a:srgbClr val="4B5563"/>
                  </a:solidFill>
                  <a:latin typeface="Rix고딕 L" panose="02020603020101020101" pitchFamily="18" charset="-127"/>
                  <a:ea typeface="Rix고딕 L" panose="02020603020101020101" pitchFamily="18" charset="-127"/>
                </a:rPr>
                <a:t>결함이 아닌 요구사항 추가·변경 요청 항목</a:t>
              </a:r>
              <a:endParaRPr lang="en-US" sz="900" dirty="0">
                <a:latin typeface="Rix고딕 L" panose="02020603020101020101" pitchFamily="18" charset="-127"/>
                <a:ea typeface="Rix고딕 L" panose="02020603020101020101" pitchFamily="18" charset="-127"/>
              </a:endParaRPr>
            </a:p>
            <a:p>
              <a:pPr marL="0" indent="0">
                <a:buNone/>
              </a:pPr>
              <a:r>
                <a:rPr lang="en-US" sz="900" dirty="0">
                  <a:solidFill>
                    <a:srgbClr val="4B5563"/>
                  </a:solidFill>
                  <a:latin typeface="Rix고딕 L" panose="02020603020101020101" pitchFamily="18" charset="-127"/>
                  <a:ea typeface="Rix고딕 L" panose="02020603020101020101" pitchFamily="18" charset="-127"/>
                </a:rPr>
                <a:t>품질 문제와 무관한 협의 이슈</a:t>
              </a:r>
              <a:endParaRPr lang="en-US" sz="900" dirty="0">
                <a:latin typeface="Rix고딕 L" panose="02020603020101020101" pitchFamily="18" charset="-127"/>
                <a:ea typeface="Rix고딕 L" panose="02020603020101020101" pitchFamily="18" charset="-127"/>
              </a:endParaRPr>
            </a:p>
          </p:txBody>
        </p:sp>
        <p:sp>
          <p:nvSpPr>
            <p:cNvPr id="42" name="Shape 40"/>
            <p:cNvSpPr/>
            <p:nvPr/>
          </p:nvSpPr>
          <p:spPr>
            <a:xfrm>
              <a:off x="6176772" y="2944368"/>
              <a:ext cx="2389309" cy="18288"/>
            </a:xfrm>
            <a:prstGeom prst="rect">
              <a:avLst/>
            </a:prstGeom>
            <a:solidFill>
              <a:srgbClr val="D1D9E6"/>
            </a:solidFill>
            <a:ln w="12700">
              <a:solidFill>
                <a:srgbClr val="D1D9E6"/>
              </a:solidFill>
              <a:prstDash val="solid"/>
            </a:ln>
          </p:spPr>
          <p:txBody>
            <a:bodyPr/>
            <a:lstStyle/>
            <a:p>
              <a:endParaRPr lang="ko-KR" altLang="en-US">
                <a:latin typeface="Rix고딕 L" panose="02020603020101020101" pitchFamily="18" charset="-127"/>
                <a:ea typeface="Rix고딕 L" panose="02020603020101020101" pitchFamily="18" charset="-127"/>
              </a:endParaRPr>
            </a:p>
          </p:txBody>
        </p:sp>
        <p:sp>
          <p:nvSpPr>
            <p:cNvPr id="43" name="Text 41"/>
            <p:cNvSpPr/>
            <p:nvPr/>
          </p:nvSpPr>
          <p:spPr>
            <a:xfrm>
              <a:off x="6199632" y="3017520"/>
              <a:ext cx="2542032" cy="869382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lnSpc>
                  <a:spcPct val="150000"/>
                </a:lnSpc>
                <a:buNone/>
              </a:pPr>
              <a:r>
                <a:rPr lang="en-US" sz="900" b="1" dirty="0">
                  <a:solidFill>
                    <a:srgbClr val="2563A8"/>
                  </a:solidFill>
                  <a:latin typeface="Rix고딕 L" panose="02020603020101020101" pitchFamily="18" charset="-127"/>
                  <a:ea typeface="Rix고딕 L" panose="02020603020101020101" pitchFamily="18" charset="-127"/>
                </a:rPr>
                <a:t>• </a:t>
              </a:r>
              <a:r>
                <a:rPr lang="en-US" sz="900" dirty="0">
                  <a:solidFill>
                    <a:srgbClr val="4B5563"/>
                  </a:solidFill>
                  <a:latin typeface="Rix고딕 L" panose="02020603020101020101" pitchFamily="18" charset="-127"/>
                  <a:ea typeface="Rix고딕 L" panose="02020603020101020101" pitchFamily="18" charset="-127"/>
                </a:rPr>
                <a:t>요구사항 </a:t>
              </a:r>
              <a:r>
                <a:rPr lang="en-US" sz="900" dirty="0" err="1">
                  <a:solidFill>
                    <a:srgbClr val="4B5563"/>
                  </a:solidFill>
                  <a:latin typeface="Rix고딕 L" panose="02020603020101020101" pitchFamily="18" charset="-127"/>
                  <a:ea typeface="Rix고딕 L" panose="02020603020101020101" pitchFamily="18" charset="-127"/>
                </a:rPr>
                <a:t>변경·추가</a:t>
              </a:r>
              <a:endParaRPr lang="en-US" sz="900" dirty="0">
                <a:solidFill>
                  <a:srgbClr val="4B5563"/>
                </a:solidFill>
                <a:latin typeface="Rix고딕 L" panose="02020603020101020101" pitchFamily="18" charset="-127"/>
                <a:ea typeface="Rix고딕 L" panose="02020603020101020101" pitchFamily="18" charset="-127"/>
              </a:endParaRPr>
            </a:p>
            <a:p>
              <a:pPr>
                <a:lnSpc>
                  <a:spcPct val="150000"/>
                </a:lnSpc>
              </a:pPr>
              <a:r>
                <a:rPr lang="en-US" altLang="ko-KR" sz="900" b="1" dirty="0">
                  <a:solidFill>
                    <a:srgbClr val="2563A8"/>
                  </a:solidFill>
                  <a:latin typeface="Rix고딕 L" panose="02020603020101020101" pitchFamily="18" charset="-127"/>
                  <a:ea typeface="Rix고딕 L" panose="02020603020101020101" pitchFamily="18" charset="-127"/>
                </a:rPr>
                <a:t>• </a:t>
              </a:r>
              <a:r>
                <a:rPr lang="en-US" altLang="ko-KR" sz="900" dirty="0" err="1">
                  <a:solidFill>
                    <a:srgbClr val="4B5563"/>
                  </a:solidFill>
                  <a:latin typeface="Rix고딕 L" panose="02020603020101020101" pitchFamily="18" charset="-127"/>
                  <a:ea typeface="Rix고딕 L" panose="02020603020101020101" pitchFamily="18" charset="-127"/>
                </a:rPr>
                <a:t>현업</a:t>
              </a:r>
              <a:r>
                <a:rPr lang="en-US" altLang="ko-KR" sz="900" dirty="0">
                  <a:solidFill>
                    <a:srgbClr val="4B5563"/>
                  </a:solidFill>
                  <a:latin typeface="Rix고딕 L" panose="02020603020101020101" pitchFamily="18" charset="-127"/>
                  <a:ea typeface="Rix고딕 L" panose="02020603020101020101" pitchFamily="18" charset="-127"/>
                </a:rPr>
                <a:t> </a:t>
              </a:r>
              <a:r>
                <a:rPr lang="en-US" altLang="ko-KR" sz="900" dirty="0" err="1">
                  <a:solidFill>
                    <a:srgbClr val="4B5563"/>
                  </a:solidFill>
                  <a:latin typeface="Rix고딕 L" panose="02020603020101020101" pitchFamily="18" charset="-127"/>
                  <a:ea typeface="Rix고딕 L" panose="02020603020101020101" pitchFamily="18" charset="-127"/>
                </a:rPr>
                <a:t>협의</a:t>
              </a:r>
              <a:r>
                <a:rPr lang="en-US" altLang="ko-KR" sz="900" dirty="0">
                  <a:solidFill>
                    <a:srgbClr val="4B5563"/>
                  </a:solidFill>
                  <a:latin typeface="Rix고딕 L" panose="02020603020101020101" pitchFamily="18" charset="-127"/>
                  <a:ea typeface="Rix고딕 L" panose="02020603020101020101" pitchFamily="18" charset="-127"/>
                </a:rPr>
                <a:t> </a:t>
              </a:r>
              <a:r>
                <a:rPr lang="en-US" altLang="ko-KR" sz="900" dirty="0" err="1">
                  <a:solidFill>
                    <a:srgbClr val="4B5563"/>
                  </a:solidFill>
                  <a:latin typeface="Rix고딕 L" panose="02020603020101020101" pitchFamily="18" charset="-127"/>
                  <a:ea typeface="Rix고딕 L" panose="02020603020101020101" pitchFamily="18" charset="-127"/>
                </a:rPr>
                <a:t>미완료</a:t>
              </a:r>
              <a:endParaRPr lang="en-US" altLang="ko-KR" sz="900" dirty="0">
                <a:solidFill>
                  <a:srgbClr val="4B5563"/>
                </a:solidFill>
                <a:latin typeface="Rix고딕 L" panose="02020603020101020101" pitchFamily="18" charset="-127"/>
                <a:ea typeface="Rix고딕 L" panose="02020603020101020101" pitchFamily="18" charset="-127"/>
              </a:endParaRPr>
            </a:p>
            <a:p>
              <a:pPr>
                <a:lnSpc>
                  <a:spcPct val="150000"/>
                </a:lnSpc>
              </a:pPr>
              <a:r>
                <a:rPr lang="en-US" altLang="ko-KR" sz="900" b="1" dirty="0">
                  <a:solidFill>
                    <a:srgbClr val="2563A8"/>
                  </a:solidFill>
                  <a:latin typeface="Rix고딕 L" panose="02020603020101020101" pitchFamily="18" charset="-127"/>
                  <a:ea typeface="Rix고딕 L" panose="02020603020101020101" pitchFamily="18" charset="-127"/>
                </a:rPr>
                <a:t>• </a:t>
              </a:r>
              <a:r>
                <a:rPr lang="en-US" altLang="ko-KR" sz="900" dirty="0" err="1">
                  <a:solidFill>
                    <a:srgbClr val="4B5563"/>
                  </a:solidFill>
                  <a:latin typeface="Rix고딕 L" panose="02020603020101020101" pitchFamily="18" charset="-127"/>
                  <a:ea typeface="Rix고딕 L" panose="02020603020101020101" pitchFamily="18" charset="-127"/>
                </a:rPr>
                <a:t>화면</a:t>
              </a:r>
              <a:r>
                <a:rPr lang="en-US" altLang="ko-KR" sz="900" dirty="0">
                  <a:solidFill>
                    <a:srgbClr val="4B5563"/>
                  </a:solidFill>
                  <a:latin typeface="Rix고딕 L" panose="02020603020101020101" pitchFamily="18" charset="-127"/>
                  <a:ea typeface="Rix고딕 L" panose="02020603020101020101" pitchFamily="18" charset="-127"/>
                </a:rPr>
                <a:t> </a:t>
              </a:r>
              <a:r>
                <a:rPr lang="en-US" altLang="ko-KR" sz="900" dirty="0" err="1">
                  <a:solidFill>
                    <a:srgbClr val="4B5563"/>
                  </a:solidFill>
                  <a:latin typeface="Rix고딕 L" panose="02020603020101020101" pitchFamily="18" charset="-127"/>
                  <a:ea typeface="Rix고딕 L" panose="02020603020101020101" pitchFamily="18" charset="-127"/>
                </a:rPr>
                <a:t>개선</a:t>
              </a:r>
              <a:r>
                <a:rPr lang="en-US" altLang="ko-KR" sz="900" dirty="0">
                  <a:solidFill>
                    <a:srgbClr val="4B5563"/>
                  </a:solidFill>
                  <a:latin typeface="Rix고딕 L" panose="02020603020101020101" pitchFamily="18" charset="-127"/>
                  <a:ea typeface="Rix고딕 L" panose="02020603020101020101" pitchFamily="18" charset="-127"/>
                </a:rPr>
                <a:t> </a:t>
              </a:r>
              <a:r>
                <a:rPr lang="en-US" altLang="ko-KR" sz="900" dirty="0" err="1">
                  <a:solidFill>
                    <a:srgbClr val="4B5563"/>
                  </a:solidFill>
                  <a:latin typeface="Rix고딕 L" panose="02020603020101020101" pitchFamily="18" charset="-127"/>
                  <a:ea typeface="Rix고딕 L" panose="02020603020101020101" pitchFamily="18" charset="-127"/>
                </a:rPr>
                <a:t>요청</a:t>
              </a:r>
              <a:endParaRPr lang="en-US" altLang="ko-KR" sz="900" dirty="0">
                <a:latin typeface="Rix고딕 L" panose="02020603020101020101" pitchFamily="18" charset="-127"/>
                <a:ea typeface="Rix고딕 L" panose="02020603020101020101" pitchFamily="18" charset="-127"/>
              </a:endParaRPr>
            </a:p>
            <a:p>
              <a:pPr>
                <a:lnSpc>
                  <a:spcPct val="150000"/>
                </a:lnSpc>
              </a:pPr>
              <a:r>
                <a:rPr lang="en-US" altLang="ko-KR" sz="900" b="1" dirty="0">
                  <a:solidFill>
                    <a:srgbClr val="2563A8"/>
                  </a:solidFill>
                  <a:latin typeface="Rix고딕 L" panose="02020603020101020101" pitchFamily="18" charset="-127"/>
                  <a:ea typeface="Rix고딕 L" panose="02020603020101020101" pitchFamily="18" charset="-127"/>
                </a:rPr>
                <a:t>• </a:t>
              </a:r>
              <a:r>
                <a:rPr lang="en-US" altLang="ko-KR" sz="900" dirty="0" err="1">
                  <a:solidFill>
                    <a:srgbClr val="4B5563"/>
                  </a:solidFill>
                  <a:latin typeface="Rix고딕 L" panose="02020603020101020101" pitchFamily="18" charset="-127"/>
                  <a:ea typeface="Rix고딕 L" panose="02020603020101020101" pitchFamily="18" charset="-127"/>
                </a:rPr>
                <a:t>운영</a:t>
              </a:r>
              <a:r>
                <a:rPr lang="en-US" altLang="ko-KR" sz="900" dirty="0">
                  <a:solidFill>
                    <a:srgbClr val="4B5563"/>
                  </a:solidFill>
                  <a:latin typeface="Rix고딕 L" panose="02020603020101020101" pitchFamily="18" charset="-127"/>
                  <a:ea typeface="Rix고딕 L" panose="02020603020101020101" pitchFamily="18" charset="-127"/>
                </a:rPr>
                <a:t> </a:t>
              </a:r>
              <a:r>
                <a:rPr lang="en-US" altLang="ko-KR" sz="900" dirty="0" err="1">
                  <a:solidFill>
                    <a:srgbClr val="4B5563"/>
                  </a:solidFill>
                  <a:latin typeface="Rix고딕 L" panose="02020603020101020101" pitchFamily="18" charset="-127"/>
                  <a:ea typeface="Rix고딕 L" panose="02020603020101020101" pitchFamily="18" charset="-127"/>
                </a:rPr>
                <a:t>방식</a:t>
              </a:r>
              <a:r>
                <a:rPr lang="en-US" altLang="ko-KR" sz="900" dirty="0">
                  <a:solidFill>
                    <a:srgbClr val="4B5563"/>
                  </a:solidFill>
                  <a:latin typeface="Rix고딕 L" panose="02020603020101020101" pitchFamily="18" charset="-127"/>
                  <a:ea typeface="Rix고딕 L" panose="02020603020101020101" pitchFamily="18" charset="-127"/>
                </a:rPr>
                <a:t> </a:t>
              </a:r>
              <a:r>
                <a:rPr lang="en-US" altLang="ko-KR" sz="900" dirty="0" err="1">
                  <a:solidFill>
                    <a:srgbClr val="4B5563"/>
                  </a:solidFill>
                  <a:latin typeface="Rix고딕 L" panose="02020603020101020101" pitchFamily="18" charset="-127"/>
                  <a:ea typeface="Rix고딕 L" panose="02020603020101020101" pitchFamily="18" charset="-127"/>
                </a:rPr>
                <a:t>미확정</a:t>
              </a:r>
              <a:endParaRPr lang="en-US" sz="900" dirty="0">
                <a:latin typeface="Rix고딕 L" panose="02020603020101020101" pitchFamily="18" charset="-127"/>
                <a:ea typeface="Rix고딕 L" panose="02020603020101020101" pitchFamily="18" charset="-127"/>
              </a:endParaRPr>
            </a:p>
          </p:txBody>
        </p:sp>
        <p:sp>
          <p:nvSpPr>
            <p:cNvPr id="47" name="Shape 45"/>
            <p:cNvSpPr/>
            <p:nvPr/>
          </p:nvSpPr>
          <p:spPr>
            <a:xfrm>
              <a:off x="6048756" y="3950208"/>
              <a:ext cx="2633472" cy="256032"/>
            </a:xfrm>
            <a:prstGeom prst="rect">
              <a:avLst/>
            </a:prstGeom>
            <a:solidFill>
              <a:srgbClr val="2563A8"/>
            </a:solidFill>
            <a:ln w="12700">
              <a:solidFill>
                <a:srgbClr val="2563A8"/>
              </a:solidFill>
              <a:prstDash val="solid"/>
            </a:ln>
          </p:spPr>
          <p:txBody>
            <a:bodyPr/>
            <a:lstStyle/>
            <a:p>
              <a:endParaRPr lang="ko-KR" altLang="en-US">
                <a:latin typeface="Rix고딕 L" panose="02020603020101020101" pitchFamily="18" charset="-127"/>
                <a:ea typeface="Rix고딕 L" panose="02020603020101020101" pitchFamily="18" charset="-127"/>
              </a:endParaRPr>
            </a:p>
          </p:txBody>
        </p:sp>
        <p:sp>
          <p:nvSpPr>
            <p:cNvPr id="48" name="Text 46"/>
            <p:cNvSpPr/>
            <p:nvPr/>
          </p:nvSpPr>
          <p:spPr>
            <a:xfrm>
              <a:off x="6163056" y="3950208"/>
              <a:ext cx="2633472" cy="256032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850" b="1" dirty="0">
                  <a:solidFill>
                    <a:srgbClr val="FFFFFF"/>
                  </a:solidFill>
                  <a:latin typeface="Rix고딕 L" panose="02020603020101020101" pitchFamily="18" charset="-127"/>
                  <a:ea typeface="Rix고딕 L" panose="02020603020101020101" pitchFamily="18" charset="-127"/>
                </a:rPr>
                <a:t>→ 결함율 산출 제외 · 4.3에서 별도 분석</a:t>
              </a:r>
              <a:endParaRPr lang="en-US" sz="850" dirty="0">
                <a:latin typeface="Rix고딕 L" panose="02020603020101020101" pitchFamily="18" charset="-127"/>
                <a:ea typeface="Rix고딕 L" panose="02020603020101020101" pitchFamily="18" charset="-127"/>
              </a:endParaRPr>
            </a:p>
          </p:txBody>
        </p:sp>
      </p:grpSp>
      <p:sp>
        <p:nvSpPr>
          <p:cNvPr id="49" name="Shape 47"/>
          <p:cNvSpPr/>
          <p:nvPr/>
        </p:nvSpPr>
        <p:spPr>
          <a:xfrm>
            <a:off x="438912" y="4209931"/>
            <a:ext cx="8243316" cy="475488"/>
          </a:xfrm>
          <a:prstGeom prst="rect">
            <a:avLst/>
          </a:prstGeom>
          <a:solidFill>
            <a:srgbClr val="F4F7FB"/>
          </a:solidFill>
          <a:ln w="12700">
            <a:solidFill>
              <a:srgbClr val="D1D9E6"/>
            </a:solidFill>
            <a:prstDash val="solid"/>
          </a:ln>
        </p:spPr>
        <p:txBody>
          <a:bodyPr/>
          <a:lstStyle/>
          <a:p>
            <a:endParaRPr lang="ko-KR" altLang="en-US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50" name="Shape 48"/>
          <p:cNvSpPr/>
          <p:nvPr/>
        </p:nvSpPr>
        <p:spPr>
          <a:xfrm>
            <a:off x="438912" y="4209931"/>
            <a:ext cx="64008" cy="475488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  <p:txBody>
          <a:bodyPr/>
          <a:lstStyle/>
          <a:p>
            <a:endParaRPr lang="ko-KR" altLang="en-US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51" name="Text 49"/>
          <p:cNvSpPr/>
          <p:nvPr/>
        </p:nvSpPr>
        <p:spPr>
          <a:xfrm>
            <a:off x="640080" y="4209931"/>
            <a:ext cx="646633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D97706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⚠  유의사항  </a:t>
            </a:r>
            <a:r>
              <a:rPr lang="en-US" sz="900" dirty="0">
                <a:solidFill>
                  <a:srgbClr val="4B5563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결함율이 100%를 초과하는 경우는 단일 시나리오에서 복수의 결함이 </a:t>
            </a:r>
            <a:r>
              <a:rPr lang="en-US" sz="900" dirty="0" err="1">
                <a:solidFill>
                  <a:srgbClr val="4B5563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발생하였음을</a:t>
            </a:r>
            <a:r>
              <a:rPr lang="en-US" sz="900" dirty="0">
                <a:solidFill>
                  <a:srgbClr val="4B5563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 </a:t>
            </a:r>
            <a:r>
              <a:rPr lang="ko-KR" altLang="en-US" sz="900" dirty="0">
                <a:solidFill>
                  <a:srgbClr val="4B5563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의미 함</a:t>
            </a:r>
            <a:r>
              <a:rPr lang="en-US" altLang="ko-KR" sz="900" dirty="0">
                <a:solidFill>
                  <a:srgbClr val="4B5563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.</a:t>
            </a:r>
          </a:p>
          <a:p>
            <a:pPr marL="0" indent="0">
              <a:buNone/>
            </a:pPr>
            <a:r>
              <a:rPr lang="en-US" sz="900" dirty="0">
                <a:solidFill>
                  <a:srgbClr val="4B5563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                    </a:t>
            </a:r>
            <a:r>
              <a:rPr lang="en-US" sz="900" dirty="0" err="1">
                <a:solidFill>
                  <a:srgbClr val="4B5563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개선·변경을</a:t>
            </a:r>
            <a:r>
              <a:rPr lang="en-US" sz="900" dirty="0">
                <a:solidFill>
                  <a:srgbClr val="4B5563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 결함과 혼산할 경우 특정 모듈의 품질을 과소평가할 수 있으므로 반드시 </a:t>
            </a:r>
            <a:r>
              <a:rPr lang="en-US" sz="900" dirty="0" err="1">
                <a:solidFill>
                  <a:srgbClr val="4B5563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분리</a:t>
            </a:r>
            <a:r>
              <a:rPr lang="en-US" sz="900" dirty="0">
                <a:solidFill>
                  <a:srgbClr val="4B5563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 </a:t>
            </a:r>
            <a:r>
              <a:rPr lang="en-US" sz="900" dirty="0" err="1">
                <a:solidFill>
                  <a:srgbClr val="4B5563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집계</a:t>
            </a:r>
            <a:r>
              <a:rPr lang="en-US" sz="900" dirty="0">
                <a:solidFill>
                  <a:srgbClr val="4B5563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 </a:t>
            </a:r>
            <a:r>
              <a:rPr lang="ko-KR" altLang="en-US" sz="900" dirty="0">
                <a:solidFill>
                  <a:srgbClr val="4B5563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함</a:t>
            </a:r>
            <a:r>
              <a:rPr lang="en-US" sz="900" dirty="0">
                <a:solidFill>
                  <a:srgbClr val="4B5563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.</a:t>
            </a:r>
            <a:endParaRPr lang="en-US" sz="900" dirty="0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/>
          <p:cNvSpPr/>
          <p:nvPr/>
        </p:nvSpPr>
        <p:spPr>
          <a:xfrm>
            <a:off x="320040" y="0"/>
            <a:ext cx="7680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002060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업무모듈별 · 단계별 결함율 분석 (결함 기준)</a:t>
            </a:r>
            <a:endParaRPr lang="en-US" sz="2000" dirty="0">
              <a:solidFill>
                <a:srgbClr val="002060"/>
              </a:solidFill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5" name="Shape 3"/>
          <p:cNvSpPr/>
          <p:nvPr/>
        </p:nvSpPr>
        <p:spPr>
          <a:xfrm>
            <a:off x="441960" y="768096"/>
            <a:ext cx="8233728" cy="292608"/>
          </a:xfrm>
          <a:prstGeom prst="rect">
            <a:avLst/>
          </a:prstGeom>
          <a:solidFill>
            <a:srgbClr val="F4F7FB"/>
          </a:solidFill>
          <a:ln w="12700">
            <a:solidFill>
              <a:srgbClr val="D1D9E6"/>
            </a:solidFill>
            <a:prstDash val="solid"/>
          </a:ln>
        </p:spPr>
        <p:txBody>
          <a:bodyPr/>
          <a:lstStyle/>
          <a:p>
            <a:endParaRPr lang="ko-KR" altLang="en-US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6" name="Shape 4"/>
          <p:cNvSpPr/>
          <p:nvPr/>
        </p:nvSpPr>
        <p:spPr>
          <a:xfrm>
            <a:off x="441960" y="768096"/>
            <a:ext cx="64008" cy="292608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  <p:txBody>
          <a:bodyPr/>
          <a:lstStyle/>
          <a:p>
            <a:endParaRPr lang="ko-KR" altLang="en-US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7" name="Text 5"/>
          <p:cNvSpPr/>
          <p:nvPr/>
        </p:nvSpPr>
        <p:spPr>
          <a:xfrm>
            <a:off x="606552" y="768096"/>
            <a:ext cx="71414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20" b="1" dirty="0">
                <a:solidFill>
                  <a:srgbClr val="1B3A6B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공통관리(AOMS-CA) 1차 공사 124.6% · 항공보안(FS) 1차 공사 95.7% · 예측관리(PM) 1차 공사 75.6% — 공사테스트 단계 위험 구간 집중</a:t>
            </a:r>
            <a:endParaRPr lang="en-US" sz="920" dirty="0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8" name="Shape 6"/>
          <p:cNvSpPr/>
          <p:nvPr/>
        </p:nvSpPr>
        <p:spPr>
          <a:xfrm>
            <a:off x="441960" y="1115568"/>
            <a:ext cx="164592" cy="164592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  <p:txBody>
          <a:bodyPr/>
          <a:lstStyle/>
          <a:p>
            <a:endParaRPr lang="ko-KR" altLang="en-US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9" name="Text 7"/>
          <p:cNvSpPr/>
          <p:nvPr/>
        </p:nvSpPr>
        <p:spPr>
          <a:xfrm>
            <a:off x="661416" y="1097280"/>
            <a:ext cx="114452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4B5563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■ 70% 이상 — 위험</a:t>
            </a:r>
            <a:endParaRPr lang="en-US" sz="850" dirty="0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10" name="Shape 8"/>
          <p:cNvSpPr/>
          <p:nvPr/>
        </p:nvSpPr>
        <p:spPr>
          <a:xfrm>
            <a:off x="2218944" y="1115568"/>
            <a:ext cx="164592" cy="164592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  <p:txBody>
          <a:bodyPr/>
          <a:lstStyle/>
          <a:p>
            <a:endParaRPr lang="ko-KR" altLang="en-US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11" name="Text 9"/>
          <p:cNvSpPr/>
          <p:nvPr/>
        </p:nvSpPr>
        <p:spPr>
          <a:xfrm>
            <a:off x="2438400" y="1097280"/>
            <a:ext cx="114452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4B5563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■ 40~70% — 주의</a:t>
            </a:r>
            <a:endParaRPr lang="en-US" sz="850" dirty="0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12" name="Shape 10"/>
          <p:cNvSpPr/>
          <p:nvPr/>
        </p:nvSpPr>
        <p:spPr>
          <a:xfrm>
            <a:off x="4064508" y="1115568"/>
            <a:ext cx="164592" cy="164592"/>
          </a:xfrm>
          <a:prstGeom prst="rect">
            <a:avLst/>
          </a:prstGeom>
          <a:solidFill>
            <a:srgbClr val="84CC16"/>
          </a:solidFill>
          <a:ln w="12700">
            <a:solidFill>
              <a:srgbClr val="84CC16"/>
            </a:solidFill>
            <a:prstDash val="solid"/>
          </a:ln>
        </p:spPr>
        <p:txBody>
          <a:bodyPr/>
          <a:lstStyle/>
          <a:p>
            <a:endParaRPr lang="ko-KR" altLang="en-US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13" name="Text 11"/>
          <p:cNvSpPr/>
          <p:nvPr/>
        </p:nvSpPr>
        <p:spPr>
          <a:xfrm>
            <a:off x="4283964" y="1097280"/>
            <a:ext cx="114452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4B5563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■ 20~40% — 관심</a:t>
            </a:r>
            <a:endParaRPr lang="en-US" sz="850" dirty="0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14" name="Shape 12"/>
          <p:cNvSpPr/>
          <p:nvPr/>
        </p:nvSpPr>
        <p:spPr>
          <a:xfrm>
            <a:off x="6222492" y="1115568"/>
            <a:ext cx="164592" cy="164592"/>
          </a:xfrm>
          <a:prstGeom prst="rect">
            <a:avLst/>
          </a:prstGeom>
          <a:solidFill>
            <a:srgbClr val="9CA3AF"/>
          </a:solidFill>
          <a:ln w="12700">
            <a:solidFill>
              <a:srgbClr val="9CA3AF"/>
            </a:solidFill>
            <a:prstDash val="solid"/>
          </a:ln>
        </p:spPr>
        <p:txBody>
          <a:bodyPr/>
          <a:lstStyle/>
          <a:p>
            <a:endParaRPr lang="ko-KR" altLang="en-US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15" name="Text 13"/>
          <p:cNvSpPr/>
          <p:nvPr/>
        </p:nvSpPr>
        <p:spPr>
          <a:xfrm>
            <a:off x="6441948" y="1097280"/>
            <a:ext cx="114452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4B5563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□ 20% 미만 — 정상</a:t>
            </a:r>
            <a:endParaRPr lang="en-US" sz="850" dirty="0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graphicFrame>
        <p:nvGraphicFramePr>
          <p:cNvPr id="16" name="Chart 0"/>
          <p:cNvGraphicFramePr/>
          <p:nvPr>
            <p:extLst>
              <p:ext uri="{D42A27DB-BD31-4B8C-83A1-F6EECF244321}">
                <p14:modId xmlns:p14="http://schemas.microsoft.com/office/powerpoint/2010/main" val="2873580100"/>
              </p:ext>
            </p:extLst>
          </p:nvPr>
        </p:nvGraphicFramePr>
        <p:xfrm>
          <a:off x="381000" y="1389888"/>
          <a:ext cx="5326380" cy="2231136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17" name="Shape 14"/>
          <p:cNvSpPr/>
          <p:nvPr/>
        </p:nvSpPr>
        <p:spPr>
          <a:xfrm>
            <a:off x="5861304" y="1517904"/>
            <a:ext cx="2811780" cy="256032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  <p:txBody>
          <a:bodyPr/>
          <a:lstStyle/>
          <a:p>
            <a:endParaRPr lang="ko-KR" altLang="en-US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18" name="Text 15"/>
          <p:cNvSpPr/>
          <p:nvPr/>
        </p:nvSpPr>
        <p:spPr>
          <a:xfrm>
            <a:off x="5989320" y="1517904"/>
            <a:ext cx="28986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FFFFFF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위험(70%↑) · 주의(40~70%) 구간 모듈</a:t>
            </a:r>
            <a:endParaRPr lang="en-US" sz="950" dirty="0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19" name="Shape 16"/>
          <p:cNvSpPr/>
          <p:nvPr/>
        </p:nvSpPr>
        <p:spPr>
          <a:xfrm>
            <a:off x="5861304" y="1869948"/>
            <a:ext cx="2811780" cy="237744"/>
          </a:xfrm>
          <a:prstGeom prst="rect">
            <a:avLst/>
          </a:prstGeom>
          <a:solidFill>
            <a:srgbClr val="F4F7FB"/>
          </a:solidFill>
          <a:ln w="12700">
            <a:solidFill>
              <a:srgbClr val="D1D9E6"/>
            </a:solidFill>
            <a:prstDash val="solid"/>
          </a:ln>
        </p:spPr>
        <p:txBody>
          <a:bodyPr/>
          <a:lstStyle/>
          <a:p>
            <a:endParaRPr lang="ko-KR" altLang="en-US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20" name="Shape 17"/>
          <p:cNvSpPr/>
          <p:nvPr/>
        </p:nvSpPr>
        <p:spPr>
          <a:xfrm>
            <a:off x="5861304" y="1869948"/>
            <a:ext cx="54864" cy="237744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  <p:txBody>
          <a:bodyPr/>
          <a:lstStyle/>
          <a:p>
            <a:endParaRPr lang="ko-KR" altLang="en-US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21" name="Text 18"/>
          <p:cNvSpPr/>
          <p:nvPr/>
        </p:nvSpPr>
        <p:spPr>
          <a:xfrm>
            <a:off x="5980176" y="1869948"/>
            <a:ext cx="1371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20" b="1" dirty="0">
                <a:solidFill>
                  <a:srgbClr val="1B3A6B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공통관리(AOMS-CA)</a:t>
            </a:r>
            <a:endParaRPr lang="en-US" sz="820" dirty="0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22" name="Text 19"/>
          <p:cNvSpPr/>
          <p:nvPr/>
        </p:nvSpPr>
        <p:spPr>
          <a:xfrm>
            <a:off x="7046976" y="1869948"/>
            <a:ext cx="65836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80" dirty="0">
                <a:solidFill>
                  <a:srgbClr val="9CA3AF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1차 공사</a:t>
            </a:r>
            <a:endParaRPr lang="en-US" sz="780" dirty="0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23" name="Text 20"/>
          <p:cNvSpPr/>
          <p:nvPr/>
        </p:nvSpPr>
        <p:spPr>
          <a:xfrm>
            <a:off x="7723632" y="1869948"/>
            <a:ext cx="5669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b="1" dirty="0">
                <a:solidFill>
                  <a:srgbClr val="DC2626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124.6%</a:t>
            </a:r>
            <a:endParaRPr lang="en-US" sz="900" dirty="0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24" name="Shape 21"/>
          <p:cNvSpPr/>
          <p:nvPr/>
        </p:nvSpPr>
        <p:spPr>
          <a:xfrm>
            <a:off x="8327136" y="1906524"/>
            <a:ext cx="256032" cy="164592"/>
          </a:xfrm>
          <a:prstGeom prst="roundRect">
            <a:avLst>
              <a:gd name="adj" fmla="val 27778"/>
            </a:avLst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  <p:txBody>
          <a:bodyPr/>
          <a:lstStyle/>
          <a:p>
            <a:endParaRPr lang="ko-KR" altLang="en-US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25" name="Text 22"/>
          <p:cNvSpPr/>
          <p:nvPr/>
        </p:nvSpPr>
        <p:spPr>
          <a:xfrm>
            <a:off x="8327136" y="1906524"/>
            <a:ext cx="25603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dirty="0">
                <a:solidFill>
                  <a:srgbClr val="FFFFFF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위</a:t>
            </a:r>
            <a:endParaRPr lang="en-US" sz="700" dirty="0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26" name="Shape 23"/>
          <p:cNvSpPr/>
          <p:nvPr/>
        </p:nvSpPr>
        <p:spPr>
          <a:xfrm>
            <a:off x="5861304" y="2176272"/>
            <a:ext cx="2811780" cy="237744"/>
          </a:xfrm>
          <a:prstGeom prst="rect">
            <a:avLst/>
          </a:prstGeom>
          <a:solidFill>
            <a:srgbClr val="FFFFFF"/>
          </a:solidFill>
          <a:ln w="12700">
            <a:solidFill>
              <a:srgbClr val="D1D9E6"/>
            </a:solidFill>
            <a:prstDash val="solid"/>
          </a:ln>
        </p:spPr>
        <p:txBody>
          <a:bodyPr/>
          <a:lstStyle/>
          <a:p>
            <a:endParaRPr lang="ko-KR" altLang="en-US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27" name="Shape 24"/>
          <p:cNvSpPr/>
          <p:nvPr/>
        </p:nvSpPr>
        <p:spPr>
          <a:xfrm>
            <a:off x="5861304" y="2176272"/>
            <a:ext cx="54864" cy="237744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  <p:txBody>
          <a:bodyPr/>
          <a:lstStyle/>
          <a:p>
            <a:endParaRPr lang="ko-KR" altLang="en-US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28" name="Text 25"/>
          <p:cNvSpPr/>
          <p:nvPr/>
        </p:nvSpPr>
        <p:spPr>
          <a:xfrm>
            <a:off x="5980176" y="2176272"/>
            <a:ext cx="1371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20" b="1" dirty="0">
                <a:solidFill>
                  <a:srgbClr val="1B3A6B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항공보안(FS)</a:t>
            </a:r>
            <a:endParaRPr lang="en-US" sz="820" dirty="0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29" name="Text 26"/>
          <p:cNvSpPr/>
          <p:nvPr/>
        </p:nvSpPr>
        <p:spPr>
          <a:xfrm>
            <a:off x="7046976" y="2176272"/>
            <a:ext cx="65836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80" dirty="0">
                <a:solidFill>
                  <a:srgbClr val="9CA3AF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1차 공사</a:t>
            </a:r>
            <a:endParaRPr lang="en-US" sz="780" dirty="0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30" name="Text 27"/>
          <p:cNvSpPr/>
          <p:nvPr/>
        </p:nvSpPr>
        <p:spPr>
          <a:xfrm>
            <a:off x="7723632" y="2176272"/>
            <a:ext cx="5669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b="1" dirty="0">
                <a:solidFill>
                  <a:srgbClr val="DC2626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95.7%</a:t>
            </a:r>
            <a:endParaRPr lang="en-US" sz="900" dirty="0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31" name="Shape 28"/>
          <p:cNvSpPr/>
          <p:nvPr/>
        </p:nvSpPr>
        <p:spPr>
          <a:xfrm>
            <a:off x="8327136" y="2220468"/>
            <a:ext cx="256032" cy="164592"/>
          </a:xfrm>
          <a:prstGeom prst="roundRect">
            <a:avLst>
              <a:gd name="adj" fmla="val 27778"/>
            </a:avLst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  <p:txBody>
          <a:bodyPr/>
          <a:lstStyle/>
          <a:p>
            <a:endParaRPr lang="ko-KR" altLang="en-US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32" name="Text 29"/>
          <p:cNvSpPr/>
          <p:nvPr/>
        </p:nvSpPr>
        <p:spPr>
          <a:xfrm>
            <a:off x="8327136" y="2220468"/>
            <a:ext cx="25603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dirty="0">
                <a:solidFill>
                  <a:srgbClr val="FFFFFF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위</a:t>
            </a:r>
            <a:endParaRPr lang="en-US" sz="700" dirty="0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33" name="Shape 30"/>
          <p:cNvSpPr/>
          <p:nvPr/>
        </p:nvSpPr>
        <p:spPr>
          <a:xfrm>
            <a:off x="5861304" y="2482596"/>
            <a:ext cx="2811780" cy="237744"/>
          </a:xfrm>
          <a:prstGeom prst="rect">
            <a:avLst/>
          </a:prstGeom>
          <a:solidFill>
            <a:srgbClr val="F4F7FB"/>
          </a:solidFill>
          <a:ln w="12700">
            <a:solidFill>
              <a:srgbClr val="D1D9E6"/>
            </a:solidFill>
            <a:prstDash val="solid"/>
          </a:ln>
        </p:spPr>
        <p:txBody>
          <a:bodyPr/>
          <a:lstStyle/>
          <a:p>
            <a:endParaRPr lang="ko-KR" altLang="en-US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34" name="Shape 31"/>
          <p:cNvSpPr/>
          <p:nvPr/>
        </p:nvSpPr>
        <p:spPr>
          <a:xfrm>
            <a:off x="5861304" y="2482596"/>
            <a:ext cx="54864" cy="237744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  <p:txBody>
          <a:bodyPr/>
          <a:lstStyle/>
          <a:p>
            <a:endParaRPr lang="ko-KR" altLang="en-US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35" name="Text 32"/>
          <p:cNvSpPr/>
          <p:nvPr/>
        </p:nvSpPr>
        <p:spPr>
          <a:xfrm>
            <a:off x="5980176" y="2482596"/>
            <a:ext cx="1371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20" b="1" dirty="0">
                <a:solidFill>
                  <a:srgbClr val="1B3A6B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항공보안(FS)</a:t>
            </a:r>
            <a:endParaRPr lang="en-US" sz="820" dirty="0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36" name="Text 33"/>
          <p:cNvSpPr/>
          <p:nvPr/>
        </p:nvSpPr>
        <p:spPr>
          <a:xfrm>
            <a:off x="7046976" y="2482596"/>
            <a:ext cx="65836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80" dirty="0">
                <a:solidFill>
                  <a:srgbClr val="9CA3AF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2차 공사</a:t>
            </a:r>
            <a:endParaRPr lang="en-US" sz="780" dirty="0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37" name="Text 34"/>
          <p:cNvSpPr/>
          <p:nvPr/>
        </p:nvSpPr>
        <p:spPr>
          <a:xfrm>
            <a:off x="7723632" y="2482596"/>
            <a:ext cx="5669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b="1" dirty="0">
                <a:solidFill>
                  <a:srgbClr val="DC2626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70.6%</a:t>
            </a:r>
            <a:endParaRPr lang="en-US" sz="900" dirty="0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38" name="Shape 35"/>
          <p:cNvSpPr/>
          <p:nvPr/>
        </p:nvSpPr>
        <p:spPr>
          <a:xfrm>
            <a:off x="8327136" y="2519172"/>
            <a:ext cx="256032" cy="164592"/>
          </a:xfrm>
          <a:prstGeom prst="roundRect">
            <a:avLst>
              <a:gd name="adj" fmla="val 27778"/>
            </a:avLst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  <p:txBody>
          <a:bodyPr/>
          <a:lstStyle/>
          <a:p>
            <a:endParaRPr lang="ko-KR" altLang="en-US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39" name="Text 36"/>
          <p:cNvSpPr/>
          <p:nvPr/>
        </p:nvSpPr>
        <p:spPr>
          <a:xfrm>
            <a:off x="8327136" y="2519172"/>
            <a:ext cx="25603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dirty="0">
                <a:solidFill>
                  <a:srgbClr val="FFFFFF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위</a:t>
            </a:r>
            <a:endParaRPr lang="en-US" sz="700" dirty="0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40" name="Shape 37"/>
          <p:cNvSpPr/>
          <p:nvPr/>
        </p:nvSpPr>
        <p:spPr>
          <a:xfrm>
            <a:off x="5861304" y="2788920"/>
            <a:ext cx="2811780" cy="237744"/>
          </a:xfrm>
          <a:prstGeom prst="rect">
            <a:avLst/>
          </a:prstGeom>
          <a:solidFill>
            <a:srgbClr val="FFFFFF"/>
          </a:solidFill>
          <a:ln w="12700">
            <a:solidFill>
              <a:srgbClr val="D1D9E6"/>
            </a:solidFill>
            <a:prstDash val="solid"/>
          </a:ln>
        </p:spPr>
        <p:txBody>
          <a:bodyPr/>
          <a:lstStyle/>
          <a:p>
            <a:endParaRPr lang="ko-KR" altLang="en-US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41" name="Shape 38"/>
          <p:cNvSpPr/>
          <p:nvPr/>
        </p:nvSpPr>
        <p:spPr>
          <a:xfrm>
            <a:off x="5861304" y="2788920"/>
            <a:ext cx="54864" cy="237744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  <p:txBody>
          <a:bodyPr/>
          <a:lstStyle/>
          <a:p>
            <a:endParaRPr lang="ko-KR" altLang="en-US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42" name="Text 39"/>
          <p:cNvSpPr/>
          <p:nvPr/>
        </p:nvSpPr>
        <p:spPr>
          <a:xfrm>
            <a:off x="5980176" y="2788920"/>
            <a:ext cx="1371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20" b="1" dirty="0">
                <a:solidFill>
                  <a:srgbClr val="1B3A6B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예측관리(PM)</a:t>
            </a:r>
            <a:endParaRPr lang="en-US" sz="820" dirty="0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43" name="Text 40"/>
          <p:cNvSpPr/>
          <p:nvPr/>
        </p:nvSpPr>
        <p:spPr>
          <a:xfrm>
            <a:off x="7046976" y="2788920"/>
            <a:ext cx="65836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80" dirty="0">
                <a:solidFill>
                  <a:srgbClr val="9CA3AF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1차 공사</a:t>
            </a:r>
            <a:endParaRPr lang="en-US" sz="780" dirty="0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44" name="Text 41"/>
          <p:cNvSpPr/>
          <p:nvPr/>
        </p:nvSpPr>
        <p:spPr>
          <a:xfrm>
            <a:off x="7723632" y="2788920"/>
            <a:ext cx="5669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b="1" dirty="0">
                <a:solidFill>
                  <a:srgbClr val="DC2626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75.6%</a:t>
            </a:r>
            <a:endParaRPr lang="en-US" sz="900" dirty="0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45" name="Shape 42"/>
          <p:cNvSpPr/>
          <p:nvPr/>
        </p:nvSpPr>
        <p:spPr>
          <a:xfrm>
            <a:off x="8327136" y="2825496"/>
            <a:ext cx="256032" cy="164592"/>
          </a:xfrm>
          <a:prstGeom prst="roundRect">
            <a:avLst>
              <a:gd name="adj" fmla="val 27778"/>
            </a:avLst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  <p:txBody>
          <a:bodyPr/>
          <a:lstStyle/>
          <a:p>
            <a:endParaRPr lang="ko-KR" altLang="en-US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46" name="Text 43"/>
          <p:cNvSpPr/>
          <p:nvPr/>
        </p:nvSpPr>
        <p:spPr>
          <a:xfrm>
            <a:off x="8327136" y="2825496"/>
            <a:ext cx="25603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dirty="0">
                <a:solidFill>
                  <a:srgbClr val="FFFFFF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위</a:t>
            </a:r>
            <a:endParaRPr lang="en-US" sz="700" dirty="0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47" name="Shape 44"/>
          <p:cNvSpPr/>
          <p:nvPr/>
        </p:nvSpPr>
        <p:spPr>
          <a:xfrm>
            <a:off x="5861304" y="3095244"/>
            <a:ext cx="2811780" cy="237744"/>
          </a:xfrm>
          <a:prstGeom prst="rect">
            <a:avLst/>
          </a:prstGeom>
          <a:solidFill>
            <a:srgbClr val="F4F7FB"/>
          </a:solidFill>
          <a:ln w="12700">
            <a:solidFill>
              <a:srgbClr val="D1D9E6"/>
            </a:solidFill>
            <a:prstDash val="solid"/>
          </a:ln>
        </p:spPr>
        <p:txBody>
          <a:bodyPr/>
          <a:lstStyle/>
          <a:p>
            <a:endParaRPr lang="ko-KR" altLang="en-US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48" name="Shape 45"/>
          <p:cNvSpPr/>
          <p:nvPr/>
        </p:nvSpPr>
        <p:spPr>
          <a:xfrm>
            <a:off x="5861304" y="3095244"/>
            <a:ext cx="54864" cy="237744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  <p:txBody>
          <a:bodyPr/>
          <a:lstStyle/>
          <a:p>
            <a:endParaRPr lang="ko-KR" altLang="en-US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49" name="Text 46"/>
          <p:cNvSpPr/>
          <p:nvPr/>
        </p:nvSpPr>
        <p:spPr>
          <a:xfrm>
            <a:off x="5980176" y="3095244"/>
            <a:ext cx="1371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20" b="1" dirty="0">
                <a:solidFill>
                  <a:srgbClr val="1B3A6B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공통관리(FIMS-CA)</a:t>
            </a:r>
            <a:endParaRPr lang="en-US" sz="820" dirty="0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50" name="Text 47"/>
          <p:cNvSpPr/>
          <p:nvPr/>
        </p:nvSpPr>
        <p:spPr>
          <a:xfrm>
            <a:off x="7046976" y="3095244"/>
            <a:ext cx="65836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80" dirty="0">
                <a:solidFill>
                  <a:srgbClr val="9CA3AF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1차 공사</a:t>
            </a:r>
            <a:endParaRPr lang="en-US" sz="780" dirty="0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51" name="Text 48"/>
          <p:cNvSpPr/>
          <p:nvPr/>
        </p:nvSpPr>
        <p:spPr>
          <a:xfrm>
            <a:off x="7723632" y="3095244"/>
            <a:ext cx="5669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b="1" dirty="0">
                <a:solidFill>
                  <a:srgbClr val="DC2626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80.0%</a:t>
            </a:r>
            <a:endParaRPr lang="en-US" sz="900" dirty="0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52" name="Shape 49"/>
          <p:cNvSpPr/>
          <p:nvPr/>
        </p:nvSpPr>
        <p:spPr>
          <a:xfrm>
            <a:off x="8327136" y="3131820"/>
            <a:ext cx="256032" cy="164592"/>
          </a:xfrm>
          <a:prstGeom prst="roundRect">
            <a:avLst>
              <a:gd name="adj" fmla="val 27778"/>
            </a:avLst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  <p:txBody>
          <a:bodyPr/>
          <a:lstStyle/>
          <a:p>
            <a:endParaRPr lang="ko-KR" altLang="en-US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53" name="Text 50"/>
          <p:cNvSpPr/>
          <p:nvPr/>
        </p:nvSpPr>
        <p:spPr>
          <a:xfrm>
            <a:off x="8327136" y="3131820"/>
            <a:ext cx="25603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dirty="0">
                <a:solidFill>
                  <a:srgbClr val="FFFFFF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위</a:t>
            </a:r>
            <a:endParaRPr lang="en-US" sz="700" dirty="0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54" name="Shape 51"/>
          <p:cNvSpPr/>
          <p:nvPr/>
        </p:nvSpPr>
        <p:spPr>
          <a:xfrm>
            <a:off x="5861304" y="3401568"/>
            <a:ext cx="2811780" cy="237744"/>
          </a:xfrm>
          <a:prstGeom prst="rect">
            <a:avLst/>
          </a:prstGeom>
          <a:solidFill>
            <a:srgbClr val="FFFFFF"/>
          </a:solidFill>
          <a:ln w="12700">
            <a:solidFill>
              <a:srgbClr val="D1D9E6"/>
            </a:solidFill>
            <a:prstDash val="solid"/>
          </a:ln>
        </p:spPr>
        <p:txBody>
          <a:bodyPr/>
          <a:lstStyle/>
          <a:p>
            <a:endParaRPr lang="ko-KR" altLang="en-US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55" name="Shape 52"/>
          <p:cNvSpPr/>
          <p:nvPr/>
        </p:nvSpPr>
        <p:spPr>
          <a:xfrm>
            <a:off x="5861304" y="3401568"/>
            <a:ext cx="54864" cy="237744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  <p:txBody>
          <a:bodyPr/>
          <a:lstStyle/>
          <a:p>
            <a:endParaRPr lang="ko-KR" altLang="en-US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56" name="Text 53"/>
          <p:cNvSpPr/>
          <p:nvPr/>
        </p:nvSpPr>
        <p:spPr>
          <a:xfrm>
            <a:off x="5980176" y="3401568"/>
            <a:ext cx="1371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20" b="1" dirty="0">
                <a:solidFill>
                  <a:srgbClr val="1B3A6B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공항운영(GO)</a:t>
            </a:r>
            <a:endParaRPr lang="en-US" sz="820" dirty="0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57" name="Text 54"/>
          <p:cNvSpPr/>
          <p:nvPr/>
        </p:nvSpPr>
        <p:spPr>
          <a:xfrm>
            <a:off x="7046976" y="3401568"/>
            <a:ext cx="65836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80" dirty="0">
                <a:solidFill>
                  <a:srgbClr val="9CA3AF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1차 공사</a:t>
            </a:r>
            <a:endParaRPr lang="en-US" sz="780" dirty="0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58" name="Text 55"/>
          <p:cNvSpPr/>
          <p:nvPr/>
        </p:nvSpPr>
        <p:spPr>
          <a:xfrm>
            <a:off x="7723632" y="3401568"/>
            <a:ext cx="5669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b="1" dirty="0">
                <a:solidFill>
                  <a:srgbClr val="D97706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61.1%</a:t>
            </a:r>
            <a:endParaRPr lang="en-US" sz="900" dirty="0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59" name="Shape 56"/>
          <p:cNvSpPr/>
          <p:nvPr/>
        </p:nvSpPr>
        <p:spPr>
          <a:xfrm>
            <a:off x="8327136" y="3438144"/>
            <a:ext cx="256032" cy="164592"/>
          </a:xfrm>
          <a:prstGeom prst="roundRect">
            <a:avLst>
              <a:gd name="adj" fmla="val 27778"/>
            </a:avLst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  <p:txBody>
          <a:bodyPr/>
          <a:lstStyle/>
          <a:p>
            <a:endParaRPr lang="ko-KR" altLang="en-US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60" name="Text 57"/>
          <p:cNvSpPr/>
          <p:nvPr/>
        </p:nvSpPr>
        <p:spPr>
          <a:xfrm>
            <a:off x="8327136" y="3438144"/>
            <a:ext cx="25603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dirty="0">
                <a:solidFill>
                  <a:srgbClr val="FFFFFF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주</a:t>
            </a:r>
            <a:endParaRPr lang="en-US" sz="700" dirty="0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61" name="Shape 58"/>
          <p:cNvSpPr/>
          <p:nvPr/>
        </p:nvSpPr>
        <p:spPr>
          <a:xfrm>
            <a:off x="5861304" y="3707892"/>
            <a:ext cx="2811780" cy="237744"/>
          </a:xfrm>
          <a:prstGeom prst="rect">
            <a:avLst/>
          </a:prstGeom>
          <a:solidFill>
            <a:srgbClr val="F4F7FB"/>
          </a:solidFill>
          <a:ln w="12700">
            <a:solidFill>
              <a:srgbClr val="D1D9E6"/>
            </a:solidFill>
            <a:prstDash val="solid"/>
          </a:ln>
        </p:spPr>
        <p:txBody>
          <a:bodyPr/>
          <a:lstStyle/>
          <a:p>
            <a:endParaRPr lang="ko-KR" altLang="en-US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62" name="Shape 59"/>
          <p:cNvSpPr/>
          <p:nvPr/>
        </p:nvSpPr>
        <p:spPr>
          <a:xfrm>
            <a:off x="5861304" y="3707892"/>
            <a:ext cx="54864" cy="237744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  <p:txBody>
          <a:bodyPr/>
          <a:lstStyle/>
          <a:p>
            <a:endParaRPr lang="ko-KR" altLang="en-US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63" name="Text 60"/>
          <p:cNvSpPr/>
          <p:nvPr/>
        </p:nvSpPr>
        <p:spPr>
          <a:xfrm>
            <a:off x="5980176" y="3707892"/>
            <a:ext cx="1371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20" b="1" dirty="0">
                <a:solidFill>
                  <a:srgbClr val="1B3A6B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운항계획(FP)</a:t>
            </a:r>
            <a:endParaRPr lang="en-US" sz="820" dirty="0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64" name="Text 61"/>
          <p:cNvSpPr/>
          <p:nvPr/>
        </p:nvSpPr>
        <p:spPr>
          <a:xfrm>
            <a:off x="7046976" y="3707892"/>
            <a:ext cx="65836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80" dirty="0">
                <a:solidFill>
                  <a:srgbClr val="9CA3AF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1차 공사</a:t>
            </a:r>
            <a:endParaRPr lang="en-US" sz="780" dirty="0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65" name="Text 62"/>
          <p:cNvSpPr/>
          <p:nvPr/>
        </p:nvSpPr>
        <p:spPr>
          <a:xfrm>
            <a:off x="7723632" y="3707892"/>
            <a:ext cx="5669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b="1" dirty="0">
                <a:solidFill>
                  <a:srgbClr val="D97706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67.5%</a:t>
            </a:r>
            <a:endParaRPr lang="en-US" sz="900" dirty="0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66" name="Shape 63"/>
          <p:cNvSpPr/>
          <p:nvPr/>
        </p:nvSpPr>
        <p:spPr>
          <a:xfrm>
            <a:off x="8327136" y="3744468"/>
            <a:ext cx="256032" cy="164592"/>
          </a:xfrm>
          <a:prstGeom prst="roundRect">
            <a:avLst>
              <a:gd name="adj" fmla="val 27778"/>
            </a:avLst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  <p:txBody>
          <a:bodyPr/>
          <a:lstStyle/>
          <a:p>
            <a:endParaRPr lang="ko-KR" altLang="en-US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67" name="Text 64"/>
          <p:cNvSpPr/>
          <p:nvPr/>
        </p:nvSpPr>
        <p:spPr>
          <a:xfrm>
            <a:off x="8327136" y="3744468"/>
            <a:ext cx="25603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dirty="0">
                <a:solidFill>
                  <a:srgbClr val="FFFFFF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주</a:t>
            </a:r>
            <a:endParaRPr lang="en-US" sz="700" dirty="0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68" name="Shape 65"/>
          <p:cNvSpPr/>
          <p:nvPr/>
        </p:nvSpPr>
        <p:spPr>
          <a:xfrm>
            <a:off x="5861304" y="4014216"/>
            <a:ext cx="2811780" cy="237744"/>
          </a:xfrm>
          <a:prstGeom prst="rect">
            <a:avLst/>
          </a:prstGeom>
          <a:solidFill>
            <a:srgbClr val="FFFFFF"/>
          </a:solidFill>
          <a:ln w="12700">
            <a:solidFill>
              <a:srgbClr val="D1D9E6"/>
            </a:solidFill>
            <a:prstDash val="solid"/>
          </a:ln>
        </p:spPr>
        <p:txBody>
          <a:bodyPr/>
          <a:lstStyle/>
          <a:p>
            <a:endParaRPr lang="ko-KR" altLang="en-US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69" name="Shape 66"/>
          <p:cNvSpPr/>
          <p:nvPr/>
        </p:nvSpPr>
        <p:spPr>
          <a:xfrm>
            <a:off x="5861304" y="4014216"/>
            <a:ext cx="54864" cy="237744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  <p:txBody>
          <a:bodyPr/>
          <a:lstStyle/>
          <a:p>
            <a:endParaRPr lang="ko-KR" altLang="en-US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70" name="Text 67"/>
          <p:cNvSpPr/>
          <p:nvPr/>
        </p:nvSpPr>
        <p:spPr>
          <a:xfrm>
            <a:off x="5980176" y="4014216"/>
            <a:ext cx="1371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20" b="1" dirty="0">
                <a:solidFill>
                  <a:srgbClr val="1B3A6B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자원배정(RS)</a:t>
            </a:r>
            <a:endParaRPr lang="en-US" sz="820" dirty="0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71" name="Text 68"/>
          <p:cNvSpPr/>
          <p:nvPr/>
        </p:nvSpPr>
        <p:spPr>
          <a:xfrm>
            <a:off x="7046976" y="4014216"/>
            <a:ext cx="65836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80" dirty="0">
                <a:solidFill>
                  <a:srgbClr val="9CA3AF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1차 공사</a:t>
            </a:r>
            <a:endParaRPr lang="en-US" sz="780" dirty="0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72" name="Text 69"/>
          <p:cNvSpPr/>
          <p:nvPr/>
        </p:nvSpPr>
        <p:spPr>
          <a:xfrm>
            <a:off x="7723632" y="4014216"/>
            <a:ext cx="5669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b="1" dirty="0">
                <a:solidFill>
                  <a:srgbClr val="D97706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53.0%</a:t>
            </a:r>
            <a:endParaRPr lang="en-US" sz="900" dirty="0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73" name="Shape 70"/>
          <p:cNvSpPr/>
          <p:nvPr/>
        </p:nvSpPr>
        <p:spPr>
          <a:xfrm>
            <a:off x="8327136" y="4066032"/>
            <a:ext cx="256032" cy="164592"/>
          </a:xfrm>
          <a:prstGeom prst="roundRect">
            <a:avLst>
              <a:gd name="adj" fmla="val 27778"/>
            </a:avLst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  <p:txBody>
          <a:bodyPr/>
          <a:lstStyle/>
          <a:p>
            <a:endParaRPr lang="ko-KR" altLang="en-US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74" name="Text 71"/>
          <p:cNvSpPr/>
          <p:nvPr/>
        </p:nvSpPr>
        <p:spPr>
          <a:xfrm>
            <a:off x="8327136" y="4066032"/>
            <a:ext cx="25603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dirty="0">
                <a:solidFill>
                  <a:srgbClr val="FFFFFF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주</a:t>
            </a:r>
            <a:endParaRPr lang="en-US" sz="700" dirty="0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75" name="Shape 72"/>
          <p:cNvSpPr/>
          <p:nvPr/>
        </p:nvSpPr>
        <p:spPr>
          <a:xfrm>
            <a:off x="5861304" y="4320540"/>
            <a:ext cx="2811780" cy="237744"/>
          </a:xfrm>
          <a:prstGeom prst="rect">
            <a:avLst/>
          </a:prstGeom>
          <a:solidFill>
            <a:srgbClr val="F4F7FB"/>
          </a:solidFill>
          <a:ln w="12700">
            <a:solidFill>
              <a:srgbClr val="D1D9E6"/>
            </a:solidFill>
            <a:prstDash val="solid"/>
          </a:ln>
        </p:spPr>
        <p:txBody>
          <a:bodyPr/>
          <a:lstStyle/>
          <a:p>
            <a:endParaRPr lang="ko-KR" altLang="en-US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76" name="Shape 73"/>
          <p:cNvSpPr/>
          <p:nvPr/>
        </p:nvSpPr>
        <p:spPr>
          <a:xfrm>
            <a:off x="5861304" y="4320540"/>
            <a:ext cx="54864" cy="237744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  <p:txBody>
          <a:bodyPr/>
          <a:lstStyle/>
          <a:p>
            <a:endParaRPr lang="ko-KR" altLang="en-US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77" name="Text 74"/>
          <p:cNvSpPr/>
          <p:nvPr/>
        </p:nvSpPr>
        <p:spPr>
          <a:xfrm>
            <a:off x="5980176" y="4320540"/>
            <a:ext cx="1371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20" b="1" dirty="0">
                <a:solidFill>
                  <a:srgbClr val="1B3A6B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자원배정차트(RC)</a:t>
            </a:r>
            <a:endParaRPr lang="en-US" sz="820" dirty="0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78" name="Text 75"/>
          <p:cNvSpPr/>
          <p:nvPr/>
        </p:nvSpPr>
        <p:spPr>
          <a:xfrm>
            <a:off x="7046976" y="4320540"/>
            <a:ext cx="65836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80" dirty="0">
                <a:solidFill>
                  <a:srgbClr val="9CA3AF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2차 공사</a:t>
            </a:r>
            <a:endParaRPr lang="en-US" sz="780" dirty="0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79" name="Text 76"/>
          <p:cNvSpPr/>
          <p:nvPr/>
        </p:nvSpPr>
        <p:spPr>
          <a:xfrm>
            <a:off x="7723632" y="4320540"/>
            <a:ext cx="5669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b="1" dirty="0">
                <a:solidFill>
                  <a:srgbClr val="D97706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67.6%</a:t>
            </a:r>
            <a:endParaRPr lang="en-US" sz="900" dirty="0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80" name="Shape 77"/>
          <p:cNvSpPr/>
          <p:nvPr/>
        </p:nvSpPr>
        <p:spPr>
          <a:xfrm>
            <a:off x="8327136" y="4357116"/>
            <a:ext cx="256032" cy="164592"/>
          </a:xfrm>
          <a:prstGeom prst="roundRect">
            <a:avLst>
              <a:gd name="adj" fmla="val 27778"/>
            </a:avLst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  <p:txBody>
          <a:bodyPr/>
          <a:lstStyle/>
          <a:p>
            <a:endParaRPr lang="ko-KR" altLang="en-US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81" name="Text 78"/>
          <p:cNvSpPr/>
          <p:nvPr/>
        </p:nvSpPr>
        <p:spPr>
          <a:xfrm>
            <a:off x="8327136" y="4357116"/>
            <a:ext cx="25603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dirty="0">
                <a:solidFill>
                  <a:srgbClr val="FFFFFF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주</a:t>
            </a:r>
            <a:endParaRPr lang="en-US" sz="700" dirty="0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82" name="Shape 79"/>
          <p:cNvSpPr/>
          <p:nvPr/>
        </p:nvSpPr>
        <p:spPr>
          <a:xfrm>
            <a:off x="439420" y="3645789"/>
            <a:ext cx="5303012" cy="1051560"/>
          </a:xfrm>
          <a:prstGeom prst="rect">
            <a:avLst/>
          </a:prstGeom>
          <a:solidFill>
            <a:srgbClr val="FFF7ED"/>
          </a:solidFill>
          <a:ln w="12700">
            <a:solidFill>
              <a:srgbClr val="FDBA74"/>
            </a:solidFill>
            <a:prstDash val="solid"/>
          </a:ln>
        </p:spPr>
        <p:txBody>
          <a:bodyPr/>
          <a:lstStyle/>
          <a:p>
            <a:endParaRPr lang="ko-KR" altLang="en-US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83" name="Shape 80"/>
          <p:cNvSpPr/>
          <p:nvPr/>
        </p:nvSpPr>
        <p:spPr>
          <a:xfrm>
            <a:off x="439420" y="3645789"/>
            <a:ext cx="64008" cy="1051560"/>
          </a:xfrm>
          <a:prstGeom prst="rect">
            <a:avLst/>
          </a:prstGeom>
          <a:solidFill>
            <a:srgbClr val="E85D2F"/>
          </a:solidFill>
          <a:ln w="12700">
            <a:solidFill>
              <a:srgbClr val="E85D2F"/>
            </a:solidFill>
            <a:prstDash val="solid"/>
          </a:ln>
        </p:spPr>
        <p:txBody>
          <a:bodyPr/>
          <a:lstStyle/>
          <a:p>
            <a:endParaRPr lang="ko-KR" altLang="en-US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84" name="Text 81"/>
          <p:cNvSpPr/>
          <p:nvPr/>
        </p:nvSpPr>
        <p:spPr>
          <a:xfrm>
            <a:off x="622300" y="3691509"/>
            <a:ext cx="1828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E85D2F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핵심 인사이트</a:t>
            </a:r>
            <a:endParaRPr lang="en-US" sz="950" dirty="0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85" name="Text 82"/>
          <p:cNvSpPr/>
          <p:nvPr/>
        </p:nvSpPr>
        <p:spPr>
          <a:xfrm>
            <a:off x="622300" y="3938397"/>
            <a:ext cx="55199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80" dirty="0">
                <a:solidFill>
                  <a:srgbClr val="4B5563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① 공사테스트 집중: 1차 공사에서 위험·주의 구간이 집중 → 개발자·PL 단계 사전 검증 부재가 근본 원인</a:t>
            </a:r>
            <a:endParaRPr lang="en-US" sz="880" dirty="0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86" name="Text 83"/>
          <p:cNvSpPr/>
          <p:nvPr/>
        </p:nvSpPr>
        <p:spPr>
          <a:xfrm>
            <a:off x="622300" y="4176141"/>
            <a:ext cx="55199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80" dirty="0">
                <a:solidFill>
                  <a:srgbClr val="4B5563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② AOMS-CA 124.6%: 단일 시나리오 복수 결함 발생 → 화면 단위 전수 재검토 및 재설계 수준 점검 필요</a:t>
            </a:r>
            <a:endParaRPr lang="en-US" sz="880" dirty="0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87" name="Text 84"/>
          <p:cNvSpPr/>
          <p:nvPr/>
        </p:nvSpPr>
        <p:spPr>
          <a:xfrm>
            <a:off x="622300" y="4413885"/>
            <a:ext cx="55199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80" dirty="0">
                <a:solidFill>
                  <a:srgbClr val="4B5563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③ 2차 차수에서 위험 구간 감소 추세이나 자원배정차트(RC) 2차 공사 67.6%로 재증가 → 집중 관리 필요</a:t>
            </a:r>
            <a:endParaRPr lang="en-US" sz="880" dirty="0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88" name="Text 85"/>
          <p:cNvSpPr/>
          <p:nvPr/>
        </p:nvSpPr>
        <p:spPr>
          <a:xfrm>
            <a:off x="274320" y="5047488"/>
            <a:ext cx="8595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i="1" dirty="0">
                <a:solidFill>
                  <a:srgbClr val="9CA3AF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※ 결함율 기준: 70%↑ 위험(적색) / 40~70% 주의(주황) / 20~40% 관심(황색) / 20%↓ 정상 · AOMS-CA 1차 공사 124.6%: 단일 시나리오 복수 결함</a:t>
            </a:r>
            <a:endParaRPr lang="en-US" sz="800" dirty="0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/>
          <p:cNvSpPr/>
          <p:nvPr/>
        </p:nvSpPr>
        <p:spPr>
          <a:xfrm>
            <a:off x="320040" y="0"/>
            <a:ext cx="7680960" cy="441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002060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업무모듈별 · </a:t>
            </a:r>
            <a:r>
              <a:rPr lang="en-US" sz="2000" b="1" dirty="0" err="1">
                <a:solidFill>
                  <a:srgbClr val="002060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단계별</a:t>
            </a:r>
            <a:r>
              <a:rPr lang="en-US" sz="2000" b="1" dirty="0">
                <a:solidFill>
                  <a:srgbClr val="002060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 </a:t>
            </a:r>
            <a:r>
              <a:rPr lang="en-US" sz="2000" b="1" dirty="0" err="1">
                <a:solidFill>
                  <a:srgbClr val="002060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개선</a:t>
            </a:r>
            <a:r>
              <a:rPr lang="en-US" sz="2000" b="1" dirty="0">
                <a:solidFill>
                  <a:srgbClr val="002060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/</a:t>
            </a:r>
            <a:r>
              <a:rPr lang="en-US" sz="2000" b="1" dirty="0" err="1">
                <a:solidFill>
                  <a:srgbClr val="002060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변경율</a:t>
            </a:r>
            <a:r>
              <a:rPr lang="en-US" sz="2000" b="1" dirty="0">
                <a:solidFill>
                  <a:srgbClr val="002060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 분석</a:t>
            </a:r>
            <a:endParaRPr lang="en-US" sz="2000" dirty="0">
              <a:solidFill>
                <a:srgbClr val="002060"/>
              </a:solidFill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5" name="Shape 3"/>
          <p:cNvSpPr/>
          <p:nvPr/>
        </p:nvSpPr>
        <p:spPr>
          <a:xfrm>
            <a:off x="441960" y="768096"/>
            <a:ext cx="8233728" cy="292608"/>
          </a:xfrm>
          <a:prstGeom prst="rect">
            <a:avLst/>
          </a:prstGeom>
          <a:solidFill>
            <a:srgbClr val="F4F7FB"/>
          </a:solidFill>
          <a:ln w="12700">
            <a:solidFill>
              <a:srgbClr val="D1D9E6"/>
            </a:solidFill>
            <a:prstDash val="solid"/>
          </a:ln>
        </p:spPr>
        <p:txBody>
          <a:bodyPr/>
          <a:lstStyle/>
          <a:p>
            <a:endParaRPr lang="ko-KR" altLang="en-US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6" name="Shape 4"/>
          <p:cNvSpPr/>
          <p:nvPr/>
        </p:nvSpPr>
        <p:spPr>
          <a:xfrm>
            <a:off x="441960" y="768096"/>
            <a:ext cx="64008" cy="292608"/>
          </a:xfrm>
          <a:prstGeom prst="rect">
            <a:avLst/>
          </a:prstGeom>
          <a:solidFill>
            <a:srgbClr val="2563A8"/>
          </a:solidFill>
          <a:ln w="12700">
            <a:solidFill>
              <a:srgbClr val="2563A8"/>
            </a:solidFill>
            <a:prstDash val="solid"/>
          </a:ln>
        </p:spPr>
        <p:txBody>
          <a:bodyPr/>
          <a:lstStyle/>
          <a:p>
            <a:endParaRPr lang="ko-KR" altLang="en-US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7" name="Text 5"/>
          <p:cNvSpPr/>
          <p:nvPr/>
        </p:nvSpPr>
        <p:spPr>
          <a:xfrm>
            <a:off x="606552" y="768096"/>
            <a:ext cx="697534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20" b="1" dirty="0">
                <a:solidFill>
                  <a:srgbClr val="1B3A6B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개선·변경은 결함이 아닌 요구사항 확정 지연·현업 협의 부족의 신호 — 공항운영(GO) 1차 공사 43.9%·현업 39.5%로 요구사항 재검토 필요</a:t>
            </a:r>
            <a:endParaRPr lang="en-US" sz="920" dirty="0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graphicFrame>
        <p:nvGraphicFramePr>
          <p:cNvPr id="8" name="Chart 0"/>
          <p:cNvGraphicFramePr/>
          <p:nvPr>
            <p:extLst>
              <p:ext uri="{D42A27DB-BD31-4B8C-83A1-F6EECF244321}">
                <p14:modId xmlns:p14="http://schemas.microsoft.com/office/powerpoint/2010/main" val="1207414093"/>
              </p:ext>
            </p:extLst>
          </p:nvPr>
        </p:nvGraphicFramePr>
        <p:xfrm>
          <a:off x="569214" y="1078992"/>
          <a:ext cx="5076444" cy="2432304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9" name="Shape 6"/>
          <p:cNvSpPr/>
          <p:nvPr/>
        </p:nvSpPr>
        <p:spPr>
          <a:xfrm>
            <a:off x="5935980" y="1115568"/>
            <a:ext cx="2743200" cy="256032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  <p:txBody>
          <a:bodyPr/>
          <a:lstStyle/>
          <a:p>
            <a:endParaRPr lang="ko-KR" altLang="en-US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10" name="Text 7"/>
          <p:cNvSpPr/>
          <p:nvPr/>
        </p:nvSpPr>
        <p:spPr>
          <a:xfrm>
            <a:off x="6063996" y="1115568"/>
            <a:ext cx="216560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FFFFFF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주요 </a:t>
            </a:r>
            <a:r>
              <a:rPr lang="en-US" sz="950" b="1" dirty="0" err="1">
                <a:solidFill>
                  <a:srgbClr val="FFFFFF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모듈</a:t>
            </a:r>
            <a:r>
              <a:rPr lang="en-US" sz="950" b="1" dirty="0">
                <a:solidFill>
                  <a:srgbClr val="FFFFFF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 </a:t>
            </a:r>
            <a:r>
              <a:rPr lang="en-US" sz="950" b="1" dirty="0" err="1">
                <a:solidFill>
                  <a:srgbClr val="FFFFFF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개선</a:t>
            </a:r>
            <a:r>
              <a:rPr lang="en-US" sz="950" b="1" dirty="0">
                <a:solidFill>
                  <a:srgbClr val="FFFFFF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/</a:t>
            </a:r>
            <a:r>
              <a:rPr lang="en-US" sz="950" b="1" dirty="0" err="1">
                <a:solidFill>
                  <a:srgbClr val="FFFFFF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변경</a:t>
            </a:r>
            <a:r>
              <a:rPr lang="en-US" sz="950" b="1" dirty="0">
                <a:solidFill>
                  <a:srgbClr val="FFFFFF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 특이사항</a:t>
            </a:r>
            <a:endParaRPr lang="en-US" sz="950" dirty="0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11" name="Shape 8"/>
          <p:cNvSpPr/>
          <p:nvPr/>
        </p:nvSpPr>
        <p:spPr>
          <a:xfrm>
            <a:off x="5935980" y="1444752"/>
            <a:ext cx="2743200" cy="694944"/>
          </a:xfrm>
          <a:prstGeom prst="rect">
            <a:avLst/>
          </a:prstGeom>
          <a:solidFill>
            <a:srgbClr val="F4F7FB"/>
          </a:solidFill>
          <a:ln w="12700">
            <a:solidFill>
              <a:srgbClr val="D1D9E6"/>
            </a:solidFill>
            <a:prstDash val="solid"/>
          </a:ln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ko-KR" altLang="en-US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12" name="Shape 9"/>
          <p:cNvSpPr/>
          <p:nvPr/>
        </p:nvSpPr>
        <p:spPr>
          <a:xfrm>
            <a:off x="5935980" y="1444752"/>
            <a:ext cx="64008" cy="694944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  <p:txBody>
          <a:bodyPr/>
          <a:lstStyle/>
          <a:p>
            <a:endParaRPr lang="ko-KR" altLang="en-US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13" name="Text 10"/>
          <p:cNvSpPr/>
          <p:nvPr/>
        </p:nvSpPr>
        <p:spPr>
          <a:xfrm>
            <a:off x="6073140" y="1499616"/>
            <a:ext cx="2103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DC2626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공항운영(GO)</a:t>
            </a:r>
            <a:endParaRPr lang="en-US" sz="950" dirty="0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14" name="Text 11"/>
          <p:cNvSpPr/>
          <p:nvPr/>
        </p:nvSpPr>
        <p:spPr>
          <a:xfrm>
            <a:off x="6073140" y="1700784"/>
            <a:ext cx="227990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1B3A6B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1차 공사 43.9% · 현업 39.5%</a:t>
            </a:r>
            <a:endParaRPr lang="en-US" sz="850" dirty="0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15" name="Text 12"/>
          <p:cNvSpPr/>
          <p:nvPr/>
        </p:nvSpPr>
        <p:spPr>
          <a:xfrm>
            <a:off x="6073140" y="1865376"/>
            <a:ext cx="19278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4B5563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개선 요구 최다 — 요구사항 정의 단계</a:t>
            </a:r>
            <a:endParaRPr lang="en-US" sz="800" dirty="0">
              <a:latin typeface="Rix고딕 L" panose="02020603020101020101" pitchFamily="18" charset="-127"/>
              <a:ea typeface="Rix고딕 L" panose="02020603020101020101" pitchFamily="18" charset="-127"/>
            </a:endParaRPr>
          </a:p>
          <a:p>
            <a:pPr marL="0" indent="0">
              <a:buNone/>
            </a:pPr>
            <a:r>
              <a:rPr lang="en-US" sz="800" dirty="0">
                <a:solidFill>
                  <a:srgbClr val="4B5563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재검토 및 현업 협의 강화 필요</a:t>
            </a:r>
            <a:endParaRPr lang="en-US" sz="800" dirty="0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16" name="Shape 13"/>
          <p:cNvSpPr/>
          <p:nvPr/>
        </p:nvSpPr>
        <p:spPr>
          <a:xfrm>
            <a:off x="5935980" y="2231136"/>
            <a:ext cx="2743200" cy="694944"/>
          </a:xfrm>
          <a:prstGeom prst="rect">
            <a:avLst/>
          </a:prstGeom>
          <a:solidFill>
            <a:srgbClr val="F4F7FB"/>
          </a:solidFill>
          <a:ln w="12700">
            <a:solidFill>
              <a:srgbClr val="D1D9E6"/>
            </a:solidFill>
            <a:prstDash val="solid"/>
          </a:ln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ko-KR" altLang="en-US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17" name="Shape 14"/>
          <p:cNvSpPr/>
          <p:nvPr/>
        </p:nvSpPr>
        <p:spPr>
          <a:xfrm>
            <a:off x="5935980" y="2231136"/>
            <a:ext cx="64008" cy="694944"/>
          </a:xfrm>
          <a:prstGeom prst="rect">
            <a:avLst/>
          </a:prstGeom>
          <a:solidFill>
            <a:srgbClr val="E85D2F"/>
          </a:solidFill>
          <a:ln w="12700">
            <a:solidFill>
              <a:srgbClr val="E85D2F"/>
            </a:solidFill>
            <a:prstDash val="solid"/>
          </a:ln>
        </p:spPr>
        <p:txBody>
          <a:bodyPr/>
          <a:lstStyle/>
          <a:p>
            <a:endParaRPr lang="ko-KR" altLang="en-US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18" name="Text 15"/>
          <p:cNvSpPr/>
          <p:nvPr/>
        </p:nvSpPr>
        <p:spPr>
          <a:xfrm>
            <a:off x="6073140" y="2286000"/>
            <a:ext cx="2103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E85D2F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공통관리(AOMS-CA)</a:t>
            </a:r>
            <a:endParaRPr lang="en-US" sz="950" dirty="0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19" name="Text 16"/>
          <p:cNvSpPr/>
          <p:nvPr/>
        </p:nvSpPr>
        <p:spPr>
          <a:xfrm>
            <a:off x="6073140" y="2487168"/>
            <a:ext cx="2407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1B3A6B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1차 공사 62.3% · 2차 공사 49.4%</a:t>
            </a:r>
            <a:endParaRPr lang="en-US" sz="850" dirty="0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20" name="Text 17"/>
          <p:cNvSpPr/>
          <p:nvPr/>
        </p:nvSpPr>
        <p:spPr>
          <a:xfrm>
            <a:off x="6073140" y="2651760"/>
            <a:ext cx="16687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4B5563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양 차수 모두 40% 초과 — 요구사항</a:t>
            </a:r>
            <a:endParaRPr lang="en-US" sz="800" dirty="0">
              <a:latin typeface="Rix고딕 L" panose="02020603020101020101" pitchFamily="18" charset="-127"/>
              <a:ea typeface="Rix고딕 L" panose="02020603020101020101" pitchFamily="18" charset="-127"/>
            </a:endParaRPr>
          </a:p>
          <a:p>
            <a:pPr marL="0" indent="0">
              <a:buNone/>
            </a:pPr>
            <a:r>
              <a:rPr lang="en-US" sz="800" dirty="0">
                <a:solidFill>
                  <a:srgbClr val="4B5563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변경·추가 지속 발생 구조</a:t>
            </a:r>
            <a:endParaRPr lang="en-US" sz="800" dirty="0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21" name="Shape 18"/>
          <p:cNvSpPr/>
          <p:nvPr/>
        </p:nvSpPr>
        <p:spPr>
          <a:xfrm>
            <a:off x="5935980" y="3017520"/>
            <a:ext cx="2743200" cy="694944"/>
          </a:xfrm>
          <a:prstGeom prst="rect">
            <a:avLst/>
          </a:prstGeom>
          <a:solidFill>
            <a:srgbClr val="F4F7FB"/>
          </a:solidFill>
          <a:ln w="12700">
            <a:solidFill>
              <a:srgbClr val="D1D9E6"/>
            </a:solidFill>
            <a:prstDash val="solid"/>
          </a:ln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ko-KR" altLang="en-US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22" name="Shape 19"/>
          <p:cNvSpPr/>
          <p:nvPr/>
        </p:nvSpPr>
        <p:spPr>
          <a:xfrm>
            <a:off x="5935980" y="3017520"/>
            <a:ext cx="64008" cy="694944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  <p:txBody>
          <a:bodyPr/>
          <a:lstStyle/>
          <a:p>
            <a:endParaRPr lang="ko-KR" altLang="en-US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23" name="Text 20"/>
          <p:cNvSpPr/>
          <p:nvPr/>
        </p:nvSpPr>
        <p:spPr>
          <a:xfrm>
            <a:off x="6073140" y="3072384"/>
            <a:ext cx="2103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D97706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항공보안(FS)</a:t>
            </a:r>
            <a:endParaRPr lang="en-US" sz="950" dirty="0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24" name="Text 21"/>
          <p:cNvSpPr/>
          <p:nvPr/>
        </p:nvSpPr>
        <p:spPr>
          <a:xfrm>
            <a:off x="6073140" y="3273552"/>
            <a:ext cx="23545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1B3A6B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1차 공사 56.0%</a:t>
            </a:r>
            <a:endParaRPr lang="en-US" sz="850" dirty="0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25" name="Text 22"/>
          <p:cNvSpPr/>
          <p:nvPr/>
        </p:nvSpPr>
        <p:spPr>
          <a:xfrm>
            <a:off x="6073140" y="3438144"/>
            <a:ext cx="1752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4B5563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공사 단계 개선 요구 집중 — UI 표준</a:t>
            </a:r>
            <a:endParaRPr lang="en-US" sz="800" dirty="0">
              <a:latin typeface="Rix고딕 L" panose="02020603020101020101" pitchFamily="18" charset="-127"/>
              <a:ea typeface="Rix고딕 L" panose="02020603020101020101" pitchFamily="18" charset="-127"/>
            </a:endParaRPr>
          </a:p>
          <a:p>
            <a:pPr marL="0" indent="0">
              <a:buNone/>
            </a:pPr>
            <a:r>
              <a:rPr lang="en-US" sz="800" dirty="0">
                <a:solidFill>
                  <a:srgbClr val="4B5563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미정의와 현업 협의 미완료 복합</a:t>
            </a:r>
            <a:endParaRPr lang="en-US" sz="800" dirty="0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26" name="Shape 23"/>
          <p:cNvSpPr/>
          <p:nvPr/>
        </p:nvSpPr>
        <p:spPr>
          <a:xfrm>
            <a:off x="5943600" y="3803904"/>
            <a:ext cx="2743200" cy="694944"/>
          </a:xfrm>
          <a:prstGeom prst="rect">
            <a:avLst/>
          </a:prstGeom>
          <a:solidFill>
            <a:srgbClr val="F4F7FB"/>
          </a:solidFill>
          <a:ln w="12700">
            <a:solidFill>
              <a:srgbClr val="D1D9E6"/>
            </a:solidFill>
            <a:prstDash val="solid"/>
          </a:ln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ko-KR" altLang="en-US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27" name="Shape 24"/>
          <p:cNvSpPr/>
          <p:nvPr/>
        </p:nvSpPr>
        <p:spPr>
          <a:xfrm>
            <a:off x="5943600" y="3803904"/>
            <a:ext cx="64008" cy="694944"/>
          </a:xfrm>
          <a:prstGeom prst="rect">
            <a:avLst/>
          </a:prstGeom>
          <a:solidFill>
            <a:srgbClr val="2563A8"/>
          </a:solidFill>
          <a:ln w="12700">
            <a:solidFill>
              <a:srgbClr val="2563A8"/>
            </a:solidFill>
            <a:prstDash val="solid"/>
          </a:ln>
        </p:spPr>
        <p:txBody>
          <a:bodyPr/>
          <a:lstStyle/>
          <a:p>
            <a:endParaRPr lang="ko-KR" altLang="en-US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28" name="Text 25"/>
          <p:cNvSpPr/>
          <p:nvPr/>
        </p:nvSpPr>
        <p:spPr>
          <a:xfrm>
            <a:off x="6080760" y="3858768"/>
            <a:ext cx="2103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2563A8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자원배정(RS)</a:t>
            </a:r>
            <a:endParaRPr lang="en-US" sz="950" dirty="0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29" name="Text 26"/>
          <p:cNvSpPr/>
          <p:nvPr/>
        </p:nvSpPr>
        <p:spPr>
          <a:xfrm>
            <a:off x="6080760" y="4059936"/>
            <a:ext cx="23469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1B3A6B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1차 현업 43.9%</a:t>
            </a:r>
            <a:endParaRPr lang="en-US" sz="850" dirty="0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30" name="Text 27"/>
          <p:cNvSpPr/>
          <p:nvPr/>
        </p:nvSpPr>
        <p:spPr>
          <a:xfrm>
            <a:off x="6080760" y="4224528"/>
            <a:ext cx="20955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4B5563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현업 단계 개선 요구 높음 — 현업</a:t>
            </a:r>
            <a:endParaRPr lang="en-US" sz="800" dirty="0">
              <a:latin typeface="Rix고딕 L" panose="02020603020101020101" pitchFamily="18" charset="-127"/>
              <a:ea typeface="Rix고딕 L" panose="02020603020101020101" pitchFamily="18" charset="-127"/>
            </a:endParaRPr>
          </a:p>
          <a:p>
            <a:pPr marL="0" indent="0">
              <a:buNone/>
            </a:pPr>
            <a:r>
              <a:rPr lang="en-US" sz="800" dirty="0">
                <a:solidFill>
                  <a:srgbClr val="4B5563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운영 방식 확정 지연</a:t>
            </a:r>
            <a:endParaRPr lang="en-US" sz="800" dirty="0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31" name="Shape 28"/>
          <p:cNvSpPr/>
          <p:nvPr/>
        </p:nvSpPr>
        <p:spPr>
          <a:xfrm>
            <a:off x="449580" y="3474720"/>
            <a:ext cx="5113020" cy="1216152"/>
          </a:xfrm>
          <a:prstGeom prst="rect">
            <a:avLst/>
          </a:prstGeom>
          <a:solidFill>
            <a:srgbClr val="F4F7FB"/>
          </a:solidFill>
          <a:ln w="12700">
            <a:solidFill>
              <a:srgbClr val="D1D9E6"/>
            </a:solidFill>
            <a:prstDash val="solid"/>
          </a:ln>
        </p:spPr>
        <p:txBody>
          <a:bodyPr/>
          <a:lstStyle/>
          <a:p>
            <a:endParaRPr lang="ko-KR" altLang="en-US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32" name="Shape 29"/>
          <p:cNvSpPr/>
          <p:nvPr/>
        </p:nvSpPr>
        <p:spPr>
          <a:xfrm>
            <a:off x="449580" y="3474720"/>
            <a:ext cx="64008" cy="1216152"/>
          </a:xfrm>
          <a:prstGeom prst="rect">
            <a:avLst/>
          </a:prstGeom>
          <a:solidFill>
            <a:srgbClr val="2563A8"/>
          </a:solidFill>
          <a:ln w="12700">
            <a:solidFill>
              <a:srgbClr val="2563A8"/>
            </a:solidFill>
            <a:prstDash val="solid"/>
          </a:ln>
        </p:spPr>
        <p:txBody>
          <a:bodyPr/>
          <a:lstStyle/>
          <a:p>
            <a:endParaRPr lang="ko-KR" altLang="en-US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33" name="Text 30"/>
          <p:cNvSpPr/>
          <p:nvPr/>
        </p:nvSpPr>
        <p:spPr>
          <a:xfrm>
            <a:off x="632460" y="3529584"/>
            <a:ext cx="3657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2563A8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결함율 vs 개선·변경율 </a:t>
            </a:r>
            <a:r>
              <a:rPr lang="en-US" sz="950" b="1" dirty="0" err="1">
                <a:solidFill>
                  <a:srgbClr val="2563A8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비교</a:t>
            </a:r>
            <a:r>
              <a:rPr lang="en-US" sz="950" b="1" dirty="0">
                <a:solidFill>
                  <a:srgbClr val="2563A8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 </a:t>
            </a:r>
            <a:r>
              <a:rPr lang="en-US" sz="950" b="1" dirty="0" err="1">
                <a:solidFill>
                  <a:srgbClr val="2563A8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해석</a:t>
            </a:r>
            <a:endParaRPr lang="en-US" sz="950" dirty="0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34" name="Text 31"/>
          <p:cNvSpPr/>
          <p:nvPr/>
        </p:nvSpPr>
        <p:spPr>
          <a:xfrm>
            <a:off x="632460" y="3803904"/>
            <a:ext cx="4221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50000"/>
              </a:lnSpc>
              <a:buNone/>
            </a:pPr>
            <a:r>
              <a:rPr lang="en-US" sz="880" dirty="0">
                <a:solidFill>
                  <a:srgbClr val="4B5563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① 결함율 高 + </a:t>
            </a:r>
            <a:r>
              <a:rPr lang="en-US" sz="880" dirty="0" err="1">
                <a:solidFill>
                  <a:srgbClr val="4B5563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개선·변경율</a:t>
            </a:r>
            <a:r>
              <a:rPr lang="en-US" sz="880" dirty="0">
                <a:solidFill>
                  <a:srgbClr val="4B5563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 高</a:t>
            </a:r>
          </a:p>
          <a:p>
            <a:pPr marL="0" indent="0">
              <a:lnSpc>
                <a:spcPct val="150000"/>
              </a:lnSpc>
              <a:buNone/>
            </a:pPr>
            <a:r>
              <a:rPr lang="en-US" sz="880" dirty="0">
                <a:solidFill>
                  <a:srgbClr val="4B5563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    : 개발 완성도 낮음 + 요구사항 미확정 → 재설계 수준 검토 필요 (예: AOMS-CA)</a:t>
            </a:r>
          </a:p>
          <a:p>
            <a:pPr>
              <a:lnSpc>
                <a:spcPct val="150000"/>
              </a:lnSpc>
            </a:pPr>
            <a:r>
              <a:rPr lang="en-US" altLang="ko-KR" sz="880" dirty="0">
                <a:solidFill>
                  <a:srgbClr val="4B5563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② </a:t>
            </a:r>
            <a:r>
              <a:rPr lang="en-US" altLang="ko-KR" sz="880" dirty="0" err="1">
                <a:solidFill>
                  <a:srgbClr val="4B5563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결함율</a:t>
            </a:r>
            <a:r>
              <a:rPr lang="en-US" altLang="ko-KR" sz="880" dirty="0">
                <a:solidFill>
                  <a:srgbClr val="4B5563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 低 + </a:t>
            </a:r>
            <a:r>
              <a:rPr lang="en-US" altLang="ko-KR" sz="880" dirty="0" err="1">
                <a:solidFill>
                  <a:srgbClr val="4B5563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개선·변경율</a:t>
            </a:r>
            <a:r>
              <a:rPr lang="en-US" altLang="ko-KR" sz="880" dirty="0">
                <a:solidFill>
                  <a:srgbClr val="4B5563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 高</a:t>
            </a:r>
          </a:p>
          <a:p>
            <a:pPr>
              <a:lnSpc>
                <a:spcPct val="150000"/>
              </a:lnSpc>
            </a:pPr>
            <a:r>
              <a:rPr lang="en-US" altLang="ko-KR" sz="880" dirty="0">
                <a:solidFill>
                  <a:srgbClr val="4B5563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    : </a:t>
            </a:r>
            <a:r>
              <a:rPr lang="en-US" altLang="ko-KR" sz="880" dirty="0" err="1">
                <a:solidFill>
                  <a:srgbClr val="4B5563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기술적</a:t>
            </a:r>
            <a:r>
              <a:rPr lang="en-US" altLang="ko-KR" sz="880" dirty="0">
                <a:solidFill>
                  <a:srgbClr val="4B5563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 </a:t>
            </a:r>
            <a:r>
              <a:rPr lang="en-US" altLang="ko-KR" sz="880" dirty="0" err="1">
                <a:solidFill>
                  <a:srgbClr val="4B5563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결함은</a:t>
            </a:r>
            <a:r>
              <a:rPr lang="en-US" altLang="ko-KR" sz="880" dirty="0">
                <a:solidFill>
                  <a:srgbClr val="4B5563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 </a:t>
            </a:r>
            <a:r>
              <a:rPr lang="en-US" altLang="ko-KR" sz="880" dirty="0" err="1">
                <a:solidFill>
                  <a:srgbClr val="4B5563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적으나</a:t>
            </a:r>
            <a:r>
              <a:rPr lang="en-US" altLang="ko-KR" sz="880" dirty="0">
                <a:solidFill>
                  <a:srgbClr val="4B5563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 </a:t>
            </a:r>
            <a:r>
              <a:rPr lang="en-US" altLang="ko-KR" sz="880" dirty="0" err="1">
                <a:solidFill>
                  <a:srgbClr val="4B5563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요구사항</a:t>
            </a:r>
            <a:r>
              <a:rPr lang="en-US" altLang="ko-KR" sz="880" dirty="0">
                <a:solidFill>
                  <a:srgbClr val="4B5563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 </a:t>
            </a:r>
            <a:r>
              <a:rPr lang="en-US" altLang="ko-KR" sz="880" dirty="0" err="1">
                <a:solidFill>
                  <a:srgbClr val="4B5563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혼선</a:t>
            </a:r>
            <a:r>
              <a:rPr lang="en-US" altLang="ko-KR" sz="880" dirty="0">
                <a:solidFill>
                  <a:srgbClr val="4B5563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 </a:t>
            </a:r>
            <a:r>
              <a:rPr lang="en-US" altLang="ko-KR" sz="880" dirty="0" err="1">
                <a:solidFill>
                  <a:srgbClr val="4B5563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지속</a:t>
            </a:r>
            <a:r>
              <a:rPr lang="en-US" altLang="ko-KR" sz="880" dirty="0">
                <a:solidFill>
                  <a:srgbClr val="4B5563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 → </a:t>
            </a:r>
            <a:r>
              <a:rPr lang="en-US" altLang="ko-KR" sz="880" dirty="0" err="1">
                <a:solidFill>
                  <a:srgbClr val="4B5563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현업</a:t>
            </a:r>
            <a:r>
              <a:rPr lang="en-US" altLang="ko-KR" sz="880" dirty="0">
                <a:solidFill>
                  <a:srgbClr val="4B5563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 </a:t>
            </a:r>
            <a:r>
              <a:rPr lang="en-US" altLang="ko-KR" sz="880" dirty="0" err="1">
                <a:solidFill>
                  <a:srgbClr val="4B5563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협의</a:t>
            </a:r>
            <a:r>
              <a:rPr lang="en-US" altLang="ko-KR" sz="880" dirty="0">
                <a:solidFill>
                  <a:srgbClr val="4B5563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 </a:t>
            </a:r>
            <a:r>
              <a:rPr lang="en-US" altLang="ko-KR" sz="880" dirty="0" err="1">
                <a:solidFill>
                  <a:srgbClr val="4B5563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체계화</a:t>
            </a:r>
            <a:r>
              <a:rPr lang="en-US" altLang="ko-KR" sz="880" dirty="0">
                <a:solidFill>
                  <a:srgbClr val="4B5563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 </a:t>
            </a:r>
            <a:r>
              <a:rPr lang="en-US" altLang="ko-KR" sz="880" dirty="0" err="1">
                <a:solidFill>
                  <a:srgbClr val="4B5563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우선</a:t>
            </a:r>
            <a:r>
              <a:rPr lang="en-US" altLang="ko-KR" sz="880" dirty="0">
                <a:solidFill>
                  <a:srgbClr val="4B5563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 (예: </a:t>
            </a:r>
            <a:r>
              <a:rPr lang="en-US" altLang="ko-KR" sz="880" dirty="0" err="1">
                <a:solidFill>
                  <a:srgbClr val="4B5563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공항운영</a:t>
            </a:r>
            <a:r>
              <a:rPr lang="en-US" altLang="ko-KR" sz="880" dirty="0">
                <a:solidFill>
                  <a:srgbClr val="4B5563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)</a:t>
            </a:r>
            <a:endParaRPr lang="en-US" sz="880" dirty="0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5372" y="-1097280"/>
            <a:ext cx="4754880" cy="4754880"/>
          </a:xfrm>
          <a:prstGeom prst="ellipse">
            <a:avLst/>
          </a:prstGeom>
          <a:solidFill>
            <a:srgbClr val="D1D9E6">
              <a:alpha val="70000"/>
            </a:srgbClr>
          </a:solidFill>
          <a:ln w="12700">
            <a:solidFill>
              <a:srgbClr val="D1D9E6">
                <a:alpha val="7000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" name="Shape 1"/>
          <p:cNvSpPr/>
          <p:nvPr/>
        </p:nvSpPr>
        <p:spPr>
          <a:xfrm>
            <a:off x="7685532" y="548640"/>
            <a:ext cx="2560320" cy="2560320"/>
          </a:xfrm>
          <a:prstGeom prst="ellipse">
            <a:avLst/>
          </a:prstGeom>
          <a:solidFill>
            <a:srgbClr val="3B82C4">
              <a:alpha val="22000"/>
            </a:srgbClr>
          </a:solidFill>
          <a:ln w="12700">
            <a:solidFill>
              <a:srgbClr val="3B82C4">
                <a:alpha val="2200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" name="Shape 2"/>
          <p:cNvSpPr/>
          <p:nvPr/>
        </p:nvSpPr>
        <p:spPr>
          <a:xfrm>
            <a:off x="7132320" y="2926080"/>
            <a:ext cx="1828800" cy="1828800"/>
          </a:xfrm>
          <a:prstGeom prst="ellipse">
            <a:avLst/>
          </a:prstGeom>
          <a:solidFill>
            <a:srgbClr val="1B3A6B">
              <a:alpha val="15000"/>
            </a:srgbClr>
          </a:solidFill>
          <a:ln w="12700">
            <a:solidFill>
              <a:srgbClr val="1B3A6B">
                <a:alpha val="1500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" name="Shape 3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6" name="Shape 4"/>
          <p:cNvSpPr/>
          <p:nvPr/>
        </p:nvSpPr>
        <p:spPr>
          <a:xfrm>
            <a:off x="566928" y="1254633"/>
            <a:ext cx="73152" cy="2514600"/>
          </a:xfrm>
          <a:prstGeom prst="rect">
            <a:avLst/>
          </a:prstGeom>
          <a:solidFill>
            <a:srgbClr val="E85D2F"/>
          </a:solidFill>
          <a:ln w="12700">
            <a:solidFill>
              <a:srgbClr val="E85D2F"/>
            </a:solidFill>
            <a:prstDash val="solid"/>
          </a:ln>
        </p:spPr>
        <p:txBody>
          <a:bodyPr/>
          <a:lstStyle/>
          <a:p>
            <a:endParaRPr lang="ko-KR" altLang="en-US" dirty="0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7" name="Shape 5"/>
          <p:cNvSpPr/>
          <p:nvPr/>
        </p:nvSpPr>
        <p:spPr>
          <a:xfrm>
            <a:off x="843915" y="1251966"/>
            <a:ext cx="1143000" cy="237744"/>
          </a:xfrm>
          <a:prstGeom prst="rect">
            <a:avLst/>
          </a:prstGeom>
          <a:solidFill>
            <a:srgbClr val="FFF0EB"/>
          </a:solidFill>
          <a:ln w="12700">
            <a:solidFill>
              <a:srgbClr val="FFC4B0"/>
            </a:solidFill>
            <a:prstDash val="solid"/>
          </a:ln>
        </p:spPr>
        <p:txBody>
          <a:bodyPr anchor="ctr" anchorCtr="0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000" b="1" i="0" u="none" strike="noStrike" kern="0" cap="none" spc="200" normalizeH="0" baseline="0" noProof="0" dirty="0" err="1">
                <a:ln>
                  <a:noFill/>
                </a:ln>
                <a:solidFill>
                  <a:srgbClr val="E85D2F"/>
                </a:solidFill>
                <a:effectLst/>
                <a:uLnTx/>
                <a:uFillTx/>
                <a:latin typeface="Rix고딕 L" panose="02020603020101020101" pitchFamily="18" charset="-127"/>
                <a:ea typeface="Rix고딕 L" panose="02020603020101020101" pitchFamily="18" charset="-127"/>
                <a:cs typeface="+mn-cs"/>
              </a:rPr>
              <a:t>보충</a:t>
            </a:r>
            <a:r>
              <a:rPr kumimoji="0" lang="en-US" altLang="ko-KR" sz="1000" b="1" i="0" u="none" strike="noStrike" kern="0" cap="none" spc="200" normalizeH="0" baseline="0" noProof="0" dirty="0">
                <a:ln>
                  <a:noFill/>
                </a:ln>
                <a:solidFill>
                  <a:srgbClr val="E85D2F"/>
                </a:solidFill>
                <a:effectLst/>
                <a:uLnTx/>
                <a:uFillTx/>
                <a:latin typeface="Rix고딕 L" panose="02020603020101020101" pitchFamily="18" charset="-127"/>
                <a:ea typeface="Rix고딕 L" panose="02020603020101020101" pitchFamily="18" charset="-127"/>
                <a:cs typeface="+mn-cs"/>
              </a:rPr>
              <a:t> </a:t>
            </a:r>
            <a:r>
              <a:rPr kumimoji="0" lang="en-US" altLang="ko-KR" sz="1000" b="1" i="0" u="none" strike="noStrike" kern="0" cap="none" spc="200" normalizeH="0" baseline="0" noProof="0" dirty="0" err="1">
                <a:ln>
                  <a:noFill/>
                </a:ln>
                <a:solidFill>
                  <a:srgbClr val="E85D2F"/>
                </a:solidFill>
                <a:effectLst/>
                <a:uLnTx/>
                <a:uFillTx/>
                <a:latin typeface="Rix고딕 L" panose="02020603020101020101" pitchFamily="18" charset="-127"/>
                <a:ea typeface="Rix고딕 L" panose="02020603020101020101" pitchFamily="18" charset="-127"/>
                <a:cs typeface="+mn-cs"/>
              </a:rPr>
              <a:t>의견</a:t>
            </a:r>
            <a:endParaRPr kumimoji="0" lang="en-US" altLang="ko-KR" sz="1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Rix고딕 L" panose="02020603020101020101" pitchFamily="18" charset="-127"/>
              <a:ea typeface="Rix고딕 L" panose="02020603020101020101" pitchFamily="18" charset="-127"/>
              <a:cs typeface="+mn-cs"/>
            </a:endParaRPr>
          </a:p>
        </p:txBody>
      </p:sp>
      <p:sp>
        <p:nvSpPr>
          <p:cNvPr id="9" name="Text 7"/>
          <p:cNvSpPr/>
          <p:nvPr/>
        </p:nvSpPr>
        <p:spPr>
          <a:xfrm>
            <a:off x="777239" y="1599819"/>
            <a:ext cx="5490973" cy="1435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50000"/>
              </a:lnSpc>
            </a:pPr>
            <a:r>
              <a:rPr lang="en-US" altLang="ko-KR" sz="3600" b="1" dirty="0" err="1">
                <a:solidFill>
                  <a:srgbClr val="132952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다차원</a:t>
            </a:r>
            <a:r>
              <a:rPr lang="en-US" altLang="ko-KR" sz="3600" b="1" dirty="0">
                <a:solidFill>
                  <a:srgbClr val="132952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 </a:t>
            </a:r>
            <a:r>
              <a:rPr lang="ko-KR" altLang="en-US" sz="3600" b="1" dirty="0">
                <a:solidFill>
                  <a:srgbClr val="132952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분석</a:t>
            </a:r>
            <a:endParaRPr lang="en-US" altLang="ko-KR" sz="3600" b="1" dirty="0">
              <a:solidFill>
                <a:srgbClr val="132952"/>
              </a:solidFill>
              <a:latin typeface="Rix고딕 L" panose="02020603020101020101" pitchFamily="18" charset="-127"/>
              <a:ea typeface="Rix고딕 L" panose="02020603020101020101" pitchFamily="18" charset="-127"/>
            </a:endParaRPr>
          </a:p>
          <a:p>
            <a:pPr>
              <a:lnSpc>
                <a:spcPct val="150000"/>
              </a:lnSpc>
            </a:pPr>
            <a:r>
              <a:rPr lang="ko-KR" altLang="en-US" sz="2800" b="1" dirty="0">
                <a:solidFill>
                  <a:srgbClr val="132952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정량지표 </a:t>
            </a:r>
            <a:r>
              <a:rPr lang="en-US" sz="2800" b="1" dirty="0" err="1">
                <a:solidFill>
                  <a:srgbClr val="132952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중심</a:t>
            </a:r>
            <a:r>
              <a:rPr lang="en-US" sz="2800" b="1" dirty="0">
                <a:solidFill>
                  <a:srgbClr val="132952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 </a:t>
            </a:r>
            <a:r>
              <a:rPr lang="en-US" sz="2800" b="1" dirty="0" err="1">
                <a:solidFill>
                  <a:srgbClr val="132952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품질</a:t>
            </a:r>
            <a:r>
              <a:rPr lang="en-US" sz="2800" b="1" dirty="0">
                <a:solidFill>
                  <a:srgbClr val="132952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 </a:t>
            </a:r>
            <a:r>
              <a:rPr lang="en-US" sz="2800" b="1" dirty="0" err="1">
                <a:solidFill>
                  <a:srgbClr val="132952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평가</a:t>
            </a:r>
            <a:r>
              <a:rPr lang="ko-KR" altLang="en-US" sz="2800" b="1" dirty="0">
                <a:solidFill>
                  <a:srgbClr val="132952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 한계 보완</a:t>
            </a:r>
            <a:endParaRPr lang="en-US" altLang="ko-KR" sz="2800" dirty="0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11" name="Shape 9"/>
          <p:cNvSpPr/>
          <p:nvPr/>
        </p:nvSpPr>
        <p:spPr>
          <a:xfrm>
            <a:off x="777240" y="3145536"/>
            <a:ext cx="3657600" cy="36576"/>
          </a:xfrm>
          <a:prstGeom prst="rect">
            <a:avLst/>
          </a:prstGeom>
          <a:solidFill>
            <a:srgbClr val="3B82C4"/>
          </a:solidFill>
          <a:ln w="12700">
            <a:solidFill>
              <a:srgbClr val="3B82C4"/>
            </a:solidFill>
            <a:prstDash val="solid"/>
          </a:ln>
        </p:spPr>
        <p:txBody>
          <a:bodyPr/>
          <a:lstStyle/>
          <a:p>
            <a:endParaRPr lang="ko-KR" altLang="en-US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12" name="Text 10"/>
          <p:cNvSpPr/>
          <p:nvPr/>
        </p:nvSpPr>
        <p:spPr>
          <a:xfrm>
            <a:off x="777240" y="3273552"/>
            <a:ext cx="64008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45000"/>
              </a:lnSpc>
              <a:buNone/>
            </a:pPr>
            <a:r>
              <a:rPr lang="en-US" sz="1100" dirty="0">
                <a:solidFill>
                  <a:srgbClr val="9CA3AF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단순 결함 건수를 넘어 — 테스트 충실도·심각도·복잡도·해소역량의</a:t>
            </a:r>
            <a:endParaRPr lang="en-US" sz="1100" dirty="0">
              <a:latin typeface="Rix고딕 L" panose="02020603020101020101" pitchFamily="18" charset="-127"/>
              <a:ea typeface="Rix고딕 L" panose="02020603020101020101" pitchFamily="18" charset="-127"/>
            </a:endParaRPr>
          </a:p>
          <a:p>
            <a:pPr marL="0" indent="0">
              <a:lnSpc>
                <a:spcPct val="145000"/>
              </a:lnSpc>
              <a:buNone/>
            </a:pPr>
            <a:r>
              <a:rPr lang="ko-KR" altLang="en-US" sz="1100" dirty="0" err="1">
                <a:solidFill>
                  <a:srgbClr val="9CA3AF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다축</a:t>
            </a:r>
            <a:r>
              <a:rPr lang="ko-KR" altLang="en-US" sz="1100" dirty="0">
                <a:solidFill>
                  <a:srgbClr val="9CA3AF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 </a:t>
            </a:r>
            <a:r>
              <a:rPr lang="en-US" sz="1100" dirty="0" err="1">
                <a:solidFill>
                  <a:srgbClr val="9CA3AF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교차</a:t>
            </a:r>
            <a:r>
              <a:rPr lang="en-US" sz="1100" dirty="0">
                <a:solidFill>
                  <a:srgbClr val="9CA3AF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 분석을 </a:t>
            </a:r>
            <a:r>
              <a:rPr lang="en-US" sz="1100" dirty="0" err="1">
                <a:solidFill>
                  <a:srgbClr val="9CA3AF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통한</a:t>
            </a:r>
            <a:r>
              <a:rPr lang="en-US" sz="1100" dirty="0">
                <a:solidFill>
                  <a:srgbClr val="9CA3AF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 </a:t>
            </a:r>
            <a:r>
              <a:rPr lang="en-US" sz="1100" dirty="0" err="1">
                <a:solidFill>
                  <a:srgbClr val="9CA3AF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품질</a:t>
            </a:r>
            <a:r>
              <a:rPr lang="en-US" sz="1100" dirty="0">
                <a:solidFill>
                  <a:srgbClr val="9CA3AF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 평</a:t>
            </a:r>
            <a:r>
              <a:rPr lang="ko-KR" altLang="en-US" sz="1100" dirty="0">
                <a:solidFill>
                  <a:srgbClr val="9CA3AF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가 보완</a:t>
            </a:r>
            <a:endParaRPr lang="en-US" sz="1100" dirty="0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13" name="Shape 11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4" name="Shape 12"/>
          <p:cNvSpPr/>
          <p:nvPr/>
        </p:nvSpPr>
        <p:spPr>
          <a:xfrm>
            <a:off x="0" y="4800600"/>
            <a:ext cx="164592" cy="342900"/>
          </a:xfrm>
          <a:prstGeom prst="rect">
            <a:avLst/>
          </a:prstGeom>
          <a:solidFill>
            <a:srgbClr val="E85D2F"/>
          </a:solidFill>
          <a:ln w="12700">
            <a:solidFill>
              <a:srgbClr val="E85D2F"/>
            </a:solidFill>
            <a:prstDash val="solid"/>
          </a:ln>
        </p:spPr>
        <p:txBody>
          <a:bodyPr/>
          <a:lstStyle/>
          <a:p>
            <a:endParaRPr lang="ko-KR" altLang="en-US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15" name="Text 13"/>
          <p:cNvSpPr/>
          <p:nvPr/>
        </p:nvSpPr>
        <p:spPr>
          <a:xfrm>
            <a:off x="347472" y="4800600"/>
            <a:ext cx="850392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AABBD4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단위테스트 결함 종합 분석 결과서  ·  </a:t>
            </a:r>
            <a:r>
              <a:rPr lang="en-US" sz="950" dirty="0" err="1">
                <a:solidFill>
                  <a:srgbClr val="AABBD4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품질</a:t>
            </a:r>
            <a:r>
              <a:rPr lang="en-US" sz="950" dirty="0">
                <a:solidFill>
                  <a:srgbClr val="AABBD4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 </a:t>
            </a:r>
            <a:r>
              <a:rPr lang="en-US" sz="950" dirty="0" err="1">
                <a:solidFill>
                  <a:srgbClr val="AABBD4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평가</a:t>
            </a:r>
            <a:r>
              <a:rPr lang="ko-KR" altLang="en-US" sz="950" dirty="0">
                <a:solidFill>
                  <a:srgbClr val="AABBD4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에 대한 </a:t>
            </a:r>
            <a:r>
              <a:rPr lang="en-US" sz="950" dirty="0" err="1">
                <a:solidFill>
                  <a:srgbClr val="AABBD4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보충</a:t>
            </a:r>
            <a:r>
              <a:rPr lang="en-US" sz="950" dirty="0">
                <a:solidFill>
                  <a:srgbClr val="AABBD4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 의견</a:t>
            </a:r>
            <a:endParaRPr lang="en-US" sz="950" dirty="0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85216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  <p:txBody>
          <a:bodyPr/>
          <a:lstStyle/>
          <a:p>
            <a:endParaRPr lang="ko-KR" altLang="en-US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3" name="Text 1"/>
          <p:cNvSpPr/>
          <p:nvPr/>
        </p:nvSpPr>
        <p:spPr>
          <a:xfrm>
            <a:off x="320040" y="0"/>
            <a:ext cx="76809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FFFFFF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결함 건수 </a:t>
            </a:r>
            <a:r>
              <a:rPr lang="en-US" sz="2000" b="1" dirty="0" err="1">
                <a:solidFill>
                  <a:srgbClr val="FFFFFF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중심</a:t>
            </a:r>
            <a:r>
              <a:rPr lang="en-US" sz="2000" b="1" dirty="0">
                <a:solidFill>
                  <a:srgbClr val="FFFFFF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 (</a:t>
            </a:r>
            <a:r>
              <a:rPr lang="ko-KR" altLang="en-US" sz="2000" b="1" dirty="0">
                <a:solidFill>
                  <a:srgbClr val="FFFFFF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정량적</a:t>
            </a:r>
            <a:r>
              <a:rPr lang="en-US" altLang="ko-KR" sz="2000" b="1" dirty="0">
                <a:solidFill>
                  <a:srgbClr val="FFFFFF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) </a:t>
            </a:r>
            <a:r>
              <a:rPr lang="en-US" sz="2000" b="1" dirty="0" err="1">
                <a:solidFill>
                  <a:srgbClr val="FFFFFF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품질</a:t>
            </a:r>
            <a:r>
              <a:rPr lang="en-US" sz="2000" b="1" dirty="0">
                <a:solidFill>
                  <a:srgbClr val="FFFFFF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 </a:t>
            </a:r>
            <a:r>
              <a:rPr lang="en-US" sz="2000" b="1" dirty="0" err="1">
                <a:solidFill>
                  <a:srgbClr val="FFFFFF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평가의</a:t>
            </a:r>
            <a:r>
              <a:rPr lang="en-US" sz="2000" b="1" dirty="0">
                <a:solidFill>
                  <a:srgbClr val="FFFFFF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 </a:t>
            </a:r>
            <a:r>
              <a:rPr lang="en-US" sz="2000" b="1" dirty="0" err="1">
                <a:solidFill>
                  <a:srgbClr val="FFFFFF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한계</a:t>
            </a:r>
            <a:r>
              <a:rPr lang="ko-KR" altLang="en-US" sz="2000" b="1" dirty="0">
                <a:solidFill>
                  <a:srgbClr val="FFFFFF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와</a:t>
            </a:r>
            <a:r>
              <a:rPr lang="en-US" sz="2000" b="1" dirty="0">
                <a:solidFill>
                  <a:srgbClr val="FFFFFF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 다차원 판단 필요성</a:t>
            </a:r>
            <a:endParaRPr lang="en-US" sz="2000" dirty="0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5" name="Shape 3"/>
          <p:cNvSpPr/>
          <p:nvPr/>
        </p:nvSpPr>
        <p:spPr>
          <a:xfrm>
            <a:off x="434340" y="768096"/>
            <a:ext cx="8241348" cy="292608"/>
          </a:xfrm>
          <a:prstGeom prst="rect">
            <a:avLst/>
          </a:prstGeom>
          <a:solidFill>
            <a:srgbClr val="F4F7FB"/>
          </a:solidFill>
          <a:ln w="12700">
            <a:solidFill>
              <a:srgbClr val="D1D9E6"/>
            </a:solidFill>
            <a:prstDash val="solid"/>
          </a:ln>
        </p:spPr>
        <p:txBody>
          <a:bodyPr/>
          <a:lstStyle/>
          <a:p>
            <a:endParaRPr lang="ko-KR" altLang="en-US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6" name="Shape 4"/>
          <p:cNvSpPr/>
          <p:nvPr/>
        </p:nvSpPr>
        <p:spPr>
          <a:xfrm>
            <a:off x="434340" y="768096"/>
            <a:ext cx="64008" cy="292608"/>
          </a:xfrm>
          <a:prstGeom prst="rect">
            <a:avLst/>
          </a:prstGeom>
          <a:solidFill>
            <a:srgbClr val="E85D2F"/>
          </a:solidFill>
          <a:ln w="12700">
            <a:solidFill>
              <a:srgbClr val="E85D2F"/>
            </a:solidFill>
            <a:prstDash val="solid"/>
          </a:ln>
        </p:spPr>
        <p:txBody>
          <a:bodyPr/>
          <a:lstStyle/>
          <a:p>
            <a:endParaRPr lang="ko-KR" altLang="en-US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7" name="Text 5"/>
          <p:cNvSpPr/>
          <p:nvPr/>
        </p:nvSpPr>
        <p:spPr>
          <a:xfrm>
            <a:off x="598932" y="768096"/>
            <a:ext cx="6858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B3A6B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결함 건수는 '얼마나 발견됐는가'를 나타낼 뿐 ,  '얼마나 잘 만들어졌는가'는 </a:t>
            </a:r>
            <a:r>
              <a:rPr lang="en-US" sz="1100" b="1" dirty="0" err="1">
                <a:solidFill>
                  <a:srgbClr val="1B3A6B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별개</a:t>
            </a:r>
            <a:r>
              <a:rPr lang="en-US" sz="1100" b="1" dirty="0">
                <a:solidFill>
                  <a:srgbClr val="1B3A6B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  →  </a:t>
            </a:r>
            <a:r>
              <a:rPr lang="en-US" sz="1100" b="1" dirty="0" err="1">
                <a:solidFill>
                  <a:srgbClr val="1B3A6B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추가</a:t>
            </a:r>
            <a:r>
              <a:rPr lang="en-US" sz="1100" b="1" dirty="0">
                <a:solidFill>
                  <a:srgbClr val="1B3A6B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 판단 축의 교차 </a:t>
            </a:r>
            <a:r>
              <a:rPr lang="en-US" sz="1100" b="1" dirty="0" err="1">
                <a:solidFill>
                  <a:srgbClr val="1B3A6B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분석이</a:t>
            </a:r>
            <a:r>
              <a:rPr lang="en-US" sz="1100" b="1" dirty="0">
                <a:solidFill>
                  <a:srgbClr val="1B3A6B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 필</a:t>
            </a:r>
            <a:r>
              <a:rPr lang="ko-KR" altLang="en-US" sz="1100" b="1" dirty="0">
                <a:solidFill>
                  <a:srgbClr val="1B3A6B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요</a:t>
            </a:r>
            <a:endParaRPr lang="en-US" sz="1100" dirty="0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8" name="Shape 6"/>
          <p:cNvSpPr/>
          <p:nvPr/>
        </p:nvSpPr>
        <p:spPr>
          <a:xfrm>
            <a:off x="449580" y="1133856"/>
            <a:ext cx="3966528" cy="256032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  <p:txBody>
          <a:bodyPr/>
          <a:lstStyle/>
          <a:p>
            <a:endParaRPr lang="ko-KR" altLang="en-US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9" name="Text 7"/>
          <p:cNvSpPr/>
          <p:nvPr/>
        </p:nvSpPr>
        <p:spPr>
          <a:xfrm>
            <a:off x="577596" y="1133856"/>
            <a:ext cx="380961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FFFFFF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결함 건수만으로 판단 시 발생하는 오류 유형</a:t>
            </a:r>
            <a:endParaRPr lang="en-US" sz="950" dirty="0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grpSp>
        <p:nvGrpSpPr>
          <p:cNvPr id="77" name="그룹 76">
            <a:extLst>
              <a:ext uri="{FF2B5EF4-FFF2-40B4-BE49-F238E27FC236}">
                <a16:creationId xmlns:a16="http://schemas.microsoft.com/office/drawing/2014/main" id="{9219A20E-E6A0-00AE-6CE8-A837E2E3EFCB}"/>
              </a:ext>
            </a:extLst>
          </p:cNvPr>
          <p:cNvGrpSpPr/>
          <p:nvPr/>
        </p:nvGrpSpPr>
        <p:grpSpPr>
          <a:xfrm>
            <a:off x="449580" y="1455420"/>
            <a:ext cx="4059936" cy="720000"/>
            <a:chOff x="449580" y="1455420"/>
            <a:chExt cx="4059936" cy="720000"/>
          </a:xfrm>
        </p:grpSpPr>
        <p:sp>
          <p:nvSpPr>
            <p:cNvPr id="10" name="Shape 8"/>
            <p:cNvSpPr/>
            <p:nvPr/>
          </p:nvSpPr>
          <p:spPr>
            <a:xfrm>
              <a:off x="449580" y="1455420"/>
              <a:ext cx="3966528" cy="720000"/>
            </a:xfrm>
            <a:prstGeom prst="rect">
              <a:avLst/>
            </a:prstGeom>
            <a:solidFill>
              <a:srgbClr val="F4F7FB"/>
            </a:solidFill>
            <a:ln w="12700">
              <a:solidFill>
                <a:srgbClr val="D1D9E6"/>
              </a:solidFill>
              <a:prstDash val="solid"/>
            </a:ln>
            <a:effectLst>
              <a:outerShdw blurRad="50800" dist="25400" dir="8100000" algn="bl" rotWithShape="0">
                <a:srgbClr val="000000">
                  <a:alpha val="8000"/>
                </a:srgbClr>
              </a:outerShdw>
            </a:effectLst>
          </p:spPr>
          <p:txBody>
            <a:bodyPr/>
            <a:lstStyle/>
            <a:p>
              <a:endParaRPr lang="ko-KR" altLang="en-US">
                <a:latin typeface="Rix고딕 L" panose="02020603020101020101" pitchFamily="18" charset="-127"/>
                <a:ea typeface="Rix고딕 L" panose="02020603020101020101" pitchFamily="18" charset="-127"/>
              </a:endParaRPr>
            </a:p>
          </p:txBody>
        </p:sp>
        <p:sp>
          <p:nvSpPr>
            <p:cNvPr id="11" name="Shape 9"/>
            <p:cNvSpPr/>
            <p:nvPr/>
          </p:nvSpPr>
          <p:spPr>
            <a:xfrm>
              <a:off x="449580" y="1455420"/>
              <a:ext cx="64008" cy="720000"/>
            </a:xfrm>
            <a:prstGeom prst="rect">
              <a:avLst/>
            </a:prstGeom>
            <a:solidFill>
              <a:srgbClr val="2563A8"/>
            </a:solidFill>
            <a:ln w="12700">
              <a:solidFill>
                <a:srgbClr val="2563A8"/>
              </a:solidFill>
              <a:prstDash val="solid"/>
            </a:ln>
          </p:spPr>
          <p:txBody>
            <a:bodyPr/>
            <a:lstStyle/>
            <a:p>
              <a:endParaRPr lang="ko-KR" altLang="en-US">
                <a:latin typeface="Rix고딕 L" panose="02020603020101020101" pitchFamily="18" charset="-127"/>
                <a:ea typeface="Rix고딕 L" panose="02020603020101020101" pitchFamily="18" charset="-127"/>
              </a:endParaRPr>
            </a:p>
          </p:txBody>
        </p:sp>
        <p:sp>
          <p:nvSpPr>
            <p:cNvPr id="12" name="Shape 10"/>
            <p:cNvSpPr/>
            <p:nvPr/>
          </p:nvSpPr>
          <p:spPr>
            <a:xfrm>
              <a:off x="577596" y="1589532"/>
              <a:ext cx="256032" cy="256032"/>
            </a:xfrm>
            <a:prstGeom prst="ellipse">
              <a:avLst/>
            </a:prstGeom>
            <a:solidFill>
              <a:srgbClr val="2563A8"/>
            </a:solidFill>
            <a:ln w="12700">
              <a:solidFill>
                <a:srgbClr val="2563A8"/>
              </a:solidFill>
              <a:prstDash val="solid"/>
            </a:ln>
          </p:spPr>
          <p:txBody>
            <a:bodyPr/>
            <a:lstStyle/>
            <a:p>
              <a:endParaRPr lang="ko-KR" altLang="en-US">
                <a:latin typeface="Rix고딕 L" panose="02020603020101020101" pitchFamily="18" charset="-127"/>
                <a:ea typeface="Rix고딕 L" panose="02020603020101020101" pitchFamily="18" charset="-127"/>
              </a:endParaRPr>
            </a:p>
          </p:txBody>
        </p:sp>
        <p:sp>
          <p:nvSpPr>
            <p:cNvPr id="13" name="Text 11"/>
            <p:cNvSpPr/>
            <p:nvPr/>
          </p:nvSpPr>
          <p:spPr>
            <a:xfrm>
              <a:off x="577596" y="1589532"/>
              <a:ext cx="256032" cy="256032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900" b="1" dirty="0">
                  <a:solidFill>
                    <a:srgbClr val="FFFFFF"/>
                  </a:solidFill>
                  <a:latin typeface="Rix고딕 L" panose="02020603020101020101" pitchFamily="18" charset="-127"/>
                  <a:ea typeface="Rix고딕 L" panose="02020603020101020101" pitchFamily="18" charset="-127"/>
                </a:rPr>
                <a:t>↑</a:t>
              </a:r>
              <a:endParaRPr lang="en-US" sz="900" dirty="0">
                <a:latin typeface="Rix고딕 L" panose="02020603020101020101" pitchFamily="18" charset="-127"/>
                <a:ea typeface="Rix고딕 L" panose="02020603020101020101" pitchFamily="18" charset="-127"/>
              </a:endParaRPr>
            </a:p>
          </p:txBody>
        </p:sp>
        <p:sp>
          <p:nvSpPr>
            <p:cNvPr id="14" name="Text 12"/>
            <p:cNvSpPr/>
            <p:nvPr/>
          </p:nvSpPr>
          <p:spPr>
            <a:xfrm>
              <a:off x="925068" y="1488948"/>
              <a:ext cx="3584448" cy="20116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950" b="1" dirty="0">
                  <a:solidFill>
                    <a:srgbClr val="2563A8"/>
                  </a:solidFill>
                  <a:latin typeface="Rix고딕 L" panose="02020603020101020101" pitchFamily="18" charset="-127"/>
                  <a:ea typeface="Rix고딕 L" panose="02020603020101020101" pitchFamily="18" charset="-127"/>
                </a:rPr>
                <a:t>결함 多 ≠ 품질 나쁨</a:t>
              </a:r>
              <a:endParaRPr lang="en-US" sz="950" dirty="0">
                <a:latin typeface="Rix고딕 L" panose="02020603020101020101" pitchFamily="18" charset="-127"/>
                <a:ea typeface="Rix고딕 L" panose="02020603020101020101" pitchFamily="18" charset="-127"/>
              </a:endParaRPr>
            </a:p>
          </p:txBody>
        </p:sp>
        <p:sp>
          <p:nvSpPr>
            <p:cNvPr id="15" name="Text 13"/>
            <p:cNvSpPr/>
            <p:nvPr/>
          </p:nvSpPr>
          <p:spPr>
            <a:xfrm>
              <a:off x="925068" y="1680972"/>
              <a:ext cx="3584448" cy="2743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800" dirty="0">
                  <a:solidFill>
                    <a:srgbClr val="4B5563"/>
                  </a:solidFill>
                  <a:latin typeface="Rix고딕 L" panose="02020603020101020101" pitchFamily="18" charset="-127"/>
                  <a:ea typeface="Rix고딕 L" panose="02020603020101020101" pitchFamily="18" charset="-127"/>
                </a:rPr>
                <a:t>촘촘한 테스트·숙련 테스터·현업 참여 활발 시 결함이 더 많이 발견됨.</a:t>
              </a:r>
              <a:endParaRPr lang="en-US" sz="800" dirty="0">
                <a:latin typeface="Rix고딕 L" panose="02020603020101020101" pitchFamily="18" charset="-127"/>
                <a:ea typeface="Rix고딕 L" panose="02020603020101020101" pitchFamily="18" charset="-127"/>
              </a:endParaRPr>
            </a:p>
            <a:p>
              <a:pPr marL="0" indent="0">
                <a:buNone/>
              </a:pPr>
              <a:r>
                <a:rPr lang="en-US" sz="800" dirty="0">
                  <a:solidFill>
                    <a:srgbClr val="4B5563"/>
                  </a:solidFill>
                  <a:latin typeface="Rix고딕 L" panose="02020603020101020101" pitchFamily="18" charset="-127"/>
                  <a:ea typeface="Rix고딕 L" panose="02020603020101020101" pitchFamily="18" charset="-127"/>
                </a:rPr>
                <a:t>발견 결함 多 = 테스트 충실도 高 신호일 수 있음</a:t>
              </a:r>
              <a:endParaRPr lang="en-US" sz="800" dirty="0">
                <a:latin typeface="Rix고딕 L" panose="02020603020101020101" pitchFamily="18" charset="-127"/>
                <a:ea typeface="Rix고딕 L" panose="02020603020101020101" pitchFamily="18" charset="-127"/>
              </a:endParaRPr>
            </a:p>
          </p:txBody>
        </p:sp>
        <p:sp>
          <p:nvSpPr>
            <p:cNvPr id="16" name="Text 14"/>
            <p:cNvSpPr/>
            <p:nvPr/>
          </p:nvSpPr>
          <p:spPr>
            <a:xfrm>
              <a:off x="925068" y="1982724"/>
              <a:ext cx="3584448" cy="164592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750" i="1" dirty="0">
                  <a:solidFill>
                    <a:srgbClr val="002060"/>
                  </a:solidFill>
                  <a:latin typeface="Rix고딕 L" panose="02020603020101020101" pitchFamily="18" charset="-127"/>
                  <a:ea typeface="Rix고딕 L" panose="02020603020101020101" pitchFamily="18" charset="-127"/>
                </a:rPr>
                <a:t>예) 항공통계포털(AS): 시나리오 194건 대비 결함 200건 — 감리 집중 검증 결과</a:t>
              </a:r>
              <a:endParaRPr lang="en-US" sz="750" dirty="0">
                <a:solidFill>
                  <a:srgbClr val="002060"/>
                </a:solidFill>
                <a:latin typeface="Rix고딕 L" panose="02020603020101020101" pitchFamily="18" charset="-127"/>
                <a:ea typeface="Rix고딕 L" panose="02020603020101020101" pitchFamily="18" charset="-127"/>
              </a:endParaRPr>
            </a:p>
          </p:txBody>
        </p:sp>
      </p:grpSp>
      <p:grpSp>
        <p:nvGrpSpPr>
          <p:cNvPr id="74" name="그룹 73">
            <a:extLst>
              <a:ext uri="{FF2B5EF4-FFF2-40B4-BE49-F238E27FC236}">
                <a16:creationId xmlns:a16="http://schemas.microsoft.com/office/drawing/2014/main" id="{81F3E676-B877-ECFD-2C34-B1A8A2CA2883}"/>
              </a:ext>
            </a:extLst>
          </p:cNvPr>
          <p:cNvGrpSpPr/>
          <p:nvPr/>
        </p:nvGrpSpPr>
        <p:grpSpPr>
          <a:xfrm>
            <a:off x="449580" y="2228088"/>
            <a:ext cx="4059936" cy="720000"/>
            <a:chOff x="449580" y="2296668"/>
            <a:chExt cx="4059936" cy="720000"/>
          </a:xfrm>
        </p:grpSpPr>
        <p:sp>
          <p:nvSpPr>
            <p:cNvPr id="17" name="Shape 15"/>
            <p:cNvSpPr/>
            <p:nvPr/>
          </p:nvSpPr>
          <p:spPr>
            <a:xfrm>
              <a:off x="449580" y="2296668"/>
              <a:ext cx="3966528" cy="720000"/>
            </a:xfrm>
            <a:prstGeom prst="rect">
              <a:avLst/>
            </a:prstGeom>
            <a:solidFill>
              <a:srgbClr val="F4F7FB"/>
            </a:solidFill>
            <a:ln w="12700">
              <a:solidFill>
                <a:srgbClr val="D1D9E6"/>
              </a:solidFill>
              <a:prstDash val="solid"/>
            </a:ln>
            <a:effectLst>
              <a:outerShdw blurRad="50800" dist="25400" dir="8100000" algn="bl" rotWithShape="0">
                <a:srgbClr val="000000">
                  <a:alpha val="8000"/>
                </a:srgbClr>
              </a:outerShdw>
            </a:effectLst>
          </p:spPr>
          <p:txBody>
            <a:bodyPr/>
            <a:lstStyle/>
            <a:p>
              <a:endParaRPr lang="ko-KR" altLang="en-US">
                <a:latin typeface="Rix고딕 L" panose="02020603020101020101" pitchFamily="18" charset="-127"/>
                <a:ea typeface="Rix고딕 L" panose="02020603020101020101" pitchFamily="18" charset="-127"/>
              </a:endParaRPr>
            </a:p>
          </p:txBody>
        </p:sp>
        <p:sp>
          <p:nvSpPr>
            <p:cNvPr id="18" name="Shape 16"/>
            <p:cNvSpPr/>
            <p:nvPr/>
          </p:nvSpPr>
          <p:spPr>
            <a:xfrm>
              <a:off x="449580" y="2296668"/>
              <a:ext cx="64008" cy="720000"/>
            </a:xfrm>
            <a:prstGeom prst="rect">
              <a:avLst/>
            </a:prstGeom>
            <a:solidFill>
              <a:srgbClr val="9CA3AF"/>
            </a:solidFill>
            <a:ln w="12700">
              <a:solidFill>
                <a:srgbClr val="9CA3AF"/>
              </a:solidFill>
              <a:prstDash val="solid"/>
            </a:ln>
          </p:spPr>
          <p:txBody>
            <a:bodyPr/>
            <a:lstStyle/>
            <a:p>
              <a:endParaRPr lang="ko-KR" altLang="en-US">
                <a:latin typeface="Rix고딕 L" panose="02020603020101020101" pitchFamily="18" charset="-127"/>
                <a:ea typeface="Rix고딕 L" panose="02020603020101020101" pitchFamily="18" charset="-127"/>
              </a:endParaRPr>
            </a:p>
          </p:txBody>
        </p:sp>
        <p:sp>
          <p:nvSpPr>
            <p:cNvPr id="19" name="Shape 17"/>
            <p:cNvSpPr/>
            <p:nvPr/>
          </p:nvSpPr>
          <p:spPr>
            <a:xfrm>
              <a:off x="577596" y="2430780"/>
              <a:ext cx="256032" cy="256032"/>
            </a:xfrm>
            <a:prstGeom prst="ellipse">
              <a:avLst/>
            </a:prstGeom>
            <a:solidFill>
              <a:srgbClr val="9CA3AF"/>
            </a:solidFill>
            <a:ln w="12700">
              <a:solidFill>
                <a:srgbClr val="9CA3AF"/>
              </a:solidFill>
              <a:prstDash val="solid"/>
            </a:ln>
          </p:spPr>
          <p:txBody>
            <a:bodyPr/>
            <a:lstStyle/>
            <a:p>
              <a:endParaRPr lang="ko-KR" altLang="en-US">
                <a:latin typeface="Rix고딕 L" panose="02020603020101020101" pitchFamily="18" charset="-127"/>
                <a:ea typeface="Rix고딕 L" panose="02020603020101020101" pitchFamily="18" charset="-127"/>
              </a:endParaRPr>
            </a:p>
          </p:txBody>
        </p:sp>
        <p:sp>
          <p:nvSpPr>
            <p:cNvPr id="20" name="Text 18"/>
            <p:cNvSpPr/>
            <p:nvPr/>
          </p:nvSpPr>
          <p:spPr>
            <a:xfrm>
              <a:off x="577596" y="2430780"/>
              <a:ext cx="256032" cy="256032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900" b="1" dirty="0">
                  <a:solidFill>
                    <a:srgbClr val="FFFFFF"/>
                  </a:solidFill>
                  <a:latin typeface="Rix고딕 L" panose="02020603020101020101" pitchFamily="18" charset="-127"/>
                  <a:ea typeface="Rix고딕 L" panose="02020603020101020101" pitchFamily="18" charset="-127"/>
                </a:rPr>
                <a:t>↓</a:t>
              </a:r>
              <a:endParaRPr lang="en-US" sz="900" dirty="0">
                <a:latin typeface="Rix고딕 L" panose="02020603020101020101" pitchFamily="18" charset="-127"/>
                <a:ea typeface="Rix고딕 L" panose="02020603020101020101" pitchFamily="18" charset="-127"/>
              </a:endParaRPr>
            </a:p>
          </p:txBody>
        </p:sp>
        <p:sp>
          <p:nvSpPr>
            <p:cNvPr id="21" name="Text 19"/>
            <p:cNvSpPr/>
            <p:nvPr/>
          </p:nvSpPr>
          <p:spPr>
            <a:xfrm>
              <a:off x="925068" y="2330196"/>
              <a:ext cx="3584448" cy="20116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950" b="1" dirty="0">
                  <a:solidFill>
                    <a:srgbClr val="002060"/>
                  </a:solidFill>
                  <a:latin typeface="Rix고딕 L" panose="02020603020101020101" pitchFamily="18" charset="-127"/>
                  <a:ea typeface="Rix고딕 L" panose="02020603020101020101" pitchFamily="18" charset="-127"/>
                </a:rPr>
                <a:t>결함 少 ≠ 품질 좋음</a:t>
              </a:r>
              <a:endParaRPr lang="en-US" sz="950" dirty="0">
                <a:solidFill>
                  <a:srgbClr val="002060"/>
                </a:solidFill>
                <a:latin typeface="Rix고딕 L" panose="02020603020101020101" pitchFamily="18" charset="-127"/>
                <a:ea typeface="Rix고딕 L" panose="02020603020101020101" pitchFamily="18" charset="-127"/>
              </a:endParaRPr>
            </a:p>
          </p:txBody>
        </p:sp>
        <p:sp>
          <p:nvSpPr>
            <p:cNvPr id="22" name="Text 20"/>
            <p:cNvSpPr/>
            <p:nvPr/>
          </p:nvSpPr>
          <p:spPr>
            <a:xfrm>
              <a:off x="925068" y="2522220"/>
              <a:ext cx="3584448" cy="2743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800" dirty="0">
                  <a:solidFill>
                    <a:srgbClr val="4B5563"/>
                  </a:solidFill>
                  <a:latin typeface="Rix고딕 L" panose="02020603020101020101" pitchFamily="18" charset="-127"/>
                  <a:ea typeface="Rix고딕 L" panose="02020603020101020101" pitchFamily="18" charset="-127"/>
                </a:rPr>
                <a:t>TC 수 부족·비핵심 기능 위주 테스트 시 결함이 적게 도출됨.</a:t>
              </a:r>
              <a:endParaRPr lang="en-US" sz="800" dirty="0">
                <a:latin typeface="Rix고딕 L" panose="02020603020101020101" pitchFamily="18" charset="-127"/>
                <a:ea typeface="Rix고딕 L" panose="02020603020101020101" pitchFamily="18" charset="-127"/>
              </a:endParaRPr>
            </a:p>
            <a:p>
              <a:pPr marL="0" indent="0">
                <a:buNone/>
              </a:pPr>
              <a:r>
                <a:rPr lang="en-US" sz="800" dirty="0">
                  <a:solidFill>
                    <a:srgbClr val="4B5563"/>
                  </a:solidFill>
                  <a:latin typeface="Rix고딕 L" panose="02020603020101020101" pitchFamily="18" charset="-127"/>
                  <a:ea typeface="Rix고딕 L" panose="02020603020101020101" pitchFamily="18" charset="-127"/>
                </a:rPr>
                <a:t>커버리지 부족이 결함 감소로 위장되는 함정</a:t>
              </a:r>
              <a:endParaRPr lang="en-US" sz="800" dirty="0">
                <a:latin typeface="Rix고딕 L" panose="02020603020101020101" pitchFamily="18" charset="-127"/>
                <a:ea typeface="Rix고딕 L" panose="02020603020101020101" pitchFamily="18" charset="-127"/>
              </a:endParaRPr>
            </a:p>
          </p:txBody>
        </p:sp>
        <p:sp>
          <p:nvSpPr>
            <p:cNvPr id="23" name="Text 21"/>
            <p:cNvSpPr/>
            <p:nvPr/>
          </p:nvSpPr>
          <p:spPr>
            <a:xfrm>
              <a:off x="925068" y="2823972"/>
              <a:ext cx="3584448" cy="164592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750" i="1" dirty="0">
                  <a:solidFill>
                    <a:srgbClr val="002060"/>
                  </a:solidFill>
                  <a:latin typeface="Rix고딕 L" panose="02020603020101020101" pitchFamily="18" charset="-127"/>
                  <a:ea typeface="Rix고딕 L" panose="02020603020101020101" pitchFamily="18" charset="-127"/>
                </a:rPr>
                <a:t>예) 푸시SW(PUSH): 시나리오 6건·결함 5건 — 검증 범위 자체가 협소</a:t>
              </a:r>
              <a:endParaRPr lang="en-US" sz="750" dirty="0">
                <a:solidFill>
                  <a:srgbClr val="002060"/>
                </a:solidFill>
                <a:latin typeface="Rix고딕 L" panose="02020603020101020101" pitchFamily="18" charset="-127"/>
                <a:ea typeface="Rix고딕 L" panose="02020603020101020101" pitchFamily="18" charset="-127"/>
              </a:endParaRPr>
            </a:p>
          </p:txBody>
        </p:sp>
      </p:grpSp>
      <p:grpSp>
        <p:nvGrpSpPr>
          <p:cNvPr id="75" name="그룹 74">
            <a:extLst>
              <a:ext uri="{FF2B5EF4-FFF2-40B4-BE49-F238E27FC236}">
                <a16:creationId xmlns:a16="http://schemas.microsoft.com/office/drawing/2014/main" id="{371861DA-5A6F-64B5-FE46-B2C374AFD380}"/>
              </a:ext>
            </a:extLst>
          </p:cNvPr>
          <p:cNvGrpSpPr/>
          <p:nvPr/>
        </p:nvGrpSpPr>
        <p:grpSpPr>
          <a:xfrm>
            <a:off x="449580" y="3000756"/>
            <a:ext cx="4059936" cy="720000"/>
            <a:chOff x="449580" y="3137916"/>
            <a:chExt cx="4059936" cy="720000"/>
          </a:xfrm>
        </p:grpSpPr>
        <p:sp>
          <p:nvSpPr>
            <p:cNvPr id="24" name="Shape 22"/>
            <p:cNvSpPr/>
            <p:nvPr/>
          </p:nvSpPr>
          <p:spPr>
            <a:xfrm>
              <a:off x="449580" y="3137916"/>
              <a:ext cx="3966528" cy="720000"/>
            </a:xfrm>
            <a:prstGeom prst="rect">
              <a:avLst/>
            </a:prstGeom>
            <a:solidFill>
              <a:srgbClr val="F4F7FB"/>
            </a:solidFill>
            <a:ln w="12700">
              <a:solidFill>
                <a:srgbClr val="D1D9E6"/>
              </a:solidFill>
              <a:prstDash val="solid"/>
            </a:ln>
            <a:effectLst>
              <a:outerShdw blurRad="50800" dist="25400" dir="8100000" algn="bl" rotWithShape="0">
                <a:srgbClr val="000000">
                  <a:alpha val="8000"/>
                </a:srgbClr>
              </a:outerShdw>
            </a:effectLst>
          </p:spPr>
          <p:txBody>
            <a:bodyPr/>
            <a:lstStyle/>
            <a:p>
              <a:endParaRPr lang="ko-KR" altLang="en-US">
                <a:latin typeface="Rix고딕 L" panose="02020603020101020101" pitchFamily="18" charset="-127"/>
                <a:ea typeface="Rix고딕 L" panose="02020603020101020101" pitchFamily="18" charset="-127"/>
              </a:endParaRPr>
            </a:p>
          </p:txBody>
        </p:sp>
        <p:sp>
          <p:nvSpPr>
            <p:cNvPr id="25" name="Shape 23"/>
            <p:cNvSpPr/>
            <p:nvPr/>
          </p:nvSpPr>
          <p:spPr>
            <a:xfrm>
              <a:off x="449580" y="3137916"/>
              <a:ext cx="64008" cy="720000"/>
            </a:xfrm>
            <a:prstGeom prst="rect">
              <a:avLst/>
            </a:prstGeom>
            <a:solidFill>
              <a:srgbClr val="DC2626"/>
            </a:solidFill>
            <a:ln w="12700">
              <a:solidFill>
                <a:srgbClr val="DC2626"/>
              </a:solidFill>
              <a:prstDash val="solid"/>
            </a:ln>
          </p:spPr>
          <p:txBody>
            <a:bodyPr/>
            <a:lstStyle/>
            <a:p>
              <a:endParaRPr lang="ko-KR" altLang="en-US">
                <a:latin typeface="Rix고딕 L" panose="02020603020101020101" pitchFamily="18" charset="-127"/>
                <a:ea typeface="Rix고딕 L" panose="02020603020101020101" pitchFamily="18" charset="-127"/>
              </a:endParaRPr>
            </a:p>
          </p:txBody>
        </p:sp>
        <p:sp>
          <p:nvSpPr>
            <p:cNvPr id="26" name="Shape 24"/>
            <p:cNvSpPr/>
            <p:nvPr/>
          </p:nvSpPr>
          <p:spPr>
            <a:xfrm>
              <a:off x="577596" y="3272028"/>
              <a:ext cx="256032" cy="256032"/>
            </a:xfrm>
            <a:prstGeom prst="ellipse">
              <a:avLst/>
            </a:prstGeom>
            <a:solidFill>
              <a:srgbClr val="DC2626"/>
            </a:solidFill>
            <a:ln w="12700">
              <a:solidFill>
                <a:srgbClr val="DC2626"/>
              </a:solidFill>
              <a:prstDash val="solid"/>
            </a:ln>
          </p:spPr>
          <p:txBody>
            <a:bodyPr/>
            <a:lstStyle/>
            <a:p>
              <a:endParaRPr lang="ko-KR" altLang="en-US">
                <a:latin typeface="Rix고딕 L" panose="02020603020101020101" pitchFamily="18" charset="-127"/>
                <a:ea typeface="Rix고딕 L" panose="02020603020101020101" pitchFamily="18" charset="-127"/>
              </a:endParaRPr>
            </a:p>
          </p:txBody>
        </p:sp>
        <p:sp>
          <p:nvSpPr>
            <p:cNvPr id="27" name="Text 25"/>
            <p:cNvSpPr/>
            <p:nvPr/>
          </p:nvSpPr>
          <p:spPr>
            <a:xfrm>
              <a:off x="577596" y="3272028"/>
              <a:ext cx="256032" cy="256032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900" b="1" dirty="0">
                  <a:solidFill>
                    <a:srgbClr val="FFFFFF"/>
                  </a:solidFill>
                  <a:latin typeface="Rix고딕 L" panose="02020603020101020101" pitchFamily="18" charset="-127"/>
                  <a:ea typeface="Rix고딕 L" panose="02020603020101020101" pitchFamily="18" charset="-127"/>
                </a:rPr>
                <a:t>≠</a:t>
              </a:r>
              <a:endParaRPr lang="en-US" sz="900" dirty="0">
                <a:latin typeface="Rix고딕 L" panose="02020603020101020101" pitchFamily="18" charset="-127"/>
                <a:ea typeface="Rix고딕 L" panose="02020603020101020101" pitchFamily="18" charset="-127"/>
              </a:endParaRPr>
            </a:p>
          </p:txBody>
        </p:sp>
        <p:sp>
          <p:nvSpPr>
            <p:cNvPr id="28" name="Text 26"/>
            <p:cNvSpPr/>
            <p:nvPr/>
          </p:nvSpPr>
          <p:spPr>
            <a:xfrm>
              <a:off x="925068" y="3171444"/>
              <a:ext cx="3584448" cy="20116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950" b="1" dirty="0">
                  <a:solidFill>
                    <a:srgbClr val="DC2626"/>
                  </a:solidFill>
                  <a:latin typeface="Rix고딕 L" panose="02020603020101020101" pitchFamily="18" charset="-127"/>
                  <a:ea typeface="Rix고딕 L" panose="02020603020101020101" pitchFamily="18" charset="-127"/>
                </a:rPr>
                <a:t>건수 합산은 심각도 차이를 무시</a:t>
              </a:r>
              <a:endParaRPr lang="en-US" sz="950" dirty="0">
                <a:latin typeface="Rix고딕 L" panose="02020603020101020101" pitchFamily="18" charset="-127"/>
                <a:ea typeface="Rix고딕 L" panose="02020603020101020101" pitchFamily="18" charset="-127"/>
              </a:endParaRPr>
            </a:p>
          </p:txBody>
        </p:sp>
        <p:sp>
          <p:nvSpPr>
            <p:cNvPr id="29" name="Text 27"/>
            <p:cNvSpPr/>
            <p:nvPr/>
          </p:nvSpPr>
          <p:spPr>
            <a:xfrm>
              <a:off x="925068" y="3363468"/>
              <a:ext cx="3584448" cy="2743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800" dirty="0">
                  <a:solidFill>
                    <a:srgbClr val="4B5563"/>
                  </a:solidFill>
                  <a:latin typeface="Rix고딕 L" panose="02020603020101020101" pitchFamily="18" charset="-127"/>
                  <a:ea typeface="Rix고딕 L" panose="02020603020101020101" pitchFamily="18" charset="-127"/>
                </a:rPr>
                <a:t>Critical 1건은 시스템 전체 운영 불가 수준.</a:t>
              </a:r>
              <a:endParaRPr lang="en-US" sz="800" dirty="0">
                <a:latin typeface="Rix고딕 L" panose="02020603020101020101" pitchFamily="18" charset="-127"/>
                <a:ea typeface="Rix고딕 L" panose="02020603020101020101" pitchFamily="18" charset="-127"/>
              </a:endParaRPr>
            </a:p>
            <a:p>
              <a:pPr marL="0" indent="0">
                <a:buNone/>
              </a:pPr>
              <a:r>
                <a:rPr lang="en-US" sz="800" dirty="0">
                  <a:solidFill>
                    <a:srgbClr val="4B5563"/>
                  </a:solidFill>
                  <a:latin typeface="Rix고딕 L" panose="02020603020101020101" pitchFamily="18" charset="-127"/>
                  <a:ea typeface="Rix고딕 L" panose="02020603020101020101" pitchFamily="18" charset="-127"/>
                </a:rPr>
                <a:t>Minor 10건보다 훨씬 큰 위협임에도 동일 1건으로 집계</a:t>
              </a:r>
              <a:endParaRPr lang="en-US" sz="800" dirty="0">
                <a:latin typeface="Rix고딕 L" panose="02020603020101020101" pitchFamily="18" charset="-127"/>
                <a:ea typeface="Rix고딕 L" panose="02020603020101020101" pitchFamily="18" charset="-127"/>
              </a:endParaRPr>
            </a:p>
          </p:txBody>
        </p:sp>
        <p:sp>
          <p:nvSpPr>
            <p:cNvPr id="30" name="Text 28"/>
            <p:cNvSpPr/>
            <p:nvPr/>
          </p:nvSpPr>
          <p:spPr>
            <a:xfrm>
              <a:off x="925068" y="3665220"/>
              <a:ext cx="3584448" cy="164592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750" i="1" dirty="0">
                  <a:solidFill>
                    <a:srgbClr val="002060"/>
                  </a:solidFill>
                  <a:latin typeface="Rix고딕 L" panose="02020603020101020101" pitchFamily="18" charset="-127"/>
                  <a:ea typeface="Rix고딕 L" panose="02020603020101020101" pitchFamily="18" charset="-127"/>
                </a:rPr>
                <a:t>예) 공항운영(GO) UI 366건 vs 데이터 138건 — 업무 영향도는 역전 가능</a:t>
              </a:r>
              <a:endParaRPr lang="en-US" sz="750" dirty="0">
                <a:solidFill>
                  <a:srgbClr val="002060"/>
                </a:solidFill>
                <a:latin typeface="Rix고딕 L" panose="02020603020101020101" pitchFamily="18" charset="-127"/>
                <a:ea typeface="Rix고딕 L" panose="02020603020101020101" pitchFamily="18" charset="-127"/>
              </a:endParaRPr>
            </a:p>
          </p:txBody>
        </p:sp>
      </p:grpSp>
      <p:grpSp>
        <p:nvGrpSpPr>
          <p:cNvPr id="76" name="그룹 75">
            <a:extLst>
              <a:ext uri="{FF2B5EF4-FFF2-40B4-BE49-F238E27FC236}">
                <a16:creationId xmlns:a16="http://schemas.microsoft.com/office/drawing/2014/main" id="{E9F7415B-DE0D-5C09-7BC7-B10F0F23B5A6}"/>
              </a:ext>
            </a:extLst>
          </p:cNvPr>
          <p:cNvGrpSpPr/>
          <p:nvPr/>
        </p:nvGrpSpPr>
        <p:grpSpPr>
          <a:xfrm>
            <a:off x="449580" y="3773424"/>
            <a:ext cx="4059936" cy="720000"/>
            <a:chOff x="449580" y="3979164"/>
            <a:chExt cx="4059936" cy="720000"/>
          </a:xfrm>
        </p:grpSpPr>
        <p:sp>
          <p:nvSpPr>
            <p:cNvPr id="31" name="Shape 29"/>
            <p:cNvSpPr/>
            <p:nvPr/>
          </p:nvSpPr>
          <p:spPr>
            <a:xfrm>
              <a:off x="449580" y="3979164"/>
              <a:ext cx="3966528" cy="720000"/>
            </a:xfrm>
            <a:prstGeom prst="rect">
              <a:avLst/>
            </a:prstGeom>
            <a:solidFill>
              <a:srgbClr val="F4F7FB"/>
            </a:solidFill>
            <a:ln w="12700">
              <a:solidFill>
                <a:srgbClr val="D1D9E6"/>
              </a:solidFill>
              <a:prstDash val="solid"/>
            </a:ln>
            <a:effectLst>
              <a:outerShdw blurRad="50800" dist="25400" dir="8100000" algn="bl" rotWithShape="0">
                <a:srgbClr val="000000">
                  <a:alpha val="8000"/>
                </a:srgbClr>
              </a:outerShdw>
            </a:effectLst>
          </p:spPr>
          <p:txBody>
            <a:bodyPr/>
            <a:lstStyle/>
            <a:p>
              <a:endParaRPr lang="ko-KR" altLang="en-US">
                <a:latin typeface="Rix고딕 L" panose="02020603020101020101" pitchFamily="18" charset="-127"/>
                <a:ea typeface="Rix고딕 L" panose="02020603020101020101" pitchFamily="18" charset="-127"/>
              </a:endParaRPr>
            </a:p>
          </p:txBody>
        </p:sp>
        <p:sp>
          <p:nvSpPr>
            <p:cNvPr id="32" name="Shape 30"/>
            <p:cNvSpPr/>
            <p:nvPr/>
          </p:nvSpPr>
          <p:spPr>
            <a:xfrm>
              <a:off x="449580" y="3979164"/>
              <a:ext cx="64008" cy="720000"/>
            </a:xfrm>
            <a:prstGeom prst="rect">
              <a:avLst/>
            </a:prstGeom>
            <a:solidFill>
              <a:srgbClr val="D97706"/>
            </a:solidFill>
            <a:ln w="12700">
              <a:solidFill>
                <a:srgbClr val="D97706"/>
              </a:solidFill>
              <a:prstDash val="solid"/>
            </a:ln>
          </p:spPr>
          <p:txBody>
            <a:bodyPr/>
            <a:lstStyle/>
            <a:p>
              <a:endParaRPr lang="ko-KR" altLang="en-US">
                <a:latin typeface="Rix고딕 L" panose="02020603020101020101" pitchFamily="18" charset="-127"/>
                <a:ea typeface="Rix고딕 L" panose="02020603020101020101" pitchFamily="18" charset="-127"/>
              </a:endParaRPr>
            </a:p>
          </p:txBody>
        </p:sp>
        <p:sp>
          <p:nvSpPr>
            <p:cNvPr id="33" name="Shape 31"/>
            <p:cNvSpPr/>
            <p:nvPr/>
          </p:nvSpPr>
          <p:spPr>
            <a:xfrm>
              <a:off x="577596" y="4113276"/>
              <a:ext cx="256032" cy="256032"/>
            </a:xfrm>
            <a:prstGeom prst="ellipse">
              <a:avLst/>
            </a:prstGeom>
            <a:solidFill>
              <a:srgbClr val="D97706"/>
            </a:solidFill>
            <a:ln w="12700">
              <a:solidFill>
                <a:srgbClr val="D97706"/>
              </a:solidFill>
              <a:prstDash val="solid"/>
            </a:ln>
          </p:spPr>
          <p:txBody>
            <a:bodyPr/>
            <a:lstStyle/>
            <a:p>
              <a:endParaRPr lang="ko-KR" altLang="en-US">
                <a:latin typeface="Rix고딕 L" panose="02020603020101020101" pitchFamily="18" charset="-127"/>
                <a:ea typeface="Rix고딕 L" panose="02020603020101020101" pitchFamily="18" charset="-127"/>
              </a:endParaRPr>
            </a:p>
          </p:txBody>
        </p:sp>
        <p:sp>
          <p:nvSpPr>
            <p:cNvPr id="34" name="Text 32"/>
            <p:cNvSpPr/>
            <p:nvPr/>
          </p:nvSpPr>
          <p:spPr>
            <a:xfrm>
              <a:off x="577596" y="4113276"/>
              <a:ext cx="256032" cy="256032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900" b="1" dirty="0">
                  <a:solidFill>
                    <a:srgbClr val="FFFFFF"/>
                  </a:solidFill>
                  <a:latin typeface="Rix고딕 L" panose="02020603020101020101" pitchFamily="18" charset="-127"/>
                  <a:ea typeface="Rix고딕 L" panose="02020603020101020101" pitchFamily="18" charset="-127"/>
                </a:rPr>
                <a:t>↔</a:t>
              </a:r>
              <a:endParaRPr lang="en-US" sz="900" dirty="0">
                <a:latin typeface="Rix고딕 L" panose="02020603020101020101" pitchFamily="18" charset="-127"/>
                <a:ea typeface="Rix고딕 L" panose="02020603020101020101" pitchFamily="18" charset="-127"/>
              </a:endParaRPr>
            </a:p>
          </p:txBody>
        </p:sp>
        <p:sp>
          <p:nvSpPr>
            <p:cNvPr id="35" name="Text 33"/>
            <p:cNvSpPr/>
            <p:nvPr/>
          </p:nvSpPr>
          <p:spPr>
            <a:xfrm>
              <a:off x="925068" y="4012692"/>
              <a:ext cx="3584448" cy="20116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950" b="1" dirty="0">
                  <a:solidFill>
                    <a:srgbClr val="D97706"/>
                  </a:solidFill>
                  <a:latin typeface="Rix고딕 L" panose="02020603020101020101" pitchFamily="18" charset="-127"/>
                  <a:ea typeface="Rix고딕 L" panose="02020603020101020101" pitchFamily="18" charset="-127"/>
                </a:rPr>
                <a:t>개선·변경 요청과 결함의 혼입</a:t>
              </a:r>
              <a:endParaRPr lang="en-US" sz="950" dirty="0">
                <a:latin typeface="Rix고딕 L" panose="02020603020101020101" pitchFamily="18" charset="-127"/>
                <a:ea typeface="Rix고딕 L" panose="02020603020101020101" pitchFamily="18" charset="-127"/>
              </a:endParaRPr>
            </a:p>
          </p:txBody>
        </p:sp>
        <p:sp>
          <p:nvSpPr>
            <p:cNvPr id="36" name="Text 34"/>
            <p:cNvSpPr/>
            <p:nvPr/>
          </p:nvSpPr>
          <p:spPr>
            <a:xfrm>
              <a:off x="925068" y="4204716"/>
              <a:ext cx="3584448" cy="2743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800" dirty="0">
                  <a:solidFill>
                    <a:srgbClr val="4B5563"/>
                  </a:solidFill>
                  <a:latin typeface="Rix고딕 L" panose="02020603020101020101" pitchFamily="18" charset="-127"/>
                  <a:ea typeface="Rix고딕 L" panose="02020603020101020101" pitchFamily="18" charset="-127"/>
                </a:rPr>
                <a:t>개선·변경 1,944건은 품질 문제 아닌 요구사항 확정 지연.</a:t>
              </a:r>
              <a:endParaRPr lang="en-US" sz="800" dirty="0">
                <a:latin typeface="Rix고딕 L" panose="02020603020101020101" pitchFamily="18" charset="-127"/>
                <a:ea typeface="Rix고딕 L" panose="02020603020101020101" pitchFamily="18" charset="-127"/>
              </a:endParaRPr>
            </a:p>
            <a:p>
              <a:pPr marL="0" indent="0">
                <a:buNone/>
              </a:pPr>
              <a:r>
                <a:rPr lang="en-US" sz="800" dirty="0">
                  <a:solidFill>
                    <a:srgbClr val="4B5563"/>
                  </a:solidFill>
                  <a:latin typeface="Rix고딕 L" panose="02020603020101020101" pitchFamily="18" charset="-127"/>
                  <a:ea typeface="Rix고딕 L" panose="02020603020101020101" pitchFamily="18" charset="-127"/>
                </a:rPr>
                <a:t>동일 집계 시 특정 모듈 품질을 체계적으로 과소평가</a:t>
              </a:r>
              <a:endParaRPr lang="en-US" sz="800" dirty="0">
                <a:latin typeface="Rix고딕 L" panose="02020603020101020101" pitchFamily="18" charset="-127"/>
                <a:ea typeface="Rix고딕 L" panose="02020603020101020101" pitchFamily="18" charset="-127"/>
              </a:endParaRPr>
            </a:p>
          </p:txBody>
        </p:sp>
        <p:sp>
          <p:nvSpPr>
            <p:cNvPr id="37" name="Text 35"/>
            <p:cNvSpPr/>
            <p:nvPr/>
          </p:nvSpPr>
          <p:spPr>
            <a:xfrm>
              <a:off x="925068" y="4506468"/>
              <a:ext cx="3584448" cy="164592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750" i="1" dirty="0">
                  <a:solidFill>
                    <a:srgbClr val="002060"/>
                  </a:solidFill>
                  <a:latin typeface="Rix고딕 L" panose="02020603020101020101" pitchFamily="18" charset="-127"/>
                  <a:ea typeface="Rix고딕 L" panose="02020603020101020101" pitchFamily="18" charset="-127"/>
                </a:rPr>
                <a:t>예) 공항운영(GO) 1차 공사 개선율 43.9% — 결함 아닌 협의 미완료</a:t>
              </a:r>
              <a:endParaRPr lang="en-US" sz="750" dirty="0">
                <a:solidFill>
                  <a:srgbClr val="002060"/>
                </a:solidFill>
                <a:latin typeface="Rix고딕 L" panose="02020603020101020101" pitchFamily="18" charset="-127"/>
                <a:ea typeface="Rix고딕 L" panose="02020603020101020101" pitchFamily="18" charset="-127"/>
              </a:endParaRPr>
            </a:p>
          </p:txBody>
        </p:sp>
      </p:grpSp>
      <p:sp>
        <p:nvSpPr>
          <p:cNvPr id="38" name="Shape 36"/>
          <p:cNvSpPr/>
          <p:nvPr/>
        </p:nvSpPr>
        <p:spPr>
          <a:xfrm>
            <a:off x="4709160" y="1133856"/>
            <a:ext cx="3966528" cy="256032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  <p:txBody>
          <a:bodyPr/>
          <a:lstStyle/>
          <a:p>
            <a:endParaRPr lang="ko-KR" altLang="en-US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39" name="Text 37"/>
          <p:cNvSpPr/>
          <p:nvPr/>
        </p:nvSpPr>
        <p:spPr>
          <a:xfrm>
            <a:off x="4837176" y="1133856"/>
            <a:ext cx="380961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FFFFFF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품질 판단을 위해 추가 필요한 4가지 판단 축</a:t>
            </a:r>
            <a:endParaRPr lang="en-US" sz="950" dirty="0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grpSp>
        <p:nvGrpSpPr>
          <p:cNvPr id="81" name="그룹 80">
            <a:extLst>
              <a:ext uri="{FF2B5EF4-FFF2-40B4-BE49-F238E27FC236}">
                <a16:creationId xmlns:a16="http://schemas.microsoft.com/office/drawing/2014/main" id="{639E8452-6E50-3C4E-0EE3-83A34823169F}"/>
              </a:ext>
            </a:extLst>
          </p:cNvPr>
          <p:cNvGrpSpPr/>
          <p:nvPr/>
        </p:nvGrpSpPr>
        <p:grpSpPr>
          <a:xfrm>
            <a:off x="4709160" y="1438656"/>
            <a:ext cx="3966528" cy="720000"/>
            <a:chOff x="4709160" y="1438656"/>
            <a:chExt cx="3966528" cy="720000"/>
          </a:xfrm>
        </p:grpSpPr>
        <p:sp>
          <p:nvSpPr>
            <p:cNvPr id="40" name="Shape 38"/>
            <p:cNvSpPr/>
            <p:nvPr/>
          </p:nvSpPr>
          <p:spPr>
            <a:xfrm>
              <a:off x="4709160" y="1438656"/>
              <a:ext cx="3966528" cy="720000"/>
            </a:xfrm>
            <a:prstGeom prst="rect">
              <a:avLst/>
            </a:prstGeom>
            <a:solidFill>
              <a:srgbClr val="F4F7FB"/>
            </a:solidFill>
            <a:ln w="12700">
              <a:solidFill>
                <a:srgbClr val="D1D9E6"/>
              </a:solidFill>
              <a:prstDash val="solid"/>
            </a:ln>
            <a:effectLst>
              <a:outerShdw blurRad="50800" dist="25400" dir="8100000" algn="bl" rotWithShape="0">
                <a:srgbClr val="000000">
                  <a:alpha val="8000"/>
                </a:srgbClr>
              </a:outerShdw>
            </a:effectLst>
          </p:spPr>
          <p:txBody>
            <a:bodyPr/>
            <a:lstStyle/>
            <a:p>
              <a:endParaRPr lang="ko-KR" altLang="en-US">
                <a:latin typeface="Rix고딕 L" panose="02020603020101020101" pitchFamily="18" charset="-127"/>
                <a:ea typeface="Rix고딕 L" panose="02020603020101020101" pitchFamily="18" charset="-127"/>
              </a:endParaRPr>
            </a:p>
          </p:txBody>
        </p:sp>
        <p:sp>
          <p:nvSpPr>
            <p:cNvPr id="42" name="Shape 40"/>
            <p:cNvSpPr/>
            <p:nvPr/>
          </p:nvSpPr>
          <p:spPr>
            <a:xfrm>
              <a:off x="4828032" y="1612392"/>
              <a:ext cx="982980" cy="448056"/>
            </a:xfrm>
            <a:prstGeom prst="rect">
              <a:avLst/>
            </a:prstGeom>
            <a:solidFill>
              <a:srgbClr val="2563A8"/>
            </a:solidFill>
            <a:ln w="12700">
              <a:solidFill>
                <a:srgbClr val="2563A8"/>
              </a:solidFill>
              <a:prstDash val="solid"/>
            </a:ln>
          </p:spPr>
          <p:txBody>
            <a:bodyPr lIns="0" tIns="0" rIns="0" bIns="0" anchor="ctr" anchorCtr="0"/>
            <a:lstStyle/>
            <a:p>
              <a:pPr algn="ctr"/>
              <a:r>
                <a:rPr lang="ko-KR" altLang="en-US" sz="1050" b="1" dirty="0">
                  <a:solidFill>
                    <a:schemeClr val="bg1"/>
                  </a:solidFill>
                  <a:latin typeface="Rix고딕 L" panose="02020603020101020101" pitchFamily="18" charset="-127"/>
                  <a:ea typeface="Rix고딕 L" panose="02020603020101020101" pitchFamily="18" charset="-127"/>
                </a:rPr>
                <a:t>테스트 충실도</a:t>
              </a:r>
            </a:p>
          </p:txBody>
        </p:sp>
        <p:sp>
          <p:nvSpPr>
            <p:cNvPr id="45" name="Text 43"/>
            <p:cNvSpPr/>
            <p:nvPr/>
          </p:nvSpPr>
          <p:spPr>
            <a:xfrm>
              <a:off x="5996940" y="1575816"/>
              <a:ext cx="2534412" cy="52120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800" b="1" dirty="0">
                  <a:solidFill>
                    <a:srgbClr val="2563A8"/>
                  </a:solidFill>
                  <a:latin typeface="Rix고딕 L" panose="02020603020101020101" pitchFamily="18" charset="-127"/>
                  <a:ea typeface="Rix고딕 L" panose="02020603020101020101" pitchFamily="18" charset="-127"/>
                </a:rPr>
                <a:t>• </a:t>
              </a:r>
              <a:r>
                <a:rPr lang="en-US" sz="800" dirty="0">
                  <a:solidFill>
                    <a:srgbClr val="4B5563"/>
                  </a:solidFill>
                  <a:latin typeface="Rix고딕 L" panose="02020603020101020101" pitchFamily="18" charset="-127"/>
                  <a:ea typeface="Rix고딕 L" panose="02020603020101020101" pitchFamily="18" charset="-127"/>
                </a:rPr>
                <a:t>시나리오 대비 결함율 (결함÷시나리오×100)</a:t>
              </a:r>
            </a:p>
            <a:p>
              <a:r>
                <a:rPr lang="en-US" altLang="ko-KR" sz="800" b="1" dirty="0">
                  <a:solidFill>
                    <a:srgbClr val="2563A8"/>
                  </a:solidFill>
                  <a:latin typeface="Rix고딕 L" panose="02020603020101020101" pitchFamily="18" charset="-127"/>
                  <a:ea typeface="Rix고딕 L" panose="02020603020101020101" pitchFamily="18" charset="-127"/>
                </a:rPr>
                <a:t>• </a:t>
              </a:r>
              <a:r>
                <a:rPr lang="en-US" altLang="ko-KR" sz="800" dirty="0" err="1">
                  <a:solidFill>
                    <a:srgbClr val="4B5563"/>
                  </a:solidFill>
                  <a:latin typeface="Rix고딕 L" panose="02020603020101020101" pitchFamily="18" charset="-127"/>
                  <a:ea typeface="Rix고딕 L" panose="02020603020101020101" pitchFamily="18" charset="-127"/>
                </a:rPr>
                <a:t>테스트</a:t>
              </a:r>
              <a:r>
                <a:rPr lang="en-US" altLang="ko-KR" sz="800" dirty="0">
                  <a:solidFill>
                    <a:srgbClr val="4B5563"/>
                  </a:solidFill>
                  <a:latin typeface="Rix고딕 L" panose="02020603020101020101" pitchFamily="18" charset="-127"/>
                  <a:ea typeface="Rix고딕 L" panose="02020603020101020101" pitchFamily="18" charset="-127"/>
                </a:rPr>
                <a:t> </a:t>
              </a:r>
              <a:r>
                <a:rPr lang="en-US" altLang="ko-KR" sz="800" dirty="0" err="1">
                  <a:solidFill>
                    <a:srgbClr val="4B5563"/>
                  </a:solidFill>
                  <a:latin typeface="Rix고딕 L" panose="02020603020101020101" pitchFamily="18" charset="-127"/>
                  <a:ea typeface="Rix고딕 L" panose="02020603020101020101" pitchFamily="18" charset="-127"/>
                </a:rPr>
                <a:t>케이스</a:t>
              </a:r>
              <a:r>
                <a:rPr lang="en-US" altLang="ko-KR" sz="800" dirty="0">
                  <a:solidFill>
                    <a:srgbClr val="4B5563"/>
                  </a:solidFill>
                  <a:latin typeface="Rix고딕 L" panose="02020603020101020101" pitchFamily="18" charset="-127"/>
                  <a:ea typeface="Rix고딕 L" panose="02020603020101020101" pitchFamily="18" charset="-127"/>
                </a:rPr>
                <a:t> </a:t>
              </a:r>
              <a:r>
                <a:rPr lang="en-US" altLang="ko-KR" sz="800" dirty="0" err="1">
                  <a:solidFill>
                    <a:srgbClr val="4B5563"/>
                  </a:solidFill>
                  <a:latin typeface="Rix고딕 L" panose="02020603020101020101" pitchFamily="18" charset="-127"/>
                  <a:ea typeface="Rix고딕 L" panose="02020603020101020101" pitchFamily="18" charset="-127"/>
                </a:rPr>
                <a:t>커버리지</a:t>
              </a:r>
              <a:r>
                <a:rPr lang="en-US" altLang="ko-KR" sz="800" dirty="0">
                  <a:solidFill>
                    <a:srgbClr val="4B5563"/>
                  </a:solidFill>
                  <a:latin typeface="Rix고딕 L" panose="02020603020101020101" pitchFamily="18" charset="-127"/>
                  <a:ea typeface="Rix고딕 L" panose="02020603020101020101" pitchFamily="18" charset="-127"/>
                </a:rPr>
                <a:t> (%)</a:t>
              </a:r>
            </a:p>
            <a:p>
              <a:r>
                <a:rPr lang="en-US" altLang="ko-KR" sz="800" b="1" dirty="0">
                  <a:solidFill>
                    <a:srgbClr val="2563A8"/>
                  </a:solidFill>
                  <a:latin typeface="Rix고딕 L" panose="02020603020101020101" pitchFamily="18" charset="-127"/>
                  <a:ea typeface="Rix고딕 L" panose="02020603020101020101" pitchFamily="18" charset="-127"/>
                </a:rPr>
                <a:t>• </a:t>
              </a:r>
              <a:r>
                <a:rPr lang="en-US" altLang="ko-KR" sz="800" dirty="0" err="1">
                  <a:solidFill>
                    <a:srgbClr val="4B5563"/>
                  </a:solidFill>
                  <a:latin typeface="Rix고딕 L" panose="02020603020101020101" pitchFamily="18" charset="-127"/>
                  <a:ea typeface="Rix고딕 L" panose="02020603020101020101" pitchFamily="18" charset="-127"/>
                </a:rPr>
                <a:t>테스터</a:t>
              </a:r>
              <a:r>
                <a:rPr lang="en-US" altLang="ko-KR" sz="800" dirty="0">
                  <a:solidFill>
                    <a:srgbClr val="4B5563"/>
                  </a:solidFill>
                  <a:latin typeface="Rix고딕 L" panose="02020603020101020101" pitchFamily="18" charset="-127"/>
                  <a:ea typeface="Rix고딕 L" panose="02020603020101020101" pitchFamily="18" charset="-127"/>
                </a:rPr>
                <a:t> </a:t>
              </a:r>
              <a:r>
                <a:rPr lang="en-US" altLang="ko-KR" sz="800" dirty="0" err="1">
                  <a:solidFill>
                    <a:srgbClr val="4B5563"/>
                  </a:solidFill>
                  <a:latin typeface="Rix고딕 L" panose="02020603020101020101" pitchFamily="18" charset="-127"/>
                  <a:ea typeface="Rix고딕 L" panose="02020603020101020101" pitchFamily="18" charset="-127"/>
                </a:rPr>
                <a:t>숙련도</a:t>
              </a:r>
              <a:r>
                <a:rPr lang="en-US" altLang="ko-KR" sz="800" dirty="0">
                  <a:solidFill>
                    <a:srgbClr val="4B5563"/>
                  </a:solidFill>
                  <a:latin typeface="Rix고딕 L" panose="02020603020101020101" pitchFamily="18" charset="-127"/>
                  <a:ea typeface="Rix고딕 L" panose="02020603020101020101" pitchFamily="18" charset="-127"/>
                </a:rPr>
                <a:t> 및 </a:t>
              </a:r>
              <a:r>
                <a:rPr lang="en-US" altLang="ko-KR" sz="800" dirty="0" err="1">
                  <a:solidFill>
                    <a:srgbClr val="4B5563"/>
                  </a:solidFill>
                  <a:latin typeface="Rix고딕 L" panose="02020603020101020101" pitchFamily="18" charset="-127"/>
                  <a:ea typeface="Rix고딕 L" panose="02020603020101020101" pitchFamily="18" charset="-127"/>
                </a:rPr>
                <a:t>현업</a:t>
              </a:r>
              <a:r>
                <a:rPr lang="en-US" altLang="ko-KR" sz="800" dirty="0">
                  <a:solidFill>
                    <a:srgbClr val="4B5563"/>
                  </a:solidFill>
                  <a:latin typeface="Rix고딕 L" panose="02020603020101020101" pitchFamily="18" charset="-127"/>
                  <a:ea typeface="Rix고딕 L" panose="02020603020101020101" pitchFamily="18" charset="-127"/>
                </a:rPr>
                <a:t> </a:t>
              </a:r>
              <a:r>
                <a:rPr lang="en-US" altLang="ko-KR" sz="800" dirty="0" err="1">
                  <a:solidFill>
                    <a:srgbClr val="4B5563"/>
                  </a:solidFill>
                  <a:latin typeface="Rix고딕 L" panose="02020603020101020101" pitchFamily="18" charset="-127"/>
                  <a:ea typeface="Rix고딕 L" panose="02020603020101020101" pitchFamily="18" charset="-127"/>
                </a:rPr>
                <a:t>참여</a:t>
              </a:r>
              <a:r>
                <a:rPr lang="en-US" altLang="ko-KR" sz="800" dirty="0">
                  <a:solidFill>
                    <a:srgbClr val="4B5563"/>
                  </a:solidFill>
                  <a:latin typeface="Rix고딕 L" panose="02020603020101020101" pitchFamily="18" charset="-127"/>
                  <a:ea typeface="Rix고딕 L" panose="02020603020101020101" pitchFamily="18" charset="-127"/>
                </a:rPr>
                <a:t> </a:t>
              </a:r>
              <a:r>
                <a:rPr lang="en-US" altLang="ko-KR" sz="800" dirty="0" err="1">
                  <a:solidFill>
                    <a:srgbClr val="4B5563"/>
                  </a:solidFill>
                  <a:latin typeface="Rix고딕 L" panose="02020603020101020101" pitchFamily="18" charset="-127"/>
                  <a:ea typeface="Rix고딕 L" panose="02020603020101020101" pitchFamily="18" charset="-127"/>
                </a:rPr>
                <a:t>수준</a:t>
              </a:r>
              <a:endParaRPr lang="en-US" sz="800" dirty="0">
                <a:latin typeface="Rix고딕 L" panose="02020603020101020101" pitchFamily="18" charset="-127"/>
                <a:ea typeface="Rix고딕 L" panose="02020603020101020101" pitchFamily="18" charset="-127"/>
              </a:endParaRPr>
            </a:p>
          </p:txBody>
        </p:sp>
      </p:grpSp>
      <p:grpSp>
        <p:nvGrpSpPr>
          <p:cNvPr id="80" name="그룹 79">
            <a:extLst>
              <a:ext uri="{FF2B5EF4-FFF2-40B4-BE49-F238E27FC236}">
                <a16:creationId xmlns:a16="http://schemas.microsoft.com/office/drawing/2014/main" id="{DD7AD2A8-7B78-3857-413D-CA4F497ACC11}"/>
              </a:ext>
            </a:extLst>
          </p:cNvPr>
          <p:cNvGrpSpPr/>
          <p:nvPr/>
        </p:nvGrpSpPr>
        <p:grpSpPr>
          <a:xfrm>
            <a:off x="4709160" y="2221484"/>
            <a:ext cx="3966528" cy="720000"/>
            <a:chOff x="4709160" y="2289048"/>
            <a:chExt cx="3966528" cy="720000"/>
          </a:xfrm>
        </p:grpSpPr>
        <p:sp>
          <p:nvSpPr>
            <p:cNvPr id="48" name="Shape 46"/>
            <p:cNvSpPr/>
            <p:nvPr/>
          </p:nvSpPr>
          <p:spPr>
            <a:xfrm>
              <a:off x="4709160" y="2289048"/>
              <a:ext cx="3966528" cy="720000"/>
            </a:xfrm>
            <a:prstGeom prst="rect">
              <a:avLst/>
            </a:prstGeom>
            <a:solidFill>
              <a:srgbClr val="F4F7FB"/>
            </a:solidFill>
            <a:ln w="12700">
              <a:solidFill>
                <a:srgbClr val="D1D9E6"/>
              </a:solidFill>
              <a:prstDash val="solid"/>
            </a:ln>
            <a:effectLst>
              <a:outerShdw blurRad="50800" dist="25400" dir="8100000" algn="bl" rotWithShape="0">
                <a:srgbClr val="000000">
                  <a:alpha val="8000"/>
                </a:srgbClr>
              </a:outerShdw>
            </a:effectLst>
          </p:spPr>
          <p:txBody>
            <a:bodyPr/>
            <a:lstStyle/>
            <a:p>
              <a:endParaRPr lang="ko-KR" altLang="en-US">
                <a:latin typeface="Rix고딕 L" panose="02020603020101020101" pitchFamily="18" charset="-127"/>
                <a:ea typeface="Rix고딕 L" panose="02020603020101020101" pitchFamily="18" charset="-127"/>
              </a:endParaRPr>
            </a:p>
          </p:txBody>
        </p:sp>
        <p:sp>
          <p:nvSpPr>
            <p:cNvPr id="50" name="Shape 48"/>
            <p:cNvSpPr/>
            <p:nvPr/>
          </p:nvSpPr>
          <p:spPr>
            <a:xfrm>
              <a:off x="4828032" y="2439924"/>
              <a:ext cx="982980" cy="448056"/>
            </a:xfrm>
            <a:prstGeom prst="rect">
              <a:avLst/>
            </a:prstGeom>
            <a:solidFill>
              <a:srgbClr val="DC2626"/>
            </a:solidFill>
            <a:ln w="12700">
              <a:solidFill>
                <a:srgbClr val="DC2626"/>
              </a:solidFill>
              <a:prstDash val="solid"/>
            </a:ln>
          </p:spPr>
          <p:txBody>
            <a:bodyPr lIns="0" tIns="0" rIns="0" bIns="0" anchor="ctr" anchorCtr="0"/>
            <a:lstStyle/>
            <a:p>
              <a:pPr algn="ctr"/>
              <a:r>
                <a:rPr lang="en-US" altLang="ko-KR" sz="1000" b="1" dirty="0" err="1">
                  <a:solidFill>
                    <a:schemeClr val="bg1"/>
                  </a:solidFill>
                  <a:latin typeface="Rix고딕 L" panose="02020603020101020101" pitchFamily="18" charset="-127"/>
                  <a:ea typeface="Rix고딕 L" panose="02020603020101020101" pitchFamily="18" charset="-127"/>
                </a:rPr>
                <a:t>결함</a:t>
              </a:r>
              <a:r>
                <a:rPr lang="en-US" altLang="ko-KR" sz="1000" b="1" dirty="0">
                  <a:solidFill>
                    <a:schemeClr val="bg1"/>
                  </a:solidFill>
                  <a:latin typeface="Rix고딕 L" panose="02020603020101020101" pitchFamily="18" charset="-127"/>
                  <a:ea typeface="Rix고딕 L" panose="02020603020101020101" pitchFamily="18" charset="-127"/>
                </a:rPr>
                <a:t> </a:t>
              </a:r>
              <a:r>
                <a:rPr lang="en-US" altLang="ko-KR" sz="1000" b="1" dirty="0" err="1">
                  <a:solidFill>
                    <a:schemeClr val="bg1"/>
                  </a:solidFill>
                  <a:latin typeface="Rix고딕 L" panose="02020603020101020101" pitchFamily="18" charset="-127"/>
                  <a:ea typeface="Rix고딕 L" panose="02020603020101020101" pitchFamily="18" charset="-127"/>
                </a:rPr>
                <a:t>심각도</a:t>
              </a:r>
              <a:r>
                <a:rPr lang="en-US" altLang="ko-KR" sz="1000" b="1" dirty="0">
                  <a:solidFill>
                    <a:schemeClr val="bg1"/>
                  </a:solidFill>
                  <a:latin typeface="Rix고딕 L" panose="02020603020101020101" pitchFamily="18" charset="-127"/>
                  <a:ea typeface="Rix고딕 L" panose="02020603020101020101" pitchFamily="18" charset="-127"/>
                </a:rPr>
                <a:t> 및 </a:t>
              </a:r>
              <a:r>
                <a:rPr lang="en-US" altLang="ko-KR" sz="1000" b="1" dirty="0" err="1">
                  <a:solidFill>
                    <a:schemeClr val="bg1"/>
                  </a:solidFill>
                  <a:latin typeface="Rix고딕 L" panose="02020603020101020101" pitchFamily="18" charset="-127"/>
                  <a:ea typeface="Rix고딕 L" panose="02020603020101020101" pitchFamily="18" charset="-127"/>
                </a:rPr>
                <a:t>성격</a:t>
              </a:r>
              <a:endParaRPr lang="ko-KR" altLang="en-US" sz="1000" dirty="0">
                <a:solidFill>
                  <a:schemeClr val="bg1"/>
                </a:solidFill>
                <a:latin typeface="Rix고딕 L" panose="02020603020101020101" pitchFamily="18" charset="-127"/>
                <a:ea typeface="Rix고딕 L" panose="02020603020101020101" pitchFamily="18" charset="-127"/>
              </a:endParaRPr>
            </a:p>
          </p:txBody>
        </p:sp>
        <p:sp>
          <p:nvSpPr>
            <p:cNvPr id="53" name="Text 51"/>
            <p:cNvSpPr/>
            <p:nvPr/>
          </p:nvSpPr>
          <p:spPr>
            <a:xfrm>
              <a:off x="5996940" y="2435352"/>
              <a:ext cx="2534412" cy="4572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800" b="1" dirty="0">
                  <a:solidFill>
                    <a:srgbClr val="DC2626"/>
                  </a:solidFill>
                  <a:latin typeface="Rix고딕 L" panose="02020603020101020101" pitchFamily="18" charset="-127"/>
                  <a:ea typeface="Rix고딕 L" panose="02020603020101020101" pitchFamily="18" charset="-127"/>
                </a:rPr>
                <a:t>• </a:t>
              </a:r>
              <a:r>
                <a:rPr lang="en-US" sz="800" dirty="0">
                  <a:solidFill>
                    <a:srgbClr val="4B5563"/>
                  </a:solidFill>
                  <a:latin typeface="Rix고딕 L" panose="02020603020101020101" pitchFamily="18" charset="-127"/>
                  <a:ea typeface="Rix고딕 L" panose="02020603020101020101" pitchFamily="18" charset="-127"/>
                </a:rPr>
                <a:t>심각도 가중 지수 (Critical×3·Major×2·Minor×1)</a:t>
              </a:r>
            </a:p>
            <a:p>
              <a:r>
                <a:rPr lang="en-US" altLang="ko-KR" sz="800" b="1" dirty="0">
                  <a:solidFill>
                    <a:srgbClr val="DC2626"/>
                  </a:solidFill>
                  <a:latin typeface="Rix고딕 L" panose="02020603020101020101" pitchFamily="18" charset="-127"/>
                  <a:ea typeface="Rix고딕 L" panose="02020603020101020101" pitchFamily="18" charset="-127"/>
                </a:rPr>
                <a:t>• </a:t>
              </a:r>
              <a:r>
                <a:rPr lang="en-US" altLang="ko-KR" sz="800" dirty="0" err="1">
                  <a:solidFill>
                    <a:srgbClr val="4B5563"/>
                  </a:solidFill>
                  <a:latin typeface="Rix고딕 L" panose="02020603020101020101" pitchFamily="18" charset="-127"/>
                  <a:ea typeface="Rix고딕 L" panose="02020603020101020101" pitchFamily="18" charset="-127"/>
                </a:rPr>
                <a:t>기능</a:t>
              </a:r>
              <a:r>
                <a:rPr lang="en-US" altLang="ko-KR" sz="800" dirty="0">
                  <a:solidFill>
                    <a:srgbClr val="4B5563"/>
                  </a:solidFill>
                  <a:latin typeface="Rix고딕 L" panose="02020603020101020101" pitchFamily="18" charset="-127"/>
                  <a:ea typeface="Rix고딕 L" panose="02020603020101020101" pitchFamily="18" charset="-127"/>
                </a:rPr>
                <a:t> </a:t>
              </a:r>
              <a:r>
                <a:rPr lang="en-US" altLang="ko-KR" sz="800" dirty="0" err="1">
                  <a:solidFill>
                    <a:srgbClr val="4B5563"/>
                  </a:solidFill>
                  <a:latin typeface="Rix고딕 L" panose="02020603020101020101" pitchFamily="18" charset="-127"/>
                  <a:ea typeface="Rix고딕 L" panose="02020603020101020101" pitchFamily="18" charset="-127"/>
                </a:rPr>
                <a:t>결함</a:t>
              </a:r>
              <a:r>
                <a:rPr lang="en-US" altLang="ko-KR" sz="800" dirty="0">
                  <a:solidFill>
                    <a:srgbClr val="4B5563"/>
                  </a:solidFill>
                  <a:latin typeface="Rix고딕 L" panose="02020603020101020101" pitchFamily="18" charset="-127"/>
                  <a:ea typeface="Rix고딕 L" panose="02020603020101020101" pitchFamily="18" charset="-127"/>
                </a:rPr>
                <a:t> vs UI·데이터 </a:t>
              </a:r>
              <a:r>
                <a:rPr lang="en-US" altLang="ko-KR" sz="800" dirty="0" err="1">
                  <a:solidFill>
                    <a:srgbClr val="4B5563"/>
                  </a:solidFill>
                  <a:latin typeface="Rix고딕 L" panose="02020603020101020101" pitchFamily="18" charset="-127"/>
                  <a:ea typeface="Rix고딕 L" panose="02020603020101020101" pitchFamily="18" charset="-127"/>
                </a:rPr>
                <a:t>결함</a:t>
              </a:r>
              <a:r>
                <a:rPr lang="en-US" altLang="ko-KR" sz="800" dirty="0">
                  <a:solidFill>
                    <a:srgbClr val="4B5563"/>
                  </a:solidFill>
                  <a:latin typeface="Rix고딕 L" panose="02020603020101020101" pitchFamily="18" charset="-127"/>
                  <a:ea typeface="Rix고딕 L" panose="02020603020101020101" pitchFamily="18" charset="-127"/>
                </a:rPr>
                <a:t> </a:t>
              </a:r>
              <a:r>
                <a:rPr lang="en-US" altLang="ko-KR" sz="800" dirty="0" err="1">
                  <a:solidFill>
                    <a:srgbClr val="4B5563"/>
                  </a:solidFill>
                  <a:latin typeface="Rix고딕 L" panose="02020603020101020101" pitchFamily="18" charset="-127"/>
                  <a:ea typeface="Rix고딕 L" panose="02020603020101020101" pitchFamily="18" charset="-127"/>
                </a:rPr>
                <a:t>비중</a:t>
              </a:r>
              <a:r>
                <a:rPr lang="en-US" altLang="ko-KR" sz="800" dirty="0">
                  <a:solidFill>
                    <a:srgbClr val="4B5563"/>
                  </a:solidFill>
                  <a:latin typeface="Rix고딕 L" panose="02020603020101020101" pitchFamily="18" charset="-127"/>
                  <a:ea typeface="Rix고딕 L" panose="02020603020101020101" pitchFamily="18" charset="-127"/>
                </a:rPr>
                <a:t> </a:t>
              </a:r>
              <a:r>
                <a:rPr lang="en-US" altLang="ko-KR" sz="800" dirty="0" err="1">
                  <a:solidFill>
                    <a:srgbClr val="4B5563"/>
                  </a:solidFill>
                  <a:latin typeface="Rix고딕 L" panose="02020603020101020101" pitchFamily="18" charset="-127"/>
                  <a:ea typeface="Rix고딕 L" panose="02020603020101020101" pitchFamily="18" charset="-127"/>
                </a:rPr>
                <a:t>구분</a:t>
              </a:r>
              <a:endParaRPr lang="en-US" altLang="ko-KR" sz="800" dirty="0">
                <a:latin typeface="Rix고딕 L" panose="02020603020101020101" pitchFamily="18" charset="-127"/>
                <a:ea typeface="Rix고딕 L" panose="02020603020101020101" pitchFamily="18" charset="-127"/>
              </a:endParaRPr>
            </a:p>
            <a:p>
              <a:r>
                <a:rPr lang="en-US" altLang="ko-KR" sz="800" b="1" dirty="0">
                  <a:solidFill>
                    <a:srgbClr val="DC2626"/>
                  </a:solidFill>
                  <a:latin typeface="Rix고딕 L" panose="02020603020101020101" pitchFamily="18" charset="-127"/>
                  <a:ea typeface="Rix고딕 L" panose="02020603020101020101" pitchFamily="18" charset="-127"/>
                </a:rPr>
                <a:t>• </a:t>
              </a:r>
              <a:r>
                <a:rPr lang="en-US" altLang="ko-KR" sz="800" dirty="0" err="1">
                  <a:solidFill>
                    <a:srgbClr val="4B5563"/>
                  </a:solidFill>
                  <a:latin typeface="Rix고딕 L" panose="02020603020101020101" pitchFamily="18" charset="-127"/>
                  <a:ea typeface="Rix고딕 L" panose="02020603020101020101" pitchFamily="18" charset="-127"/>
                </a:rPr>
                <a:t>개선·변경</a:t>
              </a:r>
              <a:r>
                <a:rPr lang="en-US" altLang="ko-KR" sz="800" dirty="0">
                  <a:solidFill>
                    <a:srgbClr val="4B5563"/>
                  </a:solidFill>
                  <a:latin typeface="Rix고딕 L" panose="02020603020101020101" pitchFamily="18" charset="-127"/>
                  <a:ea typeface="Rix고딕 L" panose="02020603020101020101" pitchFamily="18" charset="-127"/>
                </a:rPr>
                <a:t> </a:t>
              </a:r>
              <a:r>
                <a:rPr lang="en-US" altLang="ko-KR" sz="800" dirty="0" err="1">
                  <a:solidFill>
                    <a:srgbClr val="4B5563"/>
                  </a:solidFill>
                  <a:latin typeface="Rix고딕 L" panose="02020603020101020101" pitchFamily="18" charset="-127"/>
                  <a:ea typeface="Rix고딕 L" panose="02020603020101020101" pitchFamily="18" charset="-127"/>
                </a:rPr>
                <a:t>요청</a:t>
              </a:r>
              <a:r>
                <a:rPr lang="en-US" altLang="ko-KR" sz="800" dirty="0">
                  <a:solidFill>
                    <a:srgbClr val="4B5563"/>
                  </a:solidFill>
                  <a:latin typeface="Rix고딕 L" panose="02020603020101020101" pitchFamily="18" charset="-127"/>
                  <a:ea typeface="Rix고딕 L" panose="02020603020101020101" pitchFamily="18" charset="-127"/>
                </a:rPr>
                <a:t> </a:t>
              </a:r>
              <a:r>
                <a:rPr lang="en-US" altLang="ko-KR" sz="800" dirty="0" err="1">
                  <a:solidFill>
                    <a:srgbClr val="4B5563"/>
                  </a:solidFill>
                  <a:latin typeface="Rix고딕 L" panose="02020603020101020101" pitchFamily="18" charset="-127"/>
                  <a:ea typeface="Rix고딕 L" panose="02020603020101020101" pitchFamily="18" charset="-127"/>
                </a:rPr>
                <a:t>혼입</a:t>
              </a:r>
              <a:r>
                <a:rPr lang="en-US" altLang="ko-KR" sz="800" dirty="0">
                  <a:solidFill>
                    <a:srgbClr val="4B5563"/>
                  </a:solidFill>
                  <a:latin typeface="Rix고딕 L" panose="02020603020101020101" pitchFamily="18" charset="-127"/>
                  <a:ea typeface="Rix고딕 L" panose="02020603020101020101" pitchFamily="18" charset="-127"/>
                </a:rPr>
                <a:t> </a:t>
              </a:r>
              <a:r>
                <a:rPr lang="en-US" altLang="ko-KR" sz="800" dirty="0" err="1">
                  <a:solidFill>
                    <a:srgbClr val="4B5563"/>
                  </a:solidFill>
                  <a:latin typeface="Rix고딕 L" panose="02020603020101020101" pitchFamily="18" charset="-127"/>
                  <a:ea typeface="Rix고딕 L" panose="02020603020101020101" pitchFamily="18" charset="-127"/>
                </a:rPr>
                <a:t>여부</a:t>
              </a:r>
              <a:r>
                <a:rPr lang="en-US" altLang="ko-KR" sz="800" dirty="0">
                  <a:solidFill>
                    <a:srgbClr val="4B5563"/>
                  </a:solidFill>
                  <a:latin typeface="Rix고딕 L" panose="02020603020101020101" pitchFamily="18" charset="-127"/>
                  <a:ea typeface="Rix고딕 L" panose="02020603020101020101" pitchFamily="18" charset="-127"/>
                </a:rPr>
                <a:t> </a:t>
              </a:r>
              <a:r>
                <a:rPr lang="en-US" altLang="ko-KR" sz="800" dirty="0" err="1">
                  <a:solidFill>
                    <a:srgbClr val="4B5563"/>
                  </a:solidFill>
                  <a:latin typeface="Rix고딕 L" panose="02020603020101020101" pitchFamily="18" charset="-127"/>
                  <a:ea typeface="Rix고딕 L" panose="02020603020101020101" pitchFamily="18" charset="-127"/>
                </a:rPr>
                <a:t>명확히</a:t>
              </a:r>
              <a:r>
                <a:rPr lang="en-US" altLang="ko-KR" sz="800" dirty="0">
                  <a:solidFill>
                    <a:srgbClr val="4B5563"/>
                  </a:solidFill>
                  <a:latin typeface="Rix고딕 L" panose="02020603020101020101" pitchFamily="18" charset="-127"/>
                  <a:ea typeface="Rix고딕 L" panose="02020603020101020101" pitchFamily="18" charset="-127"/>
                </a:rPr>
                <a:t> </a:t>
              </a:r>
              <a:r>
                <a:rPr lang="en-US" altLang="ko-KR" sz="800" dirty="0" err="1">
                  <a:solidFill>
                    <a:srgbClr val="4B5563"/>
                  </a:solidFill>
                  <a:latin typeface="Rix고딕 L" panose="02020603020101020101" pitchFamily="18" charset="-127"/>
                  <a:ea typeface="Rix고딕 L" panose="02020603020101020101" pitchFamily="18" charset="-127"/>
                </a:rPr>
                <a:t>분리</a:t>
              </a:r>
              <a:endParaRPr lang="en-US" altLang="ko-KR" sz="800" dirty="0">
                <a:latin typeface="Rix고딕 L" panose="02020603020101020101" pitchFamily="18" charset="-127"/>
                <a:ea typeface="Rix고딕 L" panose="02020603020101020101" pitchFamily="18" charset="-127"/>
              </a:endParaRPr>
            </a:p>
          </p:txBody>
        </p:sp>
      </p:grpSp>
      <p:grpSp>
        <p:nvGrpSpPr>
          <p:cNvPr id="79" name="그룹 78">
            <a:extLst>
              <a:ext uri="{FF2B5EF4-FFF2-40B4-BE49-F238E27FC236}">
                <a16:creationId xmlns:a16="http://schemas.microsoft.com/office/drawing/2014/main" id="{6FE6ACE0-A4BB-F1A0-74FA-4A112BEDD1BC}"/>
              </a:ext>
            </a:extLst>
          </p:cNvPr>
          <p:cNvGrpSpPr/>
          <p:nvPr/>
        </p:nvGrpSpPr>
        <p:grpSpPr>
          <a:xfrm>
            <a:off x="4709160" y="3004312"/>
            <a:ext cx="3966528" cy="720000"/>
            <a:chOff x="4709160" y="3130296"/>
            <a:chExt cx="3966528" cy="720000"/>
          </a:xfrm>
        </p:grpSpPr>
        <p:sp>
          <p:nvSpPr>
            <p:cNvPr id="56" name="Shape 54"/>
            <p:cNvSpPr/>
            <p:nvPr/>
          </p:nvSpPr>
          <p:spPr>
            <a:xfrm>
              <a:off x="4709160" y="3130296"/>
              <a:ext cx="3966528" cy="720000"/>
            </a:xfrm>
            <a:prstGeom prst="rect">
              <a:avLst/>
            </a:prstGeom>
            <a:solidFill>
              <a:srgbClr val="F4F7FB"/>
            </a:solidFill>
            <a:ln w="12700">
              <a:solidFill>
                <a:srgbClr val="D1D9E6"/>
              </a:solidFill>
              <a:prstDash val="solid"/>
            </a:ln>
            <a:effectLst>
              <a:outerShdw blurRad="50800" dist="25400" dir="8100000" algn="bl" rotWithShape="0">
                <a:srgbClr val="000000">
                  <a:alpha val="8000"/>
                </a:srgbClr>
              </a:outerShdw>
            </a:effectLst>
          </p:spPr>
          <p:txBody>
            <a:bodyPr/>
            <a:lstStyle/>
            <a:p>
              <a:endParaRPr lang="ko-KR" altLang="en-US">
                <a:latin typeface="Rix고딕 L" panose="02020603020101020101" pitchFamily="18" charset="-127"/>
                <a:ea typeface="Rix고딕 L" panose="02020603020101020101" pitchFamily="18" charset="-127"/>
              </a:endParaRPr>
            </a:p>
          </p:txBody>
        </p:sp>
        <p:sp>
          <p:nvSpPr>
            <p:cNvPr id="58" name="Shape 56"/>
            <p:cNvSpPr/>
            <p:nvPr/>
          </p:nvSpPr>
          <p:spPr>
            <a:xfrm>
              <a:off x="4828032" y="3281172"/>
              <a:ext cx="982980" cy="448056"/>
            </a:xfrm>
            <a:prstGeom prst="rect">
              <a:avLst/>
            </a:prstGeom>
            <a:solidFill>
              <a:srgbClr val="E85D2F"/>
            </a:solidFill>
            <a:ln w="12700">
              <a:solidFill>
                <a:srgbClr val="E85D2F"/>
              </a:solidFill>
              <a:prstDash val="solid"/>
            </a:ln>
          </p:spPr>
          <p:txBody>
            <a:bodyPr lIns="0" tIns="0" rIns="0" bIns="0" anchor="ctr" anchorCtr="0"/>
            <a:lstStyle/>
            <a:p>
              <a:pPr algn="ctr"/>
              <a:r>
                <a:rPr lang="en-US" altLang="ko-KR" sz="1000" b="1" dirty="0" err="1">
                  <a:solidFill>
                    <a:schemeClr val="bg1"/>
                  </a:solidFill>
                  <a:latin typeface="Rix고딕 L" panose="02020603020101020101" pitchFamily="18" charset="-127"/>
                  <a:ea typeface="Rix고딕 L" panose="02020603020101020101" pitchFamily="18" charset="-127"/>
                </a:rPr>
                <a:t>모듈</a:t>
              </a:r>
              <a:r>
                <a:rPr lang="en-US" altLang="ko-KR" sz="1000" b="1" dirty="0">
                  <a:solidFill>
                    <a:schemeClr val="bg1"/>
                  </a:solidFill>
                  <a:latin typeface="Rix고딕 L" panose="02020603020101020101" pitchFamily="18" charset="-127"/>
                  <a:ea typeface="Rix고딕 L" panose="02020603020101020101" pitchFamily="18" charset="-127"/>
                </a:rPr>
                <a:t> </a:t>
              </a:r>
              <a:r>
                <a:rPr lang="en-US" altLang="ko-KR" sz="1000" b="1" dirty="0" err="1">
                  <a:solidFill>
                    <a:schemeClr val="bg1"/>
                  </a:solidFill>
                  <a:latin typeface="Rix고딕 L" panose="02020603020101020101" pitchFamily="18" charset="-127"/>
                  <a:ea typeface="Rix고딕 L" panose="02020603020101020101" pitchFamily="18" charset="-127"/>
                </a:rPr>
                <a:t>복잡도</a:t>
              </a:r>
              <a:endParaRPr lang="en-US" altLang="ko-KR" sz="1000" b="1" dirty="0">
                <a:solidFill>
                  <a:schemeClr val="bg1"/>
                </a:solidFill>
                <a:latin typeface="Rix고딕 L" panose="02020603020101020101" pitchFamily="18" charset="-127"/>
                <a:ea typeface="Rix고딕 L" panose="02020603020101020101" pitchFamily="18" charset="-127"/>
              </a:endParaRPr>
            </a:p>
            <a:p>
              <a:pPr algn="ctr"/>
              <a:r>
                <a:rPr lang="en-US" altLang="ko-KR" sz="1000" b="1" dirty="0" err="1">
                  <a:solidFill>
                    <a:schemeClr val="bg1"/>
                  </a:solidFill>
                  <a:latin typeface="Rix고딕 L" panose="02020603020101020101" pitchFamily="18" charset="-127"/>
                  <a:ea typeface="Rix고딕 L" panose="02020603020101020101" pitchFamily="18" charset="-127"/>
                </a:rPr>
                <a:t>업무</a:t>
              </a:r>
              <a:r>
                <a:rPr lang="en-US" altLang="ko-KR" sz="1000" b="1" dirty="0">
                  <a:solidFill>
                    <a:schemeClr val="bg1"/>
                  </a:solidFill>
                  <a:latin typeface="Rix고딕 L" panose="02020603020101020101" pitchFamily="18" charset="-127"/>
                  <a:ea typeface="Rix고딕 L" panose="02020603020101020101" pitchFamily="18" charset="-127"/>
                </a:rPr>
                <a:t> </a:t>
              </a:r>
              <a:r>
                <a:rPr lang="en-US" altLang="ko-KR" sz="1000" b="1" dirty="0" err="1">
                  <a:solidFill>
                    <a:schemeClr val="bg1"/>
                  </a:solidFill>
                  <a:latin typeface="Rix고딕 L" panose="02020603020101020101" pitchFamily="18" charset="-127"/>
                  <a:ea typeface="Rix고딕 L" panose="02020603020101020101" pitchFamily="18" charset="-127"/>
                </a:rPr>
                <a:t>난이도</a:t>
              </a:r>
              <a:endParaRPr lang="ko-KR" altLang="en-US" sz="1000" dirty="0">
                <a:solidFill>
                  <a:schemeClr val="bg1"/>
                </a:solidFill>
                <a:latin typeface="Rix고딕 L" panose="02020603020101020101" pitchFamily="18" charset="-127"/>
                <a:ea typeface="Rix고딕 L" panose="02020603020101020101" pitchFamily="18" charset="-127"/>
              </a:endParaRPr>
            </a:p>
          </p:txBody>
        </p:sp>
        <p:sp>
          <p:nvSpPr>
            <p:cNvPr id="61" name="Text 59"/>
            <p:cNvSpPr/>
            <p:nvPr/>
          </p:nvSpPr>
          <p:spPr>
            <a:xfrm>
              <a:off x="5996940" y="3276600"/>
              <a:ext cx="2522220" cy="4572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800" b="1" dirty="0">
                  <a:solidFill>
                    <a:srgbClr val="E85D2F"/>
                  </a:solidFill>
                  <a:latin typeface="Rix고딕 L" panose="02020603020101020101" pitchFamily="18" charset="-127"/>
                  <a:ea typeface="Rix고딕 L" panose="02020603020101020101" pitchFamily="18" charset="-127"/>
                </a:rPr>
                <a:t>• </a:t>
              </a:r>
              <a:r>
                <a:rPr lang="en-US" sz="800" dirty="0">
                  <a:solidFill>
                    <a:srgbClr val="4B5563"/>
                  </a:solidFill>
                  <a:latin typeface="Rix고딕 L" panose="02020603020101020101" pitchFamily="18" charset="-127"/>
                  <a:ea typeface="Rix고딕 L" panose="02020603020101020101" pitchFamily="18" charset="-127"/>
                </a:rPr>
                <a:t>업무 로직 복잡도 (I/F 수·규제 요건 등)</a:t>
              </a:r>
            </a:p>
            <a:p>
              <a:r>
                <a:rPr lang="en-US" altLang="ko-KR" sz="800" b="1" dirty="0">
                  <a:solidFill>
                    <a:srgbClr val="E85D2F"/>
                  </a:solidFill>
                  <a:latin typeface="Rix고딕 L" panose="02020603020101020101" pitchFamily="18" charset="-127"/>
                  <a:ea typeface="Rix고딕 L" panose="02020603020101020101" pitchFamily="18" charset="-127"/>
                </a:rPr>
                <a:t>• </a:t>
              </a:r>
              <a:r>
                <a:rPr lang="en-US" altLang="ko-KR" sz="800" dirty="0">
                  <a:solidFill>
                    <a:srgbClr val="4B5563"/>
                  </a:solidFill>
                  <a:latin typeface="Rix고딕 L" panose="02020603020101020101" pitchFamily="18" charset="-127"/>
                  <a:ea typeface="Rix고딕 L" panose="02020603020101020101" pitchFamily="18" charset="-127"/>
                </a:rPr>
                <a:t>ASIS </a:t>
              </a:r>
              <a:r>
                <a:rPr lang="en-US" altLang="ko-KR" sz="800" dirty="0" err="1">
                  <a:solidFill>
                    <a:srgbClr val="4B5563"/>
                  </a:solidFill>
                  <a:latin typeface="Rix고딕 L" panose="02020603020101020101" pitchFamily="18" charset="-127"/>
                  <a:ea typeface="Rix고딕 L" panose="02020603020101020101" pitchFamily="18" charset="-127"/>
                </a:rPr>
                <a:t>대비</a:t>
              </a:r>
              <a:r>
                <a:rPr lang="en-US" altLang="ko-KR" sz="800" dirty="0">
                  <a:solidFill>
                    <a:srgbClr val="4B5563"/>
                  </a:solidFill>
                  <a:latin typeface="Rix고딕 L" panose="02020603020101020101" pitchFamily="18" charset="-127"/>
                  <a:ea typeface="Rix고딕 L" panose="02020603020101020101" pitchFamily="18" charset="-127"/>
                </a:rPr>
                <a:t> </a:t>
              </a:r>
              <a:r>
                <a:rPr lang="en-US" altLang="ko-KR" sz="800" dirty="0" err="1">
                  <a:solidFill>
                    <a:srgbClr val="4B5563"/>
                  </a:solidFill>
                  <a:latin typeface="Rix고딕 L" panose="02020603020101020101" pitchFamily="18" charset="-127"/>
                  <a:ea typeface="Rix고딕 L" panose="02020603020101020101" pitchFamily="18" charset="-127"/>
                </a:rPr>
                <a:t>변경</a:t>
              </a:r>
              <a:r>
                <a:rPr lang="en-US" altLang="ko-KR" sz="800" dirty="0">
                  <a:solidFill>
                    <a:srgbClr val="4B5563"/>
                  </a:solidFill>
                  <a:latin typeface="Rix고딕 L" panose="02020603020101020101" pitchFamily="18" charset="-127"/>
                  <a:ea typeface="Rix고딕 L" panose="02020603020101020101" pitchFamily="18" charset="-127"/>
                </a:rPr>
                <a:t> </a:t>
              </a:r>
              <a:r>
                <a:rPr lang="en-US" altLang="ko-KR" sz="800" dirty="0" err="1">
                  <a:solidFill>
                    <a:srgbClr val="4B5563"/>
                  </a:solidFill>
                  <a:latin typeface="Rix고딕 L" panose="02020603020101020101" pitchFamily="18" charset="-127"/>
                  <a:ea typeface="Rix고딕 L" panose="02020603020101020101" pitchFamily="18" charset="-127"/>
                </a:rPr>
                <a:t>범위</a:t>
              </a:r>
              <a:r>
                <a:rPr lang="en-US" altLang="ko-KR" sz="800" dirty="0">
                  <a:solidFill>
                    <a:srgbClr val="4B5563"/>
                  </a:solidFill>
                  <a:latin typeface="Rix고딕 L" panose="02020603020101020101" pitchFamily="18" charset="-127"/>
                  <a:ea typeface="Rix고딕 L" panose="02020603020101020101" pitchFamily="18" charset="-127"/>
                </a:rPr>
                <a:t> (</a:t>
              </a:r>
              <a:r>
                <a:rPr lang="en-US" altLang="ko-KR" sz="800" dirty="0" err="1">
                  <a:solidFill>
                    <a:srgbClr val="4B5563"/>
                  </a:solidFill>
                  <a:latin typeface="Rix고딕 L" panose="02020603020101020101" pitchFamily="18" charset="-127"/>
                  <a:ea typeface="Rix고딕 L" panose="02020603020101020101" pitchFamily="18" charset="-127"/>
                </a:rPr>
                <a:t>신규</a:t>
              </a:r>
              <a:r>
                <a:rPr lang="en-US" altLang="ko-KR" sz="800" dirty="0">
                  <a:solidFill>
                    <a:srgbClr val="4B5563"/>
                  </a:solidFill>
                  <a:latin typeface="Rix고딕 L" panose="02020603020101020101" pitchFamily="18" charset="-127"/>
                  <a:ea typeface="Rix고딕 L" panose="02020603020101020101" pitchFamily="18" charset="-127"/>
                </a:rPr>
                <a:t> vs </a:t>
              </a:r>
              <a:r>
                <a:rPr lang="en-US" altLang="ko-KR" sz="800" dirty="0" err="1">
                  <a:solidFill>
                    <a:srgbClr val="4B5563"/>
                  </a:solidFill>
                  <a:latin typeface="Rix고딕 L" panose="02020603020101020101" pitchFamily="18" charset="-127"/>
                  <a:ea typeface="Rix고딕 L" panose="02020603020101020101" pitchFamily="18" charset="-127"/>
                </a:rPr>
                <a:t>이관</a:t>
              </a:r>
              <a:r>
                <a:rPr lang="en-US" altLang="ko-KR" sz="800" dirty="0">
                  <a:solidFill>
                    <a:srgbClr val="4B5563"/>
                  </a:solidFill>
                  <a:latin typeface="Rix고딕 L" panose="02020603020101020101" pitchFamily="18" charset="-127"/>
                  <a:ea typeface="Rix고딕 L" panose="02020603020101020101" pitchFamily="18" charset="-127"/>
                </a:rPr>
                <a:t> </a:t>
              </a:r>
              <a:r>
                <a:rPr lang="en-US" altLang="ko-KR" sz="800" dirty="0" err="1">
                  <a:solidFill>
                    <a:srgbClr val="4B5563"/>
                  </a:solidFill>
                  <a:latin typeface="Rix고딕 L" panose="02020603020101020101" pitchFamily="18" charset="-127"/>
                  <a:ea typeface="Rix고딕 L" panose="02020603020101020101" pitchFamily="18" charset="-127"/>
                </a:rPr>
                <a:t>비율</a:t>
              </a:r>
              <a:r>
                <a:rPr lang="en-US" altLang="ko-KR" sz="800" dirty="0">
                  <a:solidFill>
                    <a:srgbClr val="4B5563"/>
                  </a:solidFill>
                  <a:latin typeface="Rix고딕 L" panose="02020603020101020101" pitchFamily="18" charset="-127"/>
                  <a:ea typeface="Rix고딕 L" panose="02020603020101020101" pitchFamily="18" charset="-127"/>
                </a:rPr>
                <a:t>)</a:t>
              </a:r>
              <a:endParaRPr lang="en-US" altLang="ko-KR" sz="800" dirty="0">
                <a:latin typeface="Rix고딕 L" panose="02020603020101020101" pitchFamily="18" charset="-127"/>
                <a:ea typeface="Rix고딕 L" panose="02020603020101020101" pitchFamily="18" charset="-127"/>
              </a:endParaRPr>
            </a:p>
            <a:p>
              <a:r>
                <a:rPr lang="en-US" altLang="ko-KR" sz="800" b="1" dirty="0">
                  <a:solidFill>
                    <a:srgbClr val="E85D2F"/>
                  </a:solidFill>
                  <a:latin typeface="Rix고딕 L" panose="02020603020101020101" pitchFamily="18" charset="-127"/>
                  <a:ea typeface="Rix고딕 L" panose="02020603020101020101" pitchFamily="18" charset="-127"/>
                </a:rPr>
                <a:t>• </a:t>
              </a:r>
              <a:r>
                <a:rPr lang="en-US" altLang="ko-KR" sz="800" dirty="0" err="1">
                  <a:solidFill>
                    <a:srgbClr val="4B5563"/>
                  </a:solidFill>
                  <a:latin typeface="Rix고딕 L" panose="02020603020101020101" pitchFamily="18" charset="-127"/>
                  <a:ea typeface="Rix고딕 L" panose="02020603020101020101" pitchFamily="18" charset="-127"/>
                </a:rPr>
                <a:t>모듈</a:t>
              </a:r>
              <a:r>
                <a:rPr lang="en-US" altLang="ko-KR" sz="800" dirty="0">
                  <a:solidFill>
                    <a:srgbClr val="4B5563"/>
                  </a:solidFill>
                  <a:latin typeface="Rix고딕 L" panose="02020603020101020101" pitchFamily="18" charset="-127"/>
                  <a:ea typeface="Rix고딕 L" panose="02020603020101020101" pitchFamily="18" charset="-127"/>
                </a:rPr>
                <a:t> </a:t>
              </a:r>
              <a:r>
                <a:rPr lang="en-US" altLang="ko-KR" sz="800" dirty="0" err="1">
                  <a:solidFill>
                    <a:srgbClr val="4B5563"/>
                  </a:solidFill>
                  <a:latin typeface="Rix고딕 L" panose="02020603020101020101" pitchFamily="18" charset="-127"/>
                  <a:ea typeface="Rix고딕 L" panose="02020603020101020101" pitchFamily="18" charset="-127"/>
                </a:rPr>
                <a:t>개발</a:t>
              </a:r>
              <a:r>
                <a:rPr lang="en-US" altLang="ko-KR" sz="800" dirty="0">
                  <a:solidFill>
                    <a:srgbClr val="4B5563"/>
                  </a:solidFill>
                  <a:latin typeface="Rix고딕 L" panose="02020603020101020101" pitchFamily="18" charset="-127"/>
                  <a:ea typeface="Rix고딕 L" panose="02020603020101020101" pitchFamily="18" charset="-127"/>
                </a:rPr>
                <a:t> </a:t>
              </a:r>
              <a:r>
                <a:rPr lang="en-US" altLang="ko-KR" sz="800" dirty="0" err="1">
                  <a:solidFill>
                    <a:srgbClr val="4B5563"/>
                  </a:solidFill>
                  <a:latin typeface="Rix고딕 L" panose="02020603020101020101" pitchFamily="18" charset="-127"/>
                  <a:ea typeface="Rix고딕 L" panose="02020603020101020101" pitchFamily="18" charset="-127"/>
                </a:rPr>
                <a:t>규모</a:t>
              </a:r>
              <a:r>
                <a:rPr lang="en-US" altLang="ko-KR" sz="800" dirty="0">
                  <a:solidFill>
                    <a:srgbClr val="4B5563"/>
                  </a:solidFill>
                  <a:latin typeface="Rix고딕 L" panose="02020603020101020101" pitchFamily="18" charset="-127"/>
                  <a:ea typeface="Rix고딕 L" panose="02020603020101020101" pitchFamily="18" charset="-127"/>
                </a:rPr>
                <a:t> (</a:t>
              </a:r>
              <a:r>
                <a:rPr lang="en-US" altLang="ko-KR" sz="800" dirty="0" err="1">
                  <a:solidFill>
                    <a:srgbClr val="4B5563"/>
                  </a:solidFill>
                  <a:latin typeface="Rix고딕 L" panose="02020603020101020101" pitchFamily="18" charset="-127"/>
                  <a:ea typeface="Rix고딕 L" panose="02020603020101020101" pitchFamily="18" charset="-127"/>
                </a:rPr>
                <a:t>화면</a:t>
              </a:r>
              <a:r>
                <a:rPr lang="en-US" altLang="ko-KR" sz="800" dirty="0">
                  <a:solidFill>
                    <a:srgbClr val="4B5563"/>
                  </a:solidFill>
                  <a:latin typeface="Rix고딕 L" panose="02020603020101020101" pitchFamily="18" charset="-127"/>
                  <a:ea typeface="Rix고딕 L" panose="02020603020101020101" pitchFamily="18" charset="-127"/>
                </a:rPr>
                <a:t> </a:t>
              </a:r>
              <a:r>
                <a:rPr lang="en-US" altLang="ko-KR" sz="800" dirty="0" err="1">
                  <a:solidFill>
                    <a:srgbClr val="4B5563"/>
                  </a:solidFill>
                  <a:latin typeface="Rix고딕 L" panose="02020603020101020101" pitchFamily="18" charset="-127"/>
                  <a:ea typeface="Rix고딕 L" panose="02020603020101020101" pitchFamily="18" charset="-127"/>
                </a:rPr>
                <a:t>수·기능</a:t>
              </a:r>
              <a:r>
                <a:rPr lang="en-US" altLang="ko-KR" sz="800" dirty="0">
                  <a:solidFill>
                    <a:srgbClr val="4B5563"/>
                  </a:solidFill>
                  <a:latin typeface="Rix고딕 L" panose="02020603020101020101" pitchFamily="18" charset="-127"/>
                  <a:ea typeface="Rix고딕 L" panose="02020603020101020101" pitchFamily="18" charset="-127"/>
                </a:rPr>
                <a:t> </a:t>
              </a:r>
              <a:r>
                <a:rPr lang="en-US" altLang="ko-KR" sz="800" dirty="0" err="1">
                  <a:solidFill>
                    <a:srgbClr val="4B5563"/>
                  </a:solidFill>
                  <a:latin typeface="Rix고딕 L" panose="02020603020101020101" pitchFamily="18" charset="-127"/>
                  <a:ea typeface="Rix고딕 L" panose="02020603020101020101" pitchFamily="18" charset="-127"/>
                </a:rPr>
                <a:t>점수</a:t>
              </a:r>
              <a:r>
                <a:rPr lang="en-US" altLang="ko-KR" sz="800" dirty="0">
                  <a:solidFill>
                    <a:srgbClr val="4B5563"/>
                  </a:solidFill>
                  <a:latin typeface="Rix고딕 L" panose="02020603020101020101" pitchFamily="18" charset="-127"/>
                  <a:ea typeface="Rix고딕 L" panose="02020603020101020101" pitchFamily="18" charset="-127"/>
                </a:rPr>
                <a:t>)</a:t>
              </a:r>
              <a:endParaRPr lang="en-US" altLang="ko-KR" sz="800" dirty="0">
                <a:latin typeface="Rix고딕 L" panose="02020603020101020101" pitchFamily="18" charset="-127"/>
                <a:ea typeface="Rix고딕 L" panose="02020603020101020101" pitchFamily="18" charset="-127"/>
              </a:endParaRPr>
            </a:p>
          </p:txBody>
        </p:sp>
      </p:grpSp>
      <p:grpSp>
        <p:nvGrpSpPr>
          <p:cNvPr id="78" name="그룹 77">
            <a:extLst>
              <a:ext uri="{FF2B5EF4-FFF2-40B4-BE49-F238E27FC236}">
                <a16:creationId xmlns:a16="http://schemas.microsoft.com/office/drawing/2014/main" id="{F4667B33-D87C-D29B-F0A7-6689E3152FA4}"/>
              </a:ext>
            </a:extLst>
          </p:cNvPr>
          <p:cNvGrpSpPr/>
          <p:nvPr/>
        </p:nvGrpSpPr>
        <p:grpSpPr>
          <a:xfrm>
            <a:off x="4709160" y="3787140"/>
            <a:ext cx="4050792" cy="720000"/>
            <a:chOff x="4709160" y="3962400"/>
            <a:chExt cx="4050792" cy="720000"/>
          </a:xfrm>
        </p:grpSpPr>
        <p:sp>
          <p:nvSpPr>
            <p:cNvPr id="64" name="Shape 62"/>
            <p:cNvSpPr/>
            <p:nvPr/>
          </p:nvSpPr>
          <p:spPr>
            <a:xfrm>
              <a:off x="4709160" y="3962400"/>
              <a:ext cx="3966528" cy="720000"/>
            </a:xfrm>
            <a:prstGeom prst="rect">
              <a:avLst/>
            </a:prstGeom>
            <a:solidFill>
              <a:srgbClr val="F4F7FB"/>
            </a:solidFill>
            <a:ln w="12700">
              <a:solidFill>
                <a:srgbClr val="D1D9E6"/>
              </a:solidFill>
              <a:prstDash val="solid"/>
            </a:ln>
            <a:effectLst>
              <a:outerShdw blurRad="50800" dist="25400" dir="8100000" algn="bl" rotWithShape="0">
                <a:srgbClr val="000000">
                  <a:alpha val="8000"/>
                </a:srgbClr>
              </a:outerShdw>
            </a:effectLst>
          </p:spPr>
          <p:txBody>
            <a:bodyPr/>
            <a:lstStyle/>
            <a:p>
              <a:endParaRPr lang="ko-KR" altLang="en-US">
                <a:latin typeface="Rix고딕 L" panose="02020603020101020101" pitchFamily="18" charset="-127"/>
                <a:ea typeface="Rix고딕 L" panose="02020603020101020101" pitchFamily="18" charset="-127"/>
              </a:endParaRPr>
            </a:p>
          </p:txBody>
        </p:sp>
        <p:sp>
          <p:nvSpPr>
            <p:cNvPr id="66" name="Shape 64"/>
            <p:cNvSpPr/>
            <p:nvPr/>
          </p:nvSpPr>
          <p:spPr>
            <a:xfrm>
              <a:off x="4828032" y="4113276"/>
              <a:ext cx="982980" cy="448056"/>
            </a:xfrm>
            <a:prstGeom prst="rect">
              <a:avLst/>
            </a:prstGeom>
            <a:solidFill>
              <a:srgbClr val="0D9488"/>
            </a:solidFill>
            <a:ln w="12700">
              <a:solidFill>
                <a:srgbClr val="0D9488"/>
              </a:solidFill>
              <a:prstDash val="solid"/>
            </a:ln>
          </p:spPr>
          <p:txBody>
            <a:bodyPr lIns="0" tIns="0" rIns="0" bIns="0" anchor="ctr" anchorCtr="0"/>
            <a:lstStyle/>
            <a:p>
              <a:pPr algn="ctr"/>
              <a:r>
                <a:rPr lang="en-US" altLang="ko-KR" sz="1000" b="1" dirty="0" err="1">
                  <a:solidFill>
                    <a:schemeClr val="bg1"/>
                  </a:solidFill>
                  <a:latin typeface="Rix고딕 L" panose="02020603020101020101" pitchFamily="18" charset="-127"/>
                  <a:ea typeface="Rix고딕 L" panose="02020603020101020101" pitchFamily="18" charset="-127"/>
                </a:rPr>
                <a:t>결함</a:t>
              </a:r>
              <a:r>
                <a:rPr lang="en-US" altLang="ko-KR" sz="1000" b="1" dirty="0">
                  <a:solidFill>
                    <a:schemeClr val="bg1"/>
                  </a:solidFill>
                  <a:latin typeface="Rix고딕 L" panose="02020603020101020101" pitchFamily="18" charset="-127"/>
                  <a:ea typeface="Rix고딕 L" panose="02020603020101020101" pitchFamily="18" charset="-127"/>
                </a:rPr>
                <a:t> </a:t>
              </a:r>
              <a:r>
                <a:rPr lang="en-US" altLang="ko-KR" sz="1000" b="1" dirty="0" err="1">
                  <a:solidFill>
                    <a:schemeClr val="bg1"/>
                  </a:solidFill>
                  <a:latin typeface="Rix고딕 L" panose="02020603020101020101" pitchFamily="18" charset="-127"/>
                  <a:ea typeface="Rix고딕 L" panose="02020603020101020101" pitchFamily="18" charset="-127"/>
                </a:rPr>
                <a:t>해소</a:t>
              </a:r>
              <a:r>
                <a:rPr lang="en-US" altLang="ko-KR" sz="1000" b="1" dirty="0">
                  <a:solidFill>
                    <a:schemeClr val="bg1"/>
                  </a:solidFill>
                  <a:latin typeface="Rix고딕 L" panose="02020603020101020101" pitchFamily="18" charset="-127"/>
                  <a:ea typeface="Rix고딕 L" panose="02020603020101020101" pitchFamily="18" charset="-127"/>
                </a:rPr>
                <a:t> </a:t>
              </a:r>
              <a:r>
                <a:rPr lang="en-US" altLang="ko-KR" sz="1000" b="1" dirty="0" err="1">
                  <a:solidFill>
                    <a:schemeClr val="bg1"/>
                  </a:solidFill>
                  <a:latin typeface="Rix고딕 L" panose="02020603020101020101" pitchFamily="18" charset="-127"/>
                  <a:ea typeface="Rix고딕 L" panose="02020603020101020101" pitchFamily="18" charset="-127"/>
                </a:rPr>
                <a:t>역량</a:t>
              </a:r>
              <a:r>
                <a:rPr lang="en-US" altLang="ko-KR" sz="1000" b="1" dirty="0">
                  <a:solidFill>
                    <a:schemeClr val="bg1"/>
                  </a:solidFill>
                  <a:latin typeface="Rix고딕 L" panose="02020603020101020101" pitchFamily="18" charset="-127"/>
                  <a:ea typeface="Rix고딕 L" panose="02020603020101020101" pitchFamily="18" charset="-127"/>
                </a:rPr>
                <a:t> /</a:t>
              </a:r>
              <a:r>
                <a:rPr lang="en-US" altLang="ko-KR" sz="1000" b="1" dirty="0" err="1">
                  <a:solidFill>
                    <a:schemeClr val="bg1"/>
                  </a:solidFill>
                  <a:latin typeface="Rix고딕 L" panose="02020603020101020101" pitchFamily="18" charset="-127"/>
                  <a:ea typeface="Rix고딕 L" panose="02020603020101020101" pitchFamily="18" charset="-127"/>
                </a:rPr>
                <a:t>프로세스</a:t>
              </a:r>
              <a:endParaRPr lang="ko-KR" altLang="en-US" sz="1000" dirty="0">
                <a:solidFill>
                  <a:schemeClr val="bg1"/>
                </a:solidFill>
                <a:latin typeface="Rix고딕 L" panose="02020603020101020101" pitchFamily="18" charset="-127"/>
                <a:ea typeface="Rix고딕 L" panose="02020603020101020101" pitchFamily="18" charset="-127"/>
              </a:endParaRPr>
            </a:p>
          </p:txBody>
        </p:sp>
        <p:sp>
          <p:nvSpPr>
            <p:cNvPr id="69" name="Text 67"/>
            <p:cNvSpPr/>
            <p:nvPr/>
          </p:nvSpPr>
          <p:spPr>
            <a:xfrm>
              <a:off x="5996940" y="4113276"/>
              <a:ext cx="2601468" cy="448056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800" b="1" dirty="0">
                  <a:solidFill>
                    <a:srgbClr val="0D9488"/>
                  </a:solidFill>
                  <a:latin typeface="Rix고딕 L" panose="02020603020101020101" pitchFamily="18" charset="-127"/>
                  <a:ea typeface="Rix고딕 L" panose="02020603020101020101" pitchFamily="18" charset="-127"/>
                </a:rPr>
                <a:t>• </a:t>
              </a:r>
              <a:r>
                <a:rPr lang="en-US" sz="800" dirty="0">
                  <a:solidFill>
                    <a:srgbClr val="4B5563"/>
                  </a:solidFill>
                  <a:latin typeface="Rix고딕 L" panose="02020603020101020101" pitchFamily="18" charset="-127"/>
                  <a:ea typeface="Rix고딕 L" panose="02020603020101020101" pitchFamily="18" charset="-127"/>
                </a:rPr>
                <a:t>평균 조치 소요일 (등록→완료 </a:t>
              </a:r>
              <a:r>
                <a:rPr lang="en-US" sz="800" dirty="0" err="1">
                  <a:solidFill>
                    <a:srgbClr val="4B5563"/>
                  </a:solidFill>
                  <a:latin typeface="Rix고딕 L" panose="02020603020101020101" pitchFamily="18" charset="-127"/>
                  <a:ea typeface="Rix고딕 L" panose="02020603020101020101" pitchFamily="18" charset="-127"/>
                </a:rPr>
                <a:t>리드타임</a:t>
              </a:r>
              <a:r>
                <a:rPr lang="en-US" sz="800" dirty="0">
                  <a:solidFill>
                    <a:srgbClr val="4B5563"/>
                  </a:solidFill>
                  <a:latin typeface="Rix고딕 L" panose="02020603020101020101" pitchFamily="18" charset="-127"/>
                  <a:ea typeface="Rix고딕 L" panose="02020603020101020101" pitchFamily="18" charset="-127"/>
                </a:rPr>
                <a:t>)</a:t>
              </a:r>
            </a:p>
            <a:p>
              <a:r>
                <a:rPr lang="en-US" altLang="ko-KR" sz="800" b="1" dirty="0">
                  <a:solidFill>
                    <a:srgbClr val="0D9488"/>
                  </a:solidFill>
                  <a:latin typeface="Rix고딕 L" panose="02020603020101020101" pitchFamily="18" charset="-127"/>
                  <a:ea typeface="Rix고딕 L" panose="02020603020101020101" pitchFamily="18" charset="-127"/>
                </a:rPr>
                <a:t>• </a:t>
              </a:r>
              <a:r>
                <a:rPr lang="en-US" altLang="ko-KR" sz="800" dirty="0" err="1">
                  <a:solidFill>
                    <a:srgbClr val="4B5563"/>
                  </a:solidFill>
                  <a:latin typeface="Rix고딕 L" panose="02020603020101020101" pitchFamily="18" charset="-127"/>
                  <a:ea typeface="Rix고딕 L" panose="02020603020101020101" pitchFamily="18" charset="-127"/>
                </a:rPr>
                <a:t>재결함율</a:t>
              </a:r>
              <a:r>
                <a:rPr lang="en-US" altLang="ko-KR" sz="800" dirty="0">
                  <a:solidFill>
                    <a:srgbClr val="4B5563"/>
                  </a:solidFill>
                  <a:latin typeface="Rix고딕 L" panose="02020603020101020101" pitchFamily="18" charset="-127"/>
                  <a:ea typeface="Rix고딕 L" panose="02020603020101020101" pitchFamily="18" charset="-127"/>
                </a:rPr>
                <a:t> (</a:t>
              </a:r>
              <a:r>
                <a:rPr lang="en-US" altLang="ko-KR" sz="800" dirty="0" err="1">
                  <a:solidFill>
                    <a:srgbClr val="4B5563"/>
                  </a:solidFill>
                  <a:latin typeface="Rix고딕 L" panose="02020603020101020101" pitchFamily="18" charset="-127"/>
                  <a:ea typeface="Rix고딕 L" panose="02020603020101020101" pitchFamily="18" charset="-127"/>
                </a:rPr>
                <a:t>재조치요청</a:t>
              </a:r>
              <a:r>
                <a:rPr lang="en-US" altLang="ko-KR" sz="800" dirty="0">
                  <a:solidFill>
                    <a:srgbClr val="4B5563"/>
                  </a:solidFill>
                  <a:latin typeface="Rix고딕 L" panose="02020603020101020101" pitchFamily="18" charset="-127"/>
                  <a:ea typeface="Rix고딕 L" panose="02020603020101020101" pitchFamily="18" charset="-127"/>
                </a:rPr>
                <a:t> ÷ </a:t>
              </a:r>
              <a:r>
                <a:rPr lang="en-US" altLang="ko-KR" sz="800" dirty="0" err="1">
                  <a:solidFill>
                    <a:srgbClr val="4B5563"/>
                  </a:solidFill>
                  <a:latin typeface="Rix고딕 L" panose="02020603020101020101" pitchFamily="18" charset="-127"/>
                  <a:ea typeface="Rix고딕 L" panose="02020603020101020101" pitchFamily="18" charset="-127"/>
                </a:rPr>
                <a:t>조치완료</a:t>
              </a:r>
              <a:r>
                <a:rPr lang="en-US" altLang="ko-KR" sz="800" dirty="0">
                  <a:solidFill>
                    <a:srgbClr val="4B5563"/>
                  </a:solidFill>
                  <a:latin typeface="Rix고딕 L" panose="02020603020101020101" pitchFamily="18" charset="-127"/>
                  <a:ea typeface="Rix고딕 L" panose="02020603020101020101" pitchFamily="18" charset="-127"/>
                </a:rPr>
                <a:t>)</a:t>
              </a:r>
              <a:endParaRPr lang="en-US" altLang="ko-KR" sz="800" dirty="0">
                <a:latin typeface="Rix고딕 L" panose="02020603020101020101" pitchFamily="18" charset="-127"/>
                <a:ea typeface="Rix고딕 L" panose="02020603020101020101" pitchFamily="18" charset="-127"/>
              </a:endParaRPr>
            </a:p>
            <a:p>
              <a:r>
                <a:rPr lang="en-US" altLang="ko-KR" sz="800" b="1" dirty="0">
                  <a:solidFill>
                    <a:srgbClr val="0D9488"/>
                  </a:solidFill>
                  <a:latin typeface="Rix고딕 L" panose="02020603020101020101" pitchFamily="18" charset="-127"/>
                  <a:ea typeface="Rix고딕 L" panose="02020603020101020101" pitchFamily="18" charset="-127"/>
                </a:rPr>
                <a:t>• </a:t>
              </a:r>
              <a:r>
                <a:rPr lang="en-US" altLang="ko-KR" sz="800" dirty="0" err="1">
                  <a:solidFill>
                    <a:srgbClr val="4B5563"/>
                  </a:solidFill>
                  <a:latin typeface="Rix고딕 L" panose="02020603020101020101" pitchFamily="18" charset="-127"/>
                  <a:ea typeface="Rix고딕 L" panose="02020603020101020101" pitchFamily="18" charset="-127"/>
                </a:rPr>
                <a:t>미결</a:t>
              </a:r>
              <a:r>
                <a:rPr lang="en-US" altLang="ko-KR" sz="800" dirty="0">
                  <a:solidFill>
                    <a:srgbClr val="4B5563"/>
                  </a:solidFill>
                  <a:latin typeface="Rix고딕 L" panose="02020603020101020101" pitchFamily="18" charset="-127"/>
                  <a:ea typeface="Rix고딕 L" panose="02020603020101020101" pitchFamily="18" charset="-127"/>
                </a:rPr>
                <a:t> </a:t>
              </a:r>
              <a:r>
                <a:rPr lang="en-US" altLang="ko-KR" sz="800" dirty="0" err="1">
                  <a:solidFill>
                    <a:srgbClr val="4B5563"/>
                  </a:solidFill>
                  <a:latin typeface="Rix고딕 L" panose="02020603020101020101" pitchFamily="18" charset="-127"/>
                  <a:ea typeface="Rix고딕 L" panose="02020603020101020101" pitchFamily="18" charset="-127"/>
                </a:rPr>
                <a:t>성격</a:t>
              </a:r>
              <a:r>
                <a:rPr lang="en-US" altLang="ko-KR" sz="800" dirty="0">
                  <a:solidFill>
                    <a:srgbClr val="4B5563"/>
                  </a:solidFill>
                  <a:latin typeface="Rix고딕 L" panose="02020603020101020101" pitchFamily="18" charset="-127"/>
                  <a:ea typeface="Rix고딕 L" panose="02020603020101020101" pitchFamily="18" charset="-127"/>
                </a:rPr>
                <a:t> </a:t>
              </a:r>
              <a:r>
                <a:rPr lang="en-US" altLang="ko-KR" sz="800" dirty="0" err="1">
                  <a:solidFill>
                    <a:srgbClr val="4B5563"/>
                  </a:solidFill>
                  <a:latin typeface="Rix고딕 L" panose="02020603020101020101" pitchFamily="18" charset="-127"/>
                  <a:ea typeface="Rix고딕 L" panose="02020603020101020101" pitchFamily="18" charset="-127"/>
                </a:rPr>
                <a:t>분류</a:t>
              </a:r>
              <a:r>
                <a:rPr lang="en-US" altLang="ko-KR" sz="800" dirty="0">
                  <a:solidFill>
                    <a:srgbClr val="4B5563"/>
                  </a:solidFill>
                  <a:latin typeface="Rix고딕 L" panose="02020603020101020101" pitchFamily="18" charset="-127"/>
                  <a:ea typeface="Rix고딕 L" panose="02020603020101020101" pitchFamily="18" charset="-127"/>
                </a:rPr>
                <a:t> (</a:t>
              </a:r>
              <a:r>
                <a:rPr lang="en-US" altLang="ko-KR" sz="800" dirty="0" err="1">
                  <a:solidFill>
                    <a:srgbClr val="4B5563"/>
                  </a:solidFill>
                  <a:latin typeface="Rix고딕 L" panose="02020603020101020101" pitchFamily="18" charset="-127"/>
                  <a:ea typeface="Rix고딕 L" panose="02020603020101020101" pitchFamily="18" charset="-127"/>
                </a:rPr>
                <a:t>확인대기</a:t>
              </a:r>
              <a:r>
                <a:rPr lang="en-US" altLang="ko-KR" sz="800" dirty="0">
                  <a:solidFill>
                    <a:srgbClr val="4B5563"/>
                  </a:solidFill>
                  <a:latin typeface="Rix고딕 L" panose="02020603020101020101" pitchFamily="18" charset="-127"/>
                  <a:ea typeface="Rix고딕 L" panose="02020603020101020101" pitchFamily="18" charset="-127"/>
                </a:rPr>
                <a:t> vs </a:t>
              </a:r>
              <a:r>
                <a:rPr lang="en-US" altLang="ko-KR" sz="800" dirty="0" err="1">
                  <a:solidFill>
                    <a:srgbClr val="4B5563"/>
                  </a:solidFill>
                  <a:latin typeface="Rix고딕 L" panose="02020603020101020101" pitchFamily="18" charset="-127"/>
                  <a:ea typeface="Rix고딕 L" panose="02020603020101020101" pitchFamily="18" charset="-127"/>
                </a:rPr>
                <a:t>조치요청</a:t>
              </a:r>
              <a:r>
                <a:rPr lang="en-US" altLang="ko-KR" sz="800" dirty="0">
                  <a:solidFill>
                    <a:srgbClr val="4B5563"/>
                  </a:solidFill>
                  <a:latin typeface="Rix고딕 L" panose="02020603020101020101" pitchFamily="18" charset="-127"/>
                  <a:ea typeface="Rix고딕 L" panose="02020603020101020101" pitchFamily="18" charset="-127"/>
                </a:rPr>
                <a:t>)</a:t>
              </a:r>
              <a:endParaRPr lang="en-US" altLang="ko-KR" sz="800" dirty="0">
                <a:latin typeface="Rix고딕 L" panose="02020603020101020101" pitchFamily="18" charset="-127"/>
                <a:ea typeface="Rix고딕 L" panose="02020603020101020101" pitchFamily="18" charset="-127"/>
              </a:endParaRPr>
            </a:p>
          </p:txBody>
        </p:sp>
        <p:sp>
          <p:nvSpPr>
            <p:cNvPr id="70" name="Text 68"/>
            <p:cNvSpPr/>
            <p:nvPr/>
          </p:nvSpPr>
          <p:spPr>
            <a:xfrm>
              <a:off x="4828032" y="4277868"/>
              <a:ext cx="3931920" cy="164592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endParaRPr lang="en-US" sz="800" dirty="0">
                <a:latin typeface="Rix고딕 L" panose="02020603020101020101" pitchFamily="18" charset="-127"/>
                <a:ea typeface="Rix고딕 L" panose="02020603020101020101" pitchFamily="18" charset="-127"/>
              </a:endParaRPr>
            </a:p>
          </p:txBody>
        </p:sp>
      </p:grpSp>
      <p:sp>
        <p:nvSpPr>
          <p:cNvPr id="72" name="Shape 70"/>
          <p:cNvSpPr/>
          <p:nvPr/>
        </p:nvSpPr>
        <p:spPr>
          <a:xfrm>
            <a:off x="0" y="4539996"/>
            <a:ext cx="9144000" cy="256032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  <p:txBody>
          <a:bodyPr/>
          <a:lstStyle/>
          <a:p>
            <a:endParaRPr lang="ko-KR" altLang="en-US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73" name="Text 71"/>
          <p:cNvSpPr/>
          <p:nvPr/>
        </p:nvSpPr>
        <p:spPr>
          <a:xfrm>
            <a:off x="1143000" y="4523232"/>
            <a:ext cx="6858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FFFFFF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▶  결함 건수는 '입력 지표' — 테스트 충실도·심각도·복잡도·해소역량 4축 교차 분석을 통해 비로소 모듈 품질의 '출력 </a:t>
            </a:r>
            <a:r>
              <a:rPr lang="en-US" sz="950" b="1" dirty="0" err="1">
                <a:solidFill>
                  <a:srgbClr val="FFFFFF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지표'가</a:t>
            </a:r>
            <a:r>
              <a:rPr lang="en-US" sz="950" b="1" dirty="0">
                <a:solidFill>
                  <a:srgbClr val="FFFFFF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 </a:t>
            </a:r>
            <a:r>
              <a:rPr lang="en-US" sz="950" b="1" dirty="0" err="1">
                <a:solidFill>
                  <a:srgbClr val="FFFFFF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도출됨</a:t>
            </a:r>
            <a:endParaRPr lang="en-US" sz="950" dirty="0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Shape 186">
            <a:extLst>
              <a:ext uri="{FF2B5EF4-FFF2-40B4-BE49-F238E27FC236}">
                <a16:creationId xmlns:a16="http://schemas.microsoft.com/office/drawing/2014/main" id="{59EAB41B-4312-CCD1-A0FB-9E9BF88CC17D}"/>
              </a:ext>
            </a:extLst>
          </p:cNvPr>
          <p:cNvSpPr/>
          <p:nvPr/>
        </p:nvSpPr>
        <p:spPr>
          <a:xfrm>
            <a:off x="7155180" y="2012898"/>
            <a:ext cx="1520508" cy="1269491"/>
          </a:xfrm>
          <a:prstGeom prst="rect">
            <a:avLst/>
          </a:prstGeom>
          <a:solidFill>
            <a:srgbClr val="E5E9EF"/>
          </a:solidFill>
          <a:ln w="12700">
            <a:solidFill>
              <a:srgbClr val="D1D9E6"/>
            </a:solidFill>
            <a:prstDash val="solid"/>
          </a:ln>
        </p:spPr>
        <p:txBody>
          <a:bodyPr/>
          <a:lstStyle/>
          <a:p>
            <a:endParaRPr lang="ko-KR" altLang="en-US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210" name="Shape 186">
            <a:extLst>
              <a:ext uri="{FF2B5EF4-FFF2-40B4-BE49-F238E27FC236}">
                <a16:creationId xmlns:a16="http://schemas.microsoft.com/office/drawing/2014/main" id="{8DBF1318-3DB0-4ECE-EECA-14AAAEBACAE9}"/>
              </a:ext>
            </a:extLst>
          </p:cNvPr>
          <p:cNvSpPr/>
          <p:nvPr/>
        </p:nvSpPr>
        <p:spPr>
          <a:xfrm>
            <a:off x="7155180" y="3411930"/>
            <a:ext cx="1520508" cy="1269491"/>
          </a:xfrm>
          <a:prstGeom prst="rect">
            <a:avLst/>
          </a:prstGeom>
          <a:solidFill>
            <a:srgbClr val="F4F7FB"/>
          </a:solidFill>
          <a:ln w="12700">
            <a:solidFill>
              <a:srgbClr val="D1D9E6"/>
            </a:solidFill>
            <a:prstDash val="solid"/>
          </a:ln>
        </p:spPr>
        <p:txBody>
          <a:bodyPr/>
          <a:lstStyle/>
          <a:p>
            <a:endParaRPr lang="ko-KR" altLang="en-US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2" name="Shape 0"/>
          <p:cNvSpPr/>
          <p:nvPr/>
        </p:nvSpPr>
        <p:spPr>
          <a:xfrm>
            <a:off x="0" y="0"/>
            <a:ext cx="9144000" cy="58420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" name="Text 1"/>
          <p:cNvSpPr/>
          <p:nvPr/>
        </p:nvSpPr>
        <p:spPr>
          <a:xfrm>
            <a:off x="320040" y="0"/>
            <a:ext cx="76809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 err="1">
                <a:solidFill>
                  <a:srgbClr val="FFFFFF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다차원</a:t>
            </a:r>
            <a:r>
              <a:rPr lang="en-US" sz="2000" b="1" dirty="0">
                <a:solidFill>
                  <a:srgbClr val="FFFFFF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 품질 지표 — 모듈별 히트맵 분석</a:t>
            </a:r>
            <a:endParaRPr lang="en-US" sz="2000" dirty="0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5" name="Shape 3"/>
          <p:cNvSpPr/>
          <p:nvPr/>
        </p:nvSpPr>
        <p:spPr>
          <a:xfrm>
            <a:off x="441960" y="768096"/>
            <a:ext cx="8233728" cy="292608"/>
          </a:xfrm>
          <a:prstGeom prst="rect">
            <a:avLst/>
          </a:prstGeom>
          <a:solidFill>
            <a:srgbClr val="F4F7FB"/>
          </a:solidFill>
          <a:ln w="12700">
            <a:solidFill>
              <a:srgbClr val="D1D9E6"/>
            </a:solidFill>
            <a:prstDash val="solid"/>
          </a:ln>
        </p:spPr>
        <p:txBody>
          <a:bodyPr/>
          <a:lstStyle/>
          <a:p>
            <a:endParaRPr lang="ko-KR" altLang="en-US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6" name="Shape 4"/>
          <p:cNvSpPr/>
          <p:nvPr/>
        </p:nvSpPr>
        <p:spPr>
          <a:xfrm>
            <a:off x="441960" y="768096"/>
            <a:ext cx="64008" cy="292608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  <p:txBody>
          <a:bodyPr/>
          <a:lstStyle/>
          <a:p>
            <a:endParaRPr lang="ko-KR" altLang="en-US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7" name="Text 5"/>
          <p:cNvSpPr/>
          <p:nvPr/>
        </p:nvSpPr>
        <p:spPr>
          <a:xfrm>
            <a:off x="606552" y="768096"/>
            <a:ext cx="801166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20" b="1" dirty="0">
                <a:solidFill>
                  <a:srgbClr val="1B3A6B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5가지 지표 교차 분석 시 단순 결함 건수와 실제 품질 위험도가 역전되는 </a:t>
            </a:r>
            <a:r>
              <a:rPr lang="en-US" sz="920" b="1" dirty="0" err="1">
                <a:solidFill>
                  <a:srgbClr val="1B3A6B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모듈</a:t>
            </a:r>
            <a:r>
              <a:rPr lang="en-US" sz="920" b="1" dirty="0">
                <a:solidFill>
                  <a:srgbClr val="1B3A6B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 </a:t>
            </a:r>
            <a:r>
              <a:rPr lang="en-US" sz="920" b="1" dirty="0" err="1">
                <a:solidFill>
                  <a:srgbClr val="1B3A6B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존재</a:t>
            </a:r>
            <a:r>
              <a:rPr lang="en-US" sz="920" b="1" dirty="0">
                <a:solidFill>
                  <a:srgbClr val="1B3A6B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 — 공항운영(GO)·항공통계포털(AS)·항공기관제(AC) 주목</a:t>
            </a:r>
            <a:endParaRPr lang="en-US" sz="920" dirty="0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grpSp>
        <p:nvGrpSpPr>
          <p:cNvPr id="202" name="그룹 201">
            <a:extLst>
              <a:ext uri="{FF2B5EF4-FFF2-40B4-BE49-F238E27FC236}">
                <a16:creationId xmlns:a16="http://schemas.microsoft.com/office/drawing/2014/main" id="{475C6410-9817-B677-7492-B3A9C32E1D99}"/>
              </a:ext>
            </a:extLst>
          </p:cNvPr>
          <p:cNvGrpSpPr/>
          <p:nvPr/>
        </p:nvGrpSpPr>
        <p:grpSpPr>
          <a:xfrm>
            <a:off x="441960" y="1115568"/>
            <a:ext cx="1463040" cy="512064"/>
            <a:chOff x="274320" y="1115568"/>
            <a:chExt cx="1463040" cy="512064"/>
          </a:xfrm>
        </p:grpSpPr>
        <p:sp>
          <p:nvSpPr>
            <p:cNvPr id="8" name="Shape 6"/>
            <p:cNvSpPr/>
            <p:nvPr/>
          </p:nvSpPr>
          <p:spPr>
            <a:xfrm>
              <a:off x="274320" y="1115568"/>
              <a:ext cx="1463040" cy="512064"/>
            </a:xfrm>
            <a:prstGeom prst="rect">
              <a:avLst/>
            </a:prstGeom>
            <a:solidFill>
              <a:srgbClr val="F4F7FB"/>
            </a:solidFill>
            <a:ln w="12700">
              <a:solidFill>
                <a:srgbClr val="D1D9E6"/>
              </a:solidFill>
              <a:prstDash val="solid"/>
            </a:ln>
            <a:effectLst>
              <a:outerShdw blurRad="50800" dist="25400" dir="8100000" algn="bl" rotWithShape="0">
                <a:srgbClr val="000000">
                  <a:alpha val="8000"/>
                </a:srgbClr>
              </a:outerShdw>
            </a:effectLst>
          </p:spPr>
          <p:txBody>
            <a:bodyPr/>
            <a:lstStyle/>
            <a:p>
              <a:endParaRPr lang="ko-KR" altLang="en-US">
                <a:latin typeface="Rix고딕 L" panose="02020603020101020101" pitchFamily="18" charset="-127"/>
                <a:ea typeface="Rix고딕 L" panose="02020603020101020101" pitchFamily="18" charset="-127"/>
              </a:endParaRPr>
            </a:p>
          </p:txBody>
        </p:sp>
        <p:sp>
          <p:nvSpPr>
            <p:cNvPr id="9" name="Shape 7"/>
            <p:cNvSpPr/>
            <p:nvPr/>
          </p:nvSpPr>
          <p:spPr>
            <a:xfrm>
              <a:off x="274320" y="1115568"/>
              <a:ext cx="1463040" cy="54864"/>
            </a:xfrm>
            <a:prstGeom prst="rect">
              <a:avLst/>
            </a:prstGeom>
            <a:solidFill>
              <a:srgbClr val="1B3A6B"/>
            </a:solidFill>
            <a:ln w="12700">
              <a:solidFill>
                <a:srgbClr val="1B3A6B"/>
              </a:solidFill>
              <a:prstDash val="solid"/>
            </a:ln>
          </p:spPr>
          <p:txBody>
            <a:bodyPr/>
            <a:lstStyle/>
            <a:p>
              <a:endParaRPr lang="ko-KR" altLang="en-US">
                <a:latin typeface="Rix고딕 L" panose="02020603020101020101" pitchFamily="18" charset="-127"/>
                <a:ea typeface="Rix고딕 L" panose="02020603020101020101" pitchFamily="18" charset="-127"/>
              </a:endParaRPr>
            </a:p>
          </p:txBody>
        </p:sp>
        <p:sp>
          <p:nvSpPr>
            <p:cNvPr id="10" name="Text 8"/>
            <p:cNvSpPr/>
            <p:nvPr/>
          </p:nvSpPr>
          <p:spPr>
            <a:xfrm>
              <a:off x="365760" y="1170432"/>
              <a:ext cx="914400" cy="237744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850" b="1" dirty="0">
                  <a:solidFill>
                    <a:srgbClr val="1B3A6B"/>
                  </a:solidFill>
                  <a:latin typeface="Rix고딕 L" panose="02020603020101020101" pitchFamily="18" charset="-127"/>
                  <a:ea typeface="Rix고딕 L" panose="02020603020101020101" pitchFamily="18" charset="-127"/>
                </a:rPr>
                <a:t>① </a:t>
              </a:r>
              <a:r>
                <a:rPr lang="en-US" sz="850" b="1" dirty="0" err="1">
                  <a:solidFill>
                    <a:srgbClr val="1B3A6B"/>
                  </a:solidFill>
                  <a:latin typeface="Rix고딕 L" panose="02020603020101020101" pitchFamily="18" charset="-127"/>
                  <a:ea typeface="Rix고딕 L" panose="02020603020101020101" pitchFamily="18" charset="-127"/>
                </a:rPr>
                <a:t>결함율</a:t>
              </a:r>
              <a:endParaRPr lang="en-US" sz="850" dirty="0">
                <a:latin typeface="Rix고딕 L" panose="02020603020101020101" pitchFamily="18" charset="-127"/>
                <a:ea typeface="Rix고딕 L" panose="02020603020101020101" pitchFamily="18" charset="-127"/>
              </a:endParaRPr>
            </a:p>
          </p:txBody>
        </p:sp>
        <p:sp>
          <p:nvSpPr>
            <p:cNvPr id="11" name="Text 9"/>
            <p:cNvSpPr/>
            <p:nvPr/>
          </p:nvSpPr>
          <p:spPr>
            <a:xfrm>
              <a:off x="365760" y="1389888"/>
              <a:ext cx="1234440" cy="18288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720" dirty="0">
                  <a:solidFill>
                    <a:srgbClr val="4B5563"/>
                  </a:solidFill>
                  <a:latin typeface="Rix고딕 L" panose="02020603020101020101" pitchFamily="18" charset="-127"/>
                  <a:ea typeface="Rix고딕 L" panose="02020603020101020101" pitchFamily="18" charset="-127"/>
                </a:rPr>
                <a:t>결함÷시나리오×100</a:t>
              </a:r>
              <a:endParaRPr lang="en-US" sz="720" dirty="0">
                <a:latin typeface="Rix고딕 L" panose="02020603020101020101" pitchFamily="18" charset="-127"/>
                <a:ea typeface="Rix고딕 L" panose="02020603020101020101" pitchFamily="18" charset="-127"/>
              </a:endParaRPr>
            </a:p>
          </p:txBody>
        </p:sp>
        <p:sp>
          <p:nvSpPr>
            <p:cNvPr id="12" name="Text 10"/>
            <p:cNvSpPr/>
            <p:nvPr/>
          </p:nvSpPr>
          <p:spPr>
            <a:xfrm>
              <a:off x="1363980" y="1205992"/>
              <a:ext cx="355092" cy="146304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700" dirty="0">
                  <a:solidFill>
                    <a:srgbClr val="9CA3AF"/>
                  </a:solidFill>
                  <a:latin typeface="Rix고딕 L" panose="02020603020101020101" pitchFamily="18" charset="-127"/>
                  <a:ea typeface="Rix고딕 L" panose="02020603020101020101" pitchFamily="18" charset="-127"/>
                </a:rPr>
                <a:t>단위:%</a:t>
              </a:r>
              <a:endParaRPr lang="en-US" sz="700" dirty="0">
                <a:latin typeface="Rix고딕 L" panose="02020603020101020101" pitchFamily="18" charset="-127"/>
                <a:ea typeface="Rix고딕 L" panose="02020603020101020101" pitchFamily="18" charset="-127"/>
              </a:endParaRPr>
            </a:p>
          </p:txBody>
        </p:sp>
      </p:grpSp>
      <p:grpSp>
        <p:nvGrpSpPr>
          <p:cNvPr id="203" name="그룹 202">
            <a:extLst>
              <a:ext uri="{FF2B5EF4-FFF2-40B4-BE49-F238E27FC236}">
                <a16:creationId xmlns:a16="http://schemas.microsoft.com/office/drawing/2014/main" id="{9663D667-19AE-36BD-6D6C-FBC16C2808F9}"/>
              </a:ext>
            </a:extLst>
          </p:cNvPr>
          <p:cNvGrpSpPr/>
          <p:nvPr/>
        </p:nvGrpSpPr>
        <p:grpSpPr>
          <a:xfrm>
            <a:off x="2114550" y="1115568"/>
            <a:ext cx="1554480" cy="512064"/>
            <a:chOff x="2011680" y="1115568"/>
            <a:chExt cx="1554480" cy="512064"/>
          </a:xfrm>
        </p:grpSpPr>
        <p:sp>
          <p:nvSpPr>
            <p:cNvPr id="13" name="Shape 11"/>
            <p:cNvSpPr/>
            <p:nvPr/>
          </p:nvSpPr>
          <p:spPr>
            <a:xfrm>
              <a:off x="2011680" y="1115568"/>
              <a:ext cx="1554480" cy="512064"/>
            </a:xfrm>
            <a:prstGeom prst="rect">
              <a:avLst/>
            </a:prstGeom>
            <a:solidFill>
              <a:srgbClr val="F4F7FB"/>
            </a:solidFill>
            <a:ln w="12700">
              <a:solidFill>
                <a:srgbClr val="D1D9E6"/>
              </a:solidFill>
              <a:prstDash val="solid"/>
            </a:ln>
            <a:effectLst>
              <a:outerShdw blurRad="50800" dist="25400" dir="8100000" algn="bl" rotWithShape="0">
                <a:srgbClr val="000000">
                  <a:alpha val="8000"/>
                </a:srgbClr>
              </a:outerShdw>
            </a:effectLst>
          </p:spPr>
          <p:txBody>
            <a:bodyPr/>
            <a:lstStyle/>
            <a:p>
              <a:endParaRPr lang="ko-KR" altLang="en-US">
                <a:latin typeface="Rix고딕 L" panose="02020603020101020101" pitchFamily="18" charset="-127"/>
                <a:ea typeface="Rix고딕 L" panose="02020603020101020101" pitchFamily="18" charset="-127"/>
              </a:endParaRPr>
            </a:p>
          </p:txBody>
        </p:sp>
        <p:sp>
          <p:nvSpPr>
            <p:cNvPr id="14" name="Shape 12"/>
            <p:cNvSpPr/>
            <p:nvPr/>
          </p:nvSpPr>
          <p:spPr>
            <a:xfrm>
              <a:off x="2011680" y="1115568"/>
              <a:ext cx="1554480" cy="54864"/>
            </a:xfrm>
            <a:prstGeom prst="rect">
              <a:avLst/>
            </a:prstGeom>
            <a:solidFill>
              <a:srgbClr val="DC2626"/>
            </a:solidFill>
            <a:ln w="12700">
              <a:solidFill>
                <a:srgbClr val="DC2626"/>
              </a:solidFill>
              <a:prstDash val="solid"/>
            </a:ln>
          </p:spPr>
          <p:txBody>
            <a:bodyPr/>
            <a:lstStyle/>
            <a:p>
              <a:endParaRPr lang="ko-KR" altLang="en-US">
                <a:latin typeface="Rix고딕 L" panose="02020603020101020101" pitchFamily="18" charset="-127"/>
                <a:ea typeface="Rix고딕 L" panose="02020603020101020101" pitchFamily="18" charset="-127"/>
              </a:endParaRPr>
            </a:p>
          </p:txBody>
        </p:sp>
        <p:sp>
          <p:nvSpPr>
            <p:cNvPr id="15" name="Text 13"/>
            <p:cNvSpPr/>
            <p:nvPr/>
          </p:nvSpPr>
          <p:spPr>
            <a:xfrm>
              <a:off x="2103120" y="1170432"/>
              <a:ext cx="1078992" cy="237744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850" b="1" dirty="0">
                  <a:solidFill>
                    <a:srgbClr val="DC2626"/>
                  </a:solidFill>
                  <a:latin typeface="Rix고딕 L" panose="02020603020101020101" pitchFamily="18" charset="-127"/>
                  <a:ea typeface="Rix고딕 L" panose="02020603020101020101" pitchFamily="18" charset="-127"/>
                </a:rPr>
                <a:t>② 심각도 가중지수</a:t>
              </a:r>
              <a:endParaRPr lang="en-US" sz="850" dirty="0">
                <a:latin typeface="Rix고딕 L" panose="02020603020101020101" pitchFamily="18" charset="-127"/>
                <a:ea typeface="Rix고딕 L" panose="02020603020101020101" pitchFamily="18" charset="-127"/>
              </a:endParaRPr>
            </a:p>
          </p:txBody>
        </p:sp>
        <p:sp>
          <p:nvSpPr>
            <p:cNvPr id="17" name="Text 15"/>
            <p:cNvSpPr/>
            <p:nvPr/>
          </p:nvSpPr>
          <p:spPr>
            <a:xfrm>
              <a:off x="3185160" y="1235964"/>
              <a:ext cx="320040" cy="10972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700" dirty="0">
                  <a:solidFill>
                    <a:srgbClr val="9CA3AF"/>
                  </a:solidFill>
                  <a:latin typeface="Rix고딕 L" panose="02020603020101020101" pitchFamily="18" charset="-127"/>
                  <a:ea typeface="Rix고딕 L" panose="02020603020101020101" pitchFamily="18" charset="-127"/>
                </a:rPr>
                <a:t>단위:점</a:t>
              </a:r>
              <a:endParaRPr lang="en-US" sz="700" dirty="0">
                <a:latin typeface="Rix고딕 L" panose="02020603020101020101" pitchFamily="18" charset="-127"/>
                <a:ea typeface="Rix고딕 L" panose="02020603020101020101" pitchFamily="18" charset="-127"/>
              </a:endParaRPr>
            </a:p>
          </p:txBody>
        </p:sp>
      </p:grpSp>
      <p:sp>
        <p:nvSpPr>
          <p:cNvPr id="33" name="Shape 31"/>
          <p:cNvSpPr/>
          <p:nvPr/>
        </p:nvSpPr>
        <p:spPr>
          <a:xfrm>
            <a:off x="464821" y="1725472"/>
            <a:ext cx="1254252" cy="24506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  <p:txBody>
          <a:bodyPr/>
          <a:lstStyle/>
          <a:p>
            <a:endParaRPr lang="ko-KR" altLang="en-US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34" name="Text 32"/>
          <p:cNvSpPr/>
          <p:nvPr/>
        </p:nvSpPr>
        <p:spPr>
          <a:xfrm>
            <a:off x="629412" y="1725472"/>
            <a:ext cx="1195083" cy="2450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FFFFFF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업무 모듈</a:t>
            </a:r>
            <a:endParaRPr lang="en-US" sz="800" dirty="0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35" name="Shape 33"/>
          <p:cNvSpPr/>
          <p:nvPr/>
        </p:nvSpPr>
        <p:spPr>
          <a:xfrm>
            <a:off x="1748028" y="1725472"/>
            <a:ext cx="1130014" cy="24506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  <p:txBody>
          <a:bodyPr/>
          <a:lstStyle/>
          <a:p>
            <a:endParaRPr lang="ko-KR" altLang="en-US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36" name="Text 34"/>
          <p:cNvSpPr/>
          <p:nvPr/>
        </p:nvSpPr>
        <p:spPr>
          <a:xfrm>
            <a:off x="1748028" y="1725472"/>
            <a:ext cx="1130014" cy="2450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FFFFFF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①  </a:t>
            </a:r>
            <a:r>
              <a:rPr lang="en-US" sz="800" b="1" dirty="0" err="1">
                <a:solidFill>
                  <a:srgbClr val="FFFFFF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결함율</a:t>
            </a:r>
            <a:r>
              <a:rPr lang="en-US" sz="800" b="1" dirty="0">
                <a:solidFill>
                  <a:srgbClr val="FFFFFF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(%)</a:t>
            </a:r>
            <a:endParaRPr lang="en-US" sz="800" dirty="0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37" name="Shape 35"/>
          <p:cNvSpPr/>
          <p:nvPr/>
        </p:nvSpPr>
        <p:spPr>
          <a:xfrm>
            <a:off x="2903220" y="1725472"/>
            <a:ext cx="953230" cy="24506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  <p:txBody>
          <a:bodyPr/>
          <a:lstStyle/>
          <a:p>
            <a:endParaRPr lang="ko-KR" altLang="en-US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38" name="Text 36"/>
          <p:cNvSpPr/>
          <p:nvPr/>
        </p:nvSpPr>
        <p:spPr>
          <a:xfrm>
            <a:off x="2903220" y="1725472"/>
            <a:ext cx="953230" cy="2450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FFFFFF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② </a:t>
            </a:r>
            <a:r>
              <a:rPr lang="en-US" sz="800" b="1" dirty="0" err="1">
                <a:solidFill>
                  <a:srgbClr val="FFFFFF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심각도</a:t>
            </a:r>
            <a:r>
              <a:rPr lang="en-US" sz="800" b="1" dirty="0">
                <a:solidFill>
                  <a:srgbClr val="FFFFFF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 </a:t>
            </a:r>
            <a:r>
              <a:rPr lang="en-US" sz="800" b="1" dirty="0" err="1">
                <a:solidFill>
                  <a:srgbClr val="FFFFFF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가중지수</a:t>
            </a:r>
            <a:endParaRPr lang="en-US" sz="800" dirty="0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39" name="Shape 37"/>
          <p:cNvSpPr/>
          <p:nvPr/>
        </p:nvSpPr>
        <p:spPr>
          <a:xfrm>
            <a:off x="3881628" y="1725472"/>
            <a:ext cx="953230" cy="24506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  <p:txBody>
          <a:bodyPr/>
          <a:lstStyle/>
          <a:p>
            <a:endParaRPr lang="ko-KR" altLang="en-US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40" name="Text 38"/>
          <p:cNvSpPr/>
          <p:nvPr/>
        </p:nvSpPr>
        <p:spPr>
          <a:xfrm>
            <a:off x="3881628" y="1725472"/>
            <a:ext cx="953230" cy="2450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FFFFFF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③ </a:t>
            </a:r>
            <a:r>
              <a:rPr lang="en-US" sz="800" b="1" dirty="0" err="1">
                <a:solidFill>
                  <a:srgbClr val="FFFFFF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결함</a:t>
            </a:r>
            <a:r>
              <a:rPr lang="en-US" sz="800" b="1" dirty="0">
                <a:solidFill>
                  <a:srgbClr val="FFFFFF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 </a:t>
            </a:r>
            <a:r>
              <a:rPr lang="en-US" sz="800" b="1" dirty="0" err="1">
                <a:solidFill>
                  <a:srgbClr val="FFFFFF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해소율</a:t>
            </a:r>
            <a:r>
              <a:rPr lang="en-US" sz="800" b="1" dirty="0">
                <a:solidFill>
                  <a:srgbClr val="FFFFFF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(%)</a:t>
            </a:r>
            <a:endParaRPr lang="en-US" sz="800" dirty="0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41" name="Shape 39"/>
          <p:cNvSpPr/>
          <p:nvPr/>
        </p:nvSpPr>
        <p:spPr>
          <a:xfrm>
            <a:off x="4852416" y="1725472"/>
            <a:ext cx="953230" cy="24506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  <p:txBody>
          <a:bodyPr/>
          <a:lstStyle/>
          <a:p>
            <a:endParaRPr lang="ko-KR" altLang="en-US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42" name="Text 40"/>
          <p:cNvSpPr/>
          <p:nvPr/>
        </p:nvSpPr>
        <p:spPr>
          <a:xfrm>
            <a:off x="4852416" y="1725472"/>
            <a:ext cx="953230" cy="2450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FFFFFF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④ </a:t>
            </a:r>
            <a:r>
              <a:rPr lang="en-US" sz="800" b="1" dirty="0" err="1">
                <a:solidFill>
                  <a:srgbClr val="FFFFFF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기능결함</a:t>
            </a:r>
            <a:r>
              <a:rPr lang="en-US" sz="800" b="1" dirty="0">
                <a:solidFill>
                  <a:srgbClr val="FFFFFF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 </a:t>
            </a:r>
            <a:r>
              <a:rPr lang="en-US" sz="800" b="1" dirty="0" err="1">
                <a:solidFill>
                  <a:srgbClr val="FFFFFF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집중도</a:t>
            </a:r>
            <a:r>
              <a:rPr lang="en-US" sz="800" b="1" dirty="0">
                <a:solidFill>
                  <a:srgbClr val="FFFFFF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(%)</a:t>
            </a:r>
            <a:endParaRPr lang="en-US" sz="800" dirty="0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43" name="Shape 41"/>
          <p:cNvSpPr/>
          <p:nvPr/>
        </p:nvSpPr>
        <p:spPr>
          <a:xfrm>
            <a:off x="5831094" y="1725472"/>
            <a:ext cx="1201214" cy="24506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  <p:txBody>
          <a:bodyPr/>
          <a:lstStyle/>
          <a:p>
            <a:endParaRPr lang="ko-KR" altLang="en-US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44" name="Text 42"/>
          <p:cNvSpPr/>
          <p:nvPr/>
        </p:nvSpPr>
        <p:spPr>
          <a:xfrm>
            <a:off x="6055320" y="1725472"/>
            <a:ext cx="931101" cy="2450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FFFFFF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⑤ </a:t>
            </a:r>
            <a:r>
              <a:rPr lang="en-US" sz="800" b="1" dirty="0" err="1">
                <a:solidFill>
                  <a:srgbClr val="FFFFFF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미결</a:t>
            </a:r>
            <a:r>
              <a:rPr lang="en-US" sz="800" b="1" dirty="0">
                <a:solidFill>
                  <a:srgbClr val="FFFFFF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 </a:t>
            </a:r>
            <a:r>
              <a:rPr lang="en-US" sz="800" b="1" dirty="0" err="1">
                <a:solidFill>
                  <a:srgbClr val="FFFFFF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위험도</a:t>
            </a:r>
            <a:r>
              <a:rPr lang="en-US" sz="800" b="1" dirty="0">
                <a:solidFill>
                  <a:srgbClr val="FFFFFF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(%)</a:t>
            </a:r>
            <a:endParaRPr lang="en-US" sz="800" dirty="0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189" name="Text 187"/>
          <p:cNvSpPr/>
          <p:nvPr/>
        </p:nvSpPr>
        <p:spPr>
          <a:xfrm>
            <a:off x="7624572" y="2144419"/>
            <a:ext cx="6324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 err="1">
                <a:solidFill>
                  <a:srgbClr val="1B3A6B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위험도</a:t>
            </a:r>
            <a:r>
              <a:rPr lang="en-US" sz="850" b="1" dirty="0">
                <a:solidFill>
                  <a:srgbClr val="1B3A6B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 </a:t>
            </a:r>
            <a:r>
              <a:rPr lang="en-US" sz="850" b="1" dirty="0" err="1">
                <a:solidFill>
                  <a:srgbClr val="1B3A6B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범례</a:t>
            </a:r>
            <a:endParaRPr lang="en-US" sz="850" dirty="0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197" name="Text 195"/>
          <p:cNvSpPr/>
          <p:nvPr/>
        </p:nvSpPr>
        <p:spPr>
          <a:xfrm>
            <a:off x="8234236" y="2658160"/>
            <a:ext cx="309927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991B1B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위험</a:t>
            </a:r>
            <a:endParaRPr lang="en-US" sz="800" dirty="0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grpSp>
        <p:nvGrpSpPr>
          <p:cNvPr id="206" name="그룹 205">
            <a:extLst>
              <a:ext uri="{FF2B5EF4-FFF2-40B4-BE49-F238E27FC236}">
                <a16:creationId xmlns:a16="http://schemas.microsoft.com/office/drawing/2014/main" id="{670C4F7D-1651-C76C-DDEC-0367CE6DA233}"/>
              </a:ext>
            </a:extLst>
          </p:cNvPr>
          <p:cNvGrpSpPr/>
          <p:nvPr/>
        </p:nvGrpSpPr>
        <p:grpSpPr>
          <a:xfrm>
            <a:off x="7223760" y="1115568"/>
            <a:ext cx="1463040" cy="512064"/>
            <a:chOff x="7223760" y="1115568"/>
            <a:chExt cx="1463040" cy="512064"/>
          </a:xfrm>
        </p:grpSpPr>
        <p:sp>
          <p:nvSpPr>
            <p:cNvPr id="28" name="Shape 26"/>
            <p:cNvSpPr/>
            <p:nvPr/>
          </p:nvSpPr>
          <p:spPr>
            <a:xfrm>
              <a:off x="7223760" y="1115568"/>
              <a:ext cx="1463040" cy="512064"/>
            </a:xfrm>
            <a:prstGeom prst="rect">
              <a:avLst/>
            </a:prstGeom>
            <a:solidFill>
              <a:srgbClr val="F4F7FB"/>
            </a:solidFill>
            <a:ln w="12700">
              <a:solidFill>
                <a:srgbClr val="D1D9E6"/>
              </a:solidFill>
              <a:prstDash val="solid"/>
            </a:ln>
            <a:effectLst>
              <a:outerShdw blurRad="50800" dist="25400" dir="8100000" algn="bl" rotWithShape="0">
                <a:srgbClr val="000000">
                  <a:alpha val="8000"/>
                </a:srgbClr>
              </a:outerShdw>
            </a:effectLst>
          </p:spPr>
          <p:txBody>
            <a:bodyPr/>
            <a:lstStyle/>
            <a:p>
              <a:endParaRPr lang="ko-KR" altLang="en-US">
                <a:latin typeface="Rix고딕 L" panose="02020603020101020101" pitchFamily="18" charset="-127"/>
                <a:ea typeface="Rix고딕 L" panose="02020603020101020101" pitchFamily="18" charset="-127"/>
              </a:endParaRPr>
            </a:p>
          </p:txBody>
        </p:sp>
        <p:sp>
          <p:nvSpPr>
            <p:cNvPr id="29" name="Shape 27"/>
            <p:cNvSpPr/>
            <p:nvPr/>
          </p:nvSpPr>
          <p:spPr>
            <a:xfrm>
              <a:off x="7223760" y="1115568"/>
              <a:ext cx="1463040" cy="54864"/>
            </a:xfrm>
            <a:prstGeom prst="rect">
              <a:avLst/>
            </a:prstGeom>
            <a:solidFill>
              <a:srgbClr val="2563A8"/>
            </a:solidFill>
            <a:ln w="12700">
              <a:solidFill>
                <a:srgbClr val="2563A8"/>
              </a:solidFill>
              <a:prstDash val="solid"/>
            </a:ln>
          </p:spPr>
          <p:txBody>
            <a:bodyPr/>
            <a:lstStyle/>
            <a:p>
              <a:endParaRPr lang="ko-KR" altLang="en-US">
                <a:latin typeface="Rix고딕 L" panose="02020603020101020101" pitchFamily="18" charset="-127"/>
                <a:ea typeface="Rix고딕 L" panose="02020603020101020101" pitchFamily="18" charset="-127"/>
              </a:endParaRPr>
            </a:p>
          </p:txBody>
        </p:sp>
        <p:sp>
          <p:nvSpPr>
            <p:cNvPr id="30" name="Text 28"/>
            <p:cNvSpPr/>
            <p:nvPr/>
          </p:nvSpPr>
          <p:spPr>
            <a:xfrm>
              <a:off x="7315200" y="1170432"/>
              <a:ext cx="906780" cy="237744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850" b="1" dirty="0">
                  <a:solidFill>
                    <a:srgbClr val="2563A8"/>
                  </a:solidFill>
                  <a:latin typeface="Rix고딕 L" panose="02020603020101020101" pitchFamily="18" charset="-127"/>
                  <a:ea typeface="Rix고딕 L" panose="02020603020101020101" pitchFamily="18" charset="-127"/>
                </a:rPr>
                <a:t>⑤ 미결 위험도</a:t>
              </a:r>
              <a:endParaRPr lang="en-US" sz="850" dirty="0">
                <a:latin typeface="Rix고딕 L" panose="02020603020101020101" pitchFamily="18" charset="-127"/>
                <a:ea typeface="Rix고딕 L" panose="02020603020101020101" pitchFamily="18" charset="-127"/>
              </a:endParaRPr>
            </a:p>
          </p:txBody>
        </p:sp>
        <p:sp>
          <p:nvSpPr>
            <p:cNvPr id="31" name="Text 29"/>
            <p:cNvSpPr/>
            <p:nvPr/>
          </p:nvSpPr>
          <p:spPr>
            <a:xfrm>
              <a:off x="7315200" y="1405128"/>
              <a:ext cx="1211580" cy="157277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720" dirty="0">
                  <a:solidFill>
                    <a:srgbClr val="4B5563"/>
                  </a:solidFill>
                  <a:latin typeface="Rix고딕 L" panose="02020603020101020101" pitchFamily="18" charset="-127"/>
                  <a:ea typeface="Rix고딕 L" panose="02020603020101020101" pitchFamily="18" charset="-127"/>
                </a:rPr>
                <a:t>(재조치+조치요청)÷전체×100</a:t>
              </a:r>
              <a:endParaRPr lang="en-US" sz="720" dirty="0">
                <a:latin typeface="Rix고딕 L" panose="02020603020101020101" pitchFamily="18" charset="-127"/>
                <a:ea typeface="Rix고딕 L" panose="02020603020101020101" pitchFamily="18" charset="-127"/>
              </a:endParaRPr>
            </a:p>
          </p:txBody>
        </p:sp>
        <p:sp>
          <p:nvSpPr>
            <p:cNvPr id="201" name="Text 10">
              <a:extLst>
                <a:ext uri="{FF2B5EF4-FFF2-40B4-BE49-F238E27FC236}">
                  <a16:creationId xmlns:a16="http://schemas.microsoft.com/office/drawing/2014/main" id="{5A538FF4-75FF-4E3C-9AFA-24FDAB4188A2}"/>
                </a:ext>
              </a:extLst>
            </p:cNvPr>
            <p:cNvSpPr/>
            <p:nvPr/>
          </p:nvSpPr>
          <p:spPr>
            <a:xfrm>
              <a:off x="8291322" y="1232611"/>
              <a:ext cx="355092" cy="146304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700" dirty="0">
                  <a:solidFill>
                    <a:srgbClr val="9CA3AF"/>
                  </a:solidFill>
                  <a:latin typeface="Rix고딕 L" panose="02020603020101020101" pitchFamily="18" charset="-127"/>
                  <a:ea typeface="Rix고딕 L" panose="02020603020101020101" pitchFamily="18" charset="-127"/>
                </a:rPr>
                <a:t>단위:%</a:t>
              </a:r>
              <a:endParaRPr lang="en-US" sz="700" dirty="0">
                <a:latin typeface="Rix고딕 L" panose="02020603020101020101" pitchFamily="18" charset="-127"/>
                <a:ea typeface="Rix고딕 L" panose="02020603020101020101" pitchFamily="18" charset="-127"/>
              </a:endParaRPr>
            </a:p>
          </p:txBody>
        </p:sp>
      </p:grpSp>
      <p:grpSp>
        <p:nvGrpSpPr>
          <p:cNvPr id="207" name="그룹 206">
            <a:extLst>
              <a:ext uri="{FF2B5EF4-FFF2-40B4-BE49-F238E27FC236}">
                <a16:creationId xmlns:a16="http://schemas.microsoft.com/office/drawing/2014/main" id="{A20C8EA4-4AEA-0797-A636-2E0F69758C45}"/>
              </a:ext>
            </a:extLst>
          </p:cNvPr>
          <p:cNvGrpSpPr/>
          <p:nvPr/>
        </p:nvGrpSpPr>
        <p:grpSpPr>
          <a:xfrm>
            <a:off x="3878580" y="1115568"/>
            <a:ext cx="1463040" cy="512064"/>
            <a:chOff x="3749040" y="1115568"/>
            <a:chExt cx="1463040" cy="512064"/>
          </a:xfrm>
        </p:grpSpPr>
        <p:sp>
          <p:nvSpPr>
            <p:cNvPr id="18" name="Shape 16"/>
            <p:cNvSpPr/>
            <p:nvPr/>
          </p:nvSpPr>
          <p:spPr>
            <a:xfrm>
              <a:off x="3749040" y="1115568"/>
              <a:ext cx="1463040" cy="512064"/>
            </a:xfrm>
            <a:prstGeom prst="rect">
              <a:avLst/>
            </a:prstGeom>
            <a:solidFill>
              <a:srgbClr val="F4F7FB"/>
            </a:solidFill>
            <a:ln w="12700">
              <a:solidFill>
                <a:srgbClr val="D1D9E6"/>
              </a:solidFill>
              <a:prstDash val="solid"/>
            </a:ln>
            <a:effectLst>
              <a:outerShdw blurRad="50800" dist="25400" dir="8100000" algn="bl" rotWithShape="0">
                <a:srgbClr val="000000">
                  <a:alpha val="8000"/>
                </a:srgbClr>
              </a:outerShdw>
            </a:effectLst>
          </p:spPr>
          <p:txBody>
            <a:bodyPr/>
            <a:lstStyle/>
            <a:p>
              <a:endParaRPr lang="ko-KR" altLang="en-US">
                <a:latin typeface="Rix고딕 L" panose="02020603020101020101" pitchFamily="18" charset="-127"/>
                <a:ea typeface="Rix고딕 L" panose="02020603020101020101" pitchFamily="18" charset="-127"/>
              </a:endParaRPr>
            </a:p>
          </p:txBody>
        </p:sp>
        <p:sp>
          <p:nvSpPr>
            <p:cNvPr id="19" name="Shape 17"/>
            <p:cNvSpPr/>
            <p:nvPr/>
          </p:nvSpPr>
          <p:spPr>
            <a:xfrm>
              <a:off x="3749040" y="1115568"/>
              <a:ext cx="1463040" cy="54864"/>
            </a:xfrm>
            <a:prstGeom prst="rect">
              <a:avLst/>
            </a:prstGeom>
            <a:solidFill>
              <a:srgbClr val="16A34A"/>
            </a:solidFill>
            <a:ln w="12700">
              <a:solidFill>
                <a:srgbClr val="16A34A"/>
              </a:solidFill>
              <a:prstDash val="solid"/>
            </a:ln>
          </p:spPr>
          <p:txBody>
            <a:bodyPr/>
            <a:lstStyle/>
            <a:p>
              <a:endParaRPr lang="ko-KR" altLang="en-US">
                <a:latin typeface="Rix고딕 L" panose="02020603020101020101" pitchFamily="18" charset="-127"/>
                <a:ea typeface="Rix고딕 L" panose="02020603020101020101" pitchFamily="18" charset="-127"/>
              </a:endParaRPr>
            </a:p>
          </p:txBody>
        </p:sp>
        <p:sp>
          <p:nvSpPr>
            <p:cNvPr id="20" name="Text 18"/>
            <p:cNvSpPr/>
            <p:nvPr/>
          </p:nvSpPr>
          <p:spPr>
            <a:xfrm>
              <a:off x="3840480" y="1170432"/>
              <a:ext cx="914400" cy="237744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850" b="1" dirty="0">
                  <a:solidFill>
                    <a:srgbClr val="16A34A"/>
                  </a:solidFill>
                  <a:latin typeface="Rix고딕 L" panose="02020603020101020101" pitchFamily="18" charset="-127"/>
                  <a:ea typeface="Rix고딕 L" panose="02020603020101020101" pitchFamily="18" charset="-127"/>
                </a:rPr>
                <a:t>③ 결함 해소율</a:t>
              </a:r>
              <a:endParaRPr lang="en-US" sz="850" dirty="0">
                <a:latin typeface="Rix고딕 L" panose="02020603020101020101" pitchFamily="18" charset="-127"/>
                <a:ea typeface="Rix고딕 L" panose="02020603020101020101" pitchFamily="18" charset="-127"/>
              </a:endParaRPr>
            </a:p>
          </p:txBody>
        </p:sp>
        <p:sp>
          <p:nvSpPr>
            <p:cNvPr id="199" name="Text 10">
              <a:extLst>
                <a:ext uri="{FF2B5EF4-FFF2-40B4-BE49-F238E27FC236}">
                  <a16:creationId xmlns:a16="http://schemas.microsoft.com/office/drawing/2014/main" id="{8E8B92B1-933A-20FD-C241-AC3290349877}"/>
                </a:ext>
              </a:extLst>
            </p:cNvPr>
            <p:cNvSpPr/>
            <p:nvPr/>
          </p:nvSpPr>
          <p:spPr>
            <a:xfrm>
              <a:off x="4856988" y="1214120"/>
              <a:ext cx="355092" cy="146304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700" dirty="0">
                  <a:solidFill>
                    <a:srgbClr val="9CA3AF"/>
                  </a:solidFill>
                  <a:latin typeface="Rix고딕 L" panose="02020603020101020101" pitchFamily="18" charset="-127"/>
                  <a:ea typeface="Rix고딕 L" panose="02020603020101020101" pitchFamily="18" charset="-127"/>
                </a:rPr>
                <a:t>단위:%</a:t>
              </a:r>
              <a:endParaRPr lang="en-US" sz="700" dirty="0">
                <a:latin typeface="Rix고딕 L" panose="02020603020101020101" pitchFamily="18" charset="-127"/>
                <a:ea typeface="Rix고딕 L" panose="02020603020101020101" pitchFamily="18" charset="-127"/>
              </a:endParaRPr>
            </a:p>
          </p:txBody>
        </p:sp>
        <p:sp>
          <p:nvSpPr>
            <p:cNvPr id="21" name="Text 19"/>
            <p:cNvSpPr/>
            <p:nvPr/>
          </p:nvSpPr>
          <p:spPr>
            <a:xfrm>
              <a:off x="3840480" y="1389888"/>
              <a:ext cx="1371600" cy="18288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720" dirty="0">
                  <a:solidFill>
                    <a:srgbClr val="4B5563"/>
                  </a:solidFill>
                  <a:latin typeface="Rix고딕 L" panose="02020603020101020101" pitchFamily="18" charset="-127"/>
                  <a:ea typeface="Rix고딕 L" panose="02020603020101020101" pitchFamily="18" charset="-127"/>
                </a:rPr>
                <a:t>최종확인÷분석대상×100</a:t>
              </a:r>
              <a:endParaRPr lang="en-US" sz="720" dirty="0">
                <a:latin typeface="Rix고딕 L" panose="02020603020101020101" pitchFamily="18" charset="-127"/>
                <a:ea typeface="Rix고딕 L" panose="02020603020101020101" pitchFamily="18" charset="-127"/>
              </a:endParaRPr>
            </a:p>
          </p:txBody>
        </p:sp>
      </p:grpSp>
      <p:grpSp>
        <p:nvGrpSpPr>
          <p:cNvPr id="209" name="그룹 208">
            <a:extLst>
              <a:ext uri="{FF2B5EF4-FFF2-40B4-BE49-F238E27FC236}">
                <a16:creationId xmlns:a16="http://schemas.microsoft.com/office/drawing/2014/main" id="{E9715CF7-434B-85C5-4E8E-0A25560100C7}"/>
              </a:ext>
            </a:extLst>
          </p:cNvPr>
          <p:cNvGrpSpPr/>
          <p:nvPr/>
        </p:nvGrpSpPr>
        <p:grpSpPr>
          <a:xfrm>
            <a:off x="5551170" y="1115568"/>
            <a:ext cx="1463040" cy="512064"/>
            <a:chOff x="5486400" y="1115568"/>
            <a:chExt cx="1463040" cy="512064"/>
          </a:xfrm>
        </p:grpSpPr>
        <p:sp>
          <p:nvSpPr>
            <p:cNvPr id="23" name="Shape 21"/>
            <p:cNvSpPr/>
            <p:nvPr/>
          </p:nvSpPr>
          <p:spPr>
            <a:xfrm>
              <a:off x="5486400" y="1115568"/>
              <a:ext cx="1463040" cy="512064"/>
            </a:xfrm>
            <a:prstGeom prst="rect">
              <a:avLst/>
            </a:prstGeom>
            <a:solidFill>
              <a:srgbClr val="F4F7FB"/>
            </a:solidFill>
            <a:ln w="12700">
              <a:solidFill>
                <a:srgbClr val="D1D9E6"/>
              </a:solidFill>
              <a:prstDash val="solid"/>
            </a:ln>
            <a:effectLst>
              <a:outerShdw blurRad="50800" dist="25400" dir="8100000" algn="bl" rotWithShape="0">
                <a:srgbClr val="000000">
                  <a:alpha val="8000"/>
                </a:srgbClr>
              </a:outerShdw>
            </a:effectLst>
          </p:spPr>
          <p:txBody>
            <a:bodyPr/>
            <a:lstStyle/>
            <a:p>
              <a:endParaRPr lang="ko-KR" altLang="en-US">
                <a:latin typeface="Rix고딕 L" panose="02020603020101020101" pitchFamily="18" charset="-127"/>
                <a:ea typeface="Rix고딕 L" panose="02020603020101020101" pitchFamily="18" charset="-127"/>
              </a:endParaRPr>
            </a:p>
          </p:txBody>
        </p:sp>
        <p:sp>
          <p:nvSpPr>
            <p:cNvPr id="24" name="Shape 22"/>
            <p:cNvSpPr/>
            <p:nvPr/>
          </p:nvSpPr>
          <p:spPr>
            <a:xfrm>
              <a:off x="5486400" y="1115568"/>
              <a:ext cx="1463040" cy="54864"/>
            </a:xfrm>
            <a:prstGeom prst="rect">
              <a:avLst/>
            </a:prstGeom>
            <a:solidFill>
              <a:srgbClr val="E85D2F"/>
            </a:solidFill>
            <a:ln w="12700">
              <a:solidFill>
                <a:srgbClr val="E85D2F"/>
              </a:solidFill>
              <a:prstDash val="solid"/>
            </a:ln>
          </p:spPr>
          <p:txBody>
            <a:bodyPr/>
            <a:lstStyle/>
            <a:p>
              <a:endParaRPr lang="ko-KR" altLang="en-US">
                <a:latin typeface="Rix고딕 L" panose="02020603020101020101" pitchFamily="18" charset="-127"/>
                <a:ea typeface="Rix고딕 L" panose="02020603020101020101" pitchFamily="18" charset="-127"/>
              </a:endParaRPr>
            </a:p>
          </p:txBody>
        </p:sp>
        <p:sp>
          <p:nvSpPr>
            <p:cNvPr id="25" name="Text 23"/>
            <p:cNvSpPr/>
            <p:nvPr/>
          </p:nvSpPr>
          <p:spPr>
            <a:xfrm>
              <a:off x="5577840" y="1170432"/>
              <a:ext cx="976122" cy="237744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850" b="1" dirty="0">
                  <a:solidFill>
                    <a:srgbClr val="E85D2F"/>
                  </a:solidFill>
                  <a:latin typeface="Rix고딕 L" panose="02020603020101020101" pitchFamily="18" charset="-127"/>
                  <a:ea typeface="Rix고딕 L" panose="02020603020101020101" pitchFamily="18" charset="-127"/>
                </a:rPr>
                <a:t>④ 기능결함 집중도</a:t>
              </a:r>
              <a:endParaRPr lang="en-US" sz="850" dirty="0">
                <a:latin typeface="Rix고딕 L" panose="02020603020101020101" pitchFamily="18" charset="-127"/>
                <a:ea typeface="Rix고딕 L" panose="02020603020101020101" pitchFamily="18" charset="-127"/>
              </a:endParaRPr>
            </a:p>
          </p:txBody>
        </p:sp>
        <p:sp>
          <p:nvSpPr>
            <p:cNvPr id="200" name="Text 10">
              <a:extLst>
                <a:ext uri="{FF2B5EF4-FFF2-40B4-BE49-F238E27FC236}">
                  <a16:creationId xmlns:a16="http://schemas.microsoft.com/office/drawing/2014/main" id="{F7C1E615-44A1-E028-FCF3-D83703A3F1BE}"/>
                </a:ext>
              </a:extLst>
            </p:cNvPr>
            <p:cNvSpPr/>
            <p:nvPr/>
          </p:nvSpPr>
          <p:spPr>
            <a:xfrm>
              <a:off x="6553962" y="1225296"/>
              <a:ext cx="355092" cy="146304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700" dirty="0">
                  <a:solidFill>
                    <a:srgbClr val="9CA3AF"/>
                  </a:solidFill>
                  <a:latin typeface="Rix고딕 L" panose="02020603020101020101" pitchFamily="18" charset="-127"/>
                  <a:ea typeface="Rix고딕 L" panose="02020603020101020101" pitchFamily="18" charset="-127"/>
                </a:rPr>
                <a:t>단위:%</a:t>
              </a:r>
              <a:endParaRPr lang="en-US" sz="700" dirty="0">
                <a:latin typeface="Rix고딕 L" panose="02020603020101020101" pitchFamily="18" charset="-127"/>
                <a:ea typeface="Rix고딕 L" panose="02020603020101020101" pitchFamily="18" charset="-127"/>
              </a:endParaRPr>
            </a:p>
          </p:txBody>
        </p:sp>
        <p:sp>
          <p:nvSpPr>
            <p:cNvPr id="208" name="Text 24">
              <a:extLst>
                <a:ext uri="{FF2B5EF4-FFF2-40B4-BE49-F238E27FC236}">
                  <a16:creationId xmlns:a16="http://schemas.microsoft.com/office/drawing/2014/main" id="{D8437F2E-2CAD-8BB1-BA76-BB91AEDA571D}"/>
                </a:ext>
              </a:extLst>
            </p:cNvPr>
            <p:cNvSpPr/>
            <p:nvPr/>
          </p:nvSpPr>
          <p:spPr>
            <a:xfrm>
              <a:off x="5559552" y="1400555"/>
              <a:ext cx="1280160" cy="18288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720" dirty="0">
                  <a:solidFill>
                    <a:srgbClr val="4B5563"/>
                  </a:solidFill>
                  <a:latin typeface="Rix고딕 L" panose="02020603020101020101" pitchFamily="18" charset="-127"/>
                  <a:ea typeface="Rix고딕 L" panose="02020603020101020101" pitchFamily="18" charset="-127"/>
                </a:rPr>
                <a:t>기능결함÷전체결함×100</a:t>
              </a:r>
              <a:endParaRPr lang="en-US" sz="720" dirty="0">
                <a:latin typeface="Rix고딕 L" panose="02020603020101020101" pitchFamily="18" charset="-127"/>
                <a:ea typeface="Rix고딕 L" panose="02020603020101020101" pitchFamily="18" charset="-127"/>
              </a:endParaRPr>
            </a:p>
          </p:txBody>
        </p:sp>
      </p:grpSp>
      <p:sp>
        <p:nvSpPr>
          <p:cNvPr id="218" name="Shape 188"/>
          <p:cNvSpPr/>
          <p:nvPr/>
        </p:nvSpPr>
        <p:spPr>
          <a:xfrm>
            <a:off x="7282641" y="2471623"/>
            <a:ext cx="237744" cy="137160"/>
          </a:xfrm>
          <a:prstGeom prst="rect">
            <a:avLst/>
          </a:prstGeom>
          <a:solidFill>
            <a:srgbClr val="D1FAE5"/>
          </a:solidFill>
          <a:ln w="12700">
            <a:solidFill>
              <a:srgbClr val="166534"/>
            </a:solidFill>
            <a:prstDash val="solid"/>
          </a:ln>
        </p:spPr>
        <p:txBody>
          <a:bodyPr/>
          <a:lstStyle/>
          <a:p>
            <a:endParaRPr lang="ko-KR" altLang="en-US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219" name="Text 189"/>
          <p:cNvSpPr/>
          <p:nvPr/>
        </p:nvSpPr>
        <p:spPr>
          <a:xfrm>
            <a:off x="7556961" y="2398471"/>
            <a:ext cx="309927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166534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양호</a:t>
            </a:r>
            <a:endParaRPr lang="en-US" sz="800" dirty="0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220" name="Shape 190"/>
          <p:cNvSpPr/>
          <p:nvPr/>
        </p:nvSpPr>
        <p:spPr>
          <a:xfrm>
            <a:off x="7942533" y="2471623"/>
            <a:ext cx="237744" cy="137160"/>
          </a:xfrm>
          <a:prstGeom prst="rect">
            <a:avLst/>
          </a:prstGeom>
          <a:solidFill>
            <a:srgbClr val="FEF9C3"/>
          </a:solidFill>
          <a:ln w="12700">
            <a:solidFill>
              <a:srgbClr val="854D0E"/>
            </a:solidFill>
            <a:prstDash val="solid"/>
          </a:ln>
        </p:spPr>
        <p:txBody>
          <a:bodyPr/>
          <a:lstStyle/>
          <a:p>
            <a:endParaRPr lang="ko-KR" altLang="en-US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221" name="Text 191"/>
          <p:cNvSpPr/>
          <p:nvPr/>
        </p:nvSpPr>
        <p:spPr>
          <a:xfrm>
            <a:off x="8216853" y="2398471"/>
            <a:ext cx="309927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854D0E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관심</a:t>
            </a:r>
            <a:endParaRPr lang="en-US" sz="800" dirty="0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222" name="Shape 192"/>
          <p:cNvSpPr/>
          <p:nvPr/>
        </p:nvSpPr>
        <p:spPr>
          <a:xfrm>
            <a:off x="7275021" y="2735275"/>
            <a:ext cx="237744" cy="137160"/>
          </a:xfrm>
          <a:prstGeom prst="rect">
            <a:avLst/>
          </a:prstGeom>
          <a:solidFill>
            <a:srgbClr val="FED7AA"/>
          </a:solidFill>
          <a:ln w="12700">
            <a:solidFill>
              <a:srgbClr val="9A3412"/>
            </a:solidFill>
            <a:prstDash val="solid"/>
          </a:ln>
        </p:spPr>
        <p:txBody>
          <a:bodyPr/>
          <a:lstStyle/>
          <a:p>
            <a:endParaRPr lang="ko-KR" altLang="en-US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223" name="Text 193"/>
          <p:cNvSpPr/>
          <p:nvPr/>
        </p:nvSpPr>
        <p:spPr>
          <a:xfrm>
            <a:off x="7549341" y="2662123"/>
            <a:ext cx="309927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9A3412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주의</a:t>
            </a:r>
            <a:endParaRPr lang="en-US" sz="800" dirty="0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224" name="Shape 194"/>
          <p:cNvSpPr/>
          <p:nvPr/>
        </p:nvSpPr>
        <p:spPr>
          <a:xfrm>
            <a:off x="7934913" y="2735275"/>
            <a:ext cx="237744" cy="137160"/>
          </a:xfrm>
          <a:prstGeom prst="rect">
            <a:avLst/>
          </a:prstGeom>
          <a:solidFill>
            <a:srgbClr val="FCAAAA"/>
          </a:solidFill>
          <a:ln w="12700">
            <a:solidFill>
              <a:srgbClr val="991B1B"/>
            </a:solidFill>
            <a:prstDash val="solid"/>
          </a:ln>
        </p:spPr>
        <p:txBody>
          <a:bodyPr/>
          <a:lstStyle/>
          <a:p>
            <a:endParaRPr lang="ko-KR" altLang="en-US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225" name="Text 196"/>
          <p:cNvSpPr/>
          <p:nvPr/>
        </p:nvSpPr>
        <p:spPr>
          <a:xfrm>
            <a:off x="7157847" y="3485083"/>
            <a:ext cx="1533081" cy="123322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9CA3AF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 ② </a:t>
            </a:r>
            <a:r>
              <a:rPr lang="en-US" sz="750" dirty="0" err="1">
                <a:solidFill>
                  <a:srgbClr val="9CA3AF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심각도</a:t>
            </a:r>
            <a:r>
              <a:rPr lang="en-US" sz="750" dirty="0">
                <a:solidFill>
                  <a:srgbClr val="9CA3AF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 </a:t>
            </a:r>
            <a:r>
              <a:rPr lang="en-US" sz="750" dirty="0" err="1">
                <a:solidFill>
                  <a:srgbClr val="9CA3AF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가중지수</a:t>
            </a:r>
            <a:endParaRPr lang="en-US" sz="750" dirty="0">
              <a:solidFill>
                <a:srgbClr val="9CA3AF"/>
              </a:solidFill>
              <a:latin typeface="Rix고딕 L" panose="02020603020101020101" pitchFamily="18" charset="-127"/>
              <a:ea typeface="Rix고딕 L" panose="02020603020101020101" pitchFamily="18" charset="-127"/>
            </a:endParaRPr>
          </a:p>
          <a:p>
            <a:pPr marL="0" indent="0">
              <a:buNone/>
            </a:pPr>
            <a:r>
              <a:rPr lang="en-US" sz="750" dirty="0">
                <a:solidFill>
                  <a:srgbClr val="9CA3AF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      → 결함유형 분포 기반 </a:t>
            </a:r>
            <a:r>
              <a:rPr lang="en-US" sz="750" dirty="0" err="1">
                <a:solidFill>
                  <a:srgbClr val="9CA3AF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추산</a:t>
            </a:r>
            <a:r>
              <a:rPr lang="en-US" sz="750" dirty="0">
                <a:solidFill>
                  <a:srgbClr val="9CA3AF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 </a:t>
            </a:r>
          </a:p>
          <a:p>
            <a:pPr marL="0" indent="0">
              <a:buNone/>
            </a:pPr>
            <a:endParaRPr lang="en-US" sz="750" dirty="0">
              <a:solidFill>
                <a:srgbClr val="9CA3AF"/>
              </a:solidFill>
              <a:latin typeface="Rix고딕 L" panose="02020603020101020101" pitchFamily="18" charset="-127"/>
              <a:ea typeface="Rix고딕 L" panose="02020603020101020101" pitchFamily="18" charset="-127"/>
            </a:endParaRPr>
          </a:p>
          <a:p>
            <a:pPr marL="0" indent="0">
              <a:buNone/>
            </a:pPr>
            <a:r>
              <a:rPr lang="en-US" sz="750" dirty="0">
                <a:solidFill>
                  <a:srgbClr val="9CA3AF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 ⑤ 미결위험도: 조치요청+재조치 </a:t>
            </a:r>
            <a:r>
              <a:rPr lang="en-US" sz="750" dirty="0" err="1">
                <a:solidFill>
                  <a:srgbClr val="9CA3AF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비중</a:t>
            </a:r>
            <a:r>
              <a:rPr lang="en-US" sz="750" dirty="0">
                <a:solidFill>
                  <a:srgbClr val="9CA3AF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 </a:t>
            </a:r>
          </a:p>
          <a:p>
            <a:pPr marL="0" indent="0">
              <a:buNone/>
            </a:pPr>
            <a:endParaRPr lang="en-US" sz="750" dirty="0">
              <a:solidFill>
                <a:srgbClr val="9CA3AF"/>
              </a:solidFill>
              <a:latin typeface="Rix고딕 L" panose="02020603020101020101" pitchFamily="18" charset="-127"/>
              <a:ea typeface="Rix고딕 L" panose="02020603020101020101" pitchFamily="18" charset="-127"/>
            </a:endParaRPr>
          </a:p>
          <a:p>
            <a:pPr marL="0" indent="0">
              <a:buNone/>
            </a:pPr>
            <a:r>
              <a:rPr lang="en-US" sz="750" dirty="0">
                <a:solidFill>
                  <a:srgbClr val="9CA3AF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 ※[ </a:t>
            </a:r>
            <a:r>
              <a:rPr lang="en-US" sz="750" dirty="0" err="1">
                <a:solidFill>
                  <a:srgbClr val="9CA3AF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좌측</a:t>
            </a:r>
            <a:r>
              <a:rPr lang="en-US" sz="750" dirty="0">
                <a:solidFill>
                  <a:srgbClr val="9CA3AF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 </a:t>
            </a:r>
            <a:r>
              <a:rPr lang="en-US" sz="750" dirty="0" err="1">
                <a:solidFill>
                  <a:srgbClr val="9CA3AF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색바</a:t>
            </a:r>
            <a:r>
              <a:rPr lang="en-US" sz="750" dirty="0">
                <a:solidFill>
                  <a:srgbClr val="9CA3AF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 ]</a:t>
            </a:r>
          </a:p>
          <a:p>
            <a:pPr marL="0" indent="0">
              <a:buNone/>
            </a:pPr>
            <a:r>
              <a:rPr lang="en-US" sz="750" dirty="0">
                <a:solidFill>
                  <a:srgbClr val="9CA3AF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    </a:t>
            </a:r>
            <a:r>
              <a:rPr lang="en-US" sz="750" dirty="0" err="1">
                <a:solidFill>
                  <a:srgbClr val="9CA3AF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빨강</a:t>
            </a:r>
            <a:r>
              <a:rPr lang="en-US" sz="750" dirty="0">
                <a:solidFill>
                  <a:srgbClr val="9CA3AF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=3개 이상 위험, </a:t>
            </a:r>
          </a:p>
          <a:p>
            <a:pPr marL="0" indent="0">
              <a:buNone/>
            </a:pPr>
            <a:r>
              <a:rPr lang="en-US" sz="750" dirty="0">
                <a:solidFill>
                  <a:srgbClr val="9CA3AF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    </a:t>
            </a:r>
            <a:r>
              <a:rPr lang="en-US" sz="750" dirty="0" err="1">
                <a:solidFill>
                  <a:srgbClr val="9CA3AF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노랑</a:t>
            </a:r>
            <a:r>
              <a:rPr lang="en-US" sz="750" dirty="0">
                <a:solidFill>
                  <a:srgbClr val="9CA3AF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=2개,</a:t>
            </a:r>
          </a:p>
          <a:p>
            <a:pPr marL="0" indent="0">
              <a:buNone/>
            </a:pPr>
            <a:r>
              <a:rPr lang="en-US" sz="750" dirty="0">
                <a:solidFill>
                  <a:srgbClr val="9CA3AF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    </a:t>
            </a:r>
            <a:r>
              <a:rPr lang="en-US" sz="750" dirty="0" err="1">
                <a:solidFill>
                  <a:srgbClr val="9CA3AF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초록</a:t>
            </a:r>
            <a:r>
              <a:rPr lang="en-US" sz="750" dirty="0">
                <a:solidFill>
                  <a:srgbClr val="9CA3AF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=1개 이하</a:t>
            </a:r>
            <a:endParaRPr lang="en-US" sz="750" dirty="0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525" name="Shape 43">
            <a:extLst>
              <a:ext uri="{FF2B5EF4-FFF2-40B4-BE49-F238E27FC236}">
                <a16:creationId xmlns:a16="http://schemas.microsoft.com/office/drawing/2014/main" id="{E8E6980F-7F55-F06E-8C7F-6F5814BF7611}"/>
              </a:ext>
            </a:extLst>
          </p:cNvPr>
          <p:cNvSpPr/>
          <p:nvPr/>
        </p:nvSpPr>
        <p:spPr>
          <a:xfrm>
            <a:off x="464821" y="1997126"/>
            <a:ext cx="1254252" cy="245059"/>
          </a:xfrm>
          <a:prstGeom prst="rect">
            <a:avLst/>
          </a:prstGeom>
          <a:solidFill>
            <a:srgbClr val="FFFFFF"/>
          </a:solidFill>
          <a:ln w="12700">
            <a:solidFill>
              <a:srgbClr val="D1D9E6"/>
            </a:solidFill>
            <a:prstDash val="solid"/>
          </a:ln>
        </p:spPr>
        <p:txBody>
          <a:bodyPr/>
          <a:lstStyle/>
          <a:p>
            <a:endParaRPr lang="ko-KR" altLang="en-US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526" name="Shape 44">
            <a:extLst>
              <a:ext uri="{FF2B5EF4-FFF2-40B4-BE49-F238E27FC236}">
                <a16:creationId xmlns:a16="http://schemas.microsoft.com/office/drawing/2014/main" id="{A188B821-1C0F-D9DA-0FC4-C9A481FC01C0}"/>
              </a:ext>
            </a:extLst>
          </p:cNvPr>
          <p:cNvSpPr/>
          <p:nvPr/>
        </p:nvSpPr>
        <p:spPr>
          <a:xfrm>
            <a:off x="464821" y="1997126"/>
            <a:ext cx="45720" cy="245059"/>
          </a:xfrm>
          <a:prstGeom prst="rect">
            <a:avLst/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  <p:txBody>
          <a:bodyPr/>
          <a:lstStyle/>
          <a:p>
            <a:endParaRPr lang="ko-KR" altLang="en-US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527" name="Text 45">
            <a:extLst>
              <a:ext uri="{FF2B5EF4-FFF2-40B4-BE49-F238E27FC236}">
                <a16:creationId xmlns:a16="http://schemas.microsoft.com/office/drawing/2014/main" id="{91BC0EF0-4F96-5BB8-067A-E7433E8F4DCF}"/>
              </a:ext>
            </a:extLst>
          </p:cNvPr>
          <p:cNvSpPr/>
          <p:nvPr/>
        </p:nvSpPr>
        <p:spPr>
          <a:xfrm>
            <a:off x="574549" y="1997126"/>
            <a:ext cx="964691" cy="2450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20" b="1" dirty="0">
                <a:solidFill>
                  <a:srgbClr val="1B3A6B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공항운영(GO)</a:t>
            </a:r>
            <a:endParaRPr lang="en-US" sz="820" dirty="0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528" name="Shape 46">
            <a:extLst>
              <a:ext uri="{FF2B5EF4-FFF2-40B4-BE49-F238E27FC236}">
                <a16:creationId xmlns:a16="http://schemas.microsoft.com/office/drawing/2014/main" id="{021403D3-DA6E-9D13-43E1-4CC003496E89}"/>
              </a:ext>
            </a:extLst>
          </p:cNvPr>
          <p:cNvSpPr/>
          <p:nvPr/>
        </p:nvSpPr>
        <p:spPr>
          <a:xfrm>
            <a:off x="1802893" y="2007108"/>
            <a:ext cx="1028672" cy="171907"/>
          </a:xfrm>
          <a:prstGeom prst="rect">
            <a:avLst/>
          </a:prstGeom>
          <a:solidFill>
            <a:srgbClr val="FED7AA"/>
          </a:solidFill>
          <a:ln w="12700">
            <a:solidFill>
              <a:srgbClr val="D1D9E6"/>
            </a:solidFill>
            <a:prstDash val="solid"/>
          </a:ln>
        </p:spPr>
        <p:txBody>
          <a:bodyPr/>
          <a:lstStyle/>
          <a:p>
            <a:endParaRPr lang="ko-KR" altLang="en-US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529" name="Text 47">
            <a:extLst>
              <a:ext uri="{FF2B5EF4-FFF2-40B4-BE49-F238E27FC236}">
                <a16:creationId xmlns:a16="http://schemas.microsoft.com/office/drawing/2014/main" id="{2231A372-2ABD-E170-BFEA-EA86AE5DC857}"/>
              </a:ext>
            </a:extLst>
          </p:cNvPr>
          <p:cNvSpPr/>
          <p:nvPr/>
        </p:nvSpPr>
        <p:spPr>
          <a:xfrm>
            <a:off x="1766317" y="1970532"/>
            <a:ext cx="1091016" cy="2450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9A3412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162%</a:t>
            </a:r>
            <a:endParaRPr lang="en-US" sz="850" dirty="0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530" name="Shape 48">
            <a:extLst>
              <a:ext uri="{FF2B5EF4-FFF2-40B4-BE49-F238E27FC236}">
                <a16:creationId xmlns:a16="http://schemas.microsoft.com/office/drawing/2014/main" id="{32032562-8D7D-7FB8-999E-31164DEE3C28}"/>
              </a:ext>
            </a:extLst>
          </p:cNvPr>
          <p:cNvSpPr/>
          <p:nvPr/>
        </p:nvSpPr>
        <p:spPr>
          <a:xfrm>
            <a:off x="2914618" y="2007108"/>
            <a:ext cx="942865" cy="171907"/>
          </a:xfrm>
          <a:prstGeom prst="rect">
            <a:avLst/>
          </a:prstGeom>
          <a:solidFill>
            <a:srgbClr val="FEF9C3"/>
          </a:solidFill>
          <a:ln w="12700">
            <a:solidFill>
              <a:srgbClr val="D1D9E6"/>
            </a:solidFill>
            <a:prstDash val="solid"/>
          </a:ln>
        </p:spPr>
        <p:txBody>
          <a:bodyPr/>
          <a:lstStyle/>
          <a:p>
            <a:endParaRPr lang="ko-KR" altLang="en-US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531" name="Text 49">
            <a:extLst>
              <a:ext uri="{FF2B5EF4-FFF2-40B4-BE49-F238E27FC236}">
                <a16:creationId xmlns:a16="http://schemas.microsoft.com/office/drawing/2014/main" id="{96ECC479-A034-1E48-A8B7-FD1A22750A31}"/>
              </a:ext>
            </a:extLst>
          </p:cNvPr>
          <p:cNvSpPr/>
          <p:nvPr/>
        </p:nvSpPr>
        <p:spPr>
          <a:xfrm>
            <a:off x="3064765" y="1970532"/>
            <a:ext cx="661415" cy="2450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854D0E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2.1</a:t>
            </a:r>
            <a:endParaRPr lang="en-US" sz="850" dirty="0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532" name="Shape 50">
            <a:extLst>
              <a:ext uri="{FF2B5EF4-FFF2-40B4-BE49-F238E27FC236}">
                <a16:creationId xmlns:a16="http://schemas.microsoft.com/office/drawing/2014/main" id="{0B465685-0325-2B2E-5A4B-CCEDAE91DA73}"/>
              </a:ext>
            </a:extLst>
          </p:cNvPr>
          <p:cNvSpPr/>
          <p:nvPr/>
        </p:nvSpPr>
        <p:spPr>
          <a:xfrm>
            <a:off x="3938746" y="2007108"/>
            <a:ext cx="879391" cy="171907"/>
          </a:xfrm>
          <a:prstGeom prst="rect">
            <a:avLst/>
          </a:prstGeom>
          <a:solidFill>
            <a:srgbClr val="FED7AA"/>
          </a:solidFill>
          <a:ln w="12700">
            <a:solidFill>
              <a:srgbClr val="D1D9E6"/>
            </a:solidFill>
            <a:prstDash val="solid"/>
          </a:ln>
        </p:spPr>
        <p:txBody>
          <a:bodyPr/>
          <a:lstStyle/>
          <a:p>
            <a:endParaRPr lang="ko-KR" altLang="en-US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533" name="Text 51">
            <a:extLst>
              <a:ext uri="{FF2B5EF4-FFF2-40B4-BE49-F238E27FC236}">
                <a16:creationId xmlns:a16="http://schemas.microsoft.com/office/drawing/2014/main" id="{A5B9BE0F-1E8B-6395-FB11-F87E2EF84556}"/>
              </a:ext>
            </a:extLst>
          </p:cNvPr>
          <p:cNvSpPr/>
          <p:nvPr/>
        </p:nvSpPr>
        <p:spPr>
          <a:xfrm>
            <a:off x="3902171" y="1970532"/>
            <a:ext cx="932688" cy="2450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9A3412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46%</a:t>
            </a:r>
            <a:endParaRPr lang="en-US" sz="850" dirty="0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534" name="Shape 52">
            <a:extLst>
              <a:ext uri="{FF2B5EF4-FFF2-40B4-BE49-F238E27FC236}">
                <a16:creationId xmlns:a16="http://schemas.microsoft.com/office/drawing/2014/main" id="{9BA258E2-C125-B165-13D2-4B6C32D8CC44}"/>
              </a:ext>
            </a:extLst>
          </p:cNvPr>
          <p:cNvSpPr/>
          <p:nvPr/>
        </p:nvSpPr>
        <p:spPr>
          <a:xfrm>
            <a:off x="4901914" y="2007108"/>
            <a:ext cx="879391" cy="171907"/>
          </a:xfrm>
          <a:prstGeom prst="rect">
            <a:avLst/>
          </a:prstGeom>
          <a:solidFill>
            <a:srgbClr val="D1FAE5"/>
          </a:solidFill>
          <a:ln w="12700">
            <a:solidFill>
              <a:srgbClr val="D1D9E6"/>
            </a:solidFill>
            <a:prstDash val="solid"/>
          </a:ln>
        </p:spPr>
        <p:txBody>
          <a:bodyPr/>
          <a:lstStyle/>
          <a:p>
            <a:endParaRPr lang="ko-KR" altLang="en-US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535" name="Text 53">
            <a:extLst>
              <a:ext uri="{FF2B5EF4-FFF2-40B4-BE49-F238E27FC236}">
                <a16:creationId xmlns:a16="http://schemas.microsoft.com/office/drawing/2014/main" id="{566A8AA4-AB2E-ADD7-FA11-76565950A8A1}"/>
              </a:ext>
            </a:extLst>
          </p:cNvPr>
          <p:cNvSpPr/>
          <p:nvPr/>
        </p:nvSpPr>
        <p:spPr>
          <a:xfrm>
            <a:off x="4865339" y="1970532"/>
            <a:ext cx="932688" cy="2450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166534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5.7%</a:t>
            </a:r>
            <a:endParaRPr lang="en-US" sz="850" dirty="0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536" name="Shape 54">
            <a:extLst>
              <a:ext uri="{FF2B5EF4-FFF2-40B4-BE49-F238E27FC236}">
                <a16:creationId xmlns:a16="http://schemas.microsoft.com/office/drawing/2014/main" id="{714D9F3E-A50B-0443-30FF-9F33740D8E11}"/>
              </a:ext>
            </a:extLst>
          </p:cNvPr>
          <p:cNvSpPr/>
          <p:nvPr/>
        </p:nvSpPr>
        <p:spPr>
          <a:xfrm>
            <a:off x="5857463" y="2007108"/>
            <a:ext cx="1168698" cy="171907"/>
          </a:xfrm>
          <a:prstGeom prst="rect">
            <a:avLst/>
          </a:prstGeom>
          <a:solidFill>
            <a:srgbClr val="FED7AA"/>
          </a:solidFill>
          <a:ln w="12700">
            <a:solidFill>
              <a:srgbClr val="D1D9E6"/>
            </a:solidFill>
            <a:prstDash val="solid"/>
          </a:ln>
        </p:spPr>
        <p:txBody>
          <a:bodyPr/>
          <a:lstStyle/>
          <a:p>
            <a:endParaRPr lang="ko-KR" altLang="en-US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537" name="Text 55">
            <a:extLst>
              <a:ext uri="{FF2B5EF4-FFF2-40B4-BE49-F238E27FC236}">
                <a16:creationId xmlns:a16="http://schemas.microsoft.com/office/drawing/2014/main" id="{B948AF10-AD53-B454-CBED-121407F86AB1}"/>
              </a:ext>
            </a:extLst>
          </p:cNvPr>
          <p:cNvSpPr/>
          <p:nvPr/>
        </p:nvSpPr>
        <p:spPr>
          <a:xfrm>
            <a:off x="5820886" y="1970532"/>
            <a:ext cx="1220070" cy="2450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9A3412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14%</a:t>
            </a:r>
            <a:endParaRPr lang="en-US" sz="850" dirty="0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538" name="Shape 56">
            <a:extLst>
              <a:ext uri="{FF2B5EF4-FFF2-40B4-BE49-F238E27FC236}">
                <a16:creationId xmlns:a16="http://schemas.microsoft.com/office/drawing/2014/main" id="{70C4E888-3727-9BEB-C468-16049A5E74B8}"/>
              </a:ext>
            </a:extLst>
          </p:cNvPr>
          <p:cNvSpPr/>
          <p:nvPr/>
        </p:nvSpPr>
        <p:spPr>
          <a:xfrm>
            <a:off x="464821" y="2242185"/>
            <a:ext cx="1254252" cy="245059"/>
          </a:xfrm>
          <a:prstGeom prst="rect">
            <a:avLst/>
          </a:prstGeom>
          <a:solidFill>
            <a:srgbClr val="F8FAFC"/>
          </a:solidFill>
          <a:ln w="12700">
            <a:solidFill>
              <a:srgbClr val="D1D9E6"/>
            </a:solidFill>
            <a:prstDash val="solid"/>
          </a:ln>
        </p:spPr>
        <p:txBody>
          <a:bodyPr/>
          <a:lstStyle/>
          <a:p>
            <a:endParaRPr lang="ko-KR" altLang="en-US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539" name="Shape 57">
            <a:extLst>
              <a:ext uri="{FF2B5EF4-FFF2-40B4-BE49-F238E27FC236}">
                <a16:creationId xmlns:a16="http://schemas.microsoft.com/office/drawing/2014/main" id="{C33C7819-77D9-0B68-8B9F-108D93F8C170}"/>
              </a:ext>
            </a:extLst>
          </p:cNvPr>
          <p:cNvSpPr/>
          <p:nvPr/>
        </p:nvSpPr>
        <p:spPr>
          <a:xfrm>
            <a:off x="464821" y="2242185"/>
            <a:ext cx="45720" cy="245059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  <p:txBody>
          <a:bodyPr/>
          <a:lstStyle/>
          <a:p>
            <a:endParaRPr lang="ko-KR" altLang="en-US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540" name="Text 58">
            <a:extLst>
              <a:ext uri="{FF2B5EF4-FFF2-40B4-BE49-F238E27FC236}">
                <a16:creationId xmlns:a16="http://schemas.microsoft.com/office/drawing/2014/main" id="{708E5543-CCB0-98B6-B4A2-D4BE319E24AA}"/>
              </a:ext>
            </a:extLst>
          </p:cNvPr>
          <p:cNvSpPr/>
          <p:nvPr/>
        </p:nvSpPr>
        <p:spPr>
          <a:xfrm>
            <a:off x="574549" y="2242185"/>
            <a:ext cx="964691" cy="2450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20" b="1" dirty="0">
                <a:solidFill>
                  <a:srgbClr val="1B3A6B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항공기관제(AC)</a:t>
            </a:r>
            <a:endParaRPr lang="en-US" sz="820" dirty="0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541" name="Shape 59">
            <a:extLst>
              <a:ext uri="{FF2B5EF4-FFF2-40B4-BE49-F238E27FC236}">
                <a16:creationId xmlns:a16="http://schemas.microsoft.com/office/drawing/2014/main" id="{EA61194E-950F-B448-132B-A8D565DFFD06}"/>
              </a:ext>
            </a:extLst>
          </p:cNvPr>
          <p:cNvSpPr/>
          <p:nvPr/>
        </p:nvSpPr>
        <p:spPr>
          <a:xfrm>
            <a:off x="1802893" y="2252167"/>
            <a:ext cx="1028672" cy="171907"/>
          </a:xfrm>
          <a:prstGeom prst="rect">
            <a:avLst/>
          </a:prstGeom>
          <a:solidFill>
            <a:srgbClr val="FCAAAA"/>
          </a:solidFill>
          <a:ln w="12700">
            <a:solidFill>
              <a:srgbClr val="D1D9E6"/>
            </a:solidFill>
            <a:prstDash val="solid"/>
          </a:ln>
        </p:spPr>
        <p:txBody>
          <a:bodyPr/>
          <a:lstStyle/>
          <a:p>
            <a:endParaRPr lang="ko-KR" altLang="en-US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542" name="Text 60">
            <a:extLst>
              <a:ext uri="{FF2B5EF4-FFF2-40B4-BE49-F238E27FC236}">
                <a16:creationId xmlns:a16="http://schemas.microsoft.com/office/drawing/2014/main" id="{BBF0C654-4552-E238-C696-81513A1FE893}"/>
              </a:ext>
            </a:extLst>
          </p:cNvPr>
          <p:cNvSpPr/>
          <p:nvPr/>
        </p:nvSpPr>
        <p:spPr>
          <a:xfrm>
            <a:off x="1766317" y="2215591"/>
            <a:ext cx="1091016" cy="2450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991B1B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256%</a:t>
            </a:r>
            <a:endParaRPr lang="en-US" sz="850" dirty="0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543" name="Shape 61">
            <a:extLst>
              <a:ext uri="{FF2B5EF4-FFF2-40B4-BE49-F238E27FC236}">
                <a16:creationId xmlns:a16="http://schemas.microsoft.com/office/drawing/2014/main" id="{9CDDC2BC-8800-221C-9E61-6B3DF9F064B3}"/>
              </a:ext>
            </a:extLst>
          </p:cNvPr>
          <p:cNvSpPr/>
          <p:nvPr/>
        </p:nvSpPr>
        <p:spPr>
          <a:xfrm>
            <a:off x="2914618" y="2252167"/>
            <a:ext cx="942865" cy="171907"/>
          </a:xfrm>
          <a:prstGeom prst="rect">
            <a:avLst/>
          </a:prstGeom>
          <a:solidFill>
            <a:srgbClr val="FCAAAA"/>
          </a:solidFill>
          <a:ln w="12700">
            <a:solidFill>
              <a:srgbClr val="D1D9E6"/>
            </a:solidFill>
            <a:prstDash val="solid"/>
          </a:ln>
        </p:spPr>
        <p:txBody>
          <a:bodyPr/>
          <a:lstStyle/>
          <a:p>
            <a:endParaRPr lang="ko-KR" altLang="en-US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544" name="Text 62">
            <a:extLst>
              <a:ext uri="{FF2B5EF4-FFF2-40B4-BE49-F238E27FC236}">
                <a16:creationId xmlns:a16="http://schemas.microsoft.com/office/drawing/2014/main" id="{3A84CFF0-0416-5E42-BDD5-26400553ABB9}"/>
              </a:ext>
            </a:extLst>
          </p:cNvPr>
          <p:cNvSpPr/>
          <p:nvPr/>
        </p:nvSpPr>
        <p:spPr>
          <a:xfrm>
            <a:off x="3064765" y="2215591"/>
            <a:ext cx="661415" cy="2450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991B1B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4.3</a:t>
            </a:r>
            <a:endParaRPr lang="en-US" sz="850" dirty="0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545" name="Shape 63">
            <a:extLst>
              <a:ext uri="{FF2B5EF4-FFF2-40B4-BE49-F238E27FC236}">
                <a16:creationId xmlns:a16="http://schemas.microsoft.com/office/drawing/2014/main" id="{04463A3C-9770-B323-C729-8D22470F4717}"/>
              </a:ext>
            </a:extLst>
          </p:cNvPr>
          <p:cNvSpPr/>
          <p:nvPr/>
        </p:nvSpPr>
        <p:spPr>
          <a:xfrm>
            <a:off x="3938746" y="2252167"/>
            <a:ext cx="879391" cy="171907"/>
          </a:xfrm>
          <a:prstGeom prst="rect">
            <a:avLst/>
          </a:prstGeom>
          <a:solidFill>
            <a:srgbClr val="FED7AA"/>
          </a:solidFill>
          <a:ln w="12700">
            <a:solidFill>
              <a:srgbClr val="D1D9E6"/>
            </a:solidFill>
            <a:prstDash val="solid"/>
          </a:ln>
        </p:spPr>
        <p:txBody>
          <a:bodyPr/>
          <a:lstStyle/>
          <a:p>
            <a:endParaRPr lang="ko-KR" altLang="en-US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546" name="Text 64">
            <a:extLst>
              <a:ext uri="{FF2B5EF4-FFF2-40B4-BE49-F238E27FC236}">
                <a16:creationId xmlns:a16="http://schemas.microsoft.com/office/drawing/2014/main" id="{1C382ACC-A4A5-8E38-948B-AC233B8AD982}"/>
              </a:ext>
            </a:extLst>
          </p:cNvPr>
          <p:cNvSpPr/>
          <p:nvPr/>
        </p:nvSpPr>
        <p:spPr>
          <a:xfrm>
            <a:off x="3902171" y="2215591"/>
            <a:ext cx="932688" cy="2450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9A3412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41%</a:t>
            </a:r>
            <a:endParaRPr lang="en-US" sz="850" dirty="0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547" name="Shape 65">
            <a:extLst>
              <a:ext uri="{FF2B5EF4-FFF2-40B4-BE49-F238E27FC236}">
                <a16:creationId xmlns:a16="http://schemas.microsoft.com/office/drawing/2014/main" id="{1AA4BCCE-314B-FA12-02FE-9CB4DCE8F1A6}"/>
              </a:ext>
            </a:extLst>
          </p:cNvPr>
          <p:cNvSpPr/>
          <p:nvPr/>
        </p:nvSpPr>
        <p:spPr>
          <a:xfrm>
            <a:off x="4901914" y="2252167"/>
            <a:ext cx="879391" cy="171907"/>
          </a:xfrm>
          <a:prstGeom prst="rect">
            <a:avLst/>
          </a:prstGeom>
          <a:solidFill>
            <a:srgbClr val="FEF9C3"/>
          </a:solidFill>
          <a:ln w="12700">
            <a:solidFill>
              <a:srgbClr val="D1D9E6"/>
            </a:solidFill>
            <a:prstDash val="solid"/>
          </a:ln>
        </p:spPr>
        <p:txBody>
          <a:bodyPr/>
          <a:lstStyle/>
          <a:p>
            <a:endParaRPr lang="ko-KR" altLang="en-US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548" name="Text 66">
            <a:extLst>
              <a:ext uri="{FF2B5EF4-FFF2-40B4-BE49-F238E27FC236}">
                <a16:creationId xmlns:a16="http://schemas.microsoft.com/office/drawing/2014/main" id="{8C74BAE1-7E30-F29E-4038-BC0D7EFA7F54}"/>
              </a:ext>
            </a:extLst>
          </p:cNvPr>
          <p:cNvSpPr/>
          <p:nvPr/>
        </p:nvSpPr>
        <p:spPr>
          <a:xfrm>
            <a:off x="4865339" y="2215591"/>
            <a:ext cx="932688" cy="2450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854D0E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20.8%</a:t>
            </a:r>
            <a:endParaRPr lang="en-US" sz="850" dirty="0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549" name="Shape 67">
            <a:extLst>
              <a:ext uri="{FF2B5EF4-FFF2-40B4-BE49-F238E27FC236}">
                <a16:creationId xmlns:a16="http://schemas.microsoft.com/office/drawing/2014/main" id="{D6B8BEFF-27FB-563E-D6B0-0228BDF7C906}"/>
              </a:ext>
            </a:extLst>
          </p:cNvPr>
          <p:cNvSpPr/>
          <p:nvPr/>
        </p:nvSpPr>
        <p:spPr>
          <a:xfrm>
            <a:off x="5857463" y="2252167"/>
            <a:ext cx="1168698" cy="171907"/>
          </a:xfrm>
          <a:prstGeom prst="rect">
            <a:avLst/>
          </a:prstGeom>
          <a:solidFill>
            <a:srgbClr val="FEF9C3"/>
          </a:solidFill>
          <a:ln w="12700">
            <a:solidFill>
              <a:srgbClr val="D1D9E6"/>
            </a:solidFill>
            <a:prstDash val="solid"/>
          </a:ln>
        </p:spPr>
        <p:txBody>
          <a:bodyPr/>
          <a:lstStyle/>
          <a:p>
            <a:endParaRPr lang="ko-KR" altLang="en-US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550" name="Text 68">
            <a:extLst>
              <a:ext uri="{FF2B5EF4-FFF2-40B4-BE49-F238E27FC236}">
                <a16:creationId xmlns:a16="http://schemas.microsoft.com/office/drawing/2014/main" id="{19005FE0-2724-A1C9-1C00-9599331379A1}"/>
              </a:ext>
            </a:extLst>
          </p:cNvPr>
          <p:cNvSpPr/>
          <p:nvPr/>
        </p:nvSpPr>
        <p:spPr>
          <a:xfrm>
            <a:off x="5820886" y="2215591"/>
            <a:ext cx="1220070" cy="2450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854D0E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10.8%</a:t>
            </a:r>
            <a:endParaRPr lang="en-US" sz="850" dirty="0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551" name="Shape 69">
            <a:extLst>
              <a:ext uri="{FF2B5EF4-FFF2-40B4-BE49-F238E27FC236}">
                <a16:creationId xmlns:a16="http://schemas.microsoft.com/office/drawing/2014/main" id="{8D43919C-1148-B65B-8030-ECBD53607186}"/>
              </a:ext>
            </a:extLst>
          </p:cNvPr>
          <p:cNvSpPr/>
          <p:nvPr/>
        </p:nvSpPr>
        <p:spPr>
          <a:xfrm>
            <a:off x="464821" y="2487244"/>
            <a:ext cx="1254252" cy="245059"/>
          </a:xfrm>
          <a:prstGeom prst="rect">
            <a:avLst/>
          </a:prstGeom>
          <a:solidFill>
            <a:srgbClr val="FFFFFF"/>
          </a:solidFill>
          <a:ln w="12700">
            <a:solidFill>
              <a:srgbClr val="D1D9E6"/>
            </a:solidFill>
            <a:prstDash val="solid"/>
          </a:ln>
        </p:spPr>
        <p:txBody>
          <a:bodyPr/>
          <a:lstStyle/>
          <a:p>
            <a:endParaRPr lang="ko-KR" altLang="en-US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552" name="Shape 70">
            <a:extLst>
              <a:ext uri="{FF2B5EF4-FFF2-40B4-BE49-F238E27FC236}">
                <a16:creationId xmlns:a16="http://schemas.microsoft.com/office/drawing/2014/main" id="{7C241459-BBDB-97E5-3DD9-34712D139E3D}"/>
              </a:ext>
            </a:extLst>
          </p:cNvPr>
          <p:cNvSpPr/>
          <p:nvPr/>
        </p:nvSpPr>
        <p:spPr>
          <a:xfrm>
            <a:off x="464821" y="2487244"/>
            <a:ext cx="45720" cy="245059"/>
          </a:xfrm>
          <a:prstGeom prst="rect">
            <a:avLst/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  <p:txBody>
          <a:bodyPr/>
          <a:lstStyle/>
          <a:p>
            <a:endParaRPr lang="ko-KR" altLang="en-US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553" name="Text 71">
            <a:extLst>
              <a:ext uri="{FF2B5EF4-FFF2-40B4-BE49-F238E27FC236}">
                <a16:creationId xmlns:a16="http://schemas.microsoft.com/office/drawing/2014/main" id="{D140AEFB-CE22-3A80-84AB-14AF80605689}"/>
              </a:ext>
            </a:extLst>
          </p:cNvPr>
          <p:cNvSpPr/>
          <p:nvPr/>
        </p:nvSpPr>
        <p:spPr>
          <a:xfrm>
            <a:off x="574549" y="2487244"/>
            <a:ext cx="964691" cy="2450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20" b="1" dirty="0">
                <a:solidFill>
                  <a:srgbClr val="1B3A6B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항공보안(FS)</a:t>
            </a:r>
            <a:endParaRPr lang="en-US" sz="820" dirty="0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554" name="Shape 72">
            <a:extLst>
              <a:ext uri="{FF2B5EF4-FFF2-40B4-BE49-F238E27FC236}">
                <a16:creationId xmlns:a16="http://schemas.microsoft.com/office/drawing/2014/main" id="{94FB27E9-5573-C498-B9B5-252D3CC62851}"/>
              </a:ext>
            </a:extLst>
          </p:cNvPr>
          <p:cNvSpPr/>
          <p:nvPr/>
        </p:nvSpPr>
        <p:spPr>
          <a:xfrm>
            <a:off x="1802893" y="2497226"/>
            <a:ext cx="1028672" cy="171907"/>
          </a:xfrm>
          <a:prstGeom prst="rect">
            <a:avLst/>
          </a:prstGeom>
          <a:solidFill>
            <a:srgbClr val="FCAAAA"/>
          </a:solidFill>
          <a:ln w="12700">
            <a:solidFill>
              <a:srgbClr val="D1D9E6"/>
            </a:solidFill>
            <a:prstDash val="solid"/>
          </a:ln>
        </p:spPr>
        <p:txBody>
          <a:bodyPr/>
          <a:lstStyle/>
          <a:p>
            <a:endParaRPr lang="ko-KR" altLang="en-US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555" name="Text 73">
            <a:extLst>
              <a:ext uri="{FF2B5EF4-FFF2-40B4-BE49-F238E27FC236}">
                <a16:creationId xmlns:a16="http://schemas.microsoft.com/office/drawing/2014/main" id="{7B2D4D78-73B4-AF89-15AD-0BDDAF1B5C65}"/>
              </a:ext>
            </a:extLst>
          </p:cNvPr>
          <p:cNvSpPr/>
          <p:nvPr/>
        </p:nvSpPr>
        <p:spPr>
          <a:xfrm>
            <a:off x="1766317" y="2460650"/>
            <a:ext cx="1091016" cy="2450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991B1B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221%</a:t>
            </a:r>
            <a:endParaRPr lang="en-US" sz="850" dirty="0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556" name="Shape 74">
            <a:extLst>
              <a:ext uri="{FF2B5EF4-FFF2-40B4-BE49-F238E27FC236}">
                <a16:creationId xmlns:a16="http://schemas.microsoft.com/office/drawing/2014/main" id="{8ACF2409-2221-F8BB-1C03-138D4A7336FE}"/>
              </a:ext>
            </a:extLst>
          </p:cNvPr>
          <p:cNvSpPr/>
          <p:nvPr/>
        </p:nvSpPr>
        <p:spPr>
          <a:xfrm>
            <a:off x="2914618" y="2497226"/>
            <a:ext cx="942865" cy="171907"/>
          </a:xfrm>
          <a:prstGeom prst="rect">
            <a:avLst/>
          </a:prstGeom>
          <a:solidFill>
            <a:srgbClr val="FED7AA"/>
          </a:solidFill>
          <a:ln w="12700">
            <a:solidFill>
              <a:srgbClr val="D1D9E6"/>
            </a:solidFill>
            <a:prstDash val="solid"/>
          </a:ln>
        </p:spPr>
        <p:txBody>
          <a:bodyPr/>
          <a:lstStyle/>
          <a:p>
            <a:endParaRPr lang="ko-KR" altLang="en-US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557" name="Text 75">
            <a:extLst>
              <a:ext uri="{FF2B5EF4-FFF2-40B4-BE49-F238E27FC236}">
                <a16:creationId xmlns:a16="http://schemas.microsoft.com/office/drawing/2014/main" id="{D8B31335-7559-5B47-BEEE-2CA4BDC1318A}"/>
              </a:ext>
            </a:extLst>
          </p:cNvPr>
          <p:cNvSpPr/>
          <p:nvPr/>
        </p:nvSpPr>
        <p:spPr>
          <a:xfrm>
            <a:off x="3064765" y="2460650"/>
            <a:ext cx="661415" cy="2450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9A3412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2.8</a:t>
            </a:r>
            <a:endParaRPr lang="en-US" sz="850" dirty="0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558" name="Shape 76">
            <a:extLst>
              <a:ext uri="{FF2B5EF4-FFF2-40B4-BE49-F238E27FC236}">
                <a16:creationId xmlns:a16="http://schemas.microsoft.com/office/drawing/2014/main" id="{C7E90DE1-5B8A-C468-6F7A-18BB5B4C9D34}"/>
              </a:ext>
            </a:extLst>
          </p:cNvPr>
          <p:cNvSpPr/>
          <p:nvPr/>
        </p:nvSpPr>
        <p:spPr>
          <a:xfrm>
            <a:off x="3938746" y="2497226"/>
            <a:ext cx="879391" cy="171907"/>
          </a:xfrm>
          <a:prstGeom prst="rect">
            <a:avLst/>
          </a:prstGeom>
          <a:solidFill>
            <a:srgbClr val="FEF9C3"/>
          </a:solidFill>
          <a:ln w="12700">
            <a:solidFill>
              <a:srgbClr val="D1D9E6"/>
            </a:solidFill>
            <a:prstDash val="solid"/>
          </a:ln>
        </p:spPr>
        <p:txBody>
          <a:bodyPr/>
          <a:lstStyle/>
          <a:p>
            <a:endParaRPr lang="ko-KR" altLang="en-US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559" name="Text 77">
            <a:extLst>
              <a:ext uri="{FF2B5EF4-FFF2-40B4-BE49-F238E27FC236}">
                <a16:creationId xmlns:a16="http://schemas.microsoft.com/office/drawing/2014/main" id="{7E9DA844-3805-76D9-18DE-4A0E38014141}"/>
              </a:ext>
            </a:extLst>
          </p:cNvPr>
          <p:cNvSpPr/>
          <p:nvPr/>
        </p:nvSpPr>
        <p:spPr>
          <a:xfrm>
            <a:off x="3902171" y="2460650"/>
            <a:ext cx="932688" cy="2450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854D0E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55%</a:t>
            </a:r>
            <a:endParaRPr lang="en-US" sz="850" dirty="0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560" name="Shape 78">
            <a:extLst>
              <a:ext uri="{FF2B5EF4-FFF2-40B4-BE49-F238E27FC236}">
                <a16:creationId xmlns:a16="http://schemas.microsoft.com/office/drawing/2014/main" id="{17C17FCD-45F1-52B8-9EC8-69FF8DB963FB}"/>
              </a:ext>
            </a:extLst>
          </p:cNvPr>
          <p:cNvSpPr/>
          <p:nvPr/>
        </p:nvSpPr>
        <p:spPr>
          <a:xfrm>
            <a:off x="4901914" y="2497226"/>
            <a:ext cx="879391" cy="171907"/>
          </a:xfrm>
          <a:prstGeom prst="rect">
            <a:avLst/>
          </a:prstGeom>
          <a:solidFill>
            <a:srgbClr val="FED7AA"/>
          </a:solidFill>
          <a:ln w="12700">
            <a:solidFill>
              <a:srgbClr val="D1D9E6"/>
            </a:solidFill>
            <a:prstDash val="solid"/>
          </a:ln>
        </p:spPr>
        <p:txBody>
          <a:bodyPr/>
          <a:lstStyle/>
          <a:p>
            <a:endParaRPr lang="ko-KR" altLang="en-US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561" name="Text 79">
            <a:extLst>
              <a:ext uri="{FF2B5EF4-FFF2-40B4-BE49-F238E27FC236}">
                <a16:creationId xmlns:a16="http://schemas.microsoft.com/office/drawing/2014/main" id="{F664DE24-2C62-A7A3-34F3-5E087DB458D6}"/>
              </a:ext>
            </a:extLst>
          </p:cNvPr>
          <p:cNvSpPr/>
          <p:nvPr/>
        </p:nvSpPr>
        <p:spPr>
          <a:xfrm>
            <a:off x="4865339" y="2460650"/>
            <a:ext cx="932688" cy="2450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9A3412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39.4%</a:t>
            </a:r>
            <a:endParaRPr lang="en-US" sz="850" dirty="0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562" name="Shape 80">
            <a:extLst>
              <a:ext uri="{FF2B5EF4-FFF2-40B4-BE49-F238E27FC236}">
                <a16:creationId xmlns:a16="http://schemas.microsoft.com/office/drawing/2014/main" id="{2E4B2721-9AEE-0157-A713-C23FE67215AC}"/>
              </a:ext>
            </a:extLst>
          </p:cNvPr>
          <p:cNvSpPr/>
          <p:nvPr/>
        </p:nvSpPr>
        <p:spPr>
          <a:xfrm>
            <a:off x="5857463" y="2497226"/>
            <a:ext cx="1168698" cy="171907"/>
          </a:xfrm>
          <a:prstGeom prst="rect">
            <a:avLst/>
          </a:prstGeom>
          <a:solidFill>
            <a:srgbClr val="FEF9C3"/>
          </a:solidFill>
          <a:ln w="12700">
            <a:solidFill>
              <a:srgbClr val="D1D9E6"/>
            </a:solidFill>
            <a:prstDash val="solid"/>
          </a:ln>
        </p:spPr>
        <p:txBody>
          <a:bodyPr/>
          <a:lstStyle/>
          <a:p>
            <a:endParaRPr lang="ko-KR" altLang="en-US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563" name="Text 81">
            <a:extLst>
              <a:ext uri="{FF2B5EF4-FFF2-40B4-BE49-F238E27FC236}">
                <a16:creationId xmlns:a16="http://schemas.microsoft.com/office/drawing/2014/main" id="{563A6D3C-B639-568B-AF8E-B525941E6FD9}"/>
              </a:ext>
            </a:extLst>
          </p:cNvPr>
          <p:cNvSpPr/>
          <p:nvPr/>
        </p:nvSpPr>
        <p:spPr>
          <a:xfrm>
            <a:off x="5820886" y="2460650"/>
            <a:ext cx="1220070" cy="2450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854D0E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8.1%</a:t>
            </a:r>
            <a:endParaRPr lang="en-US" sz="850" dirty="0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564" name="Shape 82">
            <a:extLst>
              <a:ext uri="{FF2B5EF4-FFF2-40B4-BE49-F238E27FC236}">
                <a16:creationId xmlns:a16="http://schemas.microsoft.com/office/drawing/2014/main" id="{255A75B2-4FDF-5567-5C94-93F60C92CFA4}"/>
              </a:ext>
            </a:extLst>
          </p:cNvPr>
          <p:cNvSpPr/>
          <p:nvPr/>
        </p:nvSpPr>
        <p:spPr>
          <a:xfrm>
            <a:off x="464821" y="2732304"/>
            <a:ext cx="1254252" cy="245059"/>
          </a:xfrm>
          <a:prstGeom prst="rect">
            <a:avLst/>
          </a:prstGeom>
          <a:solidFill>
            <a:srgbClr val="F8FAFC"/>
          </a:solidFill>
          <a:ln w="12700">
            <a:solidFill>
              <a:srgbClr val="D1D9E6"/>
            </a:solidFill>
            <a:prstDash val="solid"/>
          </a:ln>
        </p:spPr>
        <p:txBody>
          <a:bodyPr/>
          <a:lstStyle/>
          <a:p>
            <a:endParaRPr lang="ko-KR" altLang="en-US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565" name="Shape 83">
            <a:extLst>
              <a:ext uri="{FF2B5EF4-FFF2-40B4-BE49-F238E27FC236}">
                <a16:creationId xmlns:a16="http://schemas.microsoft.com/office/drawing/2014/main" id="{94173263-A61D-2C83-0752-2F7265B5FDFC}"/>
              </a:ext>
            </a:extLst>
          </p:cNvPr>
          <p:cNvSpPr/>
          <p:nvPr/>
        </p:nvSpPr>
        <p:spPr>
          <a:xfrm>
            <a:off x="464821" y="2732304"/>
            <a:ext cx="45720" cy="245059"/>
          </a:xfrm>
          <a:prstGeom prst="rect">
            <a:avLst/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  <p:txBody>
          <a:bodyPr/>
          <a:lstStyle/>
          <a:p>
            <a:endParaRPr lang="ko-KR" altLang="en-US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566" name="Text 84">
            <a:extLst>
              <a:ext uri="{FF2B5EF4-FFF2-40B4-BE49-F238E27FC236}">
                <a16:creationId xmlns:a16="http://schemas.microsoft.com/office/drawing/2014/main" id="{76F93F2E-1B46-6C70-B6FB-1F6802C403BF}"/>
              </a:ext>
            </a:extLst>
          </p:cNvPr>
          <p:cNvSpPr/>
          <p:nvPr/>
        </p:nvSpPr>
        <p:spPr>
          <a:xfrm>
            <a:off x="574549" y="2732304"/>
            <a:ext cx="964691" cy="2450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20" b="1" dirty="0">
                <a:solidFill>
                  <a:srgbClr val="1B3A6B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공통관리(FIMS-CA)</a:t>
            </a:r>
            <a:endParaRPr lang="en-US" sz="820" dirty="0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567" name="Shape 85">
            <a:extLst>
              <a:ext uri="{FF2B5EF4-FFF2-40B4-BE49-F238E27FC236}">
                <a16:creationId xmlns:a16="http://schemas.microsoft.com/office/drawing/2014/main" id="{2D832C70-9DDB-8C3D-D352-F1C9F4785418}"/>
              </a:ext>
            </a:extLst>
          </p:cNvPr>
          <p:cNvSpPr/>
          <p:nvPr/>
        </p:nvSpPr>
        <p:spPr>
          <a:xfrm>
            <a:off x="1802893" y="2742286"/>
            <a:ext cx="1028672" cy="171907"/>
          </a:xfrm>
          <a:prstGeom prst="rect">
            <a:avLst/>
          </a:prstGeom>
          <a:solidFill>
            <a:srgbClr val="FED7AA"/>
          </a:solidFill>
          <a:ln w="12700">
            <a:solidFill>
              <a:srgbClr val="D1D9E6"/>
            </a:solidFill>
            <a:prstDash val="solid"/>
          </a:ln>
        </p:spPr>
        <p:txBody>
          <a:bodyPr/>
          <a:lstStyle/>
          <a:p>
            <a:endParaRPr lang="ko-KR" altLang="en-US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568" name="Text 86">
            <a:extLst>
              <a:ext uri="{FF2B5EF4-FFF2-40B4-BE49-F238E27FC236}">
                <a16:creationId xmlns:a16="http://schemas.microsoft.com/office/drawing/2014/main" id="{5E593F6E-2BD2-4499-D7BE-07358E8B4814}"/>
              </a:ext>
            </a:extLst>
          </p:cNvPr>
          <p:cNvSpPr/>
          <p:nvPr/>
        </p:nvSpPr>
        <p:spPr>
          <a:xfrm>
            <a:off x="1766317" y="2705710"/>
            <a:ext cx="1091016" cy="2450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9A3412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185%</a:t>
            </a:r>
            <a:endParaRPr lang="en-US" sz="850" dirty="0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569" name="Shape 87">
            <a:extLst>
              <a:ext uri="{FF2B5EF4-FFF2-40B4-BE49-F238E27FC236}">
                <a16:creationId xmlns:a16="http://schemas.microsoft.com/office/drawing/2014/main" id="{4291645F-2672-0767-8795-01F24FA09F76}"/>
              </a:ext>
            </a:extLst>
          </p:cNvPr>
          <p:cNvSpPr/>
          <p:nvPr/>
        </p:nvSpPr>
        <p:spPr>
          <a:xfrm>
            <a:off x="2914618" y="2742286"/>
            <a:ext cx="942865" cy="171907"/>
          </a:xfrm>
          <a:prstGeom prst="rect">
            <a:avLst/>
          </a:prstGeom>
          <a:solidFill>
            <a:srgbClr val="FEF9C3"/>
          </a:solidFill>
          <a:ln w="12700">
            <a:solidFill>
              <a:srgbClr val="D1D9E6"/>
            </a:solidFill>
            <a:prstDash val="solid"/>
          </a:ln>
        </p:spPr>
        <p:txBody>
          <a:bodyPr/>
          <a:lstStyle/>
          <a:p>
            <a:endParaRPr lang="ko-KR" altLang="en-US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570" name="Text 88">
            <a:extLst>
              <a:ext uri="{FF2B5EF4-FFF2-40B4-BE49-F238E27FC236}">
                <a16:creationId xmlns:a16="http://schemas.microsoft.com/office/drawing/2014/main" id="{7BA2B954-7CEF-1F60-3C3A-D72ABA6C1EA9}"/>
              </a:ext>
            </a:extLst>
          </p:cNvPr>
          <p:cNvSpPr/>
          <p:nvPr/>
        </p:nvSpPr>
        <p:spPr>
          <a:xfrm>
            <a:off x="3064765" y="2705710"/>
            <a:ext cx="661415" cy="2450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854D0E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2.4</a:t>
            </a:r>
            <a:endParaRPr lang="en-US" sz="850" dirty="0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571" name="Shape 89">
            <a:extLst>
              <a:ext uri="{FF2B5EF4-FFF2-40B4-BE49-F238E27FC236}">
                <a16:creationId xmlns:a16="http://schemas.microsoft.com/office/drawing/2014/main" id="{8D712973-A888-E709-9488-467B01B4C30F}"/>
              </a:ext>
            </a:extLst>
          </p:cNvPr>
          <p:cNvSpPr/>
          <p:nvPr/>
        </p:nvSpPr>
        <p:spPr>
          <a:xfrm>
            <a:off x="3938746" y="2742286"/>
            <a:ext cx="879391" cy="171907"/>
          </a:xfrm>
          <a:prstGeom prst="rect">
            <a:avLst/>
          </a:prstGeom>
          <a:solidFill>
            <a:srgbClr val="FEF9C3"/>
          </a:solidFill>
          <a:ln w="12700">
            <a:solidFill>
              <a:srgbClr val="D1D9E6"/>
            </a:solidFill>
            <a:prstDash val="solid"/>
          </a:ln>
        </p:spPr>
        <p:txBody>
          <a:bodyPr/>
          <a:lstStyle/>
          <a:p>
            <a:endParaRPr lang="ko-KR" altLang="en-US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572" name="Text 90">
            <a:extLst>
              <a:ext uri="{FF2B5EF4-FFF2-40B4-BE49-F238E27FC236}">
                <a16:creationId xmlns:a16="http://schemas.microsoft.com/office/drawing/2014/main" id="{6BD2FD4B-2125-8CC9-0ECE-7285C1036323}"/>
              </a:ext>
            </a:extLst>
          </p:cNvPr>
          <p:cNvSpPr/>
          <p:nvPr/>
        </p:nvSpPr>
        <p:spPr>
          <a:xfrm>
            <a:off x="3902171" y="2705710"/>
            <a:ext cx="932688" cy="2450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854D0E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56%</a:t>
            </a:r>
            <a:endParaRPr lang="en-US" sz="850" dirty="0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573" name="Shape 91">
            <a:extLst>
              <a:ext uri="{FF2B5EF4-FFF2-40B4-BE49-F238E27FC236}">
                <a16:creationId xmlns:a16="http://schemas.microsoft.com/office/drawing/2014/main" id="{F5E9D093-F4F6-29D6-E0EA-CEE0607CADB3}"/>
              </a:ext>
            </a:extLst>
          </p:cNvPr>
          <p:cNvSpPr/>
          <p:nvPr/>
        </p:nvSpPr>
        <p:spPr>
          <a:xfrm>
            <a:off x="4901914" y="2742286"/>
            <a:ext cx="879391" cy="171907"/>
          </a:xfrm>
          <a:prstGeom prst="rect">
            <a:avLst/>
          </a:prstGeom>
          <a:solidFill>
            <a:srgbClr val="FEF9C3"/>
          </a:solidFill>
          <a:ln w="12700">
            <a:solidFill>
              <a:srgbClr val="D1D9E6"/>
            </a:solidFill>
            <a:prstDash val="solid"/>
          </a:ln>
        </p:spPr>
        <p:txBody>
          <a:bodyPr/>
          <a:lstStyle/>
          <a:p>
            <a:endParaRPr lang="ko-KR" altLang="en-US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574" name="Text 92">
            <a:extLst>
              <a:ext uri="{FF2B5EF4-FFF2-40B4-BE49-F238E27FC236}">
                <a16:creationId xmlns:a16="http://schemas.microsoft.com/office/drawing/2014/main" id="{6667A144-8602-1097-5B34-6E987D7B9D24}"/>
              </a:ext>
            </a:extLst>
          </p:cNvPr>
          <p:cNvSpPr/>
          <p:nvPr/>
        </p:nvSpPr>
        <p:spPr>
          <a:xfrm>
            <a:off x="4865339" y="2705710"/>
            <a:ext cx="932688" cy="2450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854D0E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32%</a:t>
            </a:r>
            <a:endParaRPr lang="en-US" sz="850" dirty="0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575" name="Shape 93">
            <a:extLst>
              <a:ext uri="{FF2B5EF4-FFF2-40B4-BE49-F238E27FC236}">
                <a16:creationId xmlns:a16="http://schemas.microsoft.com/office/drawing/2014/main" id="{D9CB2BE2-1599-61DA-5B20-89B4DFB569E0}"/>
              </a:ext>
            </a:extLst>
          </p:cNvPr>
          <p:cNvSpPr/>
          <p:nvPr/>
        </p:nvSpPr>
        <p:spPr>
          <a:xfrm>
            <a:off x="5857463" y="2742286"/>
            <a:ext cx="1168698" cy="171907"/>
          </a:xfrm>
          <a:prstGeom prst="rect">
            <a:avLst/>
          </a:prstGeom>
          <a:solidFill>
            <a:srgbClr val="FEF9C3"/>
          </a:solidFill>
          <a:ln w="12700">
            <a:solidFill>
              <a:srgbClr val="D1D9E6"/>
            </a:solidFill>
            <a:prstDash val="solid"/>
          </a:ln>
        </p:spPr>
        <p:txBody>
          <a:bodyPr/>
          <a:lstStyle/>
          <a:p>
            <a:endParaRPr lang="ko-KR" altLang="en-US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576" name="Text 94">
            <a:extLst>
              <a:ext uri="{FF2B5EF4-FFF2-40B4-BE49-F238E27FC236}">
                <a16:creationId xmlns:a16="http://schemas.microsoft.com/office/drawing/2014/main" id="{DED5B48B-8346-B55B-1A53-3804220E59F2}"/>
              </a:ext>
            </a:extLst>
          </p:cNvPr>
          <p:cNvSpPr/>
          <p:nvPr/>
        </p:nvSpPr>
        <p:spPr>
          <a:xfrm>
            <a:off x="5820886" y="2705710"/>
            <a:ext cx="1220070" cy="2450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854D0E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9.2%</a:t>
            </a:r>
            <a:endParaRPr lang="en-US" sz="850" dirty="0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577" name="Shape 95">
            <a:extLst>
              <a:ext uri="{FF2B5EF4-FFF2-40B4-BE49-F238E27FC236}">
                <a16:creationId xmlns:a16="http://schemas.microsoft.com/office/drawing/2014/main" id="{808D03EB-6EFE-0512-44AE-6268F49957DD}"/>
              </a:ext>
            </a:extLst>
          </p:cNvPr>
          <p:cNvSpPr/>
          <p:nvPr/>
        </p:nvSpPr>
        <p:spPr>
          <a:xfrm>
            <a:off x="464821" y="2977363"/>
            <a:ext cx="1254252" cy="245059"/>
          </a:xfrm>
          <a:prstGeom prst="rect">
            <a:avLst/>
          </a:prstGeom>
          <a:solidFill>
            <a:srgbClr val="FFFFFF"/>
          </a:solidFill>
          <a:ln w="12700">
            <a:solidFill>
              <a:srgbClr val="D1D9E6"/>
            </a:solidFill>
            <a:prstDash val="solid"/>
          </a:ln>
        </p:spPr>
        <p:txBody>
          <a:bodyPr/>
          <a:lstStyle/>
          <a:p>
            <a:endParaRPr lang="ko-KR" altLang="en-US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578" name="Shape 96">
            <a:extLst>
              <a:ext uri="{FF2B5EF4-FFF2-40B4-BE49-F238E27FC236}">
                <a16:creationId xmlns:a16="http://schemas.microsoft.com/office/drawing/2014/main" id="{BE4DCEBD-4A69-EA3E-9117-07F64B51CDAA}"/>
              </a:ext>
            </a:extLst>
          </p:cNvPr>
          <p:cNvSpPr/>
          <p:nvPr/>
        </p:nvSpPr>
        <p:spPr>
          <a:xfrm>
            <a:off x="464821" y="2977363"/>
            <a:ext cx="45720" cy="245059"/>
          </a:xfrm>
          <a:prstGeom prst="rect">
            <a:avLst/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  <p:txBody>
          <a:bodyPr/>
          <a:lstStyle/>
          <a:p>
            <a:endParaRPr lang="ko-KR" altLang="en-US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579" name="Text 97">
            <a:extLst>
              <a:ext uri="{FF2B5EF4-FFF2-40B4-BE49-F238E27FC236}">
                <a16:creationId xmlns:a16="http://schemas.microsoft.com/office/drawing/2014/main" id="{20D499AC-0CB7-A0C4-361D-010E87CBEC4D}"/>
              </a:ext>
            </a:extLst>
          </p:cNvPr>
          <p:cNvSpPr/>
          <p:nvPr/>
        </p:nvSpPr>
        <p:spPr>
          <a:xfrm>
            <a:off x="574549" y="2977363"/>
            <a:ext cx="964691" cy="2450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20" b="1" dirty="0">
                <a:solidFill>
                  <a:srgbClr val="1B3A6B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운항계획(FP)</a:t>
            </a:r>
            <a:endParaRPr lang="en-US" sz="820" dirty="0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580" name="Shape 98">
            <a:extLst>
              <a:ext uri="{FF2B5EF4-FFF2-40B4-BE49-F238E27FC236}">
                <a16:creationId xmlns:a16="http://schemas.microsoft.com/office/drawing/2014/main" id="{F826920A-4488-54CB-BC4C-CBCF1DEC5F4C}"/>
              </a:ext>
            </a:extLst>
          </p:cNvPr>
          <p:cNvSpPr/>
          <p:nvPr/>
        </p:nvSpPr>
        <p:spPr>
          <a:xfrm>
            <a:off x="1802893" y="2987345"/>
            <a:ext cx="1028672" cy="171907"/>
          </a:xfrm>
          <a:prstGeom prst="rect">
            <a:avLst/>
          </a:prstGeom>
          <a:solidFill>
            <a:srgbClr val="FEF9C3"/>
          </a:solidFill>
          <a:ln w="12700">
            <a:solidFill>
              <a:srgbClr val="D1D9E6"/>
            </a:solidFill>
            <a:prstDash val="solid"/>
          </a:ln>
        </p:spPr>
        <p:txBody>
          <a:bodyPr/>
          <a:lstStyle/>
          <a:p>
            <a:endParaRPr lang="ko-KR" altLang="en-US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581" name="Text 99">
            <a:extLst>
              <a:ext uri="{FF2B5EF4-FFF2-40B4-BE49-F238E27FC236}">
                <a16:creationId xmlns:a16="http://schemas.microsoft.com/office/drawing/2014/main" id="{C5CE1A60-D317-0330-8F18-3D18C5549180}"/>
              </a:ext>
            </a:extLst>
          </p:cNvPr>
          <p:cNvSpPr/>
          <p:nvPr/>
        </p:nvSpPr>
        <p:spPr>
          <a:xfrm>
            <a:off x="1766317" y="2950769"/>
            <a:ext cx="1091016" cy="2450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854D0E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87%</a:t>
            </a:r>
            <a:endParaRPr lang="en-US" sz="850" dirty="0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582" name="Shape 100">
            <a:extLst>
              <a:ext uri="{FF2B5EF4-FFF2-40B4-BE49-F238E27FC236}">
                <a16:creationId xmlns:a16="http://schemas.microsoft.com/office/drawing/2014/main" id="{C4E270F3-6B8F-5E84-A446-EE2AE98833F2}"/>
              </a:ext>
            </a:extLst>
          </p:cNvPr>
          <p:cNvSpPr/>
          <p:nvPr/>
        </p:nvSpPr>
        <p:spPr>
          <a:xfrm>
            <a:off x="2914618" y="2987345"/>
            <a:ext cx="942865" cy="171907"/>
          </a:xfrm>
          <a:prstGeom prst="rect">
            <a:avLst/>
          </a:prstGeom>
          <a:solidFill>
            <a:srgbClr val="FED7AA"/>
          </a:solidFill>
          <a:ln w="12700">
            <a:solidFill>
              <a:srgbClr val="D1D9E6"/>
            </a:solidFill>
            <a:prstDash val="solid"/>
          </a:ln>
        </p:spPr>
        <p:txBody>
          <a:bodyPr/>
          <a:lstStyle/>
          <a:p>
            <a:endParaRPr lang="ko-KR" altLang="en-US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583" name="Text 101">
            <a:extLst>
              <a:ext uri="{FF2B5EF4-FFF2-40B4-BE49-F238E27FC236}">
                <a16:creationId xmlns:a16="http://schemas.microsoft.com/office/drawing/2014/main" id="{5427541C-A1F7-7463-4B64-12B0BB71D808}"/>
              </a:ext>
            </a:extLst>
          </p:cNvPr>
          <p:cNvSpPr/>
          <p:nvPr/>
        </p:nvSpPr>
        <p:spPr>
          <a:xfrm>
            <a:off x="3064765" y="2950769"/>
            <a:ext cx="661415" cy="2450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9A3412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2.8</a:t>
            </a:r>
            <a:endParaRPr lang="en-US" sz="850" dirty="0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584" name="Shape 102">
            <a:extLst>
              <a:ext uri="{FF2B5EF4-FFF2-40B4-BE49-F238E27FC236}">
                <a16:creationId xmlns:a16="http://schemas.microsoft.com/office/drawing/2014/main" id="{36A34A1F-0597-5004-963B-F986E36B23AD}"/>
              </a:ext>
            </a:extLst>
          </p:cNvPr>
          <p:cNvSpPr/>
          <p:nvPr/>
        </p:nvSpPr>
        <p:spPr>
          <a:xfrm>
            <a:off x="3938746" y="2987345"/>
            <a:ext cx="879391" cy="171907"/>
          </a:xfrm>
          <a:prstGeom prst="rect">
            <a:avLst/>
          </a:prstGeom>
          <a:solidFill>
            <a:srgbClr val="D1FAE5"/>
          </a:solidFill>
          <a:ln w="12700">
            <a:solidFill>
              <a:srgbClr val="D1D9E6"/>
            </a:solidFill>
            <a:prstDash val="solid"/>
          </a:ln>
        </p:spPr>
        <p:txBody>
          <a:bodyPr/>
          <a:lstStyle/>
          <a:p>
            <a:endParaRPr lang="ko-KR" altLang="en-US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585" name="Text 103">
            <a:extLst>
              <a:ext uri="{FF2B5EF4-FFF2-40B4-BE49-F238E27FC236}">
                <a16:creationId xmlns:a16="http://schemas.microsoft.com/office/drawing/2014/main" id="{9BD09B36-8515-3C38-935E-36058C04B64E}"/>
              </a:ext>
            </a:extLst>
          </p:cNvPr>
          <p:cNvSpPr/>
          <p:nvPr/>
        </p:nvSpPr>
        <p:spPr>
          <a:xfrm>
            <a:off x="3902171" y="2950769"/>
            <a:ext cx="932688" cy="2450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166534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65%</a:t>
            </a:r>
            <a:endParaRPr lang="en-US" sz="850" dirty="0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586" name="Shape 104">
            <a:extLst>
              <a:ext uri="{FF2B5EF4-FFF2-40B4-BE49-F238E27FC236}">
                <a16:creationId xmlns:a16="http://schemas.microsoft.com/office/drawing/2014/main" id="{05E531B0-3584-7191-E036-1DD609C001DB}"/>
              </a:ext>
            </a:extLst>
          </p:cNvPr>
          <p:cNvSpPr/>
          <p:nvPr/>
        </p:nvSpPr>
        <p:spPr>
          <a:xfrm>
            <a:off x="4901914" y="2987345"/>
            <a:ext cx="879391" cy="171907"/>
          </a:xfrm>
          <a:prstGeom prst="rect">
            <a:avLst/>
          </a:prstGeom>
          <a:solidFill>
            <a:srgbClr val="D1FAE5"/>
          </a:solidFill>
          <a:ln w="12700">
            <a:solidFill>
              <a:srgbClr val="D1D9E6"/>
            </a:solidFill>
            <a:prstDash val="solid"/>
          </a:ln>
        </p:spPr>
        <p:txBody>
          <a:bodyPr/>
          <a:lstStyle/>
          <a:p>
            <a:endParaRPr lang="ko-KR" altLang="en-US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587" name="Text 105">
            <a:extLst>
              <a:ext uri="{FF2B5EF4-FFF2-40B4-BE49-F238E27FC236}">
                <a16:creationId xmlns:a16="http://schemas.microsoft.com/office/drawing/2014/main" id="{4A13401A-3E4E-E9A4-1995-B2749407FBB0}"/>
              </a:ext>
            </a:extLst>
          </p:cNvPr>
          <p:cNvSpPr/>
          <p:nvPr/>
        </p:nvSpPr>
        <p:spPr>
          <a:xfrm>
            <a:off x="4865339" y="2950769"/>
            <a:ext cx="932688" cy="2450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166534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7.2%</a:t>
            </a:r>
            <a:endParaRPr lang="en-US" sz="850" dirty="0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588" name="Shape 106">
            <a:extLst>
              <a:ext uri="{FF2B5EF4-FFF2-40B4-BE49-F238E27FC236}">
                <a16:creationId xmlns:a16="http://schemas.microsoft.com/office/drawing/2014/main" id="{81CE3C52-5EC4-7DF2-2810-3367C5757917}"/>
              </a:ext>
            </a:extLst>
          </p:cNvPr>
          <p:cNvSpPr/>
          <p:nvPr/>
        </p:nvSpPr>
        <p:spPr>
          <a:xfrm>
            <a:off x="5857463" y="2987345"/>
            <a:ext cx="1168698" cy="171907"/>
          </a:xfrm>
          <a:prstGeom prst="rect">
            <a:avLst/>
          </a:prstGeom>
          <a:solidFill>
            <a:srgbClr val="FEF9C3"/>
          </a:solidFill>
          <a:ln w="12700">
            <a:solidFill>
              <a:srgbClr val="D1D9E6"/>
            </a:solidFill>
            <a:prstDash val="solid"/>
          </a:ln>
        </p:spPr>
        <p:txBody>
          <a:bodyPr/>
          <a:lstStyle/>
          <a:p>
            <a:endParaRPr lang="ko-KR" altLang="en-US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589" name="Text 107">
            <a:extLst>
              <a:ext uri="{FF2B5EF4-FFF2-40B4-BE49-F238E27FC236}">
                <a16:creationId xmlns:a16="http://schemas.microsoft.com/office/drawing/2014/main" id="{2A2CB088-B1FF-3068-BBC2-8D2164C64905}"/>
              </a:ext>
            </a:extLst>
          </p:cNvPr>
          <p:cNvSpPr/>
          <p:nvPr/>
        </p:nvSpPr>
        <p:spPr>
          <a:xfrm>
            <a:off x="5820886" y="2950769"/>
            <a:ext cx="1220070" cy="2450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854D0E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7.5%</a:t>
            </a:r>
            <a:endParaRPr lang="en-US" sz="850" dirty="0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590" name="Shape 108">
            <a:extLst>
              <a:ext uri="{FF2B5EF4-FFF2-40B4-BE49-F238E27FC236}">
                <a16:creationId xmlns:a16="http://schemas.microsoft.com/office/drawing/2014/main" id="{74FF28F9-DF32-5514-9394-AD6742B8196E}"/>
              </a:ext>
            </a:extLst>
          </p:cNvPr>
          <p:cNvSpPr/>
          <p:nvPr/>
        </p:nvSpPr>
        <p:spPr>
          <a:xfrm>
            <a:off x="464821" y="3222422"/>
            <a:ext cx="1254252" cy="245059"/>
          </a:xfrm>
          <a:prstGeom prst="rect">
            <a:avLst/>
          </a:prstGeom>
          <a:solidFill>
            <a:srgbClr val="F8FAFC"/>
          </a:solidFill>
          <a:ln w="12700">
            <a:solidFill>
              <a:srgbClr val="D1D9E6"/>
            </a:solidFill>
            <a:prstDash val="solid"/>
          </a:ln>
        </p:spPr>
        <p:txBody>
          <a:bodyPr/>
          <a:lstStyle/>
          <a:p>
            <a:endParaRPr lang="ko-KR" altLang="en-US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591" name="Shape 109">
            <a:extLst>
              <a:ext uri="{FF2B5EF4-FFF2-40B4-BE49-F238E27FC236}">
                <a16:creationId xmlns:a16="http://schemas.microsoft.com/office/drawing/2014/main" id="{E3E98402-F764-830F-6AF8-CFF5903A8343}"/>
              </a:ext>
            </a:extLst>
          </p:cNvPr>
          <p:cNvSpPr/>
          <p:nvPr/>
        </p:nvSpPr>
        <p:spPr>
          <a:xfrm>
            <a:off x="464821" y="3222422"/>
            <a:ext cx="45720" cy="245059"/>
          </a:xfrm>
          <a:prstGeom prst="rect">
            <a:avLst/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  <p:txBody>
          <a:bodyPr/>
          <a:lstStyle/>
          <a:p>
            <a:endParaRPr lang="ko-KR" altLang="en-US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592" name="Text 110">
            <a:extLst>
              <a:ext uri="{FF2B5EF4-FFF2-40B4-BE49-F238E27FC236}">
                <a16:creationId xmlns:a16="http://schemas.microsoft.com/office/drawing/2014/main" id="{CDCB26F8-34A5-4DA6-85A8-55EB4DF91F69}"/>
              </a:ext>
            </a:extLst>
          </p:cNvPr>
          <p:cNvSpPr/>
          <p:nvPr/>
        </p:nvSpPr>
        <p:spPr>
          <a:xfrm>
            <a:off x="574549" y="3222422"/>
            <a:ext cx="964691" cy="2450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20" b="1" dirty="0">
                <a:solidFill>
                  <a:srgbClr val="1B3A6B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자원배정(RS)</a:t>
            </a:r>
            <a:endParaRPr lang="en-US" sz="820" dirty="0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593" name="Shape 111">
            <a:extLst>
              <a:ext uri="{FF2B5EF4-FFF2-40B4-BE49-F238E27FC236}">
                <a16:creationId xmlns:a16="http://schemas.microsoft.com/office/drawing/2014/main" id="{1A5D0DAB-B578-A6EA-DA92-9F70B5305AD6}"/>
              </a:ext>
            </a:extLst>
          </p:cNvPr>
          <p:cNvSpPr/>
          <p:nvPr/>
        </p:nvSpPr>
        <p:spPr>
          <a:xfrm>
            <a:off x="1802893" y="3232404"/>
            <a:ext cx="1028672" cy="171907"/>
          </a:xfrm>
          <a:prstGeom prst="rect">
            <a:avLst/>
          </a:prstGeom>
          <a:solidFill>
            <a:srgbClr val="FEF9C3"/>
          </a:solidFill>
          <a:ln w="12700">
            <a:solidFill>
              <a:srgbClr val="D1D9E6"/>
            </a:solidFill>
            <a:prstDash val="solid"/>
          </a:ln>
        </p:spPr>
        <p:txBody>
          <a:bodyPr/>
          <a:lstStyle/>
          <a:p>
            <a:endParaRPr lang="ko-KR" altLang="en-US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594" name="Text 112">
            <a:extLst>
              <a:ext uri="{FF2B5EF4-FFF2-40B4-BE49-F238E27FC236}">
                <a16:creationId xmlns:a16="http://schemas.microsoft.com/office/drawing/2014/main" id="{186B009F-7DA0-60F4-9DFB-7C83140522DA}"/>
              </a:ext>
            </a:extLst>
          </p:cNvPr>
          <p:cNvSpPr/>
          <p:nvPr/>
        </p:nvSpPr>
        <p:spPr>
          <a:xfrm>
            <a:off x="1766317" y="3195828"/>
            <a:ext cx="1091016" cy="2450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854D0E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149%</a:t>
            </a:r>
            <a:endParaRPr lang="en-US" sz="850" dirty="0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595" name="Shape 113">
            <a:extLst>
              <a:ext uri="{FF2B5EF4-FFF2-40B4-BE49-F238E27FC236}">
                <a16:creationId xmlns:a16="http://schemas.microsoft.com/office/drawing/2014/main" id="{DDF6037E-4215-BA7B-6372-8DB462DAE43D}"/>
              </a:ext>
            </a:extLst>
          </p:cNvPr>
          <p:cNvSpPr/>
          <p:nvPr/>
        </p:nvSpPr>
        <p:spPr>
          <a:xfrm>
            <a:off x="2914618" y="3232404"/>
            <a:ext cx="942865" cy="171907"/>
          </a:xfrm>
          <a:prstGeom prst="rect">
            <a:avLst/>
          </a:prstGeom>
          <a:solidFill>
            <a:srgbClr val="FED7AA"/>
          </a:solidFill>
          <a:ln w="12700">
            <a:solidFill>
              <a:srgbClr val="D1D9E6"/>
            </a:solidFill>
            <a:prstDash val="solid"/>
          </a:ln>
        </p:spPr>
        <p:txBody>
          <a:bodyPr/>
          <a:lstStyle/>
          <a:p>
            <a:endParaRPr lang="ko-KR" altLang="en-US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596" name="Text 114">
            <a:extLst>
              <a:ext uri="{FF2B5EF4-FFF2-40B4-BE49-F238E27FC236}">
                <a16:creationId xmlns:a16="http://schemas.microsoft.com/office/drawing/2014/main" id="{7A5E6405-3BB0-DC6A-9FC4-A60CCBB0F077}"/>
              </a:ext>
            </a:extLst>
          </p:cNvPr>
          <p:cNvSpPr/>
          <p:nvPr/>
        </p:nvSpPr>
        <p:spPr>
          <a:xfrm>
            <a:off x="3064765" y="3195828"/>
            <a:ext cx="661415" cy="2450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9A3412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2.9</a:t>
            </a:r>
            <a:endParaRPr lang="en-US" sz="850" dirty="0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597" name="Shape 115">
            <a:extLst>
              <a:ext uri="{FF2B5EF4-FFF2-40B4-BE49-F238E27FC236}">
                <a16:creationId xmlns:a16="http://schemas.microsoft.com/office/drawing/2014/main" id="{662786CD-9C0F-D7B7-4176-FFA04433DB0A}"/>
              </a:ext>
            </a:extLst>
          </p:cNvPr>
          <p:cNvSpPr/>
          <p:nvPr/>
        </p:nvSpPr>
        <p:spPr>
          <a:xfrm>
            <a:off x="3938746" y="3232404"/>
            <a:ext cx="879391" cy="171907"/>
          </a:xfrm>
          <a:prstGeom prst="rect">
            <a:avLst/>
          </a:prstGeom>
          <a:solidFill>
            <a:srgbClr val="FEF9C3"/>
          </a:solidFill>
          <a:ln w="12700">
            <a:solidFill>
              <a:srgbClr val="D1D9E6"/>
            </a:solidFill>
            <a:prstDash val="solid"/>
          </a:ln>
        </p:spPr>
        <p:txBody>
          <a:bodyPr/>
          <a:lstStyle/>
          <a:p>
            <a:endParaRPr lang="ko-KR" altLang="en-US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598" name="Text 116">
            <a:extLst>
              <a:ext uri="{FF2B5EF4-FFF2-40B4-BE49-F238E27FC236}">
                <a16:creationId xmlns:a16="http://schemas.microsoft.com/office/drawing/2014/main" id="{A377F5A6-4646-4222-BD66-EB8F8B859DC5}"/>
              </a:ext>
            </a:extLst>
          </p:cNvPr>
          <p:cNvSpPr/>
          <p:nvPr/>
        </p:nvSpPr>
        <p:spPr>
          <a:xfrm>
            <a:off x="3902171" y="3195828"/>
            <a:ext cx="932688" cy="2450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854D0E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62%</a:t>
            </a:r>
            <a:endParaRPr lang="en-US" sz="850" dirty="0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599" name="Shape 117">
            <a:extLst>
              <a:ext uri="{FF2B5EF4-FFF2-40B4-BE49-F238E27FC236}">
                <a16:creationId xmlns:a16="http://schemas.microsoft.com/office/drawing/2014/main" id="{6330B441-3C9A-A96F-5499-9AF408BD70D6}"/>
              </a:ext>
            </a:extLst>
          </p:cNvPr>
          <p:cNvSpPr/>
          <p:nvPr/>
        </p:nvSpPr>
        <p:spPr>
          <a:xfrm>
            <a:off x="4901914" y="3232404"/>
            <a:ext cx="879391" cy="171907"/>
          </a:xfrm>
          <a:prstGeom prst="rect">
            <a:avLst/>
          </a:prstGeom>
          <a:solidFill>
            <a:srgbClr val="D1FAE5"/>
          </a:solidFill>
          <a:ln w="12700">
            <a:solidFill>
              <a:srgbClr val="D1D9E6"/>
            </a:solidFill>
            <a:prstDash val="solid"/>
          </a:ln>
        </p:spPr>
        <p:txBody>
          <a:bodyPr/>
          <a:lstStyle/>
          <a:p>
            <a:endParaRPr lang="ko-KR" altLang="en-US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600" name="Text 118">
            <a:extLst>
              <a:ext uri="{FF2B5EF4-FFF2-40B4-BE49-F238E27FC236}">
                <a16:creationId xmlns:a16="http://schemas.microsoft.com/office/drawing/2014/main" id="{0026ED77-997F-AACB-30F8-EE3504FFF640}"/>
              </a:ext>
            </a:extLst>
          </p:cNvPr>
          <p:cNvSpPr/>
          <p:nvPr/>
        </p:nvSpPr>
        <p:spPr>
          <a:xfrm>
            <a:off x="4865339" y="3195828"/>
            <a:ext cx="932688" cy="2450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166534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10.5%</a:t>
            </a:r>
            <a:endParaRPr lang="en-US" sz="850" dirty="0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601" name="Shape 119">
            <a:extLst>
              <a:ext uri="{FF2B5EF4-FFF2-40B4-BE49-F238E27FC236}">
                <a16:creationId xmlns:a16="http://schemas.microsoft.com/office/drawing/2014/main" id="{2FCCB675-E283-5119-6726-C7873CC8AE60}"/>
              </a:ext>
            </a:extLst>
          </p:cNvPr>
          <p:cNvSpPr/>
          <p:nvPr/>
        </p:nvSpPr>
        <p:spPr>
          <a:xfrm>
            <a:off x="5857463" y="3232404"/>
            <a:ext cx="1168698" cy="171907"/>
          </a:xfrm>
          <a:prstGeom prst="rect">
            <a:avLst/>
          </a:prstGeom>
          <a:solidFill>
            <a:srgbClr val="FEF9C3"/>
          </a:solidFill>
          <a:ln w="12700">
            <a:solidFill>
              <a:srgbClr val="D1D9E6"/>
            </a:solidFill>
            <a:prstDash val="solid"/>
          </a:ln>
        </p:spPr>
        <p:txBody>
          <a:bodyPr/>
          <a:lstStyle/>
          <a:p>
            <a:endParaRPr lang="ko-KR" altLang="en-US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602" name="Text 120">
            <a:extLst>
              <a:ext uri="{FF2B5EF4-FFF2-40B4-BE49-F238E27FC236}">
                <a16:creationId xmlns:a16="http://schemas.microsoft.com/office/drawing/2014/main" id="{D60D7019-DD47-440B-2BE8-9D742C6AB6F7}"/>
              </a:ext>
            </a:extLst>
          </p:cNvPr>
          <p:cNvSpPr/>
          <p:nvPr/>
        </p:nvSpPr>
        <p:spPr>
          <a:xfrm>
            <a:off x="5820886" y="3195828"/>
            <a:ext cx="1220070" cy="2450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854D0E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11.7%</a:t>
            </a:r>
            <a:endParaRPr lang="en-US" sz="850" dirty="0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603" name="Shape 121">
            <a:extLst>
              <a:ext uri="{FF2B5EF4-FFF2-40B4-BE49-F238E27FC236}">
                <a16:creationId xmlns:a16="http://schemas.microsoft.com/office/drawing/2014/main" id="{3A2AA84A-D7E0-D382-CA64-5604FF504DFE}"/>
              </a:ext>
            </a:extLst>
          </p:cNvPr>
          <p:cNvSpPr/>
          <p:nvPr/>
        </p:nvSpPr>
        <p:spPr>
          <a:xfrm>
            <a:off x="464821" y="3467481"/>
            <a:ext cx="1254252" cy="245059"/>
          </a:xfrm>
          <a:prstGeom prst="rect">
            <a:avLst/>
          </a:prstGeom>
          <a:solidFill>
            <a:srgbClr val="FFFFFF"/>
          </a:solidFill>
          <a:ln w="12700">
            <a:solidFill>
              <a:srgbClr val="D1D9E6"/>
            </a:solidFill>
            <a:prstDash val="solid"/>
          </a:ln>
        </p:spPr>
        <p:txBody>
          <a:bodyPr/>
          <a:lstStyle/>
          <a:p>
            <a:endParaRPr lang="ko-KR" altLang="en-US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604" name="Shape 122">
            <a:extLst>
              <a:ext uri="{FF2B5EF4-FFF2-40B4-BE49-F238E27FC236}">
                <a16:creationId xmlns:a16="http://schemas.microsoft.com/office/drawing/2014/main" id="{90E04EB8-CB43-68DC-6B0E-C764970D2732}"/>
              </a:ext>
            </a:extLst>
          </p:cNvPr>
          <p:cNvSpPr/>
          <p:nvPr/>
        </p:nvSpPr>
        <p:spPr>
          <a:xfrm>
            <a:off x="464821" y="3467481"/>
            <a:ext cx="45720" cy="245059"/>
          </a:xfrm>
          <a:prstGeom prst="rect">
            <a:avLst/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  <p:txBody>
          <a:bodyPr/>
          <a:lstStyle/>
          <a:p>
            <a:endParaRPr lang="ko-KR" altLang="en-US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605" name="Text 123">
            <a:extLst>
              <a:ext uri="{FF2B5EF4-FFF2-40B4-BE49-F238E27FC236}">
                <a16:creationId xmlns:a16="http://schemas.microsoft.com/office/drawing/2014/main" id="{71CCF9E2-F5D5-17AD-41EF-32165E8121B4}"/>
              </a:ext>
            </a:extLst>
          </p:cNvPr>
          <p:cNvSpPr/>
          <p:nvPr/>
        </p:nvSpPr>
        <p:spPr>
          <a:xfrm>
            <a:off x="574549" y="3467481"/>
            <a:ext cx="964691" cy="2450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20" b="1" dirty="0">
                <a:solidFill>
                  <a:srgbClr val="1B3A6B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공통관리(AOMS-CA)</a:t>
            </a:r>
            <a:endParaRPr lang="en-US" sz="820" dirty="0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606" name="Shape 124">
            <a:extLst>
              <a:ext uri="{FF2B5EF4-FFF2-40B4-BE49-F238E27FC236}">
                <a16:creationId xmlns:a16="http://schemas.microsoft.com/office/drawing/2014/main" id="{F06E476A-78C3-B0B2-71E9-85C1AAC81359}"/>
              </a:ext>
            </a:extLst>
          </p:cNvPr>
          <p:cNvSpPr/>
          <p:nvPr/>
        </p:nvSpPr>
        <p:spPr>
          <a:xfrm>
            <a:off x="1802893" y="3477463"/>
            <a:ext cx="1028672" cy="171907"/>
          </a:xfrm>
          <a:prstGeom prst="rect">
            <a:avLst/>
          </a:prstGeom>
          <a:solidFill>
            <a:srgbClr val="FED7AA"/>
          </a:solidFill>
          <a:ln w="12700">
            <a:solidFill>
              <a:srgbClr val="D1D9E6"/>
            </a:solidFill>
            <a:prstDash val="solid"/>
          </a:ln>
        </p:spPr>
        <p:txBody>
          <a:bodyPr/>
          <a:lstStyle/>
          <a:p>
            <a:endParaRPr lang="ko-KR" altLang="en-US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607" name="Text 125">
            <a:extLst>
              <a:ext uri="{FF2B5EF4-FFF2-40B4-BE49-F238E27FC236}">
                <a16:creationId xmlns:a16="http://schemas.microsoft.com/office/drawing/2014/main" id="{3F4F2DD3-3EB5-A542-8DC9-0065B2324D40}"/>
              </a:ext>
            </a:extLst>
          </p:cNvPr>
          <p:cNvSpPr/>
          <p:nvPr/>
        </p:nvSpPr>
        <p:spPr>
          <a:xfrm>
            <a:off x="1766317" y="3440887"/>
            <a:ext cx="1091016" cy="2450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9A3412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195%</a:t>
            </a:r>
            <a:endParaRPr lang="en-US" sz="850" dirty="0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608" name="Shape 126">
            <a:extLst>
              <a:ext uri="{FF2B5EF4-FFF2-40B4-BE49-F238E27FC236}">
                <a16:creationId xmlns:a16="http://schemas.microsoft.com/office/drawing/2014/main" id="{FCBE3D11-C87E-8064-677E-5EE6E3E8B308}"/>
              </a:ext>
            </a:extLst>
          </p:cNvPr>
          <p:cNvSpPr/>
          <p:nvPr/>
        </p:nvSpPr>
        <p:spPr>
          <a:xfrm>
            <a:off x="2914618" y="3477463"/>
            <a:ext cx="942865" cy="171907"/>
          </a:xfrm>
          <a:prstGeom prst="rect">
            <a:avLst/>
          </a:prstGeom>
          <a:solidFill>
            <a:srgbClr val="FEF9C3"/>
          </a:solidFill>
          <a:ln w="12700">
            <a:solidFill>
              <a:srgbClr val="D1D9E6"/>
            </a:solidFill>
            <a:prstDash val="solid"/>
          </a:ln>
        </p:spPr>
        <p:txBody>
          <a:bodyPr/>
          <a:lstStyle/>
          <a:p>
            <a:endParaRPr lang="ko-KR" altLang="en-US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609" name="Text 127">
            <a:extLst>
              <a:ext uri="{FF2B5EF4-FFF2-40B4-BE49-F238E27FC236}">
                <a16:creationId xmlns:a16="http://schemas.microsoft.com/office/drawing/2014/main" id="{16AEF56E-F6DC-BBDB-7E8E-775AEF35BD82}"/>
              </a:ext>
            </a:extLst>
          </p:cNvPr>
          <p:cNvSpPr/>
          <p:nvPr/>
        </p:nvSpPr>
        <p:spPr>
          <a:xfrm>
            <a:off x="3064765" y="3440887"/>
            <a:ext cx="661415" cy="2450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854D0E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2.6</a:t>
            </a:r>
            <a:endParaRPr lang="en-US" sz="850" dirty="0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610" name="Shape 128">
            <a:extLst>
              <a:ext uri="{FF2B5EF4-FFF2-40B4-BE49-F238E27FC236}">
                <a16:creationId xmlns:a16="http://schemas.microsoft.com/office/drawing/2014/main" id="{CBD1FE20-8614-DA07-21AD-11BE1BFC4DFE}"/>
              </a:ext>
            </a:extLst>
          </p:cNvPr>
          <p:cNvSpPr/>
          <p:nvPr/>
        </p:nvSpPr>
        <p:spPr>
          <a:xfrm>
            <a:off x="3938746" y="3477463"/>
            <a:ext cx="879391" cy="171907"/>
          </a:xfrm>
          <a:prstGeom prst="rect">
            <a:avLst/>
          </a:prstGeom>
          <a:solidFill>
            <a:srgbClr val="FEF9C3"/>
          </a:solidFill>
          <a:ln w="12700">
            <a:solidFill>
              <a:srgbClr val="D1D9E6"/>
            </a:solidFill>
            <a:prstDash val="solid"/>
          </a:ln>
        </p:spPr>
        <p:txBody>
          <a:bodyPr/>
          <a:lstStyle/>
          <a:p>
            <a:endParaRPr lang="ko-KR" altLang="en-US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611" name="Text 129">
            <a:extLst>
              <a:ext uri="{FF2B5EF4-FFF2-40B4-BE49-F238E27FC236}">
                <a16:creationId xmlns:a16="http://schemas.microsoft.com/office/drawing/2014/main" id="{604276F4-3C3F-437B-BD49-5DE987BE4164}"/>
              </a:ext>
            </a:extLst>
          </p:cNvPr>
          <p:cNvSpPr/>
          <p:nvPr/>
        </p:nvSpPr>
        <p:spPr>
          <a:xfrm>
            <a:off x="3902171" y="3440887"/>
            <a:ext cx="932688" cy="2450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854D0E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52%</a:t>
            </a:r>
            <a:endParaRPr lang="en-US" sz="850" dirty="0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612" name="Shape 130">
            <a:extLst>
              <a:ext uri="{FF2B5EF4-FFF2-40B4-BE49-F238E27FC236}">
                <a16:creationId xmlns:a16="http://schemas.microsoft.com/office/drawing/2014/main" id="{828FB628-F61A-B58B-C3DD-1FA76696141C}"/>
              </a:ext>
            </a:extLst>
          </p:cNvPr>
          <p:cNvSpPr/>
          <p:nvPr/>
        </p:nvSpPr>
        <p:spPr>
          <a:xfrm>
            <a:off x="4901914" y="3477463"/>
            <a:ext cx="879391" cy="171907"/>
          </a:xfrm>
          <a:prstGeom prst="rect">
            <a:avLst/>
          </a:prstGeom>
          <a:solidFill>
            <a:srgbClr val="FEF9C3"/>
          </a:solidFill>
          <a:ln w="12700">
            <a:solidFill>
              <a:srgbClr val="D1D9E6"/>
            </a:solidFill>
            <a:prstDash val="solid"/>
          </a:ln>
        </p:spPr>
        <p:txBody>
          <a:bodyPr/>
          <a:lstStyle/>
          <a:p>
            <a:endParaRPr lang="ko-KR" altLang="en-US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613" name="Text 131">
            <a:extLst>
              <a:ext uri="{FF2B5EF4-FFF2-40B4-BE49-F238E27FC236}">
                <a16:creationId xmlns:a16="http://schemas.microsoft.com/office/drawing/2014/main" id="{A6231CBE-16F2-0CA4-912F-B56E0373EC55}"/>
              </a:ext>
            </a:extLst>
          </p:cNvPr>
          <p:cNvSpPr/>
          <p:nvPr/>
        </p:nvSpPr>
        <p:spPr>
          <a:xfrm>
            <a:off x="4865339" y="3440887"/>
            <a:ext cx="932688" cy="2450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854D0E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33.2%</a:t>
            </a:r>
            <a:endParaRPr lang="en-US" sz="850" dirty="0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614" name="Shape 132">
            <a:extLst>
              <a:ext uri="{FF2B5EF4-FFF2-40B4-BE49-F238E27FC236}">
                <a16:creationId xmlns:a16="http://schemas.microsoft.com/office/drawing/2014/main" id="{823CBDBA-122A-B6B2-610F-BB0AE2EE665E}"/>
              </a:ext>
            </a:extLst>
          </p:cNvPr>
          <p:cNvSpPr/>
          <p:nvPr/>
        </p:nvSpPr>
        <p:spPr>
          <a:xfrm>
            <a:off x="5857463" y="3477463"/>
            <a:ext cx="1168698" cy="171907"/>
          </a:xfrm>
          <a:prstGeom prst="rect">
            <a:avLst/>
          </a:prstGeom>
          <a:solidFill>
            <a:srgbClr val="FEF9C3"/>
          </a:solidFill>
          <a:ln w="12700">
            <a:solidFill>
              <a:srgbClr val="D1D9E6"/>
            </a:solidFill>
            <a:prstDash val="solid"/>
          </a:ln>
        </p:spPr>
        <p:txBody>
          <a:bodyPr/>
          <a:lstStyle/>
          <a:p>
            <a:endParaRPr lang="ko-KR" altLang="en-US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615" name="Text 133">
            <a:extLst>
              <a:ext uri="{FF2B5EF4-FFF2-40B4-BE49-F238E27FC236}">
                <a16:creationId xmlns:a16="http://schemas.microsoft.com/office/drawing/2014/main" id="{DE4C8D09-6557-D89E-A91B-613E56250760}"/>
              </a:ext>
            </a:extLst>
          </p:cNvPr>
          <p:cNvSpPr/>
          <p:nvPr/>
        </p:nvSpPr>
        <p:spPr>
          <a:xfrm>
            <a:off x="5820886" y="3440887"/>
            <a:ext cx="1220070" cy="2450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854D0E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12%</a:t>
            </a:r>
            <a:endParaRPr lang="en-US" sz="850" dirty="0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616" name="Shape 134">
            <a:extLst>
              <a:ext uri="{FF2B5EF4-FFF2-40B4-BE49-F238E27FC236}">
                <a16:creationId xmlns:a16="http://schemas.microsoft.com/office/drawing/2014/main" id="{5F11BE44-627E-01C3-37DE-BC1C44051B01}"/>
              </a:ext>
            </a:extLst>
          </p:cNvPr>
          <p:cNvSpPr/>
          <p:nvPr/>
        </p:nvSpPr>
        <p:spPr>
          <a:xfrm>
            <a:off x="464821" y="3712540"/>
            <a:ext cx="1254252" cy="245059"/>
          </a:xfrm>
          <a:prstGeom prst="rect">
            <a:avLst/>
          </a:prstGeom>
          <a:solidFill>
            <a:srgbClr val="F8FAFC"/>
          </a:solidFill>
          <a:ln w="12700">
            <a:solidFill>
              <a:srgbClr val="D1D9E6"/>
            </a:solidFill>
            <a:prstDash val="solid"/>
          </a:ln>
        </p:spPr>
        <p:txBody>
          <a:bodyPr/>
          <a:lstStyle/>
          <a:p>
            <a:endParaRPr lang="ko-KR" altLang="en-US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617" name="Shape 135">
            <a:extLst>
              <a:ext uri="{FF2B5EF4-FFF2-40B4-BE49-F238E27FC236}">
                <a16:creationId xmlns:a16="http://schemas.microsoft.com/office/drawing/2014/main" id="{5CE9D31F-8EA8-72A5-A5DD-C03477EBA1AE}"/>
              </a:ext>
            </a:extLst>
          </p:cNvPr>
          <p:cNvSpPr/>
          <p:nvPr/>
        </p:nvSpPr>
        <p:spPr>
          <a:xfrm>
            <a:off x="464821" y="3712540"/>
            <a:ext cx="45720" cy="245059"/>
          </a:xfrm>
          <a:prstGeom prst="rect">
            <a:avLst/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  <p:txBody>
          <a:bodyPr/>
          <a:lstStyle/>
          <a:p>
            <a:endParaRPr lang="ko-KR" altLang="en-US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618" name="Text 136">
            <a:extLst>
              <a:ext uri="{FF2B5EF4-FFF2-40B4-BE49-F238E27FC236}">
                <a16:creationId xmlns:a16="http://schemas.microsoft.com/office/drawing/2014/main" id="{44F2E0EA-0ED1-31D7-E205-DD615BB69A21}"/>
              </a:ext>
            </a:extLst>
          </p:cNvPr>
          <p:cNvSpPr/>
          <p:nvPr/>
        </p:nvSpPr>
        <p:spPr>
          <a:xfrm>
            <a:off x="574549" y="3712540"/>
            <a:ext cx="964691" cy="2450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20" b="1" dirty="0">
                <a:solidFill>
                  <a:srgbClr val="1B3A6B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모바일(WES)</a:t>
            </a:r>
            <a:endParaRPr lang="en-US" sz="820" dirty="0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619" name="Shape 137">
            <a:extLst>
              <a:ext uri="{FF2B5EF4-FFF2-40B4-BE49-F238E27FC236}">
                <a16:creationId xmlns:a16="http://schemas.microsoft.com/office/drawing/2014/main" id="{03FF0390-2818-FD71-C1CE-394EE77ECFB5}"/>
              </a:ext>
            </a:extLst>
          </p:cNvPr>
          <p:cNvSpPr/>
          <p:nvPr/>
        </p:nvSpPr>
        <p:spPr>
          <a:xfrm>
            <a:off x="1802893" y="3722522"/>
            <a:ext cx="1028672" cy="171907"/>
          </a:xfrm>
          <a:prstGeom prst="rect">
            <a:avLst/>
          </a:prstGeom>
          <a:solidFill>
            <a:srgbClr val="FEF9C3"/>
          </a:solidFill>
          <a:ln w="12700">
            <a:solidFill>
              <a:srgbClr val="D1D9E6"/>
            </a:solidFill>
            <a:prstDash val="solid"/>
          </a:ln>
        </p:spPr>
        <p:txBody>
          <a:bodyPr/>
          <a:lstStyle/>
          <a:p>
            <a:endParaRPr lang="ko-KR" altLang="en-US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620" name="Text 138">
            <a:extLst>
              <a:ext uri="{FF2B5EF4-FFF2-40B4-BE49-F238E27FC236}">
                <a16:creationId xmlns:a16="http://schemas.microsoft.com/office/drawing/2014/main" id="{B24942C1-0E5B-2721-9559-35D312C9B483}"/>
              </a:ext>
            </a:extLst>
          </p:cNvPr>
          <p:cNvSpPr/>
          <p:nvPr/>
        </p:nvSpPr>
        <p:spPr>
          <a:xfrm>
            <a:off x="1766317" y="3685946"/>
            <a:ext cx="1091016" cy="2450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854D0E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105%</a:t>
            </a:r>
            <a:endParaRPr lang="en-US" sz="850" dirty="0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621" name="Shape 139">
            <a:extLst>
              <a:ext uri="{FF2B5EF4-FFF2-40B4-BE49-F238E27FC236}">
                <a16:creationId xmlns:a16="http://schemas.microsoft.com/office/drawing/2014/main" id="{344707BF-2C13-1C5C-6B2B-EA53D9EEEB46}"/>
              </a:ext>
            </a:extLst>
          </p:cNvPr>
          <p:cNvSpPr/>
          <p:nvPr/>
        </p:nvSpPr>
        <p:spPr>
          <a:xfrm>
            <a:off x="2914618" y="3722522"/>
            <a:ext cx="942865" cy="171907"/>
          </a:xfrm>
          <a:prstGeom prst="rect">
            <a:avLst/>
          </a:prstGeom>
          <a:solidFill>
            <a:srgbClr val="D1FAE5"/>
          </a:solidFill>
          <a:ln w="12700">
            <a:solidFill>
              <a:srgbClr val="D1D9E6"/>
            </a:solidFill>
            <a:prstDash val="solid"/>
          </a:ln>
        </p:spPr>
        <p:txBody>
          <a:bodyPr/>
          <a:lstStyle/>
          <a:p>
            <a:endParaRPr lang="ko-KR" altLang="en-US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622" name="Text 140">
            <a:extLst>
              <a:ext uri="{FF2B5EF4-FFF2-40B4-BE49-F238E27FC236}">
                <a16:creationId xmlns:a16="http://schemas.microsoft.com/office/drawing/2014/main" id="{C5F4DC51-1022-0344-6BD7-89695AFEA447}"/>
              </a:ext>
            </a:extLst>
          </p:cNvPr>
          <p:cNvSpPr/>
          <p:nvPr/>
        </p:nvSpPr>
        <p:spPr>
          <a:xfrm>
            <a:off x="3064765" y="3685946"/>
            <a:ext cx="661415" cy="2450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166534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1.4</a:t>
            </a:r>
            <a:endParaRPr lang="en-US" sz="850" dirty="0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623" name="Shape 141">
            <a:extLst>
              <a:ext uri="{FF2B5EF4-FFF2-40B4-BE49-F238E27FC236}">
                <a16:creationId xmlns:a16="http://schemas.microsoft.com/office/drawing/2014/main" id="{19B0AA02-68EE-B9D4-42A5-F5A04308BF6E}"/>
              </a:ext>
            </a:extLst>
          </p:cNvPr>
          <p:cNvSpPr/>
          <p:nvPr/>
        </p:nvSpPr>
        <p:spPr>
          <a:xfrm>
            <a:off x="3938746" y="3722522"/>
            <a:ext cx="879391" cy="171907"/>
          </a:xfrm>
          <a:prstGeom prst="rect">
            <a:avLst/>
          </a:prstGeom>
          <a:solidFill>
            <a:srgbClr val="D1FAE5"/>
          </a:solidFill>
          <a:ln w="12700">
            <a:solidFill>
              <a:srgbClr val="D1D9E6"/>
            </a:solidFill>
            <a:prstDash val="solid"/>
          </a:ln>
        </p:spPr>
        <p:txBody>
          <a:bodyPr/>
          <a:lstStyle/>
          <a:p>
            <a:endParaRPr lang="ko-KR" altLang="en-US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624" name="Text 142">
            <a:extLst>
              <a:ext uri="{FF2B5EF4-FFF2-40B4-BE49-F238E27FC236}">
                <a16:creationId xmlns:a16="http://schemas.microsoft.com/office/drawing/2014/main" id="{1E9F986C-8351-5FE3-47A7-FAA57BFDB5E2}"/>
              </a:ext>
            </a:extLst>
          </p:cNvPr>
          <p:cNvSpPr/>
          <p:nvPr/>
        </p:nvSpPr>
        <p:spPr>
          <a:xfrm>
            <a:off x="3902171" y="3685946"/>
            <a:ext cx="932688" cy="2450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166534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70%</a:t>
            </a:r>
            <a:endParaRPr lang="en-US" sz="850" dirty="0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625" name="Shape 143">
            <a:extLst>
              <a:ext uri="{FF2B5EF4-FFF2-40B4-BE49-F238E27FC236}">
                <a16:creationId xmlns:a16="http://schemas.microsoft.com/office/drawing/2014/main" id="{6B48F683-AF5B-8B98-7197-933C5A798EC2}"/>
              </a:ext>
            </a:extLst>
          </p:cNvPr>
          <p:cNvSpPr/>
          <p:nvPr/>
        </p:nvSpPr>
        <p:spPr>
          <a:xfrm>
            <a:off x="4901914" y="3722522"/>
            <a:ext cx="879391" cy="171907"/>
          </a:xfrm>
          <a:prstGeom prst="rect">
            <a:avLst/>
          </a:prstGeom>
          <a:solidFill>
            <a:srgbClr val="FEF9C3"/>
          </a:solidFill>
          <a:ln w="12700">
            <a:solidFill>
              <a:srgbClr val="D1D9E6"/>
            </a:solidFill>
            <a:prstDash val="solid"/>
          </a:ln>
        </p:spPr>
        <p:txBody>
          <a:bodyPr/>
          <a:lstStyle/>
          <a:p>
            <a:endParaRPr lang="ko-KR" altLang="en-US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626" name="Text 144">
            <a:extLst>
              <a:ext uri="{FF2B5EF4-FFF2-40B4-BE49-F238E27FC236}">
                <a16:creationId xmlns:a16="http://schemas.microsoft.com/office/drawing/2014/main" id="{38531F64-109A-67CD-3672-1A89B721A598}"/>
              </a:ext>
            </a:extLst>
          </p:cNvPr>
          <p:cNvSpPr/>
          <p:nvPr/>
        </p:nvSpPr>
        <p:spPr>
          <a:xfrm>
            <a:off x="4865339" y="3685946"/>
            <a:ext cx="932688" cy="2450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854D0E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15.1%</a:t>
            </a:r>
            <a:endParaRPr lang="en-US" sz="850" dirty="0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627" name="Shape 145">
            <a:extLst>
              <a:ext uri="{FF2B5EF4-FFF2-40B4-BE49-F238E27FC236}">
                <a16:creationId xmlns:a16="http://schemas.microsoft.com/office/drawing/2014/main" id="{7D20F57E-A7E9-5F31-0A7B-A6DEDC91FA29}"/>
              </a:ext>
            </a:extLst>
          </p:cNvPr>
          <p:cNvSpPr/>
          <p:nvPr/>
        </p:nvSpPr>
        <p:spPr>
          <a:xfrm>
            <a:off x="5857463" y="3722522"/>
            <a:ext cx="1168698" cy="171907"/>
          </a:xfrm>
          <a:prstGeom prst="rect">
            <a:avLst/>
          </a:prstGeom>
          <a:solidFill>
            <a:srgbClr val="FEF9C3"/>
          </a:solidFill>
          <a:ln w="12700">
            <a:solidFill>
              <a:srgbClr val="D1D9E6"/>
            </a:solidFill>
            <a:prstDash val="solid"/>
          </a:ln>
        </p:spPr>
        <p:txBody>
          <a:bodyPr/>
          <a:lstStyle/>
          <a:p>
            <a:endParaRPr lang="ko-KR" altLang="en-US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628" name="Text 146">
            <a:extLst>
              <a:ext uri="{FF2B5EF4-FFF2-40B4-BE49-F238E27FC236}">
                <a16:creationId xmlns:a16="http://schemas.microsoft.com/office/drawing/2014/main" id="{17E35E31-228C-3DDF-3652-D74487871C35}"/>
              </a:ext>
            </a:extLst>
          </p:cNvPr>
          <p:cNvSpPr/>
          <p:nvPr/>
        </p:nvSpPr>
        <p:spPr>
          <a:xfrm>
            <a:off x="5820886" y="3685946"/>
            <a:ext cx="1220070" cy="2450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854D0E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5.2%</a:t>
            </a:r>
            <a:endParaRPr lang="en-US" sz="850" dirty="0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629" name="Shape 147">
            <a:extLst>
              <a:ext uri="{FF2B5EF4-FFF2-40B4-BE49-F238E27FC236}">
                <a16:creationId xmlns:a16="http://schemas.microsoft.com/office/drawing/2014/main" id="{134EFD73-FD4A-827D-78CB-1CCB4C6CE2F1}"/>
              </a:ext>
            </a:extLst>
          </p:cNvPr>
          <p:cNvSpPr/>
          <p:nvPr/>
        </p:nvSpPr>
        <p:spPr>
          <a:xfrm>
            <a:off x="464821" y="3957600"/>
            <a:ext cx="1254252" cy="245059"/>
          </a:xfrm>
          <a:prstGeom prst="rect">
            <a:avLst/>
          </a:prstGeom>
          <a:solidFill>
            <a:srgbClr val="FFFFFF"/>
          </a:solidFill>
          <a:ln w="12700">
            <a:solidFill>
              <a:srgbClr val="D1D9E6"/>
            </a:solidFill>
            <a:prstDash val="solid"/>
          </a:ln>
        </p:spPr>
        <p:txBody>
          <a:bodyPr/>
          <a:lstStyle/>
          <a:p>
            <a:endParaRPr lang="ko-KR" altLang="en-US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630" name="Shape 148">
            <a:extLst>
              <a:ext uri="{FF2B5EF4-FFF2-40B4-BE49-F238E27FC236}">
                <a16:creationId xmlns:a16="http://schemas.microsoft.com/office/drawing/2014/main" id="{E0A9E6C9-59B0-4681-C009-E4283EB7FA0A}"/>
              </a:ext>
            </a:extLst>
          </p:cNvPr>
          <p:cNvSpPr/>
          <p:nvPr/>
        </p:nvSpPr>
        <p:spPr>
          <a:xfrm>
            <a:off x="464821" y="3957600"/>
            <a:ext cx="45720" cy="245059"/>
          </a:xfrm>
          <a:prstGeom prst="rect">
            <a:avLst/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  <p:txBody>
          <a:bodyPr/>
          <a:lstStyle/>
          <a:p>
            <a:endParaRPr lang="ko-KR" altLang="en-US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631" name="Text 149">
            <a:extLst>
              <a:ext uri="{FF2B5EF4-FFF2-40B4-BE49-F238E27FC236}">
                <a16:creationId xmlns:a16="http://schemas.microsoft.com/office/drawing/2014/main" id="{B8C92272-5CA2-E831-4553-69F0F8332598}"/>
              </a:ext>
            </a:extLst>
          </p:cNvPr>
          <p:cNvSpPr/>
          <p:nvPr/>
        </p:nvSpPr>
        <p:spPr>
          <a:xfrm>
            <a:off x="574549" y="3957600"/>
            <a:ext cx="964691" cy="2450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20" b="1" dirty="0">
                <a:solidFill>
                  <a:srgbClr val="1B3A6B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예측관리(PM)</a:t>
            </a:r>
            <a:endParaRPr lang="en-US" sz="820" dirty="0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632" name="Shape 150">
            <a:extLst>
              <a:ext uri="{FF2B5EF4-FFF2-40B4-BE49-F238E27FC236}">
                <a16:creationId xmlns:a16="http://schemas.microsoft.com/office/drawing/2014/main" id="{D4EE7A8B-DD7B-520B-E40D-A24BDEE0E0C6}"/>
              </a:ext>
            </a:extLst>
          </p:cNvPr>
          <p:cNvSpPr/>
          <p:nvPr/>
        </p:nvSpPr>
        <p:spPr>
          <a:xfrm>
            <a:off x="1802893" y="3967582"/>
            <a:ext cx="1028672" cy="171907"/>
          </a:xfrm>
          <a:prstGeom prst="rect">
            <a:avLst/>
          </a:prstGeom>
          <a:solidFill>
            <a:srgbClr val="FEF9C3"/>
          </a:solidFill>
          <a:ln w="12700">
            <a:solidFill>
              <a:srgbClr val="D1D9E6"/>
            </a:solidFill>
            <a:prstDash val="solid"/>
          </a:ln>
        </p:spPr>
        <p:txBody>
          <a:bodyPr/>
          <a:lstStyle/>
          <a:p>
            <a:endParaRPr lang="ko-KR" altLang="en-US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633" name="Text 151">
            <a:extLst>
              <a:ext uri="{FF2B5EF4-FFF2-40B4-BE49-F238E27FC236}">
                <a16:creationId xmlns:a16="http://schemas.microsoft.com/office/drawing/2014/main" id="{DD8D2357-044B-11D1-06E0-20C3F4797B61}"/>
              </a:ext>
            </a:extLst>
          </p:cNvPr>
          <p:cNvSpPr/>
          <p:nvPr/>
        </p:nvSpPr>
        <p:spPr>
          <a:xfrm>
            <a:off x="1766317" y="3931006"/>
            <a:ext cx="1091016" cy="2450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854D0E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124%</a:t>
            </a:r>
            <a:endParaRPr lang="en-US" sz="850" dirty="0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634" name="Shape 152">
            <a:extLst>
              <a:ext uri="{FF2B5EF4-FFF2-40B4-BE49-F238E27FC236}">
                <a16:creationId xmlns:a16="http://schemas.microsoft.com/office/drawing/2014/main" id="{72EE1A36-3A5A-A849-D306-120977512FB5}"/>
              </a:ext>
            </a:extLst>
          </p:cNvPr>
          <p:cNvSpPr/>
          <p:nvPr/>
        </p:nvSpPr>
        <p:spPr>
          <a:xfrm>
            <a:off x="2914618" y="3967582"/>
            <a:ext cx="942865" cy="171907"/>
          </a:xfrm>
          <a:prstGeom prst="rect">
            <a:avLst/>
          </a:prstGeom>
          <a:solidFill>
            <a:srgbClr val="FEF9C3"/>
          </a:solidFill>
          <a:ln w="12700">
            <a:solidFill>
              <a:srgbClr val="D1D9E6"/>
            </a:solidFill>
            <a:prstDash val="solid"/>
          </a:ln>
        </p:spPr>
        <p:txBody>
          <a:bodyPr/>
          <a:lstStyle/>
          <a:p>
            <a:endParaRPr lang="ko-KR" altLang="en-US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635" name="Text 153">
            <a:extLst>
              <a:ext uri="{FF2B5EF4-FFF2-40B4-BE49-F238E27FC236}">
                <a16:creationId xmlns:a16="http://schemas.microsoft.com/office/drawing/2014/main" id="{3D49658F-B5D4-9077-1AAD-283F74C56163}"/>
              </a:ext>
            </a:extLst>
          </p:cNvPr>
          <p:cNvSpPr/>
          <p:nvPr/>
        </p:nvSpPr>
        <p:spPr>
          <a:xfrm>
            <a:off x="3064765" y="3931006"/>
            <a:ext cx="661415" cy="2450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854D0E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1.9</a:t>
            </a:r>
            <a:endParaRPr lang="en-US" sz="850" dirty="0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636" name="Shape 154">
            <a:extLst>
              <a:ext uri="{FF2B5EF4-FFF2-40B4-BE49-F238E27FC236}">
                <a16:creationId xmlns:a16="http://schemas.microsoft.com/office/drawing/2014/main" id="{7661EA79-DF75-5A44-9B61-76EA9BC00E47}"/>
              </a:ext>
            </a:extLst>
          </p:cNvPr>
          <p:cNvSpPr/>
          <p:nvPr/>
        </p:nvSpPr>
        <p:spPr>
          <a:xfrm>
            <a:off x="3938746" y="3967582"/>
            <a:ext cx="879391" cy="171907"/>
          </a:xfrm>
          <a:prstGeom prst="rect">
            <a:avLst/>
          </a:prstGeom>
          <a:solidFill>
            <a:srgbClr val="FEF9C3"/>
          </a:solidFill>
          <a:ln w="12700">
            <a:solidFill>
              <a:srgbClr val="D1D9E6"/>
            </a:solidFill>
            <a:prstDash val="solid"/>
          </a:ln>
        </p:spPr>
        <p:txBody>
          <a:bodyPr/>
          <a:lstStyle/>
          <a:p>
            <a:endParaRPr lang="ko-KR" altLang="en-US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637" name="Text 155">
            <a:extLst>
              <a:ext uri="{FF2B5EF4-FFF2-40B4-BE49-F238E27FC236}">
                <a16:creationId xmlns:a16="http://schemas.microsoft.com/office/drawing/2014/main" id="{FC128C33-AF34-232C-7407-8AC5F9034FE5}"/>
              </a:ext>
            </a:extLst>
          </p:cNvPr>
          <p:cNvSpPr/>
          <p:nvPr/>
        </p:nvSpPr>
        <p:spPr>
          <a:xfrm>
            <a:off x="3902171" y="3931006"/>
            <a:ext cx="932688" cy="2450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854D0E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51%</a:t>
            </a:r>
            <a:endParaRPr lang="en-US" sz="850" dirty="0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638" name="Shape 156">
            <a:extLst>
              <a:ext uri="{FF2B5EF4-FFF2-40B4-BE49-F238E27FC236}">
                <a16:creationId xmlns:a16="http://schemas.microsoft.com/office/drawing/2014/main" id="{1075EE9C-375C-5E4A-56DA-E0A328093E60}"/>
              </a:ext>
            </a:extLst>
          </p:cNvPr>
          <p:cNvSpPr/>
          <p:nvPr/>
        </p:nvSpPr>
        <p:spPr>
          <a:xfrm>
            <a:off x="4901914" y="3967582"/>
            <a:ext cx="879391" cy="171907"/>
          </a:xfrm>
          <a:prstGeom prst="rect">
            <a:avLst/>
          </a:prstGeom>
          <a:solidFill>
            <a:srgbClr val="D1FAE5"/>
          </a:solidFill>
          <a:ln w="12700">
            <a:solidFill>
              <a:srgbClr val="D1D9E6"/>
            </a:solidFill>
            <a:prstDash val="solid"/>
          </a:ln>
        </p:spPr>
        <p:txBody>
          <a:bodyPr/>
          <a:lstStyle/>
          <a:p>
            <a:endParaRPr lang="ko-KR" altLang="en-US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639" name="Text 157">
            <a:extLst>
              <a:ext uri="{FF2B5EF4-FFF2-40B4-BE49-F238E27FC236}">
                <a16:creationId xmlns:a16="http://schemas.microsoft.com/office/drawing/2014/main" id="{8034E479-AD08-C145-38EF-069E12E36E9B}"/>
              </a:ext>
            </a:extLst>
          </p:cNvPr>
          <p:cNvSpPr/>
          <p:nvPr/>
        </p:nvSpPr>
        <p:spPr>
          <a:xfrm>
            <a:off x="4865339" y="3931006"/>
            <a:ext cx="932688" cy="2450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166534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4.3%</a:t>
            </a:r>
            <a:endParaRPr lang="en-US" sz="850" dirty="0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640" name="Shape 158">
            <a:extLst>
              <a:ext uri="{FF2B5EF4-FFF2-40B4-BE49-F238E27FC236}">
                <a16:creationId xmlns:a16="http://schemas.microsoft.com/office/drawing/2014/main" id="{C0E07C34-4CC6-7B52-2008-7E91C9A07166}"/>
              </a:ext>
            </a:extLst>
          </p:cNvPr>
          <p:cNvSpPr/>
          <p:nvPr/>
        </p:nvSpPr>
        <p:spPr>
          <a:xfrm>
            <a:off x="5857463" y="3967582"/>
            <a:ext cx="1168698" cy="171907"/>
          </a:xfrm>
          <a:prstGeom prst="rect">
            <a:avLst/>
          </a:prstGeom>
          <a:solidFill>
            <a:srgbClr val="FED7AA"/>
          </a:solidFill>
          <a:ln w="12700">
            <a:solidFill>
              <a:srgbClr val="D1D9E6"/>
            </a:solidFill>
            <a:prstDash val="solid"/>
          </a:ln>
        </p:spPr>
        <p:txBody>
          <a:bodyPr/>
          <a:lstStyle/>
          <a:p>
            <a:endParaRPr lang="ko-KR" altLang="en-US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641" name="Text 159">
            <a:extLst>
              <a:ext uri="{FF2B5EF4-FFF2-40B4-BE49-F238E27FC236}">
                <a16:creationId xmlns:a16="http://schemas.microsoft.com/office/drawing/2014/main" id="{F10A220F-A822-944F-95BD-867746522A4F}"/>
              </a:ext>
            </a:extLst>
          </p:cNvPr>
          <p:cNvSpPr/>
          <p:nvPr/>
        </p:nvSpPr>
        <p:spPr>
          <a:xfrm>
            <a:off x="5820886" y="3931006"/>
            <a:ext cx="1220070" cy="2450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9A3412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13%</a:t>
            </a:r>
            <a:endParaRPr lang="en-US" sz="850" dirty="0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642" name="Shape 160">
            <a:extLst>
              <a:ext uri="{FF2B5EF4-FFF2-40B4-BE49-F238E27FC236}">
                <a16:creationId xmlns:a16="http://schemas.microsoft.com/office/drawing/2014/main" id="{9C2A583C-5358-F9A3-87D6-3B4EFF9FE067}"/>
              </a:ext>
            </a:extLst>
          </p:cNvPr>
          <p:cNvSpPr/>
          <p:nvPr/>
        </p:nvSpPr>
        <p:spPr>
          <a:xfrm>
            <a:off x="464821" y="4202659"/>
            <a:ext cx="1254252" cy="245059"/>
          </a:xfrm>
          <a:prstGeom prst="rect">
            <a:avLst/>
          </a:prstGeom>
          <a:solidFill>
            <a:srgbClr val="F8FAFC"/>
          </a:solidFill>
          <a:ln w="12700">
            <a:solidFill>
              <a:srgbClr val="D1D9E6"/>
            </a:solidFill>
            <a:prstDash val="solid"/>
          </a:ln>
        </p:spPr>
        <p:txBody>
          <a:bodyPr/>
          <a:lstStyle/>
          <a:p>
            <a:endParaRPr lang="ko-KR" altLang="en-US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643" name="Shape 161">
            <a:extLst>
              <a:ext uri="{FF2B5EF4-FFF2-40B4-BE49-F238E27FC236}">
                <a16:creationId xmlns:a16="http://schemas.microsoft.com/office/drawing/2014/main" id="{AA2FF3CF-4C9A-91BA-2D09-A7AE3877A6C2}"/>
              </a:ext>
            </a:extLst>
          </p:cNvPr>
          <p:cNvSpPr/>
          <p:nvPr/>
        </p:nvSpPr>
        <p:spPr>
          <a:xfrm>
            <a:off x="464821" y="4202659"/>
            <a:ext cx="45720" cy="245059"/>
          </a:xfrm>
          <a:prstGeom prst="rect">
            <a:avLst/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  <p:txBody>
          <a:bodyPr/>
          <a:lstStyle/>
          <a:p>
            <a:endParaRPr lang="ko-KR" altLang="en-US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644" name="Text 162">
            <a:extLst>
              <a:ext uri="{FF2B5EF4-FFF2-40B4-BE49-F238E27FC236}">
                <a16:creationId xmlns:a16="http://schemas.microsoft.com/office/drawing/2014/main" id="{10C141DC-52D6-736F-FCEB-493E59775930}"/>
              </a:ext>
            </a:extLst>
          </p:cNvPr>
          <p:cNvSpPr/>
          <p:nvPr/>
        </p:nvSpPr>
        <p:spPr>
          <a:xfrm>
            <a:off x="574549" y="4202659"/>
            <a:ext cx="964691" cy="2450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20" b="1" dirty="0">
                <a:solidFill>
                  <a:srgbClr val="1B3A6B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항공통계포털(AS)</a:t>
            </a:r>
            <a:endParaRPr lang="en-US" sz="820" dirty="0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645" name="Shape 163">
            <a:extLst>
              <a:ext uri="{FF2B5EF4-FFF2-40B4-BE49-F238E27FC236}">
                <a16:creationId xmlns:a16="http://schemas.microsoft.com/office/drawing/2014/main" id="{3C475919-9394-F131-CC23-420F472F12A3}"/>
              </a:ext>
            </a:extLst>
          </p:cNvPr>
          <p:cNvSpPr/>
          <p:nvPr/>
        </p:nvSpPr>
        <p:spPr>
          <a:xfrm>
            <a:off x="1802893" y="4212641"/>
            <a:ext cx="1028672" cy="171907"/>
          </a:xfrm>
          <a:prstGeom prst="rect">
            <a:avLst/>
          </a:prstGeom>
          <a:solidFill>
            <a:srgbClr val="FEF9C3"/>
          </a:solidFill>
          <a:ln w="12700">
            <a:solidFill>
              <a:srgbClr val="D1D9E6"/>
            </a:solidFill>
            <a:prstDash val="solid"/>
          </a:ln>
        </p:spPr>
        <p:txBody>
          <a:bodyPr/>
          <a:lstStyle/>
          <a:p>
            <a:endParaRPr lang="ko-KR" altLang="en-US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646" name="Text 164">
            <a:extLst>
              <a:ext uri="{FF2B5EF4-FFF2-40B4-BE49-F238E27FC236}">
                <a16:creationId xmlns:a16="http://schemas.microsoft.com/office/drawing/2014/main" id="{D2B7256C-1C6D-AC0F-DAF9-9C6B8FCF1009}"/>
              </a:ext>
            </a:extLst>
          </p:cNvPr>
          <p:cNvSpPr/>
          <p:nvPr/>
        </p:nvSpPr>
        <p:spPr>
          <a:xfrm>
            <a:off x="1766317" y="4176065"/>
            <a:ext cx="1091016" cy="2450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854D0E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103%</a:t>
            </a:r>
            <a:endParaRPr lang="en-US" sz="850" dirty="0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647" name="Shape 165">
            <a:extLst>
              <a:ext uri="{FF2B5EF4-FFF2-40B4-BE49-F238E27FC236}">
                <a16:creationId xmlns:a16="http://schemas.microsoft.com/office/drawing/2014/main" id="{301F3266-3639-FB75-0677-F4BB3A7AB449}"/>
              </a:ext>
            </a:extLst>
          </p:cNvPr>
          <p:cNvSpPr/>
          <p:nvPr/>
        </p:nvSpPr>
        <p:spPr>
          <a:xfrm>
            <a:off x="2914618" y="4212641"/>
            <a:ext cx="942865" cy="171907"/>
          </a:xfrm>
          <a:prstGeom prst="rect">
            <a:avLst/>
          </a:prstGeom>
          <a:solidFill>
            <a:srgbClr val="D1FAE5"/>
          </a:solidFill>
          <a:ln w="12700">
            <a:solidFill>
              <a:srgbClr val="D1D9E6"/>
            </a:solidFill>
            <a:prstDash val="solid"/>
          </a:ln>
        </p:spPr>
        <p:txBody>
          <a:bodyPr/>
          <a:lstStyle/>
          <a:p>
            <a:endParaRPr lang="ko-KR" altLang="en-US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648" name="Text 166">
            <a:extLst>
              <a:ext uri="{FF2B5EF4-FFF2-40B4-BE49-F238E27FC236}">
                <a16:creationId xmlns:a16="http://schemas.microsoft.com/office/drawing/2014/main" id="{D0042C15-D656-E50A-9F54-A032F6E08F07}"/>
              </a:ext>
            </a:extLst>
          </p:cNvPr>
          <p:cNvSpPr/>
          <p:nvPr/>
        </p:nvSpPr>
        <p:spPr>
          <a:xfrm>
            <a:off x="3064765" y="4176065"/>
            <a:ext cx="661415" cy="2450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166534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1.6</a:t>
            </a:r>
            <a:endParaRPr lang="en-US" sz="850" dirty="0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649" name="Shape 167">
            <a:extLst>
              <a:ext uri="{FF2B5EF4-FFF2-40B4-BE49-F238E27FC236}">
                <a16:creationId xmlns:a16="http://schemas.microsoft.com/office/drawing/2014/main" id="{226270D1-1519-361B-9CDC-32F9FB8346D8}"/>
              </a:ext>
            </a:extLst>
          </p:cNvPr>
          <p:cNvSpPr/>
          <p:nvPr/>
        </p:nvSpPr>
        <p:spPr>
          <a:xfrm>
            <a:off x="3938746" y="4212641"/>
            <a:ext cx="879391" cy="171907"/>
          </a:xfrm>
          <a:prstGeom prst="rect">
            <a:avLst/>
          </a:prstGeom>
          <a:solidFill>
            <a:srgbClr val="FED7AA"/>
          </a:solidFill>
          <a:ln w="12700">
            <a:solidFill>
              <a:srgbClr val="D1D9E6"/>
            </a:solidFill>
            <a:prstDash val="solid"/>
          </a:ln>
        </p:spPr>
        <p:txBody>
          <a:bodyPr/>
          <a:lstStyle/>
          <a:p>
            <a:endParaRPr lang="ko-KR" altLang="en-US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650" name="Text 168">
            <a:extLst>
              <a:ext uri="{FF2B5EF4-FFF2-40B4-BE49-F238E27FC236}">
                <a16:creationId xmlns:a16="http://schemas.microsoft.com/office/drawing/2014/main" id="{30F723A4-41C2-9CC8-0A3A-07D042915CEE}"/>
              </a:ext>
            </a:extLst>
          </p:cNvPr>
          <p:cNvSpPr/>
          <p:nvPr/>
        </p:nvSpPr>
        <p:spPr>
          <a:xfrm>
            <a:off x="3902171" y="4176065"/>
            <a:ext cx="932688" cy="2450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9A3412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38%</a:t>
            </a:r>
            <a:endParaRPr lang="en-US" sz="850" dirty="0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651" name="Shape 169">
            <a:extLst>
              <a:ext uri="{FF2B5EF4-FFF2-40B4-BE49-F238E27FC236}">
                <a16:creationId xmlns:a16="http://schemas.microsoft.com/office/drawing/2014/main" id="{62A99AAF-B968-1F53-4282-73F9FF3C6C37}"/>
              </a:ext>
            </a:extLst>
          </p:cNvPr>
          <p:cNvSpPr/>
          <p:nvPr/>
        </p:nvSpPr>
        <p:spPr>
          <a:xfrm>
            <a:off x="4901914" y="4212641"/>
            <a:ext cx="879391" cy="171907"/>
          </a:xfrm>
          <a:prstGeom prst="rect">
            <a:avLst/>
          </a:prstGeom>
          <a:solidFill>
            <a:srgbClr val="D1FAE5"/>
          </a:solidFill>
          <a:ln w="12700">
            <a:solidFill>
              <a:srgbClr val="D1D9E6"/>
            </a:solidFill>
            <a:prstDash val="solid"/>
          </a:ln>
        </p:spPr>
        <p:txBody>
          <a:bodyPr/>
          <a:lstStyle/>
          <a:p>
            <a:endParaRPr lang="ko-KR" altLang="en-US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652" name="Text 170">
            <a:extLst>
              <a:ext uri="{FF2B5EF4-FFF2-40B4-BE49-F238E27FC236}">
                <a16:creationId xmlns:a16="http://schemas.microsoft.com/office/drawing/2014/main" id="{F410A67F-70A8-E563-3337-9DEBDB9A374B}"/>
              </a:ext>
            </a:extLst>
          </p:cNvPr>
          <p:cNvSpPr/>
          <p:nvPr/>
        </p:nvSpPr>
        <p:spPr>
          <a:xfrm>
            <a:off x="4865339" y="4176065"/>
            <a:ext cx="932688" cy="2450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166534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9%</a:t>
            </a:r>
            <a:endParaRPr lang="en-US" sz="850" dirty="0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653" name="Shape 171">
            <a:extLst>
              <a:ext uri="{FF2B5EF4-FFF2-40B4-BE49-F238E27FC236}">
                <a16:creationId xmlns:a16="http://schemas.microsoft.com/office/drawing/2014/main" id="{1520776E-E330-80F2-5F3D-B2759BBFC254}"/>
              </a:ext>
            </a:extLst>
          </p:cNvPr>
          <p:cNvSpPr/>
          <p:nvPr/>
        </p:nvSpPr>
        <p:spPr>
          <a:xfrm>
            <a:off x="5857463" y="4212641"/>
            <a:ext cx="1168698" cy="171907"/>
          </a:xfrm>
          <a:prstGeom prst="rect">
            <a:avLst/>
          </a:prstGeom>
          <a:solidFill>
            <a:srgbClr val="FCAAAA"/>
          </a:solidFill>
          <a:ln w="12700">
            <a:solidFill>
              <a:srgbClr val="D1D9E6"/>
            </a:solidFill>
            <a:prstDash val="solid"/>
          </a:ln>
        </p:spPr>
        <p:txBody>
          <a:bodyPr/>
          <a:lstStyle/>
          <a:p>
            <a:endParaRPr lang="ko-KR" altLang="en-US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654" name="Text 172">
            <a:extLst>
              <a:ext uri="{FF2B5EF4-FFF2-40B4-BE49-F238E27FC236}">
                <a16:creationId xmlns:a16="http://schemas.microsoft.com/office/drawing/2014/main" id="{AB77A810-A9B2-E93C-E690-AB238CD01831}"/>
              </a:ext>
            </a:extLst>
          </p:cNvPr>
          <p:cNvSpPr/>
          <p:nvPr/>
        </p:nvSpPr>
        <p:spPr>
          <a:xfrm>
            <a:off x="5820886" y="4176065"/>
            <a:ext cx="1220070" cy="2450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991B1B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52.5%</a:t>
            </a:r>
            <a:endParaRPr lang="en-US" sz="850" dirty="0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655" name="Shape 173">
            <a:extLst>
              <a:ext uri="{FF2B5EF4-FFF2-40B4-BE49-F238E27FC236}">
                <a16:creationId xmlns:a16="http://schemas.microsoft.com/office/drawing/2014/main" id="{9860D51F-8326-1DAF-A529-DA1C7CD8C987}"/>
              </a:ext>
            </a:extLst>
          </p:cNvPr>
          <p:cNvSpPr/>
          <p:nvPr/>
        </p:nvSpPr>
        <p:spPr>
          <a:xfrm>
            <a:off x="464821" y="4447718"/>
            <a:ext cx="1254252" cy="245059"/>
          </a:xfrm>
          <a:prstGeom prst="rect">
            <a:avLst/>
          </a:prstGeom>
          <a:solidFill>
            <a:srgbClr val="FFFFFF"/>
          </a:solidFill>
          <a:ln w="12700">
            <a:solidFill>
              <a:srgbClr val="D1D9E6"/>
            </a:solidFill>
            <a:prstDash val="solid"/>
          </a:ln>
        </p:spPr>
        <p:txBody>
          <a:bodyPr/>
          <a:lstStyle/>
          <a:p>
            <a:endParaRPr lang="ko-KR" altLang="en-US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656" name="Shape 174">
            <a:extLst>
              <a:ext uri="{FF2B5EF4-FFF2-40B4-BE49-F238E27FC236}">
                <a16:creationId xmlns:a16="http://schemas.microsoft.com/office/drawing/2014/main" id="{BA0798DC-63B9-ADA8-75E4-A50D02EBEB30}"/>
              </a:ext>
            </a:extLst>
          </p:cNvPr>
          <p:cNvSpPr/>
          <p:nvPr/>
        </p:nvSpPr>
        <p:spPr>
          <a:xfrm>
            <a:off x="464821" y="4447718"/>
            <a:ext cx="45720" cy="245059"/>
          </a:xfrm>
          <a:prstGeom prst="rect">
            <a:avLst/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  <p:txBody>
          <a:bodyPr/>
          <a:lstStyle/>
          <a:p>
            <a:endParaRPr lang="ko-KR" altLang="en-US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657" name="Text 175">
            <a:extLst>
              <a:ext uri="{FF2B5EF4-FFF2-40B4-BE49-F238E27FC236}">
                <a16:creationId xmlns:a16="http://schemas.microsoft.com/office/drawing/2014/main" id="{2F12BBEF-05A0-71CE-14D2-E08F17F4AB1C}"/>
              </a:ext>
            </a:extLst>
          </p:cNvPr>
          <p:cNvSpPr/>
          <p:nvPr/>
        </p:nvSpPr>
        <p:spPr>
          <a:xfrm>
            <a:off x="574549" y="4447718"/>
            <a:ext cx="964691" cy="2450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20" b="1" dirty="0">
                <a:solidFill>
                  <a:srgbClr val="1B3A6B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A-CDM(CM)</a:t>
            </a:r>
            <a:endParaRPr lang="en-US" sz="820" dirty="0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658" name="Shape 176">
            <a:extLst>
              <a:ext uri="{FF2B5EF4-FFF2-40B4-BE49-F238E27FC236}">
                <a16:creationId xmlns:a16="http://schemas.microsoft.com/office/drawing/2014/main" id="{1B2D0DFF-BDA1-4A4F-E571-908743BDEE61}"/>
              </a:ext>
            </a:extLst>
          </p:cNvPr>
          <p:cNvSpPr/>
          <p:nvPr/>
        </p:nvSpPr>
        <p:spPr>
          <a:xfrm>
            <a:off x="1802893" y="4457700"/>
            <a:ext cx="1028672" cy="171907"/>
          </a:xfrm>
          <a:prstGeom prst="rect">
            <a:avLst/>
          </a:prstGeom>
          <a:solidFill>
            <a:srgbClr val="FEF9C3"/>
          </a:solidFill>
          <a:ln w="12700">
            <a:solidFill>
              <a:srgbClr val="D1D9E6"/>
            </a:solidFill>
            <a:prstDash val="solid"/>
          </a:ln>
        </p:spPr>
        <p:txBody>
          <a:bodyPr/>
          <a:lstStyle/>
          <a:p>
            <a:endParaRPr lang="ko-KR" altLang="en-US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659" name="Text 177">
            <a:extLst>
              <a:ext uri="{FF2B5EF4-FFF2-40B4-BE49-F238E27FC236}">
                <a16:creationId xmlns:a16="http://schemas.microsoft.com/office/drawing/2014/main" id="{75CE3440-9E7D-F5D5-559A-2E372769DD04}"/>
              </a:ext>
            </a:extLst>
          </p:cNvPr>
          <p:cNvSpPr/>
          <p:nvPr/>
        </p:nvSpPr>
        <p:spPr>
          <a:xfrm>
            <a:off x="1766317" y="4421124"/>
            <a:ext cx="1091016" cy="2450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854D0E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88%</a:t>
            </a:r>
            <a:endParaRPr lang="en-US" sz="850" dirty="0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660" name="Shape 178">
            <a:extLst>
              <a:ext uri="{FF2B5EF4-FFF2-40B4-BE49-F238E27FC236}">
                <a16:creationId xmlns:a16="http://schemas.microsoft.com/office/drawing/2014/main" id="{517BFF1F-B528-548B-5347-F55F7538D88B}"/>
              </a:ext>
            </a:extLst>
          </p:cNvPr>
          <p:cNvSpPr/>
          <p:nvPr/>
        </p:nvSpPr>
        <p:spPr>
          <a:xfrm>
            <a:off x="2914618" y="4457700"/>
            <a:ext cx="942865" cy="171907"/>
          </a:xfrm>
          <a:prstGeom prst="rect">
            <a:avLst/>
          </a:prstGeom>
          <a:solidFill>
            <a:srgbClr val="D1FAE5"/>
          </a:solidFill>
          <a:ln w="12700">
            <a:solidFill>
              <a:srgbClr val="D1D9E6"/>
            </a:solidFill>
            <a:prstDash val="solid"/>
          </a:ln>
        </p:spPr>
        <p:txBody>
          <a:bodyPr/>
          <a:lstStyle/>
          <a:p>
            <a:endParaRPr lang="ko-KR" altLang="en-US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661" name="Text 179">
            <a:extLst>
              <a:ext uri="{FF2B5EF4-FFF2-40B4-BE49-F238E27FC236}">
                <a16:creationId xmlns:a16="http://schemas.microsoft.com/office/drawing/2014/main" id="{C5464EAA-38FE-A053-2A20-DD8189F235CF}"/>
              </a:ext>
            </a:extLst>
          </p:cNvPr>
          <p:cNvSpPr/>
          <p:nvPr/>
        </p:nvSpPr>
        <p:spPr>
          <a:xfrm>
            <a:off x="3064765" y="4421124"/>
            <a:ext cx="661415" cy="2450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166534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1.8</a:t>
            </a:r>
            <a:endParaRPr lang="en-US" sz="850" dirty="0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662" name="Shape 180">
            <a:extLst>
              <a:ext uri="{FF2B5EF4-FFF2-40B4-BE49-F238E27FC236}">
                <a16:creationId xmlns:a16="http://schemas.microsoft.com/office/drawing/2014/main" id="{45AB5930-8945-E69F-45FC-B122E9D1C0C7}"/>
              </a:ext>
            </a:extLst>
          </p:cNvPr>
          <p:cNvSpPr/>
          <p:nvPr/>
        </p:nvSpPr>
        <p:spPr>
          <a:xfrm>
            <a:off x="3938746" y="4457700"/>
            <a:ext cx="879391" cy="171907"/>
          </a:xfrm>
          <a:prstGeom prst="rect">
            <a:avLst/>
          </a:prstGeom>
          <a:solidFill>
            <a:srgbClr val="FEF9C3"/>
          </a:solidFill>
          <a:ln w="12700">
            <a:solidFill>
              <a:srgbClr val="D1D9E6"/>
            </a:solidFill>
            <a:prstDash val="solid"/>
          </a:ln>
        </p:spPr>
        <p:txBody>
          <a:bodyPr/>
          <a:lstStyle/>
          <a:p>
            <a:endParaRPr lang="ko-KR" altLang="en-US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663" name="Text 181">
            <a:extLst>
              <a:ext uri="{FF2B5EF4-FFF2-40B4-BE49-F238E27FC236}">
                <a16:creationId xmlns:a16="http://schemas.microsoft.com/office/drawing/2014/main" id="{6E717DFF-0E33-F5FA-139B-B7D79ECCA17D}"/>
              </a:ext>
            </a:extLst>
          </p:cNvPr>
          <p:cNvSpPr/>
          <p:nvPr/>
        </p:nvSpPr>
        <p:spPr>
          <a:xfrm>
            <a:off x="3902171" y="4421124"/>
            <a:ext cx="932688" cy="2450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854D0E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58%</a:t>
            </a:r>
            <a:endParaRPr lang="en-US" sz="850" dirty="0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664" name="Shape 182">
            <a:extLst>
              <a:ext uri="{FF2B5EF4-FFF2-40B4-BE49-F238E27FC236}">
                <a16:creationId xmlns:a16="http://schemas.microsoft.com/office/drawing/2014/main" id="{C23F7CF6-BBD5-D46C-8395-CC5999BD8181}"/>
              </a:ext>
            </a:extLst>
          </p:cNvPr>
          <p:cNvSpPr/>
          <p:nvPr/>
        </p:nvSpPr>
        <p:spPr>
          <a:xfrm>
            <a:off x="4901914" y="4457700"/>
            <a:ext cx="879391" cy="171907"/>
          </a:xfrm>
          <a:prstGeom prst="rect">
            <a:avLst/>
          </a:prstGeom>
          <a:solidFill>
            <a:srgbClr val="FEF9C3"/>
          </a:solidFill>
          <a:ln w="12700">
            <a:solidFill>
              <a:srgbClr val="D1D9E6"/>
            </a:solidFill>
            <a:prstDash val="solid"/>
          </a:ln>
        </p:spPr>
        <p:txBody>
          <a:bodyPr/>
          <a:lstStyle/>
          <a:p>
            <a:endParaRPr lang="ko-KR" altLang="en-US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665" name="Text 183">
            <a:extLst>
              <a:ext uri="{FF2B5EF4-FFF2-40B4-BE49-F238E27FC236}">
                <a16:creationId xmlns:a16="http://schemas.microsoft.com/office/drawing/2014/main" id="{E0CFDC49-8756-FC59-AD24-098B79331529}"/>
              </a:ext>
            </a:extLst>
          </p:cNvPr>
          <p:cNvSpPr/>
          <p:nvPr/>
        </p:nvSpPr>
        <p:spPr>
          <a:xfrm>
            <a:off x="4865339" y="4421124"/>
            <a:ext cx="932688" cy="2450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854D0E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18.9%</a:t>
            </a:r>
            <a:endParaRPr lang="en-US" sz="850" dirty="0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666" name="Shape 184">
            <a:extLst>
              <a:ext uri="{FF2B5EF4-FFF2-40B4-BE49-F238E27FC236}">
                <a16:creationId xmlns:a16="http://schemas.microsoft.com/office/drawing/2014/main" id="{6F300BB1-AA9E-35C6-7ADC-FC74B2D649FC}"/>
              </a:ext>
            </a:extLst>
          </p:cNvPr>
          <p:cNvSpPr/>
          <p:nvPr/>
        </p:nvSpPr>
        <p:spPr>
          <a:xfrm>
            <a:off x="5857463" y="4457700"/>
            <a:ext cx="1168698" cy="171907"/>
          </a:xfrm>
          <a:prstGeom prst="rect">
            <a:avLst/>
          </a:prstGeom>
          <a:solidFill>
            <a:srgbClr val="FEF9C3"/>
          </a:solidFill>
          <a:ln w="12700">
            <a:solidFill>
              <a:srgbClr val="D1D9E6"/>
            </a:solidFill>
            <a:prstDash val="solid"/>
          </a:ln>
        </p:spPr>
        <p:txBody>
          <a:bodyPr/>
          <a:lstStyle/>
          <a:p>
            <a:endParaRPr lang="ko-KR" altLang="en-US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667" name="Text 185">
            <a:extLst>
              <a:ext uri="{FF2B5EF4-FFF2-40B4-BE49-F238E27FC236}">
                <a16:creationId xmlns:a16="http://schemas.microsoft.com/office/drawing/2014/main" id="{A41C2397-78ED-6F02-5F20-6CEAF8C98C3D}"/>
              </a:ext>
            </a:extLst>
          </p:cNvPr>
          <p:cNvSpPr/>
          <p:nvPr/>
        </p:nvSpPr>
        <p:spPr>
          <a:xfrm>
            <a:off x="5820886" y="4421124"/>
            <a:ext cx="1220070" cy="2450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854D0E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10.7%</a:t>
            </a:r>
            <a:endParaRPr lang="en-US" sz="850" dirty="0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668" name="Text 14">
            <a:extLst>
              <a:ext uri="{FF2B5EF4-FFF2-40B4-BE49-F238E27FC236}">
                <a16:creationId xmlns:a16="http://schemas.microsoft.com/office/drawing/2014/main" id="{489256A2-430D-6655-7903-EB8A6DBAAAD8}"/>
              </a:ext>
            </a:extLst>
          </p:cNvPr>
          <p:cNvSpPr/>
          <p:nvPr/>
        </p:nvSpPr>
        <p:spPr>
          <a:xfrm>
            <a:off x="2255520" y="1374648"/>
            <a:ext cx="118491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20" dirty="0">
                <a:solidFill>
                  <a:srgbClr val="4B5563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기능×3+데이터×2.5 +UI×1</a:t>
            </a:r>
          </a:p>
          <a:p>
            <a:pPr marL="0" indent="0">
              <a:buNone/>
            </a:pPr>
            <a:r>
              <a:rPr lang="en-US" sz="720" dirty="0">
                <a:solidFill>
                  <a:srgbClr val="4B5563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                             ÷</a:t>
            </a:r>
            <a:r>
              <a:rPr lang="en-US" sz="720" dirty="0" err="1">
                <a:solidFill>
                  <a:srgbClr val="4B5563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시나리오</a:t>
            </a:r>
            <a:endParaRPr lang="en-US" sz="720" dirty="0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0" name="Chart 0"/>
          <p:cNvGraphicFramePr/>
          <p:nvPr>
            <p:extLst>
              <p:ext uri="{D42A27DB-BD31-4B8C-83A1-F6EECF244321}">
                <p14:modId xmlns:p14="http://schemas.microsoft.com/office/powerpoint/2010/main" val="3553398271"/>
              </p:ext>
            </p:extLst>
          </p:nvPr>
        </p:nvGraphicFramePr>
        <p:xfrm>
          <a:off x="441960" y="1025651"/>
          <a:ext cx="4511040" cy="1841501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2" name="Shape 0"/>
          <p:cNvSpPr/>
          <p:nvPr/>
        </p:nvSpPr>
        <p:spPr>
          <a:xfrm>
            <a:off x="0" y="0"/>
            <a:ext cx="9144000" cy="58420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  <p:txBody>
          <a:bodyPr/>
          <a:lstStyle/>
          <a:p>
            <a:endParaRPr lang="ko-KR" altLang="en-US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3" name="Text 1"/>
          <p:cNvSpPr/>
          <p:nvPr/>
        </p:nvSpPr>
        <p:spPr>
          <a:xfrm>
            <a:off x="320040" y="0"/>
            <a:ext cx="7680960" cy="584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ko-KR" altLang="en-US" sz="2000" b="1" dirty="0">
                <a:solidFill>
                  <a:srgbClr val="FFFFFF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주요 </a:t>
            </a:r>
            <a:r>
              <a:rPr lang="en-US" sz="2000" b="1" dirty="0" err="1">
                <a:solidFill>
                  <a:srgbClr val="FFFFFF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품질</a:t>
            </a:r>
            <a:r>
              <a:rPr lang="en-US" sz="2000" b="1" dirty="0">
                <a:solidFill>
                  <a:srgbClr val="FFFFFF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 지표 모듈별 비교 — 다차원 막대 분석</a:t>
            </a:r>
            <a:endParaRPr lang="en-US" sz="2000" dirty="0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8" name="Shape 6"/>
          <p:cNvSpPr/>
          <p:nvPr/>
        </p:nvSpPr>
        <p:spPr>
          <a:xfrm>
            <a:off x="441960" y="784860"/>
            <a:ext cx="4511040" cy="237744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95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Rix고딕 L" panose="02020603020101020101" pitchFamily="18" charset="-127"/>
                <a:ea typeface="Rix고딕 L" panose="02020603020101020101" pitchFamily="18" charset="-127"/>
                <a:cs typeface="+mn-cs"/>
              </a:rPr>
              <a:t>① </a:t>
            </a:r>
            <a:r>
              <a:rPr kumimoji="0" lang="en-US" altLang="ko-KR" sz="950" b="1" i="0" u="none" strike="noStrike" kern="1200" cap="none" spc="0" normalizeH="0" baseline="0" noProof="0" dirty="0" err="1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Rix고딕 L" panose="02020603020101020101" pitchFamily="18" charset="-127"/>
                <a:ea typeface="Rix고딕 L" panose="02020603020101020101" pitchFamily="18" charset="-127"/>
                <a:cs typeface="+mn-cs"/>
              </a:rPr>
              <a:t>실질</a:t>
            </a:r>
            <a:r>
              <a:rPr kumimoji="0" lang="en-US" altLang="ko-KR" sz="95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Rix고딕 L" panose="02020603020101020101" pitchFamily="18" charset="-127"/>
                <a:ea typeface="Rix고딕 L" panose="02020603020101020101" pitchFamily="18" charset="-127"/>
                <a:cs typeface="+mn-cs"/>
              </a:rPr>
              <a:t> </a:t>
            </a:r>
            <a:r>
              <a:rPr kumimoji="0" lang="en-US" altLang="ko-KR" sz="950" b="1" i="0" u="none" strike="noStrike" kern="1200" cap="none" spc="0" normalizeH="0" baseline="0" noProof="0" dirty="0" err="1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Rix고딕 L" panose="02020603020101020101" pitchFamily="18" charset="-127"/>
                <a:ea typeface="Rix고딕 L" panose="02020603020101020101" pitchFamily="18" charset="-127"/>
                <a:cs typeface="+mn-cs"/>
              </a:rPr>
              <a:t>결함율</a:t>
            </a:r>
            <a:r>
              <a:rPr kumimoji="0" lang="en-US" altLang="ko-KR" sz="95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Rix고딕 L" panose="02020603020101020101" pitchFamily="18" charset="-127"/>
                <a:ea typeface="Rix고딕 L" panose="02020603020101020101" pitchFamily="18" charset="-127"/>
                <a:cs typeface="+mn-cs"/>
              </a:rPr>
              <a:t> (%) — </a:t>
            </a:r>
            <a:r>
              <a:rPr kumimoji="0" lang="en-US" altLang="ko-KR" sz="950" b="1" i="0" u="none" strike="noStrike" kern="1200" cap="none" spc="0" normalizeH="0" baseline="0" noProof="0" dirty="0" err="1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Rix고딕 L" panose="02020603020101020101" pitchFamily="18" charset="-127"/>
                <a:ea typeface="Rix고딕 L" panose="02020603020101020101" pitchFamily="18" charset="-127"/>
                <a:cs typeface="+mn-cs"/>
              </a:rPr>
              <a:t>높을수록</a:t>
            </a:r>
            <a:r>
              <a:rPr kumimoji="0" lang="en-US" altLang="ko-KR" sz="95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Rix고딕 L" panose="02020603020101020101" pitchFamily="18" charset="-127"/>
                <a:ea typeface="Rix고딕 L" panose="02020603020101020101" pitchFamily="18" charset="-127"/>
                <a:cs typeface="+mn-cs"/>
              </a:rPr>
              <a:t> </a:t>
            </a:r>
            <a:r>
              <a:rPr kumimoji="0" lang="en-US" altLang="ko-KR" sz="950" b="1" i="0" u="none" strike="noStrike" kern="1200" cap="none" spc="0" normalizeH="0" baseline="0" noProof="0" dirty="0" err="1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Rix고딕 L" panose="02020603020101020101" pitchFamily="18" charset="-127"/>
                <a:ea typeface="Rix고딕 L" panose="02020603020101020101" pitchFamily="18" charset="-127"/>
                <a:cs typeface="+mn-cs"/>
              </a:rPr>
              <a:t>위험</a:t>
            </a:r>
            <a:endParaRPr kumimoji="0" lang="en-US" altLang="ko-KR" sz="9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Rix고딕 L" panose="02020603020101020101" pitchFamily="18" charset="-127"/>
              <a:ea typeface="Rix고딕 L" panose="02020603020101020101" pitchFamily="18" charset="-127"/>
              <a:cs typeface="+mn-cs"/>
            </a:endParaRPr>
          </a:p>
        </p:txBody>
      </p:sp>
      <p:sp>
        <p:nvSpPr>
          <p:cNvPr id="11" name="Text 8"/>
          <p:cNvSpPr/>
          <p:nvPr/>
        </p:nvSpPr>
        <p:spPr>
          <a:xfrm>
            <a:off x="441960" y="2867152"/>
            <a:ext cx="4400868" cy="348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200"/>
              </a:lnSpc>
              <a:buNone/>
            </a:pPr>
            <a:r>
              <a:rPr lang="en-US" sz="820" i="1" dirty="0">
                <a:solidFill>
                  <a:srgbClr val="DC2626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▶ 150% 초과: 항공기관제(256)·항공보안(233)·AOMS-CA(195)·공항운영(162) → </a:t>
            </a:r>
            <a:r>
              <a:rPr lang="en-US" sz="820" i="1" dirty="0" err="1">
                <a:solidFill>
                  <a:srgbClr val="DC2626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위험</a:t>
            </a:r>
            <a:r>
              <a:rPr lang="en-US" sz="820" i="1" dirty="0">
                <a:solidFill>
                  <a:srgbClr val="DC2626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 </a:t>
            </a:r>
            <a:r>
              <a:rPr lang="en-US" sz="820" i="1" dirty="0" err="1">
                <a:solidFill>
                  <a:srgbClr val="DC2626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구간</a:t>
            </a:r>
            <a:endParaRPr lang="en-US" sz="820" i="1" dirty="0">
              <a:solidFill>
                <a:srgbClr val="DC2626"/>
              </a:solidFill>
              <a:latin typeface="Rix고딕 L" panose="02020603020101020101" pitchFamily="18" charset="-127"/>
              <a:ea typeface="Rix고딕 L" panose="02020603020101020101" pitchFamily="18" charset="-127"/>
            </a:endParaRPr>
          </a:p>
          <a:p>
            <a:pPr marL="0" indent="0">
              <a:lnSpc>
                <a:spcPts val="1200"/>
              </a:lnSpc>
              <a:buNone/>
            </a:pPr>
            <a:r>
              <a:rPr lang="en-US" altLang="ko-KR" sz="820" dirty="0">
                <a:latin typeface="Rix고딕 L" panose="02020603020101020101" pitchFamily="18" charset="-127"/>
                <a:ea typeface="Rix고딕 L" panose="02020603020101020101" pitchFamily="18" charset="-127"/>
              </a:rPr>
              <a:t>    </a:t>
            </a:r>
            <a:r>
              <a:rPr lang="en-US" altLang="ko-KR" sz="820" dirty="0">
                <a:solidFill>
                  <a:srgbClr val="0000FF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100% </a:t>
            </a:r>
            <a:r>
              <a:rPr lang="ko-KR" altLang="en-US" sz="820" dirty="0">
                <a:solidFill>
                  <a:srgbClr val="0000FF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이하 </a:t>
            </a:r>
            <a:r>
              <a:rPr lang="en-US" altLang="ko-KR" sz="820" dirty="0">
                <a:solidFill>
                  <a:srgbClr val="0000FF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: </a:t>
            </a:r>
            <a:r>
              <a:rPr lang="ko-KR" altLang="en-US" sz="820" dirty="0">
                <a:solidFill>
                  <a:srgbClr val="0000FF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운항계획</a:t>
            </a:r>
            <a:r>
              <a:rPr lang="en-US" altLang="ko-KR" sz="820" dirty="0">
                <a:solidFill>
                  <a:srgbClr val="0000FF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(87)·A-CDM(88) → </a:t>
            </a:r>
            <a:r>
              <a:rPr lang="ko-KR" altLang="en-US" sz="820" dirty="0">
                <a:solidFill>
                  <a:srgbClr val="0000FF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양호</a:t>
            </a:r>
            <a:endParaRPr lang="en-US" sz="820" dirty="0">
              <a:solidFill>
                <a:srgbClr val="0000FF"/>
              </a:solidFill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12" name="Shape 9"/>
          <p:cNvSpPr/>
          <p:nvPr/>
        </p:nvSpPr>
        <p:spPr>
          <a:xfrm>
            <a:off x="5044440" y="784860"/>
            <a:ext cx="3631248" cy="237744"/>
          </a:xfrm>
          <a:prstGeom prst="rect">
            <a:avLst/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95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Rix고딕 L" panose="02020603020101020101" pitchFamily="18" charset="-127"/>
                <a:ea typeface="Rix고딕 L" panose="02020603020101020101" pitchFamily="18" charset="-127"/>
                <a:cs typeface="+mn-cs"/>
              </a:rPr>
              <a:t>③ </a:t>
            </a:r>
            <a:r>
              <a:rPr kumimoji="0" lang="en-US" altLang="ko-KR" sz="950" b="1" i="0" u="none" strike="noStrike" kern="1200" cap="none" spc="0" normalizeH="0" baseline="0" noProof="0" dirty="0" err="1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Rix고딕 L" panose="02020603020101020101" pitchFamily="18" charset="-127"/>
                <a:ea typeface="Rix고딕 L" panose="02020603020101020101" pitchFamily="18" charset="-127"/>
                <a:cs typeface="+mn-cs"/>
              </a:rPr>
              <a:t>결함</a:t>
            </a:r>
            <a:r>
              <a:rPr kumimoji="0" lang="en-US" altLang="ko-KR" sz="95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Rix고딕 L" panose="02020603020101020101" pitchFamily="18" charset="-127"/>
                <a:ea typeface="Rix고딕 L" panose="02020603020101020101" pitchFamily="18" charset="-127"/>
                <a:cs typeface="+mn-cs"/>
              </a:rPr>
              <a:t> </a:t>
            </a:r>
            <a:r>
              <a:rPr kumimoji="0" lang="en-US" altLang="ko-KR" sz="950" b="1" i="0" u="none" strike="noStrike" kern="1200" cap="none" spc="0" normalizeH="0" baseline="0" noProof="0" dirty="0" err="1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Rix고딕 L" panose="02020603020101020101" pitchFamily="18" charset="-127"/>
                <a:ea typeface="Rix고딕 L" panose="02020603020101020101" pitchFamily="18" charset="-127"/>
                <a:cs typeface="+mn-cs"/>
              </a:rPr>
              <a:t>해소율</a:t>
            </a:r>
            <a:r>
              <a:rPr kumimoji="0" lang="en-US" altLang="ko-KR" sz="95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Rix고딕 L" panose="02020603020101020101" pitchFamily="18" charset="-127"/>
                <a:ea typeface="Rix고딕 L" panose="02020603020101020101" pitchFamily="18" charset="-127"/>
                <a:cs typeface="+mn-cs"/>
              </a:rPr>
              <a:t> (%) — </a:t>
            </a:r>
            <a:r>
              <a:rPr kumimoji="0" lang="en-US" altLang="ko-KR" sz="950" b="1" i="0" u="none" strike="noStrike" kern="1200" cap="none" spc="0" normalizeH="0" baseline="0" noProof="0" dirty="0" err="1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Rix고딕 L" panose="02020603020101020101" pitchFamily="18" charset="-127"/>
                <a:ea typeface="Rix고딕 L" panose="02020603020101020101" pitchFamily="18" charset="-127"/>
                <a:cs typeface="+mn-cs"/>
              </a:rPr>
              <a:t>낮을수록</a:t>
            </a:r>
            <a:r>
              <a:rPr kumimoji="0" lang="en-US" altLang="ko-KR" sz="95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Rix고딕 L" panose="02020603020101020101" pitchFamily="18" charset="-127"/>
                <a:ea typeface="Rix고딕 L" panose="02020603020101020101" pitchFamily="18" charset="-127"/>
                <a:cs typeface="+mn-cs"/>
              </a:rPr>
              <a:t> </a:t>
            </a:r>
            <a:r>
              <a:rPr kumimoji="0" lang="en-US" altLang="ko-KR" sz="950" b="1" i="0" u="none" strike="noStrike" kern="1200" cap="none" spc="0" normalizeH="0" baseline="0" noProof="0" dirty="0" err="1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Rix고딕 L" panose="02020603020101020101" pitchFamily="18" charset="-127"/>
                <a:ea typeface="Rix고딕 L" panose="02020603020101020101" pitchFamily="18" charset="-127"/>
                <a:cs typeface="+mn-cs"/>
              </a:rPr>
              <a:t>위험</a:t>
            </a:r>
            <a:endParaRPr kumimoji="0" lang="en-US" altLang="ko-KR" sz="9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Rix고딕 L" panose="02020603020101020101" pitchFamily="18" charset="-127"/>
              <a:ea typeface="Rix고딕 L" panose="02020603020101020101" pitchFamily="18" charset="-127"/>
              <a:cs typeface="+mn-cs"/>
            </a:endParaRPr>
          </a:p>
        </p:txBody>
      </p:sp>
      <p:graphicFrame>
        <p:nvGraphicFramePr>
          <p:cNvPr id="14" name="Chart 1"/>
          <p:cNvGraphicFramePr/>
          <p:nvPr>
            <p:extLst>
              <p:ext uri="{D42A27DB-BD31-4B8C-83A1-F6EECF244321}">
                <p14:modId xmlns:p14="http://schemas.microsoft.com/office/powerpoint/2010/main" val="3375592996"/>
              </p:ext>
            </p:extLst>
          </p:nvPr>
        </p:nvGraphicFramePr>
        <p:xfrm>
          <a:off x="5044440" y="1025651"/>
          <a:ext cx="3631248" cy="1841501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sp>
        <p:nvSpPr>
          <p:cNvPr id="15" name="Text 11"/>
          <p:cNvSpPr/>
          <p:nvPr/>
        </p:nvSpPr>
        <p:spPr>
          <a:xfrm>
            <a:off x="5044440" y="2806383"/>
            <a:ext cx="363124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20" i="1" dirty="0">
                <a:solidFill>
                  <a:srgbClr val="DC2626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▶ 50% 미만: 항공통계포털(38)·항공기관제(41)·공항운영(46) → 미해소 위험</a:t>
            </a:r>
            <a:endParaRPr lang="en-US" sz="820" dirty="0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16" name="Shape 12"/>
          <p:cNvSpPr/>
          <p:nvPr/>
        </p:nvSpPr>
        <p:spPr>
          <a:xfrm>
            <a:off x="441960" y="3305556"/>
            <a:ext cx="6812280" cy="256032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  <p:txBody>
          <a:bodyPr/>
          <a:lstStyle/>
          <a:p>
            <a:endParaRPr lang="ko-KR" altLang="en-US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17" name="Text 13"/>
          <p:cNvSpPr/>
          <p:nvPr/>
        </p:nvSpPr>
        <p:spPr>
          <a:xfrm>
            <a:off x="569976" y="3305556"/>
            <a:ext cx="56479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FFFFFF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② 심각도 가중지수 · ④ 기능결함 집중도(%) · ⑤ 미결 위험도(%) — 3지표 복합 비교</a:t>
            </a:r>
            <a:endParaRPr lang="en-US" sz="950" dirty="0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graphicFrame>
        <p:nvGraphicFramePr>
          <p:cNvPr id="18" name="Chart 2"/>
          <p:cNvGraphicFramePr/>
          <p:nvPr>
            <p:extLst>
              <p:ext uri="{D42A27DB-BD31-4B8C-83A1-F6EECF244321}">
                <p14:modId xmlns:p14="http://schemas.microsoft.com/office/powerpoint/2010/main" val="573796081"/>
              </p:ext>
            </p:extLst>
          </p:nvPr>
        </p:nvGraphicFramePr>
        <p:xfrm>
          <a:off x="441960" y="3561589"/>
          <a:ext cx="6949440" cy="1232154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5"/>
          </a:graphicData>
        </a:graphic>
      </p:graphicFrame>
      <p:sp>
        <p:nvSpPr>
          <p:cNvPr id="21" name="Shape 186">
            <a:extLst>
              <a:ext uri="{FF2B5EF4-FFF2-40B4-BE49-F238E27FC236}">
                <a16:creationId xmlns:a16="http://schemas.microsoft.com/office/drawing/2014/main" id="{390C97A2-626D-12A8-FE17-D2FB641F81CC}"/>
              </a:ext>
            </a:extLst>
          </p:cNvPr>
          <p:cNvSpPr/>
          <p:nvPr/>
        </p:nvSpPr>
        <p:spPr>
          <a:xfrm>
            <a:off x="7382256" y="3305556"/>
            <a:ext cx="1293432" cy="1390269"/>
          </a:xfrm>
          <a:prstGeom prst="rect">
            <a:avLst/>
          </a:prstGeom>
          <a:solidFill>
            <a:srgbClr val="E5E9EF"/>
          </a:solidFill>
          <a:ln w="12700">
            <a:solidFill>
              <a:srgbClr val="D1D9E6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900" i="0" u="none" strike="noStrike" kern="1200" cap="none" spc="0" normalizeH="0" baseline="0" noProof="0" dirty="0" err="1">
                <a:ln>
                  <a:noFill/>
                </a:ln>
                <a:solidFill>
                  <a:srgbClr val="002060"/>
                </a:solidFill>
                <a:effectLst/>
                <a:uLnTx/>
                <a:uFillTx/>
                <a:latin typeface="Rix고딕 L" panose="02020603020101020101" pitchFamily="18" charset="-127"/>
                <a:ea typeface="Rix고딕 L" panose="02020603020101020101" pitchFamily="18" charset="-127"/>
                <a:cs typeface="+mn-cs"/>
              </a:rPr>
              <a:t>항공기관제</a:t>
            </a:r>
            <a:r>
              <a:rPr kumimoji="0" lang="en-US" altLang="ko-KR" sz="900" i="0" u="none" strike="noStrike" kern="1200" cap="none" spc="0" normalizeH="0" baseline="0" noProof="0" dirty="0">
                <a:ln>
                  <a:noFill/>
                </a:ln>
                <a:solidFill>
                  <a:srgbClr val="002060"/>
                </a:solidFill>
                <a:effectLst/>
                <a:uLnTx/>
                <a:uFillTx/>
                <a:latin typeface="Rix고딕 L" panose="02020603020101020101" pitchFamily="18" charset="-127"/>
                <a:ea typeface="Rix고딕 L" panose="02020603020101020101" pitchFamily="18" charset="-127"/>
                <a:cs typeface="+mn-cs"/>
              </a:rPr>
              <a:t>(AC): ①②④ 전 축 </a:t>
            </a:r>
            <a:r>
              <a:rPr kumimoji="0" lang="en-US" altLang="ko-KR" sz="900" i="0" u="none" strike="noStrike" kern="1200" cap="none" spc="0" normalizeH="0" baseline="0" noProof="0" dirty="0" err="1">
                <a:ln>
                  <a:noFill/>
                </a:ln>
                <a:solidFill>
                  <a:srgbClr val="002060"/>
                </a:solidFill>
                <a:effectLst/>
                <a:uLnTx/>
                <a:uFillTx/>
                <a:latin typeface="Rix고딕 L" panose="02020603020101020101" pitchFamily="18" charset="-127"/>
                <a:ea typeface="Rix고딕 L" panose="02020603020101020101" pitchFamily="18" charset="-127"/>
                <a:cs typeface="+mn-cs"/>
              </a:rPr>
              <a:t>최고위험</a:t>
            </a:r>
            <a:r>
              <a:rPr kumimoji="0" lang="en-US" altLang="ko-KR" sz="900" i="0" u="none" strike="noStrike" kern="1200" cap="none" spc="0" normalizeH="0" baseline="0" noProof="0" dirty="0">
                <a:ln>
                  <a:noFill/>
                </a:ln>
                <a:solidFill>
                  <a:srgbClr val="002060"/>
                </a:solidFill>
                <a:effectLst/>
                <a:uLnTx/>
                <a:uFillTx/>
                <a:latin typeface="Rix고딕 L" panose="02020603020101020101" pitchFamily="18" charset="-127"/>
                <a:ea typeface="Rix고딕 L" panose="02020603020101020101" pitchFamily="18" charset="-127"/>
                <a:cs typeface="+mn-cs"/>
              </a:rPr>
              <a:t> 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altLang="ko-KR" sz="900" dirty="0">
              <a:solidFill>
                <a:srgbClr val="002060"/>
              </a:solidFill>
              <a:latin typeface="Rix고딕 L" panose="02020603020101020101" pitchFamily="18" charset="-127"/>
              <a:ea typeface="Rix고딕 L" panose="02020603020101020101" pitchFamily="18" charset="-127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900" i="0" u="none" strike="noStrike" kern="1200" cap="none" spc="0" normalizeH="0" baseline="0" noProof="0" dirty="0" err="1">
                <a:ln>
                  <a:noFill/>
                </a:ln>
                <a:solidFill>
                  <a:srgbClr val="002060"/>
                </a:solidFill>
                <a:effectLst/>
                <a:uLnTx/>
                <a:uFillTx/>
                <a:latin typeface="Rix고딕 L" panose="02020603020101020101" pitchFamily="18" charset="-127"/>
                <a:ea typeface="Rix고딕 L" panose="02020603020101020101" pitchFamily="18" charset="-127"/>
                <a:cs typeface="+mn-cs"/>
              </a:rPr>
              <a:t>공항운영</a:t>
            </a:r>
            <a:r>
              <a:rPr kumimoji="0" lang="en-US" altLang="ko-KR" sz="900" i="0" u="none" strike="noStrike" kern="1200" cap="none" spc="0" normalizeH="0" baseline="0" noProof="0" dirty="0">
                <a:ln>
                  <a:noFill/>
                </a:ln>
                <a:solidFill>
                  <a:srgbClr val="002060"/>
                </a:solidFill>
                <a:effectLst/>
                <a:uLnTx/>
                <a:uFillTx/>
                <a:latin typeface="Rix고딕 L" panose="02020603020101020101" pitchFamily="18" charset="-127"/>
                <a:ea typeface="Rix고딕 L" panose="02020603020101020101" pitchFamily="18" charset="-127"/>
                <a:cs typeface="+mn-cs"/>
              </a:rPr>
              <a:t>(GO): ①③ </a:t>
            </a:r>
            <a:r>
              <a:rPr kumimoji="0" lang="en-US" altLang="ko-KR" sz="900" i="0" u="none" strike="noStrike" kern="1200" cap="none" spc="0" normalizeH="0" baseline="0" noProof="0" dirty="0" err="1">
                <a:ln>
                  <a:noFill/>
                </a:ln>
                <a:solidFill>
                  <a:srgbClr val="002060"/>
                </a:solidFill>
                <a:effectLst/>
                <a:uLnTx/>
                <a:uFillTx/>
                <a:latin typeface="Rix고딕 L" panose="02020603020101020101" pitchFamily="18" charset="-127"/>
                <a:ea typeface="Rix고딕 L" panose="02020603020101020101" pitchFamily="18" charset="-127"/>
                <a:cs typeface="+mn-cs"/>
              </a:rPr>
              <a:t>결함율+미해소</a:t>
            </a:r>
            <a:r>
              <a:rPr kumimoji="0" lang="en-US" altLang="ko-KR" sz="900" i="0" u="none" strike="noStrike" kern="1200" cap="none" spc="0" normalizeH="0" baseline="0" noProof="0" dirty="0">
                <a:ln>
                  <a:noFill/>
                </a:ln>
                <a:solidFill>
                  <a:srgbClr val="002060"/>
                </a:solidFill>
                <a:effectLst/>
                <a:uLnTx/>
                <a:uFillTx/>
                <a:latin typeface="Rix고딕 L" panose="02020603020101020101" pitchFamily="18" charset="-127"/>
                <a:ea typeface="Rix고딕 L" panose="02020603020101020101" pitchFamily="18" charset="-127"/>
                <a:cs typeface="+mn-cs"/>
              </a:rPr>
              <a:t> </a:t>
            </a:r>
            <a:r>
              <a:rPr kumimoji="0" lang="en-US" altLang="ko-KR" sz="900" i="0" u="none" strike="noStrike" kern="1200" cap="none" spc="0" normalizeH="0" baseline="0" noProof="0" dirty="0" err="1">
                <a:ln>
                  <a:noFill/>
                </a:ln>
                <a:solidFill>
                  <a:srgbClr val="002060"/>
                </a:solidFill>
                <a:effectLst/>
                <a:uLnTx/>
                <a:uFillTx/>
                <a:latin typeface="Rix고딕 L" panose="02020603020101020101" pitchFamily="18" charset="-127"/>
                <a:ea typeface="Rix고딕 L" panose="02020603020101020101" pitchFamily="18" charset="-127"/>
                <a:cs typeface="+mn-cs"/>
              </a:rPr>
              <a:t>복합</a:t>
            </a:r>
            <a:r>
              <a:rPr kumimoji="0" lang="en-US" altLang="ko-KR" sz="900" i="0" u="none" strike="noStrike" kern="1200" cap="none" spc="0" normalizeH="0" baseline="0" noProof="0" dirty="0">
                <a:ln>
                  <a:noFill/>
                </a:ln>
                <a:solidFill>
                  <a:srgbClr val="002060"/>
                </a:solidFill>
                <a:effectLst/>
                <a:uLnTx/>
                <a:uFillTx/>
                <a:latin typeface="Rix고딕 L" panose="02020603020101020101" pitchFamily="18" charset="-127"/>
                <a:ea typeface="Rix고딕 L" panose="02020603020101020101" pitchFamily="18" charset="-127"/>
                <a:cs typeface="+mn-cs"/>
              </a:rPr>
              <a:t> </a:t>
            </a:r>
            <a:r>
              <a:rPr kumimoji="0" lang="en-US" altLang="ko-KR" sz="900" i="0" u="none" strike="noStrike" kern="1200" cap="none" spc="0" normalizeH="0" baseline="0" noProof="0" dirty="0" err="1">
                <a:ln>
                  <a:noFill/>
                </a:ln>
                <a:solidFill>
                  <a:srgbClr val="002060"/>
                </a:solidFill>
                <a:effectLst/>
                <a:uLnTx/>
                <a:uFillTx/>
                <a:latin typeface="Rix고딕 L" panose="02020603020101020101" pitchFamily="18" charset="-127"/>
                <a:ea typeface="Rix고딕 L" panose="02020603020101020101" pitchFamily="18" charset="-127"/>
                <a:cs typeface="+mn-cs"/>
              </a:rPr>
              <a:t>위험</a:t>
            </a:r>
            <a:endParaRPr kumimoji="0" lang="en-US" altLang="ko-KR" sz="900" i="0" u="none" strike="noStrike" kern="1200" cap="none" spc="0" normalizeH="0" baseline="0" noProof="0" dirty="0">
              <a:ln>
                <a:noFill/>
              </a:ln>
              <a:solidFill>
                <a:srgbClr val="002060"/>
              </a:solidFill>
              <a:effectLst/>
              <a:uLnTx/>
              <a:uFillTx/>
              <a:latin typeface="Rix고딕 L" panose="02020603020101020101" pitchFamily="18" charset="-127"/>
              <a:ea typeface="Rix고딕 L" panose="02020603020101020101" pitchFamily="18" charset="-127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altLang="ko-KR" sz="900" dirty="0">
              <a:solidFill>
                <a:srgbClr val="002060"/>
              </a:solidFill>
              <a:latin typeface="Rix고딕 L" panose="02020603020101020101" pitchFamily="18" charset="-127"/>
              <a:ea typeface="Rix고딕 L" panose="02020603020101020101" pitchFamily="18" charset="-127"/>
            </a:endParaRPr>
          </a:p>
          <a:p>
            <a:pPr>
              <a:defRPr/>
            </a:pPr>
            <a:r>
              <a:rPr lang="en-US" altLang="ko-KR" sz="900" dirty="0" err="1">
                <a:solidFill>
                  <a:srgbClr val="002060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항공통계포털</a:t>
            </a:r>
            <a:r>
              <a:rPr lang="en-US" altLang="ko-KR" sz="900" dirty="0">
                <a:solidFill>
                  <a:srgbClr val="002060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(AS): ⑤</a:t>
            </a:r>
            <a:r>
              <a:rPr lang="en-US" altLang="ko-KR" sz="900" dirty="0" err="1">
                <a:solidFill>
                  <a:srgbClr val="002060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미결위험</a:t>
            </a:r>
            <a:r>
              <a:rPr lang="en-US" altLang="ko-KR" sz="900" dirty="0">
                <a:solidFill>
                  <a:srgbClr val="002060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 52.5% 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ko-KR" sz="900" i="0" u="none" strike="noStrike" kern="1200" cap="none" spc="0" normalizeH="0" baseline="0" noProof="0" dirty="0">
              <a:ln>
                <a:noFill/>
              </a:ln>
              <a:solidFill>
                <a:srgbClr val="002060"/>
              </a:solidFill>
              <a:effectLst/>
              <a:uLnTx/>
              <a:uFillTx/>
              <a:latin typeface="Rix고딕 L" panose="02020603020101020101" pitchFamily="18" charset="-127"/>
              <a:ea typeface="Rix고딕 L" panose="02020603020101020101" pitchFamily="18" charset="-127"/>
              <a:cs typeface="+mn-cs"/>
            </a:endParaRPr>
          </a:p>
          <a:p>
            <a:endParaRPr lang="ko-KR" altLang="en-US" sz="1600" dirty="0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 name="Slide 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/>
          <p:cNvSpPr/>
          <p:nvPr/>
        </p:nvSpPr>
        <p:spPr>
          <a:xfrm>
            <a:off x="320040" y="0"/>
            <a:ext cx="6400800" cy="45027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002060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테스트 단계별 결함 집중도 분석</a:t>
            </a:r>
            <a:endParaRPr lang="en-US" sz="2000" dirty="0">
              <a:solidFill>
                <a:srgbClr val="002060"/>
              </a:solidFill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6" name="Text 3"/>
          <p:cNvSpPr/>
          <p:nvPr/>
        </p:nvSpPr>
        <p:spPr>
          <a:xfrm>
            <a:off x="5394960" y="777240"/>
            <a:ext cx="3474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B3A6B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단계별 결함 비중</a:t>
            </a:r>
            <a:endParaRPr lang="en-US" sz="1200" dirty="0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7" name="Shape 4"/>
          <p:cNvSpPr/>
          <p:nvPr/>
        </p:nvSpPr>
        <p:spPr>
          <a:xfrm>
            <a:off x="5200968" y="1133856"/>
            <a:ext cx="3474720" cy="402336"/>
          </a:xfrm>
          <a:prstGeom prst="rect">
            <a:avLst/>
          </a:prstGeom>
          <a:solidFill>
            <a:srgbClr val="F4F7FB"/>
          </a:solidFill>
          <a:ln w="12700">
            <a:solidFill>
              <a:srgbClr val="D1D9E6"/>
            </a:solidFill>
            <a:prstDash val="solid"/>
          </a:ln>
        </p:spPr>
        <p:txBody>
          <a:bodyPr/>
          <a:lstStyle/>
          <a:p>
            <a:endParaRPr lang="ko-KR" altLang="en-US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8" name="Shape 5"/>
          <p:cNvSpPr/>
          <p:nvPr/>
        </p:nvSpPr>
        <p:spPr>
          <a:xfrm>
            <a:off x="5200968" y="1133856"/>
            <a:ext cx="64008" cy="402336"/>
          </a:xfrm>
          <a:prstGeom prst="rect">
            <a:avLst/>
          </a:prstGeom>
          <a:solidFill>
            <a:srgbClr val="9CA3AF"/>
          </a:solidFill>
          <a:ln w="12700">
            <a:solidFill>
              <a:srgbClr val="9CA3AF"/>
            </a:solidFill>
            <a:prstDash val="solid"/>
          </a:ln>
        </p:spPr>
        <p:txBody>
          <a:bodyPr/>
          <a:lstStyle/>
          <a:p>
            <a:endParaRPr lang="ko-KR" altLang="en-US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9" name="Text 6"/>
          <p:cNvSpPr/>
          <p:nvPr/>
        </p:nvSpPr>
        <p:spPr>
          <a:xfrm>
            <a:off x="5338128" y="1133856"/>
            <a:ext cx="13716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1B3A6B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개발자·PL</a:t>
            </a:r>
            <a:endParaRPr lang="en-US" sz="950" dirty="0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10" name="Shape 7"/>
          <p:cNvSpPr/>
          <p:nvPr/>
        </p:nvSpPr>
        <p:spPr>
          <a:xfrm>
            <a:off x="6709728" y="1280160"/>
            <a:ext cx="1554480" cy="128016"/>
          </a:xfrm>
          <a:prstGeom prst="rect">
            <a:avLst/>
          </a:prstGeom>
          <a:solidFill>
            <a:srgbClr val="D1D9E6"/>
          </a:solidFill>
          <a:ln w="12700">
            <a:solidFill>
              <a:srgbClr val="D1D9E6"/>
            </a:solidFill>
            <a:prstDash val="solid"/>
          </a:ln>
        </p:spPr>
        <p:txBody>
          <a:bodyPr/>
          <a:lstStyle/>
          <a:p>
            <a:endParaRPr lang="ko-KR" altLang="en-US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11" name="Shape 8"/>
          <p:cNvSpPr/>
          <p:nvPr/>
        </p:nvSpPr>
        <p:spPr>
          <a:xfrm>
            <a:off x="6709728" y="1196340"/>
            <a:ext cx="189610" cy="128016"/>
          </a:xfrm>
          <a:prstGeom prst="rect">
            <a:avLst/>
          </a:prstGeom>
          <a:solidFill>
            <a:srgbClr val="9CA3AF"/>
          </a:solidFill>
          <a:ln w="12700">
            <a:solidFill>
              <a:srgbClr val="9CA3AF"/>
            </a:solidFill>
            <a:prstDash val="solid"/>
          </a:ln>
        </p:spPr>
        <p:txBody>
          <a:bodyPr/>
          <a:lstStyle/>
          <a:p>
            <a:endParaRPr lang="ko-KR" altLang="en-US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12" name="Text 9"/>
          <p:cNvSpPr/>
          <p:nvPr/>
        </p:nvSpPr>
        <p:spPr>
          <a:xfrm>
            <a:off x="6709728" y="1133856"/>
            <a:ext cx="1920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>
              <a:buNone/>
            </a:pPr>
            <a:r>
              <a:rPr lang="en-US" sz="900" b="1" dirty="0">
                <a:solidFill>
                  <a:srgbClr val="9CA3AF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208건 (4.9%)</a:t>
            </a:r>
            <a:endParaRPr lang="en-US" sz="900" dirty="0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13" name="Shape 10"/>
          <p:cNvSpPr/>
          <p:nvPr/>
        </p:nvSpPr>
        <p:spPr>
          <a:xfrm>
            <a:off x="5200968" y="1645920"/>
            <a:ext cx="3474720" cy="402336"/>
          </a:xfrm>
          <a:prstGeom prst="rect">
            <a:avLst/>
          </a:prstGeom>
          <a:solidFill>
            <a:srgbClr val="F4F7FB"/>
          </a:solidFill>
          <a:ln w="12700">
            <a:solidFill>
              <a:srgbClr val="D1D9E6"/>
            </a:solidFill>
            <a:prstDash val="solid"/>
          </a:ln>
        </p:spPr>
        <p:txBody>
          <a:bodyPr/>
          <a:lstStyle/>
          <a:p>
            <a:endParaRPr lang="ko-KR" altLang="en-US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14" name="Shape 11"/>
          <p:cNvSpPr/>
          <p:nvPr/>
        </p:nvSpPr>
        <p:spPr>
          <a:xfrm>
            <a:off x="5200968" y="1645920"/>
            <a:ext cx="64008" cy="402336"/>
          </a:xfrm>
          <a:prstGeom prst="rect">
            <a:avLst/>
          </a:prstGeom>
          <a:solidFill>
            <a:srgbClr val="3B82C4"/>
          </a:solidFill>
          <a:ln w="12700">
            <a:solidFill>
              <a:srgbClr val="3B82C4"/>
            </a:solidFill>
            <a:prstDash val="solid"/>
          </a:ln>
        </p:spPr>
        <p:txBody>
          <a:bodyPr/>
          <a:lstStyle/>
          <a:p>
            <a:endParaRPr lang="ko-KR" altLang="en-US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15" name="Text 12"/>
          <p:cNvSpPr/>
          <p:nvPr/>
        </p:nvSpPr>
        <p:spPr>
          <a:xfrm>
            <a:off x="5338128" y="1645920"/>
            <a:ext cx="13716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1B3A6B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3자 테스트</a:t>
            </a:r>
            <a:endParaRPr lang="en-US" sz="950" dirty="0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16" name="Shape 13"/>
          <p:cNvSpPr/>
          <p:nvPr/>
        </p:nvSpPr>
        <p:spPr>
          <a:xfrm>
            <a:off x="6709728" y="1792224"/>
            <a:ext cx="1554480" cy="128016"/>
          </a:xfrm>
          <a:prstGeom prst="rect">
            <a:avLst/>
          </a:prstGeom>
          <a:solidFill>
            <a:srgbClr val="D1D9E6"/>
          </a:solidFill>
          <a:ln w="12700">
            <a:solidFill>
              <a:srgbClr val="D1D9E6"/>
            </a:solidFill>
            <a:prstDash val="solid"/>
          </a:ln>
        </p:spPr>
        <p:txBody>
          <a:bodyPr/>
          <a:lstStyle/>
          <a:p>
            <a:endParaRPr lang="ko-KR" altLang="en-US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17" name="Shape 14"/>
          <p:cNvSpPr/>
          <p:nvPr/>
        </p:nvSpPr>
        <p:spPr>
          <a:xfrm>
            <a:off x="6709728" y="1702308"/>
            <a:ext cx="900000" cy="128016"/>
          </a:xfrm>
          <a:prstGeom prst="rect">
            <a:avLst/>
          </a:prstGeom>
          <a:solidFill>
            <a:srgbClr val="3B82C4"/>
          </a:solidFill>
          <a:ln w="12700">
            <a:solidFill>
              <a:srgbClr val="3B82C4"/>
            </a:solidFill>
            <a:prstDash val="solid"/>
          </a:ln>
        </p:spPr>
        <p:txBody>
          <a:bodyPr/>
          <a:lstStyle/>
          <a:p>
            <a:endParaRPr lang="ko-KR" altLang="en-US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18" name="Text 15"/>
          <p:cNvSpPr/>
          <p:nvPr/>
        </p:nvSpPr>
        <p:spPr>
          <a:xfrm>
            <a:off x="6709728" y="1645920"/>
            <a:ext cx="1920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>
              <a:buNone/>
            </a:pPr>
            <a:r>
              <a:rPr lang="en-US" sz="900" b="1" dirty="0">
                <a:solidFill>
                  <a:srgbClr val="3B82C4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882건 (21.0%)</a:t>
            </a:r>
            <a:endParaRPr lang="en-US" sz="900" dirty="0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19" name="Shape 16"/>
          <p:cNvSpPr/>
          <p:nvPr/>
        </p:nvSpPr>
        <p:spPr>
          <a:xfrm>
            <a:off x="5200968" y="2157984"/>
            <a:ext cx="3474720" cy="402336"/>
          </a:xfrm>
          <a:prstGeom prst="rect">
            <a:avLst/>
          </a:prstGeom>
          <a:solidFill>
            <a:srgbClr val="F4F7FB"/>
          </a:solidFill>
          <a:ln w="12700">
            <a:solidFill>
              <a:srgbClr val="D1D9E6"/>
            </a:solidFill>
            <a:prstDash val="solid"/>
          </a:ln>
        </p:spPr>
        <p:txBody>
          <a:bodyPr/>
          <a:lstStyle/>
          <a:p>
            <a:endParaRPr lang="ko-KR" altLang="en-US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20" name="Shape 17"/>
          <p:cNvSpPr/>
          <p:nvPr/>
        </p:nvSpPr>
        <p:spPr>
          <a:xfrm>
            <a:off x="5200968" y="2157984"/>
            <a:ext cx="64008" cy="402336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  <p:txBody>
          <a:bodyPr/>
          <a:lstStyle/>
          <a:p>
            <a:endParaRPr lang="ko-KR" altLang="en-US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21" name="Text 18"/>
          <p:cNvSpPr/>
          <p:nvPr/>
        </p:nvSpPr>
        <p:spPr>
          <a:xfrm>
            <a:off x="5338128" y="2157984"/>
            <a:ext cx="13716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1B3A6B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공사 테스트</a:t>
            </a:r>
            <a:endParaRPr lang="en-US" sz="950" dirty="0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22" name="Shape 19"/>
          <p:cNvSpPr/>
          <p:nvPr/>
        </p:nvSpPr>
        <p:spPr>
          <a:xfrm>
            <a:off x="6709728" y="2304288"/>
            <a:ext cx="1554480" cy="128016"/>
          </a:xfrm>
          <a:prstGeom prst="rect">
            <a:avLst/>
          </a:prstGeom>
          <a:solidFill>
            <a:srgbClr val="D1D9E6"/>
          </a:solidFill>
          <a:ln w="12700">
            <a:solidFill>
              <a:srgbClr val="D1D9E6"/>
            </a:solidFill>
            <a:prstDash val="solid"/>
          </a:ln>
        </p:spPr>
        <p:txBody>
          <a:bodyPr/>
          <a:lstStyle/>
          <a:p>
            <a:endParaRPr lang="ko-KR" altLang="en-US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23" name="Shape 20"/>
          <p:cNvSpPr/>
          <p:nvPr/>
        </p:nvSpPr>
        <p:spPr>
          <a:xfrm>
            <a:off x="6709728" y="2191512"/>
            <a:ext cx="1908000" cy="128016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  <p:txBody>
          <a:bodyPr/>
          <a:lstStyle/>
          <a:p>
            <a:endParaRPr lang="ko-KR" altLang="en-US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24" name="Text 21"/>
          <p:cNvSpPr/>
          <p:nvPr/>
        </p:nvSpPr>
        <p:spPr>
          <a:xfrm>
            <a:off x="6709728" y="2157984"/>
            <a:ext cx="1920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>
              <a:buNone/>
            </a:pPr>
            <a:r>
              <a:rPr lang="en-US" sz="900" b="1" dirty="0">
                <a:solidFill>
                  <a:srgbClr val="DC2626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2007건 (47.8%)</a:t>
            </a:r>
            <a:endParaRPr lang="en-US" sz="900" dirty="0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25" name="Shape 22"/>
          <p:cNvSpPr/>
          <p:nvPr/>
        </p:nvSpPr>
        <p:spPr>
          <a:xfrm>
            <a:off x="5200968" y="2670048"/>
            <a:ext cx="3474720" cy="402336"/>
          </a:xfrm>
          <a:prstGeom prst="rect">
            <a:avLst/>
          </a:prstGeom>
          <a:solidFill>
            <a:srgbClr val="F4F7FB"/>
          </a:solidFill>
          <a:ln w="12700">
            <a:solidFill>
              <a:srgbClr val="D1D9E6"/>
            </a:solidFill>
            <a:prstDash val="solid"/>
          </a:ln>
        </p:spPr>
        <p:txBody>
          <a:bodyPr/>
          <a:lstStyle/>
          <a:p>
            <a:endParaRPr lang="ko-KR" altLang="en-US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26" name="Shape 23"/>
          <p:cNvSpPr/>
          <p:nvPr/>
        </p:nvSpPr>
        <p:spPr>
          <a:xfrm>
            <a:off x="5200968" y="2670048"/>
            <a:ext cx="64008" cy="402336"/>
          </a:xfrm>
          <a:prstGeom prst="rect">
            <a:avLst/>
          </a:prstGeom>
          <a:solidFill>
            <a:srgbClr val="2563A8"/>
          </a:solidFill>
          <a:ln w="12700">
            <a:solidFill>
              <a:srgbClr val="2563A8"/>
            </a:solidFill>
            <a:prstDash val="solid"/>
          </a:ln>
        </p:spPr>
        <p:txBody>
          <a:bodyPr/>
          <a:lstStyle/>
          <a:p>
            <a:endParaRPr lang="ko-KR" altLang="en-US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27" name="Text 24"/>
          <p:cNvSpPr/>
          <p:nvPr/>
        </p:nvSpPr>
        <p:spPr>
          <a:xfrm>
            <a:off x="5338128" y="2670048"/>
            <a:ext cx="13716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1B3A6B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현업 테스트</a:t>
            </a:r>
            <a:endParaRPr lang="en-US" sz="950" dirty="0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28" name="Shape 25"/>
          <p:cNvSpPr/>
          <p:nvPr/>
        </p:nvSpPr>
        <p:spPr>
          <a:xfrm>
            <a:off x="6709728" y="2816352"/>
            <a:ext cx="1554480" cy="128016"/>
          </a:xfrm>
          <a:prstGeom prst="rect">
            <a:avLst/>
          </a:prstGeom>
          <a:solidFill>
            <a:srgbClr val="D1D9E6"/>
          </a:solidFill>
          <a:ln w="12700">
            <a:solidFill>
              <a:srgbClr val="D1D9E6"/>
            </a:solidFill>
            <a:prstDash val="solid"/>
          </a:ln>
        </p:spPr>
        <p:txBody>
          <a:bodyPr/>
          <a:lstStyle/>
          <a:p>
            <a:endParaRPr lang="ko-KR" altLang="en-US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29" name="Shape 26"/>
          <p:cNvSpPr/>
          <p:nvPr/>
        </p:nvSpPr>
        <p:spPr>
          <a:xfrm>
            <a:off x="6709728" y="2724912"/>
            <a:ext cx="612000" cy="128016"/>
          </a:xfrm>
          <a:prstGeom prst="rect">
            <a:avLst/>
          </a:prstGeom>
          <a:solidFill>
            <a:srgbClr val="2563A8"/>
          </a:solidFill>
          <a:ln w="12700">
            <a:solidFill>
              <a:srgbClr val="2563A8"/>
            </a:solidFill>
            <a:prstDash val="solid"/>
          </a:ln>
        </p:spPr>
        <p:txBody>
          <a:bodyPr/>
          <a:lstStyle/>
          <a:p>
            <a:endParaRPr lang="ko-KR" altLang="en-US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30" name="Text 27"/>
          <p:cNvSpPr/>
          <p:nvPr/>
        </p:nvSpPr>
        <p:spPr>
          <a:xfrm>
            <a:off x="6709728" y="2670048"/>
            <a:ext cx="1920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>
              <a:buNone/>
            </a:pPr>
            <a:r>
              <a:rPr lang="en-US" sz="900" b="1" dirty="0">
                <a:solidFill>
                  <a:srgbClr val="2563A8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671건 (16.0%)</a:t>
            </a:r>
            <a:endParaRPr lang="en-US" sz="900" dirty="0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31" name="Shape 28"/>
          <p:cNvSpPr/>
          <p:nvPr/>
        </p:nvSpPr>
        <p:spPr>
          <a:xfrm>
            <a:off x="5200968" y="3182112"/>
            <a:ext cx="3474720" cy="402336"/>
          </a:xfrm>
          <a:prstGeom prst="rect">
            <a:avLst/>
          </a:prstGeom>
          <a:solidFill>
            <a:srgbClr val="F4F7FB"/>
          </a:solidFill>
          <a:ln w="12700">
            <a:solidFill>
              <a:srgbClr val="D1D9E6"/>
            </a:solidFill>
            <a:prstDash val="solid"/>
          </a:ln>
        </p:spPr>
        <p:txBody>
          <a:bodyPr/>
          <a:lstStyle/>
          <a:p>
            <a:endParaRPr lang="ko-KR" altLang="en-US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32" name="Shape 29"/>
          <p:cNvSpPr/>
          <p:nvPr/>
        </p:nvSpPr>
        <p:spPr>
          <a:xfrm>
            <a:off x="5200968" y="3182112"/>
            <a:ext cx="64008" cy="402336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  <p:txBody>
          <a:bodyPr/>
          <a:lstStyle/>
          <a:p>
            <a:endParaRPr lang="ko-KR" altLang="en-US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33" name="Text 30"/>
          <p:cNvSpPr/>
          <p:nvPr/>
        </p:nvSpPr>
        <p:spPr>
          <a:xfrm>
            <a:off x="5338128" y="3182112"/>
            <a:ext cx="13716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1B3A6B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감리 테스트</a:t>
            </a:r>
            <a:endParaRPr lang="en-US" sz="950" dirty="0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34" name="Shape 31"/>
          <p:cNvSpPr/>
          <p:nvPr/>
        </p:nvSpPr>
        <p:spPr>
          <a:xfrm>
            <a:off x="6709728" y="3328416"/>
            <a:ext cx="1554480" cy="128016"/>
          </a:xfrm>
          <a:prstGeom prst="rect">
            <a:avLst/>
          </a:prstGeom>
          <a:solidFill>
            <a:srgbClr val="D1D9E6"/>
          </a:solidFill>
          <a:ln w="12700">
            <a:solidFill>
              <a:srgbClr val="D1D9E6"/>
            </a:solidFill>
            <a:prstDash val="solid"/>
          </a:ln>
        </p:spPr>
        <p:txBody>
          <a:bodyPr/>
          <a:lstStyle/>
          <a:p>
            <a:endParaRPr lang="ko-KR" altLang="en-US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35" name="Shape 32"/>
          <p:cNvSpPr/>
          <p:nvPr/>
        </p:nvSpPr>
        <p:spPr>
          <a:xfrm>
            <a:off x="6709728" y="3229356"/>
            <a:ext cx="432000" cy="128016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  <p:txBody>
          <a:bodyPr/>
          <a:lstStyle/>
          <a:p>
            <a:endParaRPr lang="ko-KR" altLang="en-US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36" name="Text 33"/>
          <p:cNvSpPr/>
          <p:nvPr/>
        </p:nvSpPr>
        <p:spPr>
          <a:xfrm>
            <a:off x="6709728" y="3182112"/>
            <a:ext cx="1920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>
              <a:buNone/>
            </a:pPr>
            <a:r>
              <a:rPr lang="en-US" sz="900" b="1" dirty="0">
                <a:solidFill>
                  <a:srgbClr val="1B3A6B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435건 (10.3%)</a:t>
            </a:r>
            <a:endParaRPr lang="en-US" sz="900" dirty="0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37" name="Shape 34"/>
          <p:cNvSpPr/>
          <p:nvPr/>
        </p:nvSpPr>
        <p:spPr>
          <a:xfrm>
            <a:off x="432261" y="3911414"/>
            <a:ext cx="8243427" cy="891540"/>
          </a:xfrm>
          <a:prstGeom prst="rect">
            <a:avLst/>
          </a:prstGeom>
          <a:solidFill>
            <a:srgbClr val="FFF7ED"/>
          </a:solidFill>
          <a:ln w="12700">
            <a:solidFill>
              <a:srgbClr val="FDBA74"/>
            </a:solidFill>
            <a:prstDash val="solid"/>
          </a:ln>
        </p:spPr>
        <p:txBody>
          <a:bodyPr/>
          <a:lstStyle/>
          <a:p>
            <a:endParaRPr lang="ko-KR" altLang="en-US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38" name="Text 35"/>
          <p:cNvSpPr/>
          <p:nvPr/>
        </p:nvSpPr>
        <p:spPr>
          <a:xfrm>
            <a:off x="502920" y="3927348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E85D2F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🔍  핵심 인사이트 — 공사테스트 집중 문제</a:t>
            </a:r>
            <a:endParaRPr lang="en-US" sz="1100" dirty="0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39" name="Text 36"/>
          <p:cNvSpPr/>
          <p:nvPr/>
        </p:nvSpPr>
        <p:spPr>
          <a:xfrm>
            <a:off x="502920" y="4027932"/>
            <a:ext cx="82296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50000"/>
              </a:lnSpc>
              <a:buNone/>
            </a:pPr>
            <a:r>
              <a:rPr lang="en-US" sz="1000" dirty="0">
                <a:solidFill>
                  <a:srgbClr val="000000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공사테스트에 전체 </a:t>
            </a:r>
            <a:r>
              <a:rPr lang="en-US" sz="1000" dirty="0" err="1">
                <a:solidFill>
                  <a:srgbClr val="000000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결함의</a:t>
            </a:r>
            <a:r>
              <a:rPr lang="en-US" sz="1000" dirty="0">
                <a:solidFill>
                  <a:srgbClr val="000000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 47.8%(2,007건)가 집중 — 이는 개발자·PL 단계의 </a:t>
            </a:r>
            <a:r>
              <a:rPr lang="en-US" sz="1000" b="1" dirty="0">
                <a:solidFill>
                  <a:srgbClr val="DC2626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사전 자체 검증 부재</a:t>
            </a:r>
            <a:r>
              <a:rPr lang="en-US" sz="1000" dirty="0">
                <a:solidFill>
                  <a:srgbClr val="000000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로 인해 초기 결함이 이월되는 구조적 문제에서 비롯됩니다.
</a:t>
            </a:r>
            <a:r>
              <a:rPr lang="en-US" sz="1000" dirty="0">
                <a:solidFill>
                  <a:srgbClr val="4B5563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개발자·PL 단계 </a:t>
            </a:r>
            <a:r>
              <a:rPr lang="en-US" sz="1000" dirty="0" err="1">
                <a:solidFill>
                  <a:srgbClr val="4B5563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결함은</a:t>
            </a:r>
            <a:r>
              <a:rPr lang="en-US" sz="1000" dirty="0">
                <a:solidFill>
                  <a:srgbClr val="4B5563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 4.9%(208건)에 불과 → 실질적 검증 없이 공사테스트로 진입하는 관행이 전체 품질 저하의 근본 원인입니다.</a:t>
            </a:r>
            <a:endParaRPr lang="en-US" sz="1000" dirty="0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grpSp>
        <p:nvGrpSpPr>
          <p:cNvPr id="43" name="그룹 42">
            <a:extLst>
              <a:ext uri="{FF2B5EF4-FFF2-40B4-BE49-F238E27FC236}">
                <a16:creationId xmlns:a16="http://schemas.microsoft.com/office/drawing/2014/main" id="{0F62AE0D-AB47-D65B-52CE-E624A9D88A17}"/>
              </a:ext>
            </a:extLst>
          </p:cNvPr>
          <p:cNvGrpSpPr/>
          <p:nvPr/>
        </p:nvGrpSpPr>
        <p:grpSpPr>
          <a:xfrm>
            <a:off x="381000" y="806958"/>
            <a:ext cx="4690872" cy="2788920"/>
            <a:chOff x="381000" y="806958"/>
            <a:chExt cx="4690872" cy="2788920"/>
          </a:xfrm>
        </p:grpSpPr>
        <p:graphicFrame>
          <p:nvGraphicFramePr>
            <p:cNvPr id="5" name="Chart 0"/>
            <p:cNvGraphicFramePr/>
            <p:nvPr>
              <p:extLst>
                <p:ext uri="{D42A27DB-BD31-4B8C-83A1-F6EECF244321}">
                  <p14:modId xmlns:p14="http://schemas.microsoft.com/office/powerpoint/2010/main" val="1924633383"/>
                </p:ext>
              </p:extLst>
            </p:nvPr>
          </p:nvGraphicFramePr>
          <p:xfrm>
            <a:off x="381000" y="806958"/>
            <a:ext cx="4690872" cy="2788920"/>
          </p:xfrm>
          <a:graphic>
            <a:graphicData uri="http://schemas.openxmlformats.org/drawingml/2006/chart">
              <c:chart xmlns:c="http://schemas.openxmlformats.org/drawingml/2006/chart" xmlns:r="http://schemas.openxmlformats.org/officeDocument/2006/relationships" r:id="rId3"/>
            </a:graphicData>
          </a:graphic>
        </p:graphicFrame>
        <p:sp>
          <p:nvSpPr>
            <p:cNvPr id="2" name="Text 41">
              <a:extLst>
                <a:ext uri="{FF2B5EF4-FFF2-40B4-BE49-F238E27FC236}">
                  <a16:creationId xmlns:a16="http://schemas.microsoft.com/office/drawing/2014/main" id="{B6AAC739-2AD5-26DE-F47C-D4957E645393}"/>
                </a:ext>
              </a:extLst>
            </p:cNvPr>
            <p:cNvSpPr/>
            <p:nvPr/>
          </p:nvSpPr>
          <p:spPr>
            <a:xfrm>
              <a:off x="1850100" y="981370"/>
              <a:ext cx="397764" cy="133453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r">
                <a:buNone/>
              </a:pPr>
              <a:r>
                <a:rPr lang="en-US" sz="800" b="1" dirty="0">
                  <a:solidFill>
                    <a:schemeClr val="accent5">
                      <a:lumMod val="75000"/>
                    </a:schemeClr>
                  </a:solidFill>
                  <a:latin typeface="Rix고딕 L" panose="02020603020101020101" pitchFamily="18" charset="-127"/>
                  <a:ea typeface="Rix고딕 L" panose="02020603020101020101" pitchFamily="18" charset="-127"/>
                </a:rPr>
                <a:t>4.9%</a:t>
              </a:r>
            </a:p>
          </p:txBody>
        </p:sp>
        <p:sp>
          <p:nvSpPr>
            <p:cNvPr id="4" name="Text 41">
              <a:extLst>
                <a:ext uri="{FF2B5EF4-FFF2-40B4-BE49-F238E27FC236}">
                  <a16:creationId xmlns:a16="http://schemas.microsoft.com/office/drawing/2014/main" id="{1683786F-4018-989F-9F7D-53BCB14C43DC}"/>
                </a:ext>
              </a:extLst>
            </p:cNvPr>
            <p:cNvSpPr/>
            <p:nvPr/>
          </p:nvSpPr>
          <p:spPr>
            <a:xfrm>
              <a:off x="2974404" y="1359981"/>
              <a:ext cx="397764" cy="133453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r">
                <a:buNone/>
              </a:pPr>
              <a:r>
                <a:rPr lang="en-US" sz="800" b="1" dirty="0">
                  <a:solidFill>
                    <a:schemeClr val="accent5">
                      <a:lumMod val="75000"/>
                    </a:schemeClr>
                  </a:solidFill>
                  <a:latin typeface="Rix고딕 L" panose="02020603020101020101" pitchFamily="18" charset="-127"/>
                  <a:ea typeface="Rix고딕 L" panose="02020603020101020101" pitchFamily="18" charset="-127"/>
                </a:rPr>
                <a:t>21.0%</a:t>
              </a:r>
            </a:p>
          </p:txBody>
        </p:sp>
        <p:sp>
          <p:nvSpPr>
            <p:cNvPr id="40" name="Text 41">
              <a:extLst>
                <a:ext uri="{FF2B5EF4-FFF2-40B4-BE49-F238E27FC236}">
                  <a16:creationId xmlns:a16="http://schemas.microsoft.com/office/drawing/2014/main" id="{A07E9206-6961-4DAE-C657-6EE66861A9BE}"/>
                </a:ext>
              </a:extLst>
            </p:cNvPr>
            <p:cNvSpPr/>
            <p:nvPr/>
          </p:nvSpPr>
          <p:spPr>
            <a:xfrm>
              <a:off x="4567746" y="1803735"/>
              <a:ext cx="397764" cy="133453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r">
                <a:buNone/>
              </a:pPr>
              <a:r>
                <a:rPr lang="en-US" sz="800" b="1" dirty="0">
                  <a:solidFill>
                    <a:srgbClr val="FF0000"/>
                  </a:solidFill>
                  <a:latin typeface="Rix고딕 L" panose="02020603020101020101" pitchFamily="18" charset="-127"/>
                  <a:ea typeface="Rix고딕 L" panose="02020603020101020101" pitchFamily="18" charset="-127"/>
                </a:rPr>
                <a:t>47.8%</a:t>
              </a:r>
            </a:p>
          </p:txBody>
        </p:sp>
        <p:sp>
          <p:nvSpPr>
            <p:cNvPr id="41" name="Text 41">
              <a:extLst>
                <a:ext uri="{FF2B5EF4-FFF2-40B4-BE49-F238E27FC236}">
                  <a16:creationId xmlns:a16="http://schemas.microsoft.com/office/drawing/2014/main" id="{4C8630A9-0F81-F922-E4A7-98946801F496}"/>
                </a:ext>
              </a:extLst>
            </p:cNvPr>
            <p:cNvSpPr/>
            <p:nvPr/>
          </p:nvSpPr>
          <p:spPr>
            <a:xfrm>
              <a:off x="2527554" y="2224906"/>
              <a:ext cx="397764" cy="133453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r">
                <a:buNone/>
              </a:pPr>
              <a:r>
                <a:rPr lang="en-US" sz="800" b="1" dirty="0">
                  <a:solidFill>
                    <a:schemeClr val="accent5">
                      <a:lumMod val="75000"/>
                    </a:schemeClr>
                  </a:solidFill>
                  <a:latin typeface="Rix고딕 L" panose="02020603020101020101" pitchFamily="18" charset="-127"/>
                  <a:ea typeface="Rix고딕 L" panose="02020603020101020101" pitchFamily="18" charset="-127"/>
                </a:rPr>
                <a:t>16.0%</a:t>
              </a:r>
            </a:p>
          </p:txBody>
        </p:sp>
        <p:sp>
          <p:nvSpPr>
            <p:cNvPr id="42" name="Text 41">
              <a:extLst>
                <a:ext uri="{FF2B5EF4-FFF2-40B4-BE49-F238E27FC236}">
                  <a16:creationId xmlns:a16="http://schemas.microsoft.com/office/drawing/2014/main" id="{FB92EA17-F433-376D-7608-D8A39DC1A7E2}"/>
                </a:ext>
              </a:extLst>
            </p:cNvPr>
            <p:cNvSpPr/>
            <p:nvPr/>
          </p:nvSpPr>
          <p:spPr>
            <a:xfrm>
              <a:off x="2247864" y="2634532"/>
              <a:ext cx="397764" cy="133453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r">
                <a:buNone/>
              </a:pPr>
              <a:r>
                <a:rPr lang="en-US" sz="800" b="1" dirty="0">
                  <a:solidFill>
                    <a:schemeClr val="accent5">
                      <a:lumMod val="75000"/>
                    </a:schemeClr>
                  </a:solidFill>
                  <a:latin typeface="Rix고딕 L" panose="02020603020101020101" pitchFamily="18" charset="-127"/>
                  <a:ea typeface="Rix고딕 L" panose="02020603020101020101" pitchFamily="18" charset="-127"/>
                </a:rPr>
                <a:t>10.3%</a:t>
              </a:r>
            </a:p>
          </p:txBody>
        </p:sp>
      </p:grp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D1158520-C2C2-8236-088F-91060034071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>
            <a:extLst>
              <a:ext uri="{FF2B5EF4-FFF2-40B4-BE49-F238E27FC236}">
                <a16:creationId xmlns:a16="http://schemas.microsoft.com/office/drawing/2014/main" id="{A465F026-113D-808D-DBDE-87AE34CD33E2}"/>
              </a:ext>
            </a:extLst>
          </p:cNvPr>
          <p:cNvSpPr/>
          <p:nvPr/>
        </p:nvSpPr>
        <p:spPr>
          <a:xfrm>
            <a:off x="320040" y="0"/>
            <a:ext cx="7498080" cy="4228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002060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업무모듈별 · 단계별 결함 분포</a:t>
            </a:r>
            <a:endParaRPr lang="en-US" sz="2000" dirty="0">
              <a:solidFill>
                <a:srgbClr val="002060"/>
              </a:solidFill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5" name="Shape 3">
            <a:extLst>
              <a:ext uri="{FF2B5EF4-FFF2-40B4-BE49-F238E27FC236}">
                <a16:creationId xmlns:a16="http://schemas.microsoft.com/office/drawing/2014/main" id="{9E157BFE-8D11-FB88-2D40-14B6469B5CD4}"/>
              </a:ext>
            </a:extLst>
          </p:cNvPr>
          <p:cNvSpPr/>
          <p:nvPr/>
        </p:nvSpPr>
        <p:spPr>
          <a:xfrm>
            <a:off x="433645" y="772806"/>
            <a:ext cx="8242043" cy="292608"/>
          </a:xfrm>
          <a:prstGeom prst="rect">
            <a:avLst/>
          </a:prstGeom>
          <a:solidFill>
            <a:srgbClr val="F4F7FB"/>
          </a:solidFill>
          <a:ln w="12700">
            <a:solidFill>
              <a:srgbClr val="D1D9E6"/>
            </a:solidFill>
            <a:prstDash val="solid"/>
          </a:ln>
        </p:spPr>
        <p:txBody>
          <a:bodyPr lIns="180000" anchor="ctr" anchorCtr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950" b="1" i="0" u="none" strike="noStrike" kern="1200" cap="none" spc="0" normalizeH="0" baseline="0" noProof="0" dirty="0" err="1">
                <a:ln>
                  <a:noFill/>
                </a:ln>
                <a:solidFill>
                  <a:srgbClr val="1B3A6B"/>
                </a:solidFill>
                <a:effectLst/>
                <a:uLnTx/>
                <a:uFillTx/>
                <a:latin typeface="Rix고딕 L" panose="02020603020101020101" pitchFamily="18" charset="-127"/>
                <a:ea typeface="Rix고딕 L" panose="02020603020101020101" pitchFamily="18" charset="-127"/>
              </a:rPr>
              <a:t>공사테스트</a:t>
            </a:r>
            <a:r>
              <a:rPr kumimoji="0" lang="en-US" altLang="ko-KR" sz="950" b="1" i="0" u="none" strike="noStrike" kern="1200" cap="none" spc="0" normalizeH="0" baseline="0" noProof="0" dirty="0">
                <a:ln>
                  <a:noFill/>
                </a:ln>
                <a:solidFill>
                  <a:srgbClr val="1B3A6B"/>
                </a:solidFill>
                <a:effectLst/>
                <a:uLnTx/>
                <a:uFillTx/>
                <a:latin typeface="Rix고딕 L" panose="02020603020101020101" pitchFamily="18" charset="-127"/>
                <a:ea typeface="Rix고딕 L" panose="02020603020101020101" pitchFamily="18" charset="-127"/>
              </a:rPr>
              <a:t> 2,007건(47.8%) </a:t>
            </a:r>
            <a:r>
              <a:rPr kumimoji="0" lang="en-US" altLang="ko-KR" sz="950" b="1" i="0" u="none" strike="noStrike" kern="1200" cap="none" spc="0" normalizeH="0" baseline="0" noProof="0" dirty="0" err="1">
                <a:ln>
                  <a:noFill/>
                </a:ln>
                <a:solidFill>
                  <a:srgbClr val="1B3A6B"/>
                </a:solidFill>
                <a:effectLst/>
                <a:uLnTx/>
                <a:uFillTx/>
                <a:latin typeface="Rix고딕 L" panose="02020603020101020101" pitchFamily="18" charset="-127"/>
                <a:ea typeface="Rix고딕 L" panose="02020603020101020101" pitchFamily="18" charset="-127"/>
              </a:rPr>
              <a:t>집중</a:t>
            </a:r>
            <a:r>
              <a:rPr kumimoji="0" lang="en-US" altLang="ko-KR" sz="950" b="1" i="0" u="none" strike="noStrike" kern="1200" cap="none" spc="0" normalizeH="0" baseline="0" noProof="0" dirty="0">
                <a:ln>
                  <a:noFill/>
                </a:ln>
                <a:solidFill>
                  <a:srgbClr val="1B3A6B"/>
                </a:solidFill>
                <a:effectLst/>
                <a:uLnTx/>
                <a:uFillTx/>
                <a:latin typeface="Rix고딕 L" panose="02020603020101020101" pitchFamily="18" charset="-127"/>
                <a:ea typeface="Rix고딕 L" panose="02020603020101020101" pitchFamily="18" charset="-127"/>
              </a:rPr>
              <a:t> · </a:t>
            </a:r>
            <a:r>
              <a:rPr kumimoji="0" lang="en-US" altLang="ko-KR" sz="950" b="1" i="0" u="none" strike="noStrike" kern="1200" cap="none" spc="0" normalizeH="0" baseline="0" noProof="0" dirty="0" err="1">
                <a:ln>
                  <a:noFill/>
                </a:ln>
                <a:solidFill>
                  <a:srgbClr val="1B3A6B"/>
                </a:solidFill>
                <a:effectLst/>
                <a:uLnTx/>
                <a:uFillTx/>
                <a:latin typeface="Rix고딕 L" panose="02020603020101020101" pitchFamily="18" charset="-127"/>
                <a:ea typeface="Rix고딕 L" panose="02020603020101020101" pitchFamily="18" charset="-127"/>
              </a:rPr>
              <a:t>공항운영</a:t>
            </a:r>
            <a:r>
              <a:rPr kumimoji="0" lang="en-US" altLang="ko-KR" sz="950" b="1" i="0" u="none" strike="noStrike" kern="1200" cap="none" spc="0" normalizeH="0" baseline="0" noProof="0" dirty="0">
                <a:ln>
                  <a:noFill/>
                </a:ln>
                <a:solidFill>
                  <a:srgbClr val="1B3A6B"/>
                </a:solidFill>
                <a:effectLst/>
                <a:uLnTx/>
                <a:uFillTx/>
                <a:latin typeface="Rix고딕 L" panose="02020603020101020101" pitchFamily="18" charset="-127"/>
                <a:ea typeface="Rix고딕 L" panose="02020603020101020101" pitchFamily="18" charset="-127"/>
              </a:rPr>
              <a:t>(GO) </a:t>
            </a:r>
            <a:r>
              <a:rPr kumimoji="0" lang="en-US" altLang="ko-KR" sz="950" b="1" i="0" u="none" strike="noStrike" kern="1200" cap="none" spc="0" normalizeH="0" baseline="0" noProof="0" dirty="0" err="1">
                <a:ln>
                  <a:noFill/>
                </a:ln>
                <a:solidFill>
                  <a:srgbClr val="1B3A6B"/>
                </a:solidFill>
                <a:effectLst/>
                <a:uLnTx/>
                <a:uFillTx/>
                <a:latin typeface="Rix고딕 L" panose="02020603020101020101" pitchFamily="18" charset="-127"/>
                <a:ea typeface="Rix고딕 L" panose="02020603020101020101" pitchFamily="18" charset="-127"/>
              </a:rPr>
              <a:t>현업</a:t>
            </a:r>
            <a:r>
              <a:rPr kumimoji="0" lang="en-US" altLang="ko-KR" sz="950" b="1" i="0" u="none" strike="noStrike" kern="1200" cap="none" spc="0" normalizeH="0" baseline="0" noProof="0" dirty="0">
                <a:ln>
                  <a:noFill/>
                </a:ln>
                <a:solidFill>
                  <a:srgbClr val="1B3A6B"/>
                </a:solidFill>
                <a:effectLst/>
                <a:uLnTx/>
                <a:uFillTx/>
                <a:latin typeface="Rix고딕 L" panose="02020603020101020101" pitchFamily="18" charset="-127"/>
                <a:ea typeface="Rix고딕 L" panose="02020603020101020101" pitchFamily="18" charset="-127"/>
              </a:rPr>
              <a:t> 248건 </a:t>
            </a:r>
            <a:r>
              <a:rPr kumimoji="0" lang="en-US" altLang="ko-KR" sz="950" b="1" i="0" u="none" strike="noStrike" kern="1200" cap="none" spc="0" normalizeH="0" baseline="0" noProof="0" dirty="0" err="1">
                <a:ln>
                  <a:noFill/>
                </a:ln>
                <a:solidFill>
                  <a:srgbClr val="1B3A6B"/>
                </a:solidFill>
                <a:effectLst/>
                <a:uLnTx/>
                <a:uFillTx/>
                <a:latin typeface="Rix고딕 L" panose="02020603020101020101" pitchFamily="18" charset="-127"/>
                <a:ea typeface="Rix고딕 L" panose="02020603020101020101" pitchFamily="18" charset="-127"/>
              </a:rPr>
              <a:t>최다</a:t>
            </a:r>
            <a:r>
              <a:rPr kumimoji="0" lang="en-US" altLang="ko-KR" sz="950" b="1" i="0" u="none" strike="noStrike" kern="1200" cap="none" spc="0" normalizeH="0" baseline="0" noProof="0" dirty="0">
                <a:ln>
                  <a:noFill/>
                </a:ln>
                <a:solidFill>
                  <a:srgbClr val="1B3A6B"/>
                </a:solidFill>
                <a:effectLst/>
                <a:uLnTx/>
                <a:uFillTx/>
                <a:latin typeface="Rix고딕 L" panose="02020603020101020101" pitchFamily="18" charset="-127"/>
                <a:ea typeface="Rix고딕 L" panose="02020603020101020101" pitchFamily="18" charset="-127"/>
              </a:rPr>
              <a:t> · </a:t>
            </a:r>
            <a:r>
              <a:rPr kumimoji="0" lang="en-US" altLang="ko-KR" sz="950" b="1" i="0" u="none" strike="noStrike" kern="1200" cap="none" spc="0" normalizeH="0" baseline="0" noProof="0" dirty="0" err="1">
                <a:ln>
                  <a:noFill/>
                </a:ln>
                <a:solidFill>
                  <a:srgbClr val="1B3A6B"/>
                </a:solidFill>
                <a:effectLst/>
                <a:uLnTx/>
                <a:uFillTx/>
                <a:latin typeface="Rix고딕 L" panose="02020603020101020101" pitchFamily="18" charset="-127"/>
                <a:ea typeface="Rix고딕 L" panose="02020603020101020101" pitchFamily="18" charset="-127"/>
              </a:rPr>
              <a:t>항공기관제</a:t>
            </a:r>
            <a:r>
              <a:rPr kumimoji="0" lang="en-US" altLang="ko-KR" sz="950" b="1" i="0" u="none" strike="noStrike" kern="1200" cap="none" spc="0" normalizeH="0" baseline="0" noProof="0" dirty="0">
                <a:ln>
                  <a:noFill/>
                </a:ln>
                <a:solidFill>
                  <a:srgbClr val="1B3A6B"/>
                </a:solidFill>
                <a:effectLst/>
                <a:uLnTx/>
                <a:uFillTx/>
                <a:latin typeface="Rix고딕 L" panose="02020603020101020101" pitchFamily="18" charset="-127"/>
                <a:ea typeface="Rix고딕 L" panose="02020603020101020101" pitchFamily="18" charset="-127"/>
              </a:rPr>
              <a:t>(AC) </a:t>
            </a:r>
            <a:r>
              <a:rPr kumimoji="0" lang="en-US" altLang="ko-KR" sz="950" b="1" i="0" u="none" strike="noStrike" kern="1200" cap="none" spc="0" normalizeH="0" baseline="0" noProof="0" dirty="0" err="1">
                <a:ln>
                  <a:noFill/>
                </a:ln>
                <a:solidFill>
                  <a:srgbClr val="1B3A6B"/>
                </a:solidFill>
                <a:effectLst/>
                <a:uLnTx/>
                <a:uFillTx/>
                <a:latin typeface="Rix고딕 L" panose="02020603020101020101" pitchFamily="18" charset="-127"/>
                <a:ea typeface="Rix고딕 L" panose="02020603020101020101" pitchFamily="18" charset="-127"/>
              </a:rPr>
              <a:t>PL단계</a:t>
            </a:r>
            <a:r>
              <a:rPr kumimoji="0" lang="en-US" altLang="ko-KR" sz="950" b="1" i="0" u="none" strike="noStrike" kern="1200" cap="none" spc="0" normalizeH="0" baseline="0" noProof="0" dirty="0">
                <a:ln>
                  <a:noFill/>
                </a:ln>
                <a:solidFill>
                  <a:srgbClr val="1B3A6B"/>
                </a:solidFill>
                <a:effectLst/>
                <a:uLnTx/>
                <a:uFillTx/>
                <a:latin typeface="Rix고딕 L" panose="02020603020101020101" pitchFamily="18" charset="-127"/>
                <a:ea typeface="Rix고딕 L" panose="02020603020101020101" pitchFamily="18" charset="-127"/>
              </a:rPr>
              <a:t> 40건 — </a:t>
            </a:r>
            <a:r>
              <a:rPr kumimoji="0" lang="en-US" altLang="ko-KR" sz="950" b="1" i="0" u="none" strike="noStrike" kern="1200" cap="none" spc="0" normalizeH="0" baseline="0" noProof="0" dirty="0" err="1">
                <a:ln>
                  <a:noFill/>
                </a:ln>
                <a:solidFill>
                  <a:srgbClr val="1B3A6B"/>
                </a:solidFill>
                <a:effectLst/>
                <a:uLnTx/>
                <a:uFillTx/>
                <a:latin typeface="Rix고딕 L" panose="02020603020101020101" pitchFamily="18" charset="-127"/>
                <a:ea typeface="Rix고딕 L" panose="02020603020101020101" pitchFamily="18" charset="-127"/>
              </a:rPr>
              <a:t>구조적</a:t>
            </a:r>
            <a:r>
              <a:rPr kumimoji="0" lang="en-US" altLang="ko-KR" sz="950" b="1" i="0" u="none" strike="noStrike" kern="1200" cap="none" spc="0" normalizeH="0" baseline="0" noProof="0" dirty="0">
                <a:ln>
                  <a:noFill/>
                </a:ln>
                <a:solidFill>
                  <a:srgbClr val="1B3A6B"/>
                </a:solidFill>
                <a:effectLst/>
                <a:uLnTx/>
                <a:uFillTx/>
                <a:latin typeface="Rix고딕 L" panose="02020603020101020101" pitchFamily="18" charset="-127"/>
                <a:ea typeface="Rix고딕 L" panose="02020603020101020101" pitchFamily="18" charset="-127"/>
              </a:rPr>
              <a:t> </a:t>
            </a:r>
            <a:r>
              <a:rPr kumimoji="0" lang="en-US" altLang="ko-KR" sz="950" b="1" i="0" u="none" strike="noStrike" kern="1200" cap="none" spc="0" normalizeH="0" baseline="0" noProof="0" dirty="0" err="1">
                <a:ln>
                  <a:noFill/>
                </a:ln>
                <a:solidFill>
                  <a:srgbClr val="1B3A6B"/>
                </a:solidFill>
                <a:effectLst/>
                <a:uLnTx/>
                <a:uFillTx/>
                <a:latin typeface="Rix고딕 L" panose="02020603020101020101" pitchFamily="18" charset="-127"/>
                <a:ea typeface="Rix고딕 L" panose="02020603020101020101" pitchFamily="18" charset="-127"/>
              </a:rPr>
              <a:t>이상</a:t>
            </a:r>
            <a:r>
              <a:rPr kumimoji="0" lang="en-US" altLang="ko-KR" sz="950" b="1" i="0" u="none" strike="noStrike" kern="1200" cap="none" spc="0" normalizeH="0" baseline="0" noProof="0" dirty="0">
                <a:ln>
                  <a:noFill/>
                </a:ln>
                <a:solidFill>
                  <a:srgbClr val="1B3A6B"/>
                </a:solidFill>
                <a:effectLst/>
                <a:uLnTx/>
                <a:uFillTx/>
                <a:latin typeface="Rix고딕 L" panose="02020603020101020101" pitchFamily="18" charset="-127"/>
                <a:ea typeface="Rix고딕 L" panose="02020603020101020101" pitchFamily="18" charset="-127"/>
              </a:rPr>
              <a:t> </a:t>
            </a:r>
            <a:r>
              <a:rPr kumimoji="0" lang="en-US" altLang="ko-KR" sz="950" b="1" i="0" u="none" strike="noStrike" kern="1200" cap="none" spc="0" normalizeH="0" baseline="0" noProof="0" dirty="0" err="1">
                <a:ln>
                  <a:noFill/>
                </a:ln>
                <a:solidFill>
                  <a:srgbClr val="1B3A6B"/>
                </a:solidFill>
                <a:effectLst/>
                <a:uLnTx/>
                <a:uFillTx/>
                <a:latin typeface="Rix고딕 L" panose="02020603020101020101" pitchFamily="18" charset="-127"/>
                <a:ea typeface="Rix고딕 L" panose="02020603020101020101" pitchFamily="18" charset="-127"/>
              </a:rPr>
              <a:t>집중</a:t>
            </a:r>
            <a:endParaRPr kumimoji="0" lang="en-US" altLang="ko-KR" sz="9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6" name="Shape 4">
            <a:extLst>
              <a:ext uri="{FF2B5EF4-FFF2-40B4-BE49-F238E27FC236}">
                <a16:creationId xmlns:a16="http://schemas.microsoft.com/office/drawing/2014/main" id="{C21C7F02-BF9C-B135-ECDE-77119DCBDD08}"/>
              </a:ext>
            </a:extLst>
          </p:cNvPr>
          <p:cNvSpPr/>
          <p:nvPr/>
        </p:nvSpPr>
        <p:spPr>
          <a:xfrm>
            <a:off x="433645" y="772806"/>
            <a:ext cx="64008" cy="292608"/>
          </a:xfrm>
          <a:prstGeom prst="rect">
            <a:avLst/>
          </a:prstGeom>
          <a:solidFill>
            <a:srgbClr val="E85D2F"/>
          </a:solidFill>
          <a:ln w="12700">
            <a:solidFill>
              <a:srgbClr val="E85D2F"/>
            </a:solidFill>
            <a:prstDash val="solid"/>
          </a:ln>
        </p:spPr>
        <p:txBody>
          <a:bodyPr/>
          <a:lstStyle/>
          <a:p>
            <a:endParaRPr lang="ko-KR" altLang="en-US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graphicFrame>
        <p:nvGraphicFramePr>
          <p:cNvPr id="8" name="Chart 0">
            <a:extLst>
              <a:ext uri="{FF2B5EF4-FFF2-40B4-BE49-F238E27FC236}">
                <a16:creationId xmlns:a16="http://schemas.microsoft.com/office/drawing/2014/main" id="{18F8605C-7CEE-C54F-62A6-7304B5CA93D2}"/>
              </a:ext>
            </a:extLst>
          </p:cNvPr>
          <p:cNvGraphicFramePr/>
          <p:nvPr/>
        </p:nvGraphicFramePr>
        <p:xfrm>
          <a:off x="433644" y="1115568"/>
          <a:ext cx="5235635" cy="351185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9" name="Text 6">
            <a:extLst>
              <a:ext uri="{FF2B5EF4-FFF2-40B4-BE49-F238E27FC236}">
                <a16:creationId xmlns:a16="http://schemas.microsoft.com/office/drawing/2014/main" id="{88642F70-91D1-691C-8C2C-C582589437C6}"/>
              </a:ext>
            </a:extLst>
          </p:cNvPr>
          <p:cNvSpPr/>
          <p:nvPr/>
        </p:nvSpPr>
        <p:spPr>
          <a:xfrm>
            <a:off x="5852160" y="1115568"/>
            <a:ext cx="3063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1B3A6B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단계별 합계</a:t>
            </a:r>
            <a:endParaRPr lang="en-US" sz="1050" dirty="0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grpSp>
        <p:nvGrpSpPr>
          <p:cNvPr id="68" name="그룹 67">
            <a:extLst>
              <a:ext uri="{FF2B5EF4-FFF2-40B4-BE49-F238E27FC236}">
                <a16:creationId xmlns:a16="http://schemas.microsoft.com/office/drawing/2014/main" id="{69FAA651-E950-174C-D56C-4C1BF123A78A}"/>
              </a:ext>
            </a:extLst>
          </p:cNvPr>
          <p:cNvGrpSpPr/>
          <p:nvPr/>
        </p:nvGrpSpPr>
        <p:grpSpPr>
          <a:xfrm>
            <a:off x="5852160" y="1746525"/>
            <a:ext cx="2823528" cy="274320"/>
            <a:chOff x="5852160" y="1389334"/>
            <a:chExt cx="2823528" cy="274320"/>
          </a:xfrm>
        </p:grpSpPr>
        <p:sp>
          <p:nvSpPr>
            <p:cNvPr id="10" name="Shape 7">
              <a:extLst>
                <a:ext uri="{FF2B5EF4-FFF2-40B4-BE49-F238E27FC236}">
                  <a16:creationId xmlns:a16="http://schemas.microsoft.com/office/drawing/2014/main" id="{107B546C-07FD-E5A6-374A-0F06C8AC37F3}"/>
                </a:ext>
              </a:extLst>
            </p:cNvPr>
            <p:cNvSpPr/>
            <p:nvPr/>
          </p:nvSpPr>
          <p:spPr>
            <a:xfrm>
              <a:off x="5852160" y="1389334"/>
              <a:ext cx="2823528" cy="274320"/>
            </a:xfrm>
            <a:prstGeom prst="rect">
              <a:avLst/>
            </a:prstGeom>
            <a:solidFill>
              <a:srgbClr val="F4F7FB"/>
            </a:solidFill>
            <a:ln w="12700">
              <a:solidFill>
                <a:srgbClr val="D1D9E6"/>
              </a:solidFill>
              <a:prstDash val="solid"/>
            </a:ln>
          </p:spPr>
          <p:txBody>
            <a:bodyPr/>
            <a:lstStyle/>
            <a:p>
              <a:endParaRPr lang="ko-KR" altLang="en-US">
                <a:latin typeface="Rix고딕 L" panose="02020603020101020101" pitchFamily="18" charset="-127"/>
                <a:ea typeface="Rix고딕 L" panose="02020603020101020101" pitchFamily="18" charset="-127"/>
              </a:endParaRPr>
            </a:p>
          </p:txBody>
        </p:sp>
        <p:sp>
          <p:nvSpPr>
            <p:cNvPr id="11" name="Shape 8">
              <a:extLst>
                <a:ext uri="{FF2B5EF4-FFF2-40B4-BE49-F238E27FC236}">
                  <a16:creationId xmlns:a16="http://schemas.microsoft.com/office/drawing/2014/main" id="{7AC541E9-4918-6B7C-FB74-3445DA224424}"/>
                </a:ext>
              </a:extLst>
            </p:cNvPr>
            <p:cNvSpPr/>
            <p:nvPr/>
          </p:nvSpPr>
          <p:spPr>
            <a:xfrm>
              <a:off x="5852160" y="1389334"/>
              <a:ext cx="64008" cy="274320"/>
            </a:xfrm>
            <a:prstGeom prst="rect">
              <a:avLst/>
            </a:prstGeom>
            <a:solidFill>
              <a:srgbClr val="3B82C4"/>
            </a:solidFill>
            <a:ln w="12700">
              <a:solidFill>
                <a:srgbClr val="3B82C4"/>
              </a:solidFill>
              <a:prstDash val="solid"/>
            </a:ln>
          </p:spPr>
          <p:txBody>
            <a:bodyPr/>
            <a:lstStyle/>
            <a:p>
              <a:endParaRPr lang="ko-KR" altLang="en-US">
                <a:latin typeface="Rix고딕 L" panose="02020603020101020101" pitchFamily="18" charset="-127"/>
                <a:ea typeface="Rix고딕 L" panose="02020603020101020101" pitchFamily="18" charset="-127"/>
              </a:endParaRPr>
            </a:p>
          </p:txBody>
        </p:sp>
        <p:sp>
          <p:nvSpPr>
            <p:cNvPr id="12" name="Shape 9">
              <a:extLst>
                <a:ext uri="{FF2B5EF4-FFF2-40B4-BE49-F238E27FC236}">
                  <a16:creationId xmlns:a16="http://schemas.microsoft.com/office/drawing/2014/main" id="{53E6BB1E-B06C-660D-A441-6EF9132B163F}"/>
                </a:ext>
              </a:extLst>
            </p:cNvPr>
            <p:cNvSpPr/>
            <p:nvPr/>
          </p:nvSpPr>
          <p:spPr>
            <a:xfrm>
              <a:off x="5989320" y="1555867"/>
              <a:ext cx="1463040" cy="59312"/>
            </a:xfrm>
            <a:prstGeom prst="rect">
              <a:avLst/>
            </a:prstGeom>
            <a:solidFill>
              <a:srgbClr val="D1D9E6"/>
            </a:solidFill>
            <a:ln w="12700">
              <a:solidFill>
                <a:srgbClr val="D1D9E6"/>
              </a:solidFill>
              <a:prstDash val="solid"/>
            </a:ln>
          </p:spPr>
          <p:txBody>
            <a:bodyPr/>
            <a:lstStyle/>
            <a:p>
              <a:endParaRPr lang="ko-KR" altLang="en-US">
                <a:latin typeface="Rix고딕 L" panose="02020603020101020101" pitchFamily="18" charset="-127"/>
                <a:ea typeface="Rix고딕 L" panose="02020603020101020101" pitchFamily="18" charset="-127"/>
              </a:endParaRPr>
            </a:p>
          </p:txBody>
        </p:sp>
        <p:sp>
          <p:nvSpPr>
            <p:cNvPr id="13" name="Shape 10">
              <a:extLst>
                <a:ext uri="{FF2B5EF4-FFF2-40B4-BE49-F238E27FC236}">
                  <a16:creationId xmlns:a16="http://schemas.microsoft.com/office/drawing/2014/main" id="{6FA4B5DC-0A63-D74F-E8A9-B780164B27B2}"/>
                </a:ext>
              </a:extLst>
            </p:cNvPr>
            <p:cNvSpPr/>
            <p:nvPr/>
          </p:nvSpPr>
          <p:spPr>
            <a:xfrm>
              <a:off x="5989320" y="1555867"/>
              <a:ext cx="748981" cy="59312"/>
            </a:xfrm>
            <a:prstGeom prst="rect">
              <a:avLst/>
            </a:prstGeom>
            <a:solidFill>
              <a:srgbClr val="3B82C4"/>
            </a:solidFill>
            <a:ln w="12700">
              <a:solidFill>
                <a:srgbClr val="3B82C4"/>
              </a:solidFill>
              <a:prstDash val="solid"/>
            </a:ln>
          </p:spPr>
          <p:txBody>
            <a:bodyPr/>
            <a:lstStyle/>
            <a:p>
              <a:endParaRPr lang="ko-KR" altLang="en-US">
                <a:latin typeface="Rix고딕 L" panose="02020603020101020101" pitchFamily="18" charset="-127"/>
                <a:ea typeface="Rix고딕 L" panose="02020603020101020101" pitchFamily="18" charset="-127"/>
              </a:endParaRPr>
            </a:p>
          </p:txBody>
        </p:sp>
        <p:sp>
          <p:nvSpPr>
            <p:cNvPr id="14" name="Text 11">
              <a:extLst>
                <a:ext uri="{FF2B5EF4-FFF2-40B4-BE49-F238E27FC236}">
                  <a16:creationId xmlns:a16="http://schemas.microsoft.com/office/drawing/2014/main" id="{521827C4-3E6B-DEBB-E59E-FC53E8D1E390}"/>
                </a:ext>
              </a:extLst>
            </p:cNvPr>
            <p:cNvSpPr/>
            <p:nvPr/>
          </p:nvSpPr>
          <p:spPr>
            <a:xfrm>
              <a:off x="5989320" y="1405129"/>
              <a:ext cx="1005840" cy="148281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800" b="1" dirty="0">
                  <a:solidFill>
                    <a:srgbClr val="1B3A6B"/>
                  </a:solidFill>
                  <a:latin typeface="Rix고딕 L" panose="02020603020101020101" pitchFamily="18" charset="-127"/>
                  <a:ea typeface="Rix고딕 L" panose="02020603020101020101" pitchFamily="18" charset="-127"/>
                </a:rPr>
                <a:t>3자테스트</a:t>
              </a:r>
              <a:endParaRPr lang="en-US" sz="800" dirty="0">
                <a:latin typeface="Rix고딕 L" panose="02020603020101020101" pitchFamily="18" charset="-127"/>
                <a:ea typeface="Rix고딕 L" panose="02020603020101020101" pitchFamily="18" charset="-127"/>
              </a:endParaRPr>
            </a:p>
          </p:txBody>
        </p:sp>
        <p:sp>
          <p:nvSpPr>
            <p:cNvPr id="15" name="Text 12">
              <a:extLst>
                <a:ext uri="{FF2B5EF4-FFF2-40B4-BE49-F238E27FC236}">
                  <a16:creationId xmlns:a16="http://schemas.microsoft.com/office/drawing/2014/main" id="{3568163F-676B-F309-30F6-76B7C2BCD164}"/>
                </a:ext>
              </a:extLst>
            </p:cNvPr>
            <p:cNvSpPr/>
            <p:nvPr/>
          </p:nvSpPr>
          <p:spPr>
            <a:xfrm>
              <a:off x="7567629" y="1453618"/>
              <a:ext cx="548640" cy="148281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r">
                <a:buNone/>
              </a:pPr>
              <a:r>
                <a:rPr lang="en-US" sz="900" b="1" dirty="0">
                  <a:solidFill>
                    <a:srgbClr val="3B82C4"/>
                  </a:solidFill>
                  <a:latin typeface="Rix고딕 L" panose="02020603020101020101" pitchFamily="18" charset="-127"/>
                  <a:ea typeface="Rix고딕 L" panose="02020603020101020101" pitchFamily="18" charset="-127"/>
                </a:rPr>
                <a:t>882건</a:t>
              </a:r>
              <a:endParaRPr lang="en-US" sz="900" dirty="0">
                <a:latin typeface="Rix고딕 L" panose="02020603020101020101" pitchFamily="18" charset="-127"/>
                <a:ea typeface="Rix고딕 L" panose="02020603020101020101" pitchFamily="18" charset="-127"/>
              </a:endParaRPr>
            </a:p>
          </p:txBody>
        </p:sp>
        <p:sp>
          <p:nvSpPr>
            <p:cNvPr id="16" name="Text 13">
              <a:extLst>
                <a:ext uri="{FF2B5EF4-FFF2-40B4-BE49-F238E27FC236}">
                  <a16:creationId xmlns:a16="http://schemas.microsoft.com/office/drawing/2014/main" id="{BFD0C5A4-997F-DE22-D6B0-7EBEFAA70025}"/>
                </a:ext>
              </a:extLst>
            </p:cNvPr>
            <p:cNvSpPr/>
            <p:nvPr/>
          </p:nvSpPr>
          <p:spPr>
            <a:xfrm>
              <a:off x="8165174" y="1458052"/>
              <a:ext cx="397764" cy="133453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r">
                <a:buNone/>
              </a:pPr>
              <a:r>
                <a:rPr lang="en-US" sz="800" dirty="0">
                  <a:solidFill>
                    <a:srgbClr val="3B82C4"/>
                  </a:solidFill>
                  <a:latin typeface="Rix고딕 L" panose="02020603020101020101" pitchFamily="18" charset="-127"/>
                  <a:ea typeface="Rix고딕 L" panose="02020603020101020101" pitchFamily="18" charset="-127"/>
                </a:rPr>
                <a:t>24.0%</a:t>
              </a:r>
              <a:endParaRPr lang="en-US" sz="800" dirty="0">
                <a:latin typeface="Rix고딕 L" panose="02020603020101020101" pitchFamily="18" charset="-127"/>
                <a:ea typeface="Rix고딕 L" panose="02020603020101020101" pitchFamily="18" charset="-127"/>
              </a:endParaRPr>
            </a:p>
          </p:txBody>
        </p:sp>
      </p:grpSp>
      <p:grpSp>
        <p:nvGrpSpPr>
          <p:cNvPr id="67" name="그룹 66">
            <a:extLst>
              <a:ext uri="{FF2B5EF4-FFF2-40B4-BE49-F238E27FC236}">
                <a16:creationId xmlns:a16="http://schemas.microsoft.com/office/drawing/2014/main" id="{AB547E80-CA50-9F0F-4A27-5DAE3E777B00}"/>
              </a:ext>
            </a:extLst>
          </p:cNvPr>
          <p:cNvGrpSpPr/>
          <p:nvPr/>
        </p:nvGrpSpPr>
        <p:grpSpPr>
          <a:xfrm>
            <a:off x="5852160" y="2100372"/>
            <a:ext cx="2823528" cy="274320"/>
            <a:chOff x="5852160" y="1791670"/>
            <a:chExt cx="2823528" cy="274320"/>
          </a:xfrm>
        </p:grpSpPr>
        <p:sp>
          <p:nvSpPr>
            <p:cNvPr id="17" name="Shape 14">
              <a:extLst>
                <a:ext uri="{FF2B5EF4-FFF2-40B4-BE49-F238E27FC236}">
                  <a16:creationId xmlns:a16="http://schemas.microsoft.com/office/drawing/2014/main" id="{4A28D935-D9D6-3B7A-8393-F679035C2008}"/>
                </a:ext>
              </a:extLst>
            </p:cNvPr>
            <p:cNvSpPr/>
            <p:nvPr/>
          </p:nvSpPr>
          <p:spPr>
            <a:xfrm>
              <a:off x="5852160" y="1791670"/>
              <a:ext cx="2823528" cy="274320"/>
            </a:xfrm>
            <a:prstGeom prst="rect">
              <a:avLst/>
            </a:prstGeom>
            <a:solidFill>
              <a:srgbClr val="F4F7FB"/>
            </a:solidFill>
            <a:ln w="12700">
              <a:solidFill>
                <a:srgbClr val="D1D9E6"/>
              </a:solidFill>
              <a:prstDash val="solid"/>
            </a:ln>
          </p:spPr>
          <p:txBody>
            <a:bodyPr/>
            <a:lstStyle/>
            <a:p>
              <a:endParaRPr lang="ko-KR" altLang="en-US">
                <a:latin typeface="Rix고딕 L" panose="02020603020101020101" pitchFamily="18" charset="-127"/>
                <a:ea typeface="Rix고딕 L" panose="02020603020101020101" pitchFamily="18" charset="-127"/>
              </a:endParaRPr>
            </a:p>
          </p:txBody>
        </p:sp>
        <p:sp>
          <p:nvSpPr>
            <p:cNvPr id="18" name="Shape 15">
              <a:extLst>
                <a:ext uri="{FF2B5EF4-FFF2-40B4-BE49-F238E27FC236}">
                  <a16:creationId xmlns:a16="http://schemas.microsoft.com/office/drawing/2014/main" id="{CD05BCC4-A88B-52B5-FFD7-95AF44E709C8}"/>
                </a:ext>
              </a:extLst>
            </p:cNvPr>
            <p:cNvSpPr/>
            <p:nvPr/>
          </p:nvSpPr>
          <p:spPr>
            <a:xfrm>
              <a:off x="5852160" y="1791670"/>
              <a:ext cx="64008" cy="274320"/>
            </a:xfrm>
            <a:prstGeom prst="rect">
              <a:avLst/>
            </a:prstGeom>
            <a:solidFill>
              <a:srgbClr val="E85D2F"/>
            </a:solidFill>
            <a:ln w="12700">
              <a:solidFill>
                <a:srgbClr val="E85D2F"/>
              </a:solidFill>
              <a:prstDash val="solid"/>
            </a:ln>
          </p:spPr>
          <p:txBody>
            <a:bodyPr/>
            <a:lstStyle/>
            <a:p>
              <a:endParaRPr lang="ko-KR" altLang="en-US">
                <a:latin typeface="Rix고딕 L" panose="02020603020101020101" pitchFamily="18" charset="-127"/>
                <a:ea typeface="Rix고딕 L" panose="02020603020101020101" pitchFamily="18" charset="-127"/>
              </a:endParaRPr>
            </a:p>
          </p:txBody>
        </p:sp>
        <p:sp>
          <p:nvSpPr>
            <p:cNvPr id="19" name="Shape 16">
              <a:extLst>
                <a:ext uri="{FF2B5EF4-FFF2-40B4-BE49-F238E27FC236}">
                  <a16:creationId xmlns:a16="http://schemas.microsoft.com/office/drawing/2014/main" id="{D74755E3-B0CD-8127-FE6A-02CD35725CBA}"/>
                </a:ext>
              </a:extLst>
            </p:cNvPr>
            <p:cNvSpPr/>
            <p:nvPr/>
          </p:nvSpPr>
          <p:spPr>
            <a:xfrm>
              <a:off x="5989320" y="1992838"/>
              <a:ext cx="1211580" cy="45719"/>
            </a:xfrm>
            <a:prstGeom prst="rect">
              <a:avLst/>
            </a:prstGeom>
            <a:solidFill>
              <a:srgbClr val="D1D9E6"/>
            </a:solidFill>
            <a:ln w="12700">
              <a:solidFill>
                <a:srgbClr val="D1D9E6"/>
              </a:solidFill>
              <a:prstDash val="solid"/>
            </a:ln>
          </p:spPr>
          <p:txBody>
            <a:bodyPr/>
            <a:lstStyle/>
            <a:p>
              <a:endParaRPr lang="ko-KR" altLang="en-US">
                <a:latin typeface="Rix고딕 L" panose="02020603020101020101" pitchFamily="18" charset="-127"/>
                <a:ea typeface="Rix고딕 L" panose="02020603020101020101" pitchFamily="18" charset="-127"/>
              </a:endParaRPr>
            </a:p>
          </p:txBody>
        </p:sp>
        <p:sp>
          <p:nvSpPr>
            <p:cNvPr id="20" name="Shape 17">
              <a:extLst>
                <a:ext uri="{FF2B5EF4-FFF2-40B4-BE49-F238E27FC236}">
                  <a16:creationId xmlns:a16="http://schemas.microsoft.com/office/drawing/2014/main" id="{EBBA0425-D19F-589E-172E-BB2BFA244F32}"/>
                </a:ext>
              </a:extLst>
            </p:cNvPr>
            <p:cNvSpPr/>
            <p:nvPr/>
          </p:nvSpPr>
          <p:spPr>
            <a:xfrm>
              <a:off x="5989320" y="1958203"/>
              <a:ext cx="1463040" cy="59312"/>
            </a:xfrm>
            <a:prstGeom prst="rect">
              <a:avLst/>
            </a:prstGeom>
            <a:solidFill>
              <a:srgbClr val="E85D2F"/>
            </a:solidFill>
            <a:ln w="12700">
              <a:solidFill>
                <a:srgbClr val="E85D2F"/>
              </a:solidFill>
              <a:prstDash val="solid"/>
            </a:ln>
          </p:spPr>
          <p:txBody>
            <a:bodyPr/>
            <a:lstStyle/>
            <a:p>
              <a:endParaRPr lang="ko-KR" altLang="en-US">
                <a:latin typeface="Rix고딕 L" panose="02020603020101020101" pitchFamily="18" charset="-127"/>
                <a:ea typeface="Rix고딕 L" panose="02020603020101020101" pitchFamily="18" charset="-127"/>
              </a:endParaRPr>
            </a:p>
          </p:txBody>
        </p:sp>
        <p:sp>
          <p:nvSpPr>
            <p:cNvPr id="21" name="Text 18">
              <a:extLst>
                <a:ext uri="{FF2B5EF4-FFF2-40B4-BE49-F238E27FC236}">
                  <a16:creationId xmlns:a16="http://schemas.microsoft.com/office/drawing/2014/main" id="{6E1ECBB4-1A64-9DB3-3A61-E1C82DDF5D94}"/>
                </a:ext>
              </a:extLst>
            </p:cNvPr>
            <p:cNvSpPr/>
            <p:nvPr/>
          </p:nvSpPr>
          <p:spPr>
            <a:xfrm>
              <a:off x="5989320" y="1807465"/>
              <a:ext cx="1005840" cy="148281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800" b="1" dirty="0">
                  <a:solidFill>
                    <a:srgbClr val="1B3A6B"/>
                  </a:solidFill>
                  <a:latin typeface="Rix고딕 L" panose="02020603020101020101" pitchFamily="18" charset="-127"/>
                  <a:ea typeface="Rix고딕 L" panose="02020603020101020101" pitchFamily="18" charset="-127"/>
                </a:rPr>
                <a:t>공사테스트</a:t>
              </a:r>
              <a:endParaRPr lang="en-US" sz="800" dirty="0">
                <a:latin typeface="Rix고딕 L" panose="02020603020101020101" pitchFamily="18" charset="-127"/>
                <a:ea typeface="Rix고딕 L" panose="02020603020101020101" pitchFamily="18" charset="-127"/>
              </a:endParaRPr>
            </a:p>
          </p:txBody>
        </p:sp>
        <p:sp>
          <p:nvSpPr>
            <p:cNvPr id="22" name="Text 19">
              <a:extLst>
                <a:ext uri="{FF2B5EF4-FFF2-40B4-BE49-F238E27FC236}">
                  <a16:creationId xmlns:a16="http://schemas.microsoft.com/office/drawing/2014/main" id="{0E5F53A0-6929-06B3-C8A4-BAFD88C420BB}"/>
                </a:ext>
              </a:extLst>
            </p:cNvPr>
            <p:cNvSpPr/>
            <p:nvPr/>
          </p:nvSpPr>
          <p:spPr>
            <a:xfrm>
              <a:off x="7567629" y="1855954"/>
              <a:ext cx="548640" cy="148281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r">
                <a:buNone/>
              </a:pPr>
              <a:r>
                <a:rPr lang="en-US" sz="900" b="1" dirty="0">
                  <a:solidFill>
                    <a:srgbClr val="E85D2F"/>
                  </a:solidFill>
                  <a:latin typeface="Rix고딕 L" panose="02020603020101020101" pitchFamily="18" charset="-127"/>
                  <a:ea typeface="Rix고딕 L" panose="02020603020101020101" pitchFamily="18" charset="-127"/>
                </a:rPr>
                <a:t>2,007건</a:t>
              </a:r>
              <a:endParaRPr lang="en-US" sz="900" dirty="0">
                <a:latin typeface="Rix고딕 L" panose="02020603020101020101" pitchFamily="18" charset="-127"/>
                <a:ea typeface="Rix고딕 L" panose="02020603020101020101" pitchFamily="18" charset="-127"/>
              </a:endParaRPr>
            </a:p>
          </p:txBody>
        </p:sp>
        <p:sp>
          <p:nvSpPr>
            <p:cNvPr id="23" name="Text 20">
              <a:extLst>
                <a:ext uri="{FF2B5EF4-FFF2-40B4-BE49-F238E27FC236}">
                  <a16:creationId xmlns:a16="http://schemas.microsoft.com/office/drawing/2014/main" id="{34DC41BD-1F29-D2BE-D023-B313745E325A}"/>
                </a:ext>
              </a:extLst>
            </p:cNvPr>
            <p:cNvSpPr/>
            <p:nvPr/>
          </p:nvSpPr>
          <p:spPr>
            <a:xfrm>
              <a:off x="8165174" y="1860388"/>
              <a:ext cx="397764" cy="133453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r">
                <a:buNone/>
              </a:pPr>
              <a:r>
                <a:rPr lang="en-US" sz="800" dirty="0">
                  <a:solidFill>
                    <a:srgbClr val="E85D2F"/>
                  </a:solidFill>
                  <a:latin typeface="Rix고딕 L" panose="02020603020101020101" pitchFamily="18" charset="-127"/>
                  <a:ea typeface="Rix고딕 L" panose="02020603020101020101" pitchFamily="18" charset="-127"/>
                </a:rPr>
                <a:t>46.8%</a:t>
              </a:r>
              <a:endParaRPr lang="en-US" sz="800" dirty="0">
                <a:latin typeface="Rix고딕 L" panose="02020603020101020101" pitchFamily="18" charset="-127"/>
                <a:ea typeface="Rix고딕 L" panose="02020603020101020101" pitchFamily="18" charset="-127"/>
              </a:endParaRPr>
            </a:p>
          </p:txBody>
        </p:sp>
      </p:grpSp>
      <p:grpSp>
        <p:nvGrpSpPr>
          <p:cNvPr id="66" name="그룹 65">
            <a:extLst>
              <a:ext uri="{FF2B5EF4-FFF2-40B4-BE49-F238E27FC236}">
                <a16:creationId xmlns:a16="http://schemas.microsoft.com/office/drawing/2014/main" id="{6B99EC32-2B8F-6CF5-1AA1-96A1F8E3DCEC}"/>
              </a:ext>
            </a:extLst>
          </p:cNvPr>
          <p:cNvGrpSpPr/>
          <p:nvPr/>
        </p:nvGrpSpPr>
        <p:grpSpPr>
          <a:xfrm>
            <a:off x="5852160" y="2454219"/>
            <a:ext cx="2823528" cy="274320"/>
            <a:chOff x="5852160" y="2194006"/>
            <a:chExt cx="2823528" cy="274320"/>
          </a:xfrm>
        </p:grpSpPr>
        <p:sp>
          <p:nvSpPr>
            <p:cNvPr id="24" name="Shape 21">
              <a:extLst>
                <a:ext uri="{FF2B5EF4-FFF2-40B4-BE49-F238E27FC236}">
                  <a16:creationId xmlns:a16="http://schemas.microsoft.com/office/drawing/2014/main" id="{B70F5CF3-896A-B8DF-301E-429E262A6323}"/>
                </a:ext>
              </a:extLst>
            </p:cNvPr>
            <p:cNvSpPr/>
            <p:nvPr/>
          </p:nvSpPr>
          <p:spPr>
            <a:xfrm>
              <a:off x="5852160" y="2194006"/>
              <a:ext cx="2823528" cy="274320"/>
            </a:xfrm>
            <a:prstGeom prst="rect">
              <a:avLst/>
            </a:prstGeom>
            <a:solidFill>
              <a:srgbClr val="F4F7FB"/>
            </a:solidFill>
            <a:ln w="12700">
              <a:solidFill>
                <a:srgbClr val="D1D9E6"/>
              </a:solidFill>
              <a:prstDash val="solid"/>
            </a:ln>
          </p:spPr>
          <p:txBody>
            <a:bodyPr/>
            <a:lstStyle/>
            <a:p>
              <a:endParaRPr lang="ko-KR" altLang="en-US">
                <a:latin typeface="Rix고딕 L" panose="02020603020101020101" pitchFamily="18" charset="-127"/>
                <a:ea typeface="Rix고딕 L" panose="02020603020101020101" pitchFamily="18" charset="-127"/>
              </a:endParaRPr>
            </a:p>
          </p:txBody>
        </p:sp>
        <p:sp>
          <p:nvSpPr>
            <p:cNvPr id="25" name="Shape 22">
              <a:extLst>
                <a:ext uri="{FF2B5EF4-FFF2-40B4-BE49-F238E27FC236}">
                  <a16:creationId xmlns:a16="http://schemas.microsoft.com/office/drawing/2014/main" id="{79FB6639-2C3D-8000-1AF7-6EB99605ED29}"/>
                </a:ext>
              </a:extLst>
            </p:cNvPr>
            <p:cNvSpPr/>
            <p:nvPr/>
          </p:nvSpPr>
          <p:spPr>
            <a:xfrm>
              <a:off x="5852160" y="2194006"/>
              <a:ext cx="64008" cy="274320"/>
            </a:xfrm>
            <a:prstGeom prst="rect">
              <a:avLst/>
            </a:prstGeom>
            <a:solidFill>
              <a:srgbClr val="2563A8"/>
            </a:solidFill>
            <a:ln w="12700">
              <a:solidFill>
                <a:srgbClr val="2563A8"/>
              </a:solidFill>
              <a:prstDash val="solid"/>
            </a:ln>
          </p:spPr>
          <p:txBody>
            <a:bodyPr/>
            <a:lstStyle/>
            <a:p>
              <a:endParaRPr lang="ko-KR" altLang="en-US">
                <a:latin typeface="Rix고딕 L" panose="02020603020101020101" pitchFamily="18" charset="-127"/>
                <a:ea typeface="Rix고딕 L" panose="02020603020101020101" pitchFamily="18" charset="-127"/>
              </a:endParaRPr>
            </a:p>
          </p:txBody>
        </p:sp>
        <p:sp>
          <p:nvSpPr>
            <p:cNvPr id="26" name="Shape 23">
              <a:extLst>
                <a:ext uri="{FF2B5EF4-FFF2-40B4-BE49-F238E27FC236}">
                  <a16:creationId xmlns:a16="http://schemas.microsoft.com/office/drawing/2014/main" id="{99E6121D-6784-CD60-B233-585E8861E000}"/>
                </a:ext>
              </a:extLst>
            </p:cNvPr>
            <p:cNvSpPr/>
            <p:nvPr/>
          </p:nvSpPr>
          <p:spPr>
            <a:xfrm>
              <a:off x="5989320" y="2360539"/>
              <a:ext cx="1463040" cy="59312"/>
            </a:xfrm>
            <a:prstGeom prst="rect">
              <a:avLst/>
            </a:prstGeom>
            <a:solidFill>
              <a:srgbClr val="D1D9E6"/>
            </a:solidFill>
            <a:ln w="12700">
              <a:solidFill>
                <a:srgbClr val="D1D9E6"/>
              </a:solidFill>
              <a:prstDash val="solid"/>
            </a:ln>
          </p:spPr>
          <p:txBody>
            <a:bodyPr/>
            <a:lstStyle/>
            <a:p>
              <a:endParaRPr lang="ko-KR" altLang="en-US">
                <a:latin typeface="Rix고딕 L" panose="02020603020101020101" pitchFamily="18" charset="-127"/>
                <a:ea typeface="Rix고딕 L" panose="02020603020101020101" pitchFamily="18" charset="-127"/>
              </a:endParaRPr>
            </a:p>
          </p:txBody>
        </p:sp>
        <p:sp>
          <p:nvSpPr>
            <p:cNvPr id="27" name="Shape 24">
              <a:extLst>
                <a:ext uri="{FF2B5EF4-FFF2-40B4-BE49-F238E27FC236}">
                  <a16:creationId xmlns:a16="http://schemas.microsoft.com/office/drawing/2014/main" id="{12D6851A-67C3-1675-590F-CEC97744D8DF}"/>
                </a:ext>
              </a:extLst>
            </p:cNvPr>
            <p:cNvSpPr/>
            <p:nvPr/>
          </p:nvSpPr>
          <p:spPr>
            <a:xfrm>
              <a:off x="5989320" y="2360539"/>
              <a:ext cx="515668" cy="59312"/>
            </a:xfrm>
            <a:prstGeom prst="rect">
              <a:avLst/>
            </a:prstGeom>
            <a:solidFill>
              <a:srgbClr val="2563A8"/>
            </a:solidFill>
            <a:ln w="12700">
              <a:solidFill>
                <a:srgbClr val="2563A8"/>
              </a:solidFill>
              <a:prstDash val="solid"/>
            </a:ln>
          </p:spPr>
          <p:txBody>
            <a:bodyPr/>
            <a:lstStyle/>
            <a:p>
              <a:endParaRPr lang="ko-KR" altLang="en-US">
                <a:latin typeface="Rix고딕 L" panose="02020603020101020101" pitchFamily="18" charset="-127"/>
                <a:ea typeface="Rix고딕 L" panose="02020603020101020101" pitchFamily="18" charset="-127"/>
              </a:endParaRPr>
            </a:p>
          </p:txBody>
        </p:sp>
        <p:sp>
          <p:nvSpPr>
            <p:cNvPr id="28" name="Text 25">
              <a:extLst>
                <a:ext uri="{FF2B5EF4-FFF2-40B4-BE49-F238E27FC236}">
                  <a16:creationId xmlns:a16="http://schemas.microsoft.com/office/drawing/2014/main" id="{5972095A-50EF-565A-07C4-440DE58EAB12}"/>
                </a:ext>
              </a:extLst>
            </p:cNvPr>
            <p:cNvSpPr/>
            <p:nvPr/>
          </p:nvSpPr>
          <p:spPr>
            <a:xfrm>
              <a:off x="5989320" y="2209801"/>
              <a:ext cx="1005840" cy="148281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800" b="1" dirty="0">
                  <a:solidFill>
                    <a:srgbClr val="1B3A6B"/>
                  </a:solidFill>
                  <a:latin typeface="Rix고딕 L" panose="02020603020101020101" pitchFamily="18" charset="-127"/>
                  <a:ea typeface="Rix고딕 L" panose="02020603020101020101" pitchFamily="18" charset="-127"/>
                </a:rPr>
                <a:t>현업테스트</a:t>
              </a:r>
              <a:endParaRPr lang="en-US" sz="800" dirty="0">
                <a:latin typeface="Rix고딕 L" panose="02020603020101020101" pitchFamily="18" charset="-127"/>
                <a:ea typeface="Rix고딕 L" panose="02020603020101020101" pitchFamily="18" charset="-127"/>
              </a:endParaRPr>
            </a:p>
          </p:txBody>
        </p:sp>
        <p:sp>
          <p:nvSpPr>
            <p:cNvPr id="29" name="Text 26">
              <a:extLst>
                <a:ext uri="{FF2B5EF4-FFF2-40B4-BE49-F238E27FC236}">
                  <a16:creationId xmlns:a16="http://schemas.microsoft.com/office/drawing/2014/main" id="{2CBFF9BA-672C-0A53-7DCB-3CD1E2593A07}"/>
                </a:ext>
              </a:extLst>
            </p:cNvPr>
            <p:cNvSpPr/>
            <p:nvPr/>
          </p:nvSpPr>
          <p:spPr>
            <a:xfrm>
              <a:off x="7567629" y="2258290"/>
              <a:ext cx="548640" cy="148281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r">
                <a:buNone/>
              </a:pPr>
              <a:r>
                <a:rPr lang="en-US" sz="900" b="1" dirty="0">
                  <a:solidFill>
                    <a:srgbClr val="2563A8"/>
                  </a:solidFill>
                  <a:latin typeface="Rix고딕 L" panose="02020603020101020101" pitchFamily="18" charset="-127"/>
                  <a:ea typeface="Rix고딕 L" panose="02020603020101020101" pitchFamily="18" charset="-127"/>
                </a:rPr>
                <a:t>671건</a:t>
              </a:r>
              <a:endParaRPr lang="en-US" sz="900" dirty="0">
                <a:latin typeface="Rix고딕 L" panose="02020603020101020101" pitchFamily="18" charset="-127"/>
                <a:ea typeface="Rix고딕 L" panose="02020603020101020101" pitchFamily="18" charset="-127"/>
              </a:endParaRPr>
            </a:p>
          </p:txBody>
        </p:sp>
        <p:sp>
          <p:nvSpPr>
            <p:cNvPr id="30" name="Text 27">
              <a:extLst>
                <a:ext uri="{FF2B5EF4-FFF2-40B4-BE49-F238E27FC236}">
                  <a16:creationId xmlns:a16="http://schemas.microsoft.com/office/drawing/2014/main" id="{B22473F2-5AFF-7593-2FED-F99E59EFF505}"/>
                </a:ext>
              </a:extLst>
            </p:cNvPr>
            <p:cNvSpPr/>
            <p:nvPr/>
          </p:nvSpPr>
          <p:spPr>
            <a:xfrm>
              <a:off x="8165174" y="2262724"/>
              <a:ext cx="397764" cy="133453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r">
                <a:buNone/>
              </a:pPr>
              <a:r>
                <a:rPr lang="en-US" sz="800" dirty="0">
                  <a:solidFill>
                    <a:srgbClr val="2563A8"/>
                  </a:solidFill>
                  <a:latin typeface="Rix고딕 L" panose="02020603020101020101" pitchFamily="18" charset="-127"/>
                  <a:ea typeface="Rix고딕 L" panose="02020603020101020101" pitchFamily="18" charset="-127"/>
                </a:rPr>
                <a:t>16.5%</a:t>
              </a:r>
              <a:endParaRPr lang="en-US" sz="800" dirty="0">
                <a:latin typeface="Rix고딕 L" panose="02020603020101020101" pitchFamily="18" charset="-127"/>
                <a:ea typeface="Rix고딕 L" panose="02020603020101020101" pitchFamily="18" charset="-127"/>
              </a:endParaRPr>
            </a:p>
          </p:txBody>
        </p:sp>
      </p:grpSp>
      <p:grpSp>
        <p:nvGrpSpPr>
          <p:cNvPr id="65" name="그룹 64">
            <a:extLst>
              <a:ext uri="{FF2B5EF4-FFF2-40B4-BE49-F238E27FC236}">
                <a16:creationId xmlns:a16="http://schemas.microsoft.com/office/drawing/2014/main" id="{99B6B9F8-3569-3458-2532-6BA38B78A810}"/>
              </a:ext>
            </a:extLst>
          </p:cNvPr>
          <p:cNvGrpSpPr/>
          <p:nvPr/>
        </p:nvGrpSpPr>
        <p:grpSpPr>
          <a:xfrm>
            <a:off x="5852160" y="2808066"/>
            <a:ext cx="2823528" cy="274320"/>
            <a:chOff x="5852160" y="2596342"/>
            <a:chExt cx="2823528" cy="274320"/>
          </a:xfrm>
        </p:grpSpPr>
        <p:sp>
          <p:nvSpPr>
            <p:cNvPr id="31" name="Shape 28">
              <a:extLst>
                <a:ext uri="{FF2B5EF4-FFF2-40B4-BE49-F238E27FC236}">
                  <a16:creationId xmlns:a16="http://schemas.microsoft.com/office/drawing/2014/main" id="{EA719BFF-788D-06D4-1CFE-0160E1BAAA3C}"/>
                </a:ext>
              </a:extLst>
            </p:cNvPr>
            <p:cNvSpPr/>
            <p:nvPr/>
          </p:nvSpPr>
          <p:spPr>
            <a:xfrm>
              <a:off x="5852160" y="2596342"/>
              <a:ext cx="2823528" cy="274320"/>
            </a:xfrm>
            <a:prstGeom prst="rect">
              <a:avLst/>
            </a:prstGeom>
            <a:solidFill>
              <a:srgbClr val="F4F7FB"/>
            </a:solidFill>
            <a:ln w="12700">
              <a:solidFill>
                <a:srgbClr val="D1D9E6"/>
              </a:solidFill>
              <a:prstDash val="solid"/>
            </a:ln>
          </p:spPr>
          <p:txBody>
            <a:bodyPr/>
            <a:lstStyle/>
            <a:p>
              <a:endParaRPr lang="ko-KR" altLang="en-US">
                <a:latin typeface="Rix고딕 L" panose="02020603020101020101" pitchFamily="18" charset="-127"/>
                <a:ea typeface="Rix고딕 L" panose="02020603020101020101" pitchFamily="18" charset="-127"/>
              </a:endParaRPr>
            </a:p>
          </p:txBody>
        </p:sp>
        <p:sp>
          <p:nvSpPr>
            <p:cNvPr id="32" name="Shape 29">
              <a:extLst>
                <a:ext uri="{FF2B5EF4-FFF2-40B4-BE49-F238E27FC236}">
                  <a16:creationId xmlns:a16="http://schemas.microsoft.com/office/drawing/2014/main" id="{44D1BD23-75E3-EA9A-D430-0C6C0354F82C}"/>
                </a:ext>
              </a:extLst>
            </p:cNvPr>
            <p:cNvSpPr/>
            <p:nvPr/>
          </p:nvSpPr>
          <p:spPr>
            <a:xfrm>
              <a:off x="5852160" y="2596342"/>
              <a:ext cx="64008" cy="274320"/>
            </a:xfrm>
            <a:prstGeom prst="rect">
              <a:avLst/>
            </a:prstGeom>
            <a:solidFill>
              <a:srgbClr val="1B3A6B"/>
            </a:solidFill>
            <a:ln w="12700">
              <a:solidFill>
                <a:srgbClr val="1B3A6B"/>
              </a:solidFill>
              <a:prstDash val="solid"/>
            </a:ln>
          </p:spPr>
          <p:txBody>
            <a:bodyPr/>
            <a:lstStyle/>
            <a:p>
              <a:endParaRPr lang="ko-KR" altLang="en-US">
                <a:latin typeface="Rix고딕 L" panose="02020603020101020101" pitchFamily="18" charset="-127"/>
                <a:ea typeface="Rix고딕 L" panose="02020603020101020101" pitchFamily="18" charset="-127"/>
              </a:endParaRPr>
            </a:p>
          </p:txBody>
        </p:sp>
        <p:sp>
          <p:nvSpPr>
            <p:cNvPr id="33" name="Shape 30">
              <a:extLst>
                <a:ext uri="{FF2B5EF4-FFF2-40B4-BE49-F238E27FC236}">
                  <a16:creationId xmlns:a16="http://schemas.microsoft.com/office/drawing/2014/main" id="{3FAE4A5A-8B59-8D2B-09ED-8C13904F2F67}"/>
                </a:ext>
              </a:extLst>
            </p:cNvPr>
            <p:cNvSpPr/>
            <p:nvPr/>
          </p:nvSpPr>
          <p:spPr>
            <a:xfrm>
              <a:off x="5989320" y="2762875"/>
              <a:ext cx="1463040" cy="59312"/>
            </a:xfrm>
            <a:prstGeom prst="rect">
              <a:avLst/>
            </a:prstGeom>
            <a:solidFill>
              <a:srgbClr val="D1D9E6"/>
            </a:solidFill>
            <a:ln w="12700">
              <a:solidFill>
                <a:srgbClr val="D1D9E6"/>
              </a:solidFill>
              <a:prstDash val="solid"/>
            </a:ln>
          </p:spPr>
          <p:txBody>
            <a:bodyPr/>
            <a:lstStyle/>
            <a:p>
              <a:endParaRPr lang="ko-KR" altLang="en-US">
                <a:latin typeface="Rix고딕 L" panose="02020603020101020101" pitchFamily="18" charset="-127"/>
                <a:ea typeface="Rix고딕 L" panose="02020603020101020101" pitchFamily="18" charset="-127"/>
              </a:endParaRPr>
            </a:p>
          </p:txBody>
        </p:sp>
        <p:sp>
          <p:nvSpPr>
            <p:cNvPr id="34" name="Shape 31">
              <a:extLst>
                <a:ext uri="{FF2B5EF4-FFF2-40B4-BE49-F238E27FC236}">
                  <a16:creationId xmlns:a16="http://schemas.microsoft.com/office/drawing/2014/main" id="{F2E0FA40-68F0-1423-4747-D593D09A5F77}"/>
                </a:ext>
              </a:extLst>
            </p:cNvPr>
            <p:cNvSpPr/>
            <p:nvPr/>
          </p:nvSpPr>
          <p:spPr>
            <a:xfrm>
              <a:off x="5989320" y="2797510"/>
              <a:ext cx="246688" cy="59312"/>
            </a:xfrm>
            <a:prstGeom prst="rect">
              <a:avLst/>
            </a:prstGeom>
            <a:solidFill>
              <a:srgbClr val="1B3A6B"/>
            </a:solidFill>
            <a:ln w="12700">
              <a:solidFill>
                <a:srgbClr val="1B3A6B"/>
              </a:solidFill>
              <a:prstDash val="solid"/>
            </a:ln>
          </p:spPr>
          <p:txBody>
            <a:bodyPr/>
            <a:lstStyle/>
            <a:p>
              <a:endParaRPr lang="ko-KR" altLang="en-US">
                <a:latin typeface="Rix고딕 L" panose="02020603020101020101" pitchFamily="18" charset="-127"/>
                <a:ea typeface="Rix고딕 L" panose="02020603020101020101" pitchFamily="18" charset="-127"/>
              </a:endParaRPr>
            </a:p>
          </p:txBody>
        </p:sp>
        <p:sp>
          <p:nvSpPr>
            <p:cNvPr id="35" name="Text 32">
              <a:extLst>
                <a:ext uri="{FF2B5EF4-FFF2-40B4-BE49-F238E27FC236}">
                  <a16:creationId xmlns:a16="http://schemas.microsoft.com/office/drawing/2014/main" id="{7BF993C8-4B21-ECEB-A0B3-10DF92BEFBEB}"/>
                </a:ext>
              </a:extLst>
            </p:cNvPr>
            <p:cNvSpPr/>
            <p:nvPr/>
          </p:nvSpPr>
          <p:spPr>
            <a:xfrm>
              <a:off x="5989320" y="2612137"/>
              <a:ext cx="1005840" cy="148281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800" b="1" dirty="0">
                  <a:solidFill>
                    <a:srgbClr val="1B3A6B"/>
                  </a:solidFill>
                  <a:latin typeface="Rix고딕 L" panose="02020603020101020101" pitchFamily="18" charset="-127"/>
                  <a:ea typeface="Rix고딕 L" panose="02020603020101020101" pitchFamily="18" charset="-127"/>
                </a:rPr>
                <a:t>감리테스트</a:t>
              </a:r>
              <a:endParaRPr lang="en-US" sz="800" dirty="0">
                <a:latin typeface="Rix고딕 L" panose="02020603020101020101" pitchFamily="18" charset="-127"/>
                <a:ea typeface="Rix고딕 L" panose="02020603020101020101" pitchFamily="18" charset="-127"/>
              </a:endParaRPr>
            </a:p>
          </p:txBody>
        </p:sp>
        <p:sp>
          <p:nvSpPr>
            <p:cNvPr id="36" name="Text 33">
              <a:extLst>
                <a:ext uri="{FF2B5EF4-FFF2-40B4-BE49-F238E27FC236}">
                  <a16:creationId xmlns:a16="http://schemas.microsoft.com/office/drawing/2014/main" id="{7F402274-1516-90F8-4DDD-B9ED13CA138E}"/>
                </a:ext>
              </a:extLst>
            </p:cNvPr>
            <p:cNvSpPr/>
            <p:nvPr/>
          </p:nvSpPr>
          <p:spPr>
            <a:xfrm>
              <a:off x="7567629" y="2660626"/>
              <a:ext cx="548640" cy="148281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r">
                <a:buNone/>
              </a:pPr>
              <a:r>
                <a:rPr lang="en-US" sz="900" b="1" dirty="0">
                  <a:solidFill>
                    <a:srgbClr val="1B3A6B"/>
                  </a:solidFill>
                  <a:latin typeface="Rix고딕 L" panose="02020603020101020101" pitchFamily="18" charset="-127"/>
                  <a:ea typeface="Rix고딕 L" panose="02020603020101020101" pitchFamily="18" charset="-127"/>
                </a:rPr>
                <a:t>435건</a:t>
              </a:r>
              <a:endParaRPr lang="en-US" sz="900" dirty="0">
                <a:latin typeface="Rix고딕 L" panose="02020603020101020101" pitchFamily="18" charset="-127"/>
                <a:ea typeface="Rix고딕 L" panose="02020603020101020101" pitchFamily="18" charset="-127"/>
              </a:endParaRPr>
            </a:p>
          </p:txBody>
        </p:sp>
        <p:sp>
          <p:nvSpPr>
            <p:cNvPr id="37" name="Text 34">
              <a:extLst>
                <a:ext uri="{FF2B5EF4-FFF2-40B4-BE49-F238E27FC236}">
                  <a16:creationId xmlns:a16="http://schemas.microsoft.com/office/drawing/2014/main" id="{2842DD44-8652-F607-1C26-00A48760A180}"/>
                </a:ext>
              </a:extLst>
            </p:cNvPr>
            <p:cNvSpPr/>
            <p:nvPr/>
          </p:nvSpPr>
          <p:spPr>
            <a:xfrm>
              <a:off x="8165174" y="2665060"/>
              <a:ext cx="397764" cy="133453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r">
                <a:buNone/>
              </a:pPr>
              <a:r>
                <a:rPr lang="en-US" sz="800" dirty="0">
                  <a:solidFill>
                    <a:srgbClr val="1B3A6B"/>
                  </a:solidFill>
                  <a:latin typeface="Rix고딕 L" panose="02020603020101020101" pitchFamily="18" charset="-127"/>
                  <a:ea typeface="Rix고딕 L" panose="02020603020101020101" pitchFamily="18" charset="-127"/>
                </a:rPr>
                <a:t>7.9%</a:t>
              </a:r>
              <a:endParaRPr lang="en-US" sz="800" dirty="0">
                <a:latin typeface="Rix고딕 L" panose="02020603020101020101" pitchFamily="18" charset="-127"/>
                <a:ea typeface="Rix고딕 L" panose="02020603020101020101" pitchFamily="18" charset="-127"/>
              </a:endParaRPr>
            </a:p>
          </p:txBody>
        </p:sp>
      </p:grpSp>
      <p:sp>
        <p:nvSpPr>
          <p:cNvPr id="45" name="Shape 42">
            <a:extLst>
              <a:ext uri="{FF2B5EF4-FFF2-40B4-BE49-F238E27FC236}">
                <a16:creationId xmlns:a16="http://schemas.microsoft.com/office/drawing/2014/main" id="{252D17A2-F653-DA72-091B-761D83606480}"/>
              </a:ext>
            </a:extLst>
          </p:cNvPr>
          <p:cNvSpPr/>
          <p:nvPr/>
        </p:nvSpPr>
        <p:spPr>
          <a:xfrm>
            <a:off x="5852161" y="3275212"/>
            <a:ext cx="2823528" cy="256032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  <p:txBody>
          <a:bodyPr/>
          <a:lstStyle/>
          <a:p>
            <a:endParaRPr lang="ko-KR" altLang="en-US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46" name="Text 43">
            <a:extLst>
              <a:ext uri="{FF2B5EF4-FFF2-40B4-BE49-F238E27FC236}">
                <a16:creationId xmlns:a16="http://schemas.microsoft.com/office/drawing/2014/main" id="{E55D8329-9F86-A54E-61C9-9A3A088B7813}"/>
              </a:ext>
            </a:extLst>
          </p:cNvPr>
          <p:cNvSpPr/>
          <p:nvPr/>
        </p:nvSpPr>
        <p:spPr>
          <a:xfrm>
            <a:off x="5961888" y="3275212"/>
            <a:ext cx="19629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FFFFFF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모듈별 주요 특징</a:t>
            </a:r>
            <a:endParaRPr lang="en-US" sz="950" dirty="0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47" name="Shape 44">
            <a:extLst>
              <a:ext uri="{FF2B5EF4-FFF2-40B4-BE49-F238E27FC236}">
                <a16:creationId xmlns:a16="http://schemas.microsoft.com/office/drawing/2014/main" id="{04F714BA-D9AE-FC53-2C6D-9E49FFB0271C}"/>
              </a:ext>
            </a:extLst>
          </p:cNvPr>
          <p:cNvSpPr/>
          <p:nvPr/>
        </p:nvSpPr>
        <p:spPr>
          <a:xfrm>
            <a:off x="5852160" y="3602182"/>
            <a:ext cx="2823528" cy="256032"/>
          </a:xfrm>
          <a:prstGeom prst="rect">
            <a:avLst/>
          </a:prstGeom>
          <a:solidFill>
            <a:srgbClr val="F4F7FB"/>
          </a:solidFill>
          <a:ln w="12700">
            <a:solidFill>
              <a:srgbClr val="D1D9E6"/>
            </a:solidFill>
            <a:prstDash val="solid"/>
          </a:ln>
        </p:spPr>
        <p:txBody>
          <a:bodyPr/>
          <a:lstStyle/>
          <a:p>
            <a:endParaRPr lang="ko-KR" altLang="en-US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48" name="Shape 45">
            <a:extLst>
              <a:ext uri="{FF2B5EF4-FFF2-40B4-BE49-F238E27FC236}">
                <a16:creationId xmlns:a16="http://schemas.microsoft.com/office/drawing/2014/main" id="{0EBAEFFB-0BD4-1F73-2A9A-BCB518AE445D}"/>
              </a:ext>
            </a:extLst>
          </p:cNvPr>
          <p:cNvSpPr/>
          <p:nvPr/>
        </p:nvSpPr>
        <p:spPr>
          <a:xfrm>
            <a:off x="5852160" y="3602182"/>
            <a:ext cx="54864" cy="256032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  <p:txBody>
          <a:bodyPr/>
          <a:lstStyle/>
          <a:p>
            <a:endParaRPr lang="ko-KR" altLang="en-US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49" name="Text 46">
            <a:extLst>
              <a:ext uri="{FF2B5EF4-FFF2-40B4-BE49-F238E27FC236}">
                <a16:creationId xmlns:a16="http://schemas.microsoft.com/office/drawing/2014/main" id="{0F34D97B-0D6D-F368-4816-9F93D8A8E6F5}"/>
              </a:ext>
            </a:extLst>
          </p:cNvPr>
          <p:cNvSpPr/>
          <p:nvPr/>
        </p:nvSpPr>
        <p:spPr>
          <a:xfrm>
            <a:off x="5971032" y="3602182"/>
            <a:ext cx="1005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DC2626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공항운영(GO)</a:t>
            </a:r>
            <a:endParaRPr lang="en-US" sz="800" dirty="0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50" name="Text 47">
            <a:extLst>
              <a:ext uri="{FF2B5EF4-FFF2-40B4-BE49-F238E27FC236}">
                <a16:creationId xmlns:a16="http://schemas.microsoft.com/office/drawing/2014/main" id="{E1960791-2907-7339-82C1-D528E50C496A}"/>
              </a:ext>
            </a:extLst>
          </p:cNvPr>
          <p:cNvSpPr/>
          <p:nvPr/>
        </p:nvSpPr>
        <p:spPr>
          <a:xfrm>
            <a:off x="6766561" y="3602182"/>
            <a:ext cx="184708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4B5563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현업 248건 최다 — 데이터 22.3% · ASIS 정합성 집중</a:t>
            </a:r>
            <a:endParaRPr lang="en-US" sz="750" dirty="0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51" name="Shape 48">
            <a:extLst>
              <a:ext uri="{FF2B5EF4-FFF2-40B4-BE49-F238E27FC236}">
                <a16:creationId xmlns:a16="http://schemas.microsoft.com/office/drawing/2014/main" id="{42752234-7327-1E24-511F-8B01223EB479}"/>
              </a:ext>
            </a:extLst>
          </p:cNvPr>
          <p:cNvSpPr/>
          <p:nvPr/>
        </p:nvSpPr>
        <p:spPr>
          <a:xfrm>
            <a:off x="5852160" y="3913078"/>
            <a:ext cx="2823528" cy="256032"/>
          </a:xfrm>
          <a:prstGeom prst="rect">
            <a:avLst/>
          </a:prstGeom>
          <a:solidFill>
            <a:srgbClr val="F4F7FB"/>
          </a:solidFill>
          <a:ln w="12700">
            <a:solidFill>
              <a:srgbClr val="D1D9E6"/>
            </a:solidFill>
            <a:prstDash val="solid"/>
          </a:ln>
        </p:spPr>
        <p:txBody>
          <a:bodyPr/>
          <a:lstStyle/>
          <a:p>
            <a:endParaRPr lang="ko-KR" altLang="en-US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52" name="Shape 49">
            <a:extLst>
              <a:ext uri="{FF2B5EF4-FFF2-40B4-BE49-F238E27FC236}">
                <a16:creationId xmlns:a16="http://schemas.microsoft.com/office/drawing/2014/main" id="{089FB7BD-1A60-AF55-113E-1CA34AEF366E}"/>
              </a:ext>
            </a:extLst>
          </p:cNvPr>
          <p:cNvSpPr/>
          <p:nvPr/>
        </p:nvSpPr>
        <p:spPr>
          <a:xfrm>
            <a:off x="5852160" y="3913078"/>
            <a:ext cx="54864" cy="256032"/>
          </a:xfrm>
          <a:prstGeom prst="rect">
            <a:avLst/>
          </a:prstGeom>
          <a:solidFill>
            <a:srgbClr val="E85D2F"/>
          </a:solidFill>
          <a:ln w="12700">
            <a:solidFill>
              <a:srgbClr val="E85D2F"/>
            </a:solidFill>
            <a:prstDash val="solid"/>
          </a:ln>
        </p:spPr>
        <p:txBody>
          <a:bodyPr/>
          <a:lstStyle/>
          <a:p>
            <a:endParaRPr lang="ko-KR" altLang="en-US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53" name="Text 50">
            <a:extLst>
              <a:ext uri="{FF2B5EF4-FFF2-40B4-BE49-F238E27FC236}">
                <a16:creationId xmlns:a16="http://schemas.microsoft.com/office/drawing/2014/main" id="{E3BC1257-4422-5251-830F-E6D6CD9B88C9}"/>
              </a:ext>
            </a:extLst>
          </p:cNvPr>
          <p:cNvSpPr/>
          <p:nvPr/>
        </p:nvSpPr>
        <p:spPr>
          <a:xfrm>
            <a:off x="5971032" y="3913078"/>
            <a:ext cx="1005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E85D2F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항공기관제(AC)</a:t>
            </a:r>
            <a:endParaRPr lang="en-US" sz="800" dirty="0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54" name="Text 51">
            <a:extLst>
              <a:ext uri="{FF2B5EF4-FFF2-40B4-BE49-F238E27FC236}">
                <a16:creationId xmlns:a16="http://schemas.microsoft.com/office/drawing/2014/main" id="{1759413D-0EBD-38D7-09D6-337EC05F0A17}"/>
              </a:ext>
            </a:extLst>
          </p:cNvPr>
          <p:cNvSpPr/>
          <p:nvPr/>
        </p:nvSpPr>
        <p:spPr>
          <a:xfrm>
            <a:off x="6766561" y="3913078"/>
            <a:ext cx="184708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4B5563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감리 99건 · PL 40건 — 구조적 품질 이상 · 기능 73.6%</a:t>
            </a:r>
            <a:endParaRPr lang="en-US" sz="750" dirty="0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55" name="Shape 52">
            <a:extLst>
              <a:ext uri="{FF2B5EF4-FFF2-40B4-BE49-F238E27FC236}">
                <a16:creationId xmlns:a16="http://schemas.microsoft.com/office/drawing/2014/main" id="{93FB64FF-A845-2BF0-0E1C-BB1D86789631}"/>
              </a:ext>
            </a:extLst>
          </p:cNvPr>
          <p:cNvSpPr/>
          <p:nvPr/>
        </p:nvSpPr>
        <p:spPr>
          <a:xfrm>
            <a:off x="5852160" y="4223974"/>
            <a:ext cx="2823528" cy="256032"/>
          </a:xfrm>
          <a:prstGeom prst="rect">
            <a:avLst/>
          </a:prstGeom>
          <a:solidFill>
            <a:srgbClr val="F4F7FB"/>
          </a:solidFill>
          <a:ln w="12700">
            <a:solidFill>
              <a:srgbClr val="D1D9E6"/>
            </a:solidFill>
            <a:prstDash val="solid"/>
          </a:ln>
        </p:spPr>
        <p:txBody>
          <a:bodyPr/>
          <a:lstStyle/>
          <a:p>
            <a:endParaRPr lang="ko-KR" altLang="en-US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56" name="Shape 53">
            <a:extLst>
              <a:ext uri="{FF2B5EF4-FFF2-40B4-BE49-F238E27FC236}">
                <a16:creationId xmlns:a16="http://schemas.microsoft.com/office/drawing/2014/main" id="{90B5BCB4-F8D7-D7F3-CB7B-981A3D1791B7}"/>
              </a:ext>
            </a:extLst>
          </p:cNvPr>
          <p:cNvSpPr/>
          <p:nvPr/>
        </p:nvSpPr>
        <p:spPr>
          <a:xfrm>
            <a:off x="5852160" y="4223974"/>
            <a:ext cx="54864" cy="256032"/>
          </a:xfrm>
          <a:prstGeom prst="rect">
            <a:avLst/>
          </a:prstGeom>
          <a:solidFill>
            <a:srgbClr val="2563A8"/>
          </a:solidFill>
          <a:ln w="12700">
            <a:solidFill>
              <a:srgbClr val="2563A8"/>
            </a:solidFill>
            <a:prstDash val="solid"/>
          </a:ln>
        </p:spPr>
        <p:txBody>
          <a:bodyPr/>
          <a:lstStyle/>
          <a:p>
            <a:endParaRPr lang="ko-KR" altLang="en-US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57" name="Text 54">
            <a:extLst>
              <a:ext uri="{FF2B5EF4-FFF2-40B4-BE49-F238E27FC236}">
                <a16:creationId xmlns:a16="http://schemas.microsoft.com/office/drawing/2014/main" id="{1ABCBC85-156F-5869-F058-14690BB3BBE3}"/>
              </a:ext>
            </a:extLst>
          </p:cNvPr>
          <p:cNvSpPr/>
          <p:nvPr/>
        </p:nvSpPr>
        <p:spPr>
          <a:xfrm>
            <a:off x="5971032" y="4223974"/>
            <a:ext cx="1005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2563A8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항공보안(FS)</a:t>
            </a:r>
            <a:endParaRPr lang="en-US" sz="800" dirty="0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58" name="Text 55">
            <a:extLst>
              <a:ext uri="{FF2B5EF4-FFF2-40B4-BE49-F238E27FC236}">
                <a16:creationId xmlns:a16="http://schemas.microsoft.com/office/drawing/2014/main" id="{9A3D1C2D-93CB-ACC9-0381-31ACAACEEC4C}"/>
              </a:ext>
            </a:extLst>
          </p:cNvPr>
          <p:cNvSpPr/>
          <p:nvPr/>
        </p:nvSpPr>
        <p:spPr>
          <a:xfrm>
            <a:off x="6766561" y="4223974"/>
            <a:ext cx="184708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4B5563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현업 223건 집중 — UI 39.4% 화면 표준 미준수</a:t>
            </a:r>
            <a:endParaRPr lang="en-US" sz="750" dirty="0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59" name="Shape 56">
            <a:extLst>
              <a:ext uri="{FF2B5EF4-FFF2-40B4-BE49-F238E27FC236}">
                <a16:creationId xmlns:a16="http://schemas.microsoft.com/office/drawing/2014/main" id="{41F215C1-A66E-7DB4-FD30-33849A75A7D4}"/>
              </a:ext>
            </a:extLst>
          </p:cNvPr>
          <p:cNvSpPr/>
          <p:nvPr/>
        </p:nvSpPr>
        <p:spPr>
          <a:xfrm>
            <a:off x="5852160" y="4534870"/>
            <a:ext cx="2823528" cy="256032"/>
          </a:xfrm>
          <a:prstGeom prst="rect">
            <a:avLst/>
          </a:prstGeom>
          <a:solidFill>
            <a:srgbClr val="F4F7FB"/>
          </a:solidFill>
          <a:ln w="12700">
            <a:solidFill>
              <a:srgbClr val="D1D9E6"/>
            </a:solidFill>
            <a:prstDash val="solid"/>
          </a:ln>
        </p:spPr>
        <p:txBody>
          <a:bodyPr/>
          <a:lstStyle/>
          <a:p>
            <a:endParaRPr lang="ko-KR" altLang="en-US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60" name="Shape 57">
            <a:extLst>
              <a:ext uri="{FF2B5EF4-FFF2-40B4-BE49-F238E27FC236}">
                <a16:creationId xmlns:a16="http://schemas.microsoft.com/office/drawing/2014/main" id="{7062616D-DCE1-BCBA-E838-4075167D1AB3}"/>
              </a:ext>
            </a:extLst>
          </p:cNvPr>
          <p:cNvSpPr/>
          <p:nvPr/>
        </p:nvSpPr>
        <p:spPr>
          <a:xfrm>
            <a:off x="5852160" y="4534870"/>
            <a:ext cx="54864" cy="256032"/>
          </a:xfrm>
          <a:prstGeom prst="rect">
            <a:avLst/>
          </a:prstGeom>
          <a:solidFill>
            <a:srgbClr val="3B82C4"/>
          </a:solidFill>
          <a:ln w="12700">
            <a:solidFill>
              <a:srgbClr val="3B82C4"/>
            </a:solidFill>
            <a:prstDash val="solid"/>
          </a:ln>
        </p:spPr>
        <p:txBody>
          <a:bodyPr/>
          <a:lstStyle/>
          <a:p>
            <a:endParaRPr lang="ko-KR" altLang="en-US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61" name="Text 58">
            <a:extLst>
              <a:ext uri="{FF2B5EF4-FFF2-40B4-BE49-F238E27FC236}">
                <a16:creationId xmlns:a16="http://schemas.microsoft.com/office/drawing/2014/main" id="{722D2641-990A-C269-B0DA-4694198ED6AF}"/>
              </a:ext>
            </a:extLst>
          </p:cNvPr>
          <p:cNvSpPr/>
          <p:nvPr/>
        </p:nvSpPr>
        <p:spPr>
          <a:xfrm>
            <a:off x="5971032" y="4534870"/>
            <a:ext cx="1005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3B82C4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항공통계포털(AS)</a:t>
            </a:r>
            <a:endParaRPr lang="en-US" sz="800" dirty="0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62" name="Text 59">
            <a:extLst>
              <a:ext uri="{FF2B5EF4-FFF2-40B4-BE49-F238E27FC236}">
                <a16:creationId xmlns:a16="http://schemas.microsoft.com/office/drawing/2014/main" id="{4C229075-10B9-2B56-49CA-9B61EF012B19}"/>
              </a:ext>
            </a:extLst>
          </p:cNvPr>
          <p:cNvSpPr/>
          <p:nvPr/>
        </p:nvSpPr>
        <p:spPr>
          <a:xfrm>
            <a:off x="6766561" y="4534870"/>
            <a:ext cx="184708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4B5563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감리 0건→ 하위 단계 TC 커버리지 부족 가능성</a:t>
            </a:r>
            <a:endParaRPr lang="en-US" sz="750" dirty="0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63" name="Text 60">
            <a:extLst>
              <a:ext uri="{FF2B5EF4-FFF2-40B4-BE49-F238E27FC236}">
                <a16:creationId xmlns:a16="http://schemas.microsoft.com/office/drawing/2014/main" id="{C8CDE0DD-2896-5F02-1EAA-6BECD1051DFA}"/>
              </a:ext>
            </a:extLst>
          </p:cNvPr>
          <p:cNvSpPr/>
          <p:nvPr/>
        </p:nvSpPr>
        <p:spPr>
          <a:xfrm>
            <a:off x="431800" y="4567982"/>
            <a:ext cx="4645891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9CA3AF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합계 : 3자 1,008 + 공사 1,969 + 현업 694 + 감리 332 + PL 200 = 4,203건</a:t>
            </a:r>
            <a:endParaRPr lang="en-US" sz="850" dirty="0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grpSp>
        <p:nvGrpSpPr>
          <p:cNvPr id="2" name="그룹 1">
            <a:extLst>
              <a:ext uri="{FF2B5EF4-FFF2-40B4-BE49-F238E27FC236}">
                <a16:creationId xmlns:a16="http://schemas.microsoft.com/office/drawing/2014/main" id="{61B41C38-9BCC-47C7-F8B2-97C3D49D8D24}"/>
              </a:ext>
            </a:extLst>
          </p:cNvPr>
          <p:cNvGrpSpPr/>
          <p:nvPr/>
        </p:nvGrpSpPr>
        <p:grpSpPr>
          <a:xfrm>
            <a:off x="5852161" y="1417273"/>
            <a:ext cx="2823528" cy="274320"/>
            <a:chOff x="5852160" y="2998678"/>
            <a:chExt cx="2823528" cy="274320"/>
          </a:xfrm>
        </p:grpSpPr>
        <p:sp>
          <p:nvSpPr>
            <p:cNvPr id="4" name="Shape 35">
              <a:extLst>
                <a:ext uri="{FF2B5EF4-FFF2-40B4-BE49-F238E27FC236}">
                  <a16:creationId xmlns:a16="http://schemas.microsoft.com/office/drawing/2014/main" id="{E99B09CD-D964-E789-908F-4A5B1480CEC7}"/>
                </a:ext>
              </a:extLst>
            </p:cNvPr>
            <p:cNvSpPr/>
            <p:nvPr/>
          </p:nvSpPr>
          <p:spPr>
            <a:xfrm>
              <a:off x="5852160" y="2998678"/>
              <a:ext cx="2823528" cy="274320"/>
            </a:xfrm>
            <a:prstGeom prst="rect">
              <a:avLst/>
            </a:prstGeom>
            <a:solidFill>
              <a:srgbClr val="F4F7FB"/>
            </a:solidFill>
            <a:ln w="12700">
              <a:solidFill>
                <a:srgbClr val="D1D9E6"/>
              </a:solidFill>
              <a:prstDash val="solid"/>
            </a:ln>
          </p:spPr>
          <p:txBody>
            <a:bodyPr/>
            <a:lstStyle/>
            <a:p>
              <a:endParaRPr lang="ko-KR" altLang="en-US">
                <a:latin typeface="Rix고딕 L" panose="02020603020101020101" pitchFamily="18" charset="-127"/>
                <a:ea typeface="Rix고딕 L" panose="02020603020101020101" pitchFamily="18" charset="-127"/>
              </a:endParaRPr>
            </a:p>
          </p:txBody>
        </p:sp>
        <p:sp>
          <p:nvSpPr>
            <p:cNvPr id="7" name="Shape 36">
              <a:extLst>
                <a:ext uri="{FF2B5EF4-FFF2-40B4-BE49-F238E27FC236}">
                  <a16:creationId xmlns:a16="http://schemas.microsoft.com/office/drawing/2014/main" id="{E2B3E505-553A-BE75-879F-32C89C466BCE}"/>
                </a:ext>
              </a:extLst>
            </p:cNvPr>
            <p:cNvSpPr/>
            <p:nvPr/>
          </p:nvSpPr>
          <p:spPr>
            <a:xfrm>
              <a:off x="5852160" y="2998678"/>
              <a:ext cx="64008" cy="274320"/>
            </a:xfrm>
            <a:prstGeom prst="rect">
              <a:avLst/>
            </a:prstGeom>
            <a:solidFill>
              <a:srgbClr val="9CA3AF"/>
            </a:solidFill>
            <a:ln w="12700">
              <a:solidFill>
                <a:srgbClr val="9CA3AF"/>
              </a:solidFill>
              <a:prstDash val="solid"/>
            </a:ln>
          </p:spPr>
          <p:txBody>
            <a:bodyPr/>
            <a:lstStyle/>
            <a:p>
              <a:endParaRPr lang="ko-KR" altLang="en-US">
                <a:latin typeface="Rix고딕 L" panose="02020603020101020101" pitchFamily="18" charset="-127"/>
                <a:ea typeface="Rix고딕 L" panose="02020603020101020101" pitchFamily="18" charset="-127"/>
              </a:endParaRPr>
            </a:p>
          </p:txBody>
        </p:sp>
        <p:sp>
          <p:nvSpPr>
            <p:cNvPr id="69" name="Shape 37">
              <a:extLst>
                <a:ext uri="{FF2B5EF4-FFF2-40B4-BE49-F238E27FC236}">
                  <a16:creationId xmlns:a16="http://schemas.microsoft.com/office/drawing/2014/main" id="{48EEE3A4-9352-824D-3F0A-5BB5669A9B64}"/>
                </a:ext>
              </a:extLst>
            </p:cNvPr>
            <p:cNvSpPr/>
            <p:nvPr/>
          </p:nvSpPr>
          <p:spPr>
            <a:xfrm>
              <a:off x="5989320" y="3165211"/>
              <a:ext cx="1463040" cy="59312"/>
            </a:xfrm>
            <a:prstGeom prst="rect">
              <a:avLst/>
            </a:prstGeom>
            <a:solidFill>
              <a:srgbClr val="D1D9E6"/>
            </a:solidFill>
            <a:ln w="12700">
              <a:solidFill>
                <a:srgbClr val="D1D9E6"/>
              </a:solidFill>
              <a:prstDash val="solid"/>
            </a:ln>
          </p:spPr>
          <p:txBody>
            <a:bodyPr/>
            <a:lstStyle/>
            <a:p>
              <a:endParaRPr lang="ko-KR" altLang="en-US">
                <a:latin typeface="Rix고딕 L" panose="02020603020101020101" pitchFamily="18" charset="-127"/>
                <a:ea typeface="Rix고딕 L" panose="02020603020101020101" pitchFamily="18" charset="-127"/>
              </a:endParaRPr>
            </a:p>
          </p:txBody>
        </p:sp>
        <p:sp>
          <p:nvSpPr>
            <p:cNvPr id="70" name="Shape 38">
              <a:extLst>
                <a:ext uri="{FF2B5EF4-FFF2-40B4-BE49-F238E27FC236}">
                  <a16:creationId xmlns:a16="http://schemas.microsoft.com/office/drawing/2014/main" id="{4C10E666-5FAE-5656-30AC-79B7134FF3E0}"/>
                </a:ext>
              </a:extLst>
            </p:cNvPr>
            <p:cNvSpPr/>
            <p:nvPr/>
          </p:nvSpPr>
          <p:spPr>
            <a:xfrm>
              <a:off x="5989320" y="3165211"/>
              <a:ext cx="148607" cy="59312"/>
            </a:xfrm>
            <a:prstGeom prst="rect">
              <a:avLst/>
            </a:prstGeom>
            <a:solidFill>
              <a:srgbClr val="9CA3AF"/>
            </a:solidFill>
            <a:ln w="12700">
              <a:solidFill>
                <a:srgbClr val="9CA3AF"/>
              </a:solidFill>
              <a:prstDash val="solid"/>
            </a:ln>
          </p:spPr>
          <p:txBody>
            <a:bodyPr/>
            <a:lstStyle/>
            <a:p>
              <a:endParaRPr lang="ko-KR" altLang="en-US">
                <a:latin typeface="Rix고딕 L" panose="02020603020101020101" pitchFamily="18" charset="-127"/>
                <a:ea typeface="Rix고딕 L" panose="02020603020101020101" pitchFamily="18" charset="-127"/>
              </a:endParaRPr>
            </a:p>
          </p:txBody>
        </p:sp>
        <p:sp>
          <p:nvSpPr>
            <p:cNvPr id="71" name="Text 39">
              <a:extLst>
                <a:ext uri="{FF2B5EF4-FFF2-40B4-BE49-F238E27FC236}">
                  <a16:creationId xmlns:a16="http://schemas.microsoft.com/office/drawing/2014/main" id="{6746F369-7F20-BACA-B65E-0A42E48C0D81}"/>
                </a:ext>
              </a:extLst>
            </p:cNvPr>
            <p:cNvSpPr/>
            <p:nvPr/>
          </p:nvSpPr>
          <p:spPr>
            <a:xfrm>
              <a:off x="5989320" y="3014473"/>
              <a:ext cx="1005840" cy="148281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800" b="1" dirty="0">
                  <a:solidFill>
                    <a:srgbClr val="1B3A6B"/>
                  </a:solidFill>
                  <a:latin typeface="Rix고딕 L" panose="02020603020101020101" pitchFamily="18" charset="-127"/>
                  <a:ea typeface="Rix고딕 L" panose="02020603020101020101" pitchFamily="18" charset="-127"/>
                </a:rPr>
                <a:t>PL등</a:t>
              </a:r>
              <a:endParaRPr lang="en-US" sz="800" dirty="0">
                <a:latin typeface="Rix고딕 L" panose="02020603020101020101" pitchFamily="18" charset="-127"/>
                <a:ea typeface="Rix고딕 L" panose="02020603020101020101" pitchFamily="18" charset="-127"/>
              </a:endParaRPr>
            </a:p>
          </p:txBody>
        </p:sp>
        <p:sp>
          <p:nvSpPr>
            <p:cNvPr id="72" name="Text 40">
              <a:extLst>
                <a:ext uri="{FF2B5EF4-FFF2-40B4-BE49-F238E27FC236}">
                  <a16:creationId xmlns:a16="http://schemas.microsoft.com/office/drawing/2014/main" id="{B2B65141-3CA2-D6F9-309A-DD21833054EA}"/>
                </a:ext>
              </a:extLst>
            </p:cNvPr>
            <p:cNvSpPr/>
            <p:nvPr/>
          </p:nvSpPr>
          <p:spPr>
            <a:xfrm>
              <a:off x="7567629" y="3062962"/>
              <a:ext cx="548640" cy="148281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r">
                <a:buNone/>
              </a:pPr>
              <a:r>
                <a:rPr lang="en-US" sz="900" b="1" dirty="0">
                  <a:solidFill>
                    <a:srgbClr val="9CA3AF"/>
                  </a:solidFill>
                  <a:latin typeface="Rix고딕 L" panose="02020603020101020101" pitchFamily="18" charset="-127"/>
                  <a:ea typeface="Rix고딕 L" panose="02020603020101020101" pitchFamily="18" charset="-127"/>
                </a:rPr>
                <a:t>208건</a:t>
              </a:r>
              <a:endParaRPr lang="en-US" sz="900" dirty="0">
                <a:latin typeface="Rix고딕 L" panose="02020603020101020101" pitchFamily="18" charset="-127"/>
                <a:ea typeface="Rix고딕 L" panose="02020603020101020101" pitchFamily="18" charset="-127"/>
              </a:endParaRPr>
            </a:p>
          </p:txBody>
        </p:sp>
        <p:sp>
          <p:nvSpPr>
            <p:cNvPr id="73" name="Text 41">
              <a:extLst>
                <a:ext uri="{FF2B5EF4-FFF2-40B4-BE49-F238E27FC236}">
                  <a16:creationId xmlns:a16="http://schemas.microsoft.com/office/drawing/2014/main" id="{2397D8FC-A7BD-71B2-A178-5DB4D208019E}"/>
                </a:ext>
              </a:extLst>
            </p:cNvPr>
            <p:cNvSpPr/>
            <p:nvPr/>
          </p:nvSpPr>
          <p:spPr>
            <a:xfrm>
              <a:off x="8165174" y="3067396"/>
              <a:ext cx="397764" cy="133453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r">
                <a:buNone/>
              </a:pPr>
              <a:r>
                <a:rPr lang="en-US" sz="800" dirty="0">
                  <a:solidFill>
                    <a:srgbClr val="9CA3AF"/>
                  </a:solidFill>
                  <a:latin typeface="Rix고딕 L" panose="02020603020101020101" pitchFamily="18" charset="-127"/>
                  <a:ea typeface="Rix고딕 L" panose="02020603020101020101" pitchFamily="18" charset="-127"/>
                </a:rPr>
                <a:t>4.8%</a:t>
              </a:r>
              <a:endParaRPr lang="en-US" sz="800" dirty="0">
                <a:latin typeface="Rix고딕 L" panose="02020603020101020101" pitchFamily="18" charset="-127"/>
                <a:ea typeface="Rix고딕 L" panose="02020603020101020101" pitchFamily="18" charset="-127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616732587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/>
          <p:cNvSpPr/>
          <p:nvPr/>
        </p:nvSpPr>
        <p:spPr>
          <a:xfrm>
            <a:off x="320040" y="-4155"/>
            <a:ext cx="7680960" cy="43929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 err="1">
                <a:solidFill>
                  <a:srgbClr val="002060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핵심</a:t>
            </a:r>
            <a:r>
              <a:rPr lang="en-US" sz="2000" b="1" dirty="0">
                <a:solidFill>
                  <a:srgbClr val="002060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 분석 결과 요약 및 잔여 차수 시사점</a:t>
            </a:r>
            <a:endParaRPr lang="en-US" sz="2000" dirty="0">
              <a:solidFill>
                <a:srgbClr val="002060"/>
              </a:solidFill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5" name="Shape 3"/>
          <p:cNvSpPr/>
          <p:nvPr/>
        </p:nvSpPr>
        <p:spPr>
          <a:xfrm>
            <a:off x="433645" y="775023"/>
            <a:ext cx="4789516" cy="256032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  <p:txBody>
          <a:bodyPr/>
          <a:lstStyle/>
          <a:p>
            <a:endParaRPr lang="ko-KR" altLang="en-US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6" name="Text 4"/>
          <p:cNvSpPr/>
          <p:nvPr/>
        </p:nvSpPr>
        <p:spPr>
          <a:xfrm>
            <a:off x="570805" y="775023"/>
            <a:ext cx="461846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 err="1">
                <a:solidFill>
                  <a:srgbClr val="FFFFFF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핵심</a:t>
            </a:r>
            <a:r>
              <a:rPr lang="en-US" sz="950" b="1" dirty="0">
                <a:solidFill>
                  <a:srgbClr val="FFFFFF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 분석 결과 요약</a:t>
            </a:r>
            <a:endParaRPr lang="en-US" sz="950" dirty="0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7" name="Shape 5"/>
          <p:cNvSpPr/>
          <p:nvPr/>
        </p:nvSpPr>
        <p:spPr>
          <a:xfrm>
            <a:off x="435864" y="1106425"/>
            <a:ext cx="2322576" cy="1181446"/>
          </a:xfrm>
          <a:prstGeom prst="rect">
            <a:avLst/>
          </a:prstGeom>
          <a:solidFill>
            <a:srgbClr val="F4F7FB"/>
          </a:solidFill>
          <a:ln w="12700">
            <a:solidFill>
              <a:srgbClr val="D1D9E6"/>
            </a:solidFill>
            <a:prstDash val="solid"/>
          </a:ln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ko-KR" altLang="en-US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8" name="Shape 6"/>
          <p:cNvSpPr/>
          <p:nvPr/>
        </p:nvSpPr>
        <p:spPr>
          <a:xfrm>
            <a:off x="426720" y="1115568"/>
            <a:ext cx="2322576" cy="54864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  <p:txBody>
          <a:bodyPr/>
          <a:lstStyle/>
          <a:p>
            <a:endParaRPr lang="ko-KR" altLang="en-US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9" name="Text 7"/>
          <p:cNvSpPr/>
          <p:nvPr/>
        </p:nvSpPr>
        <p:spPr>
          <a:xfrm>
            <a:off x="536448" y="1207008"/>
            <a:ext cx="2560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DC2626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①</a:t>
            </a:r>
            <a:endParaRPr lang="en-US" sz="1300" dirty="0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10" name="Text 8"/>
          <p:cNvSpPr/>
          <p:nvPr/>
        </p:nvSpPr>
        <p:spPr>
          <a:xfrm>
            <a:off x="810768" y="1207008"/>
            <a:ext cx="1947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B3A6B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공사테스트 집중 현상</a:t>
            </a:r>
            <a:endParaRPr lang="en-US" sz="1000" dirty="0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11" name="Text 9"/>
          <p:cNvSpPr/>
          <p:nvPr/>
        </p:nvSpPr>
        <p:spPr>
          <a:xfrm>
            <a:off x="536448" y="1471908"/>
            <a:ext cx="12801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DC2626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49.7%</a:t>
            </a:r>
            <a:endParaRPr lang="en-US" sz="2800" dirty="0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12" name="Text 10"/>
          <p:cNvSpPr/>
          <p:nvPr/>
        </p:nvSpPr>
        <p:spPr>
          <a:xfrm>
            <a:off x="1725168" y="1668504"/>
            <a:ext cx="108204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9CA3AF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1,969건 / 4,203건</a:t>
            </a:r>
            <a:endParaRPr lang="en-US" sz="800" dirty="0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13" name="Text 11"/>
          <p:cNvSpPr/>
          <p:nvPr/>
        </p:nvSpPr>
        <p:spPr>
          <a:xfrm>
            <a:off x="528412" y="1883112"/>
            <a:ext cx="2221992" cy="3768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4B5563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개발자·PL 단계 사전 검증 부재</a:t>
            </a:r>
            <a:endParaRPr lang="en-US" sz="850" dirty="0">
              <a:latin typeface="Rix고딕 L" panose="02020603020101020101" pitchFamily="18" charset="-127"/>
              <a:ea typeface="Rix고딕 L" panose="02020603020101020101" pitchFamily="18" charset="-127"/>
            </a:endParaRPr>
          </a:p>
          <a:p>
            <a:pPr marL="0" indent="0">
              <a:buNone/>
            </a:pPr>
            <a:r>
              <a:rPr lang="en-US" sz="850" dirty="0">
                <a:solidFill>
                  <a:srgbClr val="4B5563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→ 초기 결함 이월 구조 고착화</a:t>
            </a:r>
            <a:endParaRPr lang="en-US" sz="850" dirty="0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14" name="Shape 12"/>
          <p:cNvSpPr/>
          <p:nvPr/>
        </p:nvSpPr>
        <p:spPr>
          <a:xfrm>
            <a:off x="2880360" y="1115569"/>
            <a:ext cx="2322576" cy="1181446"/>
          </a:xfrm>
          <a:prstGeom prst="rect">
            <a:avLst/>
          </a:prstGeom>
          <a:solidFill>
            <a:srgbClr val="F4F7FB"/>
          </a:solidFill>
          <a:ln w="12700">
            <a:solidFill>
              <a:srgbClr val="D1D9E6"/>
            </a:solidFill>
            <a:prstDash val="solid"/>
          </a:ln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ko-KR" altLang="en-US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15" name="Shape 13"/>
          <p:cNvSpPr/>
          <p:nvPr/>
        </p:nvSpPr>
        <p:spPr>
          <a:xfrm>
            <a:off x="2880360" y="1115568"/>
            <a:ext cx="2322576" cy="54864"/>
          </a:xfrm>
          <a:prstGeom prst="rect">
            <a:avLst/>
          </a:prstGeom>
          <a:solidFill>
            <a:srgbClr val="E85D2F"/>
          </a:solidFill>
          <a:ln w="12700">
            <a:solidFill>
              <a:srgbClr val="E85D2F"/>
            </a:solidFill>
            <a:prstDash val="solid"/>
          </a:ln>
        </p:spPr>
        <p:txBody>
          <a:bodyPr/>
          <a:lstStyle/>
          <a:p>
            <a:endParaRPr lang="ko-KR" altLang="en-US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16" name="Text 14"/>
          <p:cNvSpPr/>
          <p:nvPr/>
        </p:nvSpPr>
        <p:spPr>
          <a:xfrm>
            <a:off x="2990088" y="1207008"/>
            <a:ext cx="2560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E85D2F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②</a:t>
            </a:r>
            <a:endParaRPr lang="en-US" sz="1300" dirty="0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17" name="Text 15"/>
          <p:cNvSpPr/>
          <p:nvPr/>
        </p:nvSpPr>
        <p:spPr>
          <a:xfrm>
            <a:off x="3264408" y="1207008"/>
            <a:ext cx="1947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B3A6B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기능 결함 압도적 집중</a:t>
            </a:r>
            <a:endParaRPr lang="en-US" sz="1000" dirty="0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18" name="Text 16"/>
          <p:cNvSpPr/>
          <p:nvPr/>
        </p:nvSpPr>
        <p:spPr>
          <a:xfrm>
            <a:off x="2990088" y="1471908"/>
            <a:ext cx="12801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E85D2F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61.8%</a:t>
            </a:r>
            <a:endParaRPr lang="en-US" sz="2800" dirty="0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19" name="Text 17"/>
          <p:cNvSpPr/>
          <p:nvPr/>
        </p:nvSpPr>
        <p:spPr>
          <a:xfrm>
            <a:off x="4151930" y="1668504"/>
            <a:ext cx="1020803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9CA3AF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2,685건 / 4,648건</a:t>
            </a:r>
            <a:endParaRPr lang="en-US" sz="800" dirty="0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20" name="Text 18"/>
          <p:cNvSpPr/>
          <p:nvPr/>
        </p:nvSpPr>
        <p:spPr>
          <a:xfrm>
            <a:off x="2976372" y="1916640"/>
            <a:ext cx="2221992" cy="32256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4B5563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요구사항 분석 미흡·개발 </a:t>
            </a:r>
            <a:r>
              <a:rPr lang="en-US" sz="850" dirty="0" err="1">
                <a:solidFill>
                  <a:srgbClr val="4B5563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로직</a:t>
            </a:r>
            <a:r>
              <a:rPr lang="en-US" sz="850" dirty="0">
                <a:solidFill>
                  <a:srgbClr val="4B5563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 </a:t>
            </a:r>
            <a:r>
              <a:rPr lang="en-US" sz="850" dirty="0" err="1">
                <a:solidFill>
                  <a:srgbClr val="4B5563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오류가</a:t>
            </a:r>
            <a:r>
              <a:rPr lang="en-US" sz="850" dirty="0">
                <a:solidFill>
                  <a:srgbClr val="4B5563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 주원인</a:t>
            </a:r>
            <a:endParaRPr lang="en-US" sz="850" dirty="0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graphicFrame>
        <p:nvGraphicFramePr>
          <p:cNvPr id="21" name="Chart 0"/>
          <p:cNvGraphicFramePr/>
          <p:nvPr>
            <p:extLst>
              <p:ext uri="{D42A27DB-BD31-4B8C-83A1-F6EECF244321}">
                <p14:modId xmlns:p14="http://schemas.microsoft.com/office/powerpoint/2010/main" val="350395643"/>
              </p:ext>
            </p:extLst>
          </p:nvPr>
        </p:nvGraphicFramePr>
        <p:xfrm>
          <a:off x="387377" y="2308376"/>
          <a:ext cx="2322576" cy="1003456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22" name="Chart 1"/>
          <p:cNvGraphicFramePr/>
          <p:nvPr>
            <p:extLst>
              <p:ext uri="{D42A27DB-BD31-4B8C-83A1-F6EECF244321}">
                <p14:modId xmlns:p14="http://schemas.microsoft.com/office/powerpoint/2010/main" val="426688553"/>
              </p:ext>
            </p:extLst>
          </p:nvPr>
        </p:nvGraphicFramePr>
        <p:xfrm>
          <a:off x="2880361" y="2294453"/>
          <a:ext cx="2233103" cy="1017379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grpSp>
        <p:nvGrpSpPr>
          <p:cNvPr id="73" name="그룹 72">
            <a:extLst>
              <a:ext uri="{FF2B5EF4-FFF2-40B4-BE49-F238E27FC236}">
                <a16:creationId xmlns:a16="http://schemas.microsoft.com/office/drawing/2014/main" id="{35E202DA-2BBD-9529-2915-57139C42389A}"/>
              </a:ext>
            </a:extLst>
          </p:cNvPr>
          <p:cNvGrpSpPr/>
          <p:nvPr/>
        </p:nvGrpSpPr>
        <p:grpSpPr>
          <a:xfrm>
            <a:off x="439743" y="3453248"/>
            <a:ext cx="1609344" cy="804672"/>
            <a:chOff x="274320" y="4005072"/>
            <a:chExt cx="1609344" cy="804672"/>
          </a:xfrm>
        </p:grpSpPr>
        <p:sp>
          <p:nvSpPr>
            <p:cNvPr id="23" name="Shape 19"/>
            <p:cNvSpPr/>
            <p:nvPr/>
          </p:nvSpPr>
          <p:spPr>
            <a:xfrm>
              <a:off x="274320" y="4005072"/>
              <a:ext cx="1572768" cy="804672"/>
            </a:xfrm>
            <a:prstGeom prst="rect">
              <a:avLst/>
            </a:prstGeom>
            <a:solidFill>
              <a:srgbClr val="F4F7FB"/>
            </a:solidFill>
            <a:ln w="12700">
              <a:solidFill>
                <a:srgbClr val="D1D9E6"/>
              </a:solidFill>
              <a:prstDash val="solid"/>
            </a:ln>
            <a:effectLst>
              <a:outerShdw blurRad="50800" dist="25400" dir="8100000" algn="bl" rotWithShape="0">
                <a:srgbClr val="000000">
                  <a:alpha val="8000"/>
                </a:srgbClr>
              </a:outerShdw>
            </a:effectLst>
          </p:spPr>
          <p:txBody>
            <a:bodyPr/>
            <a:lstStyle/>
            <a:p>
              <a:endParaRPr lang="ko-KR" altLang="en-US">
                <a:latin typeface="Rix고딕 L" panose="02020603020101020101" pitchFamily="18" charset="-127"/>
                <a:ea typeface="Rix고딕 L" panose="02020603020101020101" pitchFamily="18" charset="-127"/>
              </a:endParaRPr>
            </a:p>
          </p:txBody>
        </p:sp>
        <p:sp>
          <p:nvSpPr>
            <p:cNvPr id="24" name="Shape 20"/>
            <p:cNvSpPr/>
            <p:nvPr/>
          </p:nvSpPr>
          <p:spPr>
            <a:xfrm>
              <a:off x="274320" y="4005072"/>
              <a:ext cx="64008" cy="804672"/>
            </a:xfrm>
            <a:prstGeom prst="rect">
              <a:avLst/>
            </a:prstGeom>
            <a:solidFill>
              <a:srgbClr val="D97706"/>
            </a:solidFill>
            <a:ln w="12700">
              <a:solidFill>
                <a:srgbClr val="D97706"/>
              </a:solidFill>
              <a:prstDash val="solid"/>
            </a:ln>
          </p:spPr>
          <p:txBody>
            <a:bodyPr/>
            <a:lstStyle/>
            <a:p>
              <a:endParaRPr lang="ko-KR" altLang="en-US">
                <a:latin typeface="Rix고딕 L" panose="02020603020101020101" pitchFamily="18" charset="-127"/>
                <a:ea typeface="Rix고딕 L" panose="02020603020101020101" pitchFamily="18" charset="-127"/>
              </a:endParaRPr>
            </a:p>
          </p:txBody>
        </p:sp>
        <p:sp>
          <p:nvSpPr>
            <p:cNvPr id="25" name="Text 21"/>
            <p:cNvSpPr/>
            <p:nvPr/>
          </p:nvSpPr>
          <p:spPr>
            <a:xfrm>
              <a:off x="420624" y="4050792"/>
              <a:ext cx="1463040" cy="20116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780" b="1" dirty="0">
                  <a:solidFill>
                    <a:srgbClr val="D97706"/>
                  </a:solidFill>
                  <a:latin typeface="Rix고딕 L" panose="02020603020101020101" pitchFamily="18" charset="-127"/>
                  <a:ea typeface="Rix고딕 L" panose="02020603020101020101" pitchFamily="18" charset="-127"/>
                </a:rPr>
                <a:t>③  복수단계 반복 결함</a:t>
              </a:r>
              <a:endParaRPr lang="en-US" sz="780" dirty="0">
                <a:latin typeface="Rix고딕 L" panose="02020603020101020101" pitchFamily="18" charset="-127"/>
                <a:ea typeface="Rix고딕 L" panose="02020603020101020101" pitchFamily="18" charset="-127"/>
              </a:endParaRPr>
            </a:p>
          </p:txBody>
        </p:sp>
        <p:sp>
          <p:nvSpPr>
            <p:cNvPr id="26" name="Text 22"/>
            <p:cNvSpPr/>
            <p:nvPr/>
          </p:nvSpPr>
          <p:spPr>
            <a:xfrm>
              <a:off x="420624" y="4242816"/>
              <a:ext cx="1463040" cy="2743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1600" b="1" dirty="0">
                  <a:solidFill>
                    <a:srgbClr val="1B3A6B"/>
                  </a:solidFill>
                  <a:latin typeface="Rix고딕 L" panose="02020603020101020101" pitchFamily="18" charset="-127"/>
                  <a:ea typeface="Rix고딕 L" panose="02020603020101020101" pitchFamily="18" charset="-127"/>
                </a:rPr>
                <a:t>25.5%</a:t>
              </a:r>
              <a:endParaRPr lang="en-US" sz="1600" dirty="0">
                <a:latin typeface="Rix고딕 L" panose="02020603020101020101" pitchFamily="18" charset="-127"/>
                <a:ea typeface="Rix고딕 L" panose="02020603020101020101" pitchFamily="18" charset="-127"/>
              </a:endParaRPr>
            </a:p>
          </p:txBody>
        </p:sp>
        <p:sp>
          <p:nvSpPr>
            <p:cNvPr id="27" name="Text 23"/>
            <p:cNvSpPr/>
            <p:nvPr/>
          </p:nvSpPr>
          <p:spPr>
            <a:xfrm>
              <a:off x="1060704" y="4311396"/>
              <a:ext cx="720714" cy="164592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750" dirty="0">
                  <a:solidFill>
                    <a:srgbClr val="9CA3AF"/>
                  </a:solidFill>
                  <a:latin typeface="Rix고딕 L" panose="02020603020101020101" pitchFamily="18" charset="-127"/>
                  <a:ea typeface="Rix고딕 L" panose="02020603020101020101" pitchFamily="18" charset="-127"/>
                </a:rPr>
                <a:t>667개 시나리오</a:t>
              </a:r>
              <a:endParaRPr lang="en-US" sz="750" dirty="0">
                <a:latin typeface="Rix고딕 L" panose="02020603020101020101" pitchFamily="18" charset="-127"/>
                <a:ea typeface="Rix고딕 L" panose="02020603020101020101" pitchFamily="18" charset="-127"/>
              </a:endParaRPr>
            </a:p>
          </p:txBody>
        </p:sp>
        <p:sp>
          <p:nvSpPr>
            <p:cNvPr id="28" name="Text 24"/>
            <p:cNvSpPr/>
            <p:nvPr/>
          </p:nvSpPr>
          <p:spPr>
            <a:xfrm>
              <a:off x="420624" y="4553712"/>
              <a:ext cx="1463040" cy="20116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750" dirty="0">
                  <a:solidFill>
                    <a:srgbClr val="4B5563"/>
                  </a:solidFill>
                  <a:latin typeface="Rix고딕 L" panose="02020603020101020101" pitchFamily="18" charset="-127"/>
                  <a:ea typeface="Rix고딕 L" panose="02020603020101020101" pitchFamily="18" charset="-127"/>
                </a:rPr>
                <a:t>미조치 이월 구조 고착</a:t>
              </a:r>
              <a:endParaRPr lang="en-US" sz="750" dirty="0">
                <a:latin typeface="Rix고딕 L" panose="02020603020101020101" pitchFamily="18" charset="-127"/>
                <a:ea typeface="Rix고딕 L" panose="02020603020101020101" pitchFamily="18" charset="-127"/>
              </a:endParaRPr>
            </a:p>
            <a:p>
              <a:pPr marL="0" indent="0">
                <a:buNone/>
              </a:pPr>
              <a:r>
                <a:rPr lang="en-US" sz="750" dirty="0">
                  <a:solidFill>
                    <a:srgbClr val="4B5563"/>
                  </a:solidFill>
                  <a:latin typeface="Rix고딕 L" panose="02020603020101020101" pitchFamily="18" charset="-127"/>
                  <a:ea typeface="Rix고딕 L" panose="02020603020101020101" pitchFamily="18" charset="-127"/>
                </a:rPr>
                <a:t>조치 확인 프로세스 부재</a:t>
              </a:r>
              <a:endParaRPr lang="en-US" sz="750" dirty="0">
                <a:latin typeface="Rix고딕 L" panose="02020603020101020101" pitchFamily="18" charset="-127"/>
                <a:ea typeface="Rix고딕 L" panose="02020603020101020101" pitchFamily="18" charset="-127"/>
              </a:endParaRPr>
            </a:p>
          </p:txBody>
        </p:sp>
      </p:grpSp>
      <p:sp>
        <p:nvSpPr>
          <p:cNvPr id="29" name="Shape 25"/>
          <p:cNvSpPr/>
          <p:nvPr/>
        </p:nvSpPr>
        <p:spPr>
          <a:xfrm>
            <a:off x="2045208" y="3453248"/>
            <a:ext cx="1572768" cy="804672"/>
          </a:xfrm>
          <a:prstGeom prst="rect">
            <a:avLst/>
          </a:prstGeom>
          <a:solidFill>
            <a:srgbClr val="F4F7FB"/>
          </a:solidFill>
          <a:ln w="12700">
            <a:solidFill>
              <a:srgbClr val="D1D9E6"/>
            </a:solidFill>
            <a:prstDash val="solid"/>
          </a:ln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ko-KR" altLang="en-US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30" name="Shape 26"/>
          <p:cNvSpPr/>
          <p:nvPr/>
        </p:nvSpPr>
        <p:spPr>
          <a:xfrm>
            <a:off x="2045208" y="3453248"/>
            <a:ext cx="64008" cy="804672"/>
          </a:xfrm>
          <a:prstGeom prst="rect">
            <a:avLst/>
          </a:prstGeom>
          <a:solidFill>
            <a:srgbClr val="2563A8"/>
          </a:solidFill>
          <a:ln w="12700">
            <a:solidFill>
              <a:srgbClr val="2563A8"/>
            </a:solidFill>
            <a:prstDash val="solid"/>
          </a:ln>
        </p:spPr>
        <p:txBody>
          <a:bodyPr/>
          <a:lstStyle/>
          <a:p>
            <a:endParaRPr lang="ko-KR" altLang="en-US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31" name="Text 27"/>
          <p:cNvSpPr/>
          <p:nvPr/>
        </p:nvSpPr>
        <p:spPr>
          <a:xfrm>
            <a:off x="2191512" y="3498968"/>
            <a:ext cx="1463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80" b="1" dirty="0">
                <a:solidFill>
                  <a:srgbClr val="2563A8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④  </a:t>
            </a:r>
            <a:r>
              <a:rPr lang="ko-KR" altLang="en-US" sz="780" b="1" dirty="0">
                <a:solidFill>
                  <a:srgbClr val="2563A8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확인대기</a:t>
            </a:r>
            <a:r>
              <a:rPr lang="en-US" sz="780" b="1" dirty="0">
                <a:solidFill>
                  <a:srgbClr val="2563A8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 30.9% 잔존</a:t>
            </a:r>
            <a:endParaRPr lang="en-US" sz="780" dirty="0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32" name="Text 28"/>
          <p:cNvSpPr/>
          <p:nvPr/>
        </p:nvSpPr>
        <p:spPr>
          <a:xfrm>
            <a:off x="2191512" y="3690992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B3A6B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1,297건</a:t>
            </a:r>
            <a:endParaRPr lang="en-US" sz="1600" dirty="0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34" name="Text 30"/>
          <p:cNvSpPr/>
          <p:nvPr/>
        </p:nvSpPr>
        <p:spPr>
          <a:xfrm>
            <a:off x="2187633" y="3983115"/>
            <a:ext cx="1463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4B5563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2-3차 감리 전 </a:t>
            </a:r>
            <a:r>
              <a:rPr lang="en-US" sz="750" dirty="0" err="1">
                <a:solidFill>
                  <a:srgbClr val="4B5563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전수</a:t>
            </a:r>
            <a:r>
              <a:rPr lang="en-US" sz="750" dirty="0">
                <a:solidFill>
                  <a:srgbClr val="4B5563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 </a:t>
            </a:r>
            <a:r>
              <a:rPr lang="en-US" sz="750" dirty="0" err="1">
                <a:solidFill>
                  <a:srgbClr val="4B5563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해소</a:t>
            </a:r>
            <a:r>
              <a:rPr lang="ko-KR" altLang="en-US" sz="750" dirty="0">
                <a:solidFill>
                  <a:srgbClr val="4B5563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를 통한 재결함 여부 확인</a:t>
            </a:r>
            <a:r>
              <a:rPr lang="en-US" sz="750" dirty="0">
                <a:solidFill>
                  <a:srgbClr val="4B5563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 시급</a:t>
            </a:r>
            <a:endParaRPr lang="en-US" sz="750" dirty="0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35" name="Shape 31"/>
          <p:cNvSpPr/>
          <p:nvPr/>
        </p:nvSpPr>
        <p:spPr>
          <a:xfrm>
            <a:off x="3810000" y="3453248"/>
            <a:ext cx="1572768" cy="804672"/>
          </a:xfrm>
          <a:prstGeom prst="rect">
            <a:avLst/>
          </a:prstGeom>
          <a:solidFill>
            <a:srgbClr val="F4F7FB"/>
          </a:solidFill>
          <a:ln w="12700">
            <a:solidFill>
              <a:srgbClr val="D1D9E6"/>
            </a:solidFill>
            <a:prstDash val="solid"/>
          </a:ln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ko-KR" altLang="en-US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grpSp>
        <p:nvGrpSpPr>
          <p:cNvPr id="75" name="그룹 74">
            <a:extLst>
              <a:ext uri="{FF2B5EF4-FFF2-40B4-BE49-F238E27FC236}">
                <a16:creationId xmlns:a16="http://schemas.microsoft.com/office/drawing/2014/main" id="{157C528B-B45C-1333-7078-F52D183542DF}"/>
              </a:ext>
            </a:extLst>
          </p:cNvPr>
          <p:cNvGrpSpPr/>
          <p:nvPr/>
        </p:nvGrpSpPr>
        <p:grpSpPr>
          <a:xfrm>
            <a:off x="3810000" y="3453248"/>
            <a:ext cx="1728216" cy="804672"/>
            <a:chOff x="3803904" y="4005072"/>
            <a:chExt cx="1728216" cy="804672"/>
          </a:xfrm>
        </p:grpSpPr>
        <p:sp>
          <p:nvSpPr>
            <p:cNvPr id="36" name="Shape 32"/>
            <p:cNvSpPr/>
            <p:nvPr/>
          </p:nvSpPr>
          <p:spPr>
            <a:xfrm>
              <a:off x="3803904" y="4005072"/>
              <a:ext cx="64008" cy="804672"/>
            </a:xfrm>
            <a:prstGeom prst="rect">
              <a:avLst/>
            </a:prstGeom>
            <a:solidFill>
              <a:srgbClr val="9CA3AF"/>
            </a:solidFill>
            <a:ln w="12700">
              <a:solidFill>
                <a:srgbClr val="9CA3AF"/>
              </a:solidFill>
              <a:prstDash val="solid"/>
            </a:ln>
          </p:spPr>
          <p:txBody>
            <a:bodyPr/>
            <a:lstStyle/>
            <a:p>
              <a:endParaRPr lang="ko-KR" altLang="en-US">
                <a:latin typeface="Rix고딕 L" panose="02020603020101020101" pitchFamily="18" charset="-127"/>
                <a:ea typeface="Rix고딕 L" panose="02020603020101020101" pitchFamily="18" charset="-127"/>
              </a:endParaRPr>
            </a:p>
          </p:txBody>
        </p:sp>
        <p:grpSp>
          <p:nvGrpSpPr>
            <p:cNvPr id="74" name="그룹 73">
              <a:extLst>
                <a:ext uri="{FF2B5EF4-FFF2-40B4-BE49-F238E27FC236}">
                  <a16:creationId xmlns:a16="http://schemas.microsoft.com/office/drawing/2014/main" id="{845382C8-86C3-DED1-072D-7A62C0AB66A6}"/>
                </a:ext>
              </a:extLst>
            </p:cNvPr>
            <p:cNvGrpSpPr/>
            <p:nvPr/>
          </p:nvGrpSpPr>
          <p:grpSpPr>
            <a:xfrm>
              <a:off x="3950208" y="4050792"/>
              <a:ext cx="1581912" cy="712470"/>
              <a:chOff x="3950208" y="4050792"/>
              <a:chExt cx="1581912" cy="712470"/>
            </a:xfrm>
          </p:grpSpPr>
          <p:sp>
            <p:nvSpPr>
              <p:cNvPr id="37" name="Text 33"/>
              <p:cNvSpPr/>
              <p:nvPr/>
            </p:nvSpPr>
            <p:spPr>
              <a:xfrm>
                <a:off x="3950208" y="4050792"/>
                <a:ext cx="1463040" cy="201168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ctr"/>
              <a:lstStyle/>
              <a:p>
                <a:pPr marL="0" indent="0">
                  <a:buNone/>
                </a:pPr>
                <a:r>
                  <a:rPr lang="en-US" sz="780" b="1" dirty="0">
                    <a:solidFill>
                      <a:srgbClr val="9CA3AF"/>
                    </a:solidFill>
                    <a:latin typeface="Rix고딕 L" panose="02020603020101020101" pitchFamily="18" charset="-127"/>
                    <a:ea typeface="Rix고딕 L" panose="02020603020101020101" pitchFamily="18" charset="-127"/>
                  </a:rPr>
                  <a:t>⑤  결함기각 최다 — 공항운영</a:t>
                </a:r>
                <a:endParaRPr lang="en-US" sz="780" dirty="0">
                  <a:latin typeface="Rix고딕 L" panose="02020603020101020101" pitchFamily="18" charset="-127"/>
                  <a:ea typeface="Rix고딕 L" panose="02020603020101020101" pitchFamily="18" charset="-127"/>
                </a:endParaRPr>
              </a:p>
            </p:txBody>
          </p:sp>
          <p:sp>
            <p:nvSpPr>
              <p:cNvPr id="38" name="Text 34"/>
              <p:cNvSpPr/>
              <p:nvPr/>
            </p:nvSpPr>
            <p:spPr>
              <a:xfrm>
                <a:off x="3950208" y="4242816"/>
                <a:ext cx="1463040" cy="274320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ctr"/>
              <a:lstStyle/>
              <a:p>
                <a:pPr marL="0" indent="0">
                  <a:buNone/>
                </a:pPr>
                <a:r>
                  <a:rPr lang="en-US" sz="1600" b="1" dirty="0">
                    <a:solidFill>
                      <a:srgbClr val="1B3A6B"/>
                    </a:solidFill>
                    <a:latin typeface="Rix고딕 L" panose="02020603020101020101" pitchFamily="18" charset="-127"/>
                    <a:ea typeface="Rix고딕 L" panose="02020603020101020101" pitchFamily="18" charset="-127"/>
                  </a:rPr>
                  <a:t>57건</a:t>
                </a:r>
                <a:endParaRPr lang="en-US" sz="1600" dirty="0">
                  <a:latin typeface="Rix고딕 L" panose="02020603020101020101" pitchFamily="18" charset="-127"/>
                  <a:ea typeface="Rix고딕 L" panose="02020603020101020101" pitchFamily="18" charset="-127"/>
                </a:endParaRPr>
              </a:p>
            </p:txBody>
          </p:sp>
          <p:sp>
            <p:nvSpPr>
              <p:cNvPr id="39" name="Text 35"/>
              <p:cNvSpPr/>
              <p:nvPr/>
            </p:nvSpPr>
            <p:spPr>
              <a:xfrm>
                <a:off x="4404637" y="4374157"/>
                <a:ext cx="1127483" cy="128016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ctr"/>
              <a:lstStyle/>
              <a:p>
                <a:pPr marL="0" indent="0">
                  <a:buNone/>
                </a:pPr>
                <a:r>
                  <a:rPr lang="en-US" sz="750" dirty="0">
                    <a:solidFill>
                      <a:srgbClr val="9CA3AF"/>
                    </a:solidFill>
                    <a:latin typeface="Rix고딕 L" panose="02020603020101020101" pitchFamily="18" charset="-127"/>
                    <a:ea typeface="Rix고딕 L" panose="02020603020101020101" pitchFamily="18" charset="-127"/>
                  </a:rPr>
                  <a:t>총 기각 445건 중 최다</a:t>
                </a:r>
                <a:endParaRPr lang="en-US" sz="750" dirty="0">
                  <a:latin typeface="Rix고딕 L" panose="02020603020101020101" pitchFamily="18" charset="-127"/>
                  <a:ea typeface="Rix고딕 L" panose="02020603020101020101" pitchFamily="18" charset="-127"/>
                </a:endParaRPr>
              </a:p>
            </p:txBody>
          </p:sp>
          <p:sp>
            <p:nvSpPr>
              <p:cNvPr id="40" name="Text 36"/>
              <p:cNvSpPr/>
              <p:nvPr/>
            </p:nvSpPr>
            <p:spPr>
              <a:xfrm>
                <a:off x="3950208" y="4562094"/>
                <a:ext cx="1321448" cy="201168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ctr"/>
              <a:lstStyle/>
              <a:p>
                <a:pPr marL="0" indent="0">
                  <a:buNone/>
                </a:pPr>
                <a:r>
                  <a:rPr lang="en-US" sz="750" dirty="0">
                    <a:solidFill>
                      <a:srgbClr val="4B5563"/>
                    </a:solidFill>
                    <a:latin typeface="Rix고딕 L" panose="02020603020101020101" pitchFamily="18" charset="-127"/>
                    <a:ea typeface="Rix고딕 L" panose="02020603020101020101" pitchFamily="18" charset="-127"/>
                  </a:rPr>
                  <a:t>테스터 간 결함 인정 기준</a:t>
                </a:r>
                <a:endParaRPr lang="en-US" sz="750" dirty="0">
                  <a:latin typeface="Rix고딕 L" panose="02020603020101020101" pitchFamily="18" charset="-127"/>
                  <a:ea typeface="Rix고딕 L" panose="02020603020101020101" pitchFamily="18" charset="-127"/>
                </a:endParaRPr>
              </a:p>
              <a:p>
                <a:pPr marL="0" indent="0">
                  <a:buNone/>
                </a:pPr>
                <a:r>
                  <a:rPr lang="en-US" sz="750" dirty="0">
                    <a:solidFill>
                      <a:srgbClr val="4B5563"/>
                    </a:solidFill>
                    <a:latin typeface="Rix고딕 L" panose="02020603020101020101" pitchFamily="18" charset="-127"/>
                    <a:ea typeface="Rix고딕 L" panose="02020603020101020101" pitchFamily="18" charset="-127"/>
                  </a:rPr>
                  <a:t>불일치 가능성</a:t>
                </a:r>
                <a:endParaRPr lang="en-US" sz="750" dirty="0">
                  <a:latin typeface="Rix고딕 L" panose="02020603020101020101" pitchFamily="18" charset="-127"/>
                  <a:ea typeface="Rix고딕 L" panose="02020603020101020101" pitchFamily="18" charset="-127"/>
                </a:endParaRPr>
              </a:p>
            </p:txBody>
          </p:sp>
        </p:grpSp>
      </p:grpSp>
      <p:sp>
        <p:nvSpPr>
          <p:cNvPr id="41" name="Shape 37"/>
          <p:cNvSpPr/>
          <p:nvPr/>
        </p:nvSpPr>
        <p:spPr>
          <a:xfrm>
            <a:off x="5623560" y="775023"/>
            <a:ext cx="3052128" cy="256032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  <p:txBody>
          <a:bodyPr/>
          <a:lstStyle/>
          <a:p>
            <a:endParaRPr lang="ko-KR" altLang="en-US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42" name="Text 38"/>
          <p:cNvSpPr/>
          <p:nvPr/>
        </p:nvSpPr>
        <p:spPr>
          <a:xfrm>
            <a:off x="5742432" y="768096"/>
            <a:ext cx="30906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 err="1">
                <a:solidFill>
                  <a:srgbClr val="FFFFFF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잔여</a:t>
            </a:r>
            <a:r>
              <a:rPr lang="en-US" sz="950" b="1" dirty="0">
                <a:solidFill>
                  <a:srgbClr val="FFFFFF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 차수(2-3차) 대비 시사점</a:t>
            </a:r>
            <a:endParaRPr lang="en-US" sz="950" dirty="0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grpSp>
        <p:nvGrpSpPr>
          <p:cNvPr id="80" name="그룹 79">
            <a:extLst>
              <a:ext uri="{FF2B5EF4-FFF2-40B4-BE49-F238E27FC236}">
                <a16:creationId xmlns:a16="http://schemas.microsoft.com/office/drawing/2014/main" id="{B783658F-0D09-7050-EF97-A0ACA7AA5E2C}"/>
              </a:ext>
            </a:extLst>
          </p:cNvPr>
          <p:cNvGrpSpPr/>
          <p:nvPr/>
        </p:nvGrpSpPr>
        <p:grpSpPr>
          <a:xfrm>
            <a:off x="5623560" y="1115568"/>
            <a:ext cx="3052128" cy="694944"/>
            <a:chOff x="5623560" y="1115568"/>
            <a:chExt cx="3052128" cy="694944"/>
          </a:xfrm>
        </p:grpSpPr>
        <p:sp>
          <p:nvSpPr>
            <p:cNvPr id="43" name="Shape 39"/>
            <p:cNvSpPr/>
            <p:nvPr/>
          </p:nvSpPr>
          <p:spPr>
            <a:xfrm>
              <a:off x="5623560" y="1115568"/>
              <a:ext cx="3052128" cy="694944"/>
            </a:xfrm>
            <a:prstGeom prst="rect">
              <a:avLst/>
            </a:prstGeom>
            <a:solidFill>
              <a:srgbClr val="F4F7FB"/>
            </a:solidFill>
            <a:ln w="12700">
              <a:solidFill>
                <a:srgbClr val="D1D9E6"/>
              </a:solidFill>
              <a:prstDash val="solid"/>
            </a:ln>
            <a:effectLst>
              <a:outerShdw blurRad="50800" dist="25400" dir="8100000" algn="bl" rotWithShape="0">
                <a:srgbClr val="000000">
                  <a:alpha val="8000"/>
                </a:srgbClr>
              </a:outerShdw>
            </a:effectLst>
          </p:spPr>
          <p:txBody>
            <a:bodyPr/>
            <a:lstStyle/>
            <a:p>
              <a:endParaRPr lang="ko-KR" altLang="en-US">
                <a:latin typeface="Rix고딕 L" panose="02020603020101020101" pitchFamily="18" charset="-127"/>
                <a:ea typeface="Rix고딕 L" panose="02020603020101020101" pitchFamily="18" charset="-127"/>
              </a:endParaRPr>
            </a:p>
          </p:txBody>
        </p:sp>
        <p:sp>
          <p:nvSpPr>
            <p:cNvPr id="44" name="Shape 40"/>
            <p:cNvSpPr/>
            <p:nvPr/>
          </p:nvSpPr>
          <p:spPr>
            <a:xfrm>
              <a:off x="5623560" y="1115568"/>
              <a:ext cx="64008" cy="694944"/>
            </a:xfrm>
            <a:prstGeom prst="rect">
              <a:avLst/>
            </a:prstGeom>
            <a:solidFill>
              <a:srgbClr val="DC2626"/>
            </a:solidFill>
            <a:ln w="12700">
              <a:solidFill>
                <a:srgbClr val="DC2626"/>
              </a:solidFill>
              <a:prstDash val="solid"/>
            </a:ln>
          </p:spPr>
          <p:txBody>
            <a:bodyPr/>
            <a:lstStyle/>
            <a:p>
              <a:endParaRPr lang="ko-KR" altLang="en-US">
                <a:latin typeface="Rix고딕 L" panose="02020603020101020101" pitchFamily="18" charset="-127"/>
                <a:ea typeface="Rix고딕 L" panose="02020603020101020101" pitchFamily="18" charset="-127"/>
              </a:endParaRPr>
            </a:p>
          </p:txBody>
        </p:sp>
        <p:sp>
          <p:nvSpPr>
            <p:cNvPr id="45" name="Shape 41"/>
            <p:cNvSpPr/>
            <p:nvPr/>
          </p:nvSpPr>
          <p:spPr>
            <a:xfrm>
              <a:off x="7833638" y="1188720"/>
              <a:ext cx="748792" cy="201168"/>
            </a:xfrm>
            <a:prstGeom prst="roundRect">
              <a:avLst>
                <a:gd name="adj" fmla="val 27273"/>
              </a:avLst>
            </a:prstGeom>
            <a:solidFill>
              <a:srgbClr val="DC2626"/>
            </a:solidFill>
            <a:ln w="12700">
              <a:solidFill>
                <a:srgbClr val="DC2626"/>
              </a:solidFill>
              <a:prstDash val="solid"/>
            </a:ln>
          </p:spPr>
          <p:txBody>
            <a:bodyPr lIns="0" tIns="0" rIns="0" bIns="0" anchor="ctr" anchorCtr="0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ko-KR" sz="750" b="1" i="0" u="none" strike="noStrike" kern="1200" cap="none" spc="0" normalizeH="0" baseline="0" noProof="0" dirty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Rix고딕 L" panose="02020603020101020101" pitchFamily="18" charset="-127"/>
                  <a:ea typeface="Rix고딕 L" panose="02020603020101020101" pitchFamily="18" charset="-127"/>
                  <a:cs typeface="+mn-cs"/>
                </a:rPr>
                <a:t>HIGH RISK</a:t>
              </a:r>
              <a:endParaRPr kumimoji="0" lang="en-US" altLang="ko-KR" sz="75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Rix고딕 L" panose="02020603020101020101" pitchFamily="18" charset="-127"/>
                <a:ea typeface="Rix고딕 L" panose="02020603020101020101" pitchFamily="18" charset="-127"/>
                <a:cs typeface="+mn-cs"/>
              </a:endParaRPr>
            </a:p>
          </p:txBody>
        </p:sp>
        <p:sp>
          <p:nvSpPr>
            <p:cNvPr id="47" name="Text 43"/>
            <p:cNvSpPr/>
            <p:nvPr/>
          </p:nvSpPr>
          <p:spPr>
            <a:xfrm>
              <a:off x="5760720" y="1170432"/>
              <a:ext cx="2121408" cy="219456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950" b="1" dirty="0">
                  <a:solidFill>
                    <a:srgbClr val="DC2626"/>
                  </a:solidFill>
                  <a:latin typeface="Rix고딕 L" panose="02020603020101020101" pitchFamily="18" charset="-127"/>
                  <a:ea typeface="Rix고딕 L" panose="02020603020101020101" pitchFamily="18" charset="-127"/>
                </a:rPr>
                <a:t>미결 결함 이월 위험</a:t>
              </a:r>
              <a:endParaRPr lang="en-US" sz="950" dirty="0">
                <a:latin typeface="Rix고딕 L" panose="02020603020101020101" pitchFamily="18" charset="-127"/>
                <a:ea typeface="Rix고딕 L" panose="02020603020101020101" pitchFamily="18" charset="-127"/>
              </a:endParaRPr>
            </a:p>
          </p:txBody>
        </p:sp>
        <p:sp>
          <p:nvSpPr>
            <p:cNvPr id="48" name="Text 44"/>
            <p:cNvSpPr/>
            <p:nvPr/>
          </p:nvSpPr>
          <p:spPr>
            <a:xfrm>
              <a:off x="5760720" y="1389888"/>
              <a:ext cx="1234440" cy="256032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1500" b="1" dirty="0">
                  <a:solidFill>
                    <a:srgbClr val="1B3A6B"/>
                  </a:solidFill>
                  <a:latin typeface="Rix고딕 L" panose="02020603020101020101" pitchFamily="18" charset="-127"/>
                  <a:ea typeface="Rix고딕 L" panose="02020603020101020101" pitchFamily="18" charset="-127"/>
                </a:rPr>
                <a:t>1,735건</a:t>
              </a:r>
              <a:endParaRPr lang="en-US" sz="1500" dirty="0">
                <a:latin typeface="Rix고딕 L" panose="02020603020101020101" pitchFamily="18" charset="-127"/>
                <a:ea typeface="Rix고딕 L" panose="02020603020101020101" pitchFamily="18" charset="-127"/>
              </a:endParaRPr>
            </a:p>
          </p:txBody>
        </p:sp>
        <p:sp>
          <p:nvSpPr>
            <p:cNvPr id="49" name="Text 45"/>
            <p:cNvSpPr/>
            <p:nvPr/>
          </p:nvSpPr>
          <p:spPr>
            <a:xfrm>
              <a:off x="7059168" y="1415656"/>
              <a:ext cx="1548384" cy="32973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800" dirty="0">
                  <a:solidFill>
                    <a:srgbClr val="4B5563"/>
                  </a:solidFill>
                  <a:latin typeface="Rix고딕 L" panose="02020603020101020101" pitchFamily="18" charset="-127"/>
                  <a:ea typeface="Rix고딕 L" panose="02020603020101020101" pitchFamily="18" charset="-127"/>
                </a:rPr>
                <a:t>현재 미결 결함이 2-3차 이월 시</a:t>
              </a:r>
              <a:endParaRPr lang="en-US" sz="800" dirty="0">
                <a:latin typeface="Rix고딕 L" panose="02020603020101020101" pitchFamily="18" charset="-127"/>
                <a:ea typeface="Rix고딕 L" panose="02020603020101020101" pitchFamily="18" charset="-127"/>
              </a:endParaRPr>
            </a:p>
            <a:p>
              <a:pPr marL="0" indent="0">
                <a:buNone/>
              </a:pPr>
              <a:r>
                <a:rPr lang="en-US" sz="800" dirty="0">
                  <a:solidFill>
                    <a:srgbClr val="4B5563"/>
                  </a:solidFill>
                  <a:latin typeface="Rix고딕 L" panose="02020603020101020101" pitchFamily="18" charset="-127"/>
                  <a:ea typeface="Rix고딕 L" panose="02020603020101020101" pitchFamily="18" charset="-127"/>
                </a:rPr>
                <a:t>감리 단계 결함 급증 예상</a:t>
              </a:r>
              <a:endParaRPr lang="en-US" sz="800" dirty="0">
                <a:latin typeface="Rix고딕 L" panose="02020603020101020101" pitchFamily="18" charset="-127"/>
                <a:ea typeface="Rix고딕 L" panose="02020603020101020101" pitchFamily="18" charset="-127"/>
              </a:endParaRPr>
            </a:p>
          </p:txBody>
        </p:sp>
      </p:grpSp>
      <p:grpSp>
        <p:nvGrpSpPr>
          <p:cNvPr id="79" name="그룹 78">
            <a:extLst>
              <a:ext uri="{FF2B5EF4-FFF2-40B4-BE49-F238E27FC236}">
                <a16:creationId xmlns:a16="http://schemas.microsoft.com/office/drawing/2014/main" id="{54488DAE-18B7-B994-847E-DE217A424744}"/>
              </a:ext>
            </a:extLst>
          </p:cNvPr>
          <p:cNvGrpSpPr/>
          <p:nvPr/>
        </p:nvGrpSpPr>
        <p:grpSpPr>
          <a:xfrm>
            <a:off x="5623560" y="1928402"/>
            <a:ext cx="3052128" cy="694944"/>
            <a:chOff x="5623560" y="1956816"/>
            <a:chExt cx="3052128" cy="694944"/>
          </a:xfrm>
        </p:grpSpPr>
        <p:sp>
          <p:nvSpPr>
            <p:cNvPr id="50" name="Shape 46"/>
            <p:cNvSpPr/>
            <p:nvPr/>
          </p:nvSpPr>
          <p:spPr>
            <a:xfrm>
              <a:off x="5623560" y="1956816"/>
              <a:ext cx="3052128" cy="694944"/>
            </a:xfrm>
            <a:prstGeom prst="rect">
              <a:avLst/>
            </a:prstGeom>
            <a:solidFill>
              <a:srgbClr val="F4F7FB"/>
            </a:solidFill>
            <a:ln w="12700">
              <a:solidFill>
                <a:srgbClr val="D1D9E6"/>
              </a:solidFill>
              <a:prstDash val="solid"/>
            </a:ln>
            <a:effectLst>
              <a:outerShdw blurRad="50800" dist="25400" dir="8100000" algn="bl" rotWithShape="0">
                <a:srgbClr val="000000">
                  <a:alpha val="8000"/>
                </a:srgbClr>
              </a:outerShdw>
            </a:effectLst>
          </p:spPr>
          <p:txBody>
            <a:bodyPr/>
            <a:lstStyle/>
            <a:p>
              <a:endParaRPr lang="ko-KR" altLang="en-US">
                <a:latin typeface="Rix고딕 L" panose="02020603020101020101" pitchFamily="18" charset="-127"/>
                <a:ea typeface="Rix고딕 L" panose="02020603020101020101" pitchFamily="18" charset="-127"/>
              </a:endParaRPr>
            </a:p>
          </p:txBody>
        </p:sp>
        <p:sp>
          <p:nvSpPr>
            <p:cNvPr id="51" name="Shape 47"/>
            <p:cNvSpPr/>
            <p:nvPr/>
          </p:nvSpPr>
          <p:spPr>
            <a:xfrm>
              <a:off x="5623560" y="1956816"/>
              <a:ext cx="64008" cy="694944"/>
            </a:xfrm>
            <a:prstGeom prst="rect">
              <a:avLst/>
            </a:prstGeom>
            <a:solidFill>
              <a:srgbClr val="E85D2F"/>
            </a:solidFill>
            <a:ln w="12700">
              <a:solidFill>
                <a:srgbClr val="E85D2F"/>
              </a:solidFill>
              <a:prstDash val="solid"/>
            </a:ln>
          </p:spPr>
          <p:txBody>
            <a:bodyPr/>
            <a:lstStyle/>
            <a:p>
              <a:endParaRPr lang="ko-KR" altLang="en-US">
                <a:latin typeface="Rix고딕 L" panose="02020603020101020101" pitchFamily="18" charset="-127"/>
                <a:ea typeface="Rix고딕 L" panose="02020603020101020101" pitchFamily="18" charset="-127"/>
              </a:endParaRPr>
            </a:p>
          </p:txBody>
        </p:sp>
        <p:sp>
          <p:nvSpPr>
            <p:cNvPr id="52" name="Shape 48"/>
            <p:cNvSpPr/>
            <p:nvPr/>
          </p:nvSpPr>
          <p:spPr>
            <a:xfrm>
              <a:off x="7833638" y="2029968"/>
              <a:ext cx="748792" cy="201168"/>
            </a:xfrm>
            <a:prstGeom prst="roundRect">
              <a:avLst>
                <a:gd name="adj" fmla="val 27273"/>
              </a:avLst>
            </a:prstGeom>
            <a:solidFill>
              <a:srgbClr val="E85D2F"/>
            </a:solidFill>
            <a:ln w="12700">
              <a:solidFill>
                <a:srgbClr val="E85D2F"/>
              </a:solidFill>
              <a:prstDash val="solid"/>
            </a:ln>
          </p:spPr>
          <p:txBody>
            <a:bodyPr lIns="0" tIns="0" rIns="0" bIns="0" anchor="ctr" anchorCtr="0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ko-KR" sz="750" b="1" i="0" u="none" strike="noStrike" kern="1200" cap="none" spc="0" normalizeH="0" baseline="0" noProof="0" dirty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Rix고딕 L" panose="02020603020101020101" pitchFamily="18" charset="-127"/>
                  <a:ea typeface="Rix고딕 L" panose="02020603020101020101" pitchFamily="18" charset="-127"/>
                  <a:cs typeface="+mn-cs"/>
                </a:rPr>
                <a:t>HIGH RISK</a:t>
              </a:r>
              <a:endParaRPr kumimoji="0" lang="en-US" altLang="ko-KR" sz="75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Rix고딕 L" panose="02020603020101020101" pitchFamily="18" charset="-127"/>
                <a:ea typeface="Rix고딕 L" panose="02020603020101020101" pitchFamily="18" charset="-127"/>
                <a:cs typeface="+mn-cs"/>
              </a:endParaRPr>
            </a:p>
          </p:txBody>
        </p:sp>
        <p:sp>
          <p:nvSpPr>
            <p:cNvPr id="54" name="Text 50"/>
            <p:cNvSpPr/>
            <p:nvPr/>
          </p:nvSpPr>
          <p:spPr>
            <a:xfrm>
              <a:off x="5760720" y="2011680"/>
              <a:ext cx="2121408" cy="219456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950" b="1" dirty="0">
                  <a:solidFill>
                    <a:srgbClr val="E85D2F"/>
                  </a:solidFill>
                  <a:latin typeface="Rix고딕 L" panose="02020603020101020101" pitchFamily="18" charset="-127"/>
                  <a:ea typeface="Rix고딕 L" panose="02020603020101020101" pitchFamily="18" charset="-127"/>
                </a:rPr>
                <a:t>항공기관제(AC) 지속 위험</a:t>
              </a:r>
              <a:endParaRPr lang="en-US" sz="950" dirty="0">
                <a:latin typeface="Rix고딕 L" panose="02020603020101020101" pitchFamily="18" charset="-127"/>
                <a:ea typeface="Rix고딕 L" panose="02020603020101020101" pitchFamily="18" charset="-127"/>
              </a:endParaRPr>
            </a:p>
          </p:txBody>
        </p:sp>
        <p:sp>
          <p:nvSpPr>
            <p:cNvPr id="55" name="Text 51"/>
            <p:cNvSpPr/>
            <p:nvPr/>
          </p:nvSpPr>
          <p:spPr>
            <a:xfrm>
              <a:off x="5760720" y="2231136"/>
              <a:ext cx="1234440" cy="256032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1500" b="1" dirty="0">
                  <a:solidFill>
                    <a:srgbClr val="1B3A6B"/>
                  </a:solidFill>
                  <a:latin typeface="Rix고딕 L" panose="02020603020101020101" pitchFamily="18" charset="-127"/>
                  <a:ea typeface="Rix고딕 L" panose="02020603020101020101" pitchFamily="18" charset="-127"/>
                </a:rPr>
                <a:t>37건 발생</a:t>
              </a:r>
              <a:endParaRPr lang="en-US" sz="1500" dirty="0">
                <a:latin typeface="Rix고딕 L" panose="02020603020101020101" pitchFamily="18" charset="-127"/>
                <a:ea typeface="Rix고딕 L" panose="02020603020101020101" pitchFamily="18" charset="-127"/>
              </a:endParaRPr>
            </a:p>
          </p:txBody>
        </p:sp>
        <p:sp>
          <p:nvSpPr>
            <p:cNvPr id="56" name="Text 52"/>
            <p:cNvSpPr/>
            <p:nvPr/>
          </p:nvSpPr>
          <p:spPr>
            <a:xfrm>
              <a:off x="7059168" y="2249978"/>
              <a:ext cx="1616520" cy="350186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800" dirty="0">
                  <a:solidFill>
                    <a:srgbClr val="4B5563"/>
                  </a:solidFill>
                  <a:latin typeface="Rix고딕 L" panose="02020603020101020101" pitchFamily="18" charset="-127"/>
                  <a:ea typeface="Rix고딕 L" panose="02020603020101020101" pitchFamily="18" charset="-127"/>
                </a:rPr>
                <a:t>2-3차 이미 37건 · PL 집중(95건)</a:t>
              </a:r>
              <a:endParaRPr lang="en-US" sz="800" dirty="0">
                <a:latin typeface="Rix고딕 L" panose="02020603020101020101" pitchFamily="18" charset="-127"/>
                <a:ea typeface="Rix고딕 L" panose="02020603020101020101" pitchFamily="18" charset="-127"/>
              </a:endParaRPr>
            </a:p>
            <a:p>
              <a:pPr marL="0" indent="0">
                <a:buNone/>
              </a:pPr>
              <a:r>
                <a:rPr lang="en-US" sz="800" dirty="0">
                  <a:solidFill>
                    <a:srgbClr val="4B5563"/>
                  </a:solidFill>
                  <a:latin typeface="Rix고딕 L" panose="02020603020101020101" pitchFamily="18" charset="-127"/>
                  <a:ea typeface="Rix고딕 L" panose="02020603020101020101" pitchFamily="18" charset="-127"/>
                </a:rPr>
                <a:t>구조적 문제 미해소</a:t>
              </a:r>
              <a:endParaRPr lang="en-US" sz="800" dirty="0">
                <a:latin typeface="Rix고딕 L" panose="02020603020101020101" pitchFamily="18" charset="-127"/>
                <a:ea typeface="Rix고딕 L" panose="02020603020101020101" pitchFamily="18" charset="-127"/>
              </a:endParaRPr>
            </a:p>
          </p:txBody>
        </p:sp>
      </p:grpSp>
      <p:grpSp>
        <p:nvGrpSpPr>
          <p:cNvPr id="78" name="그룹 77">
            <a:extLst>
              <a:ext uri="{FF2B5EF4-FFF2-40B4-BE49-F238E27FC236}">
                <a16:creationId xmlns:a16="http://schemas.microsoft.com/office/drawing/2014/main" id="{63923BAD-F502-AD47-007F-20F52745F229}"/>
              </a:ext>
            </a:extLst>
          </p:cNvPr>
          <p:cNvGrpSpPr/>
          <p:nvPr/>
        </p:nvGrpSpPr>
        <p:grpSpPr>
          <a:xfrm>
            <a:off x="5623560" y="2741236"/>
            <a:ext cx="3052128" cy="694944"/>
            <a:chOff x="5623560" y="2798064"/>
            <a:chExt cx="3052128" cy="694944"/>
          </a:xfrm>
        </p:grpSpPr>
        <p:sp>
          <p:nvSpPr>
            <p:cNvPr id="57" name="Shape 53"/>
            <p:cNvSpPr/>
            <p:nvPr/>
          </p:nvSpPr>
          <p:spPr>
            <a:xfrm>
              <a:off x="5623560" y="2798064"/>
              <a:ext cx="3052128" cy="694944"/>
            </a:xfrm>
            <a:prstGeom prst="rect">
              <a:avLst/>
            </a:prstGeom>
            <a:solidFill>
              <a:srgbClr val="F4F7FB"/>
            </a:solidFill>
            <a:ln w="12700">
              <a:solidFill>
                <a:srgbClr val="D1D9E6"/>
              </a:solidFill>
              <a:prstDash val="solid"/>
            </a:ln>
            <a:effectLst>
              <a:outerShdw blurRad="50800" dist="25400" dir="8100000" algn="bl" rotWithShape="0">
                <a:srgbClr val="000000">
                  <a:alpha val="8000"/>
                </a:srgbClr>
              </a:outerShdw>
            </a:effectLst>
          </p:spPr>
          <p:txBody>
            <a:bodyPr/>
            <a:lstStyle/>
            <a:p>
              <a:endParaRPr lang="ko-KR" altLang="en-US">
                <a:latin typeface="Rix고딕 L" panose="02020603020101020101" pitchFamily="18" charset="-127"/>
                <a:ea typeface="Rix고딕 L" panose="02020603020101020101" pitchFamily="18" charset="-127"/>
              </a:endParaRPr>
            </a:p>
          </p:txBody>
        </p:sp>
        <p:sp>
          <p:nvSpPr>
            <p:cNvPr id="58" name="Shape 54"/>
            <p:cNvSpPr/>
            <p:nvPr/>
          </p:nvSpPr>
          <p:spPr>
            <a:xfrm>
              <a:off x="5623560" y="2798064"/>
              <a:ext cx="64008" cy="694944"/>
            </a:xfrm>
            <a:prstGeom prst="rect">
              <a:avLst/>
            </a:prstGeom>
            <a:solidFill>
              <a:srgbClr val="D97706"/>
            </a:solidFill>
            <a:ln w="12700">
              <a:solidFill>
                <a:srgbClr val="D97706"/>
              </a:solidFill>
              <a:prstDash val="solid"/>
            </a:ln>
          </p:spPr>
          <p:txBody>
            <a:bodyPr/>
            <a:lstStyle/>
            <a:p>
              <a:endParaRPr lang="ko-KR" altLang="en-US">
                <a:latin typeface="Rix고딕 L" panose="02020603020101020101" pitchFamily="18" charset="-127"/>
                <a:ea typeface="Rix고딕 L" panose="02020603020101020101" pitchFamily="18" charset="-127"/>
              </a:endParaRPr>
            </a:p>
          </p:txBody>
        </p:sp>
        <p:sp>
          <p:nvSpPr>
            <p:cNvPr id="59" name="Shape 55"/>
            <p:cNvSpPr/>
            <p:nvPr/>
          </p:nvSpPr>
          <p:spPr>
            <a:xfrm>
              <a:off x="7979942" y="2871216"/>
              <a:ext cx="612648" cy="201168"/>
            </a:xfrm>
            <a:prstGeom prst="roundRect">
              <a:avLst>
                <a:gd name="adj" fmla="val 27273"/>
              </a:avLst>
            </a:prstGeom>
            <a:solidFill>
              <a:srgbClr val="D97706"/>
            </a:solidFill>
            <a:ln w="12700">
              <a:solidFill>
                <a:srgbClr val="D97706"/>
              </a:solidFill>
              <a:prstDash val="solid"/>
            </a:ln>
          </p:spPr>
          <p:txBody>
            <a:bodyPr lIns="0" tIns="0" rIns="0" bIns="0" anchor="ctr" anchorCtr="0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ko-KR" sz="750" b="1" i="0" u="none" strike="noStrike" kern="1200" cap="none" spc="0" normalizeH="0" baseline="0" noProof="0" dirty="0" err="1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Rix고딕 L" panose="02020603020101020101" pitchFamily="18" charset="-127"/>
                  <a:ea typeface="Rix고딕 L" panose="02020603020101020101" pitchFamily="18" charset="-127"/>
                  <a:cs typeface="+mn-cs"/>
                </a:rPr>
                <a:t>긴급조치</a:t>
              </a:r>
              <a:endParaRPr kumimoji="0" lang="en-US" altLang="ko-KR" sz="75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Rix고딕 L" panose="02020603020101020101" pitchFamily="18" charset="-127"/>
                <a:ea typeface="Rix고딕 L" panose="02020603020101020101" pitchFamily="18" charset="-127"/>
                <a:cs typeface="+mn-cs"/>
              </a:endParaRPr>
            </a:p>
          </p:txBody>
        </p:sp>
        <p:sp>
          <p:nvSpPr>
            <p:cNvPr id="61" name="Text 57"/>
            <p:cNvSpPr/>
            <p:nvPr/>
          </p:nvSpPr>
          <p:spPr>
            <a:xfrm>
              <a:off x="5760720" y="2852928"/>
              <a:ext cx="2267712" cy="219456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950" b="1" dirty="0">
                  <a:solidFill>
                    <a:srgbClr val="D97706"/>
                  </a:solidFill>
                  <a:latin typeface="Rix고딕 L" panose="02020603020101020101" pitchFamily="18" charset="-127"/>
                  <a:ea typeface="Rix고딕 L" panose="02020603020101020101" pitchFamily="18" charset="-127"/>
                </a:rPr>
                <a:t>항공통계포털(AS) 위험</a:t>
              </a:r>
              <a:endParaRPr lang="en-US" sz="950" dirty="0">
                <a:latin typeface="Rix고딕 L" panose="02020603020101020101" pitchFamily="18" charset="-127"/>
                <a:ea typeface="Rix고딕 L" panose="02020603020101020101" pitchFamily="18" charset="-127"/>
              </a:endParaRPr>
            </a:p>
          </p:txBody>
        </p:sp>
        <p:sp>
          <p:nvSpPr>
            <p:cNvPr id="62" name="Text 58"/>
            <p:cNvSpPr/>
            <p:nvPr/>
          </p:nvSpPr>
          <p:spPr>
            <a:xfrm>
              <a:off x="5760720" y="3072384"/>
              <a:ext cx="1234440" cy="256032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1500" b="1" dirty="0">
                  <a:solidFill>
                    <a:srgbClr val="1B3A6B"/>
                  </a:solidFill>
                  <a:latin typeface="Rix고딕 L" panose="02020603020101020101" pitchFamily="18" charset="-127"/>
                  <a:ea typeface="Rix고딕 L" panose="02020603020101020101" pitchFamily="18" charset="-127"/>
                </a:rPr>
                <a:t>89건 미결</a:t>
              </a:r>
              <a:endParaRPr lang="en-US" sz="1500" dirty="0">
                <a:latin typeface="Rix고딕 L" panose="02020603020101020101" pitchFamily="18" charset="-127"/>
                <a:ea typeface="Rix고딕 L" panose="02020603020101020101" pitchFamily="18" charset="-127"/>
              </a:endParaRPr>
            </a:p>
          </p:txBody>
        </p:sp>
        <p:sp>
          <p:nvSpPr>
            <p:cNvPr id="63" name="Text 59"/>
            <p:cNvSpPr/>
            <p:nvPr/>
          </p:nvSpPr>
          <p:spPr>
            <a:xfrm>
              <a:off x="7059168" y="3091224"/>
              <a:ext cx="1523262" cy="355305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800" dirty="0">
                  <a:solidFill>
                    <a:srgbClr val="4B5563"/>
                  </a:solidFill>
                  <a:latin typeface="Rix고딕 L" panose="02020603020101020101" pitchFamily="18" charset="-127"/>
                  <a:ea typeface="Rix고딕 L" panose="02020603020101020101" pitchFamily="18" charset="-127"/>
                </a:rPr>
                <a:t>감리 단계 검토요청 89건</a:t>
              </a:r>
              <a:endParaRPr lang="en-US" sz="800" dirty="0">
                <a:latin typeface="Rix고딕 L" panose="02020603020101020101" pitchFamily="18" charset="-127"/>
                <a:ea typeface="Rix고딕 L" panose="02020603020101020101" pitchFamily="18" charset="-127"/>
              </a:endParaRPr>
            </a:p>
            <a:p>
              <a:pPr marL="0" indent="0">
                <a:buNone/>
              </a:pPr>
              <a:r>
                <a:rPr lang="en-US" sz="800" dirty="0">
                  <a:solidFill>
                    <a:srgbClr val="4B5563"/>
                  </a:solidFill>
                  <a:latin typeface="Rix고딕 L" panose="02020603020101020101" pitchFamily="18" charset="-127"/>
                  <a:ea typeface="Rix고딕 L" panose="02020603020101020101" pitchFamily="18" charset="-127"/>
                </a:rPr>
                <a:t>2-3차 감리 전 전수 조치 필수</a:t>
              </a:r>
              <a:endParaRPr lang="en-US" sz="800" dirty="0">
                <a:latin typeface="Rix고딕 L" panose="02020603020101020101" pitchFamily="18" charset="-127"/>
                <a:ea typeface="Rix고딕 L" panose="02020603020101020101" pitchFamily="18" charset="-127"/>
              </a:endParaRPr>
            </a:p>
          </p:txBody>
        </p:sp>
      </p:grpSp>
      <p:grpSp>
        <p:nvGrpSpPr>
          <p:cNvPr id="77" name="그룹 76">
            <a:extLst>
              <a:ext uri="{FF2B5EF4-FFF2-40B4-BE49-F238E27FC236}">
                <a16:creationId xmlns:a16="http://schemas.microsoft.com/office/drawing/2014/main" id="{8F6C184C-3914-A505-89F6-4C4C690FC603}"/>
              </a:ext>
            </a:extLst>
          </p:cNvPr>
          <p:cNvGrpSpPr/>
          <p:nvPr/>
        </p:nvGrpSpPr>
        <p:grpSpPr>
          <a:xfrm>
            <a:off x="5623560" y="3554069"/>
            <a:ext cx="3052128" cy="694944"/>
            <a:chOff x="5623560" y="3639312"/>
            <a:chExt cx="3052128" cy="694944"/>
          </a:xfrm>
        </p:grpSpPr>
        <p:sp>
          <p:nvSpPr>
            <p:cNvPr id="64" name="Shape 60"/>
            <p:cNvSpPr/>
            <p:nvPr/>
          </p:nvSpPr>
          <p:spPr>
            <a:xfrm>
              <a:off x="5623560" y="3639312"/>
              <a:ext cx="3052128" cy="694944"/>
            </a:xfrm>
            <a:prstGeom prst="rect">
              <a:avLst/>
            </a:prstGeom>
            <a:solidFill>
              <a:srgbClr val="F4F7FB"/>
            </a:solidFill>
            <a:ln w="12700">
              <a:solidFill>
                <a:srgbClr val="D1D9E6"/>
              </a:solidFill>
              <a:prstDash val="solid"/>
            </a:ln>
            <a:effectLst>
              <a:outerShdw blurRad="50800" dist="25400" dir="8100000" algn="bl" rotWithShape="0">
                <a:srgbClr val="000000">
                  <a:alpha val="8000"/>
                </a:srgbClr>
              </a:outerShdw>
            </a:effectLst>
          </p:spPr>
          <p:txBody>
            <a:bodyPr/>
            <a:lstStyle/>
            <a:p>
              <a:endParaRPr lang="ko-KR" altLang="en-US">
                <a:latin typeface="Rix고딕 L" panose="02020603020101020101" pitchFamily="18" charset="-127"/>
                <a:ea typeface="Rix고딕 L" panose="02020603020101020101" pitchFamily="18" charset="-127"/>
              </a:endParaRPr>
            </a:p>
          </p:txBody>
        </p:sp>
        <p:sp>
          <p:nvSpPr>
            <p:cNvPr id="65" name="Shape 61"/>
            <p:cNvSpPr/>
            <p:nvPr/>
          </p:nvSpPr>
          <p:spPr>
            <a:xfrm>
              <a:off x="5623560" y="3639312"/>
              <a:ext cx="64008" cy="694944"/>
            </a:xfrm>
            <a:prstGeom prst="rect">
              <a:avLst/>
            </a:prstGeom>
            <a:solidFill>
              <a:srgbClr val="2563A8"/>
            </a:solidFill>
            <a:ln w="12700">
              <a:solidFill>
                <a:srgbClr val="2563A8"/>
              </a:solidFill>
              <a:prstDash val="solid"/>
            </a:ln>
          </p:spPr>
          <p:txBody>
            <a:bodyPr/>
            <a:lstStyle/>
            <a:p>
              <a:endParaRPr lang="ko-KR" altLang="en-US">
                <a:latin typeface="Rix고딕 L" panose="02020603020101020101" pitchFamily="18" charset="-127"/>
                <a:ea typeface="Rix고딕 L" panose="02020603020101020101" pitchFamily="18" charset="-127"/>
              </a:endParaRPr>
            </a:p>
          </p:txBody>
        </p:sp>
        <p:sp>
          <p:nvSpPr>
            <p:cNvPr id="66" name="Shape 62"/>
            <p:cNvSpPr/>
            <p:nvPr/>
          </p:nvSpPr>
          <p:spPr>
            <a:xfrm>
              <a:off x="7979942" y="3712464"/>
              <a:ext cx="612648" cy="201168"/>
            </a:xfrm>
            <a:prstGeom prst="roundRect">
              <a:avLst>
                <a:gd name="adj" fmla="val 27273"/>
              </a:avLst>
            </a:prstGeom>
            <a:solidFill>
              <a:srgbClr val="2563A8"/>
            </a:solidFill>
            <a:ln w="12700">
              <a:solidFill>
                <a:srgbClr val="2563A8"/>
              </a:solidFill>
              <a:prstDash val="solid"/>
            </a:ln>
          </p:spPr>
          <p:txBody>
            <a:bodyPr lIns="0" tIns="0" rIns="0" bIns="0" anchor="ctr" anchorCtr="0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ko-KR" sz="750" b="1" i="0" u="none" strike="noStrike" kern="1200" cap="none" spc="0" normalizeH="0" baseline="0" noProof="0" dirty="0" err="1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Rix고딕 L" panose="02020603020101020101" pitchFamily="18" charset="-127"/>
                  <a:ea typeface="Rix고딕 L" panose="02020603020101020101" pitchFamily="18" charset="-127"/>
                  <a:cs typeface="+mn-cs"/>
                </a:rPr>
                <a:t>제도개선</a:t>
              </a:r>
              <a:endParaRPr kumimoji="0" lang="en-US" altLang="ko-KR" sz="75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Rix고딕 L" panose="02020603020101020101" pitchFamily="18" charset="-127"/>
                <a:ea typeface="Rix고딕 L" panose="02020603020101020101" pitchFamily="18" charset="-127"/>
                <a:cs typeface="+mn-cs"/>
              </a:endParaRPr>
            </a:p>
          </p:txBody>
        </p:sp>
        <p:sp>
          <p:nvSpPr>
            <p:cNvPr id="68" name="Text 64"/>
            <p:cNvSpPr/>
            <p:nvPr/>
          </p:nvSpPr>
          <p:spPr>
            <a:xfrm>
              <a:off x="5760720" y="3694176"/>
              <a:ext cx="2267712" cy="219456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950" b="1" dirty="0">
                  <a:solidFill>
                    <a:srgbClr val="2563A8"/>
                  </a:solidFill>
                  <a:latin typeface="Rix고딕 L" panose="02020603020101020101" pitchFamily="18" charset="-127"/>
                  <a:ea typeface="Rix고딕 L" panose="02020603020101020101" pitchFamily="18" charset="-127"/>
                </a:rPr>
                <a:t>품질 게이트 부재</a:t>
              </a:r>
              <a:endParaRPr lang="en-US" sz="950" dirty="0">
                <a:latin typeface="Rix고딕 L" panose="02020603020101020101" pitchFamily="18" charset="-127"/>
                <a:ea typeface="Rix고딕 L" panose="02020603020101020101" pitchFamily="18" charset="-127"/>
              </a:endParaRPr>
            </a:p>
          </p:txBody>
        </p:sp>
        <p:sp>
          <p:nvSpPr>
            <p:cNvPr id="69" name="Text 65"/>
            <p:cNvSpPr/>
            <p:nvPr/>
          </p:nvSpPr>
          <p:spPr>
            <a:xfrm>
              <a:off x="5760720" y="3913632"/>
              <a:ext cx="1234440" cy="256032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1500" b="1" dirty="0">
                  <a:solidFill>
                    <a:srgbClr val="1B3A6B"/>
                  </a:solidFill>
                  <a:latin typeface="Rix고딕 L" panose="02020603020101020101" pitchFamily="18" charset="-127"/>
                  <a:ea typeface="Rix고딕 L" panose="02020603020101020101" pitchFamily="18" charset="-127"/>
                </a:rPr>
                <a:t>구조적 반복</a:t>
              </a:r>
              <a:endParaRPr lang="en-US" sz="1500" dirty="0">
                <a:latin typeface="Rix고딕 L" panose="02020603020101020101" pitchFamily="18" charset="-127"/>
                <a:ea typeface="Rix고딕 L" panose="02020603020101020101" pitchFamily="18" charset="-127"/>
              </a:endParaRPr>
            </a:p>
          </p:txBody>
        </p:sp>
        <p:sp>
          <p:nvSpPr>
            <p:cNvPr id="70" name="Text 66"/>
            <p:cNvSpPr/>
            <p:nvPr/>
          </p:nvSpPr>
          <p:spPr>
            <a:xfrm>
              <a:off x="7059168" y="3877056"/>
              <a:ext cx="1399032" cy="4572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800" dirty="0">
                  <a:solidFill>
                    <a:srgbClr val="4B5563"/>
                  </a:solidFill>
                  <a:latin typeface="Rix고딕 L" panose="02020603020101020101" pitchFamily="18" charset="-127"/>
                  <a:ea typeface="Rix고딕 L" panose="02020603020101020101" pitchFamily="18" charset="-127"/>
                </a:rPr>
                <a:t>공사 진입 전 PL 검수 의무화</a:t>
              </a:r>
              <a:endParaRPr lang="en-US" sz="800" dirty="0">
                <a:latin typeface="Rix고딕 L" panose="02020603020101020101" pitchFamily="18" charset="-127"/>
                <a:ea typeface="Rix고딕 L" panose="02020603020101020101" pitchFamily="18" charset="-127"/>
              </a:endParaRPr>
            </a:p>
            <a:p>
              <a:pPr marL="0" indent="0">
                <a:buNone/>
              </a:pPr>
              <a:r>
                <a:rPr lang="en-US" sz="800" dirty="0">
                  <a:solidFill>
                    <a:srgbClr val="4B5563"/>
                  </a:solidFill>
                  <a:latin typeface="Rix고딕 L" panose="02020603020101020101" pitchFamily="18" charset="-127"/>
                  <a:ea typeface="Rix고딕 L" panose="02020603020101020101" pitchFamily="18" charset="-127"/>
                </a:rPr>
                <a:t>없이는 반복 지속</a:t>
              </a:r>
              <a:endParaRPr lang="en-US" sz="800" dirty="0">
                <a:latin typeface="Rix고딕 L" panose="02020603020101020101" pitchFamily="18" charset="-127"/>
                <a:ea typeface="Rix고딕 L" panose="02020603020101020101" pitchFamily="18" charset="-127"/>
              </a:endParaRPr>
            </a:p>
          </p:txBody>
        </p:sp>
      </p:grpSp>
      <p:sp>
        <p:nvSpPr>
          <p:cNvPr id="71" name="Shape 67"/>
          <p:cNvSpPr/>
          <p:nvPr/>
        </p:nvSpPr>
        <p:spPr>
          <a:xfrm>
            <a:off x="439742" y="4443395"/>
            <a:ext cx="8235945" cy="256032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  <p:txBody>
          <a:bodyPr/>
          <a:lstStyle/>
          <a:p>
            <a:endParaRPr lang="ko-KR" altLang="en-US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72" name="Text 68"/>
          <p:cNvSpPr/>
          <p:nvPr/>
        </p:nvSpPr>
        <p:spPr>
          <a:xfrm>
            <a:off x="879486" y="4443395"/>
            <a:ext cx="724260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FFFFFF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▶  </a:t>
            </a:r>
            <a:r>
              <a:rPr lang="ko-KR" altLang="en-US" sz="950" b="1" dirty="0">
                <a:solidFill>
                  <a:srgbClr val="FFFFFF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추가 인력의 </a:t>
            </a:r>
            <a:r>
              <a:rPr lang="en-US" sz="950" b="1" dirty="0" err="1">
                <a:solidFill>
                  <a:srgbClr val="FFFFFF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개입</a:t>
            </a:r>
            <a:r>
              <a:rPr lang="en-US" sz="950" b="1" dirty="0">
                <a:solidFill>
                  <a:srgbClr val="FFFFFF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 + </a:t>
            </a:r>
            <a:r>
              <a:rPr lang="ko-KR" altLang="en-US" sz="950" b="1" dirty="0">
                <a:solidFill>
                  <a:srgbClr val="FFFFFF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집중 관리 </a:t>
            </a:r>
            <a:r>
              <a:rPr lang="en-US" sz="950" b="1" dirty="0" err="1">
                <a:solidFill>
                  <a:srgbClr val="FFFFFF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없이는</a:t>
            </a:r>
            <a:r>
              <a:rPr lang="en-US" sz="950" b="1" dirty="0">
                <a:solidFill>
                  <a:srgbClr val="FFFFFF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 2-3차 </a:t>
            </a:r>
            <a:r>
              <a:rPr lang="en-US" sz="950" b="1" dirty="0" err="1">
                <a:solidFill>
                  <a:srgbClr val="FFFFFF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품질</a:t>
            </a:r>
            <a:r>
              <a:rPr lang="en-US" sz="950" b="1" dirty="0">
                <a:solidFill>
                  <a:srgbClr val="FFFFFF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 </a:t>
            </a:r>
            <a:r>
              <a:rPr lang="en-US" sz="950" b="1" dirty="0" err="1">
                <a:solidFill>
                  <a:srgbClr val="FFFFFF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위기</a:t>
            </a:r>
            <a:r>
              <a:rPr lang="en-US" sz="950" b="1" dirty="0">
                <a:solidFill>
                  <a:srgbClr val="FFFFFF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 </a:t>
            </a:r>
            <a:r>
              <a:rPr lang="en-US" sz="950" b="1" dirty="0" err="1">
                <a:solidFill>
                  <a:srgbClr val="FFFFFF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불가피</a:t>
            </a:r>
            <a:endParaRPr lang="en-US" sz="950" dirty="0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bg>
      <p:bgPr>
        <a:solidFill>
          <a:srgbClr val="FFFFFF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9AF22EF-7C32-F434-26C9-2DA08E16D9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EAC1E314-BB0E-7478-EFD6-7DA95D539365}"/>
              </a:ext>
            </a:extLst>
          </p:cNvPr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  <p:txBody>
          <a:bodyPr/>
          <a:lstStyle/>
          <a:p>
            <a:endParaRPr lang="ko-KR" altLang="en-US" dirty="0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E8F027BE-AFD1-7D91-B5FD-C8E6089B6324}"/>
              </a:ext>
            </a:extLst>
          </p:cNvPr>
          <p:cNvSpPr/>
          <p:nvPr/>
        </p:nvSpPr>
        <p:spPr>
          <a:xfrm>
            <a:off x="320040" y="0"/>
            <a:ext cx="64008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FFFFFF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주요 미결 결함 현황 및 모듈별 대응 계획</a:t>
            </a:r>
            <a:endParaRPr lang="en-US" sz="2000" dirty="0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graphicFrame>
        <p:nvGraphicFramePr>
          <p:cNvPr id="5" name="Chart 0">
            <a:extLst>
              <a:ext uri="{FF2B5EF4-FFF2-40B4-BE49-F238E27FC236}">
                <a16:creationId xmlns:a16="http://schemas.microsoft.com/office/drawing/2014/main" id="{0321FC6A-7876-553F-46AD-29E4AFDEE417}"/>
              </a:ext>
            </a:extLst>
          </p:cNvPr>
          <p:cNvGraphicFramePr/>
          <p:nvPr/>
        </p:nvGraphicFramePr>
        <p:xfrm>
          <a:off x="274320" y="771525"/>
          <a:ext cx="8595360" cy="260604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6" name="Shape 3">
            <a:extLst>
              <a:ext uri="{FF2B5EF4-FFF2-40B4-BE49-F238E27FC236}">
                <a16:creationId xmlns:a16="http://schemas.microsoft.com/office/drawing/2014/main" id="{49E02F2F-6EEE-D78E-4BDB-35FB8D9F7A48}"/>
              </a:ext>
            </a:extLst>
          </p:cNvPr>
          <p:cNvSpPr/>
          <p:nvPr/>
        </p:nvSpPr>
        <p:spPr>
          <a:xfrm>
            <a:off x="433649" y="3400044"/>
            <a:ext cx="8242040" cy="379603"/>
          </a:xfrm>
          <a:prstGeom prst="rect">
            <a:avLst/>
          </a:prstGeom>
          <a:solidFill>
            <a:srgbClr val="F4F7FB"/>
          </a:solidFill>
          <a:ln w="12700">
            <a:solidFill>
              <a:srgbClr val="D1D9E6"/>
            </a:solidFill>
            <a:prstDash val="solid"/>
          </a:ln>
        </p:spPr>
        <p:txBody>
          <a:bodyPr/>
          <a:lstStyle/>
          <a:p>
            <a:endParaRPr lang="ko-KR" altLang="en-US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7" name="Shape 4">
            <a:extLst>
              <a:ext uri="{FF2B5EF4-FFF2-40B4-BE49-F238E27FC236}">
                <a16:creationId xmlns:a16="http://schemas.microsoft.com/office/drawing/2014/main" id="{A8EC4BB1-9BDF-786C-7F09-3EB22443E44B}"/>
              </a:ext>
            </a:extLst>
          </p:cNvPr>
          <p:cNvSpPr/>
          <p:nvPr/>
        </p:nvSpPr>
        <p:spPr>
          <a:xfrm>
            <a:off x="433648" y="3400044"/>
            <a:ext cx="64008" cy="379603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  <p:txBody>
          <a:bodyPr/>
          <a:lstStyle/>
          <a:p>
            <a:endParaRPr lang="ko-KR" altLang="en-US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8" name="Shape 5">
            <a:extLst>
              <a:ext uri="{FF2B5EF4-FFF2-40B4-BE49-F238E27FC236}">
                <a16:creationId xmlns:a16="http://schemas.microsoft.com/office/drawing/2014/main" id="{196D2D1E-7E31-8148-6F7B-66445D698ABD}"/>
              </a:ext>
            </a:extLst>
          </p:cNvPr>
          <p:cNvSpPr/>
          <p:nvPr/>
        </p:nvSpPr>
        <p:spPr>
          <a:xfrm>
            <a:off x="598240" y="3500628"/>
            <a:ext cx="1005840" cy="205618"/>
          </a:xfrm>
          <a:prstGeom prst="roundRect">
            <a:avLst>
              <a:gd name="adj" fmla="val 46154"/>
            </a:avLst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  <p:txBody>
          <a:bodyPr/>
          <a:lstStyle/>
          <a:p>
            <a:endParaRPr lang="ko-KR" altLang="en-US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9" name="Text 6">
            <a:extLst>
              <a:ext uri="{FF2B5EF4-FFF2-40B4-BE49-F238E27FC236}">
                <a16:creationId xmlns:a16="http://schemas.microsoft.com/office/drawing/2014/main" id="{E1C43A9A-B3EE-42CE-A858-7B7A89D638AC}"/>
              </a:ext>
            </a:extLst>
          </p:cNvPr>
          <p:cNvSpPr/>
          <p:nvPr/>
        </p:nvSpPr>
        <p:spPr>
          <a:xfrm>
            <a:off x="598240" y="3500628"/>
            <a:ext cx="1005840" cy="20561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즉시(1주)</a:t>
            </a:r>
            <a:endParaRPr lang="en-US" sz="900" dirty="0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10" name="Text 7">
            <a:extLst>
              <a:ext uri="{FF2B5EF4-FFF2-40B4-BE49-F238E27FC236}">
                <a16:creationId xmlns:a16="http://schemas.microsoft.com/office/drawing/2014/main" id="{EB69A8F3-9A8A-9B17-F854-2F7E45C6F6EF}"/>
              </a:ext>
            </a:extLst>
          </p:cNvPr>
          <p:cNvSpPr/>
          <p:nvPr/>
        </p:nvSpPr>
        <p:spPr>
          <a:xfrm>
            <a:off x="1732096" y="3400044"/>
            <a:ext cx="6192705" cy="37960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B3A6B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항공기관제(AC) 조치요청 29건 + 항공통계포털(AS) 검토요청 89건 + 공항운영(GO) 확인대기 330건 — 전수 조치 계획 수립</a:t>
            </a:r>
            <a:endParaRPr lang="en-US" sz="950" dirty="0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11" name="Shape 8">
            <a:extLst>
              <a:ext uri="{FF2B5EF4-FFF2-40B4-BE49-F238E27FC236}">
                <a16:creationId xmlns:a16="http://schemas.microsoft.com/office/drawing/2014/main" id="{EFE09B69-785F-FEDB-3ACD-8D65D1B18CA6}"/>
              </a:ext>
            </a:extLst>
          </p:cNvPr>
          <p:cNvSpPr/>
          <p:nvPr/>
        </p:nvSpPr>
        <p:spPr>
          <a:xfrm>
            <a:off x="433649" y="3912108"/>
            <a:ext cx="8242040" cy="379603"/>
          </a:xfrm>
          <a:prstGeom prst="rect">
            <a:avLst/>
          </a:prstGeom>
          <a:solidFill>
            <a:srgbClr val="F4F7FB"/>
          </a:solidFill>
          <a:ln w="12700">
            <a:solidFill>
              <a:srgbClr val="D1D9E6"/>
            </a:solidFill>
            <a:prstDash val="solid"/>
          </a:ln>
        </p:spPr>
        <p:txBody>
          <a:bodyPr/>
          <a:lstStyle/>
          <a:p>
            <a:endParaRPr lang="ko-KR" altLang="en-US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12" name="Shape 9">
            <a:extLst>
              <a:ext uri="{FF2B5EF4-FFF2-40B4-BE49-F238E27FC236}">
                <a16:creationId xmlns:a16="http://schemas.microsoft.com/office/drawing/2014/main" id="{FA4277E0-643B-14C2-D04E-3F8089D63152}"/>
              </a:ext>
            </a:extLst>
          </p:cNvPr>
          <p:cNvSpPr/>
          <p:nvPr/>
        </p:nvSpPr>
        <p:spPr>
          <a:xfrm>
            <a:off x="433648" y="3912108"/>
            <a:ext cx="64008" cy="379603"/>
          </a:xfrm>
          <a:prstGeom prst="rect">
            <a:avLst/>
          </a:prstGeom>
          <a:solidFill>
            <a:srgbClr val="E85D2F"/>
          </a:solidFill>
          <a:ln w="12700">
            <a:solidFill>
              <a:srgbClr val="E85D2F"/>
            </a:solidFill>
            <a:prstDash val="solid"/>
          </a:ln>
        </p:spPr>
        <p:txBody>
          <a:bodyPr/>
          <a:lstStyle/>
          <a:p>
            <a:endParaRPr lang="ko-KR" altLang="en-US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13" name="Shape 10">
            <a:extLst>
              <a:ext uri="{FF2B5EF4-FFF2-40B4-BE49-F238E27FC236}">
                <a16:creationId xmlns:a16="http://schemas.microsoft.com/office/drawing/2014/main" id="{175B1F29-9365-FD1A-8F3E-AD41F7A65DE6}"/>
              </a:ext>
            </a:extLst>
          </p:cNvPr>
          <p:cNvSpPr/>
          <p:nvPr/>
        </p:nvSpPr>
        <p:spPr>
          <a:xfrm>
            <a:off x="598240" y="4012692"/>
            <a:ext cx="1005840" cy="205618"/>
          </a:xfrm>
          <a:prstGeom prst="roundRect">
            <a:avLst>
              <a:gd name="adj" fmla="val 46154"/>
            </a:avLst>
          </a:prstGeom>
          <a:solidFill>
            <a:srgbClr val="E85D2F"/>
          </a:solidFill>
          <a:ln w="12700">
            <a:solidFill>
              <a:srgbClr val="E85D2F"/>
            </a:solidFill>
            <a:prstDash val="solid"/>
          </a:ln>
        </p:spPr>
        <p:txBody>
          <a:bodyPr/>
          <a:lstStyle/>
          <a:p>
            <a:endParaRPr lang="ko-KR" altLang="en-US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14" name="Text 11">
            <a:extLst>
              <a:ext uri="{FF2B5EF4-FFF2-40B4-BE49-F238E27FC236}">
                <a16:creationId xmlns:a16="http://schemas.microsoft.com/office/drawing/2014/main" id="{187B3AE0-FFAB-1B3D-D53C-4AE6AB91AB8C}"/>
              </a:ext>
            </a:extLst>
          </p:cNvPr>
          <p:cNvSpPr/>
          <p:nvPr/>
        </p:nvSpPr>
        <p:spPr>
          <a:xfrm>
            <a:off x="598240" y="4012692"/>
            <a:ext cx="1005840" cy="20561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단기(2~4주)</a:t>
            </a:r>
            <a:endParaRPr lang="en-US" sz="900" dirty="0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15" name="Text 12">
            <a:extLst>
              <a:ext uri="{FF2B5EF4-FFF2-40B4-BE49-F238E27FC236}">
                <a16:creationId xmlns:a16="http://schemas.microsoft.com/office/drawing/2014/main" id="{9995CA0E-23D8-34F1-2BB0-527F12420B62}"/>
              </a:ext>
            </a:extLst>
          </p:cNvPr>
          <p:cNvSpPr/>
          <p:nvPr/>
        </p:nvSpPr>
        <p:spPr>
          <a:xfrm>
            <a:off x="1732096" y="3912108"/>
            <a:ext cx="6192705" cy="37960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B3A6B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항공기관제·항공통계포털·공항운영 3개 모듈 전담 QA 지정 + 주간 결함 현황 보고 체계 수립</a:t>
            </a:r>
            <a:endParaRPr lang="en-US" sz="950" dirty="0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16" name="Shape 13">
            <a:extLst>
              <a:ext uri="{FF2B5EF4-FFF2-40B4-BE49-F238E27FC236}">
                <a16:creationId xmlns:a16="http://schemas.microsoft.com/office/drawing/2014/main" id="{0842DBA5-AE14-9342-40CB-45168C3373DA}"/>
              </a:ext>
            </a:extLst>
          </p:cNvPr>
          <p:cNvSpPr/>
          <p:nvPr/>
        </p:nvSpPr>
        <p:spPr>
          <a:xfrm>
            <a:off x="433649" y="4424172"/>
            <a:ext cx="8242040" cy="379603"/>
          </a:xfrm>
          <a:prstGeom prst="rect">
            <a:avLst/>
          </a:prstGeom>
          <a:solidFill>
            <a:srgbClr val="F4F7FB"/>
          </a:solidFill>
          <a:ln w="12700">
            <a:solidFill>
              <a:srgbClr val="D1D9E6"/>
            </a:solidFill>
            <a:prstDash val="solid"/>
          </a:ln>
        </p:spPr>
        <p:txBody>
          <a:bodyPr/>
          <a:lstStyle/>
          <a:p>
            <a:endParaRPr lang="ko-KR" altLang="en-US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17" name="Shape 14">
            <a:extLst>
              <a:ext uri="{FF2B5EF4-FFF2-40B4-BE49-F238E27FC236}">
                <a16:creationId xmlns:a16="http://schemas.microsoft.com/office/drawing/2014/main" id="{5A741E0C-86BE-797D-1D03-9AF026C08878}"/>
              </a:ext>
            </a:extLst>
          </p:cNvPr>
          <p:cNvSpPr/>
          <p:nvPr/>
        </p:nvSpPr>
        <p:spPr>
          <a:xfrm>
            <a:off x="433648" y="4424172"/>
            <a:ext cx="64008" cy="379603"/>
          </a:xfrm>
          <a:prstGeom prst="rect">
            <a:avLst/>
          </a:prstGeom>
          <a:solidFill>
            <a:srgbClr val="2563A8"/>
          </a:solidFill>
          <a:ln w="12700">
            <a:solidFill>
              <a:srgbClr val="2563A8"/>
            </a:solidFill>
            <a:prstDash val="solid"/>
          </a:ln>
        </p:spPr>
        <p:txBody>
          <a:bodyPr/>
          <a:lstStyle/>
          <a:p>
            <a:endParaRPr lang="ko-KR" altLang="en-US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18" name="Shape 15">
            <a:extLst>
              <a:ext uri="{FF2B5EF4-FFF2-40B4-BE49-F238E27FC236}">
                <a16:creationId xmlns:a16="http://schemas.microsoft.com/office/drawing/2014/main" id="{6651577D-A1F8-CEEB-82EC-3EA9632AC8D8}"/>
              </a:ext>
            </a:extLst>
          </p:cNvPr>
          <p:cNvSpPr/>
          <p:nvPr/>
        </p:nvSpPr>
        <p:spPr>
          <a:xfrm>
            <a:off x="598240" y="4524756"/>
            <a:ext cx="1005840" cy="205618"/>
          </a:xfrm>
          <a:prstGeom prst="roundRect">
            <a:avLst>
              <a:gd name="adj" fmla="val 46154"/>
            </a:avLst>
          </a:prstGeom>
          <a:solidFill>
            <a:srgbClr val="2563A8"/>
          </a:solidFill>
          <a:ln w="12700">
            <a:solidFill>
              <a:srgbClr val="2563A8"/>
            </a:solidFill>
            <a:prstDash val="solid"/>
          </a:ln>
        </p:spPr>
        <p:txBody>
          <a:bodyPr/>
          <a:lstStyle/>
          <a:p>
            <a:endParaRPr lang="ko-KR" altLang="en-US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19" name="Text 16">
            <a:extLst>
              <a:ext uri="{FF2B5EF4-FFF2-40B4-BE49-F238E27FC236}">
                <a16:creationId xmlns:a16="http://schemas.microsoft.com/office/drawing/2014/main" id="{2397763E-DB3E-93E8-F003-B29DC0E7B6DF}"/>
              </a:ext>
            </a:extLst>
          </p:cNvPr>
          <p:cNvSpPr/>
          <p:nvPr/>
        </p:nvSpPr>
        <p:spPr>
          <a:xfrm>
            <a:off x="598240" y="4524756"/>
            <a:ext cx="1005840" cy="20561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중기(1~2개월)</a:t>
            </a:r>
            <a:endParaRPr lang="en-US" sz="900" dirty="0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20" name="Text 17">
            <a:extLst>
              <a:ext uri="{FF2B5EF4-FFF2-40B4-BE49-F238E27FC236}">
                <a16:creationId xmlns:a16="http://schemas.microsoft.com/office/drawing/2014/main" id="{7513AEBB-476F-DBAE-EFB5-A69D1379145F}"/>
              </a:ext>
            </a:extLst>
          </p:cNvPr>
          <p:cNvSpPr/>
          <p:nvPr/>
        </p:nvSpPr>
        <p:spPr>
          <a:xfrm>
            <a:off x="1732096" y="4424172"/>
            <a:ext cx="6192705" cy="37960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B3A6B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PL·개발자 자체 테스트 체크리스트 도입 / 공사테스트 진입 전 Quality Gate 운영 / UI·데이터 전용 테스트 케이스 추가</a:t>
            </a:r>
            <a:endParaRPr lang="en-US" sz="950" dirty="0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21" name="타원 20">
            <a:extLst>
              <a:ext uri="{FF2B5EF4-FFF2-40B4-BE49-F238E27FC236}">
                <a16:creationId xmlns:a16="http://schemas.microsoft.com/office/drawing/2014/main" id="{7F82DED1-CF32-A882-6A2A-399B8FEA4FA7}"/>
              </a:ext>
            </a:extLst>
          </p:cNvPr>
          <p:cNvSpPr/>
          <p:nvPr/>
        </p:nvSpPr>
        <p:spPr>
          <a:xfrm>
            <a:off x="7287768" y="166116"/>
            <a:ext cx="1734312" cy="1677924"/>
          </a:xfrm>
          <a:prstGeom prst="ellipse">
            <a:avLst/>
          </a:prstGeom>
          <a:solidFill>
            <a:srgbClr val="FFFF00"/>
          </a:solidFill>
          <a:ln>
            <a:noFill/>
          </a:ln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205709321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bg>
      <p:bgPr>
        <a:solidFill>
          <a:srgbClr val="FFFFFF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E3C7E7B-024A-B486-9E8D-7C1D17FD306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A97E01A8-DA39-8587-AD1F-BDCB2202A5D7}"/>
              </a:ext>
            </a:extLst>
          </p:cNvPr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  <p:txBody>
          <a:bodyPr/>
          <a:lstStyle/>
          <a:p>
            <a:endParaRPr lang="ko-KR" altLang="en-US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6B213D67-7C1A-E45A-99B4-E1F2EAB44E53}"/>
              </a:ext>
            </a:extLst>
          </p:cNvPr>
          <p:cNvSpPr/>
          <p:nvPr/>
        </p:nvSpPr>
        <p:spPr>
          <a:xfrm>
            <a:off x="320040" y="0"/>
            <a:ext cx="64008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FFFFFF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종합 인사이트 및 품질 개선 액션플랜</a:t>
            </a:r>
            <a:endParaRPr lang="en-US" sz="2000" dirty="0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6D19094E-3E5B-B625-5F40-2C9E02DB7B76}"/>
              </a:ext>
            </a:extLst>
          </p:cNvPr>
          <p:cNvSpPr/>
          <p:nvPr/>
        </p:nvSpPr>
        <p:spPr>
          <a:xfrm>
            <a:off x="6858000" y="0"/>
            <a:ext cx="21488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AABBD4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섹션 7</a:t>
            </a:r>
            <a:endParaRPr lang="en-US" sz="1000" dirty="0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grpSp>
        <p:nvGrpSpPr>
          <p:cNvPr id="58" name="그룹 57">
            <a:extLst>
              <a:ext uri="{FF2B5EF4-FFF2-40B4-BE49-F238E27FC236}">
                <a16:creationId xmlns:a16="http://schemas.microsoft.com/office/drawing/2014/main" id="{4B881DD4-E4AA-0D34-E7CE-68CEE3BD1164}"/>
              </a:ext>
            </a:extLst>
          </p:cNvPr>
          <p:cNvGrpSpPr/>
          <p:nvPr/>
        </p:nvGrpSpPr>
        <p:grpSpPr>
          <a:xfrm>
            <a:off x="433646" y="777240"/>
            <a:ext cx="2560320" cy="914400"/>
            <a:chOff x="433646" y="777240"/>
            <a:chExt cx="2706624" cy="914400"/>
          </a:xfrm>
        </p:grpSpPr>
        <p:sp>
          <p:nvSpPr>
            <p:cNvPr id="5" name="Shape 3">
              <a:extLst>
                <a:ext uri="{FF2B5EF4-FFF2-40B4-BE49-F238E27FC236}">
                  <a16:creationId xmlns:a16="http://schemas.microsoft.com/office/drawing/2014/main" id="{A0433F13-D71A-6623-6B27-809476C539B6}"/>
                </a:ext>
              </a:extLst>
            </p:cNvPr>
            <p:cNvSpPr/>
            <p:nvPr/>
          </p:nvSpPr>
          <p:spPr>
            <a:xfrm>
              <a:off x="433646" y="777240"/>
              <a:ext cx="2706624" cy="914400"/>
            </a:xfrm>
            <a:prstGeom prst="rect">
              <a:avLst/>
            </a:prstGeom>
            <a:solidFill>
              <a:srgbClr val="F4F7FB"/>
            </a:solidFill>
            <a:ln w="12700">
              <a:solidFill>
                <a:srgbClr val="D1D9E6"/>
              </a:solidFill>
              <a:prstDash val="solid"/>
            </a:ln>
            <a:effectLst>
              <a:outerShdw blurRad="50800" dist="25400" dir="8100000" algn="bl" rotWithShape="0">
                <a:srgbClr val="000000">
                  <a:alpha val="8000"/>
                </a:srgbClr>
              </a:outerShdw>
            </a:effectLst>
          </p:spPr>
          <p:txBody>
            <a:bodyPr/>
            <a:lstStyle/>
            <a:p>
              <a:endParaRPr lang="ko-KR" altLang="en-US">
                <a:latin typeface="Rix고딕 L" panose="02020603020101020101" pitchFamily="18" charset="-127"/>
                <a:ea typeface="Rix고딕 L" panose="02020603020101020101" pitchFamily="18" charset="-127"/>
              </a:endParaRPr>
            </a:p>
          </p:txBody>
        </p:sp>
        <p:sp>
          <p:nvSpPr>
            <p:cNvPr id="6" name="Shape 4">
              <a:extLst>
                <a:ext uri="{FF2B5EF4-FFF2-40B4-BE49-F238E27FC236}">
                  <a16:creationId xmlns:a16="http://schemas.microsoft.com/office/drawing/2014/main" id="{6245AC82-0EB9-E2C7-D268-E7B143180EF1}"/>
                </a:ext>
              </a:extLst>
            </p:cNvPr>
            <p:cNvSpPr/>
            <p:nvPr/>
          </p:nvSpPr>
          <p:spPr>
            <a:xfrm>
              <a:off x="433646" y="777240"/>
              <a:ext cx="64008" cy="914400"/>
            </a:xfrm>
            <a:prstGeom prst="rect">
              <a:avLst/>
            </a:prstGeom>
            <a:solidFill>
              <a:srgbClr val="DC2626"/>
            </a:solidFill>
            <a:ln w="12700">
              <a:solidFill>
                <a:srgbClr val="DC2626"/>
              </a:solidFill>
              <a:prstDash val="solid"/>
            </a:ln>
          </p:spPr>
          <p:txBody>
            <a:bodyPr/>
            <a:lstStyle/>
            <a:p>
              <a:endParaRPr lang="ko-KR" altLang="en-US">
                <a:latin typeface="Rix고딕 L" panose="02020603020101020101" pitchFamily="18" charset="-127"/>
                <a:ea typeface="Rix고딕 L" panose="02020603020101020101" pitchFamily="18" charset="-127"/>
              </a:endParaRPr>
            </a:p>
          </p:txBody>
        </p:sp>
        <p:sp>
          <p:nvSpPr>
            <p:cNvPr id="7" name="Text 5">
              <a:extLst>
                <a:ext uri="{FF2B5EF4-FFF2-40B4-BE49-F238E27FC236}">
                  <a16:creationId xmlns:a16="http://schemas.microsoft.com/office/drawing/2014/main" id="{5F58EBF2-C42D-564C-0285-D813099C27B2}"/>
                </a:ext>
              </a:extLst>
            </p:cNvPr>
            <p:cNvSpPr/>
            <p:nvPr/>
          </p:nvSpPr>
          <p:spPr>
            <a:xfrm>
              <a:off x="579950" y="822960"/>
              <a:ext cx="2542032" cy="2743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1000" b="1" dirty="0">
                  <a:solidFill>
                    <a:srgbClr val="DC2626"/>
                  </a:solidFill>
                  <a:latin typeface="Rix고딕 L" panose="02020603020101020101" pitchFamily="18" charset="-127"/>
                  <a:ea typeface="Rix고딕 L" panose="02020603020101020101" pitchFamily="18" charset="-127"/>
                </a:rPr>
                <a:t>① 공사테스트 집중 구조</a:t>
              </a:r>
              <a:endParaRPr lang="en-US" sz="1000" dirty="0">
                <a:latin typeface="Rix고딕 L" panose="02020603020101020101" pitchFamily="18" charset="-127"/>
                <a:ea typeface="Rix고딕 L" panose="02020603020101020101" pitchFamily="18" charset="-127"/>
              </a:endParaRPr>
            </a:p>
          </p:txBody>
        </p:sp>
        <p:sp>
          <p:nvSpPr>
            <p:cNvPr id="8" name="Text 6">
              <a:extLst>
                <a:ext uri="{FF2B5EF4-FFF2-40B4-BE49-F238E27FC236}">
                  <a16:creationId xmlns:a16="http://schemas.microsoft.com/office/drawing/2014/main" id="{9D2A6106-E090-3A3B-BB93-FAADAE0FB95B}"/>
                </a:ext>
              </a:extLst>
            </p:cNvPr>
            <p:cNvSpPr/>
            <p:nvPr/>
          </p:nvSpPr>
          <p:spPr>
            <a:xfrm>
              <a:off x="579950" y="1088136"/>
              <a:ext cx="2542032" cy="237744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1100" b="1" dirty="0">
                  <a:solidFill>
                    <a:srgbClr val="1B3A6B"/>
                  </a:solidFill>
                  <a:latin typeface="Rix고딕 L" panose="02020603020101020101" pitchFamily="18" charset="-127"/>
                  <a:ea typeface="Rix고딕 L" panose="02020603020101020101" pitchFamily="18" charset="-127"/>
                </a:rPr>
                <a:t>49.7%(1,969건)</a:t>
              </a:r>
              <a:endParaRPr lang="en-US" sz="1100" dirty="0">
                <a:latin typeface="Rix고딕 L" panose="02020603020101020101" pitchFamily="18" charset="-127"/>
                <a:ea typeface="Rix고딕 L" panose="02020603020101020101" pitchFamily="18" charset="-127"/>
              </a:endParaRPr>
            </a:p>
          </p:txBody>
        </p:sp>
        <p:sp>
          <p:nvSpPr>
            <p:cNvPr id="9" name="Text 7">
              <a:extLst>
                <a:ext uri="{FF2B5EF4-FFF2-40B4-BE49-F238E27FC236}">
                  <a16:creationId xmlns:a16="http://schemas.microsoft.com/office/drawing/2014/main" id="{6BF21BE0-18BE-D8A4-2402-9E9DC125404C}"/>
                </a:ext>
              </a:extLst>
            </p:cNvPr>
            <p:cNvSpPr/>
            <p:nvPr/>
          </p:nvSpPr>
          <p:spPr>
            <a:xfrm>
              <a:off x="579950" y="1325880"/>
              <a:ext cx="2542032" cy="329184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850" dirty="0">
                  <a:solidFill>
                    <a:srgbClr val="4B5563"/>
                  </a:solidFill>
                  <a:latin typeface="Rix고딕 L" panose="02020603020101020101" pitchFamily="18" charset="-127"/>
                  <a:ea typeface="Rix고딕 L" panose="02020603020101020101" pitchFamily="18" charset="-127"/>
                </a:rPr>
                <a:t>개발자·PL 사전 검증 부재 → 초기 결함 이월 고착화</a:t>
              </a:r>
              <a:endParaRPr lang="en-US" sz="850" dirty="0">
                <a:latin typeface="Rix고딕 L" panose="02020603020101020101" pitchFamily="18" charset="-127"/>
                <a:ea typeface="Rix고딕 L" panose="02020603020101020101" pitchFamily="18" charset="-127"/>
              </a:endParaRPr>
            </a:p>
          </p:txBody>
        </p:sp>
      </p:grpSp>
      <p:grpSp>
        <p:nvGrpSpPr>
          <p:cNvPr id="56" name="그룹 55">
            <a:extLst>
              <a:ext uri="{FF2B5EF4-FFF2-40B4-BE49-F238E27FC236}">
                <a16:creationId xmlns:a16="http://schemas.microsoft.com/office/drawing/2014/main" id="{8B165AE0-D998-AEC3-53E8-D7015FC74FEE}"/>
              </a:ext>
            </a:extLst>
          </p:cNvPr>
          <p:cNvGrpSpPr/>
          <p:nvPr/>
        </p:nvGrpSpPr>
        <p:grpSpPr>
          <a:xfrm>
            <a:off x="3168535" y="777240"/>
            <a:ext cx="2688336" cy="914400"/>
            <a:chOff x="3274106" y="777240"/>
            <a:chExt cx="2688336" cy="914400"/>
          </a:xfrm>
        </p:grpSpPr>
        <p:sp>
          <p:nvSpPr>
            <p:cNvPr id="10" name="Shape 8">
              <a:extLst>
                <a:ext uri="{FF2B5EF4-FFF2-40B4-BE49-F238E27FC236}">
                  <a16:creationId xmlns:a16="http://schemas.microsoft.com/office/drawing/2014/main" id="{46308EE7-7EA7-6A93-FDAE-7367CCCA9701}"/>
                </a:ext>
              </a:extLst>
            </p:cNvPr>
            <p:cNvSpPr/>
            <p:nvPr/>
          </p:nvSpPr>
          <p:spPr>
            <a:xfrm>
              <a:off x="3274106" y="777240"/>
              <a:ext cx="2608810" cy="914400"/>
            </a:xfrm>
            <a:prstGeom prst="rect">
              <a:avLst/>
            </a:prstGeom>
            <a:solidFill>
              <a:srgbClr val="F4F7FB"/>
            </a:solidFill>
            <a:ln w="12700">
              <a:solidFill>
                <a:srgbClr val="D1D9E6"/>
              </a:solidFill>
              <a:prstDash val="solid"/>
            </a:ln>
            <a:effectLst>
              <a:outerShdw blurRad="50800" dist="25400" dir="8100000" algn="bl" rotWithShape="0">
                <a:srgbClr val="000000">
                  <a:alpha val="8000"/>
                </a:srgbClr>
              </a:outerShdw>
            </a:effectLst>
          </p:spPr>
          <p:txBody>
            <a:bodyPr/>
            <a:lstStyle/>
            <a:p>
              <a:endParaRPr lang="ko-KR" altLang="en-US">
                <a:latin typeface="Rix고딕 L" panose="02020603020101020101" pitchFamily="18" charset="-127"/>
                <a:ea typeface="Rix고딕 L" panose="02020603020101020101" pitchFamily="18" charset="-127"/>
              </a:endParaRPr>
            </a:p>
          </p:txBody>
        </p:sp>
        <p:sp>
          <p:nvSpPr>
            <p:cNvPr id="11" name="Shape 9">
              <a:extLst>
                <a:ext uri="{FF2B5EF4-FFF2-40B4-BE49-F238E27FC236}">
                  <a16:creationId xmlns:a16="http://schemas.microsoft.com/office/drawing/2014/main" id="{75BAFD8A-30E6-F81C-1D6D-476107AB9F3C}"/>
                </a:ext>
              </a:extLst>
            </p:cNvPr>
            <p:cNvSpPr/>
            <p:nvPr/>
          </p:nvSpPr>
          <p:spPr>
            <a:xfrm>
              <a:off x="3274106" y="777240"/>
              <a:ext cx="64008" cy="914400"/>
            </a:xfrm>
            <a:prstGeom prst="rect">
              <a:avLst/>
            </a:prstGeom>
            <a:solidFill>
              <a:srgbClr val="E85D2F"/>
            </a:solidFill>
            <a:ln w="12700">
              <a:solidFill>
                <a:srgbClr val="E85D2F"/>
              </a:solidFill>
              <a:prstDash val="solid"/>
            </a:ln>
          </p:spPr>
          <p:txBody>
            <a:bodyPr/>
            <a:lstStyle/>
            <a:p>
              <a:endParaRPr lang="ko-KR" altLang="en-US">
                <a:latin typeface="Rix고딕 L" panose="02020603020101020101" pitchFamily="18" charset="-127"/>
                <a:ea typeface="Rix고딕 L" panose="02020603020101020101" pitchFamily="18" charset="-127"/>
              </a:endParaRPr>
            </a:p>
          </p:txBody>
        </p:sp>
        <p:sp>
          <p:nvSpPr>
            <p:cNvPr id="12" name="Text 10">
              <a:extLst>
                <a:ext uri="{FF2B5EF4-FFF2-40B4-BE49-F238E27FC236}">
                  <a16:creationId xmlns:a16="http://schemas.microsoft.com/office/drawing/2014/main" id="{44C5B082-9D6B-491A-BAF0-A833FFAD238B}"/>
                </a:ext>
              </a:extLst>
            </p:cNvPr>
            <p:cNvSpPr/>
            <p:nvPr/>
          </p:nvSpPr>
          <p:spPr>
            <a:xfrm>
              <a:off x="3420410" y="822960"/>
              <a:ext cx="2542032" cy="2743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1000" b="1" dirty="0">
                  <a:solidFill>
                    <a:srgbClr val="E85D2F"/>
                  </a:solidFill>
                  <a:latin typeface="Rix고딕 L" panose="02020603020101020101" pitchFamily="18" charset="-127"/>
                  <a:ea typeface="Rix고딕 L" panose="02020603020101020101" pitchFamily="18" charset="-127"/>
                </a:rPr>
                <a:t>② 기능 결함 압도적 집중</a:t>
              </a:r>
              <a:endParaRPr lang="en-US" sz="1000" dirty="0">
                <a:latin typeface="Rix고딕 L" panose="02020603020101020101" pitchFamily="18" charset="-127"/>
                <a:ea typeface="Rix고딕 L" panose="02020603020101020101" pitchFamily="18" charset="-127"/>
              </a:endParaRPr>
            </a:p>
          </p:txBody>
        </p:sp>
        <p:sp>
          <p:nvSpPr>
            <p:cNvPr id="13" name="Text 11">
              <a:extLst>
                <a:ext uri="{FF2B5EF4-FFF2-40B4-BE49-F238E27FC236}">
                  <a16:creationId xmlns:a16="http://schemas.microsoft.com/office/drawing/2014/main" id="{8F141042-A1A4-F502-5E9B-2F62C72E7858}"/>
                </a:ext>
              </a:extLst>
            </p:cNvPr>
            <p:cNvSpPr/>
            <p:nvPr/>
          </p:nvSpPr>
          <p:spPr>
            <a:xfrm>
              <a:off x="3420410" y="1088136"/>
              <a:ext cx="2542032" cy="237744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1100" b="1" dirty="0">
                  <a:solidFill>
                    <a:srgbClr val="1B3A6B"/>
                  </a:solidFill>
                  <a:latin typeface="Rix고딕 L" panose="02020603020101020101" pitchFamily="18" charset="-127"/>
                  <a:ea typeface="Rix고딕 L" panose="02020603020101020101" pitchFamily="18" charset="-127"/>
                </a:rPr>
                <a:t>61.8%(2,685건)</a:t>
              </a:r>
              <a:endParaRPr lang="en-US" sz="1100" dirty="0">
                <a:latin typeface="Rix고딕 L" panose="02020603020101020101" pitchFamily="18" charset="-127"/>
                <a:ea typeface="Rix고딕 L" panose="02020603020101020101" pitchFamily="18" charset="-127"/>
              </a:endParaRPr>
            </a:p>
          </p:txBody>
        </p:sp>
        <p:sp>
          <p:nvSpPr>
            <p:cNvPr id="14" name="Text 12">
              <a:extLst>
                <a:ext uri="{FF2B5EF4-FFF2-40B4-BE49-F238E27FC236}">
                  <a16:creationId xmlns:a16="http://schemas.microsoft.com/office/drawing/2014/main" id="{E2F74C77-7A6B-707D-2258-FD6E79033EE1}"/>
                </a:ext>
              </a:extLst>
            </p:cNvPr>
            <p:cNvSpPr/>
            <p:nvPr/>
          </p:nvSpPr>
          <p:spPr>
            <a:xfrm>
              <a:off x="3420410" y="1325880"/>
              <a:ext cx="2542032" cy="329184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850" dirty="0">
                  <a:solidFill>
                    <a:srgbClr val="4B5563"/>
                  </a:solidFill>
                  <a:latin typeface="Rix고딕 L" panose="02020603020101020101" pitchFamily="18" charset="-127"/>
                  <a:ea typeface="Rix고딕 L" panose="02020603020101020101" pitchFamily="18" charset="-127"/>
                </a:rPr>
                <a:t>요구사항 분석 미흡 + 비즈니스 로직 구현 오류 주원인</a:t>
              </a:r>
              <a:endParaRPr lang="en-US" sz="850" dirty="0">
                <a:latin typeface="Rix고딕 L" panose="02020603020101020101" pitchFamily="18" charset="-127"/>
                <a:ea typeface="Rix고딕 L" panose="02020603020101020101" pitchFamily="18" charset="-127"/>
              </a:endParaRPr>
            </a:p>
          </p:txBody>
        </p:sp>
      </p:grpSp>
      <p:grpSp>
        <p:nvGrpSpPr>
          <p:cNvPr id="57" name="그룹 56">
            <a:extLst>
              <a:ext uri="{FF2B5EF4-FFF2-40B4-BE49-F238E27FC236}">
                <a16:creationId xmlns:a16="http://schemas.microsoft.com/office/drawing/2014/main" id="{764486F6-337E-0EAC-44D5-8B7C6D0A9774}"/>
              </a:ext>
            </a:extLst>
          </p:cNvPr>
          <p:cNvGrpSpPr/>
          <p:nvPr/>
        </p:nvGrpSpPr>
        <p:grpSpPr>
          <a:xfrm>
            <a:off x="6031440" y="777240"/>
            <a:ext cx="2688336" cy="914400"/>
            <a:chOff x="6163056" y="777240"/>
            <a:chExt cx="2688336" cy="914400"/>
          </a:xfrm>
        </p:grpSpPr>
        <p:sp>
          <p:nvSpPr>
            <p:cNvPr id="15" name="Shape 13">
              <a:extLst>
                <a:ext uri="{FF2B5EF4-FFF2-40B4-BE49-F238E27FC236}">
                  <a16:creationId xmlns:a16="http://schemas.microsoft.com/office/drawing/2014/main" id="{9C90361F-F359-EC25-49D6-32D05769B944}"/>
                </a:ext>
              </a:extLst>
            </p:cNvPr>
            <p:cNvSpPr/>
            <p:nvPr/>
          </p:nvSpPr>
          <p:spPr>
            <a:xfrm>
              <a:off x="6163056" y="777240"/>
              <a:ext cx="2651760" cy="914400"/>
            </a:xfrm>
            <a:prstGeom prst="rect">
              <a:avLst/>
            </a:prstGeom>
            <a:solidFill>
              <a:srgbClr val="F4F7FB"/>
            </a:solidFill>
            <a:ln w="12700">
              <a:solidFill>
                <a:srgbClr val="D1D9E6"/>
              </a:solidFill>
              <a:prstDash val="solid"/>
            </a:ln>
            <a:effectLst>
              <a:outerShdw blurRad="50800" dist="25400" dir="8100000" algn="bl" rotWithShape="0">
                <a:srgbClr val="000000">
                  <a:alpha val="8000"/>
                </a:srgbClr>
              </a:outerShdw>
            </a:effectLst>
          </p:spPr>
          <p:txBody>
            <a:bodyPr/>
            <a:lstStyle/>
            <a:p>
              <a:endParaRPr lang="ko-KR" altLang="en-US">
                <a:latin typeface="Rix고딕 L" panose="02020603020101020101" pitchFamily="18" charset="-127"/>
                <a:ea typeface="Rix고딕 L" panose="02020603020101020101" pitchFamily="18" charset="-127"/>
              </a:endParaRPr>
            </a:p>
          </p:txBody>
        </p:sp>
        <p:sp>
          <p:nvSpPr>
            <p:cNvPr id="16" name="Shape 14">
              <a:extLst>
                <a:ext uri="{FF2B5EF4-FFF2-40B4-BE49-F238E27FC236}">
                  <a16:creationId xmlns:a16="http://schemas.microsoft.com/office/drawing/2014/main" id="{3297FC84-B5D2-80F7-930F-6A5618A36484}"/>
                </a:ext>
              </a:extLst>
            </p:cNvPr>
            <p:cNvSpPr/>
            <p:nvPr/>
          </p:nvSpPr>
          <p:spPr>
            <a:xfrm>
              <a:off x="6163056" y="777240"/>
              <a:ext cx="64008" cy="914400"/>
            </a:xfrm>
            <a:prstGeom prst="rect">
              <a:avLst/>
            </a:prstGeom>
            <a:solidFill>
              <a:srgbClr val="D97706"/>
            </a:solidFill>
            <a:ln w="12700">
              <a:solidFill>
                <a:srgbClr val="D97706"/>
              </a:solidFill>
              <a:prstDash val="solid"/>
            </a:ln>
          </p:spPr>
          <p:txBody>
            <a:bodyPr/>
            <a:lstStyle/>
            <a:p>
              <a:endParaRPr lang="ko-KR" altLang="en-US">
                <a:latin typeface="Rix고딕 L" panose="02020603020101020101" pitchFamily="18" charset="-127"/>
                <a:ea typeface="Rix고딕 L" panose="02020603020101020101" pitchFamily="18" charset="-127"/>
              </a:endParaRPr>
            </a:p>
          </p:txBody>
        </p:sp>
        <p:sp>
          <p:nvSpPr>
            <p:cNvPr id="17" name="Text 15">
              <a:extLst>
                <a:ext uri="{FF2B5EF4-FFF2-40B4-BE49-F238E27FC236}">
                  <a16:creationId xmlns:a16="http://schemas.microsoft.com/office/drawing/2014/main" id="{A8BBE50B-1756-5D60-3C66-B9C96D449634}"/>
                </a:ext>
              </a:extLst>
            </p:cNvPr>
            <p:cNvSpPr/>
            <p:nvPr/>
          </p:nvSpPr>
          <p:spPr>
            <a:xfrm>
              <a:off x="6309360" y="822960"/>
              <a:ext cx="2542032" cy="2743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1000" b="1" dirty="0">
                  <a:solidFill>
                    <a:srgbClr val="D97706"/>
                  </a:solidFill>
                  <a:latin typeface="Rix고딕 L" panose="02020603020101020101" pitchFamily="18" charset="-127"/>
                  <a:ea typeface="Rix고딕 L" panose="02020603020101020101" pitchFamily="18" charset="-127"/>
                </a:rPr>
                <a:t>③ 복수단계 반복 결함</a:t>
              </a:r>
              <a:endParaRPr lang="en-US" sz="1000" dirty="0">
                <a:latin typeface="Rix고딕 L" panose="02020603020101020101" pitchFamily="18" charset="-127"/>
                <a:ea typeface="Rix고딕 L" panose="02020603020101020101" pitchFamily="18" charset="-127"/>
              </a:endParaRPr>
            </a:p>
          </p:txBody>
        </p:sp>
        <p:sp>
          <p:nvSpPr>
            <p:cNvPr id="18" name="Text 16">
              <a:extLst>
                <a:ext uri="{FF2B5EF4-FFF2-40B4-BE49-F238E27FC236}">
                  <a16:creationId xmlns:a16="http://schemas.microsoft.com/office/drawing/2014/main" id="{1F57B464-88C5-D587-0460-4C6AF89F9822}"/>
                </a:ext>
              </a:extLst>
            </p:cNvPr>
            <p:cNvSpPr/>
            <p:nvPr/>
          </p:nvSpPr>
          <p:spPr>
            <a:xfrm>
              <a:off x="6309360" y="1088136"/>
              <a:ext cx="2542032" cy="237744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1100" b="1" dirty="0">
                  <a:solidFill>
                    <a:srgbClr val="1B3A6B"/>
                  </a:solidFill>
                  <a:latin typeface="Rix고딕 L" panose="02020603020101020101" pitchFamily="18" charset="-127"/>
                  <a:ea typeface="Rix고딕 L" panose="02020603020101020101" pitchFamily="18" charset="-127"/>
                </a:rPr>
                <a:t>25.5%(667시나리오)</a:t>
              </a:r>
              <a:endParaRPr lang="en-US" sz="1100" dirty="0">
                <a:latin typeface="Rix고딕 L" panose="02020603020101020101" pitchFamily="18" charset="-127"/>
                <a:ea typeface="Rix고딕 L" panose="02020603020101020101" pitchFamily="18" charset="-127"/>
              </a:endParaRPr>
            </a:p>
          </p:txBody>
        </p:sp>
        <p:sp>
          <p:nvSpPr>
            <p:cNvPr id="19" name="Text 17">
              <a:extLst>
                <a:ext uri="{FF2B5EF4-FFF2-40B4-BE49-F238E27FC236}">
                  <a16:creationId xmlns:a16="http://schemas.microsoft.com/office/drawing/2014/main" id="{DF650B22-0A02-12EA-7FCB-1CBD22CAF796}"/>
                </a:ext>
              </a:extLst>
            </p:cNvPr>
            <p:cNvSpPr/>
            <p:nvPr/>
          </p:nvSpPr>
          <p:spPr>
            <a:xfrm>
              <a:off x="6309360" y="1325880"/>
              <a:ext cx="2542032" cy="329184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850" dirty="0">
                  <a:solidFill>
                    <a:srgbClr val="4B5563"/>
                  </a:solidFill>
                  <a:latin typeface="Rix고딕 L" panose="02020603020101020101" pitchFamily="18" charset="-127"/>
                  <a:ea typeface="Rix고딕 L" panose="02020603020101020101" pitchFamily="18" charset="-127"/>
                </a:rPr>
                <a:t>미조치 이월 구조 고착 — 조치 완료 확인 프로세스 부재</a:t>
              </a:r>
              <a:endParaRPr lang="en-US" sz="850" dirty="0">
                <a:latin typeface="Rix고딕 L" panose="02020603020101020101" pitchFamily="18" charset="-127"/>
                <a:ea typeface="Rix고딕 L" panose="02020603020101020101" pitchFamily="18" charset="-127"/>
              </a:endParaRPr>
            </a:p>
          </p:txBody>
        </p:sp>
      </p:grpSp>
      <p:sp>
        <p:nvSpPr>
          <p:cNvPr id="20" name="Shape 18">
            <a:extLst>
              <a:ext uri="{FF2B5EF4-FFF2-40B4-BE49-F238E27FC236}">
                <a16:creationId xmlns:a16="http://schemas.microsoft.com/office/drawing/2014/main" id="{BA37966B-802B-8BFD-B6BD-6E1DD8F9E463}"/>
              </a:ext>
            </a:extLst>
          </p:cNvPr>
          <p:cNvSpPr/>
          <p:nvPr/>
        </p:nvSpPr>
        <p:spPr>
          <a:xfrm>
            <a:off x="433647" y="1847088"/>
            <a:ext cx="4035246" cy="914400"/>
          </a:xfrm>
          <a:prstGeom prst="rect">
            <a:avLst/>
          </a:prstGeom>
          <a:solidFill>
            <a:srgbClr val="F4F7FB"/>
          </a:solidFill>
          <a:ln w="12700">
            <a:solidFill>
              <a:srgbClr val="D1D9E6"/>
            </a:solidFill>
            <a:prstDash val="solid"/>
          </a:ln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ko-KR" altLang="en-US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21" name="Shape 19">
            <a:extLst>
              <a:ext uri="{FF2B5EF4-FFF2-40B4-BE49-F238E27FC236}">
                <a16:creationId xmlns:a16="http://schemas.microsoft.com/office/drawing/2014/main" id="{6FDF02C1-E12C-0A62-8C00-50F285E10C61}"/>
              </a:ext>
            </a:extLst>
          </p:cNvPr>
          <p:cNvSpPr/>
          <p:nvPr/>
        </p:nvSpPr>
        <p:spPr>
          <a:xfrm>
            <a:off x="433647" y="1847088"/>
            <a:ext cx="64008" cy="91440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  <p:txBody>
          <a:bodyPr/>
          <a:lstStyle/>
          <a:p>
            <a:endParaRPr lang="ko-KR" altLang="en-US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22" name="Text 20">
            <a:extLst>
              <a:ext uri="{FF2B5EF4-FFF2-40B4-BE49-F238E27FC236}">
                <a16:creationId xmlns:a16="http://schemas.microsoft.com/office/drawing/2014/main" id="{BB9BF3D7-688C-97D0-E641-9A0DAD48E7F2}"/>
              </a:ext>
            </a:extLst>
          </p:cNvPr>
          <p:cNvSpPr/>
          <p:nvPr/>
        </p:nvSpPr>
        <p:spPr>
          <a:xfrm>
            <a:off x="579951" y="1892808"/>
            <a:ext cx="27980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B3A6B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④ 미결 결함 누적</a:t>
            </a:r>
            <a:endParaRPr lang="en-US" sz="1000" dirty="0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23" name="Text 21">
            <a:extLst>
              <a:ext uri="{FF2B5EF4-FFF2-40B4-BE49-F238E27FC236}">
                <a16:creationId xmlns:a16="http://schemas.microsoft.com/office/drawing/2014/main" id="{F1A6BE79-EE0D-29DE-7B54-EBC189B718EF}"/>
              </a:ext>
            </a:extLst>
          </p:cNvPr>
          <p:cNvSpPr/>
          <p:nvPr/>
        </p:nvSpPr>
        <p:spPr>
          <a:xfrm>
            <a:off x="579951" y="2157984"/>
            <a:ext cx="279806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B3A6B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41.3%(1,735건)</a:t>
            </a:r>
            <a:endParaRPr lang="en-US" sz="1100" dirty="0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24" name="Text 22">
            <a:extLst>
              <a:ext uri="{FF2B5EF4-FFF2-40B4-BE49-F238E27FC236}">
                <a16:creationId xmlns:a16="http://schemas.microsoft.com/office/drawing/2014/main" id="{5E0D1004-1005-A881-ADE6-BAE427C8EA97}"/>
              </a:ext>
            </a:extLst>
          </p:cNvPr>
          <p:cNvSpPr/>
          <p:nvPr/>
        </p:nvSpPr>
        <p:spPr>
          <a:xfrm>
            <a:off x="579951" y="2395728"/>
            <a:ext cx="279806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4B5563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확인대기 1,297건 — 2-3차 감리 전 전수 조치 시급</a:t>
            </a:r>
            <a:endParaRPr lang="en-US" sz="850" dirty="0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25" name="Shape 23">
            <a:extLst>
              <a:ext uri="{FF2B5EF4-FFF2-40B4-BE49-F238E27FC236}">
                <a16:creationId xmlns:a16="http://schemas.microsoft.com/office/drawing/2014/main" id="{1C5B4414-9805-5B04-80A1-4C3D029F20C4}"/>
              </a:ext>
            </a:extLst>
          </p:cNvPr>
          <p:cNvSpPr/>
          <p:nvPr/>
        </p:nvSpPr>
        <p:spPr>
          <a:xfrm>
            <a:off x="4638777" y="1847088"/>
            <a:ext cx="4035246" cy="914400"/>
          </a:xfrm>
          <a:prstGeom prst="rect">
            <a:avLst/>
          </a:prstGeom>
          <a:solidFill>
            <a:srgbClr val="F4F7FB"/>
          </a:solidFill>
          <a:ln w="12700">
            <a:solidFill>
              <a:srgbClr val="D1D9E6"/>
            </a:solidFill>
            <a:prstDash val="solid"/>
          </a:ln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ko-KR" altLang="en-US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26" name="Shape 24">
            <a:extLst>
              <a:ext uri="{FF2B5EF4-FFF2-40B4-BE49-F238E27FC236}">
                <a16:creationId xmlns:a16="http://schemas.microsoft.com/office/drawing/2014/main" id="{D8C3193B-A166-461E-8EDC-F9C90A5B88DD}"/>
              </a:ext>
            </a:extLst>
          </p:cNvPr>
          <p:cNvSpPr/>
          <p:nvPr/>
        </p:nvSpPr>
        <p:spPr>
          <a:xfrm>
            <a:off x="4638777" y="1847088"/>
            <a:ext cx="64008" cy="914400"/>
          </a:xfrm>
          <a:prstGeom prst="rect">
            <a:avLst/>
          </a:prstGeom>
          <a:solidFill>
            <a:srgbClr val="2563A8"/>
          </a:solidFill>
          <a:ln w="12700">
            <a:solidFill>
              <a:srgbClr val="2563A8"/>
            </a:solidFill>
            <a:prstDash val="solid"/>
          </a:ln>
        </p:spPr>
        <p:txBody>
          <a:bodyPr/>
          <a:lstStyle/>
          <a:p>
            <a:endParaRPr lang="ko-KR" altLang="en-US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27" name="Text 25">
            <a:extLst>
              <a:ext uri="{FF2B5EF4-FFF2-40B4-BE49-F238E27FC236}">
                <a16:creationId xmlns:a16="http://schemas.microsoft.com/office/drawing/2014/main" id="{3954926B-B3F1-0535-8E80-F8D575F20D2E}"/>
              </a:ext>
            </a:extLst>
          </p:cNvPr>
          <p:cNvSpPr/>
          <p:nvPr/>
        </p:nvSpPr>
        <p:spPr>
          <a:xfrm>
            <a:off x="4785081" y="1892808"/>
            <a:ext cx="27980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2563A8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⑤ 고위험 모듈 3개 집중</a:t>
            </a:r>
            <a:endParaRPr lang="en-US" sz="1000" dirty="0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28" name="Text 26">
            <a:extLst>
              <a:ext uri="{FF2B5EF4-FFF2-40B4-BE49-F238E27FC236}">
                <a16:creationId xmlns:a16="http://schemas.microsoft.com/office/drawing/2014/main" id="{1655DD85-F9FC-2042-4C5A-1D4B74F9DE2A}"/>
              </a:ext>
            </a:extLst>
          </p:cNvPr>
          <p:cNvSpPr/>
          <p:nvPr/>
        </p:nvSpPr>
        <p:spPr>
          <a:xfrm>
            <a:off x="4785081" y="2157984"/>
            <a:ext cx="279806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B3A6B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AC·AS·GO</a:t>
            </a:r>
            <a:endParaRPr lang="en-US" sz="1100" dirty="0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29" name="Text 27">
            <a:extLst>
              <a:ext uri="{FF2B5EF4-FFF2-40B4-BE49-F238E27FC236}">
                <a16:creationId xmlns:a16="http://schemas.microsoft.com/office/drawing/2014/main" id="{58FBB389-FBAA-A9E7-F0CF-0AFAE6491C1D}"/>
              </a:ext>
            </a:extLst>
          </p:cNvPr>
          <p:cNvSpPr/>
          <p:nvPr/>
        </p:nvSpPr>
        <p:spPr>
          <a:xfrm>
            <a:off x="4785081" y="2395728"/>
            <a:ext cx="279806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4B5563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즉시 전담 QA 지정 및 집중 모니터링 체계 가동 필요</a:t>
            </a:r>
            <a:endParaRPr lang="en-US" sz="850" dirty="0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30" name="Shape 28">
            <a:extLst>
              <a:ext uri="{FF2B5EF4-FFF2-40B4-BE49-F238E27FC236}">
                <a16:creationId xmlns:a16="http://schemas.microsoft.com/office/drawing/2014/main" id="{9FADA431-E7AB-FCB1-322A-8431B91EF904}"/>
              </a:ext>
            </a:extLst>
          </p:cNvPr>
          <p:cNvSpPr/>
          <p:nvPr/>
        </p:nvSpPr>
        <p:spPr>
          <a:xfrm>
            <a:off x="433647" y="2880360"/>
            <a:ext cx="8249554" cy="292608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  <p:txBody>
          <a:bodyPr/>
          <a:lstStyle/>
          <a:p>
            <a:endParaRPr lang="ko-KR" altLang="en-US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31" name="Text 29">
            <a:extLst>
              <a:ext uri="{FF2B5EF4-FFF2-40B4-BE49-F238E27FC236}">
                <a16:creationId xmlns:a16="http://schemas.microsoft.com/office/drawing/2014/main" id="{2B8E4598-1405-72FE-1F06-C8633FCC2C69}"/>
              </a:ext>
            </a:extLst>
          </p:cNvPr>
          <p:cNvSpPr/>
          <p:nvPr/>
        </p:nvSpPr>
        <p:spPr>
          <a:xfrm>
            <a:off x="497654" y="2880360"/>
            <a:ext cx="2496311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품질 개선 로드맵</a:t>
            </a:r>
            <a:endParaRPr lang="en-US" sz="1100" dirty="0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grpSp>
        <p:nvGrpSpPr>
          <p:cNvPr id="59" name="그룹 58">
            <a:extLst>
              <a:ext uri="{FF2B5EF4-FFF2-40B4-BE49-F238E27FC236}">
                <a16:creationId xmlns:a16="http://schemas.microsoft.com/office/drawing/2014/main" id="{45DF912A-20AF-2BF3-C56B-549F3927F35F}"/>
              </a:ext>
            </a:extLst>
          </p:cNvPr>
          <p:cNvGrpSpPr/>
          <p:nvPr/>
        </p:nvGrpSpPr>
        <p:grpSpPr>
          <a:xfrm>
            <a:off x="433647" y="3218688"/>
            <a:ext cx="2011680" cy="1482852"/>
            <a:chOff x="274320" y="3218688"/>
            <a:chExt cx="2011680" cy="1482852"/>
          </a:xfrm>
        </p:grpSpPr>
        <p:sp>
          <p:nvSpPr>
            <p:cNvPr id="32" name="Shape 30">
              <a:extLst>
                <a:ext uri="{FF2B5EF4-FFF2-40B4-BE49-F238E27FC236}">
                  <a16:creationId xmlns:a16="http://schemas.microsoft.com/office/drawing/2014/main" id="{32CD12AF-FE29-7C25-B656-D1ABBBF0D3C4}"/>
                </a:ext>
              </a:extLst>
            </p:cNvPr>
            <p:cNvSpPr/>
            <p:nvPr/>
          </p:nvSpPr>
          <p:spPr>
            <a:xfrm>
              <a:off x="274320" y="3218688"/>
              <a:ext cx="1965960" cy="1482852"/>
            </a:xfrm>
            <a:prstGeom prst="rect">
              <a:avLst/>
            </a:prstGeom>
            <a:solidFill>
              <a:srgbClr val="F4F7FB"/>
            </a:solidFill>
            <a:ln w="12700">
              <a:solidFill>
                <a:srgbClr val="D1D9E6"/>
              </a:solidFill>
              <a:prstDash val="solid"/>
            </a:ln>
            <a:effectLst>
              <a:outerShdw blurRad="50800" dist="25400" dir="8100000" algn="bl" rotWithShape="0">
                <a:srgbClr val="000000">
                  <a:alpha val="8000"/>
                </a:srgbClr>
              </a:outerShdw>
            </a:effectLst>
          </p:spPr>
          <p:txBody>
            <a:bodyPr/>
            <a:lstStyle/>
            <a:p>
              <a:endParaRPr lang="ko-KR" altLang="en-US">
                <a:latin typeface="Rix고딕 L" panose="02020603020101020101" pitchFamily="18" charset="-127"/>
                <a:ea typeface="Rix고딕 L" panose="02020603020101020101" pitchFamily="18" charset="-127"/>
              </a:endParaRPr>
            </a:p>
          </p:txBody>
        </p:sp>
        <p:sp>
          <p:nvSpPr>
            <p:cNvPr id="33" name="Shape 31">
              <a:extLst>
                <a:ext uri="{FF2B5EF4-FFF2-40B4-BE49-F238E27FC236}">
                  <a16:creationId xmlns:a16="http://schemas.microsoft.com/office/drawing/2014/main" id="{3D084B84-350B-F548-71F3-B40FAA03A19C}"/>
                </a:ext>
              </a:extLst>
            </p:cNvPr>
            <p:cNvSpPr/>
            <p:nvPr/>
          </p:nvSpPr>
          <p:spPr>
            <a:xfrm>
              <a:off x="274320" y="3218688"/>
              <a:ext cx="1965960" cy="365760"/>
            </a:xfrm>
            <a:prstGeom prst="rect">
              <a:avLst/>
            </a:prstGeom>
            <a:solidFill>
              <a:srgbClr val="DC2626"/>
            </a:solidFill>
            <a:ln w="12700">
              <a:solidFill>
                <a:srgbClr val="DC2626"/>
              </a:solidFill>
              <a:prstDash val="solid"/>
            </a:ln>
          </p:spPr>
          <p:txBody>
            <a:bodyPr/>
            <a:lstStyle/>
            <a:p>
              <a:endParaRPr lang="ko-KR" altLang="en-US">
                <a:latin typeface="Rix고딕 L" panose="02020603020101020101" pitchFamily="18" charset="-127"/>
                <a:ea typeface="Rix고딕 L" panose="02020603020101020101" pitchFamily="18" charset="-127"/>
              </a:endParaRPr>
            </a:p>
          </p:txBody>
        </p:sp>
        <p:sp>
          <p:nvSpPr>
            <p:cNvPr id="34" name="Text 32">
              <a:extLst>
                <a:ext uri="{FF2B5EF4-FFF2-40B4-BE49-F238E27FC236}">
                  <a16:creationId xmlns:a16="http://schemas.microsoft.com/office/drawing/2014/main" id="{6FB0E5C8-554E-3797-B2CF-CCD5DB3D086D}"/>
                </a:ext>
              </a:extLst>
            </p:cNvPr>
            <p:cNvSpPr/>
            <p:nvPr/>
          </p:nvSpPr>
          <p:spPr>
            <a:xfrm>
              <a:off x="274320" y="3218688"/>
              <a:ext cx="2011680" cy="36576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950" b="1" dirty="0">
                  <a:solidFill>
                    <a:srgbClr val="FFFFFF"/>
                  </a:solidFill>
                  <a:latin typeface="Rix고딕 L" panose="02020603020101020101" pitchFamily="18" charset="-127"/>
                  <a:ea typeface="Rix고딕 L" panose="02020603020101020101" pitchFamily="18" charset="-127"/>
                </a:rPr>
                <a:t>즉시</a:t>
              </a:r>
              <a:endParaRPr lang="en-US" sz="950" dirty="0">
                <a:latin typeface="Rix고딕 L" panose="02020603020101020101" pitchFamily="18" charset="-127"/>
                <a:ea typeface="Rix고딕 L" panose="02020603020101020101" pitchFamily="18" charset="-127"/>
              </a:endParaRPr>
            </a:p>
            <a:p>
              <a:pPr marL="0" indent="0" algn="ctr">
                <a:buNone/>
              </a:pPr>
              <a:r>
                <a:rPr lang="en-US" sz="950" b="1" dirty="0">
                  <a:solidFill>
                    <a:srgbClr val="FFFFFF"/>
                  </a:solidFill>
                  <a:latin typeface="Rix고딕 L" panose="02020603020101020101" pitchFamily="18" charset="-127"/>
                  <a:ea typeface="Rix고딕 L" panose="02020603020101020101" pitchFamily="18" charset="-127"/>
                </a:rPr>
                <a:t>(1주 내)</a:t>
              </a:r>
              <a:endParaRPr lang="en-US" sz="950" dirty="0">
                <a:latin typeface="Rix고딕 L" panose="02020603020101020101" pitchFamily="18" charset="-127"/>
                <a:ea typeface="Rix고딕 L" panose="02020603020101020101" pitchFamily="18" charset="-127"/>
              </a:endParaRPr>
            </a:p>
          </p:txBody>
        </p:sp>
        <p:sp>
          <p:nvSpPr>
            <p:cNvPr id="35" name="Text 33">
              <a:extLst>
                <a:ext uri="{FF2B5EF4-FFF2-40B4-BE49-F238E27FC236}">
                  <a16:creationId xmlns:a16="http://schemas.microsoft.com/office/drawing/2014/main" id="{3B6488F9-270D-B410-8384-3D716E88F41D}"/>
                </a:ext>
              </a:extLst>
            </p:cNvPr>
            <p:cNvSpPr/>
            <p:nvPr/>
          </p:nvSpPr>
          <p:spPr>
            <a:xfrm>
              <a:off x="374904" y="3723132"/>
              <a:ext cx="1874520" cy="97840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lnSpc>
                  <a:spcPct val="200000"/>
                </a:lnSpc>
                <a:buNone/>
              </a:pPr>
              <a:r>
                <a:rPr lang="en-US" sz="900" b="1" dirty="0">
                  <a:solidFill>
                    <a:srgbClr val="DC2626"/>
                  </a:solidFill>
                  <a:latin typeface="Rix고딕 L" panose="02020603020101020101" pitchFamily="18" charset="-127"/>
                  <a:ea typeface="Rix고딕 L" panose="02020603020101020101" pitchFamily="18" charset="-127"/>
                </a:rPr>
                <a:t>• </a:t>
              </a:r>
              <a:r>
                <a:rPr lang="en-US" sz="900" dirty="0">
                  <a:solidFill>
                    <a:srgbClr val="1B3A6B"/>
                  </a:solidFill>
                  <a:latin typeface="Rix고딕 L" panose="02020603020101020101" pitchFamily="18" charset="-127"/>
                  <a:ea typeface="Rix고딕 L" panose="02020603020101020101" pitchFamily="18" charset="-127"/>
                </a:rPr>
                <a:t>AC 조치요청 29건 </a:t>
              </a:r>
              <a:r>
                <a:rPr lang="en-US" sz="900" dirty="0" err="1">
                  <a:solidFill>
                    <a:srgbClr val="1B3A6B"/>
                  </a:solidFill>
                  <a:latin typeface="Rix고딕 L" panose="02020603020101020101" pitchFamily="18" charset="-127"/>
                  <a:ea typeface="Rix고딕 L" panose="02020603020101020101" pitchFamily="18" charset="-127"/>
                </a:rPr>
                <a:t>처리</a:t>
              </a:r>
              <a:endParaRPr lang="en-US" sz="900" dirty="0">
                <a:solidFill>
                  <a:srgbClr val="1B3A6B"/>
                </a:solidFill>
                <a:latin typeface="Rix고딕 L" panose="02020603020101020101" pitchFamily="18" charset="-127"/>
                <a:ea typeface="Rix고딕 L" panose="02020603020101020101" pitchFamily="18" charset="-127"/>
              </a:endParaRPr>
            </a:p>
            <a:p>
              <a:pPr>
                <a:lnSpc>
                  <a:spcPct val="200000"/>
                </a:lnSpc>
              </a:pPr>
              <a:r>
                <a:rPr lang="en-US" altLang="ko-KR" sz="900" b="1" dirty="0">
                  <a:solidFill>
                    <a:srgbClr val="DC2626"/>
                  </a:solidFill>
                  <a:latin typeface="Rix고딕 L" panose="02020603020101020101" pitchFamily="18" charset="-127"/>
                  <a:ea typeface="Rix고딕 L" panose="02020603020101020101" pitchFamily="18" charset="-127"/>
                </a:rPr>
                <a:t>• </a:t>
              </a:r>
              <a:r>
                <a:rPr lang="en-US" altLang="ko-KR" sz="900" dirty="0">
                  <a:solidFill>
                    <a:srgbClr val="1B3A6B"/>
                  </a:solidFill>
                  <a:latin typeface="Rix고딕 L" panose="02020603020101020101" pitchFamily="18" charset="-127"/>
                  <a:ea typeface="Rix고딕 L" panose="02020603020101020101" pitchFamily="18" charset="-127"/>
                </a:rPr>
                <a:t>AS </a:t>
              </a:r>
              <a:r>
                <a:rPr lang="en-US" altLang="ko-KR" sz="900" dirty="0" err="1">
                  <a:solidFill>
                    <a:srgbClr val="1B3A6B"/>
                  </a:solidFill>
                  <a:latin typeface="Rix고딕 L" panose="02020603020101020101" pitchFamily="18" charset="-127"/>
                  <a:ea typeface="Rix고딕 L" panose="02020603020101020101" pitchFamily="18" charset="-127"/>
                </a:rPr>
                <a:t>검토요청</a:t>
              </a:r>
              <a:r>
                <a:rPr lang="en-US" altLang="ko-KR" sz="900" dirty="0">
                  <a:solidFill>
                    <a:srgbClr val="1B3A6B"/>
                  </a:solidFill>
                  <a:latin typeface="Rix고딕 L" panose="02020603020101020101" pitchFamily="18" charset="-127"/>
                  <a:ea typeface="Rix고딕 L" panose="02020603020101020101" pitchFamily="18" charset="-127"/>
                </a:rPr>
                <a:t> 89건 </a:t>
              </a:r>
              <a:r>
                <a:rPr lang="en-US" altLang="ko-KR" sz="900" dirty="0" err="1">
                  <a:solidFill>
                    <a:srgbClr val="1B3A6B"/>
                  </a:solidFill>
                  <a:latin typeface="Rix고딕 L" panose="02020603020101020101" pitchFamily="18" charset="-127"/>
                  <a:ea typeface="Rix고딕 L" panose="02020603020101020101" pitchFamily="18" charset="-127"/>
                </a:rPr>
                <a:t>처리</a:t>
              </a:r>
              <a:endParaRPr lang="en-US" altLang="ko-KR" sz="900" dirty="0">
                <a:solidFill>
                  <a:srgbClr val="1B3A6B"/>
                </a:solidFill>
                <a:latin typeface="Rix고딕 L" panose="02020603020101020101" pitchFamily="18" charset="-127"/>
                <a:ea typeface="Rix고딕 L" panose="02020603020101020101" pitchFamily="18" charset="-127"/>
              </a:endParaRPr>
            </a:p>
            <a:p>
              <a:pPr>
                <a:lnSpc>
                  <a:spcPct val="200000"/>
                </a:lnSpc>
              </a:pPr>
              <a:r>
                <a:rPr lang="en-US" altLang="ko-KR" sz="900" b="1" dirty="0">
                  <a:solidFill>
                    <a:srgbClr val="DC2626"/>
                  </a:solidFill>
                  <a:latin typeface="Rix고딕 L" panose="02020603020101020101" pitchFamily="18" charset="-127"/>
                  <a:ea typeface="Rix고딕 L" panose="02020603020101020101" pitchFamily="18" charset="-127"/>
                </a:rPr>
                <a:t>• </a:t>
              </a:r>
              <a:r>
                <a:rPr lang="en-US" altLang="ko-KR" sz="900" dirty="0">
                  <a:solidFill>
                    <a:srgbClr val="1B3A6B"/>
                  </a:solidFill>
                  <a:latin typeface="Rix고딕 L" panose="02020603020101020101" pitchFamily="18" charset="-127"/>
                  <a:ea typeface="Rix고딕 L" panose="02020603020101020101" pitchFamily="18" charset="-127"/>
                </a:rPr>
                <a:t>GO </a:t>
              </a:r>
              <a:r>
                <a:rPr lang="en-US" altLang="ko-KR" sz="900" dirty="0" err="1">
                  <a:solidFill>
                    <a:srgbClr val="1B3A6B"/>
                  </a:solidFill>
                  <a:latin typeface="Rix고딕 L" panose="02020603020101020101" pitchFamily="18" charset="-127"/>
                  <a:ea typeface="Rix고딕 L" panose="02020603020101020101" pitchFamily="18" charset="-127"/>
                </a:rPr>
                <a:t>확인대기</a:t>
              </a:r>
              <a:r>
                <a:rPr lang="en-US" altLang="ko-KR" sz="900" dirty="0">
                  <a:solidFill>
                    <a:srgbClr val="1B3A6B"/>
                  </a:solidFill>
                  <a:latin typeface="Rix고딕 L" panose="02020603020101020101" pitchFamily="18" charset="-127"/>
                  <a:ea typeface="Rix고딕 L" panose="02020603020101020101" pitchFamily="18" charset="-127"/>
                </a:rPr>
                <a:t> 330건 </a:t>
              </a:r>
              <a:r>
                <a:rPr lang="en-US" altLang="ko-KR" sz="900" dirty="0" err="1">
                  <a:solidFill>
                    <a:srgbClr val="1B3A6B"/>
                  </a:solidFill>
                  <a:latin typeface="Rix고딕 L" panose="02020603020101020101" pitchFamily="18" charset="-127"/>
                  <a:ea typeface="Rix고딕 L" panose="02020603020101020101" pitchFamily="18" charset="-127"/>
                </a:rPr>
                <a:t>계획</a:t>
              </a:r>
              <a:r>
                <a:rPr lang="en-US" altLang="ko-KR" sz="900" dirty="0">
                  <a:solidFill>
                    <a:srgbClr val="1B3A6B"/>
                  </a:solidFill>
                  <a:latin typeface="Rix고딕 L" panose="02020603020101020101" pitchFamily="18" charset="-127"/>
                  <a:ea typeface="Rix고딕 L" panose="02020603020101020101" pitchFamily="18" charset="-127"/>
                </a:rPr>
                <a:t> </a:t>
              </a:r>
              <a:r>
                <a:rPr lang="en-US" altLang="ko-KR" sz="900" dirty="0" err="1">
                  <a:solidFill>
                    <a:srgbClr val="1B3A6B"/>
                  </a:solidFill>
                  <a:latin typeface="Rix고딕 L" panose="02020603020101020101" pitchFamily="18" charset="-127"/>
                  <a:ea typeface="Rix고딕 L" panose="02020603020101020101" pitchFamily="18" charset="-127"/>
                </a:rPr>
                <a:t>수립</a:t>
              </a:r>
              <a:endParaRPr lang="en-US" altLang="ko-KR" sz="900" dirty="0">
                <a:latin typeface="Rix고딕 L" panose="02020603020101020101" pitchFamily="18" charset="-127"/>
                <a:ea typeface="Rix고딕 L" panose="02020603020101020101" pitchFamily="18" charset="-127"/>
              </a:endParaRPr>
            </a:p>
            <a:p>
              <a:pPr marL="0" indent="0">
                <a:lnSpc>
                  <a:spcPct val="200000"/>
                </a:lnSpc>
                <a:buNone/>
              </a:pPr>
              <a:endParaRPr lang="en-US" sz="900" dirty="0">
                <a:latin typeface="Rix고딕 L" panose="02020603020101020101" pitchFamily="18" charset="-127"/>
                <a:ea typeface="Rix고딕 L" panose="02020603020101020101" pitchFamily="18" charset="-127"/>
              </a:endParaRPr>
            </a:p>
          </p:txBody>
        </p:sp>
      </p:grpSp>
      <p:grpSp>
        <p:nvGrpSpPr>
          <p:cNvPr id="60" name="그룹 59">
            <a:extLst>
              <a:ext uri="{FF2B5EF4-FFF2-40B4-BE49-F238E27FC236}">
                <a16:creationId xmlns:a16="http://schemas.microsoft.com/office/drawing/2014/main" id="{33F85F28-5D24-A506-AB81-0E62FAC66F3F}"/>
              </a:ext>
            </a:extLst>
          </p:cNvPr>
          <p:cNvGrpSpPr/>
          <p:nvPr/>
        </p:nvGrpSpPr>
        <p:grpSpPr>
          <a:xfrm>
            <a:off x="2526792" y="3218688"/>
            <a:ext cx="2011680" cy="1482852"/>
            <a:chOff x="2450592" y="3218688"/>
            <a:chExt cx="2011680" cy="1482852"/>
          </a:xfrm>
        </p:grpSpPr>
        <p:sp>
          <p:nvSpPr>
            <p:cNvPr id="38" name="Shape 36">
              <a:extLst>
                <a:ext uri="{FF2B5EF4-FFF2-40B4-BE49-F238E27FC236}">
                  <a16:creationId xmlns:a16="http://schemas.microsoft.com/office/drawing/2014/main" id="{E2285589-75AC-A446-E68B-0846BA9B862E}"/>
                </a:ext>
              </a:extLst>
            </p:cNvPr>
            <p:cNvSpPr/>
            <p:nvPr/>
          </p:nvSpPr>
          <p:spPr>
            <a:xfrm>
              <a:off x="2450592" y="3218688"/>
              <a:ext cx="1965960" cy="1482852"/>
            </a:xfrm>
            <a:prstGeom prst="rect">
              <a:avLst/>
            </a:prstGeom>
            <a:solidFill>
              <a:srgbClr val="F4F7FB"/>
            </a:solidFill>
            <a:ln w="12700">
              <a:solidFill>
                <a:srgbClr val="D1D9E6"/>
              </a:solidFill>
              <a:prstDash val="solid"/>
            </a:ln>
            <a:effectLst>
              <a:outerShdw blurRad="50800" dist="25400" dir="8100000" algn="bl" rotWithShape="0">
                <a:srgbClr val="000000">
                  <a:alpha val="8000"/>
                </a:srgbClr>
              </a:outerShdw>
            </a:effectLst>
          </p:spPr>
          <p:txBody>
            <a:bodyPr/>
            <a:lstStyle/>
            <a:p>
              <a:endParaRPr lang="ko-KR" altLang="en-US">
                <a:latin typeface="Rix고딕 L" panose="02020603020101020101" pitchFamily="18" charset="-127"/>
                <a:ea typeface="Rix고딕 L" panose="02020603020101020101" pitchFamily="18" charset="-127"/>
              </a:endParaRPr>
            </a:p>
          </p:txBody>
        </p:sp>
        <p:sp>
          <p:nvSpPr>
            <p:cNvPr id="39" name="Shape 37">
              <a:extLst>
                <a:ext uri="{FF2B5EF4-FFF2-40B4-BE49-F238E27FC236}">
                  <a16:creationId xmlns:a16="http://schemas.microsoft.com/office/drawing/2014/main" id="{F3C2E0EF-8730-DE23-2BFC-63DF34FA359C}"/>
                </a:ext>
              </a:extLst>
            </p:cNvPr>
            <p:cNvSpPr/>
            <p:nvPr/>
          </p:nvSpPr>
          <p:spPr>
            <a:xfrm>
              <a:off x="2450592" y="3218688"/>
              <a:ext cx="1965960" cy="365760"/>
            </a:xfrm>
            <a:prstGeom prst="rect">
              <a:avLst/>
            </a:prstGeom>
            <a:solidFill>
              <a:srgbClr val="E85D2F"/>
            </a:solidFill>
            <a:ln w="12700">
              <a:solidFill>
                <a:srgbClr val="E85D2F"/>
              </a:solidFill>
              <a:prstDash val="solid"/>
            </a:ln>
          </p:spPr>
          <p:txBody>
            <a:bodyPr/>
            <a:lstStyle/>
            <a:p>
              <a:endParaRPr lang="ko-KR" altLang="en-US">
                <a:latin typeface="Rix고딕 L" panose="02020603020101020101" pitchFamily="18" charset="-127"/>
                <a:ea typeface="Rix고딕 L" panose="02020603020101020101" pitchFamily="18" charset="-127"/>
              </a:endParaRPr>
            </a:p>
          </p:txBody>
        </p:sp>
        <p:sp>
          <p:nvSpPr>
            <p:cNvPr id="40" name="Text 38">
              <a:extLst>
                <a:ext uri="{FF2B5EF4-FFF2-40B4-BE49-F238E27FC236}">
                  <a16:creationId xmlns:a16="http://schemas.microsoft.com/office/drawing/2014/main" id="{E2FC4D88-4DD3-BE3A-37A4-93FD21D8EF00}"/>
                </a:ext>
              </a:extLst>
            </p:cNvPr>
            <p:cNvSpPr/>
            <p:nvPr/>
          </p:nvSpPr>
          <p:spPr>
            <a:xfrm>
              <a:off x="2450592" y="3218688"/>
              <a:ext cx="2011680" cy="36576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950" b="1" dirty="0">
                  <a:solidFill>
                    <a:srgbClr val="FFFFFF"/>
                  </a:solidFill>
                  <a:latin typeface="Rix고딕 L" panose="02020603020101020101" pitchFamily="18" charset="-127"/>
                  <a:ea typeface="Rix고딕 L" panose="02020603020101020101" pitchFamily="18" charset="-127"/>
                </a:rPr>
                <a:t>단기</a:t>
              </a:r>
              <a:endParaRPr lang="en-US" sz="950" dirty="0">
                <a:latin typeface="Rix고딕 L" panose="02020603020101020101" pitchFamily="18" charset="-127"/>
                <a:ea typeface="Rix고딕 L" panose="02020603020101020101" pitchFamily="18" charset="-127"/>
              </a:endParaRPr>
            </a:p>
            <a:p>
              <a:pPr marL="0" indent="0" algn="ctr">
                <a:buNone/>
              </a:pPr>
              <a:r>
                <a:rPr lang="en-US" sz="950" b="1" dirty="0">
                  <a:solidFill>
                    <a:srgbClr val="FFFFFF"/>
                  </a:solidFill>
                  <a:latin typeface="Rix고딕 L" panose="02020603020101020101" pitchFamily="18" charset="-127"/>
                  <a:ea typeface="Rix고딕 L" panose="02020603020101020101" pitchFamily="18" charset="-127"/>
                </a:rPr>
                <a:t>(2~4주)</a:t>
              </a:r>
              <a:endParaRPr lang="en-US" sz="950" dirty="0">
                <a:latin typeface="Rix고딕 L" panose="02020603020101020101" pitchFamily="18" charset="-127"/>
                <a:ea typeface="Rix고딕 L" panose="02020603020101020101" pitchFamily="18" charset="-127"/>
              </a:endParaRPr>
            </a:p>
          </p:txBody>
        </p:sp>
        <p:sp>
          <p:nvSpPr>
            <p:cNvPr id="41" name="Text 39">
              <a:extLst>
                <a:ext uri="{FF2B5EF4-FFF2-40B4-BE49-F238E27FC236}">
                  <a16:creationId xmlns:a16="http://schemas.microsoft.com/office/drawing/2014/main" id="{0BAB116A-5152-BA87-FD27-CBB9DA02BBEC}"/>
                </a:ext>
              </a:extLst>
            </p:cNvPr>
            <p:cNvSpPr/>
            <p:nvPr/>
          </p:nvSpPr>
          <p:spPr>
            <a:xfrm>
              <a:off x="2542032" y="3639312"/>
              <a:ext cx="1874520" cy="86868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lnSpc>
                  <a:spcPct val="200000"/>
                </a:lnSpc>
                <a:buNone/>
              </a:pPr>
              <a:r>
                <a:rPr lang="en-US" sz="900" b="1" dirty="0">
                  <a:solidFill>
                    <a:srgbClr val="E85D2F"/>
                  </a:solidFill>
                  <a:latin typeface="Rix고딕 L" panose="02020603020101020101" pitchFamily="18" charset="-127"/>
                  <a:ea typeface="Rix고딕 L" panose="02020603020101020101" pitchFamily="18" charset="-127"/>
                </a:rPr>
                <a:t>• </a:t>
              </a:r>
              <a:r>
                <a:rPr lang="en-US" sz="900" dirty="0">
                  <a:solidFill>
                    <a:srgbClr val="1B3A6B"/>
                  </a:solidFill>
                  <a:latin typeface="Rix고딕 L" panose="02020603020101020101" pitchFamily="18" charset="-127"/>
                  <a:ea typeface="Rix고딕 L" panose="02020603020101020101" pitchFamily="18" charset="-127"/>
                </a:rPr>
                <a:t>3개 고위험 모듈 </a:t>
              </a:r>
              <a:r>
                <a:rPr lang="en-US" sz="900" dirty="0" err="1">
                  <a:solidFill>
                    <a:srgbClr val="1B3A6B"/>
                  </a:solidFill>
                  <a:latin typeface="Rix고딕 L" panose="02020603020101020101" pitchFamily="18" charset="-127"/>
                  <a:ea typeface="Rix고딕 L" panose="02020603020101020101" pitchFamily="18" charset="-127"/>
                </a:rPr>
                <a:t>전담</a:t>
              </a:r>
              <a:r>
                <a:rPr lang="en-US" sz="900" dirty="0">
                  <a:solidFill>
                    <a:srgbClr val="1B3A6B"/>
                  </a:solidFill>
                  <a:latin typeface="Rix고딕 L" panose="02020603020101020101" pitchFamily="18" charset="-127"/>
                  <a:ea typeface="Rix고딕 L" panose="02020603020101020101" pitchFamily="18" charset="-127"/>
                </a:rPr>
                <a:t> QA</a:t>
              </a:r>
            </a:p>
            <a:p>
              <a:pPr>
                <a:lnSpc>
                  <a:spcPct val="200000"/>
                </a:lnSpc>
              </a:pPr>
              <a:r>
                <a:rPr lang="en-US" altLang="ko-KR" sz="900" b="1" dirty="0">
                  <a:solidFill>
                    <a:srgbClr val="E85D2F"/>
                  </a:solidFill>
                  <a:latin typeface="Rix고딕 L" panose="02020603020101020101" pitchFamily="18" charset="-127"/>
                  <a:ea typeface="Rix고딕 L" panose="02020603020101020101" pitchFamily="18" charset="-127"/>
                </a:rPr>
                <a:t>• </a:t>
              </a:r>
              <a:r>
                <a:rPr lang="en-US" altLang="ko-KR" sz="900" dirty="0" err="1">
                  <a:solidFill>
                    <a:srgbClr val="1B3A6B"/>
                  </a:solidFill>
                  <a:latin typeface="Rix고딕 L" panose="02020603020101020101" pitchFamily="18" charset="-127"/>
                  <a:ea typeface="Rix고딕 L" panose="02020603020101020101" pitchFamily="18" charset="-127"/>
                </a:rPr>
                <a:t>주간</a:t>
              </a:r>
              <a:r>
                <a:rPr lang="en-US" altLang="ko-KR" sz="900" dirty="0">
                  <a:solidFill>
                    <a:srgbClr val="1B3A6B"/>
                  </a:solidFill>
                  <a:latin typeface="Rix고딕 L" panose="02020603020101020101" pitchFamily="18" charset="-127"/>
                  <a:ea typeface="Rix고딕 L" panose="02020603020101020101" pitchFamily="18" charset="-127"/>
                </a:rPr>
                <a:t> </a:t>
              </a:r>
              <a:r>
                <a:rPr lang="en-US" altLang="ko-KR" sz="900" dirty="0" err="1">
                  <a:solidFill>
                    <a:srgbClr val="1B3A6B"/>
                  </a:solidFill>
                  <a:latin typeface="Rix고딕 L" panose="02020603020101020101" pitchFamily="18" charset="-127"/>
                  <a:ea typeface="Rix고딕 L" panose="02020603020101020101" pitchFamily="18" charset="-127"/>
                </a:rPr>
                <a:t>결함</a:t>
              </a:r>
              <a:r>
                <a:rPr lang="en-US" altLang="ko-KR" sz="900" dirty="0">
                  <a:solidFill>
                    <a:srgbClr val="1B3A6B"/>
                  </a:solidFill>
                  <a:latin typeface="Rix고딕 L" panose="02020603020101020101" pitchFamily="18" charset="-127"/>
                  <a:ea typeface="Rix고딕 L" panose="02020603020101020101" pitchFamily="18" charset="-127"/>
                </a:rPr>
                <a:t> </a:t>
              </a:r>
              <a:r>
                <a:rPr lang="en-US" altLang="ko-KR" sz="900" dirty="0" err="1">
                  <a:solidFill>
                    <a:srgbClr val="1B3A6B"/>
                  </a:solidFill>
                  <a:latin typeface="Rix고딕 L" panose="02020603020101020101" pitchFamily="18" charset="-127"/>
                  <a:ea typeface="Rix고딕 L" panose="02020603020101020101" pitchFamily="18" charset="-127"/>
                </a:rPr>
                <a:t>현황</a:t>
              </a:r>
              <a:r>
                <a:rPr lang="en-US" altLang="ko-KR" sz="900" dirty="0">
                  <a:solidFill>
                    <a:srgbClr val="1B3A6B"/>
                  </a:solidFill>
                  <a:latin typeface="Rix고딕 L" panose="02020603020101020101" pitchFamily="18" charset="-127"/>
                  <a:ea typeface="Rix고딕 L" panose="02020603020101020101" pitchFamily="18" charset="-127"/>
                </a:rPr>
                <a:t> </a:t>
              </a:r>
              <a:r>
                <a:rPr lang="en-US" altLang="ko-KR" sz="900" dirty="0" err="1">
                  <a:solidFill>
                    <a:srgbClr val="1B3A6B"/>
                  </a:solidFill>
                  <a:latin typeface="Rix고딕 L" panose="02020603020101020101" pitchFamily="18" charset="-127"/>
                  <a:ea typeface="Rix고딕 L" panose="02020603020101020101" pitchFamily="18" charset="-127"/>
                </a:rPr>
                <a:t>보고</a:t>
              </a:r>
              <a:r>
                <a:rPr lang="en-US" altLang="ko-KR" sz="900" dirty="0">
                  <a:solidFill>
                    <a:srgbClr val="1B3A6B"/>
                  </a:solidFill>
                  <a:latin typeface="Rix고딕 L" panose="02020603020101020101" pitchFamily="18" charset="-127"/>
                  <a:ea typeface="Rix고딕 L" panose="02020603020101020101" pitchFamily="18" charset="-127"/>
                </a:rPr>
                <a:t> </a:t>
              </a:r>
              <a:r>
                <a:rPr lang="en-US" altLang="ko-KR" sz="900" dirty="0" err="1">
                  <a:solidFill>
                    <a:srgbClr val="1B3A6B"/>
                  </a:solidFill>
                  <a:latin typeface="Rix고딕 L" panose="02020603020101020101" pitchFamily="18" charset="-127"/>
                  <a:ea typeface="Rix고딕 L" panose="02020603020101020101" pitchFamily="18" charset="-127"/>
                </a:rPr>
                <a:t>체계</a:t>
              </a:r>
              <a:endParaRPr lang="en-US" altLang="ko-KR" sz="900" dirty="0">
                <a:solidFill>
                  <a:srgbClr val="1B3A6B"/>
                </a:solidFill>
                <a:latin typeface="Rix고딕 L" panose="02020603020101020101" pitchFamily="18" charset="-127"/>
                <a:ea typeface="Rix고딕 L" panose="02020603020101020101" pitchFamily="18" charset="-127"/>
              </a:endParaRPr>
            </a:p>
            <a:p>
              <a:pPr>
                <a:lnSpc>
                  <a:spcPct val="200000"/>
                </a:lnSpc>
              </a:pPr>
              <a:r>
                <a:rPr lang="en-US" altLang="ko-KR" sz="900" b="1" dirty="0">
                  <a:solidFill>
                    <a:srgbClr val="E85D2F"/>
                  </a:solidFill>
                  <a:latin typeface="Rix고딕 L" panose="02020603020101020101" pitchFamily="18" charset="-127"/>
                  <a:ea typeface="Rix고딕 L" panose="02020603020101020101" pitchFamily="18" charset="-127"/>
                </a:rPr>
                <a:t>• </a:t>
              </a:r>
              <a:r>
                <a:rPr lang="en-US" altLang="ko-KR" sz="900" dirty="0" err="1">
                  <a:solidFill>
                    <a:srgbClr val="1B3A6B"/>
                  </a:solidFill>
                  <a:latin typeface="Rix고딕 L" panose="02020603020101020101" pitchFamily="18" charset="-127"/>
                  <a:ea typeface="Rix고딕 L" panose="02020603020101020101" pitchFamily="18" charset="-127"/>
                </a:rPr>
                <a:t>현업-수행사</a:t>
              </a:r>
              <a:r>
                <a:rPr lang="en-US" altLang="ko-KR" sz="900" dirty="0">
                  <a:solidFill>
                    <a:srgbClr val="1B3A6B"/>
                  </a:solidFill>
                  <a:latin typeface="Rix고딕 L" panose="02020603020101020101" pitchFamily="18" charset="-127"/>
                  <a:ea typeface="Rix고딕 L" panose="02020603020101020101" pitchFamily="18" charset="-127"/>
                </a:rPr>
                <a:t> </a:t>
              </a:r>
              <a:r>
                <a:rPr lang="en-US" altLang="ko-KR" sz="900" dirty="0" err="1">
                  <a:solidFill>
                    <a:srgbClr val="1B3A6B"/>
                  </a:solidFill>
                  <a:latin typeface="Rix고딕 L" panose="02020603020101020101" pitchFamily="18" charset="-127"/>
                  <a:ea typeface="Rix고딕 L" panose="02020603020101020101" pitchFamily="18" charset="-127"/>
                </a:rPr>
                <a:t>협의체</a:t>
              </a:r>
              <a:r>
                <a:rPr lang="en-US" altLang="ko-KR" sz="900" dirty="0">
                  <a:solidFill>
                    <a:srgbClr val="1B3A6B"/>
                  </a:solidFill>
                  <a:latin typeface="Rix고딕 L" panose="02020603020101020101" pitchFamily="18" charset="-127"/>
                  <a:ea typeface="Rix고딕 L" panose="02020603020101020101" pitchFamily="18" charset="-127"/>
                </a:rPr>
                <a:t> </a:t>
              </a:r>
              <a:r>
                <a:rPr lang="en-US" altLang="ko-KR" sz="900" dirty="0" err="1">
                  <a:solidFill>
                    <a:srgbClr val="1B3A6B"/>
                  </a:solidFill>
                  <a:latin typeface="Rix고딕 L" panose="02020603020101020101" pitchFamily="18" charset="-127"/>
                  <a:ea typeface="Rix고딕 L" panose="02020603020101020101" pitchFamily="18" charset="-127"/>
                </a:rPr>
                <a:t>발족</a:t>
              </a:r>
              <a:endParaRPr lang="en-US" sz="900" dirty="0">
                <a:latin typeface="Rix고딕 L" panose="02020603020101020101" pitchFamily="18" charset="-127"/>
                <a:ea typeface="Rix고딕 L" panose="02020603020101020101" pitchFamily="18" charset="-127"/>
              </a:endParaRPr>
            </a:p>
          </p:txBody>
        </p:sp>
      </p:grpSp>
      <p:grpSp>
        <p:nvGrpSpPr>
          <p:cNvPr id="61" name="그룹 60">
            <a:extLst>
              <a:ext uri="{FF2B5EF4-FFF2-40B4-BE49-F238E27FC236}">
                <a16:creationId xmlns:a16="http://schemas.microsoft.com/office/drawing/2014/main" id="{E0978566-8C1D-530C-CF46-8B7135EAC8B2}"/>
              </a:ext>
            </a:extLst>
          </p:cNvPr>
          <p:cNvGrpSpPr/>
          <p:nvPr/>
        </p:nvGrpSpPr>
        <p:grpSpPr>
          <a:xfrm>
            <a:off x="4619937" y="3218688"/>
            <a:ext cx="2011680" cy="1482852"/>
            <a:chOff x="4626864" y="3218688"/>
            <a:chExt cx="2011680" cy="1482852"/>
          </a:xfrm>
        </p:grpSpPr>
        <p:sp>
          <p:nvSpPr>
            <p:cNvPr id="44" name="Shape 42">
              <a:extLst>
                <a:ext uri="{FF2B5EF4-FFF2-40B4-BE49-F238E27FC236}">
                  <a16:creationId xmlns:a16="http://schemas.microsoft.com/office/drawing/2014/main" id="{19D733A5-53FD-FCA5-59B0-2FB4AE185795}"/>
                </a:ext>
              </a:extLst>
            </p:cNvPr>
            <p:cNvSpPr/>
            <p:nvPr/>
          </p:nvSpPr>
          <p:spPr>
            <a:xfrm>
              <a:off x="4626864" y="3218688"/>
              <a:ext cx="1965960" cy="1482852"/>
            </a:xfrm>
            <a:prstGeom prst="rect">
              <a:avLst/>
            </a:prstGeom>
            <a:solidFill>
              <a:srgbClr val="F4F7FB"/>
            </a:solidFill>
            <a:ln w="12700">
              <a:solidFill>
                <a:srgbClr val="D1D9E6"/>
              </a:solidFill>
              <a:prstDash val="solid"/>
            </a:ln>
            <a:effectLst>
              <a:outerShdw blurRad="50800" dist="25400" dir="8100000" algn="bl" rotWithShape="0">
                <a:srgbClr val="000000">
                  <a:alpha val="8000"/>
                </a:srgbClr>
              </a:outerShdw>
            </a:effectLst>
          </p:spPr>
          <p:txBody>
            <a:bodyPr/>
            <a:lstStyle/>
            <a:p>
              <a:endParaRPr lang="ko-KR" altLang="en-US">
                <a:latin typeface="Rix고딕 L" panose="02020603020101020101" pitchFamily="18" charset="-127"/>
                <a:ea typeface="Rix고딕 L" panose="02020603020101020101" pitchFamily="18" charset="-127"/>
              </a:endParaRPr>
            </a:p>
          </p:txBody>
        </p:sp>
        <p:sp>
          <p:nvSpPr>
            <p:cNvPr id="45" name="Shape 43">
              <a:extLst>
                <a:ext uri="{FF2B5EF4-FFF2-40B4-BE49-F238E27FC236}">
                  <a16:creationId xmlns:a16="http://schemas.microsoft.com/office/drawing/2014/main" id="{551B4A3F-C24A-ACBE-F5E6-B522C4DA83D6}"/>
                </a:ext>
              </a:extLst>
            </p:cNvPr>
            <p:cNvSpPr/>
            <p:nvPr/>
          </p:nvSpPr>
          <p:spPr>
            <a:xfrm>
              <a:off x="4626864" y="3218688"/>
              <a:ext cx="1965960" cy="365760"/>
            </a:xfrm>
            <a:prstGeom prst="rect">
              <a:avLst/>
            </a:prstGeom>
            <a:solidFill>
              <a:srgbClr val="2563A8"/>
            </a:solidFill>
            <a:ln w="12700">
              <a:solidFill>
                <a:srgbClr val="2563A8"/>
              </a:solidFill>
              <a:prstDash val="solid"/>
            </a:ln>
          </p:spPr>
          <p:txBody>
            <a:bodyPr/>
            <a:lstStyle/>
            <a:p>
              <a:endParaRPr lang="ko-KR" altLang="en-US">
                <a:latin typeface="Rix고딕 L" panose="02020603020101020101" pitchFamily="18" charset="-127"/>
                <a:ea typeface="Rix고딕 L" panose="02020603020101020101" pitchFamily="18" charset="-127"/>
              </a:endParaRPr>
            </a:p>
          </p:txBody>
        </p:sp>
        <p:sp>
          <p:nvSpPr>
            <p:cNvPr id="46" name="Text 44">
              <a:extLst>
                <a:ext uri="{FF2B5EF4-FFF2-40B4-BE49-F238E27FC236}">
                  <a16:creationId xmlns:a16="http://schemas.microsoft.com/office/drawing/2014/main" id="{08F9F8C3-FD62-7B76-8122-273C6BD2D66B}"/>
                </a:ext>
              </a:extLst>
            </p:cNvPr>
            <p:cNvSpPr/>
            <p:nvPr/>
          </p:nvSpPr>
          <p:spPr>
            <a:xfrm>
              <a:off x="4626864" y="3218688"/>
              <a:ext cx="2011680" cy="36576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950" b="1" dirty="0">
                  <a:solidFill>
                    <a:srgbClr val="FFFFFF"/>
                  </a:solidFill>
                  <a:latin typeface="Rix고딕 L" panose="02020603020101020101" pitchFamily="18" charset="-127"/>
                  <a:ea typeface="Rix고딕 L" panose="02020603020101020101" pitchFamily="18" charset="-127"/>
                </a:rPr>
                <a:t>중기</a:t>
              </a:r>
              <a:endParaRPr lang="en-US" sz="950" dirty="0">
                <a:latin typeface="Rix고딕 L" panose="02020603020101020101" pitchFamily="18" charset="-127"/>
                <a:ea typeface="Rix고딕 L" panose="02020603020101020101" pitchFamily="18" charset="-127"/>
              </a:endParaRPr>
            </a:p>
            <a:p>
              <a:pPr marL="0" indent="0" algn="ctr">
                <a:buNone/>
              </a:pPr>
              <a:r>
                <a:rPr lang="en-US" sz="950" b="1" dirty="0">
                  <a:solidFill>
                    <a:srgbClr val="FFFFFF"/>
                  </a:solidFill>
                  <a:latin typeface="Rix고딕 L" panose="02020603020101020101" pitchFamily="18" charset="-127"/>
                  <a:ea typeface="Rix고딕 L" panose="02020603020101020101" pitchFamily="18" charset="-127"/>
                </a:rPr>
                <a:t>(1~2개월)</a:t>
              </a:r>
              <a:endParaRPr lang="en-US" sz="950" dirty="0">
                <a:latin typeface="Rix고딕 L" panose="02020603020101020101" pitchFamily="18" charset="-127"/>
                <a:ea typeface="Rix고딕 L" panose="02020603020101020101" pitchFamily="18" charset="-127"/>
              </a:endParaRPr>
            </a:p>
          </p:txBody>
        </p:sp>
        <p:sp>
          <p:nvSpPr>
            <p:cNvPr id="47" name="Text 45">
              <a:extLst>
                <a:ext uri="{FF2B5EF4-FFF2-40B4-BE49-F238E27FC236}">
                  <a16:creationId xmlns:a16="http://schemas.microsoft.com/office/drawing/2014/main" id="{F76E2926-D2A7-16A3-9E43-7CE4F1B7A2EA}"/>
                </a:ext>
              </a:extLst>
            </p:cNvPr>
            <p:cNvSpPr/>
            <p:nvPr/>
          </p:nvSpPr>
          <p:spPr>
            <a:xfrm>
              <a:off x="4718304" y="3639312"/>
              <a:ext cx="1874520" cy="86868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lnSpc>
                  <a:spcPct val="200000"/>
                </a:lnSpc>
                <a:buNone/>
              </a:pPr>
              <a:r>
                <a:rPr lang="en-US" sz="900" b="1" dirty="0">
                  <a:solidFill>
                    <a:srgbClr val="2563A8"/>
                  </a:solidFill>
                  <a:latin typeface="Rix고딕 L" panose="02020603020101020101" pitchFamily="18" charset="-127"/>
                  <a:ea typeface="Rix고딕 L" panose="02020603020101020101" pitchFamily="18" charset="-127"/>
                </a:rPr>
                <a:t>• </a:t>
              </a:r>
              <a:r>
                <a:rPr lang="en-US" sz="900" dirty="0">
                  <a:solidFill>
                    <a:srgbClr val="1B3A6B"/>
                  </a:solidFill>
                  <a:latin typeface="Rix고딕 L" panose="02020603020101020101" pitchFamily="18" charset="-127"/>
                  <a:ea typeface="Rix고딕 L" panose="02020603020101020101" pitchFamily="18" charset="-127"/>
                </a:rPr>
                <a:t>Quality Gate 운영(공사 진입 전)</a:t>
              </a:r>
            </a:p>
            <a:p>
              <a:pPr>
                <a:lnSpc>
                  <a:spcPct val="200000"/>
                </a:lnSpc>
              </a:pPr>
              <a:r>
                <a:rPr lang="en-US" altLang="ko-KR" sz="900" b="1" dirty="0">
                  <a:solidFill>
                    <a:srgbClr val="2563A8"/>
                  </a:solidFill>
                  <a:latin typeface="Rix고딕 L" panose="02020603020101020101" pitchFamily="18" charset="-127"/>
                  <a:ea typeface="Rix고딕 L" panose="02020603020101020101" pitchFamily="18" charset="-127"/>
                </a:rPr>
                <a:t>• </a:t>
              </a:r>
              <a:r>
                <a:rPr lang="en-US" altLang="ko-KR" sz="900" dirty="0" err="1">
                  <a:solidFill>
                    <a:srgbClr val="1B3A6B"/>
                  </a:solidFill>
                  <a:latin typeface="Rix고딕 L" panose="02020603020101020101" pitchFamily="18" charset="-127"/>
                  <a:ea typeface="Rix고딕 L" panose="02020603020101020101" pitchFamily="18" charset="-127"/>
                </a:rPr>
                <a:t>개발자</a:t>
              </a:r>
              <a:r>
                <a:rPr lang="en-US" altLang="ko-KR" sz="900" dirty="0">
                  <a:solidFill>
                    <a:srgbClr val="1B3A6B"/>
                  </a:solidFill>
                  <a:latin typeface="Rix고딕 L" panose="02020603020101020101" pitchFamily="18" charset="-127"/>
                  <a:ea typeface="Rix고딕 L" panose="02020603020101020101" pitchFamily="18" charset="-127"/>
                </a:rPr>
                <a:t> </a:t>
              </a:r>
              <a:r>
                <a:rPr lang="en-US" altLang="ko-KR" sz="900" dirty="0" err="1">
                  <a:solidFill>
                    <a:srgbClr val="1B3A6B"/>
                  </a:solidFill>
                  <a:latin typeface="Rix고딕 L" panose="02020603020101020101" pitchFamily="18" charset="-127"/>
                  <a:ea typeface="Rix고딕 L" panose="02020603020101020101" pitchFamily="18" charset="-127"/>
                </a:rPr>
                <a:t>자체</a:t>
              </a:r>
              <a:r>
                <a:rPr lang="en-US" altLang="ko-KR" sz="900" dirty="0">
                  <a:solidFill>
                    <a:srgbClr val="1B3A6B"/>
                  </a:solidFill>
                  <a:latin typeface="Rix고딕 L" panose="02020603020101020101" pitchFamily="18" charset="-127"/>
                  <a:ea typeface="Rix고딕 L" panose="02020603020101020101" pitchFamily="18" charset="-127"/>
                </a:rPr>
                <a:t> </a:t>
              </a:r>
              <a:r>
                <a:rPr lang="en-US" altLang="ko-KR" sz="900" dirty="0" err="1">
                  <a:solidFill>
                    <a:srgbClr val="1B3A6B"/>
                  </a:solidFill>
                  <a:latin typeface="Rix고딕 L" panose="02020603020101020101" pitchFamily="18" charset="-127"/>
                  <a:ea typeface="Rix고딕 L" panose="02020603020101020101" pitchFamily="18" charset="-127"/>
                </a:rPr>
                <a:t>테스트</a:t>
              </a:r>
              <a:r>
                <a:rPr lang="en-US" altLang="ko-KR" sz="900" dirty="0">
                  <a:solidFill>
                    <a:srgbClr val="1B3A6B"/>
                  </a:solidFill>
                  <a:latin typeface="Rix고딕 L" panose="02020603020101020101" pitchFamily="18" charset="-127"/>
                  <a:ea typeface="Rix고딕 L" panose="02020603020101020101" pitchFamily="18" charset="-127"/>
                </a:rPr>
                <a:t> </a:t>
              </a:r>
              <a:r>
                <a:rPr lang="en-US" altLang="ko-KR" sz="900" dirty="0" err="1">
                  <a:solidFill>
                    <a:srgbClr val="1B3A6B"/>
                  </a:solidFill>
                  <a:latin typeface="Rix고딕 L" panose="02020603020101020101" pitchFamily="18" charset="-127"/>
                  <a:ea typeface="Rix고딕 L" panose="02020603020101020101" pitchFamily="18" charset="-127"/>
                </a:rPr>
                <a:t>체크리스트</a:t>
              </a:r>
              <a:endParaRPr lang="en-US" altLang="ko-KR" sz="900" dirty="0">
                <a:solidFill>
                  <a:srgbClr val="1B3A6B"/>
                </a:solidFill>
                <a:latin typeface="Rix고딕 L" panose="02020603020101020101" pitchFamily="18" charset="-127"/>
                <a:ea typeface="Rix고딕 L" panose="02020603020101020101" pitchFamily="18" charset="-127"/>
              </a:endParaRPr>
            </a:p>
            <a:p>
              <a:pPr>
                <a:lnSpc>
                  <a:spcPct val="200000"/>
                </a:lnSpc>
              </a:pPr>
              <a:r>
                <a:rPr lang="en-US" altLang="ko-KR" sz="900" b="1" dirty="0">
                  <a:solidFill>
                    <a:srgbClr val="2563A8"/>
                  </a:solidFill>
                  <a:latin typeface="Rix고딕 L" panose="02020603020101020101" pitchFamily="18" charset="-127"/>
                  <a:ea typeface="Rix고딕 L" panose="02020603020101020101" pitchFamily="18" charset="-127"/>
                </a:rPr>
                <a:t>• </a:t>
              </a:r>
              <a:r>
                <a:rPr lang="en-US" altLang="ko-KR" sz="900" dirty="0">
                  <a:solidFill>
                    <a:srgbClr val="1B3A6B"/>
                  </a:solidFill>
                  <a:latin typeface="Rix고딕 L" panose="02020603020101020101" pitchFamily="18" charset="-127"/>
                  <a:ea typeface="Rix고딕 L" panose="02020603020101020101" pitchFamily="18" charset="-127"/>
                </a:rPr>
                <a:t>UI·데이터 </a:t>
              </a:r>
              <a:r>
                <a:rPr lang="en-US" altLang="ko-KR" sz="900" dirty="0" err="1">
                  <a:solidFill>
                    <a:srgbClr val="1B3A6B"/>
                  </a:solidFill>
                  <a:latin typeface="Rix고딕 L" panose="02020603020101020101" pitchFamily="18" charset="-127"/>
                  <a:ea typeface="Rix고딕 L" panose="02020603020101020101" pitchFamily="18" charset="-127"/>
                </a:rPr>
                <a:t>전용</a:t>
              </a:r>
              <a:r>
                <a:rPr lang="en-US" altLang="ko-KR" sz="900" dirty="0">
                  <a:solidFill>
                    <a:srgbClr val="1B3A6B"/>
                  </a:solidFill>
                  <a:latin typeface="Rix고딕 L" panose="02020603020101020101" pitchFamily="18" charset="-127"/>
                  <a:ea typeface="Rix고딕 L" panose="02020603020101020101" pitchFamily="18" charset="-127"/>
                </a:rPr>
                <a:t> TC </a:t>
              </a:r>
              <a:r>
                <a:rPr lang="en-US" altLang="ko-KR" sz="900" dirty="0" err="1">
                  <a:solidFill>
                    <a:srgbClr val="1B3A6B"/>
                  </a:solidFill>
                  <a:latin typeface="Rix고딕 L" panose="02020603020101020101" pitchFamily="18" charset="-127"/>
                  <a:ea typeface="Rix고딕 L" panose="02020603020101020101" pitchFamily="18" charset="-127"/>
                </a:rPr>
                <a:t>추가</a:t>
              </a:r>
              <a:endParaRPr lang="en-US" sz="900" dirty="0">
                <a:latin typeface="Rix고딕 L" panose="02020603020101020101" pitchFamily="18" charset="-127"/>
                <a:ea typeface="Rix고딕 L" panose="02020603020101020101" pitchFamily="18" charset="-127"/>
              </a:endParaRPr>
            </a:p>
          </p:txBody>
        </p:sp>
      </p:grpSp>
      <p:grpSp>
        <p:nvGrpSpPr>
          <p:cNvPr id="62" name="그룹 61">
            <a:extLst>
              <a:ext uri="{FF2B5EF4-FFF2-40B4-BE49-F238E27FC236}">
                <a16:creationId xmlns:a16="http://schemas.microsoft.com/office/drawing/2014/main" id="{7C7B7997-113E-2102-8B18-226F4C779B55}"/>
              </a:ext>
            </a:extLst>
          </p:cNvPr>
          <p:cNvGrpSpPr/>
          <p:nvPr/>
        </p:nvGrpSpPr>
        <p:grpSpPr>
          <a:xfrm>
            <a:off x="6713081" y="3218688"/>
            <a:ext cx="2011680" cy="1482852"/>
            <a:chOff x="6803136" y="3218688"/>
            <a:chExt cx="2011680" cy="1482852"/>
          </a:xfrm>
        </p:grpSpPr>
        <p:sp>
          <p:nvSpPr>
            <p:cNvPr id="50" name="Shape 48">
              <a:extLst>
                <a:ext uri="{FF2B5EF4-FFF2-40B4-BE49-F238E27FC236}">
                  <a16:creationId xmlns:a16="http://schemas.microsoft.com/office/drawing/2014/main" id="{3522A4F0-775C-CC94-8F46-2D5CC6D653D3}"/>
                </a:ext>
              </a:extLst>
            </p:cNvPr>
            <p:cNvSpPr/>
            <p:nvPr/>
          </p:nvSpPr>
          <p:spPr>
            <a:xfrm>
              <a:off x="6803136" y="3218688"/>
              <a:ext cx="1965960" cy="1482852"/>
            </a:xfrm>
            <a:prstGeom prst="rect">
              <a:avLst/>
            </a:prstGeom>
            <a:solidFill>
              <a:srgbClr val="F4F7FB"/>
            </a:solidFill>
            <a:ln w="12700">
              <a:solidFill>
                <a:srgbClr val="D1D9E6"/>
              </a:solidFill>
              <a:prstDash val="solid"/>
            </a:ln>
            <a:effectLst>
              <a:outerShdw blurRad="50800" dist="25400" dir="8100000" algn="bl" rotWithShape="0">
                <a:srgbClr val="000000">
                  <a:alpha val="8000"/>
                </a:srgbClr>
              </a:outerShdw>
            </a:effectLst>
          </p:spPr>
          <p:txBody>
            <a:bodyPr/>
            <a:lstStyle/>
            <a:p>
              <a:endParaRPr lang="ko-KR" altLang="en-US">
                <a:latin typeface="Rix고딕 L" panose="02020603020101020101" pitchFamily="18" charset="-127"/>
                <a:ea typeface="Rix고딕 L" panose="02020603020101020101" pitchFamily="18" charset="-127"/>
              </a:endParaRPr>
            </a:p>
          </p:txBody>
        </p:sp>
        <p:sp>
          <p:nvSpPr>
            <p:cNvPr id="51" name="Shape 49">
              <a:extLst>
                <a:ext uri="{FF2B5EF4-FFF2-40B4-BE49-F238E27FC236}">
                  <a16:creationId xmlns:a16="http://schemas.microsoft.com/office/drawing/2014/main" id="{6C387E67-F9B3-A102-139E-5888A75B128D}"/>
                </a:ext>
              </a:extLst>
            </p:cNvPr>
            <p:cNvSpPr/>
            <p:nvPr/>
          </p:nvSpPr>
          <p:spPr>
            <a:xfrm>
              <a:off x="6803136" y="3218688"/>
              <a:ext cx="1965960" cy="365760"/>
            </a:xfrm>
            <a:prstGeom prst="rect">
              <a:avLst/>
            </a:prstGeom>
            <a:solidFill>
              <a:srgbClr val="1B3A6B"/>
            </a:solidFill>
            <a:ln w="12700">
              <a:solidFill>
                <a:srgbClr val="1B3A6B"/>
              </a:solidFill>
              <a:prstDash val="solid"/>
            </a:ln>
          </p:spPr>
          <p:txBody>
            <a:bodyPr/>
            <a:lstStyle/>
            <a:p>
              <a:endParaRPr lang="ko-KR" altLang="en-US">
                <a:latin typeface="Rix고딕 L" panose="02020603020101020101" pitchFamily="18" charset="-127"/>
                <a:ea typeface="Rix고딕 L" panose="02020603020101020101" pitchFamily="18" charset="-127"/>
              </a:endParaRPr>
            </a:p>
          </p:txBody>
        </p:sp>
        <p:sp>
          <p:nvSpPr>
            <p:cNvPr id="52" name="Text 50">
              <a:extLst>
                <a:ext uri="{FF2B5EF4-FFF2-40B4-BE49-F238E27FC236}">
                  <a16:creationId xmlns:a16="http://schemas.microsoft.com/office/drawing/2014/main" id="{4D5EDA4C-226E-90BD-852F-772AAF0C6FC5}"/>
                </a:ext>
              </a:extLst>
            </p:cNvPr>
            <p:cNvSpPr/>
            <p:nvPr/>
          </p:nvSpPr>
          <p:spPr>
            <a:xfrm>
              <a:off x="6803136" y="3218688"/>
              <a:ext cx="2011680" cy="36576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950" b="1" dirty="0">
                  <a:solidFill>
                    <a:srgbClr val="FFFFFF"/>
                  </a:solidFill>
                  <a:latin typeface="Rix고딕 L" panose="02020603020101020101" pitchFamily="18" charset="-127"/>
                  <a:ea typeface="Rix고딕 L" panose="02020603020101020101" pitchFamily="18" charset="-127"/>
                </a:rPr>
                <a:t>장기</a:t>
              </a:r>
              <a:endParaRPr lang="en-US" sz="950" dirty="0">
                <a:latin typeface="Rix고딕 L" panose="02020603020101020101" pitchFamily="18" charset="-127"/>
                <a:ea typeface="Rix고딕 L" panose="02020603020101020101" pitchFamily="18" charset="-127"/>
              </a:endParaRPr>
            </a:p>
            <a:p>
              <a:pPr marL="0" indent="0" algn="ctr">
                <a:buNone/>
              </a:pPr>
              <a:r>
                <a:rPr lang="en-US" sz="950" b="1" dirty="0">
                  <a:solidFill>
                    <a:srgbClr val="FFFFFF"/>
                  </a:solidFill>
                  <a:latin typeface="Rix고딕 L" panose="02020603020101020101" pitchFamily="18" charset="-127"/>
                  <a:ea typeface="Rix고딕 L" panose="02020603020101020101" pitchFamily="18" charset="-127"/>
                </a:rPr>
                <a:t>(사업 전반)</a:t>
              </a:r>
              <a:endParaRPr lang="en-US" sz="950" dirty="0">
                <a:latin typeface="Rix고딕 L" panose="02020603020101020101" pitchFamily="18" charset="-127"/>
                <a:ea typeface="Rix고딕 L" panose="02020603020101020101" pitchFamily="18" charset="-127"/>
              </a:endParaRPr>
            </a:p>
          </p:txBody>
        </p:sp>
        <p:sp>
          <p:nvSpPr>
            <p:cNvPr id="53" name="Text 51">
              <a:extLst>
                <a:ext uri="{FF2B5EF4-FFF2-40B4-BE49-F238E27FC236}">
                  <a16:creationId xmlns:a16="http://schemas.microsoft.com/office/drawing/2014/main" id="{200B5383-41C1-C34F-A9D2-541804CC9E2A}"/>
                </a:ext>
              </a:extLst>
            </p:cNvPr>
            <p:cNvSpPr/>
            <p:nvPr/>
          </p:nvSpPr>
          <p:spPr>
            <a:xfrm>
              <a:off x="6894576" y="3639312"/>
              <a:ext cx="1874520" cy="106222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lnSpc>
                  <a:spcPct val="200000"/>
                </a:lnSpc>
                <a:buNone/>
              </a:pPr>
              <a:r>
                <a:rPr lang="en-US" sz="900" b="1" dirty="0">
                  <a:solidFill>
                    <a:srgbClr val="1B3A6B"/>
                  </a:solidFill>
                  <a:latin typeface="Rix고딕 L" panose="02020603020101020101" pitchFamily="18" charset="-127"/>
                  <a:ea typeface="Rix고딕 L" panose="02020603020101020101" pitchFamily="18" charset="-127"/>
                </a:rPr>
                <a:t>• </a:t>
              </a:r>
              <a:r>
                <a:rPr lang="en-US" sz="900" dirty="0">
                  <a:solidFill>
                    <a:srgbClr val="1B3A6B"/>
                  </a:solidFill>
                  <a:latin typeface="Rix고딕 L" panose="02020603020101020101" pitchFamily="18" charset="-127"/>
                  <a:ea typeface="Rix고딕 L" panose="02020603020101020101" pitchFamily="18" charset="-127"/>
                </a:rPr>
                <a:t>결함 조기경보 KPI </a:t>
              </a:r>
              <a:r>
                <a:rPr lang="en-US" sz="900" dirty="0" err="1">
                  <a:solidFill>
                    <a:srgbClr val="1B3A6B"/>
                  </a:solidFill>
                  <a:latin typeface="Rix고딕 L" panose="02020603020101020101" pitchFamily="18" charset="-127"/>
                  <a:ea typeface="Rix고딕 L" panose="02020603020101020101" pitchFamily="18" charset="-127"/>
                </a:rPr>
                <a:t>수립</a:t>
              </a:r>
              <a:endParaRPr lang="en-US" sz="900" dirty="0">
                <a:solidFill>
                  <a:srgbClr val="1B3A6B"/>
                </a:solidFill>
                <a:latin typeface="Rix고딕 L" panose="02020603020101020101" pitchFamily="18" charset="-127"/>
                <a:ea typeface="Rix고딕 L" panose="02020603020101020101" pitchFamily="18" charset="-127"/>
              </a:endParaRPr>
            </a:p>
            <a:p>
              <a:pPr>
                <a:lnSpc>
                  <a:spcPct val="200000"/>
                </a:lnSpc>
              </a:pPr>
              <a:r>
                <a:rPr lang="en-US" altLang="ko-KR" sz="900" b="1" dirty="0">
                  <a:solidFill>
                    <a:srgbClr val="1B3A6B"/>
                  </a:solidFill>
                  <a:latin typeface="Rix고딕 L" panose="02020603020101020101" pitchFamily="18" charset="-127"/>
                  <a:ea typeface="Rix고딕 L" panose="02020603020101020101" pitchFamily="18" charset="-127"/>
                </a:rPr>
                <a:t>• </a:t>
              </a:r>
              <a:r>
                <a:rPr lang="en-US" altLang="ko-KR" sz="900" dirty="0" err="1">
                  <a:solidFill>
                    <a:srgbClr val="1B3A6B"/>
                  </a:solidFill>
                  <a:latin typeface="Rix고딕 L" panose="02020603020101020101" pitchFamily="18" charset="-127"/>
                  <a:ea typeface="Rix고딕 L" panose="02020603020101020101" pitchFamily="18" charset="-127"/>
                </a:rPr>
                <a:t>차수</a:t>
              </a:r>
              <a:r>
                <a:rPr lang="en-US" altLang="ko-KR" sz="900" dirty="0">
                  <a:solidFill>
                    <a:srgbClr val="1B3A6B"/>
                  </a:solidFill>
                  <a:latin typeface="Rix고딕 L" panose="02020603020101020101" pitchFamily="18" charset="-127"/>
                  <a:ea typeface="Rix고딕 L" panose="02020603020101020101" pitchFamily="18" charset="-127"/>
                </a:rPr>
                <a:t> </a:t>
              </a:r>
              <a:r>
                <a:rPr lang="en-US" altLang="ko-KR" sz="900" dirty="0" err="1">
                  <a:solidFill>
                    <a:srgbClr val="1B3A6B"/>
                  </a:solidFill>
                  <a:latin typeface="Rix고딕 L" panose="02020603020101020101" pitchFamily="18" charset="-127"/>
                  <a:ea typeface="Rix고딕 L" panose="02020603020101020101" pitchFamily="18" charset="-127"/>
                </a:rPr>
                <a:t>종료</a:t>
              </a:r>
              <a:r>
                <a:rPr lang="en-US" altLang="ko-KR" sz="900" dirty="0">
                  <a:solidFill>
                    <a:srgbClr val="1B3A6B"/>
                  </a:solidFill>
                  <a:latin typeface="Rix고딕 L" panose="02020603020101020101" pitchFamily="18" charset="-127"/>
                  <a:ea typeface="Rix고딕 L" panose="02020603020101020101" pitchFamily="18" charset="-127"/>
                </a:rPr>
                <a:t> 시 </a:t>
              </a:r>
              <a:r>
                <a:rPr lang="en-US" altLang="ko-KR" sz="900" dirty="0" err="1">
                  <a:solidFill>
                    <a:srgbClr val="1B3A6B"/>
                  </a:solidFill>
                  <a:latin typeface="Rix고딕 L" panose="02020603020101020101" pitchFamily="18" charset="-127"/>
                  <a:ea typeface="Rix고딕 L" panose="02020603020101020101" pitchFamily="18" charset="-127"/>
                </a:rPr>
                <a:t>트렌드</a:t>
              </a:r>
              <a:r>
                <a:rPr lang="en-US" altLang="ko-KR" sz="900" dirty="0">
                  <a:solidFill>
                    <a:srgbClr val="1B3A6B"/>
                  </a:solidFill>
                  <a:latin typeface="Rix고딕 L" panose="02020603020101020101" pitchFamily="18" charset="-127"/>
                  <a:ea typeface="Rix고딕 L" panose="02020603020101020101" pitchFamily="18" charset="-127"/>
                </a:rPr>
                <a:t> </a:t>
              </a:r>
              <a:r>
                <a:rPr lang="en-US" altLang="ko-KR" sz="900" dirty="0" err="1">
                  <a:solidFill>
                    <a:srgbClr val="1B3A6B"/>
                  </a:solidFill>
                  <a:latin typeface="Rix고딕 L" panose="02020603020101020101" pitchFamily="18" charset="-127"/>
                  <a:ea typeface="Rix고딕 L" panose="02020603020101020101" pitchFamily="18" charset="-127"/>
                </a:rPr>
                <a:t>리뷰</a:t>
              </a:r>
              <a:r>
                <a:rPr lang="en-US" altLang="ko-KR" sz="900" dirty="0">
                  <a:solidFill>
                    <a:srgbClr val="1B3A6B"/>
                  </a:solidFill>
                  <a:latin typeface="Rix고딕 L" panose="02020603020101020101" pitchFamily="18" charset="-127"/>
                  <a:ea typeface="Rix고딕 L" panose="02020603020101020101" pitchFamily="18" charset="-127"/>
                </a:rPr>
                <a:t> </a:t>
              </a:r>
              <a:r>
                <a:rPr lang="en-US" altLang="ko-KR" sz="900" dirty="0" err="1">
                  <a:solidFill>
                    <a:srgbClr val="1B3A6B"/>
                  </a:solidFill>
                  <a:latin typeface="Rix고딕 L" panose="02020603020101020101" pitchFamily="18" charset="-127"/>
                  <a:ea typeface="Rix고딕 L" panose="02020603020101020101" pitchFamily="18" charset="-127"/>
                </a:rPr>
                <a:t>정례화</a:t>
              </a:r>
              <a:endParaRPr lang="en-US" altLang="ko-KR" sz="900" dirty="0">
                <a:solidFill>
                  <a:srgbClr val="1B3A6B"/>
                </a:solidFill>
                <a:latin typeface="Rix고딕 L" panose="02020603020101020101" pitchFamily="18" charset="-127"/>
                <a:ea typeface="Rix고딕 L" panose="02020603020101020101" pitchFamily="18" charset="-127"/>
              </a:endParaRPr>
            </a:p>
            <a:p>
              <a:pPr>
                <a:lnSpc>
                  <a:spcPct val="200000"/>
                </a:lnSpc>
              </a:pPr>
              <a:r>
                <a:rPr lang="en-US" altLang="ko-KR" sz="900" b="1" dirty="0">
                  <a:solidFill>
                    <a:srgbClr val="1B3A6B"/>
                  </a:solidFill>
                  <a:latin typeface="Rix고딕 L" panose="02020603020101020101" pitchFamily="18" charset="-127"/>
                  <a:ea typeface="Rix고딕 L" panose="02020603020101020101" pitchFamily="18" charset="-127"/>
                </a:rPr>
                <a:t>• </a:t>
              </a:r>
              <a:r>
                <a:rPr lang="en-US" altLang="ko-KR" sz="900" dirty="0" err="1">
                  <a:solidFill>
                    <a:srgbClr val="1B3A6B"/>
                  </a:solidFill>
                  <a:latin typeface="Rix고딕 L" panose="02020603020101020101" pitchFamily="18" charset="-127"/>
                  <a:ea typeface="Rix고딕 L" panose="02020603020101020101" pitchFamily="18" charset="-127"/>
                </a:rPr>
                <a:t>코드</a:t>
              </a:r>
              <a:r>
                <a:rPr lang="en-US" altLang="ko-KR" sz="900" dirty="0">
                  <a:solidFill>
                    <a:srgbClr val="1B3A6B"/>
                  </a:solidFill>
                  <a:latin typeface="Rix고딕 L" panose="02020603020101020101" pitchFamily="18" charset="-127"/>
                  <a:ea typeface="Rix고딕 L" panose="02020603020101020101" pitchFamily="18" charset="-127"/>
                </a:rPr>
                <a:t> </a:t>
              </a:r>
              <a:r>
                <a:rPr lang="en-US" altLang="ko-KR" sz="900" dirty="0" err="1">
                  <a:solidFill>
                    <a:srgbClr val="1B3A6B"/>
                  </a:solidFill>
                  <a:latin typeface="Rix고딕 L" panose="02020603020101020101" pitchFamily="18" charset="-127"/>
                  <a:ea typeface="Rix고딕 L" panose="02020603020101020101" pitchFamily="18" charset="-127"/>
                </a:rPr>
                <a:t>리뷰</a:t>
              </a:r>
              <a:r>
                <a:rPr lang="en-US" altLang="ko-KR" sz="900" dirty="0">
                  <a:solidFill>
                    <a:srgbClr val="1B3A6B"/>
                  </a:solidFill>
                  <a:latin typeface="Rix고딕 L" panose="02020603020101020101" pitchFamily="18" charset="-127"/>
                  <a:ea typeface="Rix고딕 L" panose="02020603020101020101" pitchFamily="18" charset="-127"/>
                </a:rPr>
                <a:t> </a:t>
              </a:r>
              <a:r>
                <a:rPr lang="en-US" altLang="ko-KR" sz="900" dirty="0" err="1">
                  <a:solidFill>
                    <a:srgbClr val="1B3A6B"/>
                  </a:solidFill>
                  <a:latin typeface="Rix고딕 L" panose="02020603020101020101" pitchFamily="18" charset="-127"/>
                  <a:ea typeface="Rix고딕 L" panose="02020603020101020101" pitchFamily="18" charset="-127"/>
                </a:rPr>
                <a:t>프로세스</a:t>
              </a:r>
              <a:r>
                <a:rPr lang="en-US" altLang="ko-KR" sz="900" dirty="0">
                  <a:solidFill>
                    <a:srgbClr val="1B3A6B"/>
                  </a:solidFill>
                  <a:latin typeface="Rix고딕 L" panose="02020603020101020101" pitchFamily="18" charset="-127"/>
                  <a:ea typeface="Rix고딕 L" panose="02020603020101020101" pitchFamily="18" charset="-127"/>
                </a:rPr>
                <a:t> </a:t>
              </a:r>
              <a:r>
                <a:rPr lang="en-US" altLang="ko-KR" sz="900" dirty="0" err="1">
                  <a:solidFill>
                    <a:srgbClr val="1B3A6B"/>
                  </a:solidFill>
                  <a:latin typeface="Rix고딕 L" panose="02020603020101020101" pitchFamily="18" charset="-127"/>
                  <a:ea typeface="Rix고딕 L" panose="02020603020101020101" pitchFamily="18" charset="-127"/>
                </a:rPr>
                <a:t>도입</a:t>
              </a:r>
              <a:endParaRPr lang="en-US" altLang="ko-KR" sz="900" dirty="0">
                <a:latin typeface="Rix고딕 L" panose="02020603020101020101" pitchFamily="18" charset="-127"/>
                <a:ea typeface="Rix고딕 L" panose="02020603020101020101" pitchFamily="18" charset="-127"/>
              </a:endParaRPr>
            </a:p>
            <a:p>
              <a:pPr marL="0" indent="0">
                <a:lnSpc>
                  <a:spcPct val="200000"/>
                </a:lnSpc>
                <a:buNone/>
              </a:pPr>
              <a:endParaRPr lang="en-US" sz="900" dirty="0">
                <a:solidFill>
                  <a:srgbClr val="1B3A6B"/>
                </a:solidFill>
                <a:latin typeface="Rix고딕 L" panose="02020603020101020101" pitchFamily="18" charset="-127"/>
                <a:ea typeface="Rix고딕 L" panose="02020603020101020101" pitchFamily="18" charset="-127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652657058"/>
      </p:ext>
    </p:extLst>
  </p:cSld>
  <p:clrMapOvr>
    <a:masterClrMapping/>
  </p:clrMapOvr>
</p:sld>
</file>

<file path=ppt/theme/theme1.xml><?xml version="1.0" encoding="utf-8"?>
<a:theme xmlns:a="http://schemas.openxmlformats.org/drawingml/2006/main" name="1_Office 테마">
  <a:themeElements>
    <a:clrScheme name="Office 테마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테마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테마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rgbClr val="33B2DB"/>
        </a:solidFill>
        <a:ln w="31750">
          <a:solidFill>
            <a:srgbClr val="33B2DB"/>
          </a:solidFill>
        </a:ln>
      </a:spPr>
      <a:bodyPr rtlCol="0" anchor="ctr"/>
      <a:lstStyle>
        <a:defPPr algn="ctr">
          <a:defRPr/>
        </a:defPPr>
      </a:lstStyle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sp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디자인 사용자 지정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3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2159</TotalTime>
  <Words>4560</Words>
  <Application>Microsoft Office PowerPoint</Application>
  <PresentationFormat>화면 슬라이드 쇼(16:9)</PresentationFormat>
  <Paragraphs>907</Paragraphs>
  <Slides>26</Slides>
  <Notes>26</Notes>
  <HiddenSlides>5</HiddenSlides>
  <MMClips>0</MMClips>
  <ScaleCrop>false</ScaleCrop>
  <HeadingPairs>
    <vt:vector size="6" baseType="variant">
      <vt:variant>
        <vt:lpstr>사용한 글꼴</vt:lpstr>
      </vt:variant>
      <vt:variant>
        <vt:i4>6</vt:i4>
      </vt:variant>
      <vt:variant>
        <vt:lpstr>테마</vt:lpstr>
      </vt:variant>
      <vt:variant>
        <vt:i4>2</vt:i4>
      </vt:variant>
      <vt:variant>
        <vt:lpstr>슬라이드 제목</vt:lpstr>
      </vt:variant>
      <vt:variant>
        <vt:i4>26</vt:i4>
      </vt:variant>
    </vt:vector>
  </HeadingPairs>
  <TitlesOfParts>
    <vt:vector size="34" baseType="lpstr">
      <vt:lpstr>KoPub돋움체 Bold</vt:lpstr>
      <vt:lpstr>Noto Sans KR</vt:lpstr>
      <vt:lpstr>Rix고딕 L</vt:lpstr>
      <vt:lpstr>맑은 고딕</vt:lpstr>
      <vt:lpstr>Arial</vt:lpstr>
      <vt:lpstr>Calibri</vt:lpstr>
      <vt:lpstr>1_Office 테마</vt:lpstr>
      <vt:lpstr>디자인 사용자 지정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양수정</cp:lastModifiedBy>
  <cp:revision>34</cp:revision>
  <dcterms:created xsi:type="dcterms:W3CDTF">2026-03-27T15:44:54Z</dcterms:created>
  <dcterms:modified xsi:type="dcterms:W3CDTF">2026-03-30T00:25:52Z</dcterms:modified>
</cp:coreProperties>
</file>