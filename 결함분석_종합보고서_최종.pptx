
<file path=[Content_Types].xml><?xml version="1.0" encoding="utf-8"?>
<Types xmlns="http://schemas.openxmlformats.org/package/2006/content-types">
  <Default Extension="emf" ContentType="image/x-emf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media/image4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0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notesSlides/notesSlide17.xml" ContentType="application/vnd.openxmlformats-officedocument.presentationml.notesSlide+xml"/>
  <Override PartName="/ppt/charts/chart1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16.xml" ContentType="application/vnd.openxmlformats-officedocument.drawingml.chart+xml"/>
  <Override PartName="/ppt/notesSlides/notesSlide29.xml" ContentType="application/vnd.openxmlformats-officedocument.presentationml.notesSlide+xml"/>
  <Override PartName="/ppt/charts/chart17.xml" ContentType="application/vnd.openxmlformats-officedocument.drawingml.chart+xml"/>
  <Override PartName="/ppt/notesSlides/notesSlide30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31.xml" ContentType="application/vnd.openxmlformats-officedocument.presentationml.notesSlide+xml"/>
  <Override PartName="/ppt/charts/chart20.xml" ContentType="application/vnd.openxmlformats-officedocument.drawingml.chart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35"/>
  </p:notesMasterIdLst>
  <p:sldIdLst>
    <p:sldId id="289" r:id="rId3"/>
    <p:sldId id="256" r:id="rId4"/>
    <p:sldId id="265" r:id="rId5"/>
    <p:sldId id="257" r:id="rId6"/>
    <p:sldId id="266" r:id="rId7"/>
    <p:sldId id="267" r:id="rId8"/>
    <p:sldId id="268" r:id="rId9"/>
    <p:sldId id="269" r:id="rId10"/>
    <p:sldId id="259" r:id="rId11"/>
    <p:sldId id="260" r:id="rId12"/>
    <p:sldId id="261" r:id="rId13"/>
    <p:sldId id="271" r:id="rId14"/>
    <p:sldId id="263" r:id="rId15"/>
    <p:sldId id="262" r:id="rId16"/>
    <p:sldId id="295" r:id="rId17"/>
    <p:sldId id="296" r:id="rId18"/>
    <p:sldId id="297" r:id="rId19"/>
    <p:sldId id="294" r:id="rId20"/>
    <p:sldId id="290" r:id="rId21"/>
    <p:sldId id="291" r:id="rId22"/>
    <p:sldId id="292" r:id="rId23"/>
    <p:sldId id="301" r:id="rId24"/>
    <p:sldId id="304" r:id="rId25"/>
    <p:sldId id="305" r:id="rId26"/>
    <p:sldId id="306" r:id="rId27"/>
    <p:sldId id="308" r:id="rId28"/>
    <p:sldId id="307" r:id="rId29"/>
    <p:sldId id="258" r:id="rId30"/>
    <p:sldId id="298" r:id="rId31"/>
    <p:sldId id="270" r:id="rId32"/>
    <p:sldId id="273" r:id="rId33"/>
    <p:sldId id="272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8" userDrawn="1">
          <p15:clr>
            <a:srgbClr val="A4A3A4"/>
          </p15:clr>
        </p15:guide>
        <p15:guide id="2" pos="272" userDrawn="1">
          <p15:clr>
            <a:srgbClr val="A4A3A4"/>
          </p15:clr>
        </p15:guide>
        <p15:guide id="3" pos="5465" userDrawn="1">
          <p15:clr>
            <a:srgbClr val="A4A3A4"/>
          </p15:clr>
        </p15:guide>
        <p15:guide id="4" orient="horz" pos="4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C55A11"/>
    <a:srgbClr val="FAFAFA"/>
    <a:srgbClr val="EBF3FB"/>
    <a:srgbClr val="333333"/>
    <a:srgbClr val="FDECEA"/>
    <a:srgbClr val="FCAAAA"/>
    <a:srgbClr val="0000FF"/>
    <a:srgbClr val="E85D2F"/>
    <a:srgbClr val="E5E9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2" y="134"/>
      </p:cViewPr>
      <p:guideLst>
        <p:guide orient="horz" pos="418"/>
        <p:guide pos="272"/>
        <p:guide pos="5465"/>
        <p:guide orient="horz" pos="48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차수별 결함 건수 현황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4,648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건수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8305-404F-BB03-5CDAFCB05DA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1-1차</c:v>
                </c:pt>
                <c:pt idx="1">
                  <c:v>1-2차</c:v>
                </c:pt>
                <c:pt idx="2">
                  <c:v>2-1차</c:v>
                </c:pt>
                <c:pt idx="3">
                  <c:v>2-2차</c:v>
                </c:pt>
                <c:pt idx="4">
                  <c:v>2-3차(진행중)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769</c:v>
                </c:pt>
                <c:pt idx="1">
                  <c:v>1372</c:v>
                </c:pt>
                <c:pt idx="2">
                  <c:v>1301</c:v>
                </c:pt>
                <c:pt idx="3">
                  <c:v>1056</c:v>
                </c:pt>
                <c:pt idx="4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05-404F-BB03-5CDAFCB05D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기각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ko-KR"/>
                      <a:t>20</a:t>
                    </a:r>
                    <a:endParaRPr lang="en-US" altLang="ko-KR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135-4E76-8251-21FA4A84E5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1-1차</c:v>
                </c:pt>
                <c:pt idx="1">
                  <c:v>1-2차</c:v>
                </c:pt>
                <c:pt idx="2">
                  <c:v>2-1차</c:v>
                </c:pt>
                <c:pt idx="3">
                  <c:v>2-2차</c:v>
                </c:pt>
                <c:pt idx="4">
                  <c:v>2-3차(진행중)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120</c:v>
                </c:pt>
                <c:pt idx="2">
                  <c:v>129</c:v>
                </c:pt>
                <c:pt idx="3">
                  <c:v>156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305-404F-BB03-5CDAFCB05D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조치 상태 분포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(4,203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 기준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조치상태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D94-4E0D-A275-1E2EF6CA15C3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D94-4E0D-A275-1E2EF6CA15C3}"/>
              </c:ext>
            </c:extLst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D94-4E0D-A275-1E2EF6CA15C3}"/>
              </c:ext>
            </c:extLst>
          </c:dPt>
          <c:dPt>
            <c:idx val="3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D94-4E0D-A275-1E2EF6CA15C3}"/>
              </c:ext>
            </c:extLst>
          </c:dPt>
          <c:dPt>
            <c:idx val="4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D94-4E0D-A275-1E2EF6CA15C3}"/>
              </c:ext>
            </c:extLst>
          </c:dPt>
          <c:dPt>
            <c:idx val="5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D94-4E0D-A275-1E2EF6CA15C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F2CA9E04-C7AB-4BAA-B0C0-585841459039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D94-4E0D-A275-1E2EF6CA15C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1CF1557C-610F-412C-B8F8-EA93EE7A0218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D94-4E0D-A275-1E2EF6CA15C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7582822B-848B-468B-B960-A8356E30F54E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CD94-4E0D-A275-1E2EF6CA15C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A2367A20-AF85-49B0-971B-A26C65B46CEF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CD94-4E0D-A275-1E2EF6CA15C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54317C1A-CFA9-4E93-A5D6-942C44E3B2BD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CD94-4E0D-A275-1E2EF6CA15C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C94C51FF-32B3-413C-8434-981B8C5CDA29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CD94-4E0D-A275-1E2EF6CA1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최종확인(완료)</c:v>
                </c:pt>
                <c:pt idx="1">
                  <c:v>확인대기</c:v>
                </c:pt>
                <c:pt idx="2">
                  <c:v>결함검토요청</c:v>
                </c:pt>
                <c:pt idx="3">
                  <c:v>확인요청</c:v>
                </c:pt>
                <c:pt idx="4">
                  <c:v>조치요청</c:v>
                </c:pt>
                <c:pt idx="5">
                  <c:v>재조치요청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2468</c:v>
                </c:pt>
                <c:pt idx="1">
                  <c:v>1297</c:v>
                </c:pt>
                <c:pt idx="2">
                  <c:v>277</c:v>
                </c:pt>
                <c:pt idx="3">
                  <c:v>79</c:v>
                </c:pt>
                <c:pt idx="4">
                  <c:v>73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D94-4E0D-A275-1E2EF6CA1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분석대상 결함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vs 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시나리오 수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상위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1687150928037782"/>
          <c:y val="0.12658136340634715"/>
          <c:w val="0.73636554130835996"/>
          <c:h val="0.8024500353200807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분석대상 결함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공항운영(GO)</c:v>
                </c:pt>
                <c:pt idx="1">
                  <c:v>항공보안(FS)</c:v>
                </c:pt>
                <c:pt idx="2">
                  <c:v>항공기관제(AC)</c:v>
                </c:pt>
                <c:pt idx="3">
                  <c:v>공통관리(FIMS-CA)</c:v>
                </c:pt>
                <c:pt idx="4">
                  <c:v>자원배정(RS)</c:v>
                </c:pt>
                <c:pt idx="5">
                  <c:v>공통관리(AOMS-CA)</c:v>
                </c:pt>
                <c:pt idx="6">
                  <c:v>운항계획(FP)</c:v>
                </c:pt>
                <c:pt idx="7">
                  <c:v>모바일(WES)</c:v>
                </c:pt>
                <c:pt idx="8">
                  <c:v>모바일(MES)</c:v>
                </c:pt>
                <c:pt idx="9">
                  <c:v>예측관리(PM)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562</c:v>
                </c:pt>
                <c:pt idx="1">
                  <c:v>318</c:v>
                </c:pt>
                <c:pt idx="2">
                  <c:v>320</c:v>
                </c:pt>
                <c:pt idx="3">
                  <c:v>294</c:v>
                </c:pt>
                <c:pt idx="4">
                  <c:v>292</c:v>
                </c:pt>
                <c:pt idx="5">
                  <c:v>285</c:v>
                </c:pt>
                <c:pt idx="6">
                  <c:v>269</c:v>
                </c:pt>
                <c:pt idx="7">
                  <c:v>277</c:v>
                </c:pt>
                <c:pt idx="8">
                  <c:v>245</c:v>
                </c:pt>
                <c:pt idx="9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A7-4A92-8487-68EAA3F90C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시나리오 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공항운영(GO)</c:v>
                </c:pt>
                <c:pt idx="1">
                  <c:v>항공보안(FS)</c:v>
                </c:pt>
                <c:pt idx="2">
                  <c:v>항공기관제(AC)</c:v>
                </c:pt>
                <c:pt idx="3">
                  <c:v>공통관리(FIMS-CA)</c:v>
                </c:pt>
                <c:pt idx="4">
                  <c:v>자원배정(RS)</c:v>
                </c:pt>
                <c:pt idx="5">
                  <c:v>공통관리(AOMS-CA)</c:v>
                </c:pt>
                <c:pt idx="6">
                  <c:v>운항계획(FP)</c:v>
                </c:pt>
                <c:pt idx="7">
                  <c:v>모바일(WES)</c:v>
                </c:pt>
                <c:pt idx="8">
                  <c:v>모바일(MES)</c:v>
                </c:pt>
                <c:pt idx="9">
                  <c:v>예측관리(PM)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346</c:v>
                </c:pt>
                <c:pt idx="1">
                  <c:v>144</c:v>
                </c:pt>
                <c:pt idx="2">
                  <c:v>125</c:v>
                </c:pt>
                <c:pt idx="3">
                  <c:v>159</c:v>
                </c:pt>
                <c:pt idx="4">
                  <c:v>196</c:v>
                </c:pt>
                <c:pt idx="5">
                  <c:v>146</c:v>
                </c:pt>
                <c:pt idx="6">
                  <c:v>310</c:v>
                </c:pt>
                <c:pt idx="7">
                  <c:v>263</c:v>
                </c:pt>
                <c:pt idx="8">
                  <c:v>184</c:v>
                </c:pt>
                <c:pt idx="9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2A7-4A92-8487-68EAA3F90C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6096720637658255"/>
          <c:y val="0.13322871075728415"/>
          <c:w val="0.1740737755784621"/>
          <c:h val="0.16193502812799018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035430277320707"/>
          <c:y val="4.6811647622558052E-2"/>
          <c:w val="0.75212767887753829"/>
          <c:h val="0.81237141038099392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3자테스트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78</c:v>
                </c:pt>
                <c:pt idx="1">
                  <c:v>3</c:v>
                </c:pt>
                <c:pt idx="2">
                  <c:v>75</c:v>
                </c:pt>
                <c:pt idx="3">
                  <c:v>103</c:v>
                </c:pt>
                <c:pt idx="4">
                  <c:v>17</c:v>
                </c:pt>
                <c:pt idx="5">
                  <c:v>168</c:v>
                </c:pt>
                <c:pt idx="6">
                  <c:v>45</c:v>
                </c:pt>
                <c:pt idx="7">
                  <c:v>60</c:v>
                </c:pt>
                <c:pt idx="8">
                  <c:v>68</c:v>
                </c:pt>
                <c:pt idx="9">
                  <c:v>49</c:v>
                </c:pt>
                <c:pt idx="10">
                  <c:v>56</c:v>
                </c:pt>
                <c:pt idx="11">
                  <c:v>50</c:v>
                </c:pt>
                <c:pt idx="12">
                  <c:v>66</c:v>
                </c:pt>
                <c:pt idx="13">
                  <c:v>3</c:v>
                </c:pt>
                <c:pt idx="14">
                  <c:v>15</c:v>
                </c:pt>
                <c:pt idx="1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14-49D6-BB3A-D8B70642A553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공사테스트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54</c:v>
                </c:pt>
                <c:pt idx="1">
                  <c:v>9</c:v>
                </c:pt>
                <c:pt idx="2">
                  <c:v>139</c:v>
                </c:pt>
                <c:pt idx="3">
                  <c:v>131</c:v>
                </c:pt>
                <c:pt idx="4">
                  <c:v>87</c:v>
                </c:pt>
                <c:pt idx="5">
                  <c:v>248</c:v>
                </c:pt>
                <c:pt idx="6">
                  <c:v>106</c:v>
                </c:pt>
                <c:pt idx="7">
                  <c:v>93</c:v>
                </c:pt>
                <c:pt idx="8">
                  <c:v>223</c:v>
                </c:pt>
                <c:pt idx="9">
                  <c:v>193</c:v>
                </c:pt>
                <c:pt idx="10">
                  <c:v>185</c:v>
                </c:pt>
                <c:pt idx="11">
                  <c:v>189</c:v>
                </c:pt>
                <c:pt idx="12">
                  <c:v>101</c:v>
                </c:pt>
                <c:pt idx="13">
                  <c:v>13</c:v>
                </c:pt>
                <c:pt idx="14">
                  <c:v>144</c:v>
                </c:pt>
                <c:pt idx="15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14-49D6-BB3A-D8B70642A553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현업테스트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</c:v>
                </c:pt>
                <c:pt idx="1">
                  <c:v>3</c:v>
                </c:pt>
                <c:pt idx="2">
                  <c:v>58</c:v>
                </c:pt>
                <c:pt idx="3">
                  <c:v>60</c:v>
                </c:pt>
                <c:pt idx="4">
                  <c:v>21</c:v>
                </c:pt>
                <c:pt idx="5">
                  <c:v>88</c:v>
                </c:pt>
                <c:pt idx="6">
                  <c:v>0</c:v>
                </c:pt>
                <c:pt idx="7">
                  <c:v>17</c:v>
                </c:pt>
                <c:pt idx="8">
                  <c:v>18</c:v>
                </c:pt>
                <c:pt idx="9">
                  <c:v>42</c:v>
                </c:pt>
                <c:pt idx="10">
                  <c:v>68</c:v>
                </c:pt>
                <c:pt idx="11">
                  <c:v>50</c:v>
                </c:pt>
                <c:pt idx="12">
                  <c:v>89</c:v>
                </c:pt>
                <c:pt idx="13">
                  <c:v>21</c:v>
                </c:pt>
                <c:pt idx="14">
                  <c:v>99</c:v>
                </c:pt>
                <c:pt idx="15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D14-49D6-BB3A-D8B70642A553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감리테스트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18</c:v>
                </c:pt>
                <c:pt idx="1">
                  <c:v>2</c:v>
                </c:pt>
                <c:pt idx="2">
                  <c:v>9</c:v>
                </c:pt>
                <c:pt idx="3">
                  <c:v>18</c:v>
                </c:pt>
                <c:pt idx="4">
                  <c:v>17</c:v>
                </c:pt>
                <c:pt idx="5">
                  <c:v>115</c:v>
                </c:pt>
                <c:pt idx="6">
                  <c:v>49</c:v>
                </c:pt>
                <c:pt idx="7">
                  <c:v>38</c:v>
                </c:pt>
                <c:pt idx="8">
                  <c:v>20</c:v>
                </c:pt>
                <c:pt idx="9">
                  <c:v>16</c:v>
                </c:pt>
                <c:pt idx="10">
                  <c:v>30</c:v>
                </c:pt>
                <c:pt idx="11">
                  <c:v>16</c:v>
                </c:pt>
                <c:pt idx="12">
                  <c:v>36</c:v>
                </c:pt>
                <c:pt idx="13">
                  <c:v>0</c:v>
                </c:pt>
                <c:pt idx="14">
                  <c:v>7</c:v>
                </c:pt>
                <c:pt idx="1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14-49D6-BB3A-D8B70642A553}"/>
            </c:ext>
          </c:extLst>
        </c:ser>
        <c:ser>
          <c:idx val="4"/>
          <c:order val="4"/>
          <c:tx>
            <c:strRef>
              <c:f>Sheet1!$B$1</c:f>
              <c:strCache>
                <c:ptCount val="1"/>
                <c:pt idx="0">
                  <c:v>PL등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16</c:v>
                </c:pt>
                <c:pt idx="1">
                  <c:v>0</c:v>
                </c:pt>
                <c:pt idx="2">
                  <c:v>6</c:v>
                </c:pt>
                <c:pt idx="3">
                  <c:v>0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6</c:v>
                </c:pt>
                <c:pt idx="9">
                  <c:v>19</c:v>
                </c:pt>
                <c:pt idx="10">
                  <c:v>2</c:v>
                </c:pt>
                <c:pt idx="11">
                  <c:v>14</c:v>
                </c:pt>
                <c:pt idx="12">
                  <c:v>33</c:v>
                </c:pt>
                <c:pt idx="13">
                  <c:v>2</c:v>
                </c:pt>
                <c:pt idx="14">
                  <c:v>95</c:v>
                </c:pt>
                <c:pt idx="1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14-49D6-BB3A-D8B70642A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83039497596757605"/>
          <c:y val="5.8602352310424564E-2"/>
          <c:w val="0.14211170182795399"/>
          <c:h val="0.45094393995241766"/>
        </c:manualLayout>
      </c:layout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0730545512176252"/>
          <c:y val="4.2114609521529199E-2"/>
          <c:w val="0.75450229409048986"/>
          <c:h val="0.8011772217566542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기능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32</c:v>
                </c:pt>
                <c:pt idx="1">
                  <c:v>75</c:v>
                </c:pt>
                <c:pt idx="2">
                  <c:v>109</c:v>
                </c:pt>
                <c:pt idx="3">
                  <c:v>47</c:v>
                </c:pt>
                <c:pt idx="4">
                  <c:v>23</c:v>
                </c:pt>
                <c:pt idx="5">
                  <c:v>34</c:v>
                </c:pt>
                <c:pt idx="6">
                  <c:v>132</c:v>
                </c:pt>
                <c:pt idx="7">
                  <c:v>106</c:v>
                </c:pt>
                <c:pt idx="8">
                  <c:v>103</c:v>
                </c:pt>
                <c:pt idx="9">
                  <c:v>9</c:v>
                </c:pt>
                <c:pt idx="10">
                  <c:v>18</c:v>
                </c:pt>
                <c:pt idx="11">
                  <c:v>17</c:v>
                </c:pt>
                <c:pt idx="12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2B-4754-AB04-B7155021C7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UI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366</c:v>
                </c:pt>
                <c:pt idx="1">
                  <c:v>265</c:v>
                </c:pt>
                <c:pt idx="2">
                  <c:v>124</c:v>
                </c:pt>
                <c:pt idx="3">
                  <c:v>135</c:v>
                </c:pt>
                <c:pt idx="4">
                  <c:v>233</c:v>
                </c:pt>
                <c:pt idx="5">
                  <c:v>240</c:v>
                </c:pt>
                <c:pt idx="6">
                  <c:v>108</c:v>
                </c:pt>
                <c:pt idx="7">
                  <c:v>133</c:v>
                </c:pt>
                <c:pt idx="8">
                  <c:v>129</c:v>
                </c:pt>
                <c:pt idx="9">
                  <c:v>153</c:v>
                </c:pt>
                <c:pt idx="10">
                  <c:v>157</c:v>
                </c:pt>
                <c:pt idx="11">
                  <c:v>115</c:v>
                </c:pt>
                <c:pt idx="12">
                  <c:v>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2B-4754-AB04-B7155021C7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데이터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138</c:v>
                </c:pt>
                <c:pt idx="1">
                  <c:v>1</c:v>
                </c:pt>
                <c:pt idx="2">
                  <c:v>7</c:v>
                </c:pt>
                <c:pt idx="3">
                  <c:v>27</c:v>
                </c:pt>
                <c:pt idx="4">
                  <c:v>23</c:v>
                </c:pt>
                <c:pt idx="5">
                  <c:v>17</c:v>
                </c:pt>
                <c:pt idx="6">
                  <c:v>39</c:v>
                </c:pt>
                <c:pt idx="7">
                  <c:v>4</c:v>
                </c:pt>
                <c:pt idx="8">
                  <c:v>25</c:v>
                </c:pt>
                <c:pt idx="9">
                  <c:v>9</c:v>
                </c:pt>
                <c:pt idx="10">
                  <c:v>17</c:v>
                </c:pt>
                <c:pt idx="11">
                  <c:v>3</c:v>
                </c:pt>
                <c:pt idx="1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2B-4754-AB04-B7155021C7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기타합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83</c:v>
                </c:pt>
                <c:pt idx="1">
                  <c:v>19</c:v>
                </c:pt>
                <c:pt idx="2">
                  <c:v>101</c:v>
                </c:pt>
                <c:pt idx="3">
                  <c:v>103</c:v>
                </c:pt>
                <c:pt idx="4">
                  <c:v>40</c:v>
                </c:pt>
                <c:pt idx="5">
                  <c:v>34</c:v>
                </c:pt>
                <c:pt idx="6">
                  <c:v>56</c:v>
                </c:pt>
                <c:pt idx="7">
                  <c:v>76</c:v>
                </c:pt>
                <c:pt idx="8">
                  <c:v>30</c:v>
                </c:pt>
                <c:pt idx="9">
                  <c:v>37</c:v>
                </c:pt>
                <c:pt idx="10">
                  <c:v>8</c:v>
                </c:pt>
                <c:pt idx="11">
                  <c:v>10</c:v>
                </c:pt>
                <c:pt idx="12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92B-4754-AB04-B7155021C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3579657259632373"/>
          <c:y val="0.90288713910761154"/>
          <c:w val="0.32840665793196183"/>
          <c:h val="5.9473595610846745E-2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유형 분포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(4,648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결함유형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944-4983-A097-4FF4EE05D8F0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944-4983-A097-4FF4EE05D8F0}"/>
              </c:ext>
            </c:extLst>
          </c:dPt>
          <c:dPt>
            <c:idx val="2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944-4983-A097-4FF4EE05D8F0}"/>
              </c:ext>
            </c:extLst>
          </c:dPt>
          <c:dPt>
            <c:idx val="3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944-4983-A097-4FF4EE05D8F0}"/>
              </c:ext>
            </c:extLst>
          </c:dPt>
          <c:dPt>
            <c:idx val="4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944-4983-A097-4FF4EE05D8F0}"/>
              </c:ext>
            </c:extLst>
          </c:dPt>
          <c:dPt>
            <c:idx val="5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944-4983-A097-4FF4EE05D8F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DADBAE53-563A-4567-87C0-5013A1F1B744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E944-4983-A097-4FF4EE05D8F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8570643C-C1A7-4D44-9640-8513AA2BDDA9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E944-4983-A097-4FF4EE05D8F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FB0604CC-7C9C-4FBB-8418-494A16786863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E944-4983-A097-4FF4EE05D8F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7DD52E67-0292-4379-8CBA-CF0E096A93B0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E944-4983-A097-4FF4EE05D8F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944-4983-A097-4FF4EE05D8F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944-4983-A097-4FF4EE05D8F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기능(61.8%)</c:v>
                </c:pt>
                <c:pt idx="1">
                  <c:v>UI(19.3%)</c:v>
                </c:pt>
                <c:pt idx="2">
                  <c:v>데이터(8.0%)</c:v>
                </c:pt>
                <c:pt idx="3">
                  <c:v>기타(6.6%)</c:v>
                </c:pt>
                <c:pt idx="4">
                  <c:v>문서화(4.3%)</c:v>
                </c:pt>
                <c:pt idx="5">
                  <c:v>기타유형(합)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2685</c:v>
                </c:pt>
                <c:pt idx="1">
                  <c:v>839</c:v>
                </c:pt>
                <c:pt idx="2">
                  <c:v>347</c:v>
                </c:pt>
                <c:pt idx="3">
                  <c:v>287</c:v>
                </c:pt>
                <c:pt idx="4">
                  <c:v>187</c:v>
                </c:pt>
                <c:pt idx="5">
                  <c:v>103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944-4983-A097-4FF4EE05D8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분석대상 결함 건수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상위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layout>
        <c:manualLayout>
          <c:xMode val="edge"/>
          <c:yMode val="edge"/>
          <c:x val="0.33830153927370193"/>
          <c:y val="3.69567897972485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분석대상 결함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B87-4A3E-BDF3-D3FAACB73A92}"/>
              </c:ext>
            </c:extLst>
          </c:dPt>
          <c:dPt>
            <c:idx val="1"/>
            <c:invertIfNegative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B87-4A3E-BDF3-D3FAACB73A92}"/>
              </c:ext>
            </c:extLst>
          </c:dPt>
          <c:dPt>
            <c:idx val="2"/>
            <c:invertIfNegative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B87-4A3E-BDF3-D3FAACB73A92}"/>
              </c:ext>
            </c:extLst>
          </c:dPt>
          <c:dPt>
            <c:idx val="3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B87-4A3E-BDF3-D3FAACB73A92}"/>
              </c:ext>
            </c:extLst>
          </c:dPt>
          <c:dPt>
            <c:idx val="4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B87-4A3E-BDF3-D3FAACB73A92}"/>
              </c:ext>
            </c:extLst>
          </c:dPt>
          <c:dPt>
            <c:idx val="5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B87-4A3E-BDF3-D3FAACB73A92}"/>
              </c:ext>
            </c:extLst>
          </c:dPt>
          <c:dPt>
            <c:idx val="6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B87-4A3E-BDF3-D3FAACB73A92}"/>
              </c:ext>
            </c:extLst>
          </c:dPt>
          <c:dPt>
            <c:idx val="7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B87-4A3E-BDF3-D3FAACB73A9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공항운영(GO)</c:v>
                </c:pt>
                <c:pt idx="1">
                  <c:v>항공기관제(AC)</c:v>
                </c:pt>
                <c:pt idx="2">
                  <c:v>항공보안(FS)</c:v>
                </c:pt>
                <c:pt idx="3">
                  <c:v>자원배정(RS)</c:v>
                </c:pt>
                <c:pt idx="4">
                  <c:v>공통관리
(AOMS-CA)</c:v>
                </c:pt>
                <c:pt idx="5">
                  <c:v>운항계획(FP)</c:v>
                </c:pt>
                <c:pt idx="6">
                  <c:v>모바일(WES)</c:v>
                </c:pt>
                <c:pt idx="7">
                  <c:v>공통관리
(FIMS-CA)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562</c:v>
                </c:pt>
                <c:pt idx="1">
                  <c:v>320</c:v>
                </c:pt>
                <c:pt idx="2">
                  <c:v>318</c:v>
                </c:pt>
                <c:pt idx="3">
                  <c:v>292</c:v>
                </c:pt>
                <c:pt idx="4">
                  <c:v>285</c:v>
                </c:pt>
                <c:pt idx="5">
                  <c:v>269</c:v>
                </c:pt>
                <c:pt idx="6">
                  <c:v>277</c:v>
                </c:pt>
                <c:pt idx="7">
                  <c:v>294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B87-4A3E-BDF3-D3FAACB73A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단계별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FB9-4CE8-9497-A65E4839591C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FB9-4CE8-9497-A65E4839591C}"/>
              </c:ext>
            </c:extLst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B9-4CE8-9497-A65E4839591C}"/>
              </c:ext>
            </c:extLst>
          </c:dPt>
          <c:dPt>
            <c:idx val="3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B9-4CE8-9497-A65E4839591C}"/>
              </c:ext>
            </c:extLst>
          </c:dPt>
          <c:dPt>
            <c:idx val="4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B9-4CE8-9497-A65E4839591C}"/>
              </c:ext>
            </c:extLst>
          </c:dPt>
          <c:cat>
            <c:strRef>
              <c:f>Sheet1!$A$2:$A$6</c:f>
              <c:strCache>
                <c:ptCount val="5"/>
                <c:pt idx="0">
                  <c:v>PL(4.8%)</c:v>
                </c:pt>
                <c:pt idx="1">
                  <c:v>3자(24.0%)</c:v>
                </c:pt>
                <c:pt idx="2">
                  <c:v>공사(46.8%)</c:v>
                </c:pt>
                <c:pt idx="3">
                  <c:v>현업(16.5%)</c:v>
                </c:pt>
                <c:pt idx="4">
                  <c:v>감리(7.9%)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1008</c:v>
                </c:pt>
                <c:pt idx="2">
                  <c:v>1969</c:v>
                </c:pt>
                <c:pt idx="3">
                  <c:v>694</c:v>
                </c:pt>
                <c:pt idx="4">
                  <c:v>332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FB9-4CE8-9497-A65E48395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유형별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4C5-47FE-88BF-00850DA679F7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4C5-47FE-88BF-00850DA679F7}"/>
              </c:ext>
            </c:extLst>
          </c:dPt>
          <c:dPt>
            <c:idx val="2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C5-47FE-88BF-00850DA679F7}"/>
              </c:ext>
            </c:extLst>
          </c:dPt>
          <c:dPt>
            <c:idx val="3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C5-47FE-88BF-00850DA679F7}"/>
              </c:ext>
            </c:extLst>
          </c:dPt>
          <c:cat>
            <c:strRef>
              <c:f>Sheet1!$A$2:$A$5</c:f>
              <c:strCache>
                <c:ptCount val="4"/>
                <c:pt idx="0">
                  <c:v>기능(61.8%)</c:v>
                </c:pt>
                <c:pt idx="1">
                  <c:v>UI(19.3%)</c:v>
                </c:pt>
                <c:pt idx="2">
                  <c:v>데이터(8%)</c:v>
                </c:pt>
                <c:pt idx="3">
                  <c:v>기타(10.9%)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2685</c:v>
                </c:pt>
                <c:pt idx="1">
                  <c:v>859</c:v>
                </c:pt>
                <c:pt idx="2">
                  <c:v>376</c:v>
                </c:pt>
                <c:pt idx="3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4C5-47FE-88BF-00850DA67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미결 결함 유형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2267282136778181"/>
          <c:y val="0.17412280701754385"/>
          <c:w val="0.84358181479418448"/>
          <c:h val="0.673338475234455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확인대기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330</c:v>
                </c:pt>
                <c:pt idx="1">
                  <c:v>103</c:v>
                </c:pt>
                <c:pt idx="2">
                  <c:v>123</c:v>
                </c:pt>
                <c:pt idx="3">
                  <c:v>57</c:v>
                </c:pt>
                <c:pt idx="4">
                  <c:v>112</c:v>
                </c:pt>
                <c:pt idx="5">
                  <c:v>61</c:v>
                </c:pt>
                <c:pt idx="6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48-4658-9475-E5D85D44D0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결함검토요청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53</c:v>
                </c:pt>
                <c:pt idx="1">
                  <c:v>22</c:v>
                </c:pt>
                <c:pt idx="2">
                  <c:v>28</c:v>
                </c:pt>
                <c:pt idx="3">
                  <c:v>89</c:v>
                </c:pt>
                <c:pt idx="4">
                  <c:v>0</c:v>
                </c:pt>
                <c:pt idx="5">
                  <c:v>50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48-4658-9475-E5D85D44D0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조치요청/재조치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13</c:v>
                </c:pt>
                <c:pt idx="4">
                  <c:v>10</c:v>
                </c:pt>
                <c:pt idx="5">
                  <c:v>6</c:v>
                </c:pt>
                <c:pt idx="6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748-4658-9475-E5D85D44D0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5016987130344321"/>
          <c:y val="0.44054120427928967"/>
          <c:w val="0.31225412087112292"/>
          <c:h val="7.7002655369833153E-2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 단계 결함율 비교 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</a:t>
            </a: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 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vs 2</a:t>
            </a: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공사테스트(%)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B3A6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모바일
(WES)</c:v>
                </c:pt>
                <c:pt idx="4">
                  <c:v>운항계획
(FP)</c:v>
                </c:pt>
                <c:pt idx="5">
                  <c:v>자원배정
(RS)</c:v>
                </c:pt>
                <c:pt idx="6">
                  <c:v>항공보안
(FS)</c:v>
                </c:pt>
                <c:pt idx="7">
                  <c:v>공통관리
(AOMS-CA)</c:v>
                </c:pt>
                <c:pt idx="8">
                  <c:v>예측관리
(PM)</c:v>
                </c:pt>
                <c:pt idx="9">
                  <c:v>자원배정
차트(RC)</c:v>
                </c:pt>
                <c:pt idx="10">
                  <c:v>A-CDM
(CM)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61.1</c:v>
                </c:pt>
                <c:pt idx="1">
                  <c:v>0</c:v>
                </c:pt>
                <c:pt idx="2">
                  <c:v>80</c:v>
                </c:pt>
                <c:pt idx="3">
                  <c:v>0</c:v>
                </c:pt>
                <c:pt idx="4">
                  <c:v>67.5</c:v>
                </c:pt>
                <c:pt idx="5">
                  <c:v>53</c:v>
                </c:pt>
                <c:pt idx="6">
                  <c:v>95.7</c:v>
                </c:pt>
                <c:pt idx="7">
                  <c:v>124.6</c:v>
                </c:pt>
                <c:pt idx="8">
                  <c:v>75.599999999999994</c:v>
                </c:pt>
                <c:pt idx="9">
                  <c:v>60.9</c:v>
                </c:pt>
                <c:pt idx="10">
                  <c:v>9.8000000000000007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88-4553-B36D-E72A78339E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2차 공사테스트(%)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B3A6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모바일
(WES)</c:v>
                </c:pt>
                <c:pt idx="4">
                  <c:v>운항계획
(FP)</c:v>
                </c:pt>
                <c:pt idx="5">
                  <c:v>자원배정
(RS)</c:v>
                </c:pt>
                <c:pt idx="6">
                  <c:v>항공보안
(FS)</c:v>
                </c:pt>
                <c:pt idx="7">
                  <c:v>공통관리
(AOMS-CA)</c:v>
                </c:pt>
                <c:pt idx="8">
                  <c:v>예측관리
(PM)</c:v>
                </c:pt>
                <c:pt idx="9">
                  <c:v>자원배정
차트(RC)</c:v>
                </c:pt>
                <c:pt idx="10">
                  <c:v>A-CDM
(CM)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33.9</c:v>
                </c:pt>
                <c:pt idx="1">
                  <c:v>17.2</c:v>
                </c:pt>
                <c:pt idx="2">
                  <c:v>42.6</c:v>
                </c:pt>
                <c:pt idx="3">
                  <c:v>8.4</c:v>
                </c:pt>
                <c:pt idx="4">
                  <c:v>24.8</c:v>
                </c:pt>
                <c:pt idx="5">
                  <c:v>22.3</c:v>
                </c:pt>
                <c:pt idx="6">
                  <c:v>70.599999999999994</c:v>
                </c:pt>
                <c:pt idx="7">
                  <c:v>49.4</c:v>
                </c:pt>
                <c:pt idx="8">
                  <c:v>12.5</c:v>
                </c:pt>
                <c:pt idx="9">
                  <c:v>67.599999999999994</c:v>
                </c:pt>
                <c:pt idx="10">
                  <c:v>17.7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188-4553-B36D-E72A78339E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개선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변경율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— 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단계 비교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공사(%)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43.9</c:v>
                </c:pt>
                <c:pt idx="1">
                  <c:v>0</c:v>
                </c:pt>
                <c:pt idx="2">
                  <c:v>36.9</c:v>
                </c:pt>
                <c:pt idx="3">
                  <c:v>48.8</c:v>
                </c:pt>
                <c:pt idx="4">
                  <c:v>56</c:v>
                </c:pt>
                <c:pt idx="5">
                  <c:v>62.3</c:v>
                </c:pt>
                <c:pt idx="6">
                  <c:v>39.4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8A-4711-A3C5-BDDA2A31FE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1차 현업(%)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39.5</c:v>
                </c:pt>
                <c:pt idx="1">
                  <c:v>21.1</c:v>
                </c:pt>
                <c:pt idx="2">
                  <c:v>39.1</c:v>
                </c:pt>
                <c:pt idx="3">
                  <c:v>22.5</c:v>
                </c:pt>
                <c:pt idx="4">
                  <c:v>14</c:v>
                </c:pt>
                <c:pt idx="5">
                  <c:v>36.1</c:v>
                </c:pt>
                <c:pt idx="6">
                  <c:v>43.9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8A-4711-A3C5-BDDA2A31FE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2차 공사(%)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10.1</c:v>
                </c:pt>
                <c:pt idx="1">
                  <c:v>19.5</c:v>
                </c:pt>
                <c:pt idx="2">
                  <c:v>42.6</c:v>
                </c:pt>
                <c:pt idx="3">
                  <c:v>22.2</c:v>
                </c:pt>
                <c:pt idx="4">
                  <c:v>25.5</c:v>
                </c:pt>
                <c:pt idx="5">
                  <c:v>49.4</c:v>
                </c:pt>
                <c:pt idx="6">
                  <c:v>21.5</c:v>
                </c:pt>
                <c:pt idx="7">
                  <c:v>10.8</c:v>
                </c:pt>
                <c:pt idx="8">
                  <c:v>26.7</c:v>
                </c:pt>
                <c:pt idx="9">
                  <c:v>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48A-4711-A3C5-BDDA2A31FE7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2차 현업(%)</c:v>
                </c:pt>
              </c:strCache>
            </c:strRef>
          </c:tx>
          <c:spPr>
            <a:solidFill>
              <a:srgbClr val="BAE6FD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4.8</c:v>
                </c:pt>
                <c:pt idx="1">
                  <c:v>22.4</c:v>
                </c:pt>
                <c:pt idx="2">
                  <c:v>3.2</c:v>
                </c:pt>
                <c:pt idx="3">
                  <c:v>7</c:v>
                </c:pt>
                <c:pt idx="4">
                  <c:v>2</c:v>
                </c:pt>
                <c:pt idx="5">
                  <c:v>5.9</c:v>
                </c:pt>
                <c:pt idx="6">
                  <c:v>18.5</c:v>
                </c:pt>
                <c:pt idx="7">
                  <c:v>5.6</c:v>
                </c:pt>
                <c:pt idx="8">
                  <c:v>18.5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48A-4711-A3C5-BDDA2A31FE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1082730352191417"/>
          <c:y val="0.85530509344226713"/>
          <c:w val="0.58835220087131856"/>
          <c:h val="7.6816878153388723E-2"/>
        </c:manualLayout>
      </c:layout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실질 결함율(%)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en-US" altLang="ko-KR"/>
                      <a:t>221</a:t>
                    </a:r>
                    <a:endParaRPr lang="en-US" altLang="ko-KR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92A4-41F5-A0A5-C25FA05EA51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162</c:v>
                </c:pt>
                <c:pt idx="1">
                  <c:v>256</c:v>
                </c:pt>
                <c:pt idx="2">
                  <c:v>233</c:v>
                </c:pt>
                <c:pt idx="3">
                  <c:v>185</c:v>
                </c:pt>
                <c:pt idx="4">
                  <c:v>87</c:v>
                </c:pt>
                <c:pt idx="5">
                  <c:v>149</c:v>
                </c:pt>
                <c:pt idx="6">
                  <c:v>195</c:v>
                </c:pt>
                <c:pt idx="7">
                  <c:v>105</c:v>
                </c:pt>
                <c:pt idx="8">
                  <c:v>124</c:v>
                </c:pt>
                <c:pt idx="9">
                  <c:v>103</c:v>
                </c:pt>
                <c:pt idx="10">
                  <c:v>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B1-445A-975B-8E9C2FC389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해소율(%)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46</c:v>
                </c:pt>
                <c:pt idx="1">
                  <c:v>41</c:v>
                </c:pt>
                <c:pt idx="2">
                  <c:v>55</c:v>
                </c:pt>
                <c:pt idx="3">
                  <c:v>56</c:v>
                </c:pt>
                <c:pt idx="4">
                  <c:v>65</c:v>
                </c:pt>
                <c:pt idx="5">
                  <c:v>62</c:v>
                </c:pt>
                <c:pt idx="6">
                  <c:v>52</c:v>
                </c:pt>
                <c:pt idx="7">
                  <c:v>70</c:v>
                </c:pt>
                <c:pt idx="8">
                  <c:v>51</c:v>
                </c:pt>
                <c:pt idx="9">
                  <c:v>38</c:v>
                </c:pt>
                <c:pt idx="10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97-4440-AE69-2ADE4C27B8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②가중지수(×10)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28</c:v>
                </c:pt>
                <c:pt idx="1">
                  <c:v>41</c:v>
                </c:pt>
                <c:pt idx="2">
                  <c:v>25</c:v>
                </c:pt>
                <c:pt idx="3">
                  <c:v>26</c:v>
                </c:pt>
                <c:pt idx="4">
                  <c:v>32</c:v>
                </c:pt>
                <c:pt idx="5">
                  <c:v>31</c:v>
                </c:pt>
                <c:pt idx="6">
                  <c:v>27</c:v>
                </c:pt>
                <c:pt idx="7">
                  <c:v>15</c:v>
                </c:pt>
                <c:pt idx="8">
                  <c:v>24</c:v>
                </c:pt>
                <c:pt idx="9">
                  <c:v>18</c:v>
                </c:pt>
                <c:pt idx="1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78-4B04-8FD8-064FCE1A46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④기능집중도(%)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</c:v>
                </c:pt>
                <c:pt idx="1">
                  <c:v>74</c:v>
                </c:pt>
                <c:pt idx="2">
                  <c:v>39</c:v>
                </c:pt>
                <c:pt idx="3">
                  <c:v>32</c:v>
                </c:pt>
                <c:pt idx="4">
                  <c:v>73</c:v>
                </c:pt>
                <c:pt idx="5">
                  <c:v>74</c:v>
                </c:pt>
                <c:pt idx="6">
                  <c:v>33</c:v>
                </c:pt>
                <c:pt idx="7">
                  <c:v>15</c:v>
                </c:pt>
                <c:pt idx="8">
                  <c:v>4</c:v>
                </c:pt>
                <c:pt idx="9">
                  <c:v>9</c:v>
                </c:pt>
                <c:pt idx="1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78-4B04-8FD8-064FCE1A46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⑤미결위험도(%)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14</c:v>
                </c:pt>
                <c:pt idx="1">
                  <c:v>11</c:v>
                </c:pt>
                <c:pt idx="2">
                  <c:v>8</c:v>
                </c:pt>
                <c:pt idx="3">
                  <c:v>9</c:v>
                </c:pt>
                <c:pt idx="4">
                  <c:v>8</c:v>
                </c:pt>
                <c:pt idx="5">
                  <c:v>12</c:v>
                </c:pt>
                <c:pt idx="6">
                  <c:v>12</c:v>
                </c:pt>
                <c:pt idx="7">
                  <c:v>5</c:v>
                </c:pt>
                <c:pt idx="8">
                  <c:v>13</c:v>
                </c:pt>
                <c:pt idx="9">
                  <c:v>53</c:v>
                </c:pt>
                <c:pt idx="10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78-4B04-8FD8-064FCE1A4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결함 건수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분석대상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4,203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layout>
        <c:manualLayout>
          <c:xMode val="edge"/>
          <c:yMode val="edge"/>
          <c:x val="0.26383474117392247"/>
          <c:y val="0.90619307832422591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6883023028554178"/>
          <c:y val="5.0184300732900077E-3"/>
          <c:w val="0.78293902498298829"/>
          <c:h val="0.75160590277777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3D8-4374-96C5-FA93A6812679}"/>
              </c:ext>
            </c:extLst>
          </c:dPt>
          <c:dPt>
            <c:idx val="1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D8-4374-96C5-FA93A6812679}"/>
              </c:ext>
            </c:extLst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3D8-4374-96C5-FA93A6812679}"/>
              </c:ext>
            </c:extLst>
          </c:dPt>
          <c:dPt>
            <c:idx val="3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3D8-4374-96C5-FA93A6812679}"/>
              </c:ext>
            </c:extLst>
          </c:dPt>
          <c:dPt>
            <c:idx val="4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3D8-4374-96C5-FA93A681267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감리 테스트</c:v>
                </c:pt>
                <c:pt idx="1">
                  <c:v>현업 테스트</c:v>
                </c:pt>
                <c:pt idx="2">
                  <c:v>공사 테스트</c:v>
                </c:pt>
                <c:pt idx="3">
                  <c:v>3자 테스트</c:v>
                </c:pt>
                <c:pt idx="4">
                  <c:v>개발자·PL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435</c:v>
                </c:pt>
                <c:pt idx="1">
                  <c:v>671</c:v>
                </c:pt>
                <c:pt idx="2">
                  <c:v>2007</c:v>
                </c:pt>
                <c:pt idx="3">
                  <c:v>882</c:v>
                </c:pt>
                <c:pt idx="4">
                  <c:v>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3D8-4374-96C5-FA93A68126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테스트 단계별 결함 누적 분포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(13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3자테스트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168</c:v>
                </c:pt>
                <c:pt idx="1">
                  <c:v>15</c:v>
                </c:pt>
                <c:pt idx="2">
                  <c:v>56</c:v>
                </c:pt>
                <c:pt idx="3">
                  <c:v>103</c:v>
                </c:pt>
                <c:pt idx="4">
                  <c:v>50</c:v>
                </c:pt>
                <c:pt idx="5">
                  <c:v>66</c:v>
                </c:pt>
                <c:pt idx="6">
                  <c:v>68</c:v>
                </c:pt>
                <c:pt idx="7">
                  <c:v>49</c:v>
                </c:pt>
                <c:pt idx="8">
                  <c:v>75</c:v>
                </c:pt>
                <c:pt idx="9">
                  <c:v>60</c:v>
                </c:pt>
                <c:pt idx="10">
                  <c:v>45</c:v>
                </c:pt>
                <c:pt idx="11">
                  <c:v>17</c:v>
                </c:pt>
                <c:pt idx="12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14-49D6-BB3A-D8B70642A55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공사테스트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115</c:v>
                </c:pt>
                <c:pt idx="1">
                  <c:v>7</c:v>
                </c:pt>
                <c:pt idx="2">
                  <c:v>30</c:v>
                </c:pt>
                <c:pt idx="3">
                  <c:v>18</c:v>
                </c:pt>
                <c:pt idx="4">
                  <c:v>16</c:v>
                </c:pt>
                <c:pt idx="5">
                  <c:v>36</c:v>
                </c:pt>
                <c:pt idx="6">
                  <c:v>20</c:v>
                </c:pt>
                <c:pt idx="7">
                  <c:v>16</c:v>
                </c:pt>
                <c:pt idx="8">
                  <c:v>9</c:v>
                </c:pt>
                <c:pt idx="9">
                  <c:v>38</c:v>
                </c:pt>
                <c:pt idx="10">
                  <c:v>49</c:v>
                </c:pt>
                <c:pt idx="11">
                  <c:v>17</c:v>
                </c:pt>
                <c:pt idx="12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14-49D6-BB3A-D8B70642A55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현업테스트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248</c:v>
                </c:pt>
                <c:pt idx="1">
                  <c:v>144</c:v>
                </c:pt>
                <c:pt idx="2">
                  <c:v>185</c:v>
                </c:pt>
                <c:pt idx="3">
                  <c:v>131</c:v>
                </c:pt>
                <c:pt idx="4">
                  <c:v>189</c:v>
                </c:pt>
                <c:pt idx="5">
                  <c:v>101</c:v>
                </c:pt>
                <c:pt idx="6">
                  <c:v>223</c:v>
                </c:pt>
                <c:pt idx="7">
                  <c:v>193</c:v>
                </c:pt>
                <c:pt idx="8">
                  <c:v>139</c:v>
                </c:pt>
                <c:pt idx="9">
                  <c:v>93</c:v>
                </c:pt>
                <c:pt idx="10">
                  <c:v>106</c:v>
                </c:pt>
                <c:pt idx="11">
                  <c:v>87</c:v>
                </c:pt>
                <c:pt idx="1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D14-49D6-BB3A-D8B70642A55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감리테스트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88</c:v>
                </c:pt>
                <c:pt idx="1">
                  <c:v>99</c:v>
                </c:pt>
                <c:pt idx="2">
                  <c:v>68</c:v>
                </c:pt>
                <c:pt idx="3">
                  <c:v>60</c:v>
                </c:pt>
                <c:pt idx="4">
                  <c:v>50</c:v>
                </c:pt>
                <c:pt idx="5">
                  <c:v>89</c:v>
                </c:pt>
                <c:pt idx="6">
                  <c:v>18</c:v>
                </c:pt>
                <c:pt idx="7">
                  <c:v>42</c:v>
                </c:pt>
                <c:pt idx="8">
                  <c:v>58</c:v>
                </c:pt>
                <c:pt idx="9">
                  <c:v>17</c:v>
                </c:pt>
                <c:pt idx="10">
                  <c:v>0</c:v>
                </c:pt>
                <c:pt idx="11">
                  <c:v>21</c:v>
                </c:pt>
                <c:pt idx="12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14-49D6-BB3A-D8B70642A55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PL등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57</c:v>
                </c:pt>
                <c:pt idx="1">
                  <c:v>40</c:v>
                </c:pt>
                <c:pt idx="2">
                  <c:v>47</c:v>
                </c:pt>
                <c:pt idx="3">
                  <c:v>35</c:v>
                </c:pt>
                <c:pt idx="4">
                  <c:v>50</c:v>
                </c:pt>
                <c:pt idx="5">
                  <c:v>33</c:v>
                </c:pt>
                <c:pt idx="6">
                  <c:v>17</c:v>
                </c:pt>
                <c:pt idx="7">
                  <c:v>34</c:v>
                </c:pt>
                <c:pt idx="8">
                  <c:v>42</c:v>
                </c:pt>
                <c:pt idx="9">
                  <c:v>38</c:v>
                </c:pt>
                <c:pt idx="10">
                  <c:v>1</c:v>
                </c:pt>
                <c:pt idx="11">
                  <c:v>2</c:v>
                </c:pt>
                <c:pt idx="12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14-49D6-BB3A-D8B70642A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단계별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FB9-4CE8-9497-A65E4839591C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FB9-4CE8-9497-A65E4839591C}"/>
              </c:ext>
            </c:extLst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B9-4CE8-9497-A65E4839591C}"/>
              </c:ext>
            </c:extLst>
          </c:dPt>
          <c:dPt>
            <c:idx val="3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B9-4CE8-9497-A65E4839591C}"/>
              </c:ext>
            </c:extLst>
          </c:dPt>
          <c:dPt>
            <c:idx val="4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B9-4CE8-9497-A65E4839591C}"/>
              </c:ext>
            </c:extLst>
          </c:dPt>
          <c:cat>
            <c:strRef>
              <c:f>Sheet1!$A$2:$A$6</c:f>
              <c:strCache>
                <c:ptCount val="5"/>
                <c:pt idx="0">
                  <c:v>PL(4.8%)</c:v>
                </c:pt>
                <c:pt idx="1">
                  <c:v>3자(24.0%)</c:v>
                </c:pt>
                <c:pt idx="2">
                  <c:v>공사(46.8%)</c:v>
                </c:pt>
                <c:pt idx="3">
                  <c:v>현업(16.5%)</c:v>
                </c:pt>
                <c:pt idx="4">
                  <c:v>감리(7.9%)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1008</c:v>
                </c:pt>
                <c:pt idx="2">
                  <c:v>1969</c:v>
                </c:pt>
                <c:pt idx="3">
                  <c:v>694</c:v>
                </c:pt>
                <c:pt idx="4">
                  <c:v>332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FB9-4CE8-9497-A65E48395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유형별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4C5-47FE-88BF-00850DA679F7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4C5-47FE-88BF-00850DA679F7}"/>
              </c:ext>
            </c:extLst>
          </c:dPt>
          <c:dPt>
            <c:idx val="2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C5-47FE-88BF-00850DA679F7}"/>
              </c:ext>
            </c:extLst>
          </c:dPt>
          <c:dPt>
            <c:idx val="3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C5-47FE-88BF-00850DA679F7}"/>
              </c:ext>
            </c:extLst>
          </c:dPt>
          <c:cat>
            <c:strRef>
              <c:f>Sheet1!$A$2:$A$5</c:f>
              <c:strCache>
                <c:ptCount val="4"/>
                <c:pt idx="0">
                  <c:v>기능(61.8%)</c:v>
                </c:pt>
                <c:pt idx="1">
                  <c:v>UI(19.3%)</c:v>
                </c:pt>
                <c:pt idx="2">
                  <c:v>데이터(8%)</c:v>
                </c:pt>
                <c:pt idx="3">
                  <c:v>기타(10.9%)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2685</c:v>
                </c:pt>
                <c:pt idx="1">
                  <c:v>859</c:v>
                </c:pt>
                <c:pt idx="2">
                  <c:v>376</c:v>
                </c:pt>
                <c:pt idx="3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4C5-47FE-88BF-00850DA67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미결 결함 유형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확인대기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330</c:v>
                </c:pt>
                <c:pt idx="1">
                  <c:v>103</c:v>
                </c:pt>
                <c:pt idx="2">
                  <c:v>123</c:v>
                </c:pt>
                <c:pt idx="3">
                  <c:v>57</c:v>
                </c:pt>
                <c:pt idx="4">
                  <c:v>112</c:v>
                </c:pt>
                <c:pt idx="5">
                  <c:v>61</c:v>
                </c:pt>
                <c:pt idx="6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48-4658-9475-E5D85D44D0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결함검토요청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53</c:v>
                </c:pt>
                <c:pt idx="1">
                  <c:v>22</c:v>
                </c:pt>
                <c:pt idx="2">
                  <c:v>28</c:v>
                </c:pt>
                <c:pt idx="3">
                  <c:v>89</c:v>
                </c:pt>
                <c:pt idx="4">
                  <c:v>0</c:v>
                </c:pt>
                <c:pt idx="5">
                  <c:v>50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48-4658-9475-E5D85D44D0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조치요청/재조치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13</c:v>
                </c:pt>
                <c:pt idx="4">
                  <c:v>10</c:v>
                </c:pt>
                <c:pt idx="5">
                  <c:v>6</c:v>
                </c:pt>
                <c:pt idx="6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748-4658-9475-E5D85D44D0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929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6B41CC7-FE31-4B6D-A108-F4AA61656A6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19048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4822-14F3-8CE6-30D4-531F33AC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47863-AF5A-0C57-7D10-CFDF69C2C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964BC-3DEF-445F-10C1-AF4D356F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63E2E-301A-6679-9967-6FBB6B7FD2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859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33E0B-3FD0-D330-2543-6C49E7787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DA8BC-C519-77A9-383C-901AD74A9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7F534-0B18-CCA8-612A-B3A6E26D5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D14DE-70C6-E633-92BE-1F076FEFE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577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7BBB6-9C57-12D4-1FA0-12A176D5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8857A-96FF-72BB-FBD9-0E6F3D10C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61D28-6430-B435-8C38-7AC8AAA27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C9704-FA12-5F1C-9577-F3063DBDDE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009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65A37-D3EB-C63D-FD30-16F29B40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A5C28-15EF-1DAE-4253-9F497668E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53B8C-557C-4C94-20D6-23CD46BC1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03280-7481-F667-6772-F2929E738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202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4095-3ABB-540D-33E8-0485152A0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8625A9-F9B3-0B5D-7365-3758BEE3D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F3EF1-B563-3FA1-2752-91B60472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CD009-58F2-FCEB-B766-41428FBDA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00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D5A2B-97D0-DA53-1598-10F8FCAB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162020-EFFA-1ADC-FF98-8404A3354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B1891-034F-287F-4811-1A65E954E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C068F-A3A5-1D32-15D9-3E03C04360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6994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8DD16-160F-FDE8-C20E-DA590C70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F417-3E3A-91C4-CA7B-3FDA182B7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AF4C0-7495-EF14-125D-BD8C9AF91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2EE54-C9C6-7EAF-F7D8-C0A0EFC40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25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7E5D1-749E-D7DD-8551-2B70BDE13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BBE3C-C0E6-C7D9-4DA7-E176394F8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4C459-46CC-300A-B986-3E6D64FA4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DF340-6CD1-D824-0C0F-CB453D9F70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843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5A37-00C0-88A2-FB30-6A2AEB04C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F779-B225-440F-20EE-82E895C14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8562A-9550-A539-C11D-B320B9D10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0EBAA-B7C8-B78B-05D6-BAC9402E9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63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585E34-5F14-45D3-BBB7-3055EB2B07EB}"/>
              </a:ext>
            </a:extLst>
          </p:cNvPr>
          <p:cNvSpPr/>
          <p:nvPr userDrawn="1"/>
        </p:nvSpPr>
        <p:spPr>
          <a:xfrm>
            <a:off x="6426201" y="69850"/>
            <a:ext cx="1079500" cy="304800"/>
          </a:xfrm>
          <a:prstGeom prst="roundRect">
            <a:avLst/>
          </a:prstGeom>
          <a:solidFill>
            <a:srgbClr val="FF000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b="1" dirty="0">
              <a:ln w="76200">
                <a:solidFill>
                  <a:schemeClr val="tx1"/>
                </a:solidFill>
              </a:ln>
              <a:solidFill>
                <a:schemeClr val="bg1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7929F4-DC14-4DDE-A4E7-07CE78C35A4D}"/>
              </a:ext>
            </a:extLst>
          </p:cNvPr>
          <p:cNvSpPr txBox="1"/>
          <p:nvPr userDrawn="1"/>
        </p:nvSpPr>
        <p:spPr>
          <a:xfrm>
            <a:off x="6533740" y="97651"/>
            <a:ext cx="9909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50" b="1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내부 내포용</a:t>
            </a:r>
          </a:p>
        </p:txBody>
      </p:sp>
    </p:spTree>
    <p:extLst>
      <p:ext uri="{BB962C8B-B14F-4D97-AF65-F5344CB8AC3E}">
        <p14:creationId xmlns:p14="http://schemas.microsoft.com/office/powerpoint/2010/main" val="2515528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48709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9496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C49A2-89AB-3AF4-6017-E97D7D489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107334-5EF3-2E53-5043-FCC08A1E9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7A0537-D118-1ED1-ADFF-DBAF4E091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4B3C82-874E-CB4C-809D-3E2CA922F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451066-0326-014D-2205-54F344052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00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5D032-7A07-647A-3B92-88613BD8D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B1F000-F5A4-C4D7-EE31-358A9F7EB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530E01-FA24-C92A-D296-F46D74196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0ECDB-B608-707F-95AF-3CB3EB349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7DA98D-E134-ED48-B99C-5FC1E8B60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5325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9D2AD-F860-0FF9-30E2-2EA0E000D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24C2AC-962D-73DC-D93B-BF064D73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2D01-7073-7E0D-CEF3-DB796036C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69B9D9-5D68-E724-4D6C-24E39872B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BD96B3-3C27-3DA4-728A-C37BD380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374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03D35-9609-9935-A6A6-2AD5FDF1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2EE504-18BB-48B4-7AEE-02FF5F938B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5050DD-8AD0-2BFB-0DAD-F2312014F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87218D-6676-5296-1F35-D96365D6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90C4F5-C841-750A-B32E-53BA3AA44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B617A2-5217-34F3-C0CA-115998F3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03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B1B44-4C39-6248-7D3E-AC07B934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726762-6320-05C6-1B67-7CDA77B4F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4AD234-759C-47D5-B8AC-21225C151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DF7149E-FA33-2DC9-DA2E-B0DF0A30E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1077DD-E79A-33E1-0996-F07926AE7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A739A27-DB17-40EB-7827-AA4816AC7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5AE3CE-A607-8115-2FF3-EBF32AA03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70770B-A925-8FB8-6354-9896E7873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65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6F6F5-43C5-6103-F74E-5995DB1C4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5A46F2D-8C9B-FA09-98FC-C03D36F9B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4A007-5A87-A756-BA4F-FE5F08812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FC98A5-0840-E638-888E-DB9DEDEA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755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CDEAEE2-968B-042C-DE32-F204DE6BB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D14CE0-F534-F001-1C91-3AA23C4E0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45CD8-A52E-71DB-1EDB-C0316244A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77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E2940-54C8-0046-C8EB-8956D3651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A66D2-4987-9EDC-47AB-BFA3D2A71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0D20F7-D1B9-D3F2-3C50-3F24613C1C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0DB197-2811-0A15-0A43-946730FFE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0C13E8C-F3DD-D34E-77B0-792A7712E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E03CBE-B0F0-2FCB-63ED-040FBFA4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34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2023E-CF80-E6E3-180C-8C3DAFA61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CAC1149-F347-FA2E-2AAC-107840C9B0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20880F-EAF0-0143-75F4-6DA7CE39C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D7F6E2-C3F9-B025-6A28-D8999F05D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D4E2D6-7FA8-6D78-713E-A491B1DD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5F0E47-32E4-9830-9A70-8CAE91B09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2402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3E322-E4A1-DD62-614C-16E310031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5A8936-D222-CADA-9273-6395A410B1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D01780-3F12-9C67-A19F-24788BC3A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C99835-CBB3-A496-FBFF-30CC2874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19CAAA-844D-FDD6-5D67-EEC2833C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220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13B793B-0695-5F70-0B3D-8B65B905A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194C06-C0BF-891C-0C97-72D30D886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D1136D-038D-4718-8CF5-F333FD1F2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1648A6-DAB4-2733-8B24-728047563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773CDB-4A00-C1FB-AFEF-EE868101F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858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7140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한쪽 모서리 20">
            <a:extLst>
              <a:ext uri="{FF2B5EF4-FFF2-40B4-BE49-F238E27FC236}">
                <a16:creationId xmlns:a16="http://schemas.microsoft.com/office/drawing/2014/main" id="{ECF79BE5-BD41-D2A8-271E-758B9CCD8DAE}"/>
              </a:ext>
            </a:extLst>
          </p:cNvPr>
          <p:cNvSpPr/>
          <p:nvPr userDrawn="1"/>
        </p:nvSpPr>
        <p:spPr>
          <a:xfrm flipV="1">
            <a:off x="0" y="0"/>
            <a:ext cx="6765178" cy="438150"/>
          </a:xfrm>
          <a:prstGeom prst="round1Rect">
            <a:avLst>
              <a:gd name="adj" fmla="val 0"/>
            </a:avLst>
          </a:prstGeom>
          <a:gradFill flip="none" rotWithShape="1">
            <a:gsLst>
              <a:gs pos="100000">
                <a:srgbClr val="DEEBF9"/>
              </a:gs>
              <a:gs pos="9000">
                <a:srgbClr val="B0CAE1"/>
              </a:gs>
              <a:gs pos="100000">
                <a:srgbClr val="B0CAE1">
                  <a:tint val="44500"/>
                  <a:satMod val="160000"/>
                </a:srgbClr>
              </a:gs>
              <a:gs pos="100000">
                <a:srgbClr val="B0CAE1">
                  <a:tint val="23500"/>
                  <a:satMod val="160000"/>
                </a:srgbClr>
              </a:gs>
            </a:gsLst>
            <a:lin ang="15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350" noProof="0" dirty="0">
              <a:solidFill>
                <a:schemeClr val="lt1"/>
              </a:solidFill>
            </a:endParaRPr>
          </a:p>
        </p:txBody>
      </p:sp>
      <p:sp>
        <p:nvSpPr>
          <p:cNvPr id="4" name="Rectangle 59">
            <a:extLst>
              <a:ext uri="{FF2B5EF4-FFF2-40B4-BE49-F238E27FC236}">
                <a16:creationId xmlns:a16="http://schemas.microsoft.com/office/drawing/2014/main" id="{77B1A52D-67D2-512A-F1CD-8B280133ADA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79827" y="4940787"/>
            <a:ext cx="184346" cy="923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AFCDE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13500000" algn="ctr" rotWithShape="0">
                    <a:srgbClr val="697B8F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fld id="{B9BD96D4-FBDC-4909-BFD7-96760582A1EC}" type="slidenum">
              <a:rPr kumimoji="1" lang="en-US" altLang="ko-KR" sz="600" smtClean="0">
                <a:ln>
                  <a:solidFill>
                    <a:srgbClr val="00609F">
                      <a:alpha val="0"/>
                    </a:srgbClr>
                  </a:solidFill>
                </a:ln>
                <a:solidFill>
                  <a:srgbClr val="5F5F5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pPr algn="ctr"/>
              <a:t>‹#›</a:t>
            </a:fld>
            <a:endParaRPr kumimoji="1" lang="en-US" altLang="ko-KR" sz="600" dirty="0">
              <a:ln>
                <a:solidFill>
                  <a:srgbClr val="00609F">
                    <a:alpha val="0"/>
                  </a:srgbClr>
                </a:solidFill>
              </a:ln>
              <a:solidFill>
                <a:srgbClr val="5F5F5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9115F56-5BC3-861C-344B-286546EA85EA}"/>
              </a:ext>
            </a:extLst>
          </p:cNvPr>
          <p:cNvGrpSpPr/>
          <p:nvPr userDrawn="1"/>
        </p:nvGrpSpPr>
        <p:grpSpPr>
          <a:xfrm>
            <a:off x="351224" y="4928568"/>
            <a:ext cx="2320307" cy="116770"/>
            <a:chOff x="299815" y="6545448"/>
            <a:chExt cx="2513666" cy="155693"/>
          </a:xfrm>
        </p:grpSpPr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1A4676B3-4BA9-E359-B49F-A03AFC7065DA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323489" y="6585448"/>
              <a:ext cx="1489992" cy="107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 anchor="ctr" anchorCtr="0">
              <a:spAutoFit/>
            </a:bodyPr>
            <a:lstStyle/>
            <a:p>
              <a:pPr defTabSz="718106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ko-KR" sz="525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Segoe UI" panose="020B0502040204020203" pitchFamily="34" charset="0"/>
                </a:rPr>
                <a:t>| </a:t>
              </a:r>
              <a:r>
                <a:rPr kumimoji="1" lang="ko-KR" altLang="en-US" sz="525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Segoe UI" panose="020B0502040204020203" pitchFamily="34" charset="0"/>
                </a:rPr>
                <a:t>인천국제공항　통합정보시스템 고도화 구축 사업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6D4A54F2-3B65-0FFC-4B3D-42D54653A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 bwMode="gray">
            <a:xfrm>
              <a:off x="299815" y="6545448"/>
              <a:ext cx="955164" cy="155693"/>
            </a:xfrm>
            <a:prstGeom prst="rect">
              <a:avLst/>
            </a:prstGeom>
          </p:spPr>
        </p:pic>
      </p:grp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764" y="4883626"/>
            <a:ext cx="1088155" cy="182203"/>
          </a:xfrm>
          <a:prstGeom prst="rect">
            <a:avLst/>
          </a:prstGeom>
        </p:spPr>
      </p:pic>
      <p:grpSp>
        <p:nvGrpSpPr>
          <p:cNvPr id="2" name="그룹 1"/>
          <p:cNvGrpSpPr/>
          <p:nvPr userDrawn="1"/>
        </p:nvGrpSpPr>
        <p:grpSpPr>
          <a:xfrm>
            <a:off x="8569691" y="58060"/>
            <a:ext cx="312229" cy="332534"/>
            <a:chOff x="11426254" y="77413"/>
            <a:chExt cx="416305" cy="443379"/>
          </a:xfrm>
        </p:grpSpPr>
        <p:cxnSp>
          <p:nvCxnSpPr>
            <p:cNvPr id="19" name="직선 연결선 109">
              <a:extLst>
                <a:ext uri="{FF2B5EF4-FFF2-40B4-BE49-F238E27FC236}">
                  <a16:creationId xmlns:a16="http://schemas.microsoft.com/office/drawing/2014/main" id="{056C6A96-585D-F666-8E00-9B0A66536827}"/>
                </a:ext>
              </a:extLst>
            </p:cNvPr>
            <p:cNvCxnSpPr/>
            <p:nvPr/>
          </p:nvCxnSpPr>
          <p:spPr>
            <a:xfrm>
              <a:off x="11842559" y="77413"/>
              <a:ext cx="0" cy="443379"/>
            </a:xfrm>
            <a:prstGeom prst="line">
              <a:avLst/>
            </a:prstGeom>
            <a:ln w="9525" cap="flat">
              <a:solidFill>
                <a:srgbClr val="9AA3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C935BD-F940-7942-B750-837F8997D518}"/>
                </a:ext>
              </a:extLst>
            </p:cNvPr>
            <p:cNvSpPr/>
            <p:nvPr userDrawn="1"/>
          </p:nvSpPr>
          <p:spPr>
            <a:xfrm>
              <a:off x="116410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9B34389-9A8F-1649-6284-ACFAD5A8DA15}"/>
                </a:ext>
              </a:extLst>
            </p:cNvPr>
            <p:cNvSpPr/>
            <p:nvPr userDrawn="1"/>
          </p:nvSpPr>
          <p:spPr>
            <a:xfrm>
              <a:off x="114262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2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F3E9267-D3B0-F322-8BDD-60A1AFD00E47}"/>
                </a:ext>
              </a:extLst>
            </p:cNvPr>
            <p:cNvSpPr/>
            <p:nvPr userDrawn="1"/>
          </p:nvSpPr>
          <p:spPr>
            <a:xfrm>
              <a:off x="115336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2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</p:grpSp>
      <p:pic>
        <p:nvPicPr>
          <p:cNvPr id="3" name="object 2">
            <a:extLst>
              <a:ext uri="{FF2B5EF4-FFF2-40B4-BE49-F238E27FC236}">
                <a16:creationId xmlns:a16="http://schemas.microsoft.com/office/drawing/2014/main" id="{625D0C14-90BA-B16D-879C-59A685B8CA31}"/>
              </a:ext>
            </a:extLst>
          </p:cNvPr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6312159" y="0"/>
            <a:ext cx="2831841" cy="438151"/>
          </a:xfrm>
          <a:prstGeom prst="rect">
            <a:avLst/>
          </a:prstGeom>
          <a:gradFill>
            <a:gsLst>
              <a:gs pos="18345">
                <a:srgbClr val="B0CAE1">
                  <a:alpha val="1000"/>
                </a:srgbClr>
              </a:gs>
              <a:gs pos="1835">
                <a:srgbClr val="B0CAE1"/>
              </a:gs>
              <a:gs pos="28000">
                <a:srgbClr val="B0CAE1"/>
              </a:gs>
              <a:gs pos="70000">
                <a:srgbClr val="B0CAE1">
                  <a:tint val="44500"/>
                  <a:satMod val="160000"/>
                </a:srgbClr>
              </a:gs>
              <a:gs pos="100000">
                <a:srgbClr val="B0CAE1">
                  <a:tint val="23500"/>
                  <a:satMod val="160000"/>
                </a:srgbClr>
              </a:gs>
            </a:gsLst>
            <a:lin ang="13200000" scaled="0"/>
          </a:gradFill>
        </p:spPr>
      </p:pic>
    </p:spTree>
    <p:extLst>
      <p:ext uri="{BB962C8B-B14F-4D97-AF65-F5344CB8AC3E}">
        <p14:creationId xmlns:p14="http://schemas.microsoft.com/office/powerpoint/2010/main" val="3757342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8">
          <p15:clr>
            <a:srgbClr val="F26B43"/>
          </p15:clr>
        </p15:guide>
        <p15:guide id="2" pos="3120">
          <p15:clr>
            <a:srgbClr val="F26B43"/>
          </p15:clr>
        </p15:guide>
        <p15:guide id="3" pos="240">
          <p15:clr>
            <a:srgbClr val="F26B43"/>
          </p15:clr>
        </p15:guide>
        <p15:guide id="4" pos="6000">
          <p15:clr>
            <a:srgbClr val="F26B43"/>
          </p15:clr>
        </p15:guide>
        <p15:guide id="5" orient="horz" pos="40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BE9FE32-A270-3F9F-DCE2-31015016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D9473-6A1D-473D-9A24-408D630B8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95AA35-ACB5-CE3A-2FBF-470BB43D20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E1FE4C-3907-4147-9113-74616AA0E21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85EB9E-F7B8-DFED-7A27-5ADA8662FF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5D4B89-A64D-649F-A2D7-B51007E62D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674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01AADF5-7B5D-4FC5-24AD-4BFEA5EC92B6}"/>
              </a:ext>
            </a:extLst>
          </p:cNvPr>
          <p:cNvSpPr/>
          <p:nvPr/>
        </p:nvSpPr>
        <p:spPr bwMode="gray">
          <a:xfrm>
            <a:off x="471155" y="1185978"/>
            <a:ext cx="3942438" cy="1249766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514350" fontAlgn="base">
              <a:lnSpc>
                <a:spcPct val="110000"/>
              </a:lnSpc>
              <a:defRPr/>
            </a:pPr>
            <a:r>
              <a:rPr lang="ko-KR" altLang="en-US" sz="21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인천국제공항</a:t>
            </a:r>
          </a:p>
          <a:p>
            <a:pPr defTabSz="514350" fontAlgn="base">
              <a:lnSpc>
                <a:spcPct val="110000"/>
              </a:lnSpc>
              <a:defRPr/>
            </a:pPr>
            <a:r>
              <a:rPr lang="ko-KR" altLang="en-US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통합정보시스템 고도화</a:t>
            </a:r>
            <a:br>
              <a:rPr lang="en-US" altLang="ko-KR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구축사업</a:t>
            </a:r>
            <a:endParaRPr lang="en-US" altLang="ko-KR" sz="2700" spc="-23" dirty="0">
              <a:ln>
                <a:solidFill>
                  <a:srgbClr val="9933FF">
                    <a:alpha val="0"/>
                  </a:srgbClr>
                </a:solidFill>
              </a:ln>
              <a:solidFill>
                <a:srgbClr val="4472C4">
                  <a:lumMod val="75000"/>
                </a:srgb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223B5E8-A9CC-1E60-922D-D50CC07BB63B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71156" y="530277"/>
            <a:ext cx="1442164" cy="23227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C92C1E-EAB5-2D3E-D989-AC05435A2A9A}"/>
              </a:ext>
            </a:extLst>
          </p:cNvPr>
          <p:cNvSpPr/>
          <p:nvPr/>
        </p:nvSpPr>
        <p:spPr bwMode="gray">
          <a:xfrm>
            <a:off x="471155" y="2568544"/>
            <a:ext cx="5481073" cy="756617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514350" fontAlgn="base">
              <a:spcBef>
                <a:spcPts val="450"/>
              </a:spcBef>
              <a:spcAft>
                <a:spcPct val="0"/>
              </a:spcAft>
              <a:defRPr/>
            </a:pPr>
            <a:r>
              <a:rPr lang="ko-KR" altLang="en-US" sz="2250" b="1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</a:t>
            </a:r>
            <a:endParaRPr lang="en-US" altLang="ko-KR" sz="2250" b="1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defTabSz="514350" fontAlgn="base">
              <a:spcBef>
                <a:spcPts val="450"/>
              </a:spcBef>
              <a:spcAft>
                <a:spcPct val="0"/>
              </a:spcAft>
              <a:defRPr/>
            </a:pPr>
            <a:r>
              <a:rPr lang="ko-KR" altLang="en-US" sz="2250" b="1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 분석 보고서</a:t>
            </a:r>
            <a:endParaRPr lang="en-US" altLang="ko-KR" sz="2250" b="1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id="{BEB9A8CF-E251-B8D8-78DD-9C4A2432E97F}"/>
              </a:ext>
            </a:extLst>
          </p:cNvPr>
          <p:cNvSpPr txBox="1"/>
          <p:nvPr/>
        </p:nvSpPr>
        <p:spPr>
          <a:xfrm>
            <a:off x="471155" y="3477431"/>
            <a:ext cx="2774965" cy="429382"/>
          </a:xfrm>
          <a:prstGeom prst="rect">
            <a:avLst/>
          </a:prstGeom>
        </p:spPr>
        <p:txBody>
          <a:bodyPr vert="horz" wrap="square" lIns="0" tIns="7780" rIns="0" bIns="0" rtlCol="0">
            <a:spAutoFit/>
          </a:bodyPr>
          <a:lstStyle/>
          <a:p>
            <a:pPr marL="8645">
              <a:spcBef>
                <a:spcPts val="62"/>
              </a:spcBef>
            </a:pPr>
            <a:r>
              <a:rPr lang="en-US" sz="1328" spc="-41" dirty="0">
                <a:solidFill>
                  <a:srgbClr val="64738B"/>
                </a:solidFill>
                <a:latin typeface="Noto Sans KR"/>
                <a:cs typeface="Noto Sans KR"/>
              </a:rPr>
              <a:t>Unit</a:t>
            </a:r>
            <a:r>
              <a:rPr sz="1328" spc="106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sz="1328" spc="-75" dirty="0">
                <a:solidFill>
                  <a:srgbClr val="64738B"/>
                </a:solidFill>
                <a:latin typeface="Noto Sans KR"/>
                <a:cs typeface="Noto Sans KR"/>
              </a:rPr>
              <a:t>Test</a:t>
            </a:r>
            <a:r>
              <a:rPr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lang="en-US"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</a:p>
          <a:p>
            <a:pPr marL="8645">
              <a:spcBef>
                <a:spcPts val="62"/>
              </a:spcBef>
            </a:pPr>
            <a:r>
              <a:rPr lang="en-US" sz="1328" spc="109" dirty="0">
                <a:solidFill>
                  <a:srgbClr val="64738B"/>
                </a:solidFill>
                <a:latin typeface="Noto Sans KR"/>
                <a:cs typeface="Noto Sans KR"/>
              </a:rPr>
              <a:t>Quantitative Analysis</a:t>
            </a:r>
            <a:r>
              <a:rPr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sz="1328" spc="-48" dirty="0">
                <a:solidFill>
                  <a:srgbClr val="64738B"/>
                </a:solidFill>
                <a:latin typeface="Noto Sans KR"/>
                <a:cs typeface="Noto Sans KR"/>
              </a:rPr>
              <a:t>Report</a:t>
            </a:r>
            <a:endParaRPr sz="1328" dirty="0">
              <a:latin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73908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5660"/>
            <a:ext cx="6400800" cy="419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 종합 분석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 차수(1-1차 ~ 2-3차) 누적</a:t>
            </a:r>
          </a:p>
        </p:txBody>
      </p:sp>
      <p:sp>
        <p:nvSpPr>
          <p:cNvPr id="5" name="Text 3"/>
          <p:cNvSpPr/>
          <p:nvPr/>
        </p:nvSpPr>
        <p:spPr>
          <a:xfrm>
            <a:off x="7200223" y="685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2026.03.26 15:00 </a:t>
            </a:r>
            <a:r>
              <a:rPr lang="ko-KR" alt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기준</a:t>
            </a:r>
            <a:endParaRPr lang="en-US" sz="11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4186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4186" y="1143000"/>
            <a:ext cx="64008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8778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4,648건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08778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</a:t>
            </a: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등록</a:t>
            </a: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8778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2,636 / 개선·변경 1,944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0986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60986" y="1143000"/>
            <a:ext cx="64008" cy="9144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25578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4,203건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425578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 대상 (기각 제외)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25578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 445건 별도 집계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1540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1540" y="1143000"/>
            <a:ext cx="64008" cy="9144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56132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2,613건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56132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시나리오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56132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781건 / 2차 1,832건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44186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4186" y="2240280"/>
            <a:ext cx="64008" cy="9144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8778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17개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08778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08778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공항운영·운항</a:t>
            </a:r>
            <a:r>
              <a:rPr lang="ko-KR" alt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정보</a:t>
            </a: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등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0986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260986" y="2240280"/>
            <a:ext cx="64008" cy="914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25578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10.4%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25578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 결함 비율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5578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438건 미처리 잔존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91540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091540" y="2240280"/>
            <a:ext cx="64008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56132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25.5%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56132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복수단계 반복 결함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256132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667개 시나리오 중복 발생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3876" y="4331227"/>
            <a:ext cx="8245415" cy="4712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▶ 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핵심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구조적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문제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: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공사테스트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49.7%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집중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/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기능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61.8% /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미결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10.4%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잔존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→ 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즉시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개입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없이는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위기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불가피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58" name="Text 37"/>
          <p:cNvSpPr/>
          <p:nvPr/>
        </p:nvSpPr>
        <p:spPr>
          <a:xfrm>
            <a:off x="434788" y="3197647"/>
            <a:ext cx="1732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6단계 </a:t>
            </a:r>
            <a:r>
              <a:rPr lang="ko-KR" alt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</a:t>
            </a: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프로세스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38"/>
          <p:cNvSpPr/>
          <p:nvPr/>
        </p:nvSpPr>
        <p:spPr>
          <a:xfrm>
            <a:off x="434788" y="3510271"/>
            <a:ext cx="1181364" cy="396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개발자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0" name="Shape 40"/>
          <p:cNvSpPr/>
          <p:nvPr/>
        </p:nvSpPr>
        <p:spPr>
          <a:xfrm>
            <a:off x="1625911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Shape 41"/>
          <p:cNvSpPr/>
          <p:nvPr/>
        </p:nvSpPr>
        <p:spPr>
          <a:xfrm>
            <a:off x="1851670" y="3528559"/>
            <a:ext cx="1181364" cy="396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PL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2" name="Shape 43"/>
          <p:cNvSpPr/>
          <p:nvPr/>
        </p:nvSpPr>
        <p:spPr>
          <a:xfrm>
            <a:off x="3042793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Shape 44"/>
          <p:cNvSpPr/>
          <p:nvPr/>
        </p:nvSpPr>
        <p:spPr>
          <a:xfrm>
            <a:off x="3268552" y="3528559"/>
            <a:ext cx="1181364" cy="396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3자 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4" name="Shape 46"/>
          <p:cNvSpPr/>
          <p:nvPr/>
        </p:nvSpPr>
        <p:spPr>
          <a:xfrm>
            <a:off x="4459675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Shape 47"/>
          <p:cNvSpPr/>
          <p:nvPr/>
        </p:nvSpPr>
        <p:spPr>
          <a:xfrm>
            <a:off x="4685434" y="3528559"/>
            <a:ext cx="1181364" cy="3960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★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6" name="Shape 49"/>
          <p:cNvSpPr/>
          <p:nvPr/>
        </p:nvSpPr>
        <p:spPr>
          <a:xfrm>
            <a:off x="5876557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Shape 50"/>
          <p:cNvSpPr/>
          <p:nvPr/>
        </p:nvSpPr>
        <p:spPr>
          <a:xfrm>
            <a:off x="6102316" y="3528559"/>
            <a:ext cx="1181364" cy="3960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현업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8" name="Shape 52"/>
          <p:cNvSpPr/>
          <p:nvPr/>
        </p:nvSpPr>
        <p:spPr>
          <a:xfrm>
            <a:off x="7293439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53"/>
          <p:cNvSpPr/>
          <p:nvPr/>
        </p:nvSpPr>
        <p:spPr>
          <a:xfrm>
            <a:off x="7484559" y="3528559"/>
            <a:ext cx="1181364" cy="396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감리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70" name="Text 55"/>
          <p:cNvSpPr/>
          <p:nvPr/>
        </p:nvSpPr>
        <p:spPr>
          <a:xfrm>
            <a:off x="5575100" y="3955260"/>
            <a:ext cx="3250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 공사테스트: 전체 결함의 49.7% 집중 발생 — 핵심 개입 지점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315200" cy="431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용어 정의 및 심각도 판단 기준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0576" y="772530"/>
            <a:ext cx="406908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50304" y="77253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용어</a:t>
            </a: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정의 및 분석 기준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0576" y="1274342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576" y="1274342"/>
            <a:ext cx="64008" cy="6217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05168" y="1365782"/>
            <a:ext cx="914400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5168" y="136578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11008" y="1338350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중 발견된 기능 오작동, 요구사항 불충족 등 수정이 필요한 항목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40576" y="1978430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0576" y="1978430"/>
            <a:ext cx="64008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5168" y="2069870"/>
            <a:ext cx="9144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5168" y="206987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 / 변경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611008" y="204243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결함이 아닌 요구사항 추가·변경 요청 항목 (결함 건수 산정 시 별도 구분)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0576" y="2682518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0576" y="2682518"/>
            <a:ext cx="64008" cy="621792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5168" y="2773958"/>
            <a:ext cx="914400" cy="21945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5168" y="277395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611008" y="2746526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결과 결함으로 인정되지 않아 기각된 항목 — 원인 분석 제외, 별도 집계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0576" y="3386606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40576" y="3386606"/>
            <a:ext cx="64008" cy="6217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5168" y="3478046"/>
            <a:ext cx="914400" cy="21945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05168" y="347804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611008" y="3450614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해당 단계 결함 건수 ÷ 해당 업무 전체 시나리오 수 × 100 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40576" y="4090694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0576" y="4090694"/>
            <a:ext cx="64008" cy="62179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5168" y="4182134"/>
            <a:ext cx="914400" cy="21945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05168" y="418213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조치상태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611008" y="4154702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 / 확인대기 / 결함검토요청 / 확인요청 / 조치요청 / 재조치요청 (6단계)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00600" y="786384"/>
            <a:ext cx="3875088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910328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판단 기준 및 유의사항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800600" y="1288196"/>
            <a:ext cx="3875088" cy="690234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⚠ 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심각도는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테스터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주관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판단이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개입 </a:t>
            </a:r>
            <a:r>
              <a:rPr kumimoji="0" lang="ko-KR" alt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될수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있습니다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따라서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,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본 보고서에서 심각도는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절대적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기준이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아닌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경향성 파악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참고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지표로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활용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하며  </a:t>
            </a:r>
            <a:endParaRPr kumimoji="0" lang="en-US" altLang="ko-KR" sz="800" i="0" u="none" strike="noStrike" kern="1200" cap="none" spc="0" normalizeH="0" baseline="0" noProof="0" dirty="0">
              <a:ln>
                <a:noFill/>
              </a:ln>
              <a:solidFill>
                <a:srgbClr val="E85D2F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절대적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기준으로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해석하지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않습니다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.</a:t>
            </a:r>
            <a:endParaRPr kumimoji="0" lang="en-US" altLang="ko-KR" sz="8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800600" y="2125287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800600" y="2125287"/>
            <a:ext cx="64008" cy="7863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965192" y="2216727"/>
            <a:ext cx="822960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965192" y="2216727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Critical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037022" y="2216727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●●●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879592" y="2198439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시스템 운영 불가 수준의 심각한 오류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965192" y="2527623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서버 오류, 핵심 기능 전체 장애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800600" y="3012255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800600" y="3012255"/>
            <a:ext cx="64008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965192" y="3103695"/>
            <a:ext cx="822960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965192" y="3103695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Major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037022" y="3103695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●●○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879592" y="3085407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기능 장애 또는 업무 처리에 심각한 영향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965192" y="3414591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오류, 기능 부분 장애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800600" y="3899223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800600" y="3899223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965192" y="3990663"/>
            <a:ext cx="822960" cy="23774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965192" y="399066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Minor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037022" y="3990663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●○○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79592" y="3972375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경미한 오류 또는 UI 개선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965192" y="4301559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처리에 미치는 영향 최소화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차수별 결함 발생 추이 및 조치 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217528751"/>
              </p:ext>
            </p:extLst>
          </p:nvPr>
        </p:nvGraphicFramePr>
        <p:xfrm>
          <a:off x="431800" y="777240"/>
          <a:ext cx="5120640" cy="2543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>
            <p:extLst>
              <p:ext uri="{D42A27DB-BD31-4B8C-83A1-F6EECF244321}">
                <p14:modId xmlns:p14="http://schemas.microsoft.com/office/powerpoint/2010/main" val="1737257698"/>
              </p:ext>
            </p:extLst>
          </p:nvPr>
        </p:nvGraphicFramePr>
        <p:xfrm>
          <a:off x="5440680" y="777240"/>
          <a:ext cx="3383280" cy="2543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555492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48640" y="3555492"/>
            <a:ext cx="50049" cy="32918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5"/>
          <p:cNvSpPr/>
          <p:nvPr/>
        </p:nvSpPr>
        <p:spPr>
          <a:xfrm>
            <a:off x="713232" y="3555492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📈  1-2차 최다 발생: 1,372건(29.5%) — 사업 중반 결함 집중 구간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48640" y="3939540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48640" y="3939540"/>
            <a:ext cx="50049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13232" y="3939540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1,297건 (30.9%)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</a:t>
            </a:r>
            <a:r>
              <a:rPr lang="ko-KR" alt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재수행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시급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— 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재결함 발생 여부 확인 필요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48640" y="4323588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4323588"/>
            <a:ext cx="50049" cy="32918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713232" y="4323588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🔄  2차 구간(2,507건) &gt; 1차 구간(2,141건) — 차수 증가에도 결함 감소 없음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5FF3A3EC-EC35-DE47-F865-41055921A3BC}"/>
              </a:ext>
            </a:extLst>
          </p:cNvPr>
          <p:cNvSpPr/>
          <p:nvPr/>
        </p:nvSpPr>
        <p:spPr>
          <a:xfrm>
            <a:off x="1482635" y="2263644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2.6%</a:t>
            </a:r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D05A308F-0A84-92F3-353A-AC1BED6F8613}"/>
              </a:ext>
            </a:extLst>
          </p:cNvPr>
          <p:cNvSpPr/>
          <p:nvPr/>
        </p:nvSpPr>
        <p:spPr>
          <a:xfrm>
            <a:off x="2318803" y="2171553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8.7%</a:t>
            </a: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9ADA3CB0-0B9C-F828-302F-2BB15764038F}"/>
              </a:ext>
            </a:extLst>
          </p:cNvPr>
          <p:cNvSpPr/>
          <p:nvPr/>
        </p:nvSpPr>
        <p:spPr>
          <a:xfrm>
            <a:off x="3280519" y="2173223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9.9%</a:t>
            </a: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1E479CEF-3802-B92B-79A3-D8B5E1769591}"/>
              </a:ext>
            </a:extLst>
          </p:cNvPr>
          <p:cNvSpPr/>
          <p:nvPr/>
        </p:nvSpPr>
        <p:spPr>
          <a:xfrm>
            <a:off x="4204317" y="2171551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14.8%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7"/>
          <p:cNvSpPr/>
          <p:nvPr/>
        </p:nvSpPr>
        <p:spPr>
          <a:xfrm>
            <a:off x="439085" y="4072688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1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조치 상태 현황 및 결함기각 집계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6" y="775023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0806" y="775023"/>
            <a:ext cx="4783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함 조치 상태 현황  (분석 대상 4,203건 기준)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3647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3647" y="1115568"/>
            <a:ext cx="126000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65476" y="1215598"/>
            <a:ext cx="466442" cy="201168"/>
          </a:xfrm>
          <a:prstGeom prst="roundRect">
            <a:avLst>
              <a:gd name="adj" fmla="val 36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처리완료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25087" y="1389888"/>
            <a:ext cx="9227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2,468건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03963" y="1753707"/>
            <a:ext cx="4664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58.7%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0452" y="1788621"/>
            <a:ext cx="8423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829908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829908" y="1115568"/>
            <a:ext cx="1260000" cy="64008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552003" y="1221140"/>
            <a:ext cx="466442" cy="201168"/>
          </a:xfrm>
          <a:prstGeom prst="roundRect">
            <a:avLst>
              <a:gd name="adj" fmla="val 36364"/>
            </a:avLst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2003" y="1221140"/>
            <a:ext cx="4664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처리 완료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21348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600223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30.9%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886713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26169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26169" y="1115568"/>
            <a:ext cx="12600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021416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021416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317609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277건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96484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6.6%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282974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결함검토요청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622430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622430" y="1115568"/>
            <a:ext cx="1260000" cy="640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417677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17677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13870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79건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92745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1.9%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79235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18691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18691" y="1115568"/>
            <a:ext cx="1260000" cy="640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13938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3938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10131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73건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789006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1.7%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075496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조치요청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7414953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414953" y="1115568"/>
            <a:ext cx="12600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210200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210200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7506393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185268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0.2%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7471758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재조치요청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31800" y="2134154"/>
            <a:ext cx="8242042" cy="371179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1800" y="2134154"/>
            <a:ext cx="64008" cy="37117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96392" y="2134154"/>
            <a:ext cx="2825496" cy="371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✔  처리완료  2,468건 (58.7%)  —  </a:t>
            </a:r>
            <a:r>
              <a:rPr lang="en-US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</a:t>
            </a: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완료</a:t>
            </a:r>
            <a:endParaRPr lang="en-US" sz="900" b="1" dirty="0">
              <a:solidFill>
                <a:srgbClr val="16A34A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r>
              <a:rPr lang="en-US" altLang="ko-KR" sz="8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   </a:t>
            </a:r>
            <a:r>
              <a:rPr lang="en-US" altLang="ko-KR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 (30.9%)  —  </a:t>
            </a:r>
            <a:r>
              <a:rPr lang="en-US" altLang="ko-KR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</a:t>
            </a:r>
            <a:r>
              <a:rPr lang="ko-KR" alt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 대기</a:t>
            </a:r>
            <a:endParaRPr lang="en-US" altLang="ko-KR" sz="900" b="1" dirty="0">
              <a:solidFill>
                <a:srgbClr val="16A34A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3217025" y="2230166"/>
            <a:ext cx="9144" cy="164592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477306" y="2217281"/>
            <a:ext cx="51189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미결 </a:t>
            </a:r>
            <a:r>
              <a:rPr lang="en-US" sz="900" b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합계</a:t>
            </a: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438건 (10.4%)  =   </a:t>
            </a:r>
            <a:r>
              <a:rPr lang="en-US" sz="900" b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결함검토요청</a:t>
            </a: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(277) + 확인요청(79) + 조치요청(73) + 재조치요청(9)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1800" y="2716127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68960" y="2716127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현황 별도 집계  (총 445건 — 원인 분석 대상 제외)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39085" y="3087901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439085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48813" y="3087901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292245" y="3167428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1292245" y="3167428"/>
            <a:ext cx="621792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945903" y="30394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57건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2413083" y="3087901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2413083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2522811" y="3087901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515631" y="3174355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3515631" y="3174355"/>
            <a:ext cx="545432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4176214" y="3046339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50건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4608749" y="3087901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67"/>
          <p:cNvSpPr/>
          <p:nvPr/>
        </p:nvSpPr>
        <p:spPr>
          <a:xfrm>
            <a:off x="4608749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4718477" y="3087901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5711293" y="318128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5711293" y="3181282"/>
            <a:ext cx="512706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6378805" y="30394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47건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882105" y="3074323"/>
            <a:ext cx="1793610" cy="23497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6991833" y="3060469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TOP 3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705065" y="3060469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154건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439085" y="3411546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39085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548813" y="3411546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모바일(MES)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1292245" y="3491073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1292245" y="3491073"/>
            <a:ext cx="458163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959757" y="3363057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42건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Shape 81"/>
          <p:cNvSpPr/>
          <p:nvPr/>
        </p:nvSpPr>
        <p:spPr>
          <a:xfrm>
            <a:off x="2413083" y="3411546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2413083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2522811" y="3411546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3515631" y="3498000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85"/>
          <p:cNvSpPr/>
          <p:nvPr/>
        </p:nvSpPr>
        <p:spPr>
          <a:xfrm>
            <a:off x="3515631" y="3498000"/>
            <a:ext cx="436345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4176214" y="33699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40건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4608749" y="3411546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4608749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4718477" y="3411546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5711293" y="3504927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91"/>
          <p:cNvSpPr/>
          <p:nvPr/>
        </p:nvSpPr>
        <p:spPr>
          <a:xfrm>
            <a:off x="5711293" y="3504927"/>
            <a:ext cx="414528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6378805" y="3390765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38건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6882105" y="3411822"/>
            <a:ext cx="1793610" cy="23497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6991833" y="3411822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 간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7705065" y="3411822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120건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Shape 96"/>
          <p:cNvSpPr/>
          <p:nvPr/>
        </p:nvSpPr>
        <p:spPr>
          <a:xfrm>
            <a:off x="439085" y="3742115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/>
          <p:cNvSpPr/>
          <p:nvPr/>
        </p:nvSpPr>
        <p:spPr>
          <a:xfrm>
            <a:off x="439085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548813" y="3742115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1292245" y="382164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1292245" y="3821642"/>
            <a:ext cx="381802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959757" y="369362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35건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2413083" y="3742115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Shape 103"/>
          <p:cNvSpPr/>
          <p:nvPr/>
        </p:nvSpPr>
        <p:spPr>
          <a:xfrm>
            <a:off x="2413083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2522811" y="3742115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3515631" y="3828569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3515631" y="3828569"/>
            <a:ext cx="370893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4176214" y="3700553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34건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4608749" y="3742115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4608749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4718477" y="3742115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3" name="Shape 111"/>
          <p:cNvSpPr/>
          <p:nvPr/>
        </p:nvSpPr>
        <p:spPr>
          <a:xfrm>
            <a:off x="5711293" y="3835496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4" name="Shape 112"/>
          <p:cNvSpPr/>
          <p:nvPr/>
        </p:nvSpPr>
        <p:spPr>
          <a:xfrm>
            <a:off x="5711293" y="3835496"/>
            <a:ext cx="359985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6378805" y="372133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6" name="Shape 114"/>
          <p:cNvSpPr/>
          <p:nvPr/>
        </p:nvSpPr>
        <p:spPr>
          <a:xfrm>
            <a:off x="6882105" y="3749318"/>
            <a:ext cx="1793610" cy="234977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6991833" y="3749318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하 위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7705065" y="3749318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102건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548813" y="4072688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0" name="Shape 118"/>
          <p:cNvSpPr/>
          <p:nvPr/>
        </p:nvSpPr>
        <p:spPr>
          <a:xfrm>
            <a:off x="439085" y="4072688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2" name="Shape 120"/>
          <p:cNvSpPr/>
          <p:nvPr/>
        </p:nvSpPr>
        <p:spPr>
          <a:xfrm>
            <a:off x="1292245" y="4152215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1292245" y="4152215"/>
            <a:ext cx="239990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4" name="Text 122"/>
          <p:cNvSpPr/>
          <p:nvPr/>
        </p:nvSpPr>
        <p:spPr>
          <a:xfrm>
            <a:off x="1959757" y="4024199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2413083" y="4072688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6" name="Shape 124"/>
          <p:cNvSpPr/>
          <p:nvPr/>
        </p:nvSpPr>
        <p:spPr>
          <a:xfrm>
            <a:off x="2413083" y="4072688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7" name="Text 125"/>
          <p:cNvSpPr/>
          <p:nvPr/>
        </p:nvSpPr>
        <p:spPr>
          <a:xfrm>
            <a:off x="2522811" y="4072688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기타(6개 모듈)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8" name="Shape 126"/>
          <p:cNvSpPr/>
          <p:nvPr/>
        </p:nvSpPr>
        <p:spPr>
          <a:xfrm>
            <a:off x="3515631" y="415914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9" name="Shape 127"/>
          <p:cNvSpPr/>
          <p:nvPr/>
        </p:nvSpPr>
        <p:spPr>
          <a:xfrm>
            <a:off x="3515631" y="4159142"/>
            <a:ext cx="392711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4176214" y="4100397"/>
            <a:ext cx="384048" cy="224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36건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1" name="Shape 129"/>
          <p:cNvSpPr/>
          <p:nvPr/>
        </p:nvSpPr>
        <p:spPr>
          <a:xfrm>
            <a:off x="4608749" y="4072688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4718477" y="4072688"/>
            <a:ext cx="149437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 소계  58건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6882105" y="4072688"/>
            <a:ext cx="1793610" cy="234977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6979154" y="4072688"/>
            <a:ext cx="631941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총 합계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7783826" y="4072688"/>
            <a:ext cx="72923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445건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6" name="Shape 134"/>
          <p:cNvSpPr/>
          <p:nvPr/>
        </p:nvSpPr>
        <p:spPr>
          <a:xfrm>
            <a:off x="439085" y="4429421"/>
            <a:ext cx="8242042" cy="371179"/>
          </a:xfrm>
          <a:prstGeom prst="rect">
            <a:avLst/>
          </a:prstGeom>
          <a:solidFill>
            <a:srgbClr val="FFF7ED"/>
          </a:solidFill>
          <a:ln w="635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613757" y="4598879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805781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TOP 3 (57~47건)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0" name="Shape 138"/>
          <p:cNvSpPr/>
          <p:nvPr/>
        </p:nvSpPr>
        <p:spPr>
          <a:xfrm>
            <a:off x="2112825" y="4598879"/>
            <a:ext cx="146304" cy="14630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1" name="Text 139"/>
          <p:cNvSpPr/>
          <p:nvPr/>
        </p:nvSpPr>
        <p:spPr>
          <a:xfrm>
            <a:off x="2304849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중간 (42~35건)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3591108" y="4598879"/>
            <a:ext cx="146304" cy="146304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3" name="Text 141"/>
          <p:cNvSpPr/>
          <p:nvPr/>
        </p:nvSpPr>
        <p:spPr>
          <a:xfrm>
            <a:off x="3783132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하위 (34~22건)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4" name="Text 142"/>
          <p:cNvSpPr/>
          <p:nvPr/>
        </p:nvSpPr>
        <p:spPr>
          <a:xfrm>
            <a:off x="5255755" y="4429851"/>
            <a:ext cx="3372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결함기각 445건은 원인 분석 대상에서 </a:t>
            </a:r>
            <a:r>
              <a:rPr lang="en-US" sz="780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제외</a:t>
            </a: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-  공항운영(GO) 57건으로 최다, 테스터 간 결함 인정 기준 불일치 가능성 존재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차수별 테스트 대상 건수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대비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altLang="ko-KR" sz="2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6" y="765879"/>
            <a:ext cx="8242042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3647" y="765879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1312" y="75895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 562건 최다 · 자원배정엔진(RE) 기각율 94.1% 이상 수준 — 개발 완성도 점검 필요 · 전체 시나리오 2,613건 / 분석대상 결함 4,203건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981269169"/>
              </p:ext>
            </p:extLst>
          </p:nvPr>
        </p:nvGraphicFramePr>
        <p:xfrm>
          <a:off x="431800" y="1115569"/>
          <a:ext cx="4963160" cy="334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69314"/>
              </p:ext>
            </p:extLst>
          </p:nvPr>
        </p:nvGraphicFramePr>
        <p:xfrm>
          <a:off x="5457826" y="1115568"/>
          <a:ext cx="3217863" cy="3580264"/>
        </p:xfrm>
        <a:graphic>
          <a:graphicData uri="http://schemas.openxmlformats.org/drawingml/2006/table">
            <a:tbl>
              <a:tblPr/>
              <a:tblGrid>
                <a:gridCol w="11887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0389">
                  <a:extLst>
                    <a:ext uri="{9D8B030D-6E8A-4147-A177-3AD203B41FA5}">
                      <a16:colId xmlns:a16="http://schemas.microsoft.com/office/drawing/2014/main" val="846590810"/>
                    </a:ext>
                  </a:extLst>
                </a:gridCol>
              </a:tblGrid>
              <a:tr h="1908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업무 모듈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시나리오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기각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결함율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공항운영(GO)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346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562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162.4%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항공기관제(AC)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125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320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256.0%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공통관리(FIMS-CA)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159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294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184.9%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모바일(WES)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263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277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105.3%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운항계획(FP)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310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269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86.8%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자원배정(RS)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292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149.0%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항공보안(FS)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318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220.8%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공통관리(AOMS-CA)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285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195.2%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모바일(MES)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184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245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133.2%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예측관리(PM)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137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170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124.1%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항공통계포털(AS)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102.6%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자원배정차트(RC)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250.9%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A-CDM(CM)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209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184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88.0%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SLOT관리(SLOT)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72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156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216.7%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자원배정엔진(RE)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7.1%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비상계획(CP)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74.5%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푸시SW(PUSH)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83.3%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8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합계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2,613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445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4,203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4,203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97655" y="4475829"/>
            <a:ext cx="449192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RE: 기각 16건 / 시나리오 14건 → 기각율 114% — 구조적 품질 이상 (점검 필수)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22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 분포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4218840443"/>
              </p:ext>
            </p:extLst>
          </p:nvPr>
        </p:nvGraphicFramePr>
        <p:xfrm>
          <a:off x="411692" y="1016823"/>
          <a:ext cx="5235635" cy="29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4" name="Shape 34">
            <a:extLst>
              <a:ext uri="{FF2B5EF4-FFF2-40B4-BE49-F238E27FC236}">
                <a16:creationId xmlns:a16="http://schemas.microsoft.com/office/drawing/2014/main" id="{2B1AB1C8-A0D2-ADD4-147E-E6E60A28D3CB}"/>
              </a:ext>
            </a:extLst>
          </p:cNvPr>
          <p:cNvSpPr/>
          <p:nvPr/>
        </p:nvSpPr>
        <p:spPr>
          <a:xfrm>
            <a:off x="433645" y="3804285"/>
            <a:ext cx="824342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35">
            <a:extLst>
              <a:ext uri="{FF2B5EF4-FFF2-40B4-BE49-F238E27FC236}">
                <a16:creationId xmlns:a16="http://schemas.microsoft.com/office/drawing/2014/main" id="{98D84A67-B5E4-41B1-3C9D-10AD5661015B}"/>
              </a:ext>
            </a:extLst>
          </p:cNvPr>
          <p:cNvSpPr/>
          <p:nvPr/>
        </p:nvSpPr>
        <p:spPr>
          <a:xfrm>
            <a:off x="502920" y="38487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🔍  핵심 인사이트 — 공사테스트 집중 문제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3F1FEEC2-6D91-A722-EF8B-855AF7142168}"/>
              </a:ext>
            </a:extLst>
          </p:cNvPr>
          <p:cNvSpPr/>
          <p:nvPr/>
        </p:nvSpPr>
        <p:spPr>
          <a:xfrm>
            <a:off x="466928" y="4004536"/>
            <a:ext cx="830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공사테스트에 전체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결함의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47.8%(2,007건)가 집중 — 이는 개발자·PL 단계의 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사전 자체 </a:t>
            </a:r>
            <a:r>
              <a:rPr lang="en-US" sz="1000" b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검증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미흡</a:t>
            </a:r>
            <a:r>
              <a:rPr lang="ko-KR" alt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으로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인해 초기 결함이 이월되는 구조적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문제에서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비롯</a:t>
            </a:r>
            <a:r>
              <a:rPr lang="ko-KR" altLang="en-US" sz="100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됨</a:t>
            </a:r>
            <a:r>
              <a:rPr lang="en-US" sz="100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
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4.9%(208건)에 불과 → </a:t>
            </a:r>
            <a:r>
              <a:rPr lang="ko-KR" alt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개발기능의 상세 요구사항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검증</a:t>
            </a:r>
            <a:r>
              <a:rPr lang="ko-KR" alt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 미흡한 상태로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진입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▶</a:t>
            </a:r>
            <a:r>
              <a:rPr lang="en-US" altLang="ko-KR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저하</a:t>
            </a:r>
            <a:r>
              <a:rPr lang="ko-KR" alt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에 부정적 영향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28DFB9B1-2BD8-DEE3-7233-622CEA11AEF7}"/>
              </a:ext>
            </a:extLst>
          </p:cNvPr>
          <p:cNvSpPr/>
          <p:nvPr/>
        </p:nvSpPr>
        <p:spPr>
          <a:xfrm>
            <a:off x="433645" y="789311"/>
            <a:ext cx="50241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Text 4">
            <a:extLst>
              <a:ext uri="{FF2B5EF4-FFF2-40B4-BE49-F238E27FC236}">
                <a16:creationId xmlns:a16="http://schemas.microsoft.com/office/drawing/2014/main" id="{61242449-2313-5FF6-2969-E3A5716ABB84}"/>
              </a:ext>
            </a:extLst>
          </p:cNvPr>
          <p:cNvSpPr/>
          <p:nvPr/>
        </p:nvSpPr>
        <p:spPr>
          <a:xfrm>
            <a:off x="570805" y="775023"/>
            <a:ext cx="30147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테스트 단계별 결함 누적 분포 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(13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p:txBody>
      </p:sp>
      <p:sp>
        <p:nvSpPr>
          <p:cNvPr id="79" name="Shape 3">
            <a:extLst>
              <a:ext uri="{FF2B5EF4-FFF2-40B4-BE49-F238E27FC236}">
                <a16:creationId xmlns:a16="http://schemas.microsoft.com/office/drawing/2014/main" id="{266F1958-B97D-7634-86FC-DF020E1AB61D}"/>
              </a:ext>
            </a:extLst>
          </p:cNvPr>
          <p:cNvSpPr/>
          <p:nvPr/>
        </p:nvSpPr>
        <p:spPr>
          <a:xfrm>
            <a:off x="5733288" y="777250"/>
            <a:ext cx="29424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Text 4">
            <a:extLst>
              <a:ext uri="{FF2B5EF4-FFF2-40B4-BE49-F238E27FC236}">
                <a16:creationId xmlns:a16="http://schemas.microsoft.com/office/drawing/2014/main" id="{E8B6D061-A2AE-F7E1-95A0-500F88A6B6DC}"/>
              </a:ext>
            </a:extLst>
          </p:cNvPr>
          <p:cNvSpPr/>
          <p:nvPr/>
        </p:nvSpPr>
        <p:spPr>
          <a:xfrm>
            <a:off x="5801853" y="778696"/>
            <a:ext cx="27610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합계</a:t>
            </a:r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210AC9FE-5529-BF04-3D67-1A1C8E7D495C}"/>
              </a:ext>
            </a:extLst>
          </p:cNvPr>
          <p:cNvSpPr/>
          <p:nvPr/>
        </p:nvSpPr>
        <p:spPr>
          <a:xfrm>
            <a:off x="5733288" y="1117578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5">
            <a:extLst>
              <a:ext uri="{FF2B5EF4-FFF2-40B4-BE49-F238E27FC236}">
                <a16:creationId xmlns:a16="http://schemas.microsoft.com/office/drawing/2014/main" id="{8C8CF9B8-BF64-5A08-EF28-FAEFDA5D2F94}"/>
              </a:ext>
            </a:extLst>
          </p:cNvPr>
          <p:cNvSpPr/>
          <p:nvPr/>
        </p:nvSpPr>
        <p:spPr>
          <a:xfrm>
            <a:off x="5733288" y="1117578"/>
            <a:ext cx="64008" cy="40233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10957874-3863-6368-4B33-3857321C0009}"/>
              </a:ext>
            </a:extLst>
          </p:cNvPr>
          <p:cNvSpPr/>
          <p:nvPr/>
        </p:nvSpPr>
        <p:spPr>
          <a:xfrm>
            <a:off x="5870448" y="111757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749026B7-9F96-235E-1512-7565CD252AC4}"/>
              </a:ext>
            </a:extLst>
          </p:cNvPr>
          <p:cNvSpPr/>
          <p:nvPr/>
        </p:nvSpPr>
        <p:spPr>
          <a:xfrm>
            <a:off x="6749125" y="1263882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Shape 8">
            <a:extLst>
              <a:ext uri="{FF2B5EF4-FFF2-40B4-BE49-F238E27FC236}">
                <a16:creationId xmlns:a16="http://schemas.microsoft.com/office/drawing/2014/main" id="{44ADA7BC-2624-C140-DC2F-22BD2593D3DC}"/>
              </a:ext>
            </a:extLst>
          </p:cNvPr>
          <p:cNvSpPr/>
          <p:nvPr/>
        </p:nvSpPr>
        <p:spPr>
          <a:xfrm>
            <a:off x="6749125" y="1180062"/>
            <a:ext cx="189610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FE7B0C71-26A5-C0EA-AD9F-9A1190C2DCE9}"/>
              </a:ext>
            </a:extLst>
          </p:cNvPr>
          <p:cNvSpPr/>
          <p:nvPr/>
        </p:nvSpPr>
        <p:spPr>
          <a:xfrm>
            <a:off x="6749125" y="1117578"/>
            <a:ext cx="16947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208건 (4.9%)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B0D60B0F-0672-67E2-A760-CC239937F6B9}"/>
              </a:ext>
            </a:extLst>
          </p:cNvPr>
          <p:cNvSpPr/>
          <p:nvPr/>
        </p:nvSpPr>
        <p:spPr>
          <a:xfrm>
            <a:off x="5733288" y="1629642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Shape 11">
            <a:extLst>
              <a:ext uri="{FF2B5EF4-FFF2-40B4-BE49-F238E27FC236}">
                <a16:creationId xmlns:a16="http://schemas.microsoft.com/office/drawing/2014/main" id="{51D31DB5-9A3C-94B3-A18D-1EBE3A97D8F8}"/>
              </a:ext>
            </a:extLst>
          </p:cNvPr>
          <p:cNvSpPr/>
          <p:nvPr/>
        </p:nvSpPr>
        <p:spPr>
          <a:xfrm>
            <a:off x="5733288" y="1629642"/>
            <a:ext cx="64008" cy="40233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CFA42EBF-9D1B-0226-E149-83025B48556B}"/>
              </a:ext>
            </a:extLst>
          </p:cNvPr>
          <p:cNvSpPr/>
          <p:nvPr/>
        </p:nvSpPr>
        <p:spPr>
          <a:xfrm>
            <a:off x="5870448" y="162964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3자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A4E782A2-864A-919C-4979-D48A1356D8FF}"/>
              </a:ext>
            </a:extLst>
          </p:cNvPr>
          <p:cNvSpPr/>
          <p:nvPr/>
        </p:nvSpPr>
        <p:spPr>
          <a:xfrm>
            <a:off x="6749125" y="1775946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Shape 14">
            <a:extLst>
              <a:ext uri="{FF2B5EF4-FFF2-40B4-BE49-F238E27FC236}">
                <a16:creationId xmlns:a16="http://schemas.microsoft.com/office/drawing/2014/main" id="{7B59F9F5-23AD-B3C6-3850-57EACB789EB4}"/>
              </a:ext>
            </a:extLst>
          </p:cNvPr>
          <p:cNvSpPr/>
          <p:nvPr/>
        </p:nvSpPr>
        <p:spPr>
          <a:xfrm>
            <a:off x="6749125" y="1686030"/>
            <a:ext cx="900000" cy="12801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11ADA742-F935-3687-5805-262DEAF3316D}"/>
              </a:ext>
            </a:extLst>
          </p:cNvPr>
          <p:cNvSpPr/>
          <p:nvPr/>
        </p:nvSpPr>
        <p:spPr>
          <a:xfrm>
            <a:off x="6749125" y="1629642"/>
            <a:ext cx="1616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882건 (21.0%)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F9CA3EB9-F3EA-7002-CBC9-6E399AC8186A}"/>
              </a:ext>
            </a:extLst>
          </p:cNvPr>
          <p:cNvSpPr/>
          <p:nvPr/>
        </p:nvSpPr>
        <p:spPr>
          <a:xfrm>
            <a:off x="5733288" y="2141706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Shape 17">
            <a:extLst>
              <a:ext uri="{FF2B5EF4-FFF2-40B4-BE49-F238E27FC236}">
                <a16:creationId xmlns:a16="http://schemas.microsoft.com/office/drawing/2014/main" id="{2E131601-B080-FD69-116F-D5A29BCAE176}"/>
              </a:ext>
            </a:extLst>
          </p:cNvPr>
          <p:cNvSpPr/>
          <p:nvPr/>
        </p:nvSpPr>
        <p:spPr>
          <a:xfrm>
            <a:off x="5733288" y="2141706"/>
            <a:ext cx="64008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843EB54A-FD02-9C53-35A4-6CCADCA87891}"/>
              </a:ext>
            </a:extLst>
          </p:cNvPr>
          <p:cNvSpPr/>
          <p:nvPr/>
        </p:nvSpPr>
        <p:spPr>
          <a:xfrm>
            <a:off x="5870448" y="214170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13700E01-914A-335A-98BA-658E26E02275}"/>
              </a:ext>
            </a:extLst>
          </p:cNvPr>
          <p:cNvSpPr/>
          <p:nvPr/>
        </p:nvSpPr>
        <p:spPr>
          <a:xfrm>
            <a:off x="6749125" y="2288010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Shape 20">
            <a:extLst>
              <a:ext uri="{FF2B5EF4-FFF2-40B4-BE49-F238E27FC236}">
                <a16:creationId xmlns:a16="http://schemas.microsoft.com/office/drawing/2014/main" id="{70D95E90-1722-06EE-3067-B35FA658CA4C}"/>
              </a:ext>
            </a:extLst>
          </p:cNvPr>
          <p:cNvSpPr/>
          <p:nvPr/>
        </p:nvSpPr>
        <p:spPr>
          <a:xfrm>
            <a:off x="6749125" y="2175234"/>
            <a:ext cx="190800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0BB1F26C-F554-EA7E-1334-665155EFC799}"/>
              </a:ext>
            </a:extLst>
          </p:cNvPr>
          <p:cNvSpPr/>
          <p:nvPr/>
        </p:nvSpPr>
        <p:spPr>
          <a:xfrm>
            <a:off x="6749125" y="2141706"/>
            <a:ext cx="1473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2007건 (47.8%)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42E63AA8-B07F-7FB8-C5DD-F5421623E4BE}"/>
              </a:ext>
            </a:extLst>
          </p:cNvPr>
          <p:cNvSpPr/>
          <p:nvPr/>
        </p:nvSpPr>
        <p:spPr>
          <a:xfrm>
            <a:off x="5733288" y="2653770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Shape 23">
            <a:extLst>
              <a:ext uri="{FF2B5EF4-FFF2-40B4-BE49-F238E27FC236}">
                <a16:creationId xmlns:a16="http://schemas.microsoft.com/office/drawing/2014/main" id="{74AB0896-3A7F-AB72-90E9-881FA6D4FA52}"/>
              </a:ext>
            </a:extLst>
          </p:cNvPr>
          <p:cNvSpPr/>
          <p:nvPr/>
        </p:nvSpPr>
        <p:spPr>
          <a:xfrm>
            <a:off x="5733288" y="2653770"/>
            <a:ext cx="64008" cy="40233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343BEEF2-F871-6797-5142-331334281B4D}"/>
              </a:ext>
            </a:extLst>
          </p:cNvPr>
          <p:cNvSpPr/>
          <p:nvPr/>
        </p:nvSpPr>
        <p:spPr>
          <a:xfrm>
            <a:off x="5870448" y="265377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Shape 25">
            <a:extLst>
              <a:ext uri="{FF2B5EF4-FFF2-40B4-BE49-F238E27FC236}">
                <a16:creationId xmlns:a16="http://schemas.microsoft.com/office/drawing/2014/main" id="{A0786C58-32DB-C36F-BAE0-5C1A5A1FCE09}"/>
              </a:ext>
            </a:extLst>
          </p:cNvPr>
          <p:cNvSpPr/>
          <p:nvPr/>
        </p:nvSpPr>
        <p:spPr>
          <a:xfrm>
            <a:off x="6749125" y="2800074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Shape 26">
            <a:extLst>
              <a:ext uri="{FF2B5EF4-FFF2-40B4-BE49-F238E27FC236}">
                <a16:creationId xmlns:a16="http://schemas.microsoft.com/office/drawing/2014/main" id="{284DFDB6-13FF-2850-A26A-1C76F8F00873}"/>
              </a:ext>
            </a:extLst>
          </p:cNvPr>
          <p:cNvSpPr/>
          <p:nvPr/>
        </p:nvSpPr>
        <p:spPr>
          <a:xfrm>
            <a:off x="6749125" y="2708634"/>
            <a:ext cx="612000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Text 27">
            <a:extLst>
              <a:ext uri="{FF2B5EF4-FFF2-40B4-BE49-F238E27FC236}">
                <a16:creationId xmlns:a16="http://schemas.microsoft.com/office/drawing/2014/main" id="{D9495D32-E16F-F41D-31D8-9919BEA0E04D}"/>
              </a:ext>
            </a:extLst>
          </p:cNvPr>
          <p:cNvSpPr/>
          <p:nvPr/>
        </p:nvSpPr>
        <p:spPr>
          <a:xfrm>
            <a:off x="6749125" y="2653770"/>
            <a:ext cx="1473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671건 (16.0%)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Shape 28">
            <a:extLst>
              <a:ext uri="{FF2B5EF4-FFF2-40B4-BE49-F238E27FC236}">
                <a16:creationId xmlns:a16="http://schemas.microsoft.com/office/drawing/2014/main" id="{55FCB821-E7C5-3CC2-DE62-5A9806C89834}"/>
              </a:ext>
            </a:extLst>
          </p:cNvPr>
          <p:cNvSpPr/>
          <p:nvPr/>
        </p:nvSpPr>
        <p:spPr>
          <a:xfrm>
            <a:off x="5733288" y="3165834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Shape 29">
            <a:extLst>
              <a:ext uri="{FF2B5EF4-FFF2-40B4-BE49-F238E27FC236}">
                <a16:creationId xmlns:a16="http://schemas.microsoft.com/office/drawing/2014/main" id="{13E7700B-4183-CC79-2B6A-C6C42B206614}"/>
              </a:ext>
            </a:extLst>
          </p:cNvPr>
          <p:cNvSpPr/>
          <p:nvPr/>
        </p:nvSpPr>
        <p:spPr>
          <a:xfrm>
            <a:off x="5733288" y="3165834"/>
            <a:ext cx="64008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7" name="Text 30">
            <a:extLst>
              <a:ext uri="{FF2B5EF4-FFF2-40B4-BE49-F238E27FC236}">
                <a16:creationId xmlns:a16="http://schemas.microsoft.com/office/drawing/2014/main" id="{FF17CF9B-0180-19F1-524F-5FDCA768C28B}"/>
              </a:ext>
            </a:extLst>
          </p:cNvPr>
          <p:cNvSpPr/>
          <p:nvPr/>
        </p:nvSpPr>
        <p:spPr>
          <a:xfrm>
            <a:off x="5870448" y="316583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8" name="Shape 31">
            <a:extLst>
              <a:ext uri="{FF2B5EF4-FFF2-40B4-BE49-F238E27FC236}">
                <a16:creationId xmlns:a16="http://schemas.microsoft.com/office/drawing/2014/main" id="{A957F37E-34B1-61A8-26E6-B2BB58BD4D59}"/>
              </a:ext>
            </a:extLst>
          </p:cNvPr>
          <p:cNvSpPr/>
          <p:nvPr/>
        </p:nvSpPr>
        <p:spPr>
          <a:xfrm>
            <a:off x="6749125" y="3312138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Shape 32">
            <a:extLst>
              <a:ext uri="{FF2B5EF4-FFF2-40B4-BE49-F238E27FC236}">
                <a16:creationId xmlns:a16="http://schemas.microsoft.com/office/drawing/2014/main" id="{F73BACE2-C706-ED19-02F6-85B6E10052B9}"/>
              </a:ext>
            </a:extLst>
          </p:cNvPr>
          <p:cNvSpPr/>
          <p:nvPr/>
        </p:nvSpPr>
        <p:spPr>
          <a:xfrm>
            <a:off x="6749125" y="3213078"/>
            <a:ext cx="432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Text 33">
            <a:extLst>
              <a:ext uri="{FF2B5EF4-FFF2-40B4-BE49-F238E27FC236}">
                <a16:creationId xmlns:a16="http://schemas.microsoft.com/office/drawing/2014/main" id="{A0B5121A-8E05-D73C-B060-448961136A80}"/>
              </a:ext>
            </a:extLst>
          </p:cNvPr>
          <p:cNvSpPr/>
          <p:nvPr/>
        </p:nvSpPr>
        <p:spPr>
          <a:xfrm>
            <a:off x="6749125" y="3165834"/>
            <a:ext cx="1616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435건 (10.3%)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5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결함 발생 유형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26720" y="765879"/>
            <a:ext cx="824896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6720" y="765879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1312" y="765879"/>
            <a:ext cx="5740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61.8% 압도적 · 항공보안(FS) UI 39.4% 최다 · 공항운영(GO) 데이터 22.3% — ASIS 정합성 핵심 이슈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671679397"/>
              </p:ext>
            </p:extLst>
          </p:nvPr>
        </p:nvGraphicFramePr>
        <p:xfrm>
          <a:off x="438912" y="1371601"/>
          <a:ext cx="5079355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5852160" y="1115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 결함 유형 비율 (4,648건)</a:t>
            </a:r>
            <a:endParaRPr lang="en-US" sz="10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609703" y="1417044"/>
            <a:ext cx="1893082" cy="23275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609703" y="1417044"/>
            <a:ext cx="1893082" cy="241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502785" y="1417044"/>
            <a:ext cx="591205" cy="232758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502785" y="1417044"/>
            <a:ext cx="591205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19.3%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093991" y="1417044"/>
            <a:ext cx="245059" cy="23275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339050" y="1417044"/>
            <a:ext cx="333893" cy="23275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339050" y="1417044"/>
            <a:ext cx="333893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10.9%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09703" y="1738749"/>
            <a:ext cx="128016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74295" y="1702173"/>
            <a:ext cx="1042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61.8% (2,685건)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182471" y="1738749"/>
            <a:ext cx="128016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347063" y="1702173"/>
            <a:ext cx="991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19.3% (839건)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5609703" y="1958205"/>
            <a:ext cx="128016" cy="128016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774295" y="1921629"/>
            <a:ext cx="1042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8% (376건)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182471" y="1958205"/>
            <a:ext cx="128016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7347063" y="1921629"/>
            <a:ext cx="991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기타합 10.9% (748건)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5609703" y="2228091"/>
            <a:ext cx="306324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719431" y="222809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유형별 고위험 모듈 특이점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09703" y="2557275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609703" y="2557275"/>
            <a:ext cx="64008" cy="540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746863" y="258470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804263" y="2593851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★★★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5746863" y="2776731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 73.0% · 자원배정(RS) 73.8%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46863" y="2934948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비즈니스 로직 구현 오류 — 요구사항 명세 재검토 필요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609703" y="3122262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609703" y="3122262"/>
            <a:ext cx="64008" cy="5400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46863" y="314969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7804263" y="315883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★★☆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5746863" y="3341718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 39.4% — 전체 최고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746863" y="3499935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화면 표준 미준수 — UI/UX 가이드 즉시 제정·적용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5609703" y="3694176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609703" y="3694176"/>
            <a:ext cx="64008" cy="5400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746863" y="3721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7804263" y="373075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★★★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5746863" y="3913632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 22.3% — 압도적 최다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746863" y="4071849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ASIS 정합성 검증 미실시 — 전수 비교 시나리오 추가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5609703" y="4259163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609703" y="4259163"/>
            <a:ext cx="64008" cy="540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746863" y="4286595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기타/문서화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804263" y="4295739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★☆☆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746863" y="4478619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 기타 27.0%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746863" y="4636836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협의 미완료 · 산출물 누락 — 협의체 운영 시급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438912" y="4455068"/>
            <a:ext cx="4796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기타합 = 문서화(4.3%) + 기타(6.6%)  </a:t>
            </a:r>
          </a:p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항공보안(FS) UI 39.4% — 화면 표준 개선 최우선 · 공항운영(GO) 데이터 138건 전수 검증 권고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1FA32A2F-475C-4200-04AC-C0FBA5747956}"/>
              </a:ext>
            </a:extLst>
          </p:cNvPr>
          <p:cNvSpPr/>
          <p:nvPr/>
        </p:nvSpPr>
        <p:spPr>
          <a:xfrm>
            <a:off x="8049574" y="1423971"/>
            <a:ext cx="333893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EF672E13-40D9-B917-7E32-BC34EEB4FF27}"/>
              </a:ext>
            </a:extLst>
          </p:cNvPr>
          <p:cNvSpPr/>
          <p:nvPr/>
        </p:nvSpPr>
        <p:spPr>
          <a:xfrm>
            <a:off x="426720" y="1145711"/>
            <a:ext cx="50241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4845B5E1-43F8-5C11-7960-02BFE85453E9}"/>
              </a:ext>
            </a:extLst>
          </p:cNvPr>
          <p:cNvSpPr/>
          <p:nvPr/>
        </p:nvSpPr>
        <p:spPr>
          <a:xfrm>
            <a:off x="519503" y="1142586"/>
            <a:ext cx="37932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결함 유형 누적 분포 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-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·UI·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(13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유형별 분류 및 근본 원인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335416537"/>
              </p:ext>
            </p:extLst>
          </p:nvPr>
        </p:nvGraphicFramePr>
        <p:xfrm>
          <a:off x="265176" y="870966"/>
          <a:ext cx="36576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160520" y="804672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160520" y="804672"/>
            <a:ext cx="73152" cy="7863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937546" y="85039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37546" y="85039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긴급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315968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 2,685건  (61.8%)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15968" y="108813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요구사항 분석 미흡 / 비즈니스 로직 구현 오류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15968" y="131673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예외 케이스 체크리스트 의무화 + 개발자 자체 테스트 강화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60520" y="1655064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160520" y="1655064"/>
            <a:ext cx="73152" cy="78638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937546" y="1700784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937546" y="17007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높음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315968" y="1691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결함  839건  (19.3%)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315968" y="1938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화면 설계 표준 부재 / 레이아웃·해상도 미대응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315968" y="21671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UI/UX 표준 가이드 제정 및 설계 단계 적용 의무화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160520" y="2505456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160520" y="2505456"/>
            <a:ext cx="73152" cy="78638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937546" y="2551176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937546" y="255117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긴급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15968" y="25420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결함  347건  (8.0%)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4315968" y="2788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ASIS 데이터 정합성 검증 미실시 / 집계 로직 불일치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315968" y="30175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ASIS 기준값 정의 + 전수 검증 시나리오 추가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4160520" y="3355848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4160520" y="3355848"/>
            <a:ext cx="73152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7937546" y="340156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937546" y="34015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보통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4315968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기타/프로세스  287건  (6.6%)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315968" y="36393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현업 협의 미완료 / 요구사항 변경 미반영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15968" y="38679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현업-수행사 정기 협의체 운영(주 1회)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431800" y="4302252"/>
            <a:ext cx="8243888" cy="501523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  <p:txBody>
          <a:bodyPr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기능+데이터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합산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2,032건(69.8%) —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요구사항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명세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재검토와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개발자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자체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검증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체계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구축이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개선의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핵심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레버</a:t>
            </a:r>
            <a:endParaRPr kumimoji="0" lang="en-US" altLang="ko-KR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결함 현황 및 고위험 모듈 식별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34443669"/>
              </p:ext>
            </p:extLst>
          </p:nvPr>
        </p:nvGraphicFramePr>
        <p:xfrm>
          <a:off x="431800" y="803565"/>
          <a:ext cx="8243888" cy="2270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431800" y="309663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고위험 모듈 집중 분석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004242"/>
              </p:ext>
            </p:extLst>
          </p:nvPr>
        </p:nvGraphicFramePr>
        <p:xfrm>
          <a:off x="431800" y="3389238"/>
          <a:ext cx="8243888" cy="1417320"/>
        </p:xfrm>
        <a:graphic>
          <a:graphicData uri="http://schemas.openxmlformats.org/drawingml/2006/table">
            <a:tbl>
              <a:tblPr/>
              <a:tblGrid>
                <a:gridCol w="1754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8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4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71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최다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결함유형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핵심 위험요소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권고 대응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공항운영(GO) 562건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데이터(22.3%)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ASIS 정합성 미검증 다수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ASIS 전수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비교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검증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 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→ 2-3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차 </a:t>
                      </a:r>
                      <a:r>
                        <a:rPr lang="ko-KR" alt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값비교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검증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(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감리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)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진행 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항공기관제(AC) 320건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기능(73.6%)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PL단계 95건 집중, 구조적 오류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요구사항 재검토 및 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PL 단계 품질게이트 즉시 도입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항공보안(FS) 318건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UI(39.4%)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화면 표준 미준수 두드러짐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UI 표준 가이드 수립·적용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공통관리AOMS 285건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기능·기타 복합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1차 공사결함율 124.6% 이상값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요구사항 재검토 + 현업 협의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복수 단계 반복 결함 패턴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ED3C6422-3926-975F-61E1-DD21AF73F080}"/>
              </a:ext>
            </a:extLst>
          </p:cNvPr>
          <p:cNvGrpSpPr/>
          <p:nvPr/>
        </p:nvGrpSpPr>
        <p:grpSpPr>
          <a:xfrm>
            <a:off x="433646" y="936568"/>
            <a:ext cx="2587752" cy="896112"/>
            <a:chOff x="274320" y="777240"/>
            <a:chExt cx="2587752" cy="896112"/>
          </a:xfrm>
        </p:grpSpPr>
        <p:sp>
          <p:nvSpPr>
            <p:cNvPr id="5" name="Shape 3"/>
            <p:cNvSpPr/>
            <p:nvPr/>
          </p:nvSpPr>
          <p:spPr>
            <a:xfrm>
              <a:off x="274320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274320" y="777240"/>
              <a:ext cx="64008" cy="89611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438912" y="850392"/>
              <a:ext cx="2423160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667개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438912" y="1296985"/>
              <a:ext cx="2158815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복수단계 결함 시나리오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38912" y="1476207"/>
              <a:ext cx="2158815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전체 2,613개 시나리오의 25.5%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8EB0029-0C16-67D1-9DE0-87D833B6F0BA}"/>
              </a:ext>
            </a:extLst>
          </p:cNvPr>
          <p:cNvGrpSpPr/>
          <p:nvPr/>
        </p:nvGrpSpPr>
        <p:grpSpPr>
          <a:xfrm>
            <a:off x="3354199" y="936568"/>
            <a:ext cx="2494344" cy="896112"/>
            <a:chOff x="3227832" y="777240"/>
            <a:chExt cx="2494344" cy="896112"/>
          </a:xfrm>
        </p:grpSpPr>
        <p:sp>
          <p:nvSpPr>
            <p:cNvPr id="10" name="Shape 8"/>
            <p:cNvSpPr/>
            <p:nvPr/>
          </p:nvSpPr>
          <p:spPr>
            <a:xfrm>
              <a:off x="3227832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227832" y="777240"/>
              <a:ext cx="64008" cy="896112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392424" y="850392"/>
              <a:ext cx="1560576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45건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3392424" y="1296985"/>
              <a:ext cx="1976212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단일 시나리오 최다 결함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3392424" y="1476207"/>
              <a:ext cx="1976212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UT-AC01021S (항공기관제)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D3B12F06-DCA8-4B2B-23B4-B77D1953F6E6}"/>
              </a:ext>
            </a:extLst>
          </p:cNvPr>
          <p:cNvGrpSpPr/>
          <p:nvPr/>
        </p:nvGrpSpPr>
        <p:grpSpPr>
          <a:xfrm>
            <a:off x="6181344" y="936568"/>
            <a:ext cx="2494344" cy="896112"/>
            <a:chOff x="6181344" y="777240"/>
            <a:chExt cx="2494344" cy="896112"/>
          </a:xfrm>
        </p:grpSpPr>
        <p:sp>
          <p:nvSpPr>
            <p:cNvPr id="15" name="Shape 13"/>
            <p:cNvSpPr/>
            <p:nvPr/>
          </p:nvSpPr>
          <p:spPr>
            <a:xfrm>
              <a:off x="6181344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81344" y="777240"/>
              <a:ext cx="64008" cy="896112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345936" y="850392"/>
              <a:ext cx="2048256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3가지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6345936" y="1296985"/>
              <a:ext cx="2048256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주요 반복 패턴 유형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345936" y="1476207"/>
              <a:ext cx="2048256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미조치이월·복합혼재·감리신규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38A4D07-3DE6-9653-CE88-68C20006F619}"/>
              </a:ext>
            </a:extLst>
          </p:cNvPr>
          <p:cNvGrpSpPr/>
          <p:nvPr/>
        </p:nvGrpSpPr>
        <p:grpSpPr>
          <a:xfrm>
            <a:off x="433647" y="2015837"/>
            <a:ext cx="2679192" cy="2695956"/>
            <a:chOff x="433647" y="1828800"/>
            <a:chExt cx="2679192" cy="2695956"/>
          </a:xfrm>
        </p:grpSpPr>
        <p:sp>
          <p:nvSpPr>
            <p:cNvPr id="20" name="Shape 18"/>
            <p:cNvSpPr/>
            <p:nvPr/>
          </p:nvSpPr>
          <p:spPr>
            <a:xfrm>
              <a:off x="433647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33647" y="1828800"/>
              <a:ext cx="2679192" cy="384048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43375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미조치 이월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543375" y="2267712"/>
              <a:ext cx="2464857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 결함이 조치 없이 현업·감리 단계로 이월되어 재등록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25087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43375" y="2907792"/>
              <a:ext cx="2464857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UT-GO11101S — 공사단계 기능 오류가 현업·감리 단계까지 지속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25087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543375" y="3529584"/>
              <a:ext cx="2464857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이월 결함 누적 → 감리 단계 급증 위험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43375" y="3913632"/>
              <a:ext cx="246485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공사테스트 조치 완료 확인 후 다음 단계 진입 허용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DC4BBC3-BD95-DCE1-68B0-8B029E89A9E6}"/>
              </a:ext>
            </a:extLst>
          </p:cNvPr>
          <p:cNvGrpSpPr/>
          <p:nvPr/>
        </p:nvGrpSpPr>
        <p:grpSpPr>
          <a:xfrm>
            <a:off x="3211483" y="2015837"/>
            <a:ext cx="2679192" cy="2695956"/>
            <a:chOff x="3218688" y="1828800"/>
            <a:chExt cx="2679192" cy="2695956"/>
          </a:xfrm>
        </p:grpSpPr>
        <p:sp>
          <p:nvSpPr>
            <p:cNvPr id="29" name="Shape 27"/>
            <p:cNvSpPr/>
            <p:nvPr/>
          </p:nvSpPr>
          <p:spPr>
            <a:xfrm>
              <a:off x="3218688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3218688" y="1828800"/>
              <a:ext cx="2679192" cy="384048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3328416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복합 결함 혼재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328416" y="2267712"/>
              <a:ext cx="246485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단일 시나리오에서 기능·UI·데이터·프로세스 유형이 동시 발생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3310128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3328416" y="2907792"/>
              <a:ext cx="2464856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UT-CASY011S — 공사·현업·감리 3단계에서 37건, 5가지 유형 혼재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3310128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3328416" y="3529584"/>
              <a:ext cx="24648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개발 완성도 전반 저하 — 단순 수정 아닌 재설계 필요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3328416" y="3913632"/>
              <a:ext cx="24648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화면/기능 단위 전수 재검토 및 리팩토링 계획 수립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F6AB92D7-2118-2DE8-4448-E832C8457CA7}"/>
              </a:ext>
            </a:extLst>
          </p:cNvPr>
          <p:cNvGrpSpPr/>
          <p:nvPr/>
        </p:nvGrpSpPr>
        <p:grpSpPr>
          <a:xfrm>
            <a:off x="5989320" y="2015837"/>
            <a:ext cx="2679192" cy="2695956"/>
            <a:chOff x="6163056" y="1828800"/>
            <a:chExt cx="2679192" cy="2695956"/>
          </a:xfrm>
        </p:grpSpPr>
        <p:sp>
          <p:nvSpPr>
            <p:cNvPr id="38" name="Shape 36"/>
            <p:cNvSpPr/>
            <p:nvPr/>
          </p:nvSpPr>
          <p:spPr>
            <a:xfrm>
              <a:off x="6163056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163056" y="1828800"/>
              <a:ext cx="2679192" cy="384048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272784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감리 단계 신규 도출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272784" y="2267712"/>
              <a:ext cx="2464857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하위 단계(공사·현업)에서 발견되지 않다가 감리에서 처음 도출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254496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272784" y="2907792"/>
              <a:ext cx="2464857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항공통계포털(AS) — 감리 집중도 24.5%, 현업 단계 0건 대비 급등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254496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272784" y="3529584"/>
              <a:ext cx="2464857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하위 단계 테스트 커버리지 부족 → 감리 집중 부담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272784" y="3913632"/>
              <a:ext cx="246485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테스트 케이스 커버리지 보강 / 하위 단계 수행 충실도 점검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EAA6-54A3-1772-2909-3D084A764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34">
            <a:extLst>
              <a:ext uri="{FF2B5EF4-FFF2-40B4-BE49-F238E27FC236}">
                <a16:creationId xmlns:a16="http://schemas.microsoft.com/office/drawing/2014/main" id="{60033664-2F9F-C906-B0ED-7268AE6B8272}"/>
              </a:ext>
            </a:extLst>
          </p:cNvPr>
          <p:cNvSpPr/>
          <p:nvPr/>
        </p:nvSpPr>
        <p:spPr>
          <a:xfrm>
            <a:off x="6179111" y="2595532"/>
            <a:ext cx="249657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03E875-6DB7-4FB1-066B-243D8FCE13AA}"/>
              </a:ext>
            </a:extLst>
          </p:cNvPr>
          <p:cNvSpPr/>
          <p:nvPr/>
        </p:nvSpPr>
        <p:spPr>
          <a:xfrm>
            <a:off x="320040" y="-4154"/>
            <a:ext cx="7680960" cy="437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 및 잔여 차수 시사점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37AF8E3-8D14-071D-A953-4AACBF547A2D}"/>
              </a:ext>
            </a:extLst>
          </p:cNvPr>
          <p:cNvSpPr/>
          <p:nvPr/>
        </p:nvSpPr>
        <p:spPr>
          <a:xfrm>
            <a:off x="433645" y="775023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FDDD64-A2B1-FBC1-D37E-1C0A9868F49B}"/>
              </a:ext>
            </a:extLst>
          </p:cNvPr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30B893D4-D22A-9F0B-BC90-8A3188C0C1CB}"/>
              </a:ext>
            </a:extLst>
          </p:cNvPr>
          <p:cNvGrpSpPr/>
          <p:nvPr/>
        </p:nvGrpSpPr>
        <p:grpSpPr>
          <a:xfrm>
            <a:off x="426719" y="1136716"/>
            <a:ext cx="2505721" cy="1181446"/>
            <a:chOff x="426719" y="1106425"/>
            <a:chExt cx="2505721" cy="1181446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2F181F3C-713F-5120-787F-D5E72AA3C3F9}"/>
                </a:ext>
              </a:extLst>
            </p:cNvPr>
            <p:cNvSpPr/>
            <p:nvPr/>
          </p:nvSpPr>
          <p:spPr>
            <a:xfrm>
              <a:off x="435863" y="1106425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CF31A27A-D6B6-8C68-5BD8-5765781EE79C}"/>
                </a:ext>
              </a:extLst>
            </p:cNvPr>
            <p:cNvSpPr/>
            <p:nvPr/>
          </p:nvSpPr>
          <p:spPr>
            <a:xfrm>
              <a:off x="426719" y="1115568"/>
              <a:ext cx="2496577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CC96BCF-3764-0B70-F5A8-F995440227AE}"/>
                </a:ext>
              </a:extLst>
            </p:cNvPr>
            <p:cNvSpPr/>
            <p:nvPr/>
          </p:nvSpPr>
          <p:spPr>
            <a:xfrm>
              <a:off x="536448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5168CD61-F40A-DF7F-96EA-93CF164DDFCD}"/>
                </a:ext>
              </a:extLst>
            </p:cNvPr>
            <p:cNvSpPr/>
            <p:nvPr/>
          </p:nvSpPr>
          <p:spPr>
            <a:xfrm>
              <a:off x="810768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 집중 현상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98CA6DF4-1B31-0AFA-0F3C-D158D3135281}"/>
                </a:ext>
              </a:extLst>
            </p:cNvPr>
            <p:cNvSpPr/>
            <p:nvPr/>
          </p:nvSpPr>
          <p:spPr>
            <a:xfrm>
              <a:off x="536448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49.7%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6F0B902B-5C33-79B8-B60C-28CD70525878}"/>
                </a:ext>
              </a:extLst>
            </p:cNvPr>
            <p:cNvSpPr/>
            <p:nvPr/>
          </p:nvSpPr>
          <p:spPr>
            <a:xfrm>
              <a:off x="1725168" y="1668504"/>
              <a:ext cx="108204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1,969건 / 4,203건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7DB1968D-EDFB-D68C-BB8C-3D0EB0B4DF36}"/>
                </a:ext>
              </a:extLst>
            </p:cNvPr>
            <p:cNvSpPr/>
            <p:nvPr/>
          </p:nvSpPr>
          <p:spPr>
            <a:xfrm>
              <a:off x="528412" y="1883112"/>
              <a:ext cx="2221992" cy="3768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개발자·PL 단계 사전 검증 부재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초기 결함 이월 구조 고착화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B7A52A7-F005-12F9-9B27-761B8BC6E123}"/>
              </a:ext>
            </a:extLst>
          </p:cNvPr>
          <p:cNvGrpSpPr/>
          <p:nvPr/>
        </p:nvGrpSpPr>
        <p:grpSpPr>
          <a:xfrm>
            <a:off x="3308319" y="1136716"/>
            <a:ext cx="2496577" cy="1181447"/>
            <a:chOff x="2880359" y="1115568"/>
            <a:chExt cx="2496577" cy="1181447"/>
          </a:xfrm>
        </p:grpSpPr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09F5D3D9-674E-DCE5-BE7C-E8BFC29D0B26}"/>
                </a:ext>
              </a:extLst>
            </p:cNvPr>
            <p:cNvSpPr/>
            <p:nvPr/>
          </p:nvSpPr>
          <p:spPr>
            <a:xfrm>
              <a:off x="2880359" y="1115569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AE21FC1A-DC39-0FF4-82DA-806B411B65BA}"/>
                </a:ext>
              </a:extLst>
            </p:cNvPr>
            <p:cNvSpPr/>
            <p:nvPr/>
          </p:nvSpPr>
          <p:spPr>
            <a:xfrm>
              <a:off x="2880359" y="1115568"/>
              <a:ext cx="2496577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7EBB6B28-6084-B0B2-1E29-A19F8FBED532}"/>
                </a:ext>
              </a:extLst>
            </p:cNvPr>
            <p:cNvSpPr/>
            <p:nvPr/>
          </p:nvSpPr>
          <p:spPr>
            <a:xfrm>
              <a:off x="2990088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B68112A8-4F98-4B6D-5FAA-F3AE9ED11F80}"/>
                </a:ext>
              </a:extLst>
            </p:cNvPr>
            <p:cNvSpPr/>
            <p:nvPr/>
          </p:nvSpPr>
          <p:spPr>
            <a:xfrm>
              <a:off x="3264408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 결함 압도적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2883F398-F434-44A6-28BA-1F2F68CD2E34}"/>
                </a:ext>
              </a:extLst>
            </p:cNvPr>
            <p:cNvSpPr/>
            <p:nvPr/>
          </p:nvSpPr>
          <p:spPr>
            <a:xfrm>
              <a:off x="2990088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61.8%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FE05DB80-C8B2-DD55-C058-649CB0BED38A}"/>
                </a:ext>
              </a:extLst>
            </p:cNvPr>
            <p:cNvSpPr/>
            <p:nvPr/>
          </p:nvSpPr>
          <p:spPr>
            <a:xfrm>
              <a:off x="4151930" y="1668504"/>
              <a:ext cx="102080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2,685건 / 4,648건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0CB99496-8C62-3186-B422-2A54EF78770F}"/>
                </a:ext>
              </a:extLst>
            </p:cNvPr>
            <p:cNvSpPr/>
            <p:nvPr/>
          </p:nvSpPr>
          <p:spPr>
            <a:xfrm>
              <a:off x="2976372" y="1916640"/>
              <a:ext cx="2221992" cy="3225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분석 미흡·개발 </a:t>
              </a:r>
              <a:r>
                <a:rPr 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로직</a:t>
              </a: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오류가</a:t>
              </a: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주원인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aphicFrame>
        <p:nvGraphicFramePr>
          <p:cNvPr id="21" name="Chart 0">
            <a:extLst>
              <a:ext uri="{FF2B5EF4-FFF2-40B4-BE49-F238E27FC236}">
                <a16:creationId xmlns:a16="http://schemas.microsoft.com/office/drawing/2014/main" id="{DF0974A3-CAC8-1EBD-68D9-4303D2B915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071047"/>
              </p:ext>
            </p:extLst>
          </p:nvPr>
        </p:nvGraphicFramePr>
        <p:xfrm>
          <a:off x="426719" y="2398425"/>
          <a:ext cx="2657600" cy="1003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>
            <a:extLst>
              <a:ext uri="{FF2B5EF4-FFF2-40B4-BE49-F238E27FC236}">
                <a16:creationId xmlns:a16="http://schemas.microsoft.com/office/drawing/2014/main" id="{50284BDC-BC0D-90E5-DCBA-B82B2599E3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8942257"/>
              </p:ext>
            </p:extLst>
          </p:nvPr>
        </p:nvGraphicFramePr>
        <p:xfrm>
          <a:off x="3186240" y="2335358"/>
          <a:ext cx="2414453" cy="1017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93" name="그룹 92">
            <a:extLst>
              <a:ext uri="{FF2B5EF4-FFF2-40B4-BE49-F238E27FC236}">
                <a16:creationId xmlns:a16="http://schemas.microsoft.com/office/drawing/2014/main" id="{F23C7FA7-EF14-1244-E1FB-F75A2C694F9E}"/>
              </a:ext>
            </a:extLst>
          </p:cNvPr>
          <p:cNvGrpSpPr/>
          <p:nvPr/>
        </p:nvGrpSpPr>
        <p:grpSpPr>
          <a:xfrm>
            <a:off x="435864" y="3822159"/>
            <a:ext cx="2519572" cy="810055"/>
            <a:chOff x="435864" y="3472680"/>
            <a:chExt cx="2519572" cy="810055"/>
          </a:xfrm>
        </p:grpSpPr>
        <p:sp>
          <p:nvSpPr>
            <p:cNvPr id="29" name="Shape 25">
              <a:extLst>
                <a:ext uri="{FF2B5EF4-FFF2-40B4-BE49-F238E27FC236}">
                  <a16:creationId xmlns:a16="http://schemas.microsoft.com/office/drawing/2014/main" id="{DC7B322F-642E-C336-1036-ECAC7C73BCF1}"/>
                </a:ext>
              </a:extLst>
            </p:cNvPr>
            <p:cNvSpPr/>
            <p:nvPr/>
          </p:nvSpPr>
          <p:spPr>
            <a:xfrm>
              <a:off x="458859" y="3472680"/>
              <a:ext cx="2496577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Shape 26">
              <a:extLst>
                <a:ext uri="{FF2B5EF4-FFF2-40B4-BE49-F238E27FC236}">
                  <a16:creationId xmlns:a16="http://schemas.microsoft.com/office/drawing/2014/main" id="{81C14C75-FF1E-61E3-432B-C225E46198D0}"/>
                </a:ext>
              </a:extLst>
            </p:cNvPr>
            <p:cNvSpPr/>
            <p:nvPr/>
          </p:nvSpPr>
          <p:spPr>
            <a:xfrm>
              <a:off x="435864" y="3478063"/>
              <a:ext cx="64008" cy="80467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03931D17-4E5E-2747-62AF-9BEB96CB5430}"/>
                </a:ext>
              </a:extLst>
            </p:cNvPr>
            <p:cNvSpPr/>
            <p:nvPr/>
          </p:nvSpPr>
          <p:spPr>
            <a:xfrm>
              <a:off x="582168" y="3523783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④  </a:t>
              </a:r>
              <a:r>
                <a:rPr lang="ko-KR" alt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30.9% 잔존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E38679CB-9852-6229-3C9D-9D262029A914}"/>
                </a:ext>
              </a:extLst>
            </p:cNvPr>
            <p:cNvSpPr/>
            <p:nvPr/>
          </p:nvSpPr>
          <p:spPr>
            <a:xfrm>
              <a:off x="582168" y="3715807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1,297건</a:t>
              </a:r>
              <a:endParaRPr lang="en-US" sz="16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F5DC4201-8E13-A6F6-EF87-15E4E97D509B}"/>
                </a:ext>
              </a:extLst>
            </p:cNvPr>
            <p:cNvSpPr/>
            <p:nvPr/>
          </p:nvSpPr>
          <p:spPr>
            <a:xfrm>
              <a:off x="578288" y="4014910"/>
              <a:ext cx="2354149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감리 전 </a:t>
              </a:r>
              <a:r>
                <a:rPr lang="en-US" sz="7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전수</a:t>
              </a: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7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해소</a:t>
              </a:r>
              <a:r>
                <a:rPr lang="ko-KR" alt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를 통한 재결함 여부 확인</a:t>
              </a: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시급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31B65396-3B4A-4F52-066F-83439144CC55}"/>
              </a:ext>
            </a:extLst>
          </p:cNvPr>
          <p:cNvGrpSpPr/>
          <p:nvPr/>
        </p:nvGrpSpPr>
        <p:grpSpPr>
          <a:xfrm>
            <a:off x="3319817" y="3822159"/>
            <a:ext cx="2496577" cy="804672"/>
            <a:chOff x="3809999" y="3453248"/>
            <a:chExt cx="2496577" cy="804672"/>
          </a:xfrm>
        </p:grpSpPr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23ABBA0A-54EA-3A10-6921-735FA44AC515}"/>
                </a:ext>
              </a:extLst>
            </p:cNvPr>
            <p:cNvSpPr/>
            <p:nvPr/>
          </p:nvSpPr>
          <p:spPr>
            <a:xfrm>
              <a:off x="3809999" y="3453248"/>
              <a:ext cx="2496577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1B6CE30-600E-BE4B-1510-1734A2E02729}"/>
                </a:ext>
              </a:extLst>
            </p:cNvPr>
            <p:cNvGrpSpPr/>
            <p:nvPr/>
          </p:nvGrpSpPr>
          <p:grpSpPr>
            <a:xfrm>
              <a:off x="3810000" y="3453248"/>
              <a:ext cx="2267712" cy="804672"/>
              <a:chOff x="3803904" y="4005072"/>
              <a:chExt cx="2267712" cy="804672"/>
            </a:xfrm>
          </p:grpSpPr>
          <p:sp>
            <p:nvSpPr>
              <p:cNvPr id="36" name="Shape 32">
                <a:extLst>
                  <a:ext uri="{FF2B5EF4-FFF2-40B4-BE49-F238E27FC236}">
                    <a16:creationId xmlns:a16="http://schemas.microsoft.com/office/drawing/2014/main" id="{20CAC33B-CC54-C3BC-A82A-2A34ED7A260E}"/>
                  </a:ext>
                </a:extLst>
              </p:cNvPr>
              <p:cNvSpPr/>
              <p:nvPr/>
            </p:nvSpPr>
            <p:spPr>
              <a:xfrm>
                <a:off x="3803904" y="4005072"/>
                <a:ext cx="64008" cy="804672"/>
              </a:xfrm>
              <a:prstGeom prst="rect">
                <a:avLst/>
              </a:prstGeom>
              <a:solidFill>
                <a:srgbClr val="9CA3AF"/>
              </a:solidFill>
              <a:ln w="12700">
                <a:solidFill>
                  <a:srgbClr val="9CA3AF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grpSp>
            <p:nvGrpSpPr>
              <p:cNvPr id="74" name="그룹 73">
                <a:extLst>
                  <a:ext uri="{FF2B5EF4-FFF2-40B4-BE49-F238E27FC236}">
                    <a16:creationId xmlns:a16="http://schemas.microsoft.com/office/drawing/2014/main" id="{683C444D-3D03-B82A-33EA-098F55A701BE}"/>
                  </a:ext>
                </a:extLst>
              </p:cNvPr>
              <p:cNvGrpSpPr/>
              <p:nvPr/>
            </p:nvGrpSpPr>
            <p:grpSpPr>
              <a:xfrm>
                <a:off x="3950208" y="4050792"/>
                <a:ext cx="2121408" cy="712470"/>
                <a:chOff x="3950208" y="4050792"/>
                <a:chExt cx="2121408" cy="712470"/>
              </a:xfrm>
            </p:grpSpPr>
            <p:sp>
              <p:nvSpPr>
                <p:cNvPr id="37" name="Text 33">
                  <a:extLst>
                    <a:ext uri="{FF2B5EF4-FFF2-40B4-BE49-F238E27FC236}">
                      <a16:creationId xmlns:a16="http://schemas.microsoft.com/office/drawing/2014/main" id="{075B7892-38B1-30C6-8C78-36A2327860CB}"/>
                    </a:ext>
                  </a:extLst>
                </p:cNvPr>
                <p:cNvSpPr/>
                <p:nvPr/>
              </p:nvSpPr>
              <p:spPr>
                <a:xfrm>
                  <a:off x="3950208" y="4050792"/>
                  <a:ext cx="1626928" cy="20116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1000" b="1" dirty="0">
                      <a:solidFill>
                        <a:srgbClr val="9CA3AF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⑤  결함기각 최다 — 공항운영</a:t>
                  </a:r>
                  <a:endParaRPr lang="en-US" sz="100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38" name="Text 34">
                  <a:extLst>
                    <a:ext uri="{FF2B5EF4-FFF2-40B4-BE49-F238E27FC236}">
                      <a16:creationId xmlns:a16="http://schemas.microsoft.com/office/drawing/2014/main" id="{150488AE-CFD9-60F5-EDAB-5960BFEC8CE9}"/>
                    </a:ext>
                  </a:extLst>
                </p:cNvPr>
                <p:cNvSpPr/>
                <p:nvPr/>
              </p:nvSpPr>
              <p:spPr>
                <a:xfrm>
                  <a:off x="3950208" y="4242816"/>
                  <a:ext cx="146304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1600" b="1" dirty="0">
                      <a:solidFill>
                        <a:srgbClr val="1B3A6B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57건</a:t>
                  </a:r>
                  <a:endParaRPr lang="en-US" sz="160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39" name="Text 35">
                  <a:extLst>
                    <a:ext uri="{FF2B5EF4-FFF2-40B4-BE49-F238E27FC236}">
                      <a16:creationId xmlns:a16="http://schemas.microsoft.com/office/drawing/2014/main" id="{E4F4F96D-75A2-B27C-95C5-FD999AEFB55B}"/>
                    </a:ext>
                  </a:extLst>
                </p:cNvPr>
                <p:cNvSpPr/>
                <p:nvPr/>
              </p:nvSpPr>
              <p:spPr>
                <a:xfrm>
                  <a:off x="4404637" y="4374157"/>
                  <a:ext cx="944603" cy="12656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9CA3AF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총 기각 445건 중 최다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40" name="Text 36">
                  <a:extLst>
                    <a:ext uri="{FF2B5EF4-FFF2-40B4-BE49-F238E27FC236}">
                      <a16:creationId xmlns:a16="http://schemas.microsoft.com/office/drawing/2014/main" id="{6069F9F9-9217-5FBA-DA3E-BD7679B057CE}"/>
                    </a:ext>
                  </a:extLst>
                </p:cNvPr>
                <p:cNvSpPr/>
                <p:nvPr/>
              </p:nvSpPr>
              <p:spPr>
                <a:xfrm>
                  <a:off x="3950208" y="4562094"/>
                  <a:ext cx="2121408" cy="20116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4B5563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테스터 간 결함 인정 기준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4B5563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불일치 가능성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</p:grpSp>
        </p:grpSp>
      </p:grpSp>
      <p:sp>
        <p:nvSpPr>
          <p:cNvPr id="72" name="Text 68">
            <a:extLst>
              <a:ext uri="{FF2B5EF4-FFF2-40B4-BE49-F238E27FC236}">
                <a16:creationId xmlns:a16="http://schemas.microsoft.com/office/drawing/2014/main" id="{3EFDE6DC-DDB4-D672-3F4D-E820A09317EE}"/>
              </a:ext>
            </a:extLst>
          </p:cNvPr>
          <p:cNvSpPr/>
          <p:nvPr/>
        </p:nvSpPr>
        <p:spPr>
          <a:xfrm>
            <a:off x="6249793" y="2649924"/>
            <a:ext cx="2123398" cy="543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 인력의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개입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+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 관리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후속 단계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위기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우려</a:t>
            </a:r>
            <a:endParaRPr lang="en-US" sz="950" dirty="0">
              <a:solidFill>
                <a:schemeClr val="accent2">
                  <a:lumMod val="75000"/>
                </a:scheme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B1FEA52-45B9-1255-D53F-758B5C9E8B23}"/>
              </a:ext>
            </a:extLst>
          </p:cNvPr>
          <p:cNvGrpSpPr/>
          <p:nvPr/>
        </p:nvGrpSpPr>
        <p:grpSpPr>
          <a:xfrm>
            <a:off x="6180775" y="3822159"/>
            <a:ext cx="2533719" cy="810000"/>
            <a:chOff x="6180775" y="3461941"/>
            <a:chExt cx="2533719" cy="810000"/>
          </a:xfrm>
        </p:grpSpPr>
        <p:sp>
          <p:nvSpPr>
            <p:cNvPr id="4" name="Shape 23">
              <a:extLst>
                <a:ext uri="{FF2B5EF4-FFF2-40B4-BE49-F238E27FC236}">
                  <a16:creationId xmlns:a16="http://schemas.microsoft.com/office/drawing/2014/main" id="{DFFACCDB-E924-A42E-56A7-6EFC2899B795}"/>
                </a:ext>
              </a:extLst>
            </p:cNvPr>
            <p:cNvSpPr/>
            <p:nvPr/>
          </p:nvSpPr>
          <p:spPr>
            <a:xfrm>
              <a:off x="6180775" y="3461941"/>
              <a:ext cx="2494912" cy="808843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24">
              <a:extLst>
                <a:ext uri="{FF2B5EF4-FFF2-40B4-BE49-F238E27FC236}">
                  <a16:creationId xmlns:a16="http://schemas.microsoft.com/office/drawing/2014/main" id="{46443BCC-021A-34C5-EEB8-7FE6A293A9E0}"/>
                </a:ext>
              </a:extLst>
            </p:cNvPr>
            <p:cNvSpPr/>
            <p:nvPr/>
          </p:nvSpPr>
          <p:spPr>
            <a:xfrm>
              <a:off x="6180775" y="3461941"/>
              <a:ext cx="61463" cy="81000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25">
              <a:extLst>
                <a:ext uri="{FF2B5EF4-FFF2-40B4-BE49-F238E27FC236}">
                  <a16:creationId xmlns:a16="http://schemas.microsoft.com/office/drawing/2014/main" id="{EEB1275C-2535-D15A-1B6D-35C5F552E9A6}"/>
                </a:ext>
              </a:extLst>
            </p:cNvPr>
            <p:cNvSpPr/>
            <p:nvPr/>
          </p:nvSpPr>
          <p:spPr>
            <a:xfrm>
              <a:off x="6327079" y="3479741"/>
              <a:ext cx="2387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⑥ </a:t>
              </a:r>
              <a:r>
                <a:rPr lang="en-US" sz="1000" b="1" dirty="0" err="1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고위험</a:t>
              </a: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모듈 3개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26">
              <a:extLst>
                <a:ext uri="{FF2B5EF4-FFF2-40B4-BE49-F238E27FC236}">
                  <a16:creationId xmlns:a16="http://schemas.microsoft.com/office/drawing/2014/main" id="{A49E04FA-DD83-A428-38E2-7A212C359FD0}"/>
                </a:ext>
              </a:extLst>
            </p:cNvPr>
            <p:cNvSpPr/>
            <p:nvPr/>
          </p:nvSpPr>
          <p:spPr>
            <a:xfrm>
              <a:off x="6532404" y="3732835"/>
              <a:ext cx="126442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AC·AS·GO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0" name="Text 27">
              <a:extLst>
                <a:ext uri="{FF2B5EF4-FFF2-40B4-BE49-F238E27FC236}">
                  <a16:creationId xmlns:a16="http://schemas.microsoft.com/office/drawing/2014/main" id="{D47E963D-313D-F990-5C13-B47210A27EB6}"/>
                </a:ext>
              </a:extLst>
            </p:cNvPr>
            <p:cNvSpPr/>
            <p:nvPr/>
          </p:nvSpPr>
          <p:spPr>
            <a:xfrm>
              <a:off x="6327079" y="4010581"/>
              <a:ext cx="2387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즉시 전담 QA 지정 및 집중 모니터링 체계 가동 필요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A3668AAD-7462-4638-3C58-E305A6548F5E}"/>
              </a:ext>
            </a:extLst>
          </p:cNvPr>
          <p:cNvGrpSpPr/>
          <p:nvPr/>
        </p:nvGrpSpPr>
        <p:grpSpPr>
          <a:xfrm>
            <a:off x="6180775" y="1136716"/>
            <a:ext cx="2496577" cy="1181447"/>
            <a:chOff x="5504422" y="1115568"/>
            <a:chExt cx="2496577" cy="1181447"/>
          </a:xfrm>
        </p:grpSpPr>
        <p:sp>
          <p:nvSpPr>
            <p:cNvPr id="67" name="Shape 12">
              <a:extLst>
                <a:ext uri="{FF2B5EF4-FFF2-40B4-BE49-F238E27FC236}">
                  <a16:creationId xmlns:a16="http://schemas.microsoft.com/office/drawing/2014/main" id="{4DDBDABA-EBE2-64F1-DF43-44575AC3BE6A}"/>
                </a:ext>
              </a:extLst>
            </p:cNvPr>
            <p:cNvSpPr/>
            <p:nvPr/>
          </p:nvSpPr>
          <p:spPr>
            <a:xfrm>
              <a:off x="5504422" y="1115569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6" name="Shape 13">
              <a:extLst>
                <a:ext uri="{FF2B5EF4-FFF2-40B4-BE49-F238E27FC236}">
                  <a16:creationId xmlns:a16="http://schemas.microsoft.com/office/drawing/2014/main" id="{C6FA7883-2EBC-6BF9-FDB5-02671B3786EC}"/>
                </a:ext>
              </a:extLst>
            </p:cNvPr>
            <p:cNvSpPr/>
            <p:nvPr/>
          </p:nvSpPr>
          <p:spPr>
            <a:xfrm>
              <a:off x="5504422" y="1115568"/>
              <a:ext cx="2496577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1" name="Text 14">
              <a:extLst>
                <a:ext uri="{FF2B5EF4-FFF2-40B4-BE49-F238E27FC236}">
                  <a16:creationId xmlns:a16="http://schemas.microsoft.com/office/drawing/2014/main" id="{195A4608-DB02-FC69-DB99-38CDBDCA9AD9}"/>
                </a:ext>
              </a:extLst>
            </p:cNvPr>
            <p:cNvSpPr/>
            <p:nvPr/>
          </p:nvSpPr>
          <p:spPr>
            <a:xfrm>
              <a:off x="5614151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2" name="Text 15">
              <a:extLst>
                <a:ext uri="{FF2B5EF4-FFF2-40B4-BE49-F238E27FC236}">
                  <a16:creationId xmlns:a16="http://schemas.microsoft.com/office/drawing/2014/main" id="{D931A6B1-89D5-344B-25A3-6A9D3B4219B4}"/>
                </a:ext>
              </a:extLst>
            </p:cNvPr>
            <p:cNvSpPr/>
            <p:nvPr/>
          </p:nvSpPr>
          <p:spPr>
            <a:xfrm>
              <a:off x="5888471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복수단계 반복 결함</a:t>
              </a:r>
            </a:p>
          </p:txBody>
        </p:sp>
        <p:sp>
          <p:nvSpPr>
            <p:cNvPr id="83" name="Text 16">
              <a:extLst>
                <a:ext uri="{FF2B5EF4-FFF2-40B4-BE49-F238E27FC236}">
                  <a16:creationId xmlns:a16="http://schemas.microsoft.com/office/drawing/2014/main" id="{B2F8AFD7-DAA6-4D81-7D83-64AF8C541746}"/>
                </a:ext>
              </a:extLst>
            </p:cNvPr>
            <p:cNvSpPr/>
            <p:nvPr/>
          </p:nvSpPr>
          <p:spPr>
            <a:xfrm>
              <a:off x="5614151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4" name="Text 17">
              <a:extLst>
                <a:ext uri="{FF2B5EF4-FFF2-40B4-BE49-F238E27FC236}">
                  <a16:creationId xmlns:a16="http://schemas.microsoft.com/office/drawing/2014/main" id="{CC64A51A-B1B5-6A73-AD32-82E67B7FEF75}"/>
                </a:ext>
              </a:extLst>
            </p:cNvPr>
            <p:cNvSpPr/>
            <p:nvPr/>
          </p:nvSpPr>
          <p:spPr>
            <a:xfrm>
              <a:off x="6775993" y="1668504"/>
              <a:ext cx="102080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</a:t>
              </a:r>
              <a:r>
                <a:rPr lang="ko-KR" alt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 시나리오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5" name="Text 18">
              <a:extLst>
                <a:ext uri="{FF2B5EF4-FFF2-40B4-BE49-F238E27FC236}">
                  <a16:creationId xmlns:a16="http://schemas.microsoft.com/office/drawing/2014/main" id="{7F3C113E-B0E4-B2A8-F434-F7CA8E027A5B}"/>
                </a:ext>
              </a:extLst>
            </p:cNvPr>
            <p:cNvSpPr/>
            <p:nvPr/>
          </p:nvSpPr>
          <p:spPr>
            <a:xfrm>
              <a:off x="5600435" y="1916640"/>
              <a:ext cx="2221992" cy="3225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</a:t>
              </a:r>
              <a:r>
                <a:rPr lang="ko-KR" alt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이월 구조 고착</a:t>
              </a:r>
              <a:endParaRPr lang="en-US" altLang="ko-KR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ko-KR" alt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 확인 프로세스 작동 미흡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6411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공사테스트 결함율 현황 (위험 구간 집중 분석)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1800" y="891958"/>
            <a:ext cx="3074786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524874" y="891958"/>
            <a:ext cx="2103120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46282" y="891958"/>
            <a:ext cx="2103120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774617" y="891958"/>
            <a:ext cx="907998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37982" y="891958"/>
            <a:ext cx="3411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24874" y="89195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공사테스트(%)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46282" y="89195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공사테스트(%)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67690" y="89195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1800" y="1184566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2999" y="1184566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4874" y="122114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24874" y="118456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46282" y="122114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46282" y="118456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49.4%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822554" y="1221142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822554" y="1221142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1800" y="1468030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2999" y="1468030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24874" y="150460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24874" y="146803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95.7%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646282" y="150460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46282" y="146803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822554" y="1504606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822554" y="150460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31800" y="1751494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2999" y="1751494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524874" y="178807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524874" y="175149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75.6%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46282" y="178807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46282" y="175149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12.5%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822554" y="1788070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822554" y="178807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1800" y="2034958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2999" y="2034958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524874" y="207153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3524874" y="203495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80%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46282" y="207153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46282" y="203495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42.6%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822554" y="2071534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822554" y="207153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31800" y="2318422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82999" y="2318422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3524874" y="235499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524874" y="231842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61.1%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646282" y="235499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646282" y="231842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33.9%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822554" y="2354998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7822554" y="235499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1800" y="2601886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2999" y="2601886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3524874" y="263846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3524874" y="260188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67.5%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5646282" y="263846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5646282" y="260188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24.8%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822554" y="2638462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822554" y="2638462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431800" y="2885350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582999" y="2885350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3524874" y="292192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3524874" y="288535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53%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5646282" y="292192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5646282" y="288535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22.3%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7822554" y="2921926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7822554" y="292192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431800" y="3168814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582999" y="3168814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자원배정차트(RC)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3524874" y="320539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3524874" y="316881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60.9%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5646282" y="320539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5646282" y="316881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7822554" y="3205390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822554" y="320539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31800" y="3452278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582999" y="3452278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3524874" y="348885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3524874" y="345227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9.8%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80"/>
          <p:cNvSpPr/>
          <p:nvPr/>
        </p:nvSpPr>
        <p:spPr>
          <a:xfrm>
            <a:off x="5646282" y="348885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646282" y="345227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17.7%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7822554" y="3488854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7822554" y="348885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431800" y="3735742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582999" y="3735742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3524874" y="377231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3524874" y="373574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0%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5646282" y="377231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5646282" y="373574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8.4%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7822554" y="3772318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7822554" y="377231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431800" y="405418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AOMS-CA 1차 공사 결함율 124.6%: 단일 시나리오에서 복수 결함 발생 — 개발 완성도 근본 점검 필요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1371600" y="4377793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16093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70%↑ 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3200400" y="4377793"/>
            <a:ext cx="201168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34381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40~70% 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/>
          <p:cNvSpPr/>
          <p:nvPr/>
        </p:nvSpPr>
        <p:spPr>
          <a:xfrm>
            <a:off x="5029200" y="4377793"/>
            <a:ext cx="201168" cy="20116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52669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20~40% 관심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6858000" y="4377793"/>
            <a:ext cx="201168" cy="20116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70957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20%↓ 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4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미결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34643816"/>
              </p:ext>
            </p:extLst>
          </p:nvPr>
        </p:nvGraphicFramePr>
        <p:xfrm>
          <a:off x="431800" y="756229"/>
          <a:ext cx="8243888" cy="19799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37">
            <a:extLst>
              <a:ext uri="{FF2B5EF4-FFF2-40B4-BE49-F238E27FC236}">
                <a16:creationId xmlns:a16="http://schemas.microsoft.com/office/drawing/2014/main" id="{1D165D4B-A55D-FD7B-94FE-EF91D313AE7B}"/>
              </a:ext>
            </a:extLst>
          </p:cNvPr>
          <p:cNvSpPr/>
          <p:nvPr/>
        </p:nvSpPr>
        <p:spPr>
          <a:xfrm>
            <a:off x="431800" y="2761988"/>
            <a:ext cx="824388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E393D76D-C68A-F237-76B6-65A526E66EFD}"/>
              </a:ext>
            </a:extLst>
          </p:cNvPr>
          <p:cNvSpPr/>
          <p:nvPr/>
        </p:nvSpPr>
        <p:spPr>
          <a:xfrm>
            <a:off x="550672" y="2755061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잔여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차수(2-3차) 대비 시사점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39">
            <a:extLst>
              <a:ext uri="{FF2B5EF4-FFF2-40B4-BE49-F238E27FC236}">
                <a16:creationId xmlns:a16="http://schemas.microsoft.com/office/drawing/2014/main" id="{B9881A78-4A23-A535-B7BF-771E7970A275}"/>
              </a:ext>
            </a:extLst>
          </p:cNvPr>
          <p:cNvSpPr/>
          <p:nvPr/>
        </p:nvSpPr>
        <p:spPr>
          <a:xfrm>
            <a:off x="445760" y="3193973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40">
            <a:extLst>
              <a:ext uri="{FF2B5EF4-FFF2-40B4-BE49-F238E27FC236}">
                <a16:creationId xmlns:a16="http://schemas.microsoft.com/office/drawing/2014/main" id="{AF67607B-FC00-0D97-0F2B-ECD519F15BDB}"/>
              </a:ext>
            </a:extLst>
          </p:cNvPr>
          <p:cNvSpPr/>
          <p:nvPr/>
        </p:nvSpPr>
        <p:spPr>
          <a:xfrm>
            <a:off x="445760" y="3193973"/>
            <a:ext cx="64008" cy="6949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41">
            <a:extLst>
              <a:ext uri="{FF2B5EF4-FFF2-40B4-BE49-F238E27FC236}">
                <a16:creationId xmlns:a16="http://schemas.microsoft.com/office/drawing/2014/main" id="{C9B6B5DE-ED68-B544-8263-7CB3EC9D6BE3}"/>
              </a:ext>
            </a:extLst>
          </p:cNvPr>
          <p:cNvSpPr/>
          <p:nvPr/>
        </p:nvSpPr>
        <p:spPr>
          <a:xfrm>
            <a:off x="3280678" y="3267125"/>
            <a:ext cx="748792" cy="201168"/>
          </a:xfrm>
          <a:prstGeom prst="roundRect">
            <a:avLst>
              <a:gd name="adj" fmla="val 2727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HIGH RISK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28" name="Text 43">
            <a:extLst>
              <a:ext uri="{FF2B5EF4-FFF2-40B4-BE49-F238E27FC236}">
                <a16:creationId xmlns:a16="http://schemas.microsoft.com/office/drawing/2014/main" id="{1D87D07B-CB9E-9D46-9251-884427D4B08B}"/>
              </a:ext>
            </a:extLst>
          </p:cNvPr>
          <p:cNvSpPr/>
          <p:nvPr/>
        </p:nvSpPr>
        <p:spPr>
          <a:xfrm>
            <a:off x="582920" y="3248837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결함 이월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44">
            <a:extLst>
              <a:ext uri="{FF2B5EF4-FFF2-40B4-BE49-F238E27FC236}">
                <a16:creationId xmlns:a16="http://schemas.microsoft.com/office/drawing/2014/main" id="{94291A07-DEC6-9201-2E19-50CDBA025AC5}"/>
              </a:ext>
            </a:extLst>
          </p:cNvPr>
          <p:cNvSpPr/>
          <p:nvPr/>
        </p:nvSpPr>
        <p:spPr>
          <a:xfrm>
            <a:off x="582920" y="3468293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1,735건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45">
            <a:extLst>
              <a:ext uri="{FF2B5EF4-FFF2-40B4-BE49-F238E27FC236}">
                <a16:creationId xmlns:a16="http://schemas.microsoft.com/office/drawing/2014/main" id="{2A753932-8519-E34F-5611-E79D4C82D393}"/>
              </a:ext>
            </a:extLst>
          </p:cNvPr>
          <p:cNvSpPr/>
          <p:nvPr/>
        </p:nvSpPr>
        <p:spPr>
          <a:xfrm>
            <a:off x="1817360" y="3494061"/>
            <a:ext cx="2280212" cy="32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현재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 대기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결함이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2-3차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이월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시</a:t>
            </a:r>
            <a:r>
              <a:rPr lang="en-US" sz="800" dirty="0"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급증 예상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46">
            <a:extLst>
              <a:ext uri="{FF2B5EF4-FFF2-40B4-BE49-F238E27FC236}">
                <a16:creationId xmlns:a16="http://schemas.microsoft.com/office/drawing/2014/main" id="{9FC71AEB-A555-980A-D32F-4FDEE833E043}"/>
              </a:ext>
            </a:extLst>
          </p:cNvPr>
          <p:cNvSpPr/>
          <p:nvPr/>
        </p:nvSpPr>
        <p:spPr>
          <a:xfrm>
            <a:off x="4847380" y="3190108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CA5AF5D3-96FD-D345-D73C-618D99270947}"/>
              </a:ext>
            </a:extLst>
          </p:cNvPr>
          <p:cNvSpPr/>
          <p:nvPr/>
        </p:nvSpPr>
        <p:spPr>
          <a:xfrm>
            <a:off x="4847380" y="3190108"/>
            <a:ext cx="64008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5AEBB57E-EED4-FC5E-1E9A-D81ADC7996BF}"/>
              </a:ext>
            </a:extLst>
          </p:cNvPr>
          <p:cNvSpPr/>
          <p:nvPr/>
        </p:nvSpPr>
        <p:spPr>
          <a:xfrm>
            <a:off x="7682298" y="3263260"/>
            <a:ext cx="748792" cy="201168"/>
          </a:xfrm>
          <a:prstGeom prst="roundRect">
            <a:avLst>
              <a:gd name="adj" fmla="val 27273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HIGH RISK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35" name="Text 50">
            <a:extLst>
              <a:ext uri="{FF2B5EF4-FFF2-40B4-BE49-F238E27FC236}">
                <a16:creationId xmlns:a16="http://schemas.microsoft.com/office/drawing/2014/main" id="{722CD7B3-EB17-E23D-C89F-D980DBCFB9C7}"/>
              </a:ext>
            </a:extLst>
          </p:cNvPr>
          <p:cNvSpPr/>
          <p:nvPr/>
        </p:nvSpPr>
        <p:spPr>
          <a:xfrm>
            <a:off x="4984540" y="324497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 지속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51">
            <a:extLst>
              <a:ext uri="{FF2B5EF4-FFF2-40B4-BE49-F238E27FC236}">
                <a16:creationId xmlns:a16="http://schemas.microsoft.com/office/drawing/2014/main" id="{253C7744-A473-B66B-8B24-3587C828E4CE}"/>
              </a:ext>
            </a:extLst>
          </p:cNvPr>
          <p:cNvSpPr/>
          <p:nvPr/>
        </p:nvSpPr>
        <p:spPr>
          <a:xfrm>
            <a:off x="4984540" y="348461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37건 발생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52">
            <a:extLst>
              <a:ext uri="{FF2B5EF4-FFF2-40B4-BE49-F238E27FC236}">
                <a16:creationId xmlns:a16="http://schemas.microsoft.com/office/drawing/2014/main" id="{A193FB29-A764-AAFE-CF80-1E15F839FA1F}"/>
              </a:ext>
            </a:extLst>
          </p:cNvPr>
          <p:cNvSpPr/>
          <p:nvPr/>
        </p:nvSpPr>
        <p:spPr>
          <a:xfrm>
            <a:off x="6188668" y="3531347"/>
            <a:ext cx="2335680" cy="350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이미 37건 · PL 집중(95건)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 기능의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구조적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문제 미해소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53">
            <a:extLst>
              <a:ext uri="{FF2B5EF4-FFF2-40B4-BE49-F238E27FC236}">
                <a16:creationId xmlns:a16="http://schemas.microsoft.com/office/drawing/2014/main" id="{5A3A2143-DDCE-9AB2-0B90-CC09C55F197D}"/>
              </a:ext>
            </a:extLst>
          </p:cNvPr>
          <p:cNvSpPr/>
          <p:nvPr/>
        </p:nvSpPr>
        <p:spPr>
          <a:xfrm>
            <a:off x="445760" y="4006806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AAAB152D-2505-9F3C-DC8D-150C8624ABD5}"/>
              </a:ext>
            </a:extLst>
          </p:cNvPr>
          <p:cNvSpPr/>
          <p:nvPr/>
        </p:nvSpPr>
        <p:spPr>
          <a:xfrm>
            <a:off x="445760" y="4006806"/>
            <a:ext cx="64008" cy="6949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55">
            <a:extLst>
              <a:ext uri="{FF2B5EF4-FFF2-40B4-BE49-F238E27FC236}">
                <a16:creationId xmlns:a16="http://schemas.microsoft.com/office/drawing/2014/main" id="{2744A50A-E0CB-1B04-5F4F-E8CA956C36EB}"/>
              </a:ext>
            </a:extLst>
          </p:cNvPr>
          <p:cNvSpPr/>
          <p:nvPr/>
        </p:nvSpPr>
        <p:spPr>
          <a:xfrm>
            <a:off x="3426982" y="4079958"/>
            <a:ext cx="612648" cy="201168"/>
          </a:xfrm>
          <a:prstGeom prst="roundRect">
            <a:avLst>
              <a:gd name="adj" fmla="val 2727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긴급조치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42" name="Text 57">
            <a:extLst>
              <a:ext uri="{FF2B5EF4-FFF2-40B4-BE49-F238E27FC236}">
                <a16:creationId xmlns:a16="http://schemas.microsoft.com/office/drawing/2014/main" id="{49C294CF-8740-E755-62B0-182E744EE412}"/>
              </a:ext>
            </a:extLst>
          </p:cNvPr>
          <p:cNvSpPr/>
          <p:nvPr/>
        </p:nvSpPr>
        <p:spPr>
          <a:xfrm>
            <a:off x="582920" y="406167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58">
            <a:extLst>
              <a:ext uri="{FF2B5EF4-FFF2-40B4-BE49-F238E27FC236}">
                <a16:creationId xmlns:a16="http://schemas.microsoft.com/office/drawing/2014/main" id="{D322F341-8173-B642-BC3F-1E272F66F491}"/>
              </a:ext>
            </a:extLst>
          </p:cNvPr>
          <p:cNvSpPr/>
          <p:nvPr/>
        </p:nvSpPr>
        <p:spPr>
          <a:xfrm>
            <a:off x="582920" y="428112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89건 미결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59">
            <a:extLst>
              <a:ext uri="{FF2B5EF4-FFF2-40B4-BE49-F238E27FC236}">
                <a16:creationId xmlns:a16="http://schemas.microsoft.com/office/drawing/2014/main" id="{16C501B2-690E-1D04-B7E4-470C290C54AF}"/>
              </a:ext>
            </a:extLst>
          </p:cNvPr>
          <p:cNvSpPr/>
          <p:nvPr/>
        </p:nvSpPr>
        <p:spPr>
          <a:xfrm>
            <a:off x="1828536" y="4299966"/>
            <a:ext cx="2200934" cy="355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단계 검토요청 89건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감리 전 전수 조치 필수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60">
            <a:extLst>
              <a:ext uri="{FF2B5EF4-FFF2-40B4-BE49-F238E27FC236}">
                <a16:creationId xmlns:a16="http://schemas.microsoft.com/office/drawing/2014/main" id="{D712C2F9-B14E-53E7-3401-9C169DECB10B}"/>
              </a:ext>
            </a:extLst>
          </p:cNvPr>
          <p:cNvSpPr/>
          <p:nvPr/>
        </p:nvSpPr>
        <p:spPr>
          <a:xfrm>
            <a:off x="4869488" y="4006806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F86D7A1-407B-B3BF-A2D4-B43B31A54A86}"/>
              </a:ext>
            </a:extLst>
          </p:cNvPr>
          <p:cNvSpPr/>
          <p:nvPr/>
        </p:nvSpPr>
        <p:spPr>
          <a:xfrm>
            <a:off x="4869488" y="4006806"/>
            <a:ext cx="64008" cy="69494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62">
            <a:extLst>
              <a:ext uri="{FF2B5EF4-FFF2-40B4-BE49-F238E27FC236}">
                <a16:creationId xmlns:a16="http://schemas.microsoft.com/office/drawing/2014/main" id="{7F788561-D665-689A-A734-2D7D72646A85}"/>
              </a:ext>
            </a:extLst>
          </p:cNvPr>
          <p:cNvSpPr/>
          <p:nvPr/>
        </p:nvSpPr>
        <p:spPr>
          <a:xfrm>
            <a:off x="7850710" y="4079958"/>
            <a:ext cx="612648" cy="201168"/>
          </a:xfrm>
          <a:prstGeom prst="roundRect">
            <a:avLst>
              <a:gd name="adj" fmla="val 27273"/>
            </a:avLst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제도개선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49" name="Text 64">
            <a:extLst>
              <a:ext uri="{FF2B5EF4-FFF2-40B4-BE49-F238E27FC236}">
                <a16:creationId xmlns:a16="http://schemas.microsoft.com/office/drawing/2014/main" id="{AA6F16B0-849A-A6C3-7120-2E562DADB8DB}"/>
              </a:ext>
            </a:extLst>
          </p:cNvPr>
          <p:cNvSpPr/>
          <p:nvPr/>
        </p:nvSpPr>
        <p:spPr>
          <a:xfrm>
            <a:off x="5006648" y="406167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게이트 부재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65">
            <a:extLst>
              <a:ext uri="{FF2B5EF4-FFF2-40B4-BE49-F238E27FC236}">
                <a16:creationId xmlns:a16="http://schemas.microsoft.com/office/drawing/2014/main" id="{AAFD74FB-00DC-BD6C-1997-964E98C88CAD}"/>
              </a:ext>
            </a:extLst>
          </p:cNvPr>
          <p:cNvSpPr/>
          <p:nvPr/>
        </p:nvSpPr>
        <p:spPr>
          <a:xfrm>
            <a:off x="5006648" y="428112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구조적 반복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66">
            <a:extLst>
              <a:ext uri="{FF2B5EF4-FFF2-40B4-BE49-F238E27FC236}">
                <a16:creationId xmlns:a16="http://schemas.microsoft.com/office/drawing/2014/main" id="{3D8B349D-9A48-530B-1607-003A7D697756}"/>
              </a:ext>
            </a:extLst>
          </p:cNvPr>
          <p:cNvSpPr/>
          <p:nvPr/>
        </p:nvSpPr>
        <p:spPr>
          <a:xfrm>
            <a:off x="6182278" y="4306910"/>
            <a:ext cx="20214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진입 전 PL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검수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강화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반복 지속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산출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기준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4.1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9580" y="768096"/>
            <a:ext cx="822610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9580" y="76809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14172" y="768096"/>
            <a:ext cx="7488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결함율은 '결함+신규' 기준으로만 산출 — 개선·변경은 별도 집계하여 품질 왜곡 방지 · 결함율 100% 초과 시 단일 시나리오 복수 결함 발생 의미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580" y="1152144"/>
            <a:ext cx="8226108" cy="6949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9580" y="1152144"/>
            <a:ext cx="96520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18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산출 공식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8180" y="1426464"/>
            <a:ext cx="787606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(%)  =  해당 단계 결함 건수 (결함 + 신규)  ÷  해당 업무 전체 시나리오 수  ×  100</a:t>
            </a:r>
            <a:endParaRPr 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1C089C35-0A49-D8CB-A554-23B18D2CC20C}"/>
              </a:ext>
            </a:extLst>
          </p:cNvPr>
          <p:cNvGrpSpPr/>
          <p:nvPr/>
        </p:nvGrpSpPr>
        <p:grpSpPr>
          <a:xfrm>
            <a:off x="431800" y="1939873"/>
            <a:ext cx="2747772" cy="2121408"/>
            <a:chOff x="251460" y="2084832"/>
            <a:chExt cx="2747772" cy="2121408"/>
          </a:xfrm>
        </p:grpSpPr>
        <p:sp>
          <p:nvSpPr>
            <p:cNvPr id="12" name="Shape 10"/>
            <p:cNvSpPr/>
            <p:nvPr/>
          </p:nvSpPr>
          <p:spPr>
            <a:xfrm>
              <a:off x="251460" y="2084832"/>
              <a:ext cx="2633472" cy="2099893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251460" y="2084832"/>
              <a:ext cx="2633472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402336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(Defect)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046732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2046732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 산입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402336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중 발견된 기능 오작동·요구사항 불충족 등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수정이 필요한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379476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79476" y="2953512"/>
              <a:ext cx="2542032" cy="9059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오작동</a:t>
              </a:r>
              <a:endPara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불충족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데이터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UI/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251460" y="3950208"/>
              <a:ext cx="2633472" cy="256032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365760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결함율 산출 분자에 포함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F5ACD6C-A333-29B5-BAEB-C91B9ACCE566}"/>
              </a:ext>
            </a:extLst>
          </p:cNvPr>
          <p:cNvGrpSpPr/>
          <p:nvPr/>
        </p:nvGrpSpPr>
        <p:grpSpPr>
          <a:xfrm>
            <a:off x="3240278" y="1940052"/>
            <a:ext cx="2747772" cy="2121408"/>
            <a:chOff x="3150108" y="2084832"/>
            <a:chExt cx="2747772" cy="2121408"/>
          </a:xfrm>
        </p:grpSpPr>
        <p:sp>
          <p:nvSpPr>
            <p:cNvPr id="25" name="Shape 23"/>
            <p:cNvSpPr/>
            <p:nvPr/>
          </p:nvSpPr>
          <p:spPr>
            <a:xfrm>
              <a:off x="3150108" y="2084832"/>
              <a:ext cx="2633472" cy="2121408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50108" y="2084832"/>
              <a:ext cx="2633472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3300984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 (New)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945380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945380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 산입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3300984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과정에서 신규로 도출된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추가 결함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3278124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300984" y="3017520"/>
              <a:ext cx="254203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ko-KR" alt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총 </a:t>
              </a: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68</a:t>
              </a:r>
              <a:r>
                <a:rPr lang="ko-KR" alt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건</a:t>
              </a:r>
              <a:endParaRPr lang="en-US" altLang="ko-KR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중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ko-KR" alt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요건 발견</a:t>
              </a:r>
              <a:endPara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기존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시나리오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미포함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ko-KR" alt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3150108" y="3950208"/>
              <a:ext cx="2633472" cy="25603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3264408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결함과 동일하게 결함율 분자 산입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165E339-BC19-2C26-2A34-BBCB88F592E7}"/>
              </a:ext>
            </a:extLst>
          </p:cNvPr>
          <p:cNvGrpSpPr/>
          <p:nvPr/>
        </p:nvGrpSpPr>
        <p:grpSpPr>
          <a:xfrm>
            <a:off x="6048756" y="1940052"/>
            <a:ext cx="2747772" cy="2121408"/>
            <a:chOff x="6048756" y="2084832"/>
            <a:chExt cx="2747772" cy="2121408"/>
          </a:xfrm>
        </p:grpSpPr>
        <p:sp>
          <p:nvSpPr>
            <p:cNvPr id="36" name="Shape 34"/>
            <p:cNvSpPr/>
            <p:nvPr/>
          </p:nvSpPr>
          <p:spPr>
            <a:xfrm>
              <a:off x="6048756" y="2084832"/>
              <a:ext cx="2633472" cy="2121408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048756" y="2084832"/>
              <a:ext cx="2633472" cy="5486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199632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(Improvement)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7844028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7844028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별도 집계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199632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결함이 아닌 요구사항 추가·변경 요청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품질 문제와 무관한 협의 이슈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176772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199632" y="3017520"/>
              <a:ext cx="2542032" cy="8693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변경·추가</a:t>
              </a:r>
              <a:endPara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협의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미완료</a:t>
              </a:r>
              <a:endPara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화면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요청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운영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방식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미확정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6048756" y="3950208"/>
              <a:ext cx="2633472" cy="25603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6163056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결함율 산출 제외 · 4.3에서 별도 분석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49" name="Shape 47"/>
          <p:cNvSpPr/>
          <p:nvPr/>
        </p:nvSpPr>
        <p:spPr>
          <a:xfrm>
            <a:off x="438912" y="4209931"/>
            <a:ext cx="8243316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8912" y="4209931"/>
            <a:ext cx="64008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40080" y="4209931"/>
            <a:ext cx="64663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유의사항  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결함율이 100%를 초과하는 경우는 단일 시나리오에서 복수의 결함이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발생하였음을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의미 함</a:t>
            </a:r>
            <a:r>
              <a: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결함과 혼산할 경우 특정 모듈의 품질을 과소평가할 수 있으므로 반드시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분리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함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결함율 분석 (결함 기준)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7141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 1차 공사 124.6% · 항공보안(FS) 1차 공사 95.7% · 예측관리(PM) 1차 공사 75.6% — 공사테스트 단계 위험 구간 집중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1960" y="1115568"/>
            <a:ext cx="164592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1416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70% 이상 — 위험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18944" y="111556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438400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40~70% — 주의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064508" y="1115568"/>
            <a:ext cx="164592" cy="164592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283964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20~40% — 관심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22492" y="1115568"/>
            <a:ext cx="164592" cy="164592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41948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□ 20% 미만 — 정상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2873580100"/>
              </p:ext>
            </p:extLst>
          </p:nvPr>
        </p:nvGraphicFramePr>
        <p:xfrm>
          <a:off x="381000" y="1389888"/>
          <a:ext cx="5326380" cy="2231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5861304" y="1517904"/>
            <a:ext cx="28117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89320" y="151790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위험(70%↑) · 주의(40~70%) 구간 모듈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861304" y="1869948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861304" y="1869948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980176" y="18699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046976" y="186994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723632" y="18699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8327136" y="1906524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327136" y="190652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61304" y="2176272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861304" y="2176272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980176" y="2176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7046976" y="2176272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723632" y="21762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95.7%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8327136" y="2220468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327136" y="22204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861304" y="2482596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861304" y="2482596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980176" y="24825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7046976" y="248259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7723632" y="248259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8327136" y="2519172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8327136" y="25191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861304" y="2788920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5861304" y="2788920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5980176" y="27889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7046976" y="2788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7723632" y="278892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75.6%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8327136" y="2825496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8327136" y="282549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5861304" y="3095244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5861304" y="3095244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980176" y="30952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7046976" y="30952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7723632" y="309524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80.0%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8327136" y="3131820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8327136" y="3131820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5861304" y="3401568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5861304" y="3401568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5980176" y="34015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7046976" y="340156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7723632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61.1%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6"/>
          <p:cNvSpPr/>
          <p:nvPr/>
        </p:nvSpPr>
        <p:spPr>
          <a:xfrm>
            <a:off x="8327136" y="3438144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8327136" y="343814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5861304" y="3707892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59"/>
          <p:cNvSpPr/>
          <p:nvPr/>
        </p:nvSpPr>
        <p:spPr>
          <a:xfrm>
            <a:off x="5861304" y="3707892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5980176" y="37078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Text 61"/>
          <p:cNvSpPr/>
          <p:nvPr/>
        </p:nvSpPr>
        <p:spPr>
          <a:xfrm>
            <a:off x="7046976" y="3707892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7723632" y="37078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67.5%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8327136" y="3744468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8327136" y="37444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5861304" y="4014216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66"/>
          <p:cNvSpPr/>
          <p:nvPr/>
        </p:nvSpPr>
        <p:spPr>
          <a:xfrm>
            <a:off x="5861304" y="4014216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5980176" y="4014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Text 68"/>
          <p:cNvSpPr/>
          <p:nvPr/>
        </p:nvSpPr>
        <p:spPr>
          <a:xfrm>
            <a:off x="7046976" y="401421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Text 69"/>
          <p:cNvSpPr/>
          <p:nvPr/>
        </p:nvSpPr>
        <p:spPr>
          <a:xfrm>
            <a:off x="7723632" y="401421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53.0%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Shape 70"/>
          <p:cNvSpPr/>
          <p:nvPr/>
        </p:nvSpPr>
        <p:spPr>
          <a:xfrm>
            <a:off x="8327136" y="4066032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8327136" y="40660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5861304" y="4320540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Shape 73"/>
          <p:cNvSpPr/>
          <p:nvPr/>
        </p:nvSpPr>
        <p:spPr>
          <a:xfrm>
            <a:off x="5861304" y="4320540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Text 74"/>
          <p:cNvSpPr/>
          <p:nvPr/>
        </p:nvSpPr>
        <p:spPr>
          <a:xfrm>
            <a:off x="5980176" y="43205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자원배정차트(RC)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Text 75"/>
          <p:cNvSpPr/>
          <p:nvPr/>
        </p:nvSpPr>
        <p:spPr>
          <a:xfrm>
            <a:off x="7046976" y="43205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7723632" y="432054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7"/>
          <p:cNvSpPr/>
          <p:nvPr/>
        </p:nvSpPr>
        <p:spPr>
          <a:xfrm>
            <a:off x="8327136" y="4357116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8"/>
          <p:cNvSpPr/>
          <p:nvPr/>
        </p:nvSpPr>
        <p:spPr>
          <a:xfrm>
            <a:off x="8327136" y="43571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79"/>
          <p:cNvSpPr/>
          <p:nvPr/>
        </p:nvSpPr>
        <p:spPr>
          <a:xfrm>
            <a:off x="439420" y="3645789"/>
            <a:ext cx="5303012" cy="105156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Shape 80"/>
          <p:cNvSpPr/>
          <p:nvPr/>
        </p:nvSpPr>
        <p:spPr>
          <a:xfrm>
            <a:off x="439420" y="3645789"/>
            <a:ext cx="64008" cy="105156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622300" y="3691509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 인사이트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2"/>
          <p:cNvSpPr/>
          <p:nvPr/>
        </p:nvSpPr>
        <p:spPr>
          <a:xfrm>
            <a:off x="622300" y="3938397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공사테스트 집중: 1차 공사에서 위험·주의 구간이 집중 → 개발자·PL 단계 사전 검증 부재가 근본 원인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622300" y="4176141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AOMS-CA 124.6%: 단일 시나리오 복수 결함 발생 → 화면 단위 전수 재검토 및 재설계 수준 점검 필요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622300" y="4413885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③ 2차 차수에서 위험 구간 감소 추세이나 자원배정차트(RC) 2차 공사 67.6%로 재증가 → 집중 관리 필요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5"/>
          <p:cNvSpPr/>
          <p:nvPr/>
        </p:nvSpPr>
        <p:spPr>
          <a:xfrm>
            <a:off x="274320" y="504748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결함율 기준: 70%↑ 위험(적색) / 40~70% 주의(주황) / 20~40% 관심(황색) / 20%↓ 정상 · AOMS-CA 1차 공사 124.6%: 단일 시나리오 복수 결함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/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변경율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69753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개선·변경은 결함이 아닌 요구사항 확정 지연·현업 협의 부족의 신호 — 공항운영(GO) 1차 공사 43.9%·현업 39.5%로 요구사항 재검토 필요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1207414093"/>
              </p:ext>
            </p:extLst>
          </p:nvPr>
        </p:nvGraphicFramePr>
        <p:xfrm>
          <a:off x="569214" y="1078992"/>
          <a:ext cx="5076444" cy="24323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5935980" y="1115568"/>
            <a:ext cx="27432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063996" y="1115568"/>
            <a:ext cx="2165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/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특이사항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935980" y="1444752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935980" y="1444752"/>
            <a:ext cx="64008" cy="6949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073140" y="14996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073140" y="1700784"/>
            <a:ext cx="2279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43.9% · 현업 39.5%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073140" y="1865376"/>
            <a:ext cx="1927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 요구 최다 — 요구사항 정의 단계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재검토 및 현업 협의 강화 필요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935980" y="2231136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35980" y="2231136"/>
            <a:ext cx="64008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073140" y="22860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073140" y="2487168"/>
            <a:ext cx="240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62.3% · 2차 공사 49.4%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6073140" y="2651760"/>
            <a:ext cx="1668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 차수 모두 40% 초과 — 요구사항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변경·추가 지속 발생 구조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5935980" y="3017520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935980" y="3017520"/>
            <a:ext cx="64008" cy="6949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073140" y="30723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073140" y="3273552"/>
            <a:ext cx="2354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56.0%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073140" y="3438144"/>
            <a:ext cx="175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단계 개선 요구 집중 — UI 표준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미정의와 현업 협의 미완료 복합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943600" y="3803904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943600" y="3803904"/>
            <a:ext cx="64008" cy="69494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6080760" y="3858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080760" y="4059936"/>
            <a:ext cx="234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현업 43.9%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080760" y="4224528"/>
            <a:ext cx="209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단계 개선 요구 높음 — 현업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운영 방식 확정 지연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449580" y="3474720"/>
            <a:ext cx="5113020" cy="121615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449580" y="3474720"/>
            <a:ext cx="64008" cy="121615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32460" y="3529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vs 개선·변경율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비교</a:t>
            </a: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해석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32460" y="3803904"/>
            <a:ext cx="422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결함율 高 + </a:t>
            </a:r>
            <a:r>
              <a:rPr lang="en-US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개선·변경율</a:t>
            </a: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高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: 개발 완성도 낮음 + 요구사항 미확정 → 재설계 수준 검토 필요 (예: AOMS-CA)</a:t>
            </a:r>
          </a:p>
          <a:p>
            <a:pPr>
              <a:lnSpc>
                <a:spcPct val="150000"/>
              </a:lnSpc>
            </a:pP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低 +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개선·변경율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高</a:t>
            </a:r>
          </a:p>
          <a:p>
            <a:pPr>
              <a:lnSpc>
                <a:spcPct val="150000"/>
              </a:lnSpc>
            </a:pP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: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기술적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적으나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요구사항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혼선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지속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→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협의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체계화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우선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(예: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5372" y="-1097280"/>
            <a:ext cx="4754880" cy="4754880"/>
          </a:xfrm>
          <a:prstGeom prst="ellipse">
            <a:avLst/>
          </a:prstGeom>
          <a:solidFill>
            <a:srgbClr val="D1D9E6">
              <a:alpha val="70000"/>
            </a:srgbClr>
          </a:solidFill>
          <a:ln w="12700">
            <a:solidFill>
              <a:srgbClr val="D1D9E6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85532" y="548640"/>
            <a:ext cx="2560320" cy="2560320"/>
          </a:xfrm>
          <a:prstGeom prst="ellipse">
            <a:avLst/>
          </a:prstGeom>
          <a:solidFill>
            <a:srgbClr val="3B82C4">
              <a:alpha val="22000"/>
            </a:srgbClr>
          </a:solidFill>
          <a:ln w="12700">
            <a:solidFill>
              <a:srgbClr val="3B82C4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132320" y="2926080"/>
            <a:ext cx="1828800" cy="1828800"/>
          </a:xfrm>
          <a:prstGeom prst="ellipse">
            <a:avLst/>
          </a:prstGeom>
          <a:solidFill>
            <a:srgbClr val="1B3A6B">
              <a:alpha val="15000"/>
            </a:srgbClr>
          </a:solidFill>
          <a:ln w="12700">
            <a:solidFill>
              <a:srgbClr val="1B3A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66928" y="1254633"/>
            <a:ext cx="73152" cy="25146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3915" y="1251966"/>
            <a:ext cx="1143000" cy="237744"/>
          </a:xfrm>
          <a:prstGeom prst="rect">
            <a:avLst/>
          </a:prstGeom>
          <a:solidFill>
            <a:srgbClr val="FFF0EB"/>
          </a:solidFill>
          <a:ln w="12700">
            <a:solidFill>
              <a:srgbClr val="FFC4B0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보충</a:t>
            </a:r>
            <a:r>
              <a:rPr kumimoji="0" lang="en-US" altLang="ko-KR" sz="1000" b="1" i="0" u="none" strike="noStrike" kern="0" cap="none" spc="20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의견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39" y="1599819"/>
            <a:ext cx="6739561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36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다중 지표 분석 및 내용 분석 의견</a:t>
            </a:r>
            <a:endParaRPr lang="en-US" altLang="ko-KR" sz="3600" b="1" dirty="0">
              <a:solidFill>
                <a:srgbClr val="132952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정량지표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중심</a:t>
            </a:r>
            <a:r>
              <a:rPr 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</a:t>
            </a:r>
            <a:r>
              <a:rPr lang="ko-KR" alt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한계 보완</a:t>
            </a:r>
            <a:endParaRPr lang="en-US" altLang="ko-KR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7240" y="3145536"/>
            <a:ext cx="3657600" cy="3657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3273552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단순 결함 건수를 넘어 — 테스트 충실도·심각도·복잡도·해소역량의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lnSpc>
                <a:spcPct val="145000"/>
              </a:lnSpc>
              <a:buNone/>
            </a:pPr>
            <a:r>
              <a:rPr lang="ko-KR" alt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다축</a:t>
            </a:r>
            <a:r>
              <a:rPr lang="ko-KR" alt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교차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분석을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통한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평</a:t>
            </a:r>
            <a:r>
              <a:rPr lang="ko-KR" alt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 한계점을  보완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164592" cy="3429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7472" y="4800600"/>
            <a:ext cx="85039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 종합 분석 결과서  · 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</a:t>
            </a:r>
            <a:r>
              <a:rPr lang="ko-KR" alt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에 대한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보충</a:t>
            </a: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의견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852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중심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(</a:t>
            </a: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정량적</a:t>
            </a:r>
            <a:r>
              <a:rPr lang="en-US" altLang="ko-KR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평가의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한계</a:t>
            </a: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와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다차원 판단 필요성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4340" y="768096"/>
            <a:ext cx="824134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4340" y="76809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8932" y="76809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건수는 '얼마나 발견됐는가'를 나타낼 뿐 ,  '얼마나 잘 만들어졌는가'는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별개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→ 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판단 축의 교차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분석이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필</a:t>
            </a:r>
            <a:r>
              <a:rPr lang="ko-KR" alt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580" y="1133856"/>
            <a:ext cx="3966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77596" y="1133856"/>
            <a:ext cx="3809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건수만으로 판단 시 발생하는 오류 유형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9219A20E-E6A0-00AE-6CE8-A837E2E3EFCB}"/>
              </a:ext>
            </a:extLst>
          </p:cNvPr>
          <p:cNvGrpSpPr/>
          <p:nvPr/>
        </p:nvGrpSpPr>
        <p:grpSpPr>
          <a:xfrm>
            <a:off x="449580" y="1455420"/>
            <a:ext cx="4059936" cy="720000"/>
            <a:chOff x="449580" y="1455420"/>
            <a:chExt cx="4059936" cy="720000"/>
          </a:xfrm>
        </p:grpSpPr>
        <p:sp>
          <p:nvSpPr>
            <p:cNvPr id="10" name="Shape 8"/>
            <p:cNvSpPr/>
            <p:nvPr/>
          </p:nvSpPr>
          <p:spPr>
            <a:xfrm>
              <a:off x="449580" y="1455420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49580" y="1455420"/>
              <a:ext cx="64008" cy="72000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577596" y="1589532"/>
              <a:ext cx="256032" cy="256032"/>
            </a:xfrm>
            <a:prstGeom prst="ellipse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77596" y="1589532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↑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5068" y="1488948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多 ≠ 품질 나쁨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5068" y="1680972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촘촘한 테스트·숙련 테스터·현업 참여 활발 시 결함이 더 많이 발견됨.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발견 결함 多 = 테스트 충실도 高 신호일 수 있음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25068" y="1982724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항공통계포털(AS): 시나리오 194건 대비 결함 200건 — 감리 집중 검증 결과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81F3E676-B877-ECFD-2C34-B1A8A2CA2883}"/>
              </a:ext>
            </a:extLst>
          </p:cNvPr>
          <p:cNvGrpSpPr/>
          <p:nvPr/>
        </p:nvGrpSpPr>
        <p:grpSpPr>
          <a:xfrm>
            <a:off x="449580" y="2228088"/>
            <a:ext cx="4059936" cy="720000"/>
            <a:chOff x="449580" y="2296668"/>
            <a:chExt cx="4059936" cy="720000"/>
          </a:xfrm>
        </p:grpSpPr>
        <p:sp>
          <p:nvSpPr>
            <p:cNvPr id="17" name="Shape 15"/>
            <p:cNvSpPr/>
            <p:nvPr/>
          </p:nvSpPr>
          <p:spPr>
            <a:xfrm>
              <a:off x="449580" y="2296668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49580" y="2296668"/>
              <a:ext cx="64008" cy="720000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7596" y="2430780"/>
              <a:ext cx="256032" cy="256032"/>
            </a:xfrm>
            <a:prstGeom prst="ellipse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77596" y="2430780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↓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25068" y="2330196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少 ≠ 품질 좋음</a:t>
              </a:r>
              <a:endParaRPr lang="en-US" sz="9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925068" y="2522220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TC 수 부족·비핵심 기능 위주 테스트 시 결함이 적게 도출됨.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커버리지 부족이 결함 감소로 위장되는 함정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925068" y="2823972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푸시SW(PUSH): 시나리오 6건·결함 5건 — 검증 범위 자체가 협소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371861DA-5A6F-64B5-FE46-B2C374AFD380}"/>
              </a:ext>
            </a:extLst>
          </p:cNvPr>
          <p:cNvGrpSpPr/>
          <p:nvPr/>
        </p:nvGrpSpPr>
        <p:grpSpPr>
          <a:xfrm>
            <a:off x="449580" y="3000756"/>
            <a:ext cx="4059936" cy="720000"/>
            <a:chOff x="449580" y="3137916"/>
            <a:chExt cx="4059936" cy="720000"/>
          </a:xfrm>
        </p:grpSpPr>
        <p:sp>
          <p:nvSpPr>
            <p:cNvPr id="24" name="Shape 22"/>
            <p:cNvSpPr/>
            <p:nvPr/>
          </p:nvSpPr>
          <p:spPr>
            <a:xfrm>
              <a:off x="449580" y="313791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9580" y="3137916"/>
              <a:ext cx="64008" cy="72000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77596" y="3272028"/>
              <a:ext cx="256032" cy="256032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577596" y="3272028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≠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925068" y="3171444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건수 합산은 심각도 차이를 무시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925068" y="3363468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Critical 1건은 시스템 전체 운영 불가 수준.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Minor 10건보다 훨씬 큰 위협임에도 동일 1건으로 집계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925068" y="3665220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공항운영(GO) UI 366건 vs 데이터 138건 — 업무 영향도는 역전 가능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9F7415B-DE0D-5C09-7BC7-B10F0F23B5A6}"/>
              </a:ext>
            </a:extLst>
          </p:cNvPr>
          <p:cNvGrpSpPr/>
          <p:nvPr/>
        </p:nvGrpSpPr>
        <p:grpSpPr>
          <a:xfrm>
            <a:off x="449580" y="3773424"/>
            <a:ext cx="4059936" cy="720000"/>
            <a:chOff x="449580" y="3979164"/>
            <a:chExt cx="4059936" cy="720000"/>
          </a:xfrm>
        </p:grpSpPr>
        <p:sp>
          <p:nvSpPr>
            <p:cNvPr id="31" name="Shape 29"/>
            <p:cNvSpPr/>
            <p:nvPr/>
          </p:nvSpPr>
          <p:spPr>
            <a:xfrm>
              <a:off x="449580" y="3979164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449580" y="3979164"/>
              <a:ext cx="64008" cy="720000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577596" y="4113276"/>
              <a:ext cx="256032" cy="256032"/>
            </a:xfrm>
            <a:prstGeom prst="ellipse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577596" y="411327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↔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925068" y="4012692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요청과 결함의 혼입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925068" y="4204716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1,944건은 품질 문제 아닌 요구사항 확정 지연.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동일 집계 시 특정 모듈 품질을 체계적으로 과소평가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5068" y="4506468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공항운영(GO) 1차 공사 개선율 43.9% — 결함 아닌 협의 미완료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38" name="Shape 36"/>
          <p:cNvSpPr/>
          <p:nvPr/>
        </p:nvSpPr>
        <p:spPr>
          <a:xfrm>
            <a:off x="4709160" y="1133856"/>
            <a:ext cx="3966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837176" y="1133856"/>
            <a:ext cx="3809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판단을 위해 추가 필요한 4가지 판단 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39E8452-6E50-3C4E-0EE3-83A34823169F}"/>
              </a:ext>
            </a:extLst>
          </p:cNvPr>
          <p:cNvGrpSpPr/>
          <p:nvPr/>
        </p:nvGrpSpPr>
        <p:grpSpPr>
          <a:xfrm>
            <a:off x="4709160" y="1438656"/>
            <a:ext cx="3966528" cy="720000"/>
            <a:chOff x="4709160" y="1438656"/>
            <a:chExt cx="3966528" cy="720000"/>
          </a:xfrm>
        </p:grpSpPr>
        <p:sp>
          <p:nvSpPr>
            <p:cNvPr id="40" name="Shape 38"/>
            <p:cNvSpPr/>
            <p:nvPr/>
          </p:nvSpPr>
          <p:spPr>
            <a:xfrm>
              <a:off x="4709160" y="143865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4828032" y="1612392"/>
              <a:ext cx="982980" cy="448056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ko-KR" altLang="en-US" sz="105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충실도</a:t>
              </a:r>
            </a:p>
          </p:txBody>
        </p:sp>
        <p:sp>
          <p:nvSpPr>
            <p:cNvPr id="45" name="Text 43"/>
            <p:cNvSpPr/>
            <p:nvPr/>
          </p:nvSpPr>
          <p:spPr>
            <a:xfrm>
              <a:off x="5996940" y="1575816"/>
              <a:ext cx="2534412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시나리오 대비 결함율 (결함÷시나리오×100)</a:t>
              </a:r>
            </a:p>
            <a:p>
              <a:r>
                <a:rPr lang="en-US" altLang="ko-KR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케이스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커버리지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(%)</a:t>
              </a:r>
            </a:p>
            <a:p>
              <a:r>
                <a:rPr lang="en-US" altLang="ko-KR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숙련도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및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참여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수준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DD7AD2A8-7B78-3857-413D-CA4F497ACC11}"/>
              </a:ext>
            </a:extLst>
          </p:cNvPr>
          <p:cNvGrpSpPr/>
          <p:nvPr/>
        </p:nvGrpSpPr>
        <p:grpSpPr>
          <a:xfrm>
            <a:off x="4709160" y="2221484"/>
            <a:ext cx="3966528" cy="720000"/>
            <a:chOff x="4709160" y="2289048"/>
            <a:chExt cx="3966528" cy="720000"/>
          </a:xfrm>
        </p:grpSpPr>
        <p:sp>
          <p:nvSpPr>
            <p:cNvPr id="48" name="Shape 46"/>
            <p:cNvSpPr/>
            <p:nvPr/>
          </p:nvSpPr>
          <p:spPr>
            <a:xfrm>
              <a:off x="4709160" y="2289048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0" name="Shape 48"/>
            <p:cNvSpPr/>
            <p:nvPr/>
          </p:nvSpPr>
          <p:spPr>
            <a:xfrm>
              <a:off x="4828032" y="2439924"/>
              <a:ext cx="982980" cy="448056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심각도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및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성격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51"/>
            <p:cNvSpPr/>
            <p:nvPr/>
          </p:nvSpPr>
          <p:spPr>
            <a:xfrm>
              <a:off x="5996940" y="2435352"/>
              <a:ext cx="253441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심각도 가중 지수 (Critical×3·Major×2·Minor×1)</a:t>
              </a:r>
            </a:p>
            <a:p>
              <a:r>
                <a:rPr lang="en-US" altLang="ko-KR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UI·데이터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비중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구분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혼입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여부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명확히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분리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FE6ACE0-A4BB-F1A0-74FA-4A112BEDD1BC}"/>
              </a:ext>
            </a:extLst>
          </p:cNvPr>
          <p:cNvGrpSpPr/>
          <p:nvPr/>
        </p:nvGrpSpPr>
        <p:grpSpPr>
          <a:xfrm>
            <a:off x="4709160" y="3004312"/>
            <a:ext cx="3966528" cy="720000"/>
            <a:chOff x="4709160" y="3130296"/>
            <a:chExt cx="3966528" cy="720000"/>
          </a:xfrm>
        </p:grpSpPr>
        <p:sp>
          <p:nvSpPr>
            <p:cNvPr id="56" name="Shape 54"/>
            <p:cNvSpPr/>
            <p:nvPr/>
          </p:nvSpPr>
          <p:spPr>
            <a:xfrm>
              <a:off x="4709160" y="313029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8" name="Shape 56"/>
            <p:cNvSpPr/>
            <p:nvPr/>
          </p:nvSpPr>
          <p:spPr>
            <a:xfrm>
              <a:off x="4828032" y="3281172"/>
              <a:ext cx="982980" cy="448056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모듈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복잡도</a:t>
              </a:r>
              <a:endParaRPr lang="en-US" altLang="ko-KR" sz="1000" b="1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업무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난이도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1" name="Text 59"/>
            <p:cNvSpPr/>
            <p:nvPr/>
          </p:nvSpPr>
          <p:spPr>
            <a:xfrm>
              <a:off x="5996940" y="3276600"/>
              <a:ext cx="25222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업무 로직 복잡도 (I/F 수·규제 요건 등)</a:t>
              </a:r>
            </a:p>
            <a:p>
              <a:r>
                <a:rPr lang="en-US" altLang="ko-KR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ASIS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대비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변경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범위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이관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비율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모듈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규모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화면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수·기능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점수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F4667B33-D87C-D29B-F0A7-6689E3152FA4}"/>
              </a:ext>
            </a:extLst>
          </p:cNvPr>
          <p:cNvGrpSpPr/>
          <p:nvPr/>
        </p:nvGrpSpPr>
        <p:grpSpPr>
          <a:xfrm>
            <a:off x="4709160" y="3787140"/>
            <a:ext cx="4050792" cy="720000"/>
            <a:chOff x="4709160" y="3962400"/>
            <a:chExt cx="4050792" cy="720000"/>
          </a:xfrm>
        </p:grpSpPr>
        <p:sp>
          <p:nvSpPr>
            <p:cNvPr id="64" name="Shape 62"/>
            <p:cNvSpPr/>
            <p:nvPr/>
          </p:nvSpPr>
          <p:spPr>
            <a:xfrm>
              <a:off x="4709160" y="3962400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6" name="Shape 64"/>
            <p:cNvSpPr/>
            <p:nvPr/>
          </p:nvSpPr>
          <p:spPr>
            <a:xfrm>
              <a:off x="4828032" y="4113276"/>
              <a:ext cx="982980" cy="44805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해소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역량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/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Text 67"/>
            <p:cNvSpPr/>
            <p:nvPr/>
          </p:nvSpPr>
          <p:spPr>
            <a:xfrm>
              <a:off x="5996940" y="4113276"/>
              <a:ext cx="2601468" cy="4480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평균 조치 소요일 (등록→완료 </a:t>
              </a:r>
              <a:r>
                <a:rPr lang="en-US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리드타임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</a:p>
            <a:p>
              <a:r>
                <a:rPr lang="en-US" altLang="ko-KR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재결함율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재조치요청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÷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조치완료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성격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분류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Text 68"/>
            <p:cNvSpPr/>
            <p:nvPr/>
          </p:nvSpPr>
          <p:spPr>
            <a:xfrm>
              <a:off x="4828032" y="4277868"/>
              <a:ext cx="3931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72" name="Shape 70"/>
          <p:cNvSpPr/>
          <p:nvPr/>
        </p:nvSpPr>
        <p:spPr>
          <a:xfrm>
            <a:off x="0" y="4539996"/>
            <a:ext cx="91440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1143000" y="45232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결함 건수는 '입력 지표' — 테스트 충실도·심각도·복잡도·해소역량 4축 교차 분석을 통해 비로소 모듈 품질의 '출력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지표'가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도출됨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186">
            <a:extLst>
              <a:ext uri="{FF2B5EF4-FFF2-40B4-BE49-F238E27FC236}">
                <a16:creationId xmlns:a16="http://schemas.microsoft.com/office/drawing/2014/main" id="{59EAB41B-4312-CCD1-A0FB-9E9BF88CC17D}"/>
              </a:ext>
            </a:extLst>
          </p:cNvPr>
          <p:cNvSpPr/>
          <p:nvPr/>
        </p:nvSpPr>
        <p:spPr>
          <a:xfrm>
            <a:off x="7155180" y="2012898"/>
            <a:ext cx="1520508" cy="1269491"/>
          </a:xfrm>
          <a:prstGeom prst="rect">
            <a:avLst/>
          </a:prstGeom>
          <a:solidFill>
            <a:srgbClr val="E5E9E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0" name="Shape 186">
            <a:extLst>
              <a:ext uri="{FF2B5EF4-FFF2-40B4-BE49-F238E27FC236}">
                <a16:creationId xmlns:a16="http://schemas.microsoft.com/office/drawing/2014/main" id="{8DBF1318-3DB0-4ECE-EECA-14AAAEBACAE9}"/>
              </a:ext>
            </a:extLst>
          </p:cNvPr>
          <p:cNvSpPr/>
          <p:nvPr/>
        </p:nvSpPr>
        <p:spPr>
          <a:xfrm>
            <a:off x="7155180" y="3411930"/>
            <a:ext cx="1520508" cy="1269491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84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다차원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품질 지표 — 모듈별 히트맵 분석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8011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5가지 지표 교차 분석 시 단순 결함 건수와 실제 품질 위험도가 역전되는 </a:t>
            </a:r>
            <a:r>
              <a:rPr lang="en-US" sz="92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</a:t>
            </a: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2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존재</a:t>
            </a: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— 공항운영(GO)·항공통계포털(AS)·항공기관제(AC) 주목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475C6410-9817-B677-7492-B3A9C32E1D99}"/>
              </a:ext>
            </a:extLst>
          </p:cNvPr>
          <p:cNvGrpSpPr/>
          <p:nvPr/>
        </p:nvGrpSpPr>
        <p:grpSpPr>
          <a:xfrm>
            <a:off x="441960" y="1115568"/>
            <a:ext cx="1463040" cy="512064"/>
            <a:chOff x="274320" y="1115568"/>
            <a:chExt cx="1463040" cy="512064"/>
          </a:xfrm>
        </p:grpSpPr>
        <p:sp>
          <p:nvSpPr>
            <p:cNvPr id="8" name="Shape 6"/>
            <p:cNvSpPr/>
            <p:nvPr/>
          </p:nvSpPr>
          <p:spPr>
            <a:xfrm>
              <a:off x="27432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274320" y="1115568"/>
              <a:ext cx="1463040" cy="54864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365760" y="1170432"/>
              <a:ext cx="914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</a:t>
              </a:r>
              <a:r>
                <a:rPr lang="en-US" sz="850" b="1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1389888"/>
              <a:ext cx="12344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결함÷시나리오×100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363980" y="1205992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9663D667-19AE-36BD-6D6C-FBC16C2808F9}"/>
              </a:ext>
            </a:extLst>
          </p:cNvPr>
          <p:cNvGrpSpPr/>
          <p:nvPr/>
        </p:nvGrpSpPr>
        <p:grpSpPr>
          <a:xfrm>
            <a:off x="2114550" y="1115568"/>
            <a:ext cx="1554480" cy="512064"/>
            <a:chOff x="2011680" y="1115568"/>
            <a:chExt cx="1554480" cy="512064"/>
          </a:xfrm>
        </p:grpSpPr>
        <p:sp>
          <p:nvSpPr>
            <p:cNvPr id="13" name="Shape 11"/>
            <p:cNvSpPr/>
            <p:nvPr/>
          </p:nvSpPr>
          <p:spPr>
            <a:xfrm>
              <a:off x="2011680" y="1115568"/>
              <a:ext cx="155448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2011680" y="1115568"/>
              <a:ext cx="1554480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103120" y="1170432"/>
              <a:ext cx="107899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심각도 가중지수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3185160" y="1235964"/>
              <a:ext cx="320040" cy="1097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단위:점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33" name="Shape 31"/>
          <p:cNvSpPr/>
          <p:nvPr/>
        </p:nvSpPr>
        <p:spPr>
          <a:xfrm>
            <a:off x="464821" y="1725472"/>
            <a:ext cx="1254252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9412" y="1725472"/>
            <a:ext cx="1195083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748028" y="1725472"/>
            <a:ext cx="1130014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48028" y="1725472"/>
            <a:ext cx="1130014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903220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903220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가중지수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81628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881628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③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해소율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852416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852416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기능결함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831094" y="1725472"/>
            <a:ext cx="1201214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055320" y="1725472"/>
            <a:ext cx="931101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⑤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7624572" y="2144419"/>
            <a:ext cx="632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5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범례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8234236" y="2658160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0C4F7D-1651-C76C-DDEC-0367CE6DA233}"/>
              </a:ext>
            </a:extLst>
          </p:cNvPr>
          <p:cNvGrpSpPr/>
          <p:nvPr/>
        </p:nvGrpSpPr>
        <p:grpSpPr>
          <a:xfrm>
            <a:off x="7223760" y="1115568"/>
            <a:ext cx="1463040" cy="512064"/>
            <a:chOff x="7223760" y="1115568"/>
            <a:chExt cx="1463040" cy="512064"/>
          </a:xfrm>
        </p:grpSpPr>
        <p:sp>
          <p:nvSpPr>
            <p:cNvPr id="28" name="Shape 26"/>
            <p:cNvSpPr/>
            <p:nvPr/>
          </p:nvSpPr>
          <p:spPr>
            <a:xfrm>
              <a:off x="722376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7223760" y="1115568"/>
              <a:ext cx="1463040" cy="5486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7315200" y="1170432"/>
              <a:ext cx="9067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⑤ 미결 위험도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7315200" y="1405128"/>
              <a:ext cx="1211580" cy="15727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(재조치+조치요청)÷전체×100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1" name="Text 10">
              <a:extLst>
                <a:ext uri="{FF2B5EF4-FFF2-40B4-BE49-F238E27FC236}">
                  <a16:creationId xmlns:a16="http://schemas.microsoft.com/office/drawing/2014/main" id="{5A538FF4-75FF-4E3C-9AFA-24FDAB4188A2}"/>
                </a:ext>
              </a:extLst>
            </p:cNvPr>
            <p:cNvSpPr/>
            <p:nvPr/>
          </p:nvSpPr>
          <p:spPr>
            <a:xfrm>
              <a:off x="8291322" y="1232611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A20C8EA4-4AEA-0797-A636-2E0F69758C45}"/>
              </a:ext>
            </a:extLst>
          </p:cNvPr>
          <p:cNvGrpSpPr/>
          <p:nvPr/>
        </p:nvGrpSpPr>
        <p:grpSpPr>
          <a:xfrm>
            <a:off x="3878580" y="1115568"/>
            <a:ext cx="1463040" cy="512064"/>
            <a:chOff x="3749040" y="1115568"/>
            <a:chExt cx="1463040" cy="512064"/>
          </a:xfrm>
        </p:grpSpPr>
        <p:sp>
          <p:nvSpPr>
            <p:cNvPr id="18" name="Shape 16"/>
            <p:cNvSpPr/>
            <p:nvPr/>
          </p:nvSpPr>
          <p:spPr>
            <a:xfrm>
              <a:off x="374904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49040" y="1115568"/>
              <a:ext cx="1463040" cy="54864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3840480" y="1170432"/>
              <a:ext cx="914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6A34A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결함 해소율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9" name="Text 10">
              <a:extLst>
                <a:ext uri="{FF2B5EF4-FFF2-40B4-BE49-F238E27FC236}">
                  <a16:creationId xmlns:a16="http://schemas.microsoft.com/office/drawing/2014/main" id="{8E8B92B1-933A-20FD-C241-AC3290349877}"/>
                </a:ext>
              </a:extLst>
            </p:cNvPr>
            <p:cNvSpPr/>
            <p:nvPr/>
          </p:nvSpPr>
          <p:spPr>
            <a:xfrm>
              <a:off x="4856988" y="1214120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3840480" y="1389888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최종확인÷분석대상×100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E9715CF7-434B-85C5-4E8E-0A25560100C7}"/>
              </a:ext>
            </a:extLst>
          </p:cNvPr>
          <p:cNvGrpSpPr/>
          <p:nvPr/>
        </p:nvGrpSpPr>
        <p:grpSpPr>
          <a:xfrm>
            <a:off x="5551170" y="1115568"/>
            <a:ext cx="1463040" cy="512064"/>
            <a:chOff x="5486400" y="1115568"/>
            <a:chExt cx="1463040" cy="512064"/>
          </a:xfrm>
        </p:grpSpPr>
        <p:sp>
          <p:nvSpPr>
            <p:cNvPr id="23" name="Shape 21"/>
            <p:cNvSpPr/>
            <p:nvPr/>
          </p:nvSpPr>
          <p:spPr>
            <a:xfrm>
              <a:off x="548640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0" y="1115568"/>
              <a:ext cx="1463040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577840" y="1170432"/>
              <a:ext cx="97612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④ 기능결함 집중도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0" name="Text 10">
              <a:extLst>
                <a:ext uri="{FF2B5EF4-FFF2-40B4-BE49-F238E27FC236}">
                  <a16:creationId xmlns:a16="http://schemas.microsoft.com/office/drawing/2014/main" id="{F7C1E615-44A1-E028-FCF3-D83703A3F1BE}"/>
                </a:ext>
              </a:extLst>
            </p:cNvPr>
            <p:cNvSpPr/>
            <p:nvPr/>
          </p:nvSpPr>
          <p:spPr>
            <a:xfrm>
              <a:off x="6553962" y="1225296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8" name="Text 24">
              <a:extLst>
                <a:ext uri="{FF2B5EF4-FFF2-40B4-BE49-F238E27FC236}">
                  <a16:creationId xmlns:a16="http://schemas.microsoft.com/office/drawing/2014/main" id="{D8437F2E-2CAD-8BB1-BA76-BB91AEDA571D}"/>
                </a:ext>
              </a:extLst>
            </p:cNvPr>
            <p:cNvSpPr/>
            <p:nvPr/>
          </p:nvSpPr>
          <p:spPr>
            <a:xfrm>
              <a:off x="5559552" y="1400555"/>
              <a:ext cx="12801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기능결함÷전체결함×100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18" name="Shape 188"/>
          <p:cNvSpPr/>
          <p:nvPr/>
        </p:nvSpPr>
        <p:spPr>
          <a:xfrm>
            <a:off x="7282641" y="2471623"/>
            <a:ext cx="237744" cy="137160"/>
          </a:xfrm>
          <a:prstGeom prst="rect">
            <a:avLst/>
          </a:prstGeom>
          <a:solidFill>
            <a:srgbClr val="D1FAE5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9" name="Text 189"/>
          <p:cNvSpPr/>
          <p:nvPr/>
        </p:nvSpPr>
        <p:spPr>
          <a:xfrm>
            <a:off x="7556961" y="2398471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0" name="Shape 190"/>
          <p:cNvSpPr/>
          <p:nvPr/>
        </p:nvSpPr>
        <p:spPr>
          <a:xfrm>
            <a:off x="7942533" y="2471623"/>
            <a:ext cx="237744" cy="137160"/>
          </a:xfrm>
          <a:prstGeom prst="rect">
            <a:avLst/>
          </a:prstGeom>
          <a:solidFill>
            <a:srgbClr val="FEF9C3"/>
          </a:solidFill>
          <a:ln w="12700">
            <a:solidFill>
              <a:srgbClr val="854D0E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1" name="Text 191"/>
          <p:cNvSpPr/>
          <p:nvPr/>
        </p:nvSpPr>
        <p:spPr>
          <a:xfrm>
            <a:off x="8216853" y="2398471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관심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2" name="Shape 192"/>
          <p:cNvSpPr/>
          <p:nvPr/>
        </p:nvSpPr>
        <p:spPr>
          <a:xfrm>
            <a:off x="7275021" y="2735275"/>
            <a:ext cx="237744" cy="137160"/>
          </a:xfrm>
          <a:prstGeom prst="rect">
            <a:avLst/>
          </a:prstGeom>
          <a:solidFill>
            <a:srgbClr val="FED7AA"/>
          </a:solidFill>
          <a:ln w="12700">
            <a:solidFill>
              <a:srgbClr val="9A3412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3" name="Text 193"/>
          <p:cNvSpPr/>
          <p:nvPr/>
        </p:nvSpPr>
        <p:spPr>
          <a:xfrm>
            <a:off x="7549341" y="2662123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4" name="Shape 194"/>
          <p:cNvSpPr/>
          <p:nvPr/>
        </p:nvSpPr>
        <p:spPr>
          <a:xfrm>
            <a:off x="7934913" y="2735275"/>
            <a:ext cx="237744" cy="137160"/>
          </a:xfrm>
          <a:prstGeom prst="rect">
            <a:avLst/>
          </a:prstGeom>
          <a:solidFill>
            <a:srgbClr val="FCAAAA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5" name="Text 196"/>
          <p:cNvSpPr/>
          <p:nvPr/>
        </p:nvSpPr>
        <p:spPr>
          <a:xfrm>
            <a:off x="7157847" y="3485083"/>
            <a:ext cx="1533081" cy="123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②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가중지수</a:t>
            </a: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→ 결함유형 분포 기반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추산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⑤ 미결위험도: 조치요청+재조치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비중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※[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좌측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색바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]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빨강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=3개 이상 위험, 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노랑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=2개,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초록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=1개 이하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5" name="Shape 43">
            <a:extLst>
              <a:ext uri="{FF2B5EF4-FFF2-40B4-BE49-F238E27FC236}">
                <a16:creationId xmlns:a16="http://schemas.microsoft.com/office/drawing/2014/main" id="{E8E6980F-7F55-F06E-8C7F-6F5814BF7611}"/>
              </a:ext>
            </a:extLst>
          </p:cNvPr>
          <p:cNvSpPr/>
          <p:nvPr/>
        </p:nvSpPr>
        <p:spPr>
          <a:xfrm>
            <a:off x="464821" y="1997126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6" name="Shape 44">
            <a:extLst>
              <a:ext uri="{FF2B5EF4-FFF2-40B4-BE49-F238E27FC236}">
                <a16:creationId xmlns:a16="http://schemas.microsoft.com/office/drawing/2014/main" id="{A188B821-1C0F-D9DA-0FC4-C9A481FC01C0}"/>
              </a:ext>
            </a:extLst>
          </p:cNvPr>
          <p:cNvSpPr/>
          <p:nvPr/>
        </p:nvSpPr>
        <p:spPr>
          <a:xfrm>
            <a:off x="464821" y="1997126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7" name="Text 45">
            <a:extLst>
              <a:ext uri="{FF2B5EF4-FFF2-40B4-BE49-F238E27FC236}">
                <a16:creationId xmlns:a16="http://schemas.microsoft.com/office/drawing/2014/main" id="{91BC0EF0-4F96-5BB8-067A-E7433E8F4DCF}"/>
              </a:ext>
            </a:extLst>
          </p:cNvPr>
          <p:cNvSpPr/>
          <p:nvPr/>
        </p:nvSpPr>
        <p:spPr>
          <a:xfrm>
            <a:off x="574549" y="1997126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8" name="Shape 46">
            <a:extLst>
              <a:ext uri="{FF2B5EF4-FFF2-40B4-BE49-F238E27FC236}">
                <a16:creationId xmlns:a16="http://schemas.microsoft.com/office/drawing/2014/main" id="{021403D3-DA6E-9D13-43E1-4CC003496E89}"/>
              </a:ext>
            </a:extLst>
          </p:cNvPr>
          <p:cNvSpPr/>
          <p:nvPr/>
        </p:nvSpPr>
        <p:spPr>
          <a:xfrm>
            <a:off x="1802893" y="2007108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9" name="Text 47">
            <a:extLst>
              <a:ext uri="{FF2B5EF4-FFF2-40B4-BE49-F238E27FC236}">
                <a16:creationId xmlns:a16="http://schemas.microsoft.com/office/drawing/2014/main" id="{2231A372-2ABD-E170-BFEA-EA86AE5DC857}"/>
              </a:ext>
            </a:extLst>
          </p:cNvPr>
          <p:cNvSpPr/>
          <p:nvPr/>
        </p:nvSpPr>
        <p:spPr>
          <a:xfrm>
            <a:off x="1766317" y="1970532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162%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0" name="Shape 48">
            <a:extLst>
              <a:ext uri="{FF2B5EF4-FFF2-40B4-BE49-F238E27FC236}">
                <a16:creationId xmlns:a16="http://schemas.microsoft.com/office/drawing/2014/main" id="{32032562-8D7D-7FB8-999E-31164DEE3C28}"/>
              </a:ext>
            </a:extLst>
          </p:cNvPr>
          <p:cNvSpPr/>
          <p:nvPr/>
        </p:nvSpPr>
        <p:spPr>
          <a:xfrm>
            <a:off x="2914618" y="2007108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1" name="Text 49">
            <a:extLst>
              <a:ext uri="{FF2B5EF4-FFF2-40B4-BE49-F238E27FC236}">
                <a16:creationId xmlns:a16="http://schemas.microsoft.com/office/drawing/2014/main" id="{96ECC479-A034-1E48-A8B7-FD1A22750A31}"/>
              </a:ext>
            </a:extLst>
          </p:cNvPr>
          <p:cNvSpPr/>
          <p:nvPr/>
        </p:nvSpPr>
        <p:spPr>
          <a:xfrm>
            <a:off x="3064765" y="1970532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2.1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2" name="Shape 50">
            <a:extLst>
              <a:ext uri="{FF2B5EF4-FFF2-40B4-BE49-F238E27FC236}">
                <a16:creationId xmlns:a16="http://schemas.microsoft.com/office/drawing/2014/main" id="{0B465685-0325-2B2E-5A4B-CCEDAE91DA73}"/>
              </a:ext>
            </a:extLst>
          </p:cNvPr>
          <p:cNvSpPr/>
          <p:nvPr/>
        </p:nvSpPr>
        <p:spPr>
          <a:xfrm>
            <a:off x="3938746" y="2007108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3" name="Text 51">
            <a:extLst>
              <a:ext uri="{FF2B5EF4-FFF2-40B4-BE49-F238E27FC236}">
                <a16:creationId xmlns:a16="http://schemas.microsoft.com/office/drawing/2014/main" id="{A5B9BE0F-1E8B-6395-FB11-F87E2EF84556}"/>
              </a:ext>
            </a:extLst>
          </p:cNvPr>
          <p:cNvSpPr/>
          <p:nvPr/>
        </p:nvSpPr>
        <p:spPr>
          <a:xfrm>
            <a:off x="3902171" y="1970532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4" name="Shape 52">
            <a:extLst>
              <a:ext uri="{FF2B5EF4-FFF2-40B4-BE49-F238E27FC236}">
                <a16:creationId xmlns:a16="http://schemas.microsoft.com/office/drawing/2014/main" id="{9BA258E2-C125-B165-13D2-4B6C32D8CC44}"/>
              </a:ext>
            </a:extLst>
          </p:cNvPr>
          <p:cNvSpPr/>
          <p:nvPr/>
        </p:nvSpPr>
        <p:spPr>
          <a:xfrm>
            <a:off x="4901914" y="2007108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5" name="Text 53">
            <a:extLst>
              <a:ext uri="{FF2B5EF4-FFF2-40B4-BE49-F238E27FC236}">
                <a16:creationId xmlns:a16="http://schemas.microsoft.com/office/drawing/2014/main" id="{566A8AA4-AB2E-ADD7-FA11-76565950A8A1}"/>
              </a:ext>
            </a:extLst>
          </p:cNvPr>
          <p:cNvSpPr/>
          <p:nvPr/>
        </p:nvSpPr>
        <p:spPr>
          <a:xfrm>
            <a:off x="4865339" y="1970532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6" name="Shape 54">
            <a:extLst>
              <a:ext uri="{FF2B5EF4-FFF2-40B4-BE49-F238E27FC236}">
                <a16:creationId xmlns:a16="http://schemas.microsoft.com/office/drawing/2014/main" id="{714D9F3E-A50B-0443-30FF-9F33740D8E11}"/>
              </a:ext>
            </a:extLst>
          </p:cNvPr>
          <p:cNvSpPr/>
          <p:nvPr/>
        </p:nvSpPr>
        <p:spPr>
          <a:xfrm>
            <a:off x="5857463" y="2007108"/>
            <a:ext cx="1168698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7" name="Text 55">
            <a:extLst>
              <a:ext uri="{FF2B5EF4-FFF2-40B4-BE49-F238E27FC236}">
                <a16:creationId xmlns:a16="http://schemas.microsoft.com/office/drawing/2014/main" id="{B948AF10-AD53-B454-CBED-121407F86AB1}"/>
              </a:ext>
            </a:extLst>
          </p:cNvPr>
          <p:cNvSpPr/>
          <p:nvPr/>
        </p:nvSpPr>
        <p:spPr>
          <a:xfrm>
            <a:off x="5820886" y="1970532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8" name="Shape 56">
            <a:extLst>
              <a:ext uri="{FF2B5EF4-FFF2-40B4-BE49-F238E27FC236}">
                <a16:creationId xmlns:a16="http://schemas.microsoft.com/office/drawing/2014/main" id="{70C4E888-3727-9BEB-C468-16049A5E74B8}"/>
              </a:ext>
            </a:extLst>
          </p:cNvPr>
          <p:cNvSpPr/>
          <p:nvPr/>
        </p:nvSpPr>
        <p:spPr>
          <a:xfrm>
            <a:off x="464821" y="2242185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9" name="Shape 57">
            <a:extLst>
              <a:ext uri="{FF2B5EF4-FFF2-40B4-BE49-F238E27FC236}">
                <a16:creationId xmlns:a16="http://schemas.microsoft.com/office/drawing/2014/main" id="{C33C7819-77D9-0B68-8B9F-108D93F8C170}"/>
              </a:ext>
            </a:extLst>
          </p:cNvPr>
          <p:cNvSpPr/>
          <p:nvPr/>
        </p:nvSpPr>
        <p:spPr>
          <a:xfrm>
            <a:off x="464821" y="2242185"/>
            <a:ext cx="45720" cy="245059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0" name="Text 58">
            <a:extLst>
              <a:ext uri="{FF2B5EF4-FFF2-40B4-BE49-F238E27FC236}">
                <a16:creationId xmlns:a16="http://schemas.microsoft.com/office/drawing/2014/main" id="{708E5543-CCB0-98B6-B4A2-D4BE319E24AA}"/>
              </a:ext>
            </a:extLst>
          </p:cNvPr>
          <p:cNvSpPr/>
          <p:nvPr/>
        </p:nvSpPr>
        <p:spPr>
          <a:xfrm>
            <a:off x="574549" y="2242185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1" name="Shape 59">
            <a:extLst>
              <a:ext uri="{FF2B5EF4-FFF2-40B4-BE49-F238E27FC236}">
                <a16:creationId xmlns:a16="http://schemas.microsoft.com/office/drawing/2014/main" id="{EA61194E-950F-B448-132B-A8D565DFFD06}"/>
              </a:ext>
            </a:extLst>
          </p:cNvPr>
          <p:cNvSpPr/>
          <p:nvPr/>
        </p:nvSpPr>
        <p:spPr>
          <a:xfrm>
            <a:off x="1802893" y="2252167"/>
            <a:ext cx="1028672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2" name="Text 60">
            <a:extLst>
              <a:ext uri="{FF2B5EF4-FFF2-40B4-BE49-F238E27FC236}">
                <a16:creationId xmlns:a16="http://schemas.microsoft.com/office/drawing/2014/main" id="{BBF0C654-4552-E238-C696-81513A1FE893}"/>
              </a:ext>
            </a:extLst>
          </p:cNvPr>
          <p:cNvSpPr/>
          <p:nvPr/>
        </p:nvSpPr>
        <p:spPr>
          <a:xfrm>
            <a:off x="1766317" y="2215591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256%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3" name="Shape 61">
            <a:extLst>
              <a:ext uri="{FF2B5EF4-FFF2-40B4-BE49-F238E27FC236}">
                <a16:creationId xmlns:a16="http://schemas.microsoft.com/office/drawing/2014/main" id="{9CDDC2BC-8800-221C-9E61-6B3DF9F064B3}"/>
              </a:ext>
            </a:extLst>
          </p:cNvPr>
          <p:cNvSpPr/>
          <p:nvPr/>
        </p:nvSpPr>
        <p:spPr>
          <a:xfrm>
            <a:off x="2914618" y="2252167"/>
            <a:ext cx="942865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4" name="Text 62">
            <a:extLst>
              <a:ext uri="{FF2B5EF4-FFF2-40B4-BE49-F238E27FC236}">
                <a16:creationId xmlns:a16="http://schemas.microsoft.com/office/drawing/2014/main" id="{3A84CFF0-0416-5E42-BDD5-26400553ABB9}"/>
              </a:ext>
            </a:extLst>
          </p:cNvPr>
          <p:cNvSpPr/>
          <p:nvPr/>
        </p:nvSpPr>
        <p:spPr>
          <a:xfrm>
            <a:off x="3064765" y="2215591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4.3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5" name="Shape 63">
            <a:extLst>
              <a:ext uri="{FF2B5EF4-FFF2-40B4-BE49-F238E27FC236}">
                <a16:creationId xmlns:a16="http://schemas.microsoft.com/office/drawing/2014/main" id="{04463A3C-9770-B323-C729-8D22470F4717}"/>
              </a:ext>
            </a:extLst>
          </p:cNvPr>
          <p:cNvSpPr/>
          <p:nvPr/>
        </p:nvSpPr>
        <p:spPr>
          <a:xfrm>
            <a:off x="3938746" y="2252167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6" name="Text 64">
            <a:extLst>
              <a:ext uri="{FF2B5EF4-FFF2-40B4-BE49-F238E27FC236}">
                <a16:creationId xmlns:a16="http://schemas.microsoft.com/office/drawing/2014/main" id="{1C382ACC-A4A5-8E38-948B-AC233B8AD982}"/>
              </a:ext>
            </a:extLst>
          </p:cNvPr>
          <p:cNvSpPr/>
          <p:nvPr/>
        </p:nvSpPr>
        <p:spPr>
          <a:xfrm>
            <a:off x="3902171" y="2215591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7" name="Shape 65">
            <a:extLst>
              <a:ext uri="{FF2B5EF4-FFF2-40B4-BE49-F238E27FC236}">
                <a16:creationId xmlns:a16="http://schemas.microsoft.com/office/drawing/2014/main" id="{1AA4BCCE-314B-FA12-02FE-9CB4DCE8F1A6}"/>
              </a:ext>
            </a:extLst>
          </p:cNvPr>
          <p:cNvSpPr/>
          <p:nvPr/>
        </p:nvSpPr>
        <p:spPr>
          <a:xfrm>
            <a:off x="4901914" y="2252167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8" name="Text 66">
            <a:extLst>
              <a:ext uri="{FF2B5EF4-FFF2-40B4-BE49-F238E27FC236}">
                <a16:creationId xmlns:a16="http://schemas.microsoft.com/office/drawing/2014/main" id="{8C74BAE1-7E30-F29E-4038-BC0D7EFA7F54}"/>
              </a:ext>
            </a:extLst>
          </p:cNvPr>
          <p:cNvSpPr/>
          <p:nvPr/>
        </p:nvSpPr>
        <p:spPr>
          <a:xfrm>
            <a:off x="4865339" y="2215591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20.8%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9" name="Shape 67">
            <a:extLst>
              <a:ext uri="{FF2B5EF4-FFF2-40B4-BE49-F238E27FC236}">
                <a16:creationId xmlns:a16="http://schemas.microsoft.com/office/drawing/2014/main" id="{D6B8BEFF-27FB-563E-D6B0-0228BDF7C906}"/>
              </a:ext>
            </a:extLst>
          </p:cNvPr>
          <p:cNvSpPr/>
          <p:nvPr/>
        </p:nvSpPr>
        <p:spPr>
          <a:xfrm>
            <a:off x="5857463" y="2252167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0" name="Text 68">
            <a:extLst>
              <a:ext uri="{FF2B5EF4-FFF2-40B4-BE49-F238E27FC236}">
                <a16:creationId xmlns:a16="http://schemas.microsoft.com/office/drawing/2014/main" id="{19005FE0-2724-A1C9-1C00-9599331379A1}"/>
              </a:ext>
            </a:extLst>
          </p:cNvPr>
          <p:cNvSpPr/>
          <p:nvPr/>
        </p:nvSpPr>
        <p:spPr>
          <a:xfrm>
            <a:off x="5820886" y="2215591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1" name="Shape 69">
            <a:extLst>
              <a:ext uri="{FF2B5EF4-FFF2-40B4-BE49-F238E27FC236}">
                <a16:creationId xmlns:a16="http://schemas.microsoft.com/office/drawing/2014/main" id="{8D43919C-1148-B65B-8030-ECBD53607186}"/>
              </a:ext>
            </a:extLst>
          </p:cNvPr>
          <p:cNvSpPr/>
          <p:nvPr/>
        </p:nvSpPr>
        <p:spPr>
          <a:xfrm>
            <a:off x="464821" y="2487244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2" name="Shape 70">
            <a:extLst>
              <a:ext uri="{FF2B5EF4-FFF2-40B4-BE49-F238E27FC236}">
                <a16:creationId xmlns:a16="http://schemas.microsoft.com/office/drawing/2014/main" id="{7C241459-BBDB-97E5-3DD9-34712D139E3D}"/>
              </a:ext>
            </a:extLst>
          </p:cNvPr>
          <p:cNvSpPr/>
          <p:nvPr/>
        </p:nvSpPr>
        <p:spPr>
          <a:xfrm>
            <a:off x="464821" y="2487244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3" name="Text 71">
            <a:extLst>
              <a:ext uri="{FF2B5EF4-FFF2-40B4-BE49-F238E27FC236}">
                <a16:creationId xmlns:a16="http://schemas.microsoft.com/office/drawing/2014/main" id="{D140AEFB-CE22-3A80-84AB-14AF80605689}"/>
              </a:ext>
            </a:extLst>
          </p:cNvPr>
          <p:cNvSpPr/>
          <p:nvPr/>
        </p:nvSpPr>
        <p:spPr>
          <a:xfrm>
            <a:off x="574549" y="2487244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4" name="Shape 72">
            <a:extLst>
              <a:ext uri="{FF2B5EF4-FFF2-40B4-BE49-F238E27FC236}">
                <a16:creationId xmlns:a16="http://schemas.microsoft.com/office/drawing/2014/main" id="{94FB27E9-5573-C498-B9B5-252D3CC62851}"/>
              </a:ext>
            </a:extLst>
          </p:cNvPr>
          <p:cNvSpPr/>
          <p:nvPr/>
        </p:nvSpPr>
        <p:spPr>
          <a:xfrm>
            <a:off x="1802893" y="2497226"/>
            <a:ext cx="1028672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5" name="Text 73">
            <a:extLst>
              <a:ext uri="{FF2B5EF4-FFF2-40B4-BE49-F238E27FC236}">
                <a16:creationId xmlns:a16="http://schemas.microsoft.com/office/drawing/2014/main" id="{7B2D4D78-73B4-AF89-15AD-0BDDAF1B5C65}"/>
              </a:ext>
            </a:extLst>
          </p:cNvPr>
          <p:cNvSpPr/>
          <p:nvPr/>
        </p:nvSpPr>
        <p:spPr>
          <a:xfrm>
            <a:off x="1766317" y="2460650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6" name="Shape 74">
            <a:extLst>
              <a:ext uri="{FF2B5EF4-FFF2-40B4-BE49-F238E27FC236}">
                <a16:creationId xmlns:a16="http://schemas.microsoft.com/office/drawing/2014/main" id="{8ACF2409-2221-F8BB-1C03-138D4A7336FE}"/>
              </a:ext>
            </a:extLst>
          </p:cNvPr>
          <p:cNvSpPr/>
          <p:nvPr/>
        </p:nvSpPr>
        <p:spPr>
          <a:xfrm>
            <a:off x="2914618" y="2497226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7" name="Text 75">
            <a:extLst>
              <a:ext uri="{FF2B5EF4-FFF2-40B4-BE49-F238E27FC236}">
                <a16:creationId xmlns:a16="http://schemas.microsoft.com/office/drawing/2014/main" id="{D8B31335-7559-5B47-BEEE-2CA4BDC1318A}"/>
              </a:ext>
            </a:extLst>
          </p:cNvPr>
          <p:cNvSpPr/>
          <p:nvPr/>
        </p:nvSpPr>
        <p:spPr>
          <a:xfrm>
            <a:off x="3064765" y="2460650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8" name="Shape 76">
            <a:extLst>
              <a:ext uri="{FF2B5EF4-FFF2-40B4-BE49-F238E27FC236}">
                <a16:creationId xmlns:a16="http://schemas.microsoft.com/office/drawing/2014/main" id="{C7E90DE1-5B8A-C468-6F7A-18BB5B4C9D34}"/>
              </a:ext>
            </a:extLst>
          </p:cNvPr>
          <p:cNvSpPr/>
          <p:nvPr/>
        </p:nvSpPr>
        <p:spPr>
          <a:xfrm>
            <a:off x="3938746" y="249722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9" name="Text 77">
            <a:extLst>
              <a:ext uri="{FF2B5EF4-FFF2-40B4-BE49-F238E27FC236}">
                <a16:creationId xmlns:a16="http://schemas.microsoft.com/office/drawing/2014/main" id="{7E9DA844-3805-76D9-18DE-4A0E38014141}"/>
              </a:ext>
            </a:extLst>
          </p:cNvPr>
          <p:cNvSpPr/>
          <p:nvPr/>
        </p:nvSpPr>
        <p:spPr>
          <a:xfrm>
            <a:off x="3902171" y="246065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0" name="Shape 78">
            <a:extLst>
              <a:ext uri="{FF2B5EF4-FFF2-40B4-BE49-F238E27FC236}">
                <a16:creationId xmlns:a16="http://schemas.microsoft.com/office/drawing/2014/main" id="{17C17FCD-45F1-52B8-9EC8-69FF8DB963FB}"/>
              </a:ext>
            </a:extLst>
          </p:cNvPr>
          <p:cNvSpPr/>
          <p:nvPr/>
        </p:nvSpPr>
        <p:spPr>
          <a:xfrm>
            <a:off x="4901914" y="2497226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1" name="Text 79">
            <a:extLst>
              <a:ext uri="{FF2B5EF4-FFF2-40B4-BE49-F238E27FC236}">
                <a16:creationId xmlns:a16="http://schemas.microsoft.com/office/drawing/2014/main" id="{F664DE24-2C62-A7A3-34F3-5E087DB458D6}"/>
              </a:ext>
            </a:extLst>
          </p:cNvPr>
          <p:cNvSpPr/>
          <p:nvPr/>
        </p:nvSpPr>
        <p:spPr>
          <a:xfrm>
            <a:off x="4865339" y="246065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39.4%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2" name="Shape 80">
            <a:extLst>
              <a:ext uri="{FF2B5EF4-FFF2-40B4-BE49-F238E27FC236}">
                <a16:creationId xmlns:a16="http://schemas.microsoft.com/office/drawing/2014/main" id="{2E4B2721-9AEE-0157-A713-C23FE67215AC}"/>
              </a:ext>
            </a:extLst>
          </p:cNvPr>
          <p:cNvSpPr/>
          <p:nvPr/>
        </p:nvSpPr>
        <p:spPr>
          <a:xfrm>
            <a:off x="5857463" y="2497226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3" name="Text 81">
            <a:extLst>
              <a:ext uri="{FF2B5EF4-FFF2-40B4-BE49-F238E27FC236}">
                <a16:creationId xmlns:a16="http://schemas.microsoft.com/office/drawing/2014/main" id="{563A6D3C-B639-568B-AF8E-B525941E6FD9}"/>
              </a:ext>
            </a:extLst>
          </p:cNvPr>
          <p:cNvSpPr/>
          <p:nvPr/>
        </p:nvSpPr>
        <p:spPr>
          <a:xfrm>
            <a:off x="5820886" y="2460650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4" name="Shape 82">
            <a:extLst>
              <a:ext uri="{FF2B5EF4-FFF2-40B4-BE49-F238E27FC236}">
                <a16:creationId xmlns:a16="http://schemas.microsoft.com/office/drawing/2014/main" id="{255A75B2-4FDF-5567-5C94-93F60C92CFA4}"/>
              </a:ext>
            </a:extLst>
          </p:cNvPr>
          <p:cNvSpPr/>
          <p:nvPr/>
        </p:nvSpPr>
        <p:spPr>
          <a:xfrm>
            <a:off x="464821" y="2732304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5" name="Shape 83">
            <a:extLst>
              <a:ext uri="{FF2B5EF4-FFF2-40B4-BE49-F238E27FC236}">
                <a16:creationId xmlns:a16="http://schemas.microsoft.com/office/drawing/2014/main" id="{94173263-A61D-2C83-0752-2F7265B5FDFC}"/>
              </a:ext>
            </a:extLst>
          </p:cNvPr>
          <p:cNvSpPr/>
          <p:nvPr/>
        </p:nvSpPr>
        <p:spPr>
          <a:xfrm>
            <a:off x="464821" y="2732304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6" name="Text 84">
            <a:extLst>
              <a:ext uri="{FF2B5EF4-FFF2-40B4-BE49-F238E27FC236}">
                <a16:creationId xmlns:a16="http://schemas.microsoft.com/office/drawing/2014/main" id="{76F93F2E-1B46-6C70-B6FB-1F6802C403BF}"/>
              </a:ext>
            </a:extLst>
          </p:cNvPr>
          <p:cNvSpPr/>
          <p:nvPr/>
        </p:nvSpPr>
        <p:spPr>
          <a:xfrm>
            <a:off x="574549" y="2732304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7" name="Shape 85">
            <a:extLst>
              <a:ext uri="{FF2B5EF4-FFF2-40B4-BE49-F238E27FC236}">
                <a16:creationId xmlns:a16="http://schemas.microsoft.com/office/drawing/2014/main" id="{2D832C70-9DDB-8C3D-D352-F1C9F4785418}"/>
              </a:ext>
            </a:extLst>
          </p:cNvPr>
          <p:cNvSpPr/>
          <p:nvPr/>
        </p:nvSpPr>
        <p:spPr>
          <a:xfrm>
            <a:off x="1802893" y="2742286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8" name="Text 86">
            <a:extLst>
              <a:ext uri="{FF2B5EF4-FFF2-40B4-BE49-F238E27FC236}">
                <a16:creationId xmlns:a16="http://schemas.microsoft.com/office/drawing/2014/main" id="{5E593F6E-2BD2-4499-D7BE-07358E8B4814}"/>
              </a:ext>
            </a:extLst>
          </p:cNvPr>
          <p:cNvSpPr/>
          <p:nvPr/>
        </p:nvSpPr>
        <p:spPr>
          <a:xfrm>
            <a:off x="1766317" y="2705710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185%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9" name="Shape 87">
            <a:extLst>
              <a:ext uri="{FF2B5EF4-FFF2-40B4-BE49-F238E27FC236}">
                <a16:creationId xmlns:a16="http://schemas.microsoft.com/office/drawing/2014/main" id="{4291645F-2672-0767-8795-01F24FA09F76}"/>
              </a:ext>
            </a:extLst>
          </p:cNvPr>
          <p:cNvSpPr/>
          <p:nvPr/>
        </p:nvSpPr>
        <p:spPr>
          <a:xfrm>
            <a:off x="2914618" y="2742286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0" name="Text 88">
            <a:extLst>
              <a:ext uri="{FF2B5EF4-FFF2-40B4-BE49-F238E27FC236}">
                <a16:creationId xmlns:a16="http://schemas.microsoft.com/office/drawing/2014/main" id="{7BA2B954-7CEF-1F60-3C3A-D72ABA6C1EA9}"/>
              </a:ext>
            </a:extLst>
          </p:cNvPr>
          <p:cNvSpPr/>
          <p:nvPr/>
        </p:nvSpPr>
        <p:spPr>
          <a:xfrm>
            <a:off x="3064765" y="2705710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2.4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1" name="Shape 89">
            <a:extLst>
              <a:ext uri="{FF2B5EF4-FFF2-40B4-BE49-F238E27FC236}">
                <a16:creationId xmlns:a16="http://schemas.microsoft.com/office/drawing/2014/main" id="{8D712973-A888-E709-9488-467B01B4C30F}"/>
              </a:ext>
            </a:extLst>
          </p:cNvPr>
          <p:cNvSpPr/>
          <p:nvPr/>
        </p:nvSpPr>
        <p:spPr>
          <a:xfrm>
            <a:off x="3938746" y="274228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2" name="Text 90">
            <a:extLst>
              <a:ext uri="{FF2B5EF4-FFF2-40B4-BE49-F238E27FC236}">
                <a16:creationId xmlns:a16="http://schemas.microsoft.com/office/drawing/2014/main" id="{6BD2FD4B-2125-8CC9-0ECE-7285C1036323}"/>
              </a:ext>
            </a:extLst>
          </p:cNvPr>
          <p:cNvSpPr/>
          <p:nvPr/>
        </p:nvSpPr>
        <p:spPr>
          <a:xfrm>
            <a:off x="3902171" y="270571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3" name="Shape 91">
            <a:extLst>
              <a:ext uri="{FF2B5EF4-FFF2-40B4-BE49-F238E27FC236}">
                <a16:creationId xmlns:a16="http://schemas.microsoft.com/office/drawing/2014/main" id="{F5E9D093-F4F6-29D6-E0EA-CEE0607CADB3}"/>
              </a:ext>
            </a:extLst>
          </p:cNvPr>
          <p:cNvSpPr/>
          <p:nvPr/>
        </p:nvSpPr>
        <p:spPr>
          <a:xfrm>
            <a:off x="4901914" y="274228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4" name="Text 92">
            <a:extLst>
              <a:ext uri="{FF2B5EF4-FFF2-40B4-BE49-F238E27FC236}">
                <a16:creationId xmlns:a16="http://schemas.microsoft.com/office/drawing/2014/main" id="{6667A144-8602-1097-5B34-6E987D7B9D24}"/>
              </a:ext>
            </a:extLst>
          </p:cNvPr>
          <p:cNvSpPr/>
          <p:nvPr/>
        </p:nvSpPr>
        <p:spPr>
          <a:xfrm>
            <a:off x="4865339" y="270571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5" name="Shape 93">
            <a:extLst>
              <a:ext uri="{FF2B5EF4-FFF2-40B4-BE49-F238E27FC236}">
                <a16:creationId xmlns:a16="http://schemas.microsoft.com/office/drawing/2014/main" id="{D9CB2BE2-1599-61DA-5B20-89B4DFB569E0}"/>
              </a:ext>
            </a:extLst>
          </p:cNvPr>
          <p:cNvSpPr/>
          <p:nvPr/>
        </p:nvSpPr>
        <p:spPr>
          <a:xfrm>
            <a:off x="5857463" y="2742286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6" name="Text 94">
            <a:extLst>
              <a:ext uri="{FF2B5EF4-FFF2-40B4-BE49-F238E27FC236}">
                <a16:creationId xmlns:a16="http://schemas.microsoft.com/office/drawing/2014/main" id="{DED5B48B-8346-B55B-1A53-3804220E59F2}"/>
              </a:ext>
            </a:extLst>
          </p:cNvPr>
          <p:cNvSpPr/>
          <p:nvPr/>
        </p:nvSpPr>
        <p:spPr>
          <a:xfrm>
            <a:off x="5820886" y="2705710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7" name="Shape 95">
            <a:extLst>
              <a:ext uri="{FF2B5EF4-FFF2-40B4-BE49-F238E27FC236}">
                <a16:creationId xmlns:a16="http://schemas.microsoft.com/office/drawing/2014/main" id="{808D03EB-6EFE-0512-44AE-6268F49957DD}"/>
              </a:ext>
            </a:extLst>
          </p:cNvPr>
          <p:cNvSpPr/>
          <p:nvPr/>
        </p:nvSpPr>
        <p:spPr>
          <a:xfrm>
            <a:off x="464821" y="2977363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8" name="Shape 96">
            <a:extLst>
              <a:ext uri="{FF2B5EF4-FFF2-40B4-BE49-F238E27FC236}">
                <a16:creationId xmlns:a16="http://schemas.microsoft.com/office/drawing/2014/main" id="{BE4DCEBD-4A69-EA3E-9117-07F64B51CDAA}"/>
              </a:ext>
            </a:extLst>
          </p:cNvPr>
          <p:cNvSpPr/>
          <p:nvPr/>
        </p:nvSpPr>
        <p:spPr>
          <a:xfrm>
            <a:off x="464821" y="2977363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9" name="Text 97">
            <a:extLst>
              <a:ext uri="{FF2B5EF4-FFF2-40B4-BE49-F238E27FC236}">
                <a16:creationId xmlns:a16="http://schemas.microsoft.com/office/drawing/2014/main" id="{20D499AC-0CB7-A0C4-361D-010E87CBEC4D}"/>
              </a:ext>
            </a:extLst>
          </p:cNvPr>
          <p:cNvSpPr/>
          <p:nvPr/>
        </p:nvSpPr>
        <p:spPr>
          <a:xfrm>
            <a:off x="574549" y="2977363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0" name="Shape 98">
            <a:extLst>
              <a:ext uri="{FF2B5EF4-FFF2-40B4-BE49-F238E27FC236}">
                <a16:creationId xmlns:a16="http://schemas.microsoft.com/office/drawing/2014/main" id="{F826920A-4488-54CB-BC4C-CBCF1DEC5F4C}"/>
              </a:ext>
            </a:extLst>
          </p:cNvPr>
          <p:cNvSpPr/>
          <p:nvPr/>
        </p:nvSpPr>
        <p:spPr>
          <a:xfrm>
            <a:off x="1802893" y="2987345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1" name="Text 99">
            <a:extLst>
              <a:ext uri="{FF2B5EF4-FFF2-40B4-BE49-F238E27FC236}">
                <a16:creationId xmlns:a16="http://schemas.microsoft.com/office/drawing/2014/main" id="{C5CE1A60-D317-0330-8F18-3D18C5549180}"/>
              </a:ext>
            </a:extLst>
          </p:cNvPr>
          <p:cNvSpPr/>
          <p:nvPr/>
        </p:nvSpPr>
        <p:spPr>
          <a:xfrm>
            <a:off x="1766317" y="2950769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2" name="Shape 100">
            <a:extLst>
              <a:ext uri="{FF2B5EF4-FFF2-40B4-BE49-F238E27FC236}">
                <a16:creationId xmlns:a16="http://schemas.microsoft.com/office/drawing/2014/main" id="{C4E270F3-6B8F-5E84-A446-EE2AE98833F2}"/>
              </a:ext>
            </a:extLst>
          </p:cNvPr>
          <p:cNvSpPr/>
          <p:nvPr/>
        </p:nvSpPr>
        <p:spPr>
          <a:xfrm>
            <a:off x="2914618" y="2987345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3" name="Text 101">
            <a:extLst>
              <a:ext uri="{FF2B5EF4-FFF2-40B4-BE49-F238E27FC236}">
                <a16:creationId xmlns:a16="http://schemas.microsoft.com/office/drawing/2014/main" id="{5427541C-A1F7-7463-4B64-12B0BB71D808}"/>
              </a:ext>
            </a:extLst>
          </p:cNvPr>
          <p:cNvSpPr/>
          <p:nvPr/>
        </p:nvSpPr>
        <p:spPr>
          <a:xfrm>
            <a:off x="3064765" y="2950769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4" name="Shape 102">
            <a:extLst>
              <a:ext uri="{FF2B5EF4-FFF2-40B4-BE49-F238E27FC236}">
                <a16:creationId xmlns:a16="http://schemas.microsoft.com/office/drawing/2014/main" id="{36A34A1F-0597-5004-963B-F986E36B23AD}"/>
              </a:ext>
            </a:extLst>
          </p:cNvPr>
          <p:cNvSpPr/>
          <p:nvPr/>
        </p:nvSpPr>
        <p:spPr>
          <a:xfrm>
            <a:off x="3938746" y="2987345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5" name="Text 103">
            <a:extLst>
              <a:ext uri="{FF2B5EF4-FFF2-40B4-BE49-F238E27FC236}">
                <a16:creationId xmlns:a16="http://schemas.microsoft.com/office/drawing/2014/main" id="{9BD09B36-8515-3C38-935E-36058C04B64E}"/>
              </a:ext>
            </a:extLst>
          </p:cNvPr>
          <p:cNvSpPr/>
          <p:nvPr/>
        </p:nvSpPr>
        <p:spPr>
          <a:xfrm>
            <a:off x="3902171" y="2950769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6" name="Shape 104">
            <a:extLst>
              <a:ext uri="{FF2B5EF4-FFF2-40B4-BE49-F238E27FC236}">
                <a16:creationId xmlns:a16="http://schemas.microsoft.com/office/drawing/2014/main" id="{05E531B0-3584-7191-E036-1DD609C001DB}"/>
              </a:ext>
            </a:extLst>
          </p:cNvPr>
          <p:cNvSpPr/>
          <p:nvPr/>
        </p:nvSpPr>
        <p:spPr>
          <a:xfrm>
            <a:off x="4901914" y="2987345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7" name="Text 105">
            <a:extLst>
              <a:ext uri="{FF2B5EF4-FFF2-40B4-BE49-F238E27FC236}">
                <a16:creationId xmlns:a16="http://schemas.microsoft.com/office/drawing/2014/main" id="{4A13401A-3E4E-E9A4-1995-B2749407FBB0}"/>
              </a:ext>
            </a:extLst>
          </p:cNvPr>
          <p:cNvSpPr/>
          <p:nvPr/>
        </p:nvSpPr>
        <p:spPr>
          <a:xfrm>
            <a:off x="4865339" y="2950769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8" name="Shape 106">
            <a:extLst>
              <a:ext uri="{FF2B5EF4-FFF2-40B4-BE49-F238E27FC236}">
                <a16:creationId xmlns:a16="http://schemas.microsoft.com/office/drawing/2014/main" id="{81CE3C52-5EC4-7DF2-2810-3367C5757917}"/>
              </a:ext>
            </a:extLst>
          </p:cNvPr>
          <p:cNvSpPr/>
          <p:nvPr/>
        </p:nvSpPr>
        <p:spPr>
          <a:xfrm>
            <a:off x="5857463" y="2987345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9" name="Text 107">
            <a:extLst>
              <a:ext uri="{FF2B5EF4-FFF2-40B4-BE49-F238E27FC236}">
                <a16:creationId xmlns:a16="http://schemas.microsoft.com/office/drawing/2014/main" id="{2A2CB088-B1FF-3068-BBC2-8D2164C64905}"/>
              </a:ext>
            </a:extLst>
          </p:cNvPr>
          <p:cNvSpPr/>
          <p:nvPr/>
        </p:nvSpPr>
        <p:spPr>
          <a:xfrm>
            <a:off x="5820886" y="2950769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0" name="Shape 108">
            <a:extLst>
              <a:ext uri="{FF2B5EF4-FFF2-40B4-BE49-F238E27FC236}">
                <a16:creationId xmlns:a16="http://schemas.microsoft.com/office/drawing/2014/main" id="{74FF28F9-DF32-5514-9394-AD6742B8196E}"/>
              </a:ext>
            </a:extLst>
          </p:cNvPr>
          <p:cNvSpPr/>
          <p:nvPr/>
        </p:nvSpPr>
        <p:spPr>
          <a:xfrm>
            <a:off x="464821" y="3222422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1" name="Shape 109">
            <a:extLst>
              <a:ext uri="{FF2B5EF4-FFF2-40B4-BE49-F238E27FC236}">
                <a16:creationId xmlns:a16="http://schemas.microsoft.com/office/drawing/2014/main" id="{E3E98402-F764-830F-6AF8-CFF5903A8343}"/>
              </a:ext>
            </a:extLst>
          </p:cNvPr>
          <p:cNvSpPr/>
          <p:nvPr/>
        </p:nvSpPr>
        <p:spPr>
          <a:xfrm>
            <a:off x="464821" y="3222422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2" name="Text 110">
            <a:extLst>
              <a:ext uri="{FF2B5EF4-FFF2-40B4-BE49-F238E27FC236}">
                <a16:creationId xmlns:a16="http://schemas.microsoft.com/office/drawing/2014/main" id="{CDCB26F8-34A5-4DA6-85A8-55EB4DF91F69}"/>
              </a:ext>
            </a:extLst>
          </p:cNvPr>
          <p:cNvSpPr/>
          <p:nvPr/>
        </p:nvSpPr>
        <p:spPr>
          <a:xfrm>
            <a:off x="574549" y="3222422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3" name="Shape 111">
            <a:extLst>
              <a:ext uri="{FF2B5EF4-FFF2-40B4-BE49-F238E27FC236}">
                <a16:creationId xmlns:a16="http://schemas.microsoft.com/office/drawing/2014/main" id="{1A5D0DAB-B578-A6EA-DA92-9F70B5305AD6}"/>
              </a:ext>
            </a:extLst>
          </p:cNvPr>
          <p:cNvSpPr/>
          <p:nvPr/>
        </p:nvSpPr>
        <p:spPr>
          <a:xfrm>
            <a:off x="1802893" y="3232404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4" name="Text 112">
            <a:extLst>
              <a:ext uri="{FF2B5EF4-FFF2-40B4-BE49-F238E27FC236}">
                <a16:creationId xmlns:a16="http://schemas.microsoft.com/office/drawing/2014/main" id="{186B009F-7DA0-60F4-9DFB-7C83140522DA}"/>
              </a:ext>
            </a:extLst>
          </p:cNvPr>
          <p:cNvSpPr/>
          <p:nvPr/>
        </p:nvSpPr>
        <p:spPr>
          <a:xfrm>
            <a:off x="1766317" y="3195828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5" name="Shape 113">
            <a:extLst>
              <a:ext uri="{FF2B5EF4-FFF2-40B4-BE49-F238E27FC236}">
                <a16:creationId xmlns:a16="http://schemas.microsoft.com/office/drawing/2014/main" id="{DDF6037E-4215-BA7B-6372-8DB462DAE43D}"/>
              </a:ext>
            </a:extLst>
          </p:cNvPr>
          <p:cNvSpPr/>
          <p:nvPr/>
        </p:nvSpPr>
        <p:spPr>
          <a:xfrm>
            <a:off x="2914618" y="3232404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6" name="Text 114">
            <a:extLst>
              <a:ext uri="{FF2B5EF4-FFF2-40B4-BE49-F238E27FC236}">
                <a16:creationId xmlns:a16="http://schemas.microsoft.com/office/drawing/2014/main" id="{7A5E6405-3BB0-DC6A-9FC4-A60CCBB0F077}"/>
              </a:ext>
            </a:extLst>
          </p:cNvPr>
          <p:cNvSpPr/>
          <p:nvPr/>
        </p:nvSpPr>
        <p:spPr>
          <a:xfrm>
            <a:off x="3064765" y="3195828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2.9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7" name="Shape 115">
            <a:extLst>
              <a:ext uri="{FF2B5EF4-FFF2-40B4-BE49-F238E27FC236}">
                <a16:creationId xmlns:a16="http://schemas.microsoft.com/office/drawing/2014/main" id="{662786CD-9C0F-D7B7-4176-FFA04433DB0A}"/>
              </a:ext>
            </a:extLst>
          </p:cNvPr>
          <p:cNvSpPr/>
          <p:nvPr/>
        </p:nvSpPr>
        <p:spPr>
          <a:xfrm>
            <a:off x="3938746" y="3232404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8" name="Text 116">
            <a:extLst>
              <a:ext uri="{FF2B5EF4-FFF2-40B4-BE49-F238E27FC236}">
                <a16:creationId xmlns:a16="http://schemas.microsoft.com/office/drawing/2014/main" id="{A377F5A6-4646-4222-BD66-EB8F8B859DC5}"/>
              </a:ext>
            </a:extLst>
          </p:cNvPr>
          <p:cNvSpPr/>
          <p:nvPr/>
        </p:nvSpPr>
        <p:spPr>
          <a:xfrm>
            <a:off x="3902171" y="3195828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9" name="Shape 117">
            <a:extLst>
              <a:ext uri="{FF2B5EF4-FFF2-40B4-BE49-F238E27FC236}">
                <a16:creationId xmlns:a16="http://schemas.microsoft.com/office/drawing/2014/main" id="{6330B441-3C9A-A96F-5499-9AF408BD70D6}"/>
              </a:ext>
            </a:extLst>
          </p:cNvPr>
          <p:cNvSpPr/>
          <p:nvPr/>
        </p:nvSpPr>
        <p:spPr>
          <a:xfrm>
            <a:off x="4901914" y="3232404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0" name="Text 118">
            <a:extLst>
              <a:ext uri="{FF2B5EF4-FFF2-40B4-BE49-F238E27FC236}">
                <a16:creationId xmlns:a16="http://schemas.microsoft.com/office/drawing/2014/main" id="{0026ED77-997F-AACB-30F8-EE3504FFF640}"/>
              </a:ext>
            </a:extLst>
          </p:cNvPr>
          <p:cNvSpPr/>
          <p:nvPr/>
        </p:nvSpPr>
        <p:spPr>
          <a:xfrm>
            <a:off x="4865339" y="3195828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1" name="Shape 119">
            <a:extLst>
              <a:ext uri="{FF2B5EF4-FFF2-40B4-BE49-F238E27FC236}">
                <a16:creationId xmlns:a16="http://schemas.microsoft.com/office/drawing/2014/main" id="{2FCCB675-E283-5119-6726-C7873CC8AE60}"/>
              </a:ext>
            </a:extLst>
          </p:cNvPr>
          <p:cNvSpPr/>
          <p:nvPr/>
        </p:nvSpPr>
        <p:spPr>
          <a:xfrm>
            <a:off x="5857463" y="3232404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2" name="Text 120">
            <a:extLst>
              <a:ext uri="{FF2B5EF4-FFF2-40B4-BE49-F238E27FC236}">
                <a16:creationId xmlns:a16="http://schemas.microsoft.com/office/drawing/2014/main" id="{D60D7019-DD47-440B-2BE8-9D742C6AB6F7}"/>
              </a:ext>
            </a:extLst>
          </p:cNvPr>
          <p:cNvSpPr/>
          <p:nvPr/>
        </p:nvSpPr>
        <p:spPr>
          <a:xfrm>
            <a:off x="5820886" y="3195828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11.7%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3" name="Shape 121">
            <a:extLst>
              <a:ext uri="{FF2B5EF4-FFF2-40B4-BE49-F238E27FC236}">
                <a16:creationId xmlns:a16="http://schemas.microsoft.com/office/drawing/2014/main" id="{3A2AA84A-D7E0-D382-CA64-5604FF504DFE}"/>
              </a:ext>
            </a:extLst>
          </p:cNvPr>
          <p:cNvSpPr/>
          <p:nvPr/>
        </p:nvSpPr>
        <p:spPr>
          <a:xfrm>
            <a:off x="464821" y="3467481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4" name="Shape 122">
            <a:extLst>
              <a:ext uri="{FF2B5EF4-FFF2-40B4-BE49-F238E27FC236}">
                <a16:creationId xmlns:a16="http://schemas.microsoft.com/office/drawing/2014/main" id="{90E04EB8-CB43-68DC-6B0E-C764970D2732}"/>
              </a:ext>
            </a:extLst>
          </p:cNvPr>
          <p:cNvSpPr/>
          <p:nvPr/>
        </p:nvSpPr>
        <p:spPr>
          <a:xfrm>
            <a:off x="464821" y="3467481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5" name="Text 123">
            <a:extLst>
              <a:ext uri="{FF2B5EF4-FFF2-40B4-BE49-F238E27FC236}">
                <a16:creationId xmlns:a16="http://schemas.microsoft.com/office/drawing/2014/main" id="{71CCF9E2-F5D5-17AD-41EF-32165E8121B4}"/>
              </a:ext>
            </a:extLst>
          </p:cNvPr>
          <p:cNvSpPr/>
          <p:nvPr/>
        </p:nvSpPr>
        <p:spPr>
          <a:xfrm>
            <a:off x="574549" y="3467481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6" name="Shape 124">
            <a:extLst>
              <a:ext uri="{FF2B5EF4-FFF2-40B4-BE49-F238E27FC236}">
                <a16:creationId xmlns:a16="http://schemas.microsoft.com/office/drawing/2014/main" id="{F06E476A-78C3-B0B2-71E9-85C1AAC81359}"/>
              </a:ext>
            </a:extLst>
          </p:cNvPr>
          <p:cNvSpPr/>
          <p:nvPr/>
        </p:nvSpPr>
        <p:spPr>
          <a:xfrm>
            <a:off x="1802893" y="3477463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7" name="Text 125">
            <a:extLst>
              <a:ext uri="{FF2B5EF4-FFF2-40B4-BE49-F238E27FC236}">
                <a16:creationId xmlns:a16="http://schemas.microsoft.com/office/drawing/2014/main" id="{3F4F2DD3-3EB5-A542-8DC9-0065B2324D40}"/>
              </a:ext>
            </a:extLst>
          </p:cNvPr>
          <p:cNvSpPr/>
          <p:nvPr/>
        </p:nvSpPr>
        <p:spPr>
          <a:xfrm>
            <a:off x="1766317" y="3440887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195%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8" name="Shape 126">
            <a:extLst>
              <a:ext uri="{FF2B5EF4-FFF2-40B4-BE49-F238E27FC236}">
                <a16:creationId xmlns:a16="http://schemas.microsoft.com/office/drawing/2014/main" id="{FCBE3D11-C87E-8064-677E-5EE6E3E8B308}"/>
              </a:ext>
            </a:extLst>
          </p:cNvPr>
          <p:cNvSpPr/>
          <p:nvPr/>
        </p:nvSpPr>
        <p:spPr>
          <a:xfrm>
            <a:off x="2914618" y="3477463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9" name="Text 127">
            <a:extLst>
              <a:ext uri="{FF2B5EF4-FFF2-40B4-BE49-F238E27FC236}">
                <a16:creationId xmlns:a16="http://schemas.microsoft.com/office/drawing/2014/main" id="{16AEF56E-F6DC-BBDB-7E8E-775AEF35BD82}"/>
              </a:ext>
            </a:extLst>
          </p:cNvPr>
          <p:cNvSpPr/>
          <p:nvPr/>
        </p:nvSpPr>
        <p:spPr>
          <a:xfrm>
            <a:off x="3064765" y="3440887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2.6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0" name="Shape 128">
            <a:extLst>
              <a:ext uri="{FF2B5EF4-FFF2-40B4-BE49-F238E27FC236}">
                <a16:creationId xmlns:a16="http://schemas.microsoft.com/office/drawing/2014/main" id="{CBD1FE20-8614-DA07-21AD-11BE1BFC4DFE}"/>
              </a:ext>
            </a:extLst>
          </p:cNvPr>
          <p:cNvSpPr/>
          <p:nvPr/>
        </p:nvSpPr>
        <p:spPr>
          <a:xfrm>
            <a:off x="3938746" y="3477463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1" name="Text 129">
            <a:extLst>
              <a:ext uri="{FF2B5EF4-FFF2-40B4-BE49-F238E27FC236}">
                <a16:creationId xmlns:a16="http://schemas.microsoft.com/office/drawing/2014/main" id="{604276F4-3C3F-437B-BD49-5DE987BE4164}"/>
              </a:ext>
            </a:extLst>
          </p:cNvPr>
          <p:cNvSpPr/>
          <p:nvPr/>
        </p:nvSpPr>
        <p:spPr>
          <a:xfrm>
            <a:off x="3902171" y="3440887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2" name="Shape 130">
            <a:extLst>
              <a:ext uri="{FF2B5EF4-FFF2-40B4-BE49-F238E27FC236}">
                <a16:creationId xmlns:a16="http://schemas.microsoft.com/office/drawing/2014/main" id="{828FB628-F61A-B58B-C3DD-1FA76696141C}"/>
              </a:ext>
            </a:extLst>
          </p:cNvPr>
          <p:cNvSpPr/>
          <p:nvPr/>
        </p:nvSpPr>
        <p:spPr>
          <a:xfrm>
            <a:off x="4901914" y="3477463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3" name="Text 131">
            <a:extLst>
              <a:ext uri="{FF2B5EF4-FFF2-40B4-BE49-F238E27FC236}">
                <a16:creationId xmlns:a16="http://schemas.microsoft.com/office/drawing/2014/main" id="{A6231CBE-16F2-0CA4-912F-B56E0373EC55}"/>
              </a:ext>
            </a:extLst>
          </p:cNvPr>
          <p:cNvSpPr/>
          <p:nvPr/>
        </p:nvSpPr>
        <p:spPr>
          <a:xfrm>
            <a:off x="4865339" y="3440887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4" name="Shape 132">
            <a:extLst>
              <a:ext uri="{FF2B5EF4-FFF2-40B4-BE49-F238E27FC236}">
                <a16:creationId xmlns:a16="http://schemas.microsoft.com/office/drawing/2014/main" id="{823CBDBA-122A-B6B2-610F-BB0AE2EE665E}"/>
              </a:ext>
            </a:extLst>
          </p:cNvPr>
          <p:cNvSpPr/>
          <p:nvPr/>
        </p:nvSpPr>
        <p:spPr>
          <a:xfrm>
            <a:off x="5857463" y="3477463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5" name="Text 133">
            <a:extLst>
              <a:ext uri="{FF2B5EF4-FFF2-40B4-BE49-F238E27FC236}">
                <a16:creationId xmlns:a16="http://schemas.microsoft.com/office/drawing/2014/main" id="{DE4C8D09-6557-D89E-A91B-613E56250760}"/>
              </a:ext>
            </a:extLst>
          </p:cNvPr>
          <p:cNvSpPr/>
          <p:nvPr/>
        </p:nvSpPr>
        <p:spPr>
          <a:xfrm>
            <a:off x="5820886" y="3440887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6" name="Shape 134">
            <a:extLst>
              <a:ext uri="{FF2B5EF4-FFF2-40B4-BE49-F238E27FC236}">
                <a16:creationId xmlns:a16="http://schemas.microsoft.com/office/drawing/2014/main" id="{5F11BE44-627E-01C3-37DE-BC1C44051B01}"/>
              </a:ext>
            </a:extLst>
          </p:cNvPr>
          <p:cNvSpPr/>
          <p:nvPr/>
        </p:nvSpPr>
        <p:spPr>
          <a:xfrm>
            <a:off x="464821" y="3712540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7" name="Shape 135">
            <a:extLst>
              <a:ext uri="{FF2B5EF4-FFF2-40B4-BE49-F238E27FC236}">
                <a16:creationId xmlns:a16="http://schemas.microsoft.com/office/drawing/2014/main" id="{5CE9D31F-8EA8-72A5-A5DD-C03477EBA1AE}"/>
              </a:ext>
            </a:extLst>
          </p:cNvPr>
          <p:cNvSpPr/>
          <p:nvPr/>
        </p:nvSpPr>
        <p:spPr>
          <a:xfrm>
            <a:off x="464821" y="3712540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8" name="Text 136">
            <a:extLst>
              <a:ext uri="{FF2B5EF4-FFF2-40B4-BE49-F238E27FC236}">
                <a16:creationId xmlns:a16="http://schemas.microsoft.com/office/drawing/2014/main" id="{44F2E0EA-0ED1-31D7-E205-DD615BB69A21}"/>
              </a:ext>
            </a:extLst>
          </p:cNvPr>
          <p:cNvSpPr/>
          <p:nvPr/>
        </p:nvSpPr>
        <p:spPr>
          <a:xfrm>
            <a:off x="574549" y="3712540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9" name="Shape 137">
            <a:extLst>
              <a:ext uri="{FF2B5EF4-FFF2-40B4-BE49-F238E27FC236}">
                <a16:creationId xmlns:a16="http://schemas.microsoft.com/office/drawing/2014/main" id="{03FF0390-2818-FD71-C1CE-394EE77ECFB5}"/>
              </a:ext>
            </a:extLst>
          </p:cNvPr>
          <p:cNvSpPr/>
          <p:nvPr/>
        </p:nvSpPr>
        <p:spPr>
          <a:xfrm>
            <a:off x="1802893" y="3722522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0" name="Text 138">
            <a:extLst>
              <a:ext uri="{FF2B5EF4-FFF2-40B4-BE49-F238E27FC236}">
                <a16:creationId xmlns:a16="http://schemas.microsoft.com/office/drawing/2014/main" id="{B24942C1-0E5B-2721-9559-35D312C9B483}"/>
              </a:ext>
            </a:extLst>
          </p:cNvPr>
          <p:cNvSpPr/>
          <p:nvPr/>
        </p:nvSpPr>
        <p:spPr>
          <a:xfrm>
            <a:off x="1766317" y="3685946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1" name="Shape 139">
            <a:extLst>
              <a:ext uri="{FF2B5EF4-FFF2-40B4-BE49-F238E27FC236}">
                <a16:creationId xmlns:a16="http://schemas.microsoft.com/office/drawing/2014/main" id="{344707BF-2C13-1C5C-6B2B-EA53D9EEEB46}"/>
              </a:ext>
            </a:extLst>
          </p:cNvPr>
          <p:cNvSpPr/>
          <p:nvPr/>
        </p:nvSpPr>
        <p:spPr>
          <a:xfrm>
            <a:off x="2914618" y="3722522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2" name="Text 140">
            <a:extLst>
              <a:ext uri="{FF2B5EF4-FFF2-40B4-BE49-F238E27FC236}">
                <a16:creationId xmlns:a16="http://schemas.microsoft.com/office/drawing/2014/main" id="{C5F4DC51-1022-0344-6BD7-89695AFEA447}"/>
              </a:ext>
            </a:extLst>
          </p:cNvPr>
          <p:cNvSpPr/>
          <p:nvPr/>
        </p:nvSpPr>
        <p:spPr>
          <a:xfrm>
            <a:off x="3064765" y="3685946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1.4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3" name="Shape 141">
            <a:extLst>
              <a:ext uri="{FF2B5EF4-FFF2-40B4-BE49-F238E27FC236}">
                <a16:creationId xmlns:a16="http://schemas.microsoft.com/office/drawing/2014/main" id="{19B0AA02-68EE-B9D4-42A5-F5A04308BF6E}"/>
              </a:ext>
            </a:extLst>
          </p:cNvPr>
          <p:cNvSpPr/>
          <p:nvPr/>
        </p:nvSpPr>
        <p:spPr>
          <a:xfrm>
            <a:off x="3938746" y="3722522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4" name="Text 142">
            <a:extLst>
              <a:ext uri="{FF2B5EF4-FFF2-40B4-BE49-F238E27FC236}">
                <a16:creationId xmlns:a16="http://schemas.microsoft.com/office/drawing/2014/main" id="{1E9F986C-8351-5FE3-47A7-FAA57BFDB5E2}"/>
              </a:ext>
            </a:extLst>
          </p:cNvPr>
          <p:cNvSpPr/>
          <p:nvPr/>
        </p:nvSpPr>
        <p:spPr>
          <a:xfrm>
            <a:off x="3902171" y="368594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5" name="Shape 143">
            <a:extLst>
              <a:ext uri="{FF2B5EF4-FFF2-40B4-BE49-F238E27FC236}">
                <a16:creationId xmlns:a16="http://schemas.microsoft.com/office/drawing/2014/main" id="{6B48F683-AF5B-8B98-7197-933C5A798EC2}"/>
              </a:ext>
            </a:extLst>
          </p:cNvPr>
          <p:cNvSpPr/>
          <p:nvPr/>
        </p:nvSpPr>
        <p:spPr>
          <a:xfrm>
            <a:off x="4901914" y="3722522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6" name="Text 144">
            <a:extLst>
              <a:ext uri="{FF2B5EF4-FFF2-40B4-BE49-F238E27FC236}">
                <a16:creationId xmlns:a16="http://schemas.microsoft.com/office/drawing/2014/main" id="{38531F64-109A-67CD-3672-1A89B721A598}"/>
              </a:ext>
            </a:extLst>
          </p:cNvPr>
          <p:cNvSpPr/>
          <p:nvPr/>
        </p:nvSpPr>
        <p:spPr>
          <a:xfrm>
            <a:off x="4865339" y="368594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15.1%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7" name="Shape 145">
            <a:extLst>
              <a:ext uri="{FF2B5EF4-FFF2-40B4-BE49-F238E27FC236}">
                <a16:creationId xmlns:a16="http://schemas.microsoft.com/office/drawing/2014/main" id="{7D20F57E-A7E9-5F31-0A7B-A6DEDC91FA29}"/>
              </a:ext>
            </a:extLst>
          </p:cNvPr>
          <p:cNvSpPr/>
          <p:nvPr/>
        </p:nvSpPr>
        <p:spPr>
          <a:xfrm>
            <a:off x="5857463" y="3722522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8" name="Text 146">
            <a:extLst>
              <a:ext uri="{FF2B5EF4-FFF2-40B4-BE49-F238E27FC236}">
                <a16:creationId xmlns:a16="http://schemas.microsoft.com/office/drawing/2014/main" id="{17E35E31-228C-3DDF-3652-D74487871C35}"/>
              </a:ext>
            </a:extLst>
          </p:cNvPr>
          <p:cNvSpPr/>
          <p:nvPr/>
        </p:nvSpPr>
        <p:spPr>
          <a:xfrm>
            <a:off x="5820886" y="3685946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9" name="Shape 147">
            <a:extLst>
              <a:ext uri="{FF2B5EF4-FFF2-40B4-BE49-F238E27FC236}">
                <a16:creationId xmlns:a16="http://schemas.microsoft.com/office/drawing/2014/main" id="{134EFD73-FD4A-827D-78CB-1CCB4C6CE2F1}"/>
              </a:ext>
            </a:extLst>
          </p:cNvPr>
          <p:cNvSpPr/>
          <p:nvPr/>
        </p:nvSpPr>
        <p:spPr>
          <a:xfrm>
            <a:off x="464821" y="3957600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0" name="Shape 148">
            <a:extLst>
              <a:ext uri="{FF2B5EF4-FFF2-40B4-BE49-F238E27FC236}">
                <a16:creationId xmlns:a16="http://schemas.microsoft.com/office/drawing/2014/main" id="{E0A9E6C9-59B0-4681-C009-E4283EB7FA0A}"/>
              </a:ext>
            </a:extLst>
          </p:cNvPr>
          <p:cNvSpPr/>
          <p:nvPr/>
        </p:nvSpPr>
        <p:spPr>
          <a:xfrm>
            <a:off x="464821" y="3957600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1" name="Text 149">
            <a:extLst>
              <a:ext uri="{FF2B5EF4-FFF2-40B4-BE49-F238E27FC236}">
                <a16:creationId xmlns:a16="http://schemas.microsoft.com/office/drawing/2014/main" id="{B8C92272-5CA2-E831-4553-69F0F8332598}"/>
              </a:ext>
            </a:extLst>
          </p:cNvPr>
          <p:cNvSpPr/>
          <p:nvPr/>
        </p:nvSpPr>
        <p:spPr>
          <a:xfrm>
            <a:off x="574549" y="3957600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2" name="Shape 150">
            <a:extLst>
              <a:ext uri="{FF2B5EF4-FFF2-40B4-BE49-F238E27FC236}">
                <a16:creationId xmlns:a16="http://schemas.microsoft.com/office/drawing/2014/main" id="{D4EE7A8B-DD7B-520B-E40D-A24BDEE0E0C6}"/>
              </a:ext>
            </a:extLst>
          </p:cNvPr>
          <p:cNvSpPr/>
          <p:nvPr/>
        </p:nvSpPr>
        <p:spPr>
          <a:xfrm>
            <a:off x="1802893" y="3967582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3" name="Text 151">
            <a:extLst>
              <a:ext uri="{FF2B5EF4-FFF2-40B4-BE49-F238E27FC236}">
                <a16:creationId xmlns:a16="http://schemas.microsoft.com/office/drawing/2014/main" id="{DD8D2357-044B-11D1-06E0-20C3F4797B61}"/>
              </a:ext>
            </a:extLst>
          </p:cNvPr>
          <p:cNvSpPr/>
          <p:nvPr/>
        </p:nvSpPr>
        <p:spPr>
          <a:xfrm>
            <a:off x="1766317" y="3931006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4" name="Shape 152">
            <a:extLst>
              <a:ext uri="{FF2B5EF4-FFF2-40B4-BE49-F238E27FC236}">
                <a16:creationId xmlns:a16="http://schemas.microsoft.com/office/drawing/2014/main" id="{72EE1A36-3A5A-A849-D306-120977512FB5}"/>
              </a:ext>
            </a:extLst>
          </p:cNvPr>
          <p:cNvSpPr/>
          <p:nvPr/>
        </p:nvSpPr>
        <p:spPr>
          <a:xfrm>
            <a:off x="2914618" y="3967582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5" name="Text 153">
            <a:extLst>
              <a:ext uri="{FF2B5EF4-FFF2-40B4-BE49-F238E27FC236}">
                <a16:creationId xmlns:a16="http://schemas.microsoft.com/office/drawing/2014/main" id="{3D49658F-B5D4-9077-1AAD-283F74C56163}"/>
              </a:ext>
            </a:extLst>
          </p:cNvPr>
          <p:cNvSpPr/>
          <p:nvPr/>
        </p:nvSpPr>
        <p:spPr>
          <a:xfrm>
            <a:off x="3064765" y="3931006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1.9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6" name="Shape 154">
            <a:extLst>
              <a:ext uri="{FF2B5EF4-FFF2-40B4-BE49-F238E27FC236}">
                <a16:creationId xmlns:a16="http://schemas.microsoft.com/office/drawing/2014/main" id="{7661EA79-DF75-5A44-9B61-76EA9BC00E47}"/>
              </a:ext>
            </a:extLst>
          </p:cNvPr>
          <p:cNvSpPr/>
          <p:nvPr/>
        </p:nvSpPr>
        <p:spPr>
          <a:xfrm>
            <a:off x="3938746" y="3967582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7" name="Text 155">
            <a:extLst>
              <a:ext uri="{FF2B5EF4-FFF2-40B4-BE49-F238E27FC236}">
                <a16:creationId xmlns:a16="http://schemas.microsoft.com/office/drawing/2014/main" id="{FC128C33-AF34-232C-7407-8AC5F9034FE5}"/>
              </a:ext>
            </a:extLst>
          </p:cNvPr>
          <p:cNvSpPr/>
          <p:nvPr/>
        </p:nvSpPr>
        <p:spPr>
          <a:xfrm>
            <a:off x="3902171" y="393100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8" name="Shape 156">
            <a:extLst>
              <a:ext uri="{FF2B5EF4-FFF2-40B4-BE49-F238E27FC236}">
                <a16:creationId xmlns:a16="http://schemas.microsoft.com/office/drawing/2014/main" id="{1075EE9C-375C-5E4A-56DA-E0A328093E60}"/>
              </a:ext>
            </a:extLst>
          </p:cNvPr>
          <p:cNvSpPr/>
          <p:nvPr/>
        </p:nvSpPr>
        <p:spPr>
          <a:xfrm>
            <a:off x="4901914" y="3967582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9" name="Text 157">
            <a:extLst>
              <a:ext uri="{FF2B5EF4-FFF2-40B4-BE49-F238E27FC236}">
                <a16:creationId xmlns:a16="http://schemas.microsoft.com/office/drawing/2014/main" id="{8034E479-AD08-C145-38EF-069E12E36E9B}"/>
              </a:ext>
            </a:extLst>
          </p:cNvPr>
          <p:cNvSpPr/>
          <p:nvPr/>
        </p:nvSpPr>
        <p:spPr>
          <a:xfrm>
            <a:off x="4865339" y="393100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0" name="Shape 158">
            <a:extLst>
              <a:ext uri="{FF2B5EF4-FFF2-40B4-BE49-F238E27FC236}">
                <a16:creationId xmlns:a16="http://schemas.microsoft.com/office/drawing/2014/main" id="{C0E07C34-4CC6-7B52-2008-7E91C9A07166}"/>
              </a:ext>
            </a:extLst>
          </p:cNvPr>
          <p:cNvSpPr/>
          <p:nvPr/>
        </p:nvSpPr>
        <p:spPr>
          <a:xfrm>
            <a:off x="5857463" y="3967582"/>
            <a:ext cx="1168698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1" name="Text 159">
            <a:extLst>
              <a:ext uri="{FF2B5EF4-FFF2-40B4-BE49-F238E27FC236}">
                <a16:creationId xmlns:a16="http://schemas.microsoft.com/office/drawing/2014/main" id="{F10A220F-A822-944F-95BD-867746522A4F}"/>
              </a:ext>
            </a:extLst>
          </p:cNvPr>
          <p:cNvSpPr/>
          <p:nvPr/>
        </p:nvSpPr>
        <p:spPr>
          <a:xfrm>
            <a:off x="5820886" y="3931006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2" name="Shape 160">
            <a:extLst>
              <a:ext uri="{FF2B5EF4-FFF2-40B4-BE49-F238E27FC236}">
                <a16:creationId xmlns:a16="http://schemas.microsoft.com/office/drawing/2014/main" id="{9C2A583C-5358-F9A3-87D6-3B4EFF9FE067}"/>
              </a:ext>
            </a:extLst>
          </p:cNvPr>
          <p:cNvSpPr/>
          <p:nvPr/>
        </p:nvSpPr>
        <p:spPr>
          <a:xfrm>
            <a:off x="464821" y="4202659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3" name="Shape 161">
            <a:extLst>
              <a:ext uri="{FF2B5EF4-FFF2-40B4-BE49-F238E27FC236}">
                <a16:creationId xmlns:a16="http://schemas.microsoft.com/office/drawing/2014/main" id="{AA2FF3CF-4C9A-91BA-2D09-A7AE3877A6C2}"/>
              </a:ext>
            </a:extLst>
          </p:cNvPr>
          <p:cNvSpPr/>
          <p:nvPr/>
        </p:nvSpPr>
        <p:spPr>
          <a:xfrm>
            <a:off x="464821" y="4202659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4" name="Text 162">
            <a:extLst>
              <a:ext uri="{FF2B5EF4-FFF2-40B4-BE49-F238E27FC236}">
                <a16:creationId xmlns:a16="http://schemas.microsoft.com/office/drawing/2014/main" id="{10C141DC-52D6-736F-FCEB-493E59775930}"/>
              </a:ext>
            </a:extLst>
          </p:cNvPr>
          <p:cNvSpPr/>
          <p:nvPr/>
        </p:nvSpPr>
        <p:spPr>
          <a:xfrm>
            <a:off x="574549" y="4202659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5" name="Shape 163">
            <a:extLst>
              <a:ext uri="{FF2B5EF4-FFF2-40B4-BE49-F238E27FC236}">
                <a16:creationId xmlns:a16="http://schemas.microsoft.com/office/drawing/2014/main" id="{3C475919-9394-F131-CC23-420F472F12A3}"/>
              </a:ext>
            </a:extLst>
          </p:cNvPr>
          <p:cNvSpPr/>
          <p:nvPr/>
        </p:nvSpPr>
        <p:spPr>
          <a:xfrm>
            <a:off x="1802893" y="4212641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6" name="Text 164">
            <a:extLst>
              <a:ext uri="{FF2B5EF4-FFF2-40B4-BE49-F238E27FC236}">
                <a16:creationId xmlns:a16="http://schemas.microsoft.com/office/drawing/2014/main" id="{D2B7256C-1C6D-AC0F-DAF9-9C6B8FCF1009}"/>
              </a:ext>
            </a:extLst>
          </p:cNvPr>
          <p:cNvSpPr/>
          <p:nvPr/>
        </p:nvSpPr>
        <p:spPr>
          <a:xfrm>
            <a:off x="1766317" y="4176065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7" name="Shape 165">
            <a:extLst>
              <a:ext uri="{FF2B5EF4-FFF2-40B4-BE49-F238E27FC236}">
                <a16:creationId xmlns:a16="http://schemas.microsoft.com/office/drawing/2014/main" id="{301F3266-3639-FB75-0677-F4BB3A7AB449}"/>
              </a:ext>
            </a:extLst>
          </p:cNvPr>
          <p:cNvSpPr/>
          <p:nvPr/>
        </p:nvSpPr>
        <p:spPr>
          <a:xfrm>
            <a:off x="2914618" y="4212641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8" name="Text 166">
            <a:extLst>
              <a:ext uri="{FF2B5EF4-FFF2-40B4-BE49-F238E27FC236}">
                <a16:creationId xmlns:a16="http://schemas.microsoft.com/office/drawing/2014/main" id="{D0042C15-D656-E50A-9F54-A032F6E08F07}"/>
              </a:ext>
            </a:extLst>
          </p:cNvPr>
          <p:cNvSpPr/>
          <p:nvPr/>
        </p:nvSpPr>
        <p:spPr>
          <a:xfrm>
            <a:off x="3064765" y="4176065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1.6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9" name="Shape 167">
            <a:extLst>
              <a:ext uri="{FF2B5EF4-FFF2-40B4-BE49-F238E27FC236}">
                <a16:creationId xmlns:a16="http://schemas.microsoft.com/office/drawing/2014/main" id="{226270D1-1519-361B-9CDC-32F9FB8346D8}"/>
              </a:ext>
            </a:extLst>
          </p:cNvPr>
          <p:cNvSpPr/>
          <p:nvPr/>
        </p:nvSpPr>
        <p:spPr>
          <a:xfrm>
            <a:off x="3938746" y="4212641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0" name="Text 168">
            <a:extLst>
              <a:ext uri="{FF2B5EF4-FFF2-40B4-BE49-F238E27FC236}">
                <a16:creationId xmlns:a16="http://schemas.microsoft.com/office/drawing/2014/main" id="{30F723A4-41C2-9CC8-0A3A-07D042915CEE}"/>
              </a:ext>
            </a:extLst>
          </p:cNvPr>
          <p:cNvSpPr/>
          <p:nvPr/>
        </p:nvSpPr>
        <p:spPr>
          <a:xfrm>
            <a:off x="3902171" y="4176065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1" name="Shape 169">
            <a:extLst>
              <a:ext uri="{FF2B5EF4-FFF2-40B4-BE49-F238E27FC236}">
                <a16:creationId xmlns:a16="http://schemas.microsoft.com/office/drawing/2014/main" id="{62A99AAF-B968-1F53-4282-73F9FF3C6C37}"/>
              </a:ext>
            </a:extLst>
          </p:cNvPr>
          <p:cNvSpPr/>
          <p:nvPr/>
        </p:nvSpPr>
        <p:spPr>
          <a:xfrm>
            <a:off x="4901914" y="4212641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2" name="Text 170">
            <a:extLst>
              <a:ext uri="{FF2B5EF4-FFF2-40B4-BE49-F238E27FC236}">
                <a16:creationId xmlns:a16="http://schemas.microsoft.com/office/drawing/2014/main" id="{F410A67F-70A8-E563-3337-9DEBDB9A374B}"/>
              </a:ext>
            </a:extLst>
          </p:cNvPr>
          <p:cNvSpPr/>
          <p:nvPr/>
        </p:nvSpPr>
        <p:spPr>
          <a:xfrm>
            <a:off x="4865339" y="4176065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3" name="Shape 171">
            <a:extLst>
              <a:ext uri="{FF2B5EF4-FFF2-40B4-BE49-F238E27FC236}">
                <a16:creationId xmlns:a16="http://schemas.microsoft.com/office/drawing/2014/main" id="{1520776E-E330-80F2-5F3D-B2759BBFC254}"/>
              </a:ext>
            </a:extLst>
          </p:cNvPr>
          <p:cNvSpPr/>
          <p:nvPr/>
        </p:nvSpPr>
        <p:spPr>
          <a:xfrm>
            <a:off x="5857463" y="4212641"/>
            <a:ext cx="1168698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4" name="Text 172">
            <a:extLst>
              <a:ext uri="{FF2B5EF4-FFF2-40B4-BE49-F238E27FC236}">
                <a16:creationId xmlns:a16="http://schemas.microsoft.com/office/drawing/2014/main" id="{AB77A810-A9B2-E93C-E690-AB238CD01831}"/>
              </a:ext>
            </a:extLst>
          </p:cNvPr>
          <p:cNvSpPr/>
          <p:nvPr/>
        </p:nvSpPr>
        <p:spPr>
          <a:xfrm>
            <a:off x="5820886" y="4176065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52.5%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5" name="Shape 173">
            <a:extLst>
              <a:ext uri="{FF2B5EF4-FFF2-40B4-BE49-F238E27FC236}">
                <a16:creationId xmlns:a16="http://schemas.microsoft.com/office/drawing/2014/main" id="{9860D51F-8326-1DAF-A529-DA1C7CD8C987}"/>
              </a:ext>
            </a:extLst>
          </p:cNvPr>
          <p:cNvSpPr/>
          <p:nvPr/>
        </p:nvSpPr>
        <p:spPr>
          <a:xfrm>
            <a:off x="464821" y="4447718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6" name="Shape 174">
            <a:extLst>
              <a:ext uri="{FF2B5EF4-FFF2-40B4-BE49-F238E27FC236}">
                <a16:creationId xmlns:a16="http://schemas.microsoft.com/office/drawing/2014/main" id="{BA0798DC-63B9-ADA8-75E4-A50D02EBEB30}"/>
              </a:ext>
            </a:extLst>
          </p:cNvPr>
          <p:cNvSpPr/>
          <p:nvPr/>
        </p:nvSpPr>
        <p:spPr>
          <a:xfrm>
            <a:off x="464821" y="4447718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7" name="Text 175">
            <a:extLst>
              <a:ext uri="{FF2B5EF4-FFF2-40B4-BE49-F238E27FC236}">
                <a16:creationId xmlns:a16="http://schemas.microsoft.com/office/drawing/2014/main" id="{2F12BBEF-05A0-71CE-14D2-E08F17F4AB1C}"/>
              </a:ext>
            </a:extLst>
          </p:cNvPr>
          <p:cNvSpPr/>
          <p:nvPr/>
        </p:nvSpPr>
        <p:spPr>
          <a:xfrm>
            <a:off x="574549" y="4447718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8" name="Shape 176">
            <a:extLst>
              <a:ext uri="{FF2B5EF4-FFF2-40B4-BE49-F238E27FC236}">
                <a16:creationId xmlns:a16="http://schemas.microsoft.com/office/drawing/2014/main" id="{1B2D0DFF-BDA1-4A4F-E571-908743BDEE61}"/>
              </a:ext>
            </a:extLst>
          </p:cNvPr>
          <p:cNvSpPr/>
          <p:nvPr/>
        </p:nvSpPr>
        <p:spPr>
          <a:xfrm>
            <a:off x="1802893" y="4457700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9" name="Text 177">
            <a:extLst>
              <a:ext uri="{FF2B5EF4-FFF2-40B4-BE49-F238E27FC236}">
                <a16:creationId xmlns:a16="http://schemas.microsoft.com/office/drawing/2014/main" id="{75CE3440-9E7D-F5D5-559A-2E372769DD04}"/>
              </a:ext>
            </a:extLst>
          </p:cNvPr>
          <p:cNvSpPr/>
          <p:nvPr/>
        </p:nvSpPr>
        <p:spPr>
          <a:xfrm>
            <a:off x="1766317" y="4421124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0" name="Shape 178">
            <a:extLst>
              <a:ext uri="{FF2B5EF4-FFF2-40B4-BE49-F238E27FC236}">
                <a16:creationId xmlns:a16="http://schemas.microsoft.com/office/drawing/2014/main" id="{517BFF1F-B528-548B-5347-F55F7538D88B}"/>
              </a:ext>
            </a:extLst>
          </p:cNvPr>
          <p:cNvSpPr/>
          <p:nvPr/>
        </p:nvSpPr>
        <p:spPr>
          <a:xfrm>
            <a:off x="2914618" y="4457700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1" name="Text 179">
            <a:extLst>
              <a:ext uri="{FF2B5EF4-FFF2-40B4-BE49-F238E27FC236}">
                <a16:creationId xmlns:a16="http://schemas.microsoft.com/office/drawing/2014/main" id="{C5464EAA-38FE-A053-2A20-DD8189F235CF}"/>
              </a:ext>
            </a:extLst>
          </p:cNvPr>
          <p:cNvSpPr/>
          <p:nvPr/>
        </p:nvSpPr>
        <p:spPr>
          <a:xfrm>
            <a:off x="3064765" y="4421124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2" name="Shape 180">
            <a:extLst>
              <a:ext uri="{FF2B5EF4-FFF2-40B4-BE49-F238E27FC236}">
                <a16:creationId xmlns:a16="http://schemas.microsoft.com/office/drawing/2014/main" id="{45AB5930-8945-E69F-45FC-B122E9D1C0C7}"/>
              </a:ext>
            </a:extLst>
          </p:cNvPr>
          <p:cNvSpPr/>
          <p:nvPr/>
        </p:nvSpPr>
        <p:spPr>
          <a:xfrm>
            <a:off x="3938746" y="4457700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3" name="Text 181">
            <a:extLst>
              <a:ext uri="{FF2B5EF4-FFF2-40B4-BE49-F238E27FC236}">
                <a16:creationId xmlns:a16="http://schemas.microsoft.com/office/drawing/2014/main" id="{6E717DFF-0E33-F5FA-139B-B7D79ECCA17D}"/>
              </a:ext>
            </a:extLst>
          </p:cNvPr>
          <p:cNvSpPr/>
          <p:nvPr/>
        </p:nvSpPr>
        <p:spPr>
          <a:xfrm>
            <a:off x="3902171" y="4421124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4" name="Shape 182">
            <a:extLst>
              <a:ext uri="{FF2B5EF4-FFF2-40B4-BE49-F238E27FC236}">
                <a16:creationId xmlns:a16="http://schemas.microsoft.com/office/drawing/2014/main" id="{C23F7CF6-BBD5-D46C-8395-CC5999BD8181}"/>
              </a:ext>
            </a:extLst>
          </p:cNvPr>
          <p:cNvSpPr/>
          <p:nvPr/>
        </p:nvSpPr>
        <p:spPr>
          <a:xfrm>
            <a:off x="4901914" y="4457700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5" name="Text 183">
            <a:extLst>
              <a:ext uri="{FF2B5EF4-FFF2-40B4-BE49-F238E27FC236}">
                <a16:creationId xmlns:a16="http://schemas.microsoft.com/office/drawing/2014/main" id="{E0CFDC49-8756-FC59-AD24-098B79331529}"/>
              </a:ext>
            </a:extLst>
          </p:cNvPr>
          <p:cNvSpPr/>
          <p:nvPr/>
        </p:nvSpPr>
        <p:spPr>
          <a:xfrm>
            <a:off x="4865339" y="4421124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18.9%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6" name="Shape 184">
            <a:extLst>
              <a:ext uri="{FF2B5EF4-FFF2-40B4-BE49-F238E27FC236}">
                <a16:creationId xmlns:a16="http://schemas.microsoft.com/office/drawing/2014/main" id="{6F300BB1-AA9E-35C6-7ADC-FC74B2D649FC}"/>
              </a:ext>
            </a:extLst>
          </p:cNvPr>
          <p:cNvSpPr/>
          <p:nvPr/>
        </p:nvSpPr>
        <p:spPr>
          <a:xfrm>
            <a:off x="5857463" y="4457700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7" name="Text 185">
            <a:extLst>
              <a:ext uri="{FF2B5EF4-FFF2-40B4-BE49-F238E27FC236}">
                <a16:creationId xmlns:a16="http://schemas.microsoft.com/office/drawing/2014/main" id="{A41C2397-78ED-6F02-5F20-6CEAF8C98C3D}"/>
              </a:ext>
            </a:extLst>
          </p:cNvPr>
          <p:cNvSpPr/>
          <p:nvPr/>
        </p:nvSpPr>
        <p:spPr>
          <a:xfrm>
            <a:off x="5820886" y="4421124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8" name="Text 14">
            <a:extLst>
              <a:ext uri="{FF2B5EF4-FFF2-40B4-BE49-F238E27FC236}">
                <a16:creationId xmlns:a16="http://schemas.microsoft.com/office/drawing/2014/main" id="{489256A2-430D-6655-7903-EB8A6DBAAAD8}"/>
              </a:ext>
            </a:extLst>
          </p:cNvPr>
          <p:cNvSpPr/>
          <p:nvPr/>
        </p:nvSpPr>
        <p:spPr>
          <a:xfrm>
            <a:off x="2255520" y="1374648"/>
            <a:ext cx="1184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기능×3+데이터×2.5 +UI×1</a:t>
            </a:r>
          </a:p>
          <a:p>
            <a:pPr marL="0" indent="0">
              <a:buNone/>
            </a:pPr>
            <a:r>
              <a:rPr lang="en-US" sz="72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         ÷</a:t>
            </a:r>
            <a:r>
              <a:rPr lang="en-US" sz="72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시나리오</a:t>
            </a:r>
            <a:endParaRPr lang="en-US" sz="7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hart 0"/>
          <p:cNvGraphicFramePr/>
          <p:nvPr>
            <p:extLst>
              <p:ext uri="{D42A27DB-BD31-4B8C-83A1-F6EECF244321}">
                <p14:modId xmlns:p14="http://schemas.microsoft.com/office/powerpoint/2010/main" val="3553398271"/>
              </p:ext>
            </p:extLst>
          </p:nvPr>
        </p:nvGraphicFramePr>
        <p:xfrm>
          <a:off x="441960" y="1025651"/>
          <a:ext cx="4511040" cy="18415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Shape 0"/>
          <p:cNvSpPr/>
          <p:nvPr/>
        </p:nvSpPr>
        <p:spPr>
          <a:xfrm>
            <a:off x="0" y="0"/>
            <a:ext cx="9144000" cy="584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지표 모듈별 비교 — 다차원 막대 분석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1960" y="784860"/>
            <a:ext cx="4511040" cy="2377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①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실질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(%)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높을수록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41960" y="2867152"/>
            <a:ext cx="440086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150% 초과: 항공기관제(256)·항공보안(233)·AOMS-CA(195)·공항운영(162) → </a:t>
            </a:r>
            <a:r>
              <a:rPr lang="en-US" sz="820" i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20" i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구간</a:t>
            </a:r>
            <a:endParaRPr lang="en-US" sz="820" i="1" dirty="0">
              <a:solidFill>
                <a:srgbClr val="DC2626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lnSpc>
                <a:spcPts val="1200"/>
              </a:lnSpc>
              <a:buNone/>
            </a:pPr>
            <a:r>
              <a:rPr lang="en-US" altLang="ko-KR" sz="820" dirty="0"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100%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이하 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: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(87)·A-CDM(88) →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양호</a:t>
            </a:r>
            <a:endParaRPr lang="en-US" sz="820" dirty="0">
              <a:solidFill>
                <a:srgbClr val="0000F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044440" y="784860"/>
            <a:ext cx="3631248" cy="23774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③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해소율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(%)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낮을수록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graphicFrame>
        <p:nvGraphicFramePr>
          <p:cNvPr id="14" name="Chart 1"/>
          <p:cNvGraphicFramePr/>
          <p:nvPr>
            <p:extLst>
              <p:ext uri="{D42A27DB-BD31-4B8C-83A1-F6EECF244321}">
                <p14:modId xmlns:p14="http://schemas.microsoft.com/office/powerpoint/2010/main" val="3375592996"/>
              </p:ext>
            </p:extLst>
          </p:nvPr>
        </p:nvGraphicFramePr>
        <p:xfrm>
          <a:off x="5044440" y="1025651"/>
          <a:ext cx="3631248" cy="18415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5044440" y="2806383"/>
            <a:ext cx="363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50% 미만: 항공통계포털(38)·항공기관제(41)·공항운영(46) → 미해소 위험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441960" y="3305556"/>
            <a:ext cx="68122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69976" y="3305556"/>
            <a:ext cx="564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심각도 가중지수 · ④ 기능결함 집중도(%) · ⑤ 미결 위험도(%) — 3지표 복합 비교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8" name="Chart 2"/>
          <p:cNvGraphicFramePr/>
          <p:nvPr>
            <p:extLst>
              <p:ext uri="{D42A27DB-BD31-4B8C-83A1-F6EECF244321}">
                <p14:modId xmlns:p14="http://schemas.microsoft.com/office/powerpoint/2010/main" val="573796081"/>
              </p:ext>
            </p:extLst>
          </p:nvPr>
        </p:nvGraphicFramePr>
        <p:xfrm>
          <a:off x="441960" y="3561589"/>
          <a:ext cx="6949440" cy="12321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Shape 186">
            <a:extLst>
              <a:ext uri="{FF2B5EF4-FFF2-40B4-BE49-F238E27FC236}">
                <a16:creationId xmlns:a16="http://schemas.microsoft.com/office/drawing/2014/main" id="{390C97A2-626D-12A8-FE17-D2FB641F81CC}"/>
              </a:ext>
            </a:extLst>
          </p:cNvPr>
          <p:cNvSpPr/>
          <p:nvPr/>
        </p:nvSpPr>
        <p:spPr>
          <a:xfrm>
            <a:off x="7382256" y="3305556"/>
            <a:ext cx="1293432" cy="1390269"/>
          </a:xfrm>
          <a:prstGeom prst="rect">
            <a:avLst/>
          </a:prstGeom>
          <a:solidFill>
            <a:srgbClr val="E5E9E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항공기관제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(AC): ①②④ 전 축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최고위험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9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공항운영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(GO): ①③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결함율+미해소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복합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9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defRPr/>
            </a:pPr>
            <a:r>
              <a:rPr lang="en-US" altLang="ko-KR" sz="900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</a:t>
            </a:r>
            <a:r>
              <a:rPr lang="en-US" altLang="ko-KR" sz="9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(AS): ⑤</a:t>
            </a:r>
            <a:r>
              <a:rPr lang="en-US" altLang="ko-KR" sz="900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미결위험</a:t>
            </a:r>
            <a:r>
              <a:rPr lang="en-US" altLang="ko-KR" sz="9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52.5%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endParaRPr lang="ko-KR" alt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21140" cy="397764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397764"/>
            <a:ext cx="9121140" cy="3429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10962" y="157734"/>
            <a:ext cx="58293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QA/테스트 관리자 관점  |  결함 내용 기반 원인 진단  |  기각 제외 분석 대상: 4,203건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612208"/>
              </p:ext>
            </p:extLst>
          </p:nvPr>
        </p:nvGraphicFramePr>
        <p:xfrm>
          <a:off x="431799" y="596646"/>
          <a:ext cx="8429172" cy="4052097"/>
        </p:xfrm>
        <a:graphic>
          <a:graphicData uri="http://schemas.openxmlformats.org/drawingml/2006/table">
            <a:tbl>
              <a:tblPr/>
              <a:tblGrid>
                <a:gridCol w="642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4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027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1157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46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업무 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합계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Major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위험도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발생 배경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주요 원인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QA 의견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공항운영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(GO)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619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198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211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386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매우높음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현행(AS-IS) IIS 대비 다수 기능이 미완성 상태로 테스트 진입. 실시간 운항 데이터 처리 로직의 복잡도 대비 개발 검증 부족.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AS-IS 데이터 불일치 84건 — 현행 이관 검증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저장/서버 오류 반복 — 핵심 워크플로우 미완성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동일 시나리오 다단계 반복 결함 최다 발생 모듈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 198건은 전체의 47.4%를 점유하는 최고위험 모듈. 잔여 차수 진입 전 핵심 기능(저장/조회/처리)에 대한 집중 재검증 필수.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항공기관제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(AC)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360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24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92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83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관제 업무 특성상 복잡한 화면 구성과 실시간 편집 기능이 다수. 2-2차에서 PL 단계 결함이 48건으로 급증하며 개발 완성도 저하 확인.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기능 결함 265건 중 권한·저장·조회 오류 집중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UI 결함 75건 — 복잡한 관제 화면의 표준화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2-2차 PL 단계 결함 급증(48건) — 신규 기능 추가 이슈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PL 단계 결함 급증이 주목 포인트. 신규·변경 기능에 대한 PL 검토 기준 강화 및 회귀 테스트 범위 확대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(FIMS-CA)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341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44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59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 화면 컴포넌트를 다수 모듈이 공유하는 구조로 결함 영향 범위가 타 모듈로 전파될 위험 내재. UI·기타 결함 비중이 높아 화면 표준 준수가 핵심 이슈.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UI 109건·기타 92건 — 공통 컴포넌트 규격 미준수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차수 누적에도 UI 결함 비율 유지 → 근본 원인 미해소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공통 모듈 결함은 연쇄 영향 가능성 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 컴포넌트 결함은 파급 효과가 크므로 조기 해소 우선. UI 표준 가이드 재배포 및 전체 화면 일제 점검 필요.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(AOMS-CA)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319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32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AOMS 계열 공통 기능으로 다수 업무 모듈의 기반 역할. 공사 단계 집중 결함이 1-1차(89건)→2-1차(48건)로 반복되어 구조적 품질 이슈로 판단.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공사 단계 결함이 매 차수 최다 — 선행 검증 체계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UI 106건으로 화면 표준화 이슈 FIMS-CA와 동일 패턴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기타(기능 외) 71건 — 요구사항 해석 차이로 추정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반복 결함 구조 차단을 위해 3자 테스트 강화 선행 필요. 공사 단계 진입 전 필수 통과 기준(게이트) 수립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항공보안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(FS)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335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47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UI 결함(132건)이 기능 결함(108건)을 상회하는 유일한 모듈. 보안 업무 특성상 화면 표준과 입력 제어가 중요하나 초기 구현 수준 미흡.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UI 결함 132건 &gt; 기능 결함 108건 — 화면 설계 표준 부재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데이터 결함 39건 — 보안 데이터 정합성 검증 부족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1-1차 공사 단계 109건 — 초기 품질 최저 수준 기록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UI 결함 비중이 기능을 초과하는 이례적 패턴. 보안 화면 UI 가이드 별도 수립 및 전 화면 재검토 필요. 미완료 건수 낮아 조치 완결성은 양호.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77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(RS)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325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 로직의 복잡성으로 기능 결함 240건 집중. 현업 단계에서 결함이 지속 증가(1-2차 35건→2-1차 39건)하는 패턴은 현업 요구사항과 개발 결과물 간 괴리로 판단.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기능 결함 240건 — 복잡한 배정 알고리즘 검증 부족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현업 단계 결함 증가 추이 — 업무 이해도 차이 존재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미완료 161건으로 잔존 위험 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현업 단계 결함 증가는 요구사항 기반 재검토가 필요한 신호. 현업 담당자와 개발팀 간 정기 리뷰 세션 추가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2">
            <a:extLst>
              <a:ext uri="{FF2B5EF4-FFF2-40B4-BE49-F238E27FC236}">
                <a16:creationId xmlns:a16="http://schemas.microsoft.com/office/drawing/2014/main" id="{06B051ED-F497-F8E6-A791-B25AC6EB39D9}"/>
              </a:ext>
            </a:extLst>
          </p:cNvPr>
          <p:cNvSpPr/>
          <p:nvPr/>
        </p:nvSpPr>
        <p:spPr>
          <a:xfrm>
            <a:off x="240030" y="34290"/>
            <a:ext cx="51435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내용 기반 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 </a:t>
            </a:r>
            <a:r>
              <a:rPr lang="en-US" sz="15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59ECAFE-4CA5-AEF3-4367-FF0D620BD58D}"/>
              </a:ext>
            </a:extLst>
          </p:cNvPr>
          <p:cNvGrpSpPr/>
          <p:nvPr/>
        </p:nvGrpSpPr>
        <p:grpSpPr>
          <a:xfrm>
            <a:off x="2761125" y="4751614"/>
            <a:ext cx="2702052" cy="137160"/>
            <a:chOff x="6309360" y="438912"/>
            <a:chExt cx="2702052" cy="137160"/>
          </a:xfrm>
        </p:grpSpPr>
        <p:sp>
          <p:nvSpPr>
            <p:cNvPr id="19" name="Shape 5"/>
            <p:cNvSpPr/>
            <p:nvPr/>
          </p:nvSpPr>
          <p:spPr>
            <a:xfrm>
              <a:off x="6309360" y="459486"/>
              <a:ext cx="96012" cy="96012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6"/>
            <p:cNvSpPr/>
            <p:nvPr/>
          </p:nvSpPr>
          <p:spPr>
            <a:xfrm>
              <a:off x="64190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7"/>
            <p:cNvSpPr/>
            <p:nvPr/>
          </p:nvSpPr>
          <p:spPr>
            <a:xfrm>
              <a:off x="6995160" y="459486"/>
              <a:ext cx="96012" cy="96012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8"/>
            <p:cNvSpPr/>
            <p:nvPr/>
          </p:nvSpPr>
          <p:spPr>
            <a:xfrm>
              <a:off x="71048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9"/>
            <p:cNvSpPr/>
            <p:nvPr/>
          </p:nvSpPr>
          <p:spPr>
            <a:xfrm>
              <a:off x="7680960" y="459486"/>
              <a:ext cx="96012" cy="96012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4472C4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10"/>
            <p:cNvSpPr/>
            <p:nvPr/>
          </p:nvSpPr>
          <p:spPr>
            <a:xfrm>
              <a:off x="77906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중간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11"/>
            <p:cNvSpPr/>
            <p:nvPr/>
          </p:nvSpPr>
          <p:spPr>
            <a:xfrm>
              <a:off x="8366760" y="459486"/>
              <a:ext cx="96012" cy="96012"/>
            </a:xfrm>
            <a:prstGeom prst="rect">
              <a:avLst/>
            </a:prstGeom>
            <a:solidFill>
              <a:srgbClr val="1A7340"/>
            </a:solidFill>
            <a:ln w="12700">
              <a:solidFill>
                <a:srgbClr val="1A734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12"/>
            <p:cNvSpPr/>
            <p:nvPr/>
          </p:nvSpPr>
          <p:spPr>
            <a:xfrm>
              <a:off x="84764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낮음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93828-E3E4-8084-8DD0-B5587C3DF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DA290D-2851-E447-B3A9-21C774B62999}"/>
              </a:ext>
            </a:extLst>
          </p:cNvPr>
          <p:cNvSpPr/>
          <p:nvPr/>
        </p:nvSpPr>
        <p:spPr>
          <a:xfrm>
            <a:off x="0" y="0"/>
            <a:ext cx="9121140" cy="397764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D538DF4-3B4A-97BC-CA04-E40E1998CFFA}"/>
              </a:ext>
            </a:extLst>
          </p:cNvPr>
          <p:cNvSpPr/>
          <p:nvPr/>
        </p:nvSpPr>
        <p:spPr>
          <a:xfrm>
            <a:off x="0" y="397764"/>
            <a:ext cx="9121140" cy="3429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DA85E0A-41FC-54E7-6D87-B9C32034E6FD}"/>
              </a:ext>
            </a:extLst>
          </p:cNvPr>
          <p:cNvSpPr/>
          <p:nvPr/>
        </p:nvSpPr>
        <p:spPr>
          <a:xfrm>
            <a:off x="5410962" y="157734"/>
            <a:ext cx="58293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QA/테스트 관리자 관점  |  결함 내용 기반 원인 진단  |  기각 제외 분석 대상: 4,203건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A4A63516-56D5-067B-897E-994E7A11D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629533"/>
              </p:ext>
            </p:extLst>
          </p:nvPr>
        </p:nvGraphicFramePr>
        <p:xfrm>
          <a:off x="431799" y="596647"/>
          <a:ext cx="8243890" cy="3866497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93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99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7395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4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업무 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합계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Major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위험도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발생 배경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주요 원인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QA 의견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92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운항계획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(FP)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319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38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130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기능 결함(233건) 외 문서화 결함(27건)이 상대적으로 높아 개발 산출물 품질도 낮은 상태. 2-1차 공사 단계 69건으로 결함이 집중됐으나 2-2차에서 감소 추세.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기능 결함 233건 — 운항 데이터 처리 로직 미완성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문서화 결함 27건 — 설계 산출물과 구현 결과 불일치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미완료 130건, 확인요청 121건 — 검증 완결 지연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결함 감소 추세는 긍정적. 확인요청 121건의 신속 검증 완료가 필요. 문서화 결함은 유지보수 위험으로 연결될 수 있어 산출물 품질 관리 강화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92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모바일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(WES)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312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2-1차에서 결함 급증(3자 72건·공사 96건) 후 2-2차에 대폭 감소하여 집중 개선이 이루어진 것으로 판단. 문서화 결함 50건으로 WES 계열 특이 패턴.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2-1차 결함 급증 후 2-2차 감소 — 집중 조치 효과 확인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문서화 결함 50건 — 사용자 가이드·화면 설명 미비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미완료 111건으로 잔존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개선 추세 긍정적. 문서화 결함(50건)은 현장 사용자 교육 및 운영 전환 시 리스크로 작용 가능. 사용자 매뉴얼 보완을 병행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모바일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(MES)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287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105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137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UI 결함(103건)과 기능 결함(129건)이 균등 분포. 2-2차 공사 단계에서 결함이 급증(48건)하여 신규 개발 기능의 품질 점검이 시급.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2-2차 공사 단계 48건 급증 — 신규 기능 추가 개발 이슈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UI 103건 — 모바일 환경 특성의 화면 표준화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미완료 137건으로 잔존 위험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공사 단계 결함 급증은 신규 기능 안정성 우려 신호. MES 전용 UI 검수 기준 마련 및 모바일 환경 테스트 시나리오 보강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3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예측관리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(PM)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208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34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84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128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기능 결함(153건) 중 조회/검색 오류 비중 높음. Critical 34건으로 규모 대비 심각도가 높은 모듈. 감리 단계 결함이 매 차수 지속 발생.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Critical 34건 — 규모 대비 최고 수준의 심각도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감리 단계 지속 결함 — 선행 단계 완결성 부족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문서화 결함 19건 포함, 산출물 품질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감리 단계 결함이 매 차수 지속 발생하는 패턴은 선행 단계 인수 기준 미충족 문제. 미완료 128건을 포함해 2-3차 진입 전 집중 조치 필요.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3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A-CDM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(CM)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206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92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2-2차에서 결함이 급증(감리 38건·공사 39건·현업 27건)하여 해당 차수 신규 개발 기능의 완성도 저하 확인. 조회/검색 오류 42건 집중.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2-2차 결함 급증 — 신규 개발 기능 품질 관리 실패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조회/검색 오류 42건 — 핵심 데이터 조회 로직 미검증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미완료 117건으로 감리 진행 중 잔존 위험 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결함 급증 원인 분석을 통한 근본 대책 수립이 우선. 현재 감리 진행 중으로 조기 조치 완료가 2-3차 품질에 직결.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 2">
            <a:extLst>
              <a:ext uri="{FF2B5EF4-FFF2-40B4-BE49-F238E27FC236}">
                <a16:creationId xmlns:a16="http://schemas.microsoft.com/office/drawing/2014/main" id="{E52E6712-1F86-607B-C4E9-FD8F92CCAABA}"/>
              </a:ext>
            </a:extLst>
          </p:cNvPr>
          <p:cNvSpPr/>
          <p:nvPr/>
        </p:nvSpPr>
        <p:spPr>
          <a:xfrm>
            <a:off x="240030" y="34290"/>
            <a:ext cx="51435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내용 기반 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 </a:t>
            </a:r>
            <a:r>
              <a:rPr lang="en-US" sz="15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8AD17E8-5EC3-6844-9999-266DFF6A451D}"/>
              </a:ext>
            </a:extLst>
          </p:cNvPr>
          <p:cNvGrpSpPr/>
          <p:nvPr/>
        </p:nvGrpSpPr>
        <p:grpSpPr>
          <a:xfrm>
            <a:off x="2761125" y="4751614"/>
            <a:ext cx="2702052" cy="137160"/>
            <a:chOff x="6309360" y="438912"/>
            <a:chExt cx="2702052" cy="137160"/>
          </a:xfrm>
        </p:grpSpPr>
        <p:sp>
          <p:nvSpPr>
            <p:cNvPr id="19" name="Shape 5">
              <a:extLst>
                <a:ext uri="{FF2B5EF4-FFF2-40B4-BE49-F238E27FC236}">
                  <a16:creationId xmlns:a16="http://schemas.microsoft.com/office/drawing/2014/main" id="{B3F132C6-2E28-3A64-9CCC-9148F1FC861B}"/>
                </a:ext>
              </a:extLst>
            </p:cNvPr>
            <p:cNvSpPr/>
            <p:nvPr/>
          </p:nvSpPr>
          <p:spPr>
            <a:xfrm>
              <a:off x="6309360" y="459486"/>
              <a:ext cx="96012" cy="96012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6">
              <a:extLst>
                <a:ext uri="{FF2B5EF4-FFF2-40B4-BE49-F238E27FC236}">
                  <a16:creationId xmlns:a16="http://schemas.microsoft.com/office/drawing/2014/main" id="{E3874DF1-E863-259F-A402-3B743523B8CA}"/>
                </a:ext>
              </a:extLst>
            </p:cNvPr>
            <p:cNvSpPr/>
            <p:nvPr/>
          </p:nvSpPr>
          <p:spPr>
            <a:xfrm>
              <a:off x="64190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DBC1FD38-A8FE-9891-A9F7-BB2CF7F985BE}"/>
                </a:ext>
              </a:extLst>
            </p:cNvPr>
            <p:cNvSpPr/>
            <p:nvPr/>
          </p:nvSpPr>
          <p:spPr>
            <a:xfrm>
              <a:off x="6995160" y="459486"/>
              <a:ext cx="96012" cy="96012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657F2D36-00DC-8800-29B3-BBE1EE19D234}"/>
                </a:ext>
              </a:extLst>
            </p:cNvPr>
            <p:cNvSpPr/>
            <p:nvPr/>
          </p:nvSpPr>
          <p:spPr>
            <a:xfrm>
              <a:off x="71048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9">
              <a:extLst>
                <a:ext uri="{FF2B5EF4-FFF2-40B4-BE49-F238E27FC236}">
                  <a16:creationId xmlns:a16="http://schemas.microsoft.com/office/drawing/2014/main" id="{47736025-E5DD-978D-C5C5-F83CF0DB6F12}"/>
                </a:ext>
              </a:extLst>
            </p:cNvPr>
            <p:cNvSpPr/>
            <p:nvPr/>
          </p:nvSpPr>
          <p:spPr>
            <a:xfrm>
              <a:off x="7680960" y="459486"/>
              <a:ext cx="96012" cy="96012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4472C4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2499914-6CA9-A25E-A72B-7AE4A68F6496}"/>
                </a:ext>
              </a:extLst>
            </p:cNvPr>
            <p:cNvSpPr/>
            <p:nvPr/>
          </p:nvSpPr>
          <p:spPr>
            <a:xfrm>
              <a:off x="77906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중간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11">
              <a:extLst>
                <a:ext uri="{FF2B5EF4-FFF2-40B4-BE49-F238E27FC236}">
                  <a16:creationId xmlns:a16="http://schemas.microsoft.com/office/drawing/2014/main" id="{189CC31D-D883-46C9-7B3D-708FDE5F79E6}"/>
                </a:ext>
              </a:extLst>
            </p:cNvPr>
            <p:cNvSpPr/>
            <p:nvPr/>
          </p:nvSpPr>
          <p:spPr>
            <a:xfrm>
              <a:off x="8366760" y="459486"/>
              <a:ext cx="96012" cy="96012"/>
            </a:xfrm>
            <a:prstGeom prst="rect">
              <a:avLst/>
            </a:prstGeom>
            <a:solidFill>
              <a:srgbClr val="1A7340"/>
            </a:solidFill>
            <a:ln w="12700">
              <a:solidFill>
                <a:srgbClr val="1A734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12">
              <a:extLst>
                <a:ext uri="{FF2B5EF4-FFF2-40B4-BE49-F238E27FC236}">
                  <a16:creationId xmlns:a16="http://schemas.microsoft.com/office/drawing/2014/main" id="{626497BE-0E4B-5804-ABE0-F3787C880D58}"/>
                </a:ext>
              </a:extLst>
            </p:cNvPr>
            <p:cNvSpPr/>
            <p:nvPr/>
          </p:nvSpPr>
          <p:spPr>
            <a:xfrm>
              <a:off x="84764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낮음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0751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55652-585A-27C2-50CF-4B0C4DD9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0C82BE-4FCD-9CE4-EB63-4FF33E5EBF2A}"/>
              </a:ext>
            </a:extLst>
          </p:cNvPr>
          <p:cNvSpPr/>
          <p:nvPr/>
        </p:nvSpPr>
        <p:spPr>
          <a:xfrm>
            <a:off x="0" y="0"/>
            <a:ext cx="9121140" cy="397764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F4A266B-E2E6-017A-EEF3-86C831C2CEEA}"/>
              </a:ext>
            </a:extLst>
          </p:cNvPr>
          <p:cNvSpPr/>
          <p:nvPr/>
        </p:nvSpPr>
        <p:spPr>
          <a:xfrm>
            <a:off x="0" y="397764"/>
            <a:ext cx="9121140" cy="3429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C36ADB-1C58-FED8-D32D-954D5E198574}"/>
              </a:ext>
            </a:extLst>
          </p:cNvPr>
          <p:cNvSpPr/>
          <p:nvPr/>
        </p:nvSpPr>
        <p:spPr>
          <a:xfrm>
            <a:off x="5410962" y="157734"/>
            <a:ext cx="58293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QA/테스트 관리자 관점  |  결함 내용 기반 원인 진단  |  기각 제외 분석 대상: 4,203건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3D354634-2899-8000-526B-DA9B3A177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362579"/>
              </p:ext>
            </p:extLst>
          </p:nvPr>
        </p:nvGraphicFramePr>
        <p:xfrm>
          <a:off x="431799" y="596646"/>
          <a:ext cx="8243890" cy="4052097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93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99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7395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64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업무 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합계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Major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위험도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발생 배경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주요 원인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QA 의견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1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항공통계포털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(AS)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200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83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매우높음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2차 진입 후 결함 폭증(2-1차 60건→2-2차 124건). 미완료 160건 중 결함검토요청 89건·재조치요청 9건으로 품질 확인 자체가 지연된 상태.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2-2차 결함 124건 급증 — 대규모 신규 통계 화면 개발 이슈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결함검토요청 89건 — 결함 여부 판정조차 완료 안 된 상태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재조치요청 9건 — 수정 후 재발 패턴 반복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결함검토요청 89건은 품질 판정 지연이 곧 미완료 결함 누적을 의미. 즉각적인 결함 검토 완료 및 재조치 건 집중 관리 필요. 2-3차 진입 최우선 정리 대상.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9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SLOT관리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(SLOT)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166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42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1-2차 공사·3자 단계에서 결함이 집중(공사 35건·3자 68건)된 후 2차에서 대폭 감소. 초기 품질이 낮았으나 개선 추세 명확.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1-2차 3자 테스트 68건 집중 — 초기 개발 완성도 저하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Critical 27건 — SLOT 배정 핵심 로직 오류로 추정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2차 이후 결함 감소 — 집중 조치 효과 확인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개선 추세는 명확하나 Critical 27건 잔존 주의. SLOT 배정 핵심 로직에 대한 정밀 재검증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81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자원배정차트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(RC)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145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64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1-2차 공사 단계 집중(60건) 후 점진적 감소 추세. Critical 33건으로 차트 핵심 표출 기능의 안정성 이슈가 지속.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Critical 33건 — 차트 렌더링·데이터 표출 핵심 오류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기능 결함 115건 집중 — 차트 인터랙션 로직 복잡도 문제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미완료 64건으로 잔존 위험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차트 렌더링 Critical 결함은 사용자 업무 수행에 직접 영향. 전용 차트 컴포넌트 재검증 및 렌더링 표준화 적용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98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비상계획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(CP)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39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8888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734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낮음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2차 개발 진입 모듈로 상대적으로 결함 건수가 적음. Critical 0건이나 미완료 비율(69%)이 높아 조치 완결성 관리 필요.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Critical 없음, Minor 중심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미완료율 69%(27건) — 조치 속도 개선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재조치요청 0건으로 재발은 없음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수는 적으나 미완료 비율이 높은 모듈. 소규모라도 잔존 결함의 신속 처리가 전체 진행 일정에 영향을 미칠 수 있음.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9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자원배정엔진(RE)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734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낮음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엔진 모듈 특성상 결함 건수는 적으나 기능 오류 시 자원배정 전체에 영향. 미완료 11건 중 결함검토요청 2건으로 검토 지연 상태.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결함 건수 소량이나 엔진 핵심 기능 직결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미완료 11건(64.7%) — 조치 완결성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결함검토요청 2건 조속 처리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건수는 적으나 배정 엔진 특성상 단 하나의 결함도 치명적 영향 가능. 전수 정밀 검토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76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푸시SW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(PUSH)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734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낮음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건수 최소 모듈. 미완료 0건으로 조치 완결성 우수. Critical 1건은 푸시 발송 핵심 기능 관련으로 확인 필요.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결함 최소 모듈(5건)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미완료 0건 — 조치 완결성 우수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Critical 1건 — 푸시 발송 핵심 로직 확인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조치는 완료 상태. Critical 1건의 최종 확인 여부만 점검하면 되는 양호한 상태.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30173"/>
                  </a:ext>
                </a:extLst>
              </a:tr>
            </a:tbl>
          </a:graphicData>
        </a:graphic>
      </p:graphicFrame>
      <p:sp>
        <p:nvSpPr>
          <p:cNvPr id="6" name="Text 2">
            <a:extLst>
              <a:ext uri="{FF2B5EF4-FFF2-40B4-BE49-F238E27FC236}">
                <a16:creationId xmlns:a16="http://schemas.microsoft.com/office/drawing/2014/main" id="{0E92A8FE-AD1E-4828-6D4B-5A258C09D51B}"/>
              </a:ext>
            </a:extLst>
          </p:cNvPr>
          <p:cNvSpPr/>
          <p:nvPr/>
        </p:nvSpPr>
        <p:spPr>
          <a:xfrm>
            <a:off x="240030" y="34290"/>
            <a:ext cx="51435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내용 기반 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 </a:t>
            </a:r>
            <a:r>
              <a:rPr lang="en-US" sz="15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54994440-D952-6559-9FE7-9D0D5AFFACBD}"/>
              </a:ext>
            </a:extLst>
          </p:cNvPr>
          <p:cNvGrpSpPr/>
          <p:nvPr/>
        </p:nvGrpSpPr>
        <p:grpSpPr>
          <a:xfrm>
            <a:off x="2761125" y="4751614"/>
            <a:ext cx="2702052" cy="137160"/>
            <a:chOff x="6309360" y="438912"/>
            <a:chExt cx="2702052" cy="137160"/>
          </a:xfrm>
        </p:grpSpPr>
        <p:sp>
          <p:nvSpPr>
            <p:cNvPr id="17" name="Shape 5">
              <a:extLst>
                <a:ext uri="{FF2B5EF4-FFF2-40B4-BE49-F238E27FC236}">
                  <a16:creationId xmlns:a16="http://schemas.microsoft.com/office/drawing/2014/main" id="{BEFF6020-6DC6-47AC-50B1-1EC448DE6363}"/>
                </a:ext>
              </a:extLst>
            </p:cNvPr>
            <p:cNvSpPr/>
            <p:nvPr/>
          </p:nvSpPr>
          <p:spPr>
            <a:xfrm>
              <a:off x="6309360" y="459486"/>
              <a:ext cx="96012" cy="96012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6">
              <a:extLst>
                <a:ext uri="{FF2B5EF4-FFF2-40B4-BE49-F238E27FC236}">
                  <a16:creationId xmlns:a16="http://schemas.microsoft.com/office/drawing/2014/main" id="{28A6FBBC-12C5-EA25-0ADB-D05E5A0D461C}"/>
                </a:ext>
              </a:extLst>
            </p:cNvPr>
            <p:cNvSpPr/>
            <p:nvPr/>
          </p:nvSpPr>
          <p:spPr>
            <a:xfrm>
              <a:off x="64190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7">
              <a:extLst>
                <a:ext uri="{FF2B5EF4-FFF2-40B4-BE49-F238E27FC236}">
                  <a16:creationId xmlns:a16="http://schemas.microsoft.com/office/drawing/2014/main" id="{1B338DDF-B54F-88F0-D902-E9B5671D9475}"/>
                </a:ext>
              </a:extLst>
            </p:cNvPr>
            <p:cNvSpPr/>
            <p:nvPr/>
          </p:nvSpPr>
          <p:spPr>
            <a:xfrm>
              <a:off x="6995160" y="459486"/>
              <a:ext cx="96012" cy="96012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8">
              <a:extLst>
                <a:ext uri="{FF2B5EF4-FFF2-40B4-BE49-F238E27FC236}">
                  <a16:creationId xmlns:a16="http://schemas.microsoft.com/office/drawing/2014/main" id="{B75EDAD1-687C-342A-363A-175E2BB86B04}"/>
                </a:ext>
              </a:extLst>
            </p:cNvPr>
            <p:cNvSpPr/>
            <p:nvPr/>
          </p:nvSpPr>
          <p:spPr>
            <a:xfrm>
              <a:off x="71048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9">
              <a:extLst>
                <a:ext uri="{FF2B5EF4-FFF2-40B4-BE49-F238E27FC236}">
                  <a16:creationId xmlns:a16="http://schemas.microsoft.com/office/drawing/2014/main" id="{E74D1134-443C-605A-2654-BAE808A66CBB}"/>
                </a:ext>
              </a:extLst>
            </p:cNvPr>
            <p:cNvSpPr/>
            <p:nvPr/>
          </p:nvSpPr>
          <p:spPr>
            <a:xfrm>
              <a:off x="7680960" y="459486"/>
              <a:ext cx="96012" cy="96012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4472C4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10">
              <a:extLst>
                <a:ext uri="{FF2B5EF4-FFF2-40B4-BE49-F238E27FC236}">
                  <a16:creationId xmlns:a16="http://schemas.microsoft.com/office/drawing/2014/main" id="{5C966EFD-FFD9-D8A8-A6FE-A0E52C3E5AD0}"/>
                </a:ext>
              </a:extLst>
            </p:cNvPr>
            <p:cNvSpPr/>
            <p:nvPr/>
          </p:nvSpPr>
          <p:spPr>
            <a:xfrm>
              <a:off x="77906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중간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11">
              <a:extLst>
                <a:ext uri="{FF2B5EF4-FFF2-40B4-BE49-F238E27FC236}">
                  <a16:creationId xmlns:a16="http://schemas.microsoft.com/office/drawing/2014/main" id="{5596A0F0-FC83-0FA7-B481-4D522EE8D3CA}"/>
                </a:ext>
              </a:extLst>
            </p:cNvPr>
            <p:cNvSpPr/>
            <p:nvPr/>
          </p:nvSpPr>
          <p:spPr>
            <a:xfrm>
              <a:off x="8366760" y="459486"/>
              <a:ext cx="96012" cy="96012"/>
            </a:xfrm>
            <a:prstGeom prst="rect">
              <a:avLst/>
            </a:prstGeom>
            <a:solidFill>
              <a:srgbClr val="1A7340"/>
            </a:solidFill>
            <a:ln w="12700">
              <a:solidFill>
                <a:srgbClr val="1A734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12">
              <a:extLst>
                <a:ext uri="{FF2B5EF4-FFF2-40B4-BE49-F238E27FC236}">
                  <a16:creationId xmlns:a16="http://schemas.microsoft.com/office/drawing/2014/main" id="{318A2D4F-1195-6A57-B2ED-A1A8E9582568}"/>
                </a:ext>
              </a:extLst>
            </p:cNvPr>
            <p:cNvSpPr/>
            <p:nvPr/>
          </p:nvSpPr>
          <p:spPr>
            <a:xfrm>
              <a:off x="84764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낮음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850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4C003-0174-A62C-B365-B8CF4D4AC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876092B-91A2-38B5-5EB3-7896B6B62426}"/>
              </a:ext>
            </a:extLst>
          </p:cNvPr>
          <p:cNvSpPr/>
          <p:nvPr/>
        </p:nvSpPr>
        <p:spPr>
          <a:xfrm>
            <a:off x="22860" y="13716"/>
            <a:ext cx="9121140" cy="493776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195F1AB-4E75-8705-6D21-AA85226EAD5F}"/>
              </a:ext>
            </a:extLst>
          </p:cNvPr>
          <p:cNvSpPr/>
          <p:nvPr/>
        </p:nvSpPr>
        <p:spPr>
          <a:xfrm>
            <a:off x="11430" y="523203"/>
            <a:ext cx="9121140" cy="411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11B1293-9F38-B0D1-A174-14BA5A02F7F6}"/>
              </a:ext>
            </a:extLst>
          </p:cNvPr>
          <p:cNvSpPr/>
          <p:nvPr/>
        </p:nvSpPr>
        <p:spPr>
          <a:xfrm>
            <a:off x="240030" y="54864"/>
            <a:ext cx="61722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고위험 모듈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심층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16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0A67DB84-8D18-6265-8C0F-DABF08985BEA}"/>
              </a:ext>
            </a:extLst>
          </p:cNvPr>
          <p:cNvGrpSpPr/>
          <p:nvPr/>
        </p:nvGrpSpPr>
        <p:grpSpPr>
          <a:xfrm>
            <a:off x="435497" y="893787"/>
            <a:ext cx="2734691" cy="3802038"/>
            <a:chOff x="450011" y="893787"/>
            <a:chExt cx="2434881" cy="3802038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33B2AE7-6D34-C578-B9DC-EAB847E5A03C}"/>
                </a:ext>
              </a:extLst>
            </p:cNvPr>
            <p:cNvSpPr/>
            <p:nvPr/>
          </p:nvSpPr>
          <p:spPr>
            <a:xfrm>
              <a:off x="450011" y="893787"/>
              <a:ext cx="2434881" cy="38020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EDEDE"/>
              </a:solidFill>
              <a:prstDash val="solid"/>
            </a:ln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B6C91D33-D626-976B-C64D-AB7ECEA98905}"/>
                </a:ext>
              </a:extLst>
            </p:cNvPr>
            <p:cNvSpPr/>
            <p:nvPr/>
          </p:nvSpPr>
          <p:spPr>
            <a:xfrm>
              <a:off x="450011" y="893787"/>
              <a:ext cx="2434881" cy="19202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799D1A52-B37F-825B-9F92-3E7EFCE737D1}"/>
                </a:ext>
              </a:extLst>
            </p:cNvPr>
            <p:cNvSpPr/>
            <p:nvPr/>
          </p:nvSpPr>
          <p:spPr>
            <a:xfrm>
              <a:off x="460535" y="907503"/>
              <a:ext cx="2221992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공항운영(GO)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232D776A-FF63-1349-4A23-370938018338}"/>
                </a:ext>
              </a:extLst>
            </p:cNvPr>
            <p:cNvSpPr/>
            <p:nvPr/>
          </p:nvSpPr>
          <p:spPr>
            <a:xfrm>
              <a:off x="2247656" y="921219"/>
              <a:ext cx="486295" cy="137160"/>
            </a:xfrm>
            <a:prstGeom prst="rect">
              <a:avLst/>
            </a:prstGeom>
            <a:solidFill>
              <a:srgbClr val="FDECEA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38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kumimoji="0" lang="en-US" altLang="ko-KR" sz="638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E02BBCD7-3708-B69E-3268-A14779DCD5DF}"/>
                </a:ext>
              </a:extLst>
            </p:cNvPr>
            <p:cNvGrpSpPr/>
            <p:nvPr/>
          </p:nvGrpSpPr>
          <p:grpSpPr>
            <a:xfrm>
              <a:off x="493699" y="1207584"/>
              <a:ext cx="720000" cy="356616"/>
              <a:chOff x="493699" y="1207584"/>
              <a:chExt cx="720000" cy="356616"/>
            </a:xfrm>
          </p:grpSpPr>
          <p:sp>
            <p:nvSpPr>
              <p:cNvPr id="12" name="Shape 10">
                <a:extLst>
                  <a:ext uri="{FF2B5EF4-FFF2-40B4-BE49-F238E27FC236}">
                    <a16:creationId xmlns:a16="http://schemas.microsoft.com/office/drawing/2014/main" id="{74582EA0-94D6-6398-B9F8-6FCD6AF7AD97}"/>
                  </a:ext>
                </a:extLst>
              </p:cNvPr>
              <p:cNvSpPr/>
              <p:nvPr/>
            </p:nvSpPr>
            <p:spPr>
              <a:xfrm>
                <a:off x="493699" y="1207584"/>
                <a:ext cx="720000" cy="356616"/>
              </a:xfrm>
              <a:prstGeom prst="rect">
                <a:avLst/>
              </a:prstGeom>
              <a:solidFill>
                <a:srgbClr val="EBF3FB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3" name="Text 11">
                <a:extLst>
                  <a:ext uri="{FF2B5EF4-FFF2-40B4-BE49-F238E27FC236}">
                    <a16:creationId xmlns:a16="http://schemas.microsoft.com/office/drawing/2014/main" id="{D71FBE33-24B1-1CA5-0972-D49E282721FD}"/>
                  </a:ext>
                </a:extLst>
              </p:cNvPr>
              <p:cNvSpPr/>
              <p:nvPr/>
            </p:nvSpPr>
            <p:spPr>
              <a:xfrm>
                <a:off x="580784" y="1222098"/>
                <a:ext cx="538336" cy="19888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2E75B6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619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4" name="Text 12">
                <a:extLst>
                  <a:ext uri="{FF2B5EF4-FFF2-40B4-BE49-F238E27FC236}">
                    <a16:creationId xmlns:a16="http://schemas.microsoft.com/office/drawing/2014/main" id="{0273A5BB-81B1-7B6C-6D0F-13632A205A40}"/>
                  </a:ext>
                </a:extLst>
              </p:cNvPr>
              <p:cNvSpPr/>
              <p:nvPr/>
            </p:nvSpPr>
            <p:spPr>
              <a:xfrm>
                <a:off x="580784" y="1416081"/>
                <a:ext cx="538336" cy="14205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총 결함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6E5BF88E-D524-9244-B381-E56F1E47BCDD}"/>
                </a:ext>
              </a:extLst>
            </p:cNvPr>
            <p:cNvGrpSpPr/>
            <p:nvPr/>
          </p:nvGrpSpPr>
          <p:grpSpPr>
            <a:xfrm>
              <a:off x="1301131" y="1207584"/>
              <a:ext cx="720000" cy="356616"/>
              <a:chOff x="1359187" y="1207584"/>
              <a:chExt cx="720000" cy="356616"/>
            </a:xfrm>
          </p:grpSpPr>
          <p:sp>
            <p:nvSpPr>
              <p:cNvPr id="15" name="Shape 13">
                <a:extLst>
                  <a:ext uri="{FF2B5EF4-FFF2-40B4-BE49-F238E27FC236}">
                    <a16:creationId xmlns:a16="http://schemas.microsoft.com/office/drawing/2014/main" id="{8363A7DE-0940-188C-2BB1-ED0379B0A698}"/>
                  </a:ext>
                </a:extLst>
              </p:cNvPr>
              <p:cNvSpPr/>
              <p:nvPr/>
            </p:nvSpPr>
            <p:spPr>
              <a:xfrm>
                <a:off x="1359187" y="1207584"/>
                <a:ext cx="720000" cy="356616"/>
              </a:xfrm>
              <a:prstGeom prst="rect">
                <a:avLst/>
              </a:prstGeom>
              <a:solidFill>
                <a:srgbClr val="FFF0F0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" name="Text 14">
                <a:extLst>
                  <a:ext uri="{FF2B5EF4-FFF2-40B4-BE49-F238E27FC236}">
                    <a16:creationId xmlns:a16="http://schemas.microsoft.com/office/drawing/2014/main" id="{9F252EA8-0A54-126B-3CE3-6892BED46B02}"/>
                  </a:ext>
                </a:extLst>
              </p:cNvPr>
              <p:cNvSpPr/>
              <p:nvPr/>
            </p:nvSpPr>
            <p:spPr>
              <a:xfrm>
                <a:off x="1439014" y="1228956"/>
                <a:ext cx="571211" cy="1783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198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7" name="Text 15">
                <a:extLst>
                  <a:ext uri="{FF2B5EF4-FFF2-40B4-BE49-F238E27FC236}">
                    <a16:creationId xmlns:a16="http://schemas.microsoft.com/office/drawing/2014/main" id="{F38F2C3A-D51F-3E5B-4376-582BC22E9B8C}"/>
                  </a:ext>
                </a:extLst>
              </p:cNvPr>
              <p:cNvSpPr/>
              <p:nvPr/>
            </p:nvSpPr>
            <p:spPr>
              <a:xfrm>
                <a:off x="1439014" y="1420980"/>
                <a:ext cx="571211" cy="127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Critical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EEE9B3C6-3C22-F9DE-7AB4-ABBF5890141B}"/>
                </a:ext>
              </a:extLst>
            </p:cNvPr>
            <p:cNvGrpSpPr/>
            <p:nvPr/>
          </p:nvGrpSpPr>
          <p:grpSpPr>
            <a:xfrm>
              <a:off x="2108563" y="1207584"/>
              <a:ext cx="720000" cy="356616"/>
              <a:chOff x="2217418" y="1207584"/>
              <a:chExt cx="720000" cy="356616"/>
            </a:xfrm>
          </p:grpSpPr>
          <p:sp>
            <p:nvSpPr>
              <p:cNvPr id="18" name="Shape 16">
                <a:extLst>
                  <a:ext uri="{FF2B5EF4-FFF2-40B4-BE49-F238E27FC236}">
                    <a16:creationId xmlns:a16="http://schemas.microsoft.com/office/drawing/2014/main" id="{84385260-2C5D-3C9B-D7EC-2F959423BEF0}"/>
                  </a:ext>
                </a:extLst>
              </p:cNvPr>
              <p:cNvSpPr/>
              <p:nvPr/>
            </p:nvSpPr>
            <p:spPr>
              <a:xfrm>
                <a:off x="2217418" y="1207584"/>
                <a:ext cx="720000" cy="356616"/>
              </a:xfrm>
              <a:prstGeom prst="rect">
                <a:avLst/>
              </a:prstGeom>
              <a:solidFill>
                <a:srgbClr val="FFF5E8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" name="Text 17">
                <a:extLst>
                  <a:ext uri="{FF2B5EF4-FFF2-40B4-BE49-F238E27FC236}">
                    <a16:creationId xmlns:a16="http://schemas.microsoft.com/office/drawing/2014/main" id="{17E41BC0-1FB3-911E-1C35-37EAB0D9C532}"/>
                  </a:ext>
                </a:extLst>
              </p:cNvPr>
              <p:cNvSpPr/>
              <p:nvPr/>
            </p:nvSpPr>
            <p:spPr>
              <a:xfrm>
                <a:off x="2304503" y="1228956"/>
                <a:ext cx="533038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386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20" name="Text 18">
                <a:extLst>
                  <a:ext uri="{FF2B5EF4-FFF2-40B4-BE49-F238E27FC236}">
                    <a16:creationId xmlns:a16="http://schemas.microsoft.com/office/drawing/2014/main" id="{C18507A6-8A05-99D7-9013-F20DD2BAAD24}"/>
                  </a:ext>
                </a:extLst>
              </p:cNvPr>
              <p:cNvSpPr/>
              <p:nvPr/>
            </p:nvSpPr>
            <p:spPr>
              <a:xfrm>
                <a:off x="2304503" y="1420980"/>
                <a:ext cx="533038" cy="1224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미완료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12F26390-71D0-C643-A628-EE41EEA97C09}"/>
                </a:ext>
              </a:extLst>
            </p:cNvPr>
            <p:cNvSpPr/>
            <p:nvPr/>
          </p:nvSpPr>
          <p:spPr>
            <a:xfrm>
              <a:off x="496820" y="1677918"/>
              <a:ext cx="41148" cy="123444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C0A47352-F67A-AD1F-9AA9-25D5F909A305}"/>
                </a:ext>
              </a:extLst>
            </p:cNvPr>
            <p:cNvSpPr/>
            <p:nvPr/>
          </p:nvSpPr>
          <p:spPr>
            <a:xfrm>
              <a:off x="565400" y="1677918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2E75B6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발생 배경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FD608291-AAE8-14A8-D3E9-AAEF4D811A39}"/>
                </a:ext>
              </a:extLst>
            </p:cNvPr>
            <p:cNvSpPr/>
            <p:nvPr/>
          </p:nvSpPr>
          <p:spPr>
            <a:xfrm>
              <a:off x="496821" y="1815078"/>
              <a:ext cx="2317008" cy="5623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현행(AS-IS) IIS 시스템 대비 다수 기능이 미완성 상태에서 테스트에 진입. 실시간 운항 데이터 처리 로직의 복잡도 대비 개발 검증 부족.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EAFF29FD-C5F4-9535-C78B-2A179FBF274E}"/>
                </a:ext>
              </a:extLst>
            </p:cNvPr>
            <p:cNvSpPr/>
            <p:nvPr/>
          </p:nvSpPr>
          <p:spPr>
            <a:xfrm>
              <a:off x="496820" y="2501127"/>
              <a:ext cx="41148" cy="12344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AF82AA6A-535F-27D6-4027-71ACA35FAFAF}"/>
                </a:ext>
              </a:extLst>
            </p:cNvPr>
            <p:cNvSpPr/>
            <p:nvPr/>
          </p:nvSpPr>
          <p:spPr>
            <a:xfrm>
              <a:off x="565400" y="2501127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C0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주요 원인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00691A3B-5F8F-8161-F2C2-4BFE5C26E61A}"/>
                </a:ext>
              </a:extLst>
            </p:cNvPr>
            <p:cNvSpPr/>
            <p:nvPr/>
          </p:nvSpPr>
          <p:spPr>
            <a:xfrm>
              <a:off x="496820" y="2638287"/>
              <a:ext cx="2331743" cy="411480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① AS-IS 데이터 불일치 84건으로 현행 이관 검증 미흡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② 저장/서버 오류 반복 — 공사 단계에서 핵심 워크플로우 미완성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③ 동일 시나리오 다단계 반복 결함 최다 발생 모듈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Shape 25">
              <a:extLst>
                <a:ext uri="{FF2B5EF4-FFF2-40B4-BE49-F238E27FC236}">
                  <a16:creationId xmlns:a16="http://schemas.microsoft.com/office/drawing/2014/main" id="{3A603C28-FED3-D778-FDFC-0AF5DE928204}"/>
                </a:ext>
              </a:extLst>
            </p:cNvPr>
            <p:cNvSpPr/>
            <p:nvPr/>
          </p:nvSpPr>
          <p:spPr>
            <a:xfrm>
              <a:off x="523233" y="3445613"/>
              <a:ext cx="2290595" cy="116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DEDEDE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0A3A252E-D91D-B996-BC71-CA113C056C60}"/>
                </a:ext>
              </a:extLst>
            </p:cNvPr>
            <p:cNvSpPr/>
            <p:nvPr/>
          </p:nvSpPr>
          <p:spPr>
            <a:xfrm>
              <a:off x="465176" y="3445613"/>
              <a:ext cx="41148" cy="1160057"/>
            </a:xfrm>
            <a:prstGeom prst="rect">
              <a:avLst/>
            </a:prstGeom>
            <a:solidFill>
              <a:srgbClr val="E8A000"/>
            </a:solidFill>
            <a:ln w="12700">
              <a:solidFill>
                <a:srgbClr val="E8A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28B71651-7B1D-5A34-5F10-AA7FB43B68BB}"/>
                </a:ext>
              </a:extLst>
            </p:cNvPr>
            <p:cNvSpPr/>
            <p:nvPr/>
          </p:nvSpPr>
          <p:spPr>
            <a:xfrm>
              <a:off x="581580" y="3493620"/>
              <a:ext cx="1897161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7D57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▶ QA 권고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D466C558-33DE-AB22-948C-6EEDE05617F1}"/>
                </a:ext>
              </a:extLst>
            </p:cNvPr>
            <p:cNvSpPr/>
            <p:nvPr/>
          </p:nvSpPr>
          <p:spPr>
            <a:xfrm>
              <a:off x="587097" y="3729225"/>
              <a:ext cx="2141590" cy="4930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Critical 198건은 전체의 47.4%를 점유하는 최고위험 모듈. 잔여 차수 진입 전 핵심 기능(저장/조회/처리)에 대한 집중 재검증 필수.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01AAC86D-721C-79B8-6F01-3EC58FAF9576}"/>
              </a:ext>
            </a:extLst>
          </p:cNvPr>
          <p:cNvGrpSpPr/>
          <p:nvPr/>
        </p:nvGrpSpPr>
        <p:grpSpPr>
          <a:xfrm>
            <a:off x="3346791" y="901767"/>
            <a:ext cx="2734691" cy="3802038"/>
            <a:chOff x="450011" y="893787"/>
            <a:chExt cx="2434881" cy="3802038"/>
          </a:xfrm>
        </p:grpSpPr>
        <p:sp>
          <p:nvSpPr>
            <p:cNvPr id="142" name="Shape 5">
              <a:extLst>
                <a:ext uri="{FF2B5EF4-FFF2-40B4-BE49-F238E27FC236}">
                  <a16:creationId xmlns:a16="http://schemas.microsoft.com/office/drawing/2014/main" id="{E95C75D6-1B66-54EC-0DF8-B921EED34207}"/>
                </a:ext>
              </a:extLst>
            </p:cNvPr>
            <p:cNvSpPr/>
            <p:nvPr/>
          </p:nvSpPr>
          <p:spPr>
            <a:xfrm>
              <a:off x="450011" y="893787"/>
              <a:ext cx="2434881" cy="38020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EDEDE"/>
              </a:solidFill>
              <a:prstDash val="solid"/>
            </a:ln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3" name="Shape 6">
              <a:extLst>
                <a:ext uri="{FF2B5EF4-FFF2-40B4-BE49-F238E27FC236}">
                  <a16:creationId xmlns:a16="http://schemas.microsoft.com/office/drawing/2014/main" id="{601B820E-BAC4-C65A-1E00-6390D93432C1}"/>
                </a:ext>
              </a:extLst>
            </p:cNvPr>
            <p:cNvSpPr/>
            <p:nvPr/>
          </p:nvSpPr>
          <p:spPr>
            <a:xfrm>
              <a:off x="450011" y="893787"/>
              <a:ext cx="2434881" cy="19202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4" name="Text 7">
              <a:extLst>
                <a:ext uri="{FF2B5EF4-FFF2-40B4-BE49-F238E27FC236}">
                  <a16:creationId xmlns:a16="http://schemas.microsoft.com/office/drawing/2014/main" id="{81742C3C-96E7-F7E0-334E-5E045CC6FEEF}"/>
                </a:ext>
              </a:extLst>
            </p:cNvPr>
            <p:cNvSpPr/>
            <p:nvPr/>
          </p:nvSpPr>
          <p:spPr>
            <a:xfrm>
              <a:off x="460535" y="907503"/>
              <a:ext cx="2221992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900" b="1" dirty="0" err="1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항공통계포털</a:t>
              </a:r>
              <a:r>
                <a:rPr lang="en-US" altLang="ko-KR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(AS)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5" name="Shape 8">
              <a:extLst>
                <a:ext uri="{FF2B5EF4-FFF2-40B4-BE49-F238E27FC236}">
                  <a16:creationId xmlns:a16="http://schemas.microsoft.com/office/drawing/2014/main" id="{286BF871-F278-9FFE-FFC5-B8A7A1EE0E64}"/>
                </a:ext>
              </a:extLst>
            </p:cNvPr>
            <p:cNvSpPr/>
            <p:nvPr/>
          </p:nvSpPr>
          <p:spPr>
            <a:xfrm>
              <a:off x="2247656" y="921219"/>
              <a:ext cx="486295" cy="137160"/>
            </a:xfrm>
            <a:prstGeom prst="rect">
              <a:avLst/>
            </a:prstGeom>
            <a:solidFill>
              <a:srgbClr val="FDECEA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38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kumimoji="0" lang="en-US" altLang="ko-KR" sz="638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8FADB608-7154-E3F4-3081-084AFEA0B197}"/>
                </a:ext>
              </a:extLst>
            </p:cNvPr>
            <p:cNvGrpSpPr/>
            <p:nvPr/>
          </p:nvGrpSpPr>
          <p:grpSpPr>
            <a:xfrm>
              <a:off x="493699" y="1207584"/>
              <a:ext cx="720000" cy="356616"/>
              <a:chOff x="493699" y="1207584"/>
              <a:chExt cx="720000" cy="356616"/>
            </a:xfrm>
          </p:grpSpPr>
          <p:sp>
            <p:nvSpPr>
              <p:cNvPr id="165" name="Shape 10">
                <a:extLst>
                  <a:ext uri="{FF2B5EF4-FFF2-40B4-BE49-F238E27FC236}">
                    <a16:creationId xmlns:a16="http://schemas.microsoft.com/office/drawing/2014/main" id="{8B4AFE43-AFDA-DA53-8555-4BD0B73A5A2F}"/>
                  </a:ext>
                </a:extLst>
              </p:cNvPr>
              <p:cNvSpPr/>
              <p:nvPr/>
            </p:nvSpPr>
            <p:spPr>
              <a:xfrm>
                <a:off x="493699" y="1207584"/>
                <a:ext cx="720000" cy="356616"/>
              </a:xfrm>
              <a:prstGeom prst="rect">
                <a:avLst/>
              </a:prstGeom>
              <a:solidFill>
                <a:srgbClr val="EBF3FB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6" name="Text 11">
                <a:extLst>
                  <a:ext uri="{FF2B5EF4-FFF2-40B4-BE49-F238E27FC236}">
                    <a16:creationId xmlns:a16="http://schemas.microsoft.com/office/drawing/2014/main" id="{DF7201CA-8536-D2C7-13B9-B5320E6D7197}"/>
                  </a:ext>
                </a:extLst>
              </p:cNvPr>
              <p:cNvSpPr/>
              <p:nvPr/>
            </p:nvSpPr>
            <p:spPr>
              <a:xfrm>
                <a:off x="580784" y="1222098"/>
                <a:ext cx="538336" cy="19888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2E75B6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200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7" name="Text 12">
                <a:extLst>
                  <a:ext uri="{FF2B5EF4-FFF2-40B4-BE49-F238E27FC236}">
                    <a16:creationId xmlns:a16="http://schemas.microsoft.com/office/drawing/2014/main" id="{C568378C-EC43-3CCE-50A5-E7AAA59A6D4C}"/>
                  </a:ext>
                </a:extLst>
              </p:cNvPr>
              <p:cNvSpPr/>
              <p:nvPr/>
            </p:nvSpPr>
            <p:spPr>
              <a:xfrm>
                <a:off x="580784" y="1416081"/>
                <a:ext cx="538336" cy="14205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총 결함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76576F00-9675-835B-86C9-A9D7A56E1223}"/>
                </a:ext>
              </a:extLst>
            </p:cNvPr>
            <p:cNvGrpSpPr/>
            <p:nvPr/>
          </p:nvGrpSpPr>
          <p:grpSpPr>
            <a:xfrm>
              <a:off x="1301131" y="1207584"/>
              <a:ext cx="720000" cy="356616"/>
              <a:chOff x="1359187" y="1207584"/>
              <a:chExt cx="720000" cy="356616"/>
            </a:xfrm>
          </p:grpSpPr>
          <p:sp>
            <p:nvSpPr>
              <p:cNvPr id="162" name="Shape 13">
                <a:extLst>
                  <a:ext uri="{FF2B5EF4-FFF2-40B4-BE49-F238E27FC236}">
                    <a16:creationId xmlns:a16="http://schemas.microsoft.com/office/drawing/2014/main" id="{7557911D-457E-EE81-5E73-124BA60CA0E7}"/>
                  </a:ext>
                </a:extLst>
              </p:cNvPr>
              <p:cNvSpPr/>
              <p:nvPr/>
            </p:nvSpPr>
            <p:spPr>
              <a:xfrm>
                <a:off x="1359187" y="1207584"/>
                <a:ext cx="720000" cy="356616"/>
              </a:xfrm>
              <a:prstGeom prst="rect">
                <a:avLst/>
              </a:prstGeom>
              <a:solidFill>
                <a:srgbClr val="FFF0F0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3" name="Text 14">
                <a:extLst>
                  <a:ext uri="{FF2B5EF4-FFF2-40B4-BE49-F238E27FC236}">
                    <a16:creationId xmlns:a16="http://schemas.microsoft.com/office/drawing/2014/main" id="{7339ED0C-7B22-4AEC-1467-BD36C93D5B4B}"/>
                  </a:ext>
                </a:extLst>
              </p:cNvPr>
              <p:cNvSpPr/>
              <p:nvPr/>
            </p:nvSpPr>
            <p:spPr>
              <a:xfrm>
                <a:off x="1439014" y="1228956"/>
                <a:ext cx="571211" cy="1783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27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4" name="Text 15">
                <a:extLst>
                  <a:ext uri="{FF2B5EF4-FFF2-40B4-BE49-F238E27FC236}">
                    <a16:creationId xmlns:a16="http://schemas.microsoft.com/office/drawing/2014/main" id="{E53340BC-48B4-0E42-82D0-B0CF64C8F7BA}"/>
                  </a:ext>
                </a:extLst>
              </p:cNvPr>
              <p:cNvSpPr/>
              <p:nvPr/>
            </p:nvSpPr>
            <p:spPr>
              <a:xfrm>
                <a:off x="1439014" y="1420980"/>
                <a:ext cx="571211" cy="127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Critical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C2B641E5-2677-1E67-7775-89C1732D8FB3}"/>
                </a:ext>
              </a:extLst>
            </p:cNvPr>
            <p:cNvGrpSpPr/>
            <p:nvPr/>
          </p:nvGrpSpPr>
          <p:grpSpPr>
            <a:xfrm>
              <a:off x="2108563" y="1207584"/>
              <a:ext cx="720000" cy="356616"/>
              <a:chOff x="2217418" y="1207584"/>
              <a:chExt cx="720000" cy="356616"/>
            </a:xfrm>
          </p:grpSpPr>
          <p:sp>
            <p:nvSpPr>
              <p:cNvPr id="159" name="Shape 16">
                <a:extLst>
                  <a:ext uri="{FF2B5EF4-FFF2-40B4-BE49-F238E27FC236}">
                    <a16:creationId xmlns:a16="http://schemas.microsoft.com/office/drawing/2014/main" id="{DA85F3B6-77D5-E293-C1EB-6D00670E400F}"/>
                  </a:ext>
                </a:extLst>
              </p:cNvPr>
              <p:cNvSpPr/>
              <p:nvPr/>
            </p:nvSpPr>
            <p:spPr>
              <a:xfrm>
                <a:off x="2217418" y="1207584"/>
                <a:ext cx="720000" cy="356616"/>
              </a:xfrm>
              <a:prstGeom prst="rect">
                <a:avLst/>
              </a:prstGeom>
              <a:solidFill>
                <a:srgbClr val="FFF5E8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0" name="Text 17">
                <a:extLst>
                  <a:ext uri="{FF2B5EF4-FFF2-40B4-BE49-F238E27FC236}">
                    <a16:creationId xmlns:a16="http://schemas.microsoft.com/office/drawing/2014/main" id="{C93A1B52-2CA9-77CB-3B8D-B26BA4C24D12}"/>
                  </a:ext>
                </a:extLst>
              </p:cNvPr>
              <p:cNvSpPr/>
              <p:nvPr/>
            </p:nvSpPr>
            <p:spPr>
              <a:xfrm>
                <a:off x="2304503" y="1228956"/>
                <a:ext cx="533038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160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1" name="Text 18">
                <a:extLst>
                  <a:ext uri="{FF2B5EF4-FFF2-40B4-BE49-F238E27FC236}">
                    <a16:creationId xmlns:a16="http://schemas.microsoft.com/office/drawing/2014/main" id="{72516E47-A0E3-AA10-FFD9-AFB8BDE7CC5D}"/>
                  </a:ext>
                </a:extLst>
              </p:cNvPr>
              <p:cNvSpPr/>
              <p:nvPr/>
            </p:nvSpPr>
            <p:spPr>
              <a:xfrm>
                <a:off x="2304503" y="1420980"/>
                <a:ext cx="533038" cy="1224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미완료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sp>
          <p:nvSpPr>
            <p:cNvPr id="149" name="Shape 19">
              <a:extLst>
                <a:ext uri="{FF2B5EF4-FFF2-40B4-BE49-F238E27FC236}">
                  <a16:creationId xmlns:a16="http://schemas.microsoft.com/office/drawing/2014/main" id="{A62001E9-EA3C-0322-9F82-2E2E5390D52F}"/>
                </a:ext>
              </a:extLst>
            </p:cNvPr>
            <p:cNvSpPr/>
            <p:nvPr/>
          </p:nvSpPr>
          <p:spPr>
            <a:xfrm>
              <a:off x="496820" y="1677918"/>
              <a:ext cx="41148" cy="123444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0" name="Text 20">
              <a:extLst>
                <a:ext uri="{FF2B5EF4-FFF2-40B4-BE49-F238E27FC236}">
                  <a16:creationId xmlns:a16="http://schemas.microsoft.com/office/drawing/2014/main" id="{CA21DCD3-3B7F-C313-33E9-948BCE07DEA3}"/>
                </a:ext>
              </a:extLst>
            </p:cNvPr>
            <p:cNvSpPr/>
            <p:nvPr/>
          </p:nvSpPr>
          <p:spPr>
            <a:xfrm>
              <a:off x="565400" y="1677918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2E75B6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발생 배경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1" name="Text 21">
              <a:extLst>
                <a:ext uri="{FF2B5EF4-FFF2-40B4-BE49-F238E27FC236}">
                  <a16:creationId xmlns:a16="http://schemas.microsoft.com/office/drawing/2014/main" id="{7035072C-A0F8-A544-E543-CFBEF0CDDF9A}"/>
                </a:ext>
              </a:extLst>
            </p:cNvPr>
            <p:cNvSpPr/>
            <p:nvPr/>
          </p:nvSpPr>
          <p:spPr>
            <a:xfrm>
              <a:off x="496821" y="1815078"/>
              <a:ext cx="2317008" cy="5623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진입 후 결함 폭증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(2-1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60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건→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124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).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미완료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160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중 결함검토요청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89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재조치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9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건으로 품질 확인 자체가 지연된 상태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  <p:sp>
          <p:nvSpPr>
            <p:cNvPr id="152" name="Shape 22">
              <a:extLst>
                <a:ext uri="{FF2B5EF4-FFF2-40B4-BE49-F238E27FC236}">
                  <a16:creationId xmlns:a16="http://schemas.microsoft.com/office/drawing/2014/main" id="{9755E6DF-50C3-D160-2A36-28D3D5CCD9CD}"/>
                </a:ext>
              </a:extLst>
            </p:cNvPr>
            <p:cNvSpPr/>
            <p:nvPr/>
          </p:nvSpPr>
          <p:spPr>
            <a:xfrm>
              <a:off x="496820" y="2501127"/>
              <a:ext cx="41148" cy="12344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3" name="Text 23">
              <a:extLst>
                <a:ext uri="{FF2B5EF4-FFF2-40B4-BE49-F238E27FC236}">
                  <a16:creationId xmlns:a16="http://schemas.microsoft.com/office/drawing/2014/main" id="{05A920A1-5A6E-5B53-0C3D-AFFFB9E76825}"/>
                </a:ext>
              </a:extLst>
            </p:cNvPr>
            <p:cNvSpPr/>
            <p:nvPr/>
          </p:nvSpPr>
          <p:spPr>
            <a:xfrm>
              <a:off x="565400" y="2501127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C0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주요 원인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4" name="Text 24">
              <a:extLst>
                <a:ext uri="{FF2B5EF4-FFF2-40B4-BE49-F238E27FC236}">
                  <a16:creationId xmlns:a16="http://schemas.microsoft.com/office/drawing/2014/main" id="{04F7AACB-3E73-3808-C235-4E70F104F5A9}"/>
                </a:ext>
              </a:extLst>
            </p:cNvPr>
            <p:cNvSpPr/>
            <p:nvPr/>
          </p:nvSpPr>
          <p:spPr>
            <a:xfrm>
              <a:off x="496820" y="2638287"/>
              <a:ext cx="2331743" cy="411480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①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결함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124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급증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—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대규모 신규 통계 화면 개발 이슈</a:t>
              </a:r>
            </a:p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② 결함검토요청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89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—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결함 여부 판정조차 완료 안 된 상태</a:t>
              </a:r>
            </a:p>
          </p:txBody>
        </p:sp>
        <p:sp>
          <p:nvSpPr>
            <p:cNvPr id="155" name="Shape 25">
              <a:extLst>
                <a:ext uri="{FF2B5EF4-FFF2-40B4-BE49-F238E27FC236}">
                  <a16:creationId xmlns:a16="http://schemas.microsoft.com/office/drawing/2014/main" id="{228F5E17-A1C0-E711-CFA7-20FF9080E3D8}"/>
                </a:ext>
              </a:extLst>
            </p:cNvPr>
            <p:cNvSpPr/>
            <p:nvPr/>
          </p:nvSpPr>
          <p:spPr>
            <a:xfrm>
              <a:off x="523233" y="3445613"/>
              <a:ext cx="2290595" cy="116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DEDEDE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6" name="Shape 26">
              <a:extLst>
                <a:ext uri="{FF2B5EF4-FFF2-40B4-BE49-F238E27FC236}">
                  <a16:creationId xmlns:a16="http://schemas.microsoft.com/office/drawing/2014/main" id="{1AC03704-DB07-414C-4E99-F4FF6E7F8522}"/>
                </a:ext>
              </a:extLst>
            </p:cNvPr>
            <p:cNvSpPr/>
            <p:nvPr/>
          </p:nvSpPr>
          <p:spPr>
            <a:xfrm>
              <a:off x="465176" y="3445613"/>
              <a:ext cx="41148" cy="1160057"/>
            </a:xfrm>
            <a:prstGeom prst="rect">
              <a:avLst/>
            </a:prstGeom>
            <a:solidFill>
              <a:srgbClr val="E8A000"/>
            </a:solidFill>
            <a:ln w="12700">
              <a:solidFill>
                <a:srgbClr val="E8A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7" name="Text 27">
              <a:extLst>
                <a:ext uri="{FF2B5EF4-FFF2-40B4-BE49-F238E27FC236}">
                  <a16:creationId xmlns:a16="http://schemas.microsoft.com/office/drawing/2014/main" id="{AF1DF392-C5E5-4261-C53B-8867549A822B}"/>
                </a:ext>
              </a:extLst>
            </p:cNvPr>
            <p:cNvSpPr/>
            <p:nvPr/>
          </p:nvSpPr>
          <p:spPr>
            <a:xfrm>
              <a:off x="581580" y="3493620"/>
              <a:ext cx="1897161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7D57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▶ QA 권고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8" name="Text 28">
              <a:extLst>
                <a:ext uri="{FF2B5EF4-FFF2-40B4-BE49-F238E27FC236}">
                  <a16:creationId xmlns:a16="http://schemas.microsoft.com/office/drawing/2014/main" id="{0EEB429A-D9A1-5ECB-22F8-38CCE12F3BDC}"/>
                </a:ext>
              </a:extLst>
            </p:cNvPr>
            <p:cNvSpPr/>
            <p:nvPr/>
          </p:nvSpPr>
          <p:spPr>
            <a:xfrm>
              <a:off x="587097" y="3729225"/>
              <a:ext cx="2141590" cy="4930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결함검토요청 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89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건은 품질 판정 지연이 곧 미완료 결함 누적을 의미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즉각적인 결함 검토 완료 및 재조치 건 집중 관리 필요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후속 단계 진입 전 우선 정리 필요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273CAB80-132E-526C-5BE3-073CF3D5B6CB}"/>
              </a:ext>
            </a:extLst>
          </p:cNvPr>
          <p:cNvGrpSpPr/>
          <p:nvPr/>
        </p:nvGrpSpPr>
        <p:grpSpPr>
          <a:xfrm>
            <a:off x="6240807" y="904869"/>
            <a:ext cx="2434881" cy="3802038"/>
            <a:chOff x="450011" y="893787"/>
            <a:chExt cx="2434881" cy="3802038"/>
          </a:xfrm>
        </p:grpSpPr>
        <p:sp>
          <p:nvSpPr>
            <p:cNvPr id="169" name="Shape 5">
              <a:extLst>
                <a:ext uri="{FF2B5EF4-FFF2-40B4-BE49-F238E27FC236}">
                  <a16:creationId xmlns:a16="http://schemas.microsoft.com/office/drawing/2014/main" id="{15824C1D-9EF1-DD38-4B6E-F666864A2A58}"/>
                </a:ext>
              </a:extLst>
            </p:cNvPr>
            <p:cNvSpPr/>
            <p:nvPr/>
          </p:nvSpPr>
          <p:spPr>
            <a:xfrm>
              <a:off x="450011" y="893787"/>
              <a:ext cx="2434881" cy="38020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EDEDE"/>
              </a:solidFill>
              <a:prstDash val="solid"/>
            </a:ln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0" name="Shape 6">
              <a:extLst>
                <a:ext uri="{FF2B5EF4-FFF2-40B4-BE49-F238E27FC236}">
                  <a16:creationId xmlns:a16="http://schemas.microsoft.com/office/drawing/2014/main" id="{B9B834AE-9D55-2EF2-2064-BB484DFFF053}"/>
                </a:ext>
              </a:extLst>
            </p:cNvPr>
            <p:cNvSpPr/>
            <p:nvPr/>
          </p:nvSpPr>
          <p:spPr>
            <a:xfrm>
              <a:off x="450011" y="893787"/>
              <a:ext cx="2434881" cy="192024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1" name="Text 7">
              <a:extLst>
                <a:ext uri="{FF2B5EF4-FFF2-40B4-BE49-F238E27FC236}">
                  <a16:creationId xmlns:a16="http://schemas.microsoft.com/office/drawing/2014/main" id="{078F500E-604B-9E14-4C95-5C1C24EDA4C3}"/>
                </a:ext>
              </a:extLst>
            </p:cNvPr>
            <p:cNvSpPr/>
            <p:nvPr/>
          </p:nvSpPr>
          <p:spPr>
            <a:xfrm>
              <a:off x="460535" y="907503"/>
              <a:ext cx="2221992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900" b="1" dirty="0" err="1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항공기관제</a:t>
              </a:r>
              <a:r>
                <a:rPr lang="en-US" altLang="ko-KR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(AC)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2" name="Shape 8">
              <a:extLst>
                <a:ext uri="{FF2B5EF4-FFF2-40B4-BE49-F238E27FC236}">
                  <a16:creationId xmlns:a16="http://schemas.microsoft.com/office/drawing/2014/main" id="{A7503036-6FCE-8B4F-9A9B-7D6C95353681}"/>
                </a:ext>
              </a:extLst>
            </p:cNvPr>
            <p:cNvSpPr/>
            <p:nvPr/>
          </p:nvSpPr>
          <p:spPr>
            <a:xfrm>
              <a:off x="2247656" y="921219"/>
              <a:ext cx="486295" cy="137160"/>
            </a:xfrm>
            <a:prstGeom prst="rect">
              <a:avLst/>
            </a:prstGeom>
            <a:solidFill>
              <a:srgbClr val="FFF0E0"/>
            </a:solidFill>
            <a:ln w="12700">
              <a:noFill/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38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kumimoji="0" lang="en-US" altLang="ko-KR" sz="638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D31E0009-1C73-9427-AEE4-43BF442D2B60}"/>
                </a:ext>
              </a:extLst>
            </p:cNvPr>
            <p:cNvGrpSpPr/>
            <p:nvPr/>
          </p:nvGrpSpPr>
          <p:grpSpPr>
            <a:xfrm>
              <a:off x="493699" y="1207584"/>
              <a:ext cx="720000" cy="356616"/>
              <a:chOff x="493699" y="1207584"/>
              <a:chExt cx="720000" cy="356616"/>
            </a:xfrm>
          </p:grpSpPr>
          <p:sp>
            <p:nvSpPr>
              <p:cNvPr id="192" name="Shape 10">
                <a:extLst>
                  <a:ext uri="{FF2B5EF4-FFF2-40B4-BE49-F238E27FC236}">
                    <a16:creationId xmlns:a16="http://schemas.microsoft.com/office/drawing/2014/main" id="{207ECEA5-ECD0-0C9B-4853-D4B8CAE7EDE2}"/>
                  </a:ext>
                </a:extLst>
              </p:cNvPr>
              <p:cNvSpPr/>
              <p:nvPr/>
            </p:nvSpPr>
            <p:spPr>
              <a:xfrm>
                <a:off x="493699" y="1207584"/>
                <a:ext cx="720000" cy="356616"/>
              </a:xfrm>
              <a:prstGeom prst="rect">
                <a:avLst/>
              </a:prstGeom>
              <a:solidFill>
                <a:srgbClr val="EBF3FB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3" name="Text 11">
                <a:extLst>
                  <a:ext uri="{FF2B5EF4-FFF2-40B4-BE49-F238E27FC236}">
                    <a16:creationId xmlns:a16="http://schemas.microsoft.com/office/drawing/2014/main" id="{24EAA1E5-D562-8F83-281A-D006CA626B86}"/>
                  </a:ext>
                </a:extLst>
              </p:cNvPr>
              <p:cNvSpPr/>
              <p:nvPr/>
            </p:nvSpPr>
            <p:spPr>
              <a:xfrm>
                <a:off x="580784" y="1222098"/>
                <a:ext cx="538336" cy="19888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2E75B6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360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4" name="Text 12">
                <a:extLst>
                  <a:ext uri="{FF2B5EF4-FFF2-40B4-BE49-F238E27FC236}">
                    <a16:creationId xmlns:a16="http://schemas.microsoft.com/office/drawing/2014/main" id="{C52A43BD-901B-0903-C2E2-F77B3DB3C612}"/>
                  </a:ext>
                </a:extLst>
              </p:cNvPr>
              <p:cNvSpPr/>
              <p:nvPr/>
            </p:nvSpPr>
            <p:spPr>
              <a:xfrm>
                <a:off x="580784" y="1416081"/>
                <a:ext cx="538336" cy="14205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총 결함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3D5B22DA-2F02-8573-7FA4-744049F88468}"/>
                </a:ext>
              </a:extLst>
            </p:cNvPr>
            <p:cNvGrpSpPr/>
            <p:nvPr/>
          </p:nvGrpSpPr>
          <p:grpSpPr>
            <a:xfrm>
              <a:off x="1301131" y="1207584"/>
              <a:ext cx="720000" cy="356616"/>
              <a:chOff x="1359187" y="1207584"/>
              <a:chExt cx="720000" cy="356616"/>
            </a:xfrm>
          </p:grpSpPr>
          <p:sp>
            <p:nvSpPr>
              <p:cNvPr id="189" name="Shape 13">
                <a:extLst>
                  <a:ext uri="{FF2B5EF4-FFF2-40B4-BE49-F238E27FC236}">
                    <a16:creationId xmlns:a16="http://schemas.microsoft.com/office/drawing/2014/main" id="{09A33816-5247-3549-ADAA-AD17AF6A9A90}"/>
                  </a:ext>
                </a:extLst>
              </p:cNvPr>
              <p:cNvSpPr/>
              <p:nvPr/>
            </p:nvSpPr>
            <p:spPr>
              <a:xfrm>
                <a:off x="1359187" y="1207584"/>
                <a:ext cx="720000" cy="356616"/>
              </a:xfrm>
              <a:prstGeom prst="rect">
                <a:avLst/>
              </a:prstGeom>
              <a:solidFill>
                <a:srgbClr val="FFF0F0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0" name="Text 14">
                <a:extLst>
                  <a:ext uri="{FF2B5EF4-FFF2-40B4-BE49-F238E27FC236}">
                    <a16:creationId xmlns:a16="http://schemas.microsoft.com/office/drawing/2014/main" id="{8180F9BB-8871-5A84-8111-89FA8146C86A}"/>
                  </a:ext>
                </a:extLst>
              </p:cNvPr>
              <p:cNvSpPr/>
              <p:nvPr/>
            </p:nvSpPr>
            <p:spPr>
              <a:xfrm>
                <a:off x="1439014" y="1228956"/>
                <a:ext cx="571211" cy="1783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24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1" name="Text 15">
                <a:extLst>
                  <a:ext uri="{FF2B5EF4-FFF2-40B4-BE49-F238E27FC236}">
                    <a16:creationId xmlns:a16="http://schemas.microsoft.com/office/drawing/2014/main" id="{A258FEA9-C597-2735-2C47-295BD766B7C6}"/>
                  </a:ext>
                </a:extLst>
              </p:cNvPr>
              <p:cNvSpPr/>
              <p:nvPr/>
            </p:nvSpPr>
            <p:spPr>
              <a:xfrm>
                <a:off x="1439014" y="1420980"/>
                <a:ext cx="571211" cy="127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Critical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FDE1877D-925D-A779-0BB1-ACA3BD0EB45C}"/>
                </a:ext>
              </a:extLst>
            </p:cNvPr>
            <p:cNvGrpSpPr/>
            <p:nvPr/>
          </p:nvGrpSpPr>
          <p:grpSpPr>
            <a:xfrm>
              <a:off x="2108563" y="1207584"/>
              <a:ext cx="720000" cy="356616"/>
              <a:chOff x="2217418" y="1207584"/>
              <a:chExt cx="720000" cy="356616"/>
            </a:xfrm>
          </p:grpSpPr>
          <p:sp>
            <p:nvSpPr>
              <p:cNvPr id="186" name="Shape 16">
                <a:extLst>
                  <a:ext uri="{FF2B5EF4-FFF2-40B4-BE49-F238E27FC236}">
                    <a16:creationId xmlns:a16="http://schemas.microsoft.com/office/drawing/2014/main" id="{60AC9E60-6C20-DF55-AAC2-065BA9CDBCF3}"/>
                  </a:ext>
                </a:extLst>
              </p:cNvPr>
              <p:cNvSpPr/>
              <p:nvPr/>
            </p:nvSpPr>
            <p:spPr>
              <a:xfrm>
                <a:off x="2217418" y="1207584"/>
                <a:ext cx="720000" cy="356616"/>
              </a:xfrm>
              <a:prstGeom prst="rect">
                <a:avLst/>
              </a:prstGeom>
              <a:solidFill>
                <a:srgbClr val="FFF5E8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87" name="Text 17">
                <a:extLst>
                  <a:ext uri="{FF2B5EF4-FFF2-40B4-BE49-F238E27FC236}">
                    <a16:creationId xmlns:a16="http://schemas.microsoft.com/office/drawing/2014/main" id="{FBED5F94-F80F-A255-CD1D-4E96E9A6F4D8}"/>
                  </a:ext>
                </a:extLst>
              </p:cNvPr>
              <p:cNvSpPr/>
              <p:nvPr/>
            </p:nvSpPr>
            <p:spPr>
              <a:xfrm>
                <a:off x="2304503" y="1228956"/>
                <a:ext cx="533038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83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88" name="Text 18">
                <a:extLst>
                  <a:ext uri="{FF2B5EF4-FFF2-40B4-BE49-F238E27FC236}">
                    <a16:creationId xmlns:a16="http://schemas.microsoft.com/office/drawing/2014/main" id="{1D686087-DE84-51ED-823E-FF736ABF1A5B}"/>
                  </a:ext>
                </a:extLst>
              </p:cNvPr>
              <p:cNvSpPr/>
              <p:nvPr/>
            </p:nvSpPr>
            <p:spPr>
              <a:xfrm>
                <a:off x="2304503" y="1420980"/>
                <a:ext cx="533038" cy="1224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미완료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sp>
          <p:nvSpPr>
            <p:cNvPr id="176" name="Shape 19">
              <a:extLst>
                <a:ext uri="{FF2B5EF4-FFF2-40B4-BE49-F238E27FC236}">
                  <a16:creationId xmlns:a16="http://schemas.microsoft.com/office/drawing/2014/main" id="{E31E1968-7586-2DF8-EA8B-15F1BC73521F}"/>
                </a:ext>
              </a:extLst>
            </p:cNvPr>
            <p:cNvSpPr/>
            <p:nvPr/>
          </p:nvSpPr>
          <p:spPr>
            <a:xfrm>
              <a:off x="496820" y="1677918"/>
              <a:ext cx="41148" cy="123444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7" name="Text 20">
              <a:extLst>
                <a:ext uri="{FF2B5EF4-FFF2-40B4-BE49-F238E27FC236}">
                  <a16:creationId xmlns:a16="http://schemas.microsoft.com/office/drawing/2014/main" id="{332E0EB7-DE43-45AC-9792-B87211F8F45F}"/>
                </a:ext>
              </a:extLst>
            </p:cNvPr>
            <p:cNvSpPr/>
            <p:nvPr/>
          </p:nvSpPr>
          <p:spPr>
            <a:xfrm>
              <a:off x="565400" y="1677918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2E75B6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발생 배경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8" name="Text 21">
              <a:extLst>
                <a:ext uri="{FF2B5EF4-FFF2-40B4-BE49-F238E27FC236}">
                  <a16:creationId xmlns:a16="http://schemas.microsoft.com/office/drawing/2014/main" id="{F1C7C300-52A9-6E62-63E0-E198323CB0B4}"/>
                </a:ext>
              </a:extLst>
            </p:cNvPr>
            <p:cNvSpPr/>
            <p:nvPr/>
          </p:nvSpPr>
          <p:spPr>
            <a:xfrm>
              <a:off x="496821" y="1815078"/>
              <a:ext cx="2317008" cy="5623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관제 업무 특성상 복잡한 화면 구성과 실시간 편집 기능이 다수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차에서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테스트 결함이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48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건으로 급증하며 개발 완성도 저하 확인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  <p:sp>
          <p:nvSpPr>
            <p:cNvPr id="179" name="Shape 22">
              <a:extLst>
                <a:ext uri="{FF2B5EF4-FFF2-40B4-BE49-F238E27FC236}">
                  <a16:creationId xmlns:a16="http://schemas.microsoft.com/office/drawing/2014/main" id="{62E3735D-10CD-8730-7BD0-85792B304B12}"/>
                </a:ext>
              </a:extLst>
            </p:cNvPr>
            <p:cNvSpPr/>
            <p:nvPr/>
          </p:nvSpPr>
          <p:spPr>
            <a:xfrm>
              <a:off x="496820" y="2501127"/>
              <a:ext cx="41148" cy="12344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0" name="Text 23">
              <a:extLst>
                <a:ext uri="{FF2B5EF4-FFF2-40B4-BE49-F238E27FC236}">
                  <a16:creationId xmlns:a16="http://schemas.microsoft.com/office/drawing/2014/main" id="{8C0840D9-3DE4-2557-9BC0-403C2A8E3F2B}"/>
                </a:ext>
              </a:extLst>
            </p:cNvPr>
            <p:cNvSpPr/>
            <p:nvPr/>
          </p:nvSpPr>
          <p:spPr>
            <a:xfrm>
              <a:off x="565400" y="2501127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C0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주요 원인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1" name="Text 24">
              <a:extLst>
                <a:ext uri="{FF2B5EF4-FFF2-40B4-BE49-F238E27FC236}">
                  <a16:creationId xmlns:a16="http://schemas.microsoft.com/office/drawing/2014/main" id="{E9A5E88C-744B-6729-ED53-4DB86C27E5A0}"/>
                </a:ext>
              </a:extLst>
            </p:cNvPr>
            <p:cNvSpPr/>
            <p:nvPr/>
          </p:nvSpPr>
          <p:spPr>
            <a:xfrm>
              <a:off x="496820" y="2638286"/>
              <a:ext cx="2331743" cy="707549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① 기능 결함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265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중 권한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저장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조회 오류가 집중</a:t>
              </a:r>
            </a:p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②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UI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결함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75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—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복잡한 관제 화면의 표준화 미흡</a:t>
              </a:r>
            </a:p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③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단계 결함 급증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(48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)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은 신규 기능 추가 개발 이슈로 판단</a:t>
              </a:r>
            </a:p>
          </p:txBody>
        </p:sp>
        <p:sp>
          <p:nvSpPr>
            <p:cNvPr id="182" name="Shape 25">
              <a:extLst>
                <a:ext uri="{FF2B5EF4-FFF2-40B4-BE49-F238E27FC236}">
                  <a16:creationId xmlns:a16="http://schemas.microsoft.com/office/drawing/2014/main" id="{79CBF4FD-7F39-102C-A70C-4E035B25E9D4}"/>
                </a:ext>
              </a:extLst>
            </p:cNvPr>
            <p:cNvSpPr/>
            <p:nvPr/>
          </p:nvSpPr>
          <p:spPr>
            <a:xfrm>
              <a:off x="523233" y="3445613"/>
              <a:ext cx="2290595" cy="116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DEDEDE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3" name="Shape 26">
              <a:extLst>
                <a:ext uri="{FF2B5EF4-FFF2-40B4-BE49-F238E27FC236}">
                  <a16:creationId xmlns:a16="http://schemas.microsoft.com/office/drawing/2014/main" id="{31375228-3439-0F1D-73DA-89FE4BF31E0A}"/>
                </a:ext>
              </a:extLst>
            </p:cNvPr>
            <p:cNvSpPr/>
            <p:nvPr/>
          </p:nvSpPr>
          <p:spPr>
            <a:xfrm>
              <a:off x="465176" y="3445613"/>
              <a:ext cx="41148" cy="1160057"/>
            </a:xfrm>
            <a:prstGeom prst="rect">
              <a:avLst/>
            </a:prstGeom>
            <a:solidFill>
              <a:srgbClr val="E8A000"/>
            </a:solidFill>
            <a:ln w="12700">
              <a:solidFill>
                <a:srgbClr val="E8A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4" name="Text 27">
              <a:extLst>
                <a:ext uri="{FF2B5EF4-FFF2-40B4-BE49-F238E27FC236}">
                  <a16:creationId xmlns:a16="http://schemas.microsoft.com/office/drawing/2014/main" id="{7A3103BD-8B05-D43B-7451-15DA1EB03D0A}"/>
                </a:ext>
              </a:extLst>
            </p:cNvPr>
            <p:cNvSpPr/>
            <p:nvPr/>
          </p:nvSpPr>
          <p:spPr>
            <a:xfrm>
              <a:off x="581580" y="3493620"/>
              <a:ext cx="1897161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7D57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▶ QA 권고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5" name="Text 28">
              <a:extLst>
                <a:ext uri="{FF2B5EF4-FFF2-40B4-BE49-F238E27FC236}">
                  <a16:creationId xmlns:a16="http://schemas.microsoft.com/office/drawing/2014/main" id="{43E8FA6E-D70F-166E-F9D4-AF35F0550AD6}"/>
                </a:ext>
              </a:extLst>
            </p:cNvPr>
            <p:cNvSpPr/>
            <p:nvPr/>
          </p:nvSpPr>
          <p:spPr>
            <a:xfrm>
              <a:off x="587097" y="3729225"/>
              <a:ext cx="2141590" cy="4930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단계 결함 급증이 주목 포인트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신규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변경 기능에 대한 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검토 기준 강화 및 회귀 테스트 범위 확대 권고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63210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FCFB6-39EC-0A0D-4E46-6DB3326C3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5">
            <a:extLst>
              <a:ext uri="{FF2B5EF4-FFF2-40B4-BE49-F238E27FC236}">
                <a16:creationId xmlns:a16="http://schemas.microsoft.com/office/drawing/2014/main" id="{9BF276B0-20A2-BEC8-9E9D-1989623EE471}"/>
              </a:ext>
            </a:extLst>
          </p:cNvPr>
          <p:cNvSpPr/>
          <p:nvPr/>
        </p:nvSpPr>
        <p:spPr>
          <a:xfrm>
            <a:off x="6240807" y="904869"/>
            <a:ext cx="2434881" cy="380203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97">
            <a:extLst>
              <a:ext uri="{FF2B5EF4-FFF2-40B4-BE49-F238E27FC236}">
                <a16:creationId xmlns:a16="http://schemas.microsoft.com/office/drawing/2014/main" id="{FE38611A-80D2-3DAD-A8EB-E6AB15384250}"/>
              </a:ext>
            </a:extLst>
          </p:cNvPr>
          <p:cNvSpPr/>
          <p:nvPr/>
        </p:nvSpPr>
        <p:spPr>
          <a:xfrm>
            <a:off x="6328763" y="3463873"/>
            <a:ext cx="2297501" cy="1145622"/>
          </a:xfrm>
          <a:prstGeom prst="rect">
            <a:avLst/>
          </a:prstGeom>
          <a:solidFill>
            <a:srgbClr val="FFFDE7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01120412-AF96-6CCA-3B25-24C2C14377CF}"/>
              </a:ext>
            </a:extLst>
          </p:cNvPr>
          <p:cNvSpPr/>
          <p:nvPr/>
        </p:nvSpPr>
        <p:spPr>
          <a:xfrm>
            <a:off x="15603" y="13716"/>
            <a:ext cx="9121140" cy="493776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 dirty="0">
              <a:highlight>
                <a:srgbClr val="FFFF00"/>
              </a:highlight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30E188-F380-C903-F82A-6893A0B1579C}"/>
              </a:ext>
            </a:extLst>
          </p:cNvPr>
          <p:cNvSpPr/>
          <p:nvPr/>
        </p:nvSpPr>
        <p:spPr>
          <a:xfrm>
            <a:off x="11430" y="515050"/>
            <a:ext cx="9121140" cy="411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8C1A330-BE6C-5321-7F6C-9A5A6DEE7B64}"/>
              </a:ext>
            </a:extLst>
          </p:cNvPr>
          <p:cNvSpPr/>
          <p:nvPr/>
        </p:nvSpPr>
        <p:spPr>
          <a:xfrm>
            <a:off x="240030" y="54864"/>
            <a:ext cx="61722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고위험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모듈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심층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ko-KR" alt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분석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16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8C443EA-B113-D368-95BA-514A0E2711AB}"/>
              </a:ext>
            </a:extLst>
          </p:cNvPr>
          <p:cNvSpPr/>
          <p:nvPr/>
        </p:nvSpPr>
        <p:spPr>
          <a:xfrm>
            <a:off x="435497" y="893787"/>
            <a:ext cx="2734691" cy="380203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979084B-4E27-31A8-DF46-3769B547968F}"/>
              </a:ext>
            </a:extLst>
          </p:cNvPr>
          <p:cNvSpPr/>
          <p:nvPr/>
        </p:nvSpPr>
        <p:spPr>
          <a:xfrm>
            <a:off x="435497" y="893787"/>
            <a:ext cx="2734691" cy="19202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CBAC7D-A56B-3091-9B4B-B839C66556C2}"/>
              </a:ext>
            </a:extLst>
          </p:cNvPr>
          <p:cNvSpPr/>
          <p:nvPr/>
        </p:nvSpPr>
        <p:spPr>
          <a:xfrm>
            <a:off x="447317" y="907503"/>
            <a:ext cx="2495589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공항운영(GO)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FDA9AF3-7282-23BE-DCF7-95BDE4949500}"/>
              </a:ext>
            </a:extLst>
          </p:cNvPr>
          <p:cNvSpPr/>
          <p:nvPr/>
        </p:nvSpPr>
        <p:spPr>
          <a:xfrm>
            <a:off x="2454488" y="921219"/>
            <a:ext cx="546173" cy="137160"/>
          </a:xfrm>
          <a:prstGeom prst="rect">
            <a:avLst/>
          </a:prstGeom>
          <a:solidFill>
            <a:srgbClr val="FDECEA"/>
          </a:solidFill>
          <a:ln w="12700">
            <a:solidFill>
              <a:srgbClr val="C00000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매우높음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7FD209B-A1FB-B0EE-FEDD-3C0666346A66}"/>
              </a:ext>
            </a:extLst>
          </p:cNvPr>
          <p:cNvSpPr/>
          <p:nvPr/>
        </p:nvSpPr>
        <p:spPr>
          <a:xfrm>
            <a:off x="484564" y="1207584"/>
            <a:ext cx="808655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95E4D62-5C62-9BF9-F12B-53AF58277B4E}"/>
              </a:ext>
            </a:extLst>
          </p:cNvPr>
          <p:cNvSpPr/>
          <p:nvPr/>
        </p:nvSpPr>
        <p:spPr>
          <a:xfrm>
            <a:off x="582372" y="1222098"/>
            <a:ext cx="60462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619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A9B9520-4EF7-0D3C-52DC-1050B0F68876}"/>
              </a:ext>
            </a:extLst>
          </p:cNvPr>
          <p:cNvSpPr/>
          <p:nvPr/>
        </p:nvSpPr>
        <p:spPr>
          <a:xfrm>
            <a:off x="582372" y="1416081"/>
            <a:ext cx="604622" cy="14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5067DAB-C881-50BE-E7EF-60A8FBF88309}"/>
              </a:ext>
            </a:extLst>
          </p:cNvPr>
          <p:cNvSpPr/>
          <p:nvPr/>
        </p:nvSpPr>
        <p:spPr>
          <a:xfrm>
            <a:off x="1391416" y="1207584"/>
            <a:ext cx="808655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8F57477-7A4C-66DF-E948-CB9B57882CD4}"/>
              </a:ext>
            </a:extLst>
          </p:cNvPr>
          <p:cNvSpPr/>
          <p:nvPr/>
        </p:nvSpPr>
        <p:spPr>
          <a:xfrm>
            <a:off x="1481072" y="1228956"/>
            <a:ext cx="641545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419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E1CA8D7-101F-D618-7DE6-9EB8FDBFC49B}"/>
              </a:ext>
            </a:extLst>
          </p:cNvPr>
          <p:cNvSpPr/>
          <p:nvPr/>
        </p:nvSpPr>
        <p:spPr>
          <a:xfrm>
            <a:off x="1481072" y="1420980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1AD8362-8353-AB28-F917-9B5B14C7230B}"/>
              </a:ext>
            </a:extLst>
          </p:cNvPr>
          <p:cNvSpPr/>
          <p:nvPr/>
        </p:nvSpPr>
        <p:spPr>
          <a:xfrm>
            <a:off x="2298269" y="1207584"/>
            <a:ext cx="808655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9B264F3-8C87-199F-37B6-AD27B49929CC}"/>
              </a:ext>
            </a:extLst>
          </p:cNvPr>
          <p:cNvSpPr/>
          <p:nvPr/>
        </p:nvSpPr>
        <p:spPr>
          <a:xfrm>
            <a:off x="2396077" y="1228956"/>
            <a:ext cx="5986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387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C113C49-A92C-E104-763A-2E492F6FA715}"/>
              </a:ext>
            </a:extLst>
          </p:cNvPr>
          <p:cNvSpPr/>
          <p:nvPr/>
        </p:nvSpPr>
        <p:spPr>
          <a:xfrm>
            <a:off x="488070" y="1677918"/>
            <a:ext cx="46215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196EE80-04DB-5FAE-9E39-7BD16FED82C3}"/>
              </a:ext>
            </a:extLst>
          </p:cNvPr>
          <p:cNvSpPr/>
          <p:nvPr/>
        </p:nvSpPr>
        <p:spPr>
          <a:xfrm>
            <a:off x="565094" y="1677918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89A6DE8-625F-7594-5FFF-001141EC16E8}"/>
              </a:ext>
            </a:extLst>
          </p:cNvPr>
          <p:cNvSpPr/>
          <p:nvPr/>
        </p:nvSpPr>
        <p:spPr>
          <a:xfrm>
            <a:off x="488071" y="1815078"/>
            <a:ext cx="2602304" cy="5623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현행(AS-IS) IIS 시스템 대비 다수 기능이 미완성 상태에서 테스트에 진입. 실시간 운항 데이터 처리 로직의 복잡도 대비 개발 검증 부족.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2E869B1-911B-C00C-55EC-99FBC407DFBC}"/>
              </a:ext>
            </a:extLst>
          </p:cNvPr>
          <p:cNvSpPr/>
          <p:nvPr/>
        </p:nvSpPr>
        <p:spPr>
          <a:xfrm>
            <a:off x="488070" y="2501127"/>
            <a:ext cx="46215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573A01C-0CA3-0456-4A97-7823D89CDE83}"/>
              </a:ext>
            </a:extLst>
          </p:cNvPr>
          <p:cNvSpPr/>
          <p:nvPr/>
        </p:nvSpPr>
        <p:spPr>
          <a:xfrm>
            <a:off x="565094" y="2501127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9ABB9F3-1E1F-53D0-2E27-FFB3CE1C6CD8}"/>
              </a:ext>
            </a:extLst>
          </p:cNvPr>
          <p:cNvSpPr/>
          <p:nvPr/>
        </p:nvSpPr>
        <p:spPr>
          <a:xfrm>
            <a:off x="488070" y="2638287"/>
            <a:ext cx="2618853" cy="411480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AS-IS 데이터 불일치 84건으로 현행 이관 검증 미흡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저장/서버 오류 반복 — 공사 단계에서 핵심 워크플로우 미완성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③ 동일 시나리오 다단계 반복 결함 최다 발생 모듈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3E21BADB-A541-242E-4635-C926CCCFA28A}"/>
              </a:ext>
            </a:extLst>
          </p:cNvPr>
          <p:cNvSpPr/>
          <p:nvPr/>
        </p:nvSpPr>
        <p:spPr>
          <a:xfrm>
            <a:off x="517735" y="3445613"/>
            <a:ext cx="2572639" cy="1160057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1DC0C8C-B70D-C491-38FF-A0237D84E19C}"/>
              </a:ext>
            </a:extLst>
          </p:cNvPr>
          <p:cNvSpPr/>
          <p:nvPr/>
        </p:nvSpPr>
        <p:spPr>
          <a:xfrm>
            <a:off x="452529" y="3445613"/>
            <a:ext cx="46215" cy="1160057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D148B11-8C78-3650-1C71-CB7CEC413C53}"/>
              </a:ext>
            </a:extLst>
          </p:cNvPr>
          <p:cNvSpPr/>
          <p:nvPr/>
        </p:nvSpPr>
        <p:spPr>
          <a:xfrm>
            <a:off x="583266" y="3493620"/>
            <a:ext cx="213076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9F17954-B938-49D0-55FF-C834E3031A95}"/>
              </a:ext>
            </a:extLst>
          </p:cNvPr>
          <p:cNvSpPr/>
          <p:nvPr/>
        </p:nvSpPr>
        <p:spPr>
          <a:xfrm>
            <a:off x="589463" y="3729225"/>
            <a:ext cx="2405287" cy="4930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잔여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차수 진입 전 핵심 기능(저장/조회/처리)에 대한 집중 재검증 필수.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2" name="Shape 5">
            <a:extLst>
              <a:ext uri="{FF2B5EF4-FFF2-40B4-BE49-F238E27FC236}">
                <a16:creationId xmlns:a16="http://schemas.microsoft.com/office/drawing/2014/main" id="{EFC348EC-4FCA-886D-803B-3441747483A2}"/>
              </a:ext>
            </a:extLst>
          </p:cNvPr>
          <p:cNvSpPr/>
          <p:nvPr/>
        </p:nvSpPr>
        <p:spPr>
          <a:xfrm>
            <a:off x="3346791" y="901767"/>
            <a:ext cx="2734691" cy="380203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3" name="Shape 6">
            <a:extLst>
              <a:ext uri="{FF2B5EF4-FFF2-40B4-BE49-F238E27FC236}">
                <a16:creationId xmlns:a16="http://schemas.microsoft.com/office/drawing/2014/main" id="{32B974A7-5CC5-A6E8-1E44-BBBE6757764D}"/>
              </a:ext>
            </a:extLst>
          </p:cNvPr>
          <p:cNvSpPr/>
          <p:nvPr/>
        </p:nvSpPr>
        <p:spPr>
          <a:xfrm>
            <a:off x="3346791" y="901767"/>
            <a:ext cx="2734691" cy="19202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4" name="Text 7">
            <a:extLst>
              <a:ext uri="{FF2B5EF4-FFF2-40B4-BE49-F238E27FC236}">
                <a16:creationId xmlns:a16="http://schemas.microsoft.com/office/drawing/2014/main" id="{329116E9-DDC2-E089-9E15-BA606D75DD9C}"/>
              </a:ext>
            </a:extLst>
          </p:cNvPr>
          <p:cNvSpPr/>
          <p:nvPr/>
        </p:nvSpPr>
        <p:spPr>
          <a:xfrm>
            <a:off x="3358611" y="915483"/>
            <a:ext cx="2495589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항공통계포털</a:t>
            </a:r>
            <a:r>
              <a:rPr lang="en-US" altLang="ko-KR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(AS)</a:t>
            </a:r>
            <a:endParaRPr lang="en-US" altLang="ko-KR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5" name="Shape 8">
            <a:extLst>
              <a:ext uri="{FF2B5EF4-FFF2-40B4-BE49-F238E27FC236}">
                <a16:creationId xmlns:a16="http://schemas.microsoft.com/office/drawing/2014/main" id="{687BEBDD-B243-37F1-8672-3C28411DC1FE}"/>
              </a:ext>
            </a:extLst>
          </p:cNvPr>
          <p:cNvSpPr/>
          <p:nvPr/>
        </p:nvSpPr>
        <p:spPr>
          <a:xfrm>
            <a:off x="5365782" y="929199"/>
            <a:ext cx="546173" cy="137160"/>
          </a:xfrm>
          <a:prstGeom prst="rect">
            <a:avLst/>
          </a:prstGeom>
          <a:solidFill>
            <a:srgbClr val="FDECEA"/>
          </a:solidFill>
          <a:ln w="12700">
            <a:solidFill>
              <a:srgbClr val="C00000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매우높음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65" name="Shape 10">
            <a:extLst>
              <a:ext uri="{FF2B5EF4-FFF2-40B4-BE49-F238E27FC236}">
                <a16:creationId xmlns:a16="http://schemas.microsoft.com/office/drawing/2014/main" id="{C911C2AB-C3D3-BFFB-EAF2-2F2ADE5DE9D7}"/>
              </a:ext>
            </a:extLst>
          </p:cNvPr>
          <p:cNvSpPr/>
          <p:nvPr/>
        </p:nvSpPr>
        <p:spPr>
          <a:xfrm>
            <a:off x="3395858" y="1215564"/>
            <a:ext cx="808655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6" name="Text 11">
            <a:extLst>
              <a:ext uri="{FF2B5EF4-FFF2-40B4-BE49-F238E27FC236}">
                <a16:creationId xmlns:a16="http://schemas.microsoft.com/office/drawing/2014/main" id="{5AD30559-870B-519C-51A3-0CB29DA8CAD3}"/>
              </a:ext>
            </a:extLst>
          </p:cNvPr>
          <p:cNvSpPr/>
          <p:nvPr/>
        </p:nvSpPr>
        <p:spPr>
          <a:xfrm>
            <a:off x="3493666" y="1230078"/>
            <a:ext cx="60462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7" name="Text 12">
            <a:extLst>
              <a:ext uri="{FF2B5EF4-FFF2-40B4-BE49-F238E27FC236}">
                <a16:creationId xmlns:a16="http://schemas.microsoft.com/office/drawing/2014/main" id="{00663104-9691-2B53-B8C0-0467318666D7}"/>
              </a:ext>
            </a:extLst>
          </p:cNvPr>
          <p:cNvSpPr/>
          <p:nvPr/>
        </p:nvSpPr>
        <p:spPr>
          <a:xfrm>
            <a:off x="3493666" y="1424061"/>
            <a:ext cx="604622" cy="14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2" name="Shape 13">
            <a:extLst>
              <a:ext uri="{FF2B5EF4-FFF2-40B4-BE49-F238E27FC236}">
                <a16:creationId xmlns:a16="http://schemas.microsoft.com/office/drawing/2014/main" id="{5F74F3C3-1B9D-BE84-655D-94FBB4E0A751}"/>
              </a:ext>
            </a:extLst>
          </p:cNvPr>
          <p:cNvSpPr/>
          <p:nvPr/>
        </p:nvSpPr>
        <p:spPr>
          <a:xfrm>
            <a:off x="4302710" y="1215564"/>
            <a:ext cx="808655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3" name="Text 14">
            <a:extLst>
              <a:ext uri="{FF2B5EF4-FFF2-40B4-BE49-F238E27FC236}">
                <a16:creationId xmlns:a16="http://schemas.microsoft.com/office/drawing/2014/main" id="{30D26E38-98F3-7D72-3CD6-EFDF6A6303D1}"/>
              </a:ext>
            </a:extLst>
          </p:cNvPr>
          <p:cNvSpPr/>
          <p:nvPr/>
        </p:nvSpPr>
        <p:spPr>
          <a:xfrm>
            <a:off x="4392366" y="1236936"/>
            <a:ext cx="641545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121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4" name="Text 15">
            <a:extLst>
              <a:ext uri="{FF2B5EF4-FFF2-40B4-BE49-F238E27FC236}">
                <a16:creationId xmlns:a16="http://schemas.microsoft.com/office/drawing/2014/main" id="{EBD0BEC0-55C1-7253-1863-EDC5B347E7E7}"/>
              </a:ext>
            </a:extLst>
          </p:cNvPr>
          <p:cNvSpPr/>
          <p:nvPr/>
        </p:nvSpPr>
        <p:spPr>
          <a:xfrm>
            <a:off x="4392366" y="1428960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l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9" name="Shape 16">
            <a:extLst>
              <a:ext uri="{FF2B5EF4-FFF2-40B4-BE49-F238E27FC236}">
                <a16:creationId xmlns:a16="http://schemas.microsoft.com/office/drawing/2014/main" id="{CDE782D9-624D-2067-CE35-B15894327DE9}"/>
              </a:ext>
            </a:extLst>
          </p:cNvPr>
          <p:cNvSpPr/>
          <p:nvPr/>
        </p:nvSpPr>
        <p:spPr>
          <a:xfrm>
            <a:off x="5209563" y="1215564"/>
            <a:ext cx="808655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0" name="Text 17">
            <a:extLst>
              <a:ext uri="{FF2B5EF4-FFF2-40B4-BE49-F238E27FC236}">
                <a16:creationId xmlns:a16="http://schemas.microsoft.com/office/drawing/2014/main" id="{3CC93005-D826-C107-7660-5097A8FC7971}"/>
              </a:ext>
            </a:extLst>
          </p:cNvPr>
          <p:cNvSpPr/>
          <p:nvPr/>
        </p:nvSpPr>
        <p:spPr>
          <a:xfrm>
            <a:off x="5307371" y="1236936"/>
            <a:ext cx="5986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160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9" name="Shape 19">
            <a:extLst>
              <a:ext uri="{FF2B5EF4-FFF2-40B4-BE49-F238E27FC236}">
                <a16:creationId xmlns:a16="http://schemas.microsoft.com/office/drawing/2014/main" id="{EFC0F94D-85AA-92E3-9E12-2B3A835606C3}"/>
              </a:ext>
            </a:extLst>
          </p:cNvPr>
          <p:cNvSpPr/>
          <p:nvPr/>
        </p:nvSpPr>
        <p:spPr>
          <a:xfrm>
            <a:off x="3399364" y="1685898"/>
            <a:ext cx="46215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0" name="Text 20">
            <a:extLst>
              <a:ext uri="{FF2B5EF4-FFF2-40B4-BE49-F238E27FC236}">
                <a16:creationId xmlns:a16="http://schemas.microsoft.com/office/drawing/2014/main" id="{9D5FFC8E-D7CB-437A-A125-0532B0DE0C57}"/>
              </a:ext>
            </a:extLst>
          </p:cNvPr>
          <p:cNvSpPr/>
          <p:nvPr/>
        </p:nvSpPr>
        <p:spPr>
          <a:xfrm>
            <a:off x="3476388" y="1685898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1" name="Text 21">
            <a:extLst>
              <a:ext uri="{FF2B5EF4-FFF2-40B4-BE49-F238E27FC236}">
                <a16:creationId xmlns:a16="http://schemas.microsoft.com/office/drawing/2014/main" id="{05F64DC2-1784-B5FA-99D7-4C871BE2C02F}"/>
              </a:ext>
            </a:extLst>
          </p:cNvPr>
          <p:cNvSpPr/>
          <p:nvPr/>
        </p:nvSpPr>
        <p:spPr>
          <a:xfrm>
            <a:off x="3399365" y="1823058"/>
            <a:ext cx="2602304" cy="5623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진입 후 결함 폭증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(2-1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60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건→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124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).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160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중 결함검토요청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89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재조치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9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건으로 품질 확인 자체가 지연된 상태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</p:txBody>
      </p:sp>
      <p:sp>
        <p:nvSpPr>
          <p:cNvPr id="152" name="Shape 22">
            <a:extLst>
              <a:ext uri="{FF2B5EF4-FFF2-40B4-BE49-F238E27FC236}">
                <a16:creationId xmlns:a16="http://schemas.microsoft.com/office/drawing/2014/main" id="{A83A6978-B5DD-04EF-0A67-CBD6345D9A8A}"/>
              </a:ext>
            </a:extLst>
          </p:cNvPr>
          <p:cNvSpPr/>
          <p:nvPr/>
        </p:nvSpPr>
        <p:spPr>
          <a:xfrm>
            <a:off x="3399364" y="2509107"/>
            <a:ext cx="46215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3" name="Text 23">
            <a:extLst>
              <a:ext uri="{FF2B5EF4-FFF2-40B4-BE49-F238E27FC236}">
                <a16:creationId xmlns:a16="http://schemas.microsoft.com/office/drawing/2014/main" id="{079C40BF-0D24-E3AF-9DA6-42E1CED05579}"/>
              </a:ext>
            </a:extLst>
          </p:cNvPr>
          <p:cNvSpPr/>
          <p:nvPr/>
        </p:nvSpPr>
        <p:spPr>
          <a:xfrm>
            <a:off x="3476388" y="2509107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4" name="Text 24">
            <a:extLst>
              <a:ext uri="{FF2B5EF4-FFF2-40B4-BE49-F238E27FC236}">
                <a16:creationId xmlns:a16="http://schemas.microsoft.com/office/drawing/2014/main" id="{EC18BC54-57AB-4AFD-809D-BD49919B6C7E}"/>
              </a:ext>
            </a:extLst>
          </p:cNvPr>
          <p:cNvSpPr/>
          <p:nvPr/>
        </p:nvSpPr>
        <p:spPr>
          <a:xfrm>
            <a:off x="3399364" y="2646267"/>
            <a:ext cx="2618853" cy="411480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결함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124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급증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—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대규모 신규 통계 화면 개발 이슈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결함검토요청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89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—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여부 판정조차 완료 안 된 상태</a:t>
            </a:r>
          </a:p>
        </p:txBody>
      </p:sp>
      <p:sp>
        <p:nvSpPr>
          <p:cNvPr id="155" name="Shape 25">
            <a:extLst>
              <a:ext uri="{FF2B5EF4-FFF2-40B4-BE49-F238E27FC236}">
                <a16:creationId xmlns:a16="http://schemas.microsoft.com/office/drawing/2014/main" id="{DF91186B-645B-B280-73BF-2161A9326A03}"/>
              </a:ext>
            </a:extLst>
          </p:cNvPr>
          <p:cNvSpPr/>
          <p:nvPr/>
        </p:nvSpPr>
        <p:spPr>
          <a:xfrm>
            <a:off x="3429029" y="3453593"/>
            <a:ext cx="2572639" cy="1160057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6" name="Shape 26">
            <a:extLst>
              <a:ext uri="{FF2B5EF4-FFF2-40B4-BE49-F238E27FC236}">
                <a16:creationId xmlns:a16="http://schemas.microsoft.com/office/drawing/2014/main" id="{4ACEC3B6-D472-29CF-BFCF-9D3C8252ECEC}"/>
              </a:ext>
            </a:extLst>
          </p:cNvPr>
          <p:cNvSpPr/>
          <p:nvPr/>
        </p:nvSpPr>
        <p:spPr>
          <a:xfrm>
            <a:off x="3363823" y="3453593"/>
            <a:ext cx="46215" cy="1160057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7" name="Text 27">
            <a:extLst>
              <a:ext uri="{FF2B5EF4-FFF2-40B4-BE49-F238E27FC236}">
                <a16:creationId xmlns:a16="http://schemas.microsoft.com/office/drawing/2014/main" id="{F6F237DD-DAA1-05D9-23F8-481D3A9CF851}"/>
              </a:ext>
            </a:extLst>
          </p:cNvPr>
          <p:cNvSpPr/>
          <p:nvPr/>
        </p:nvSpPr>
        <p:spPr>
          <a:xfrm>
            <a:off x="3494560" y="3501600"/>
            <a:ext cx="213076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8" name="Text 28">
            <a:extLst>
              <a:ext uri="{FF2B5EF4-FFF2-40B4-BE49-F238E27FC236}">
                <a16:creationId xmlns:a16="http://schemas.microsoft.com/office/drawing/2014/main" id="{7D740B60-221D-182E-B58C-0F3898143A3C}"/>
              </a:ext>
            </a:extLst>
          </p:cNvPr>
          <p:cNvSpPr/>
          <p:nvPr/>
        </p:nvSpPr>
        <p:spPr>
          <a:xfrm>
            <a:off x="3500757" y="3715434"/>
            <a:ext cx="2405287" cy="693798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결함검토요청 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89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건은 품질 판정 지연이 곧 미완료 결함 누적을 의미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즉각적인 결함 검토 완료 및 재조치 건 집중 관리 필요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후속 단계 진입 전 우선 정리 필요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</p:txBody>
      </p:sp>
      <p:sp>
        <p:nvSpPr>
          <p:cNvPr id="170" name="Shape 6">
            <a:extLst>
              <a:ext uri="{FF2B5EF4-FFF2-40B4-BE49-F238E27FC236}">
                <a16:creationId xmlns:a16="http://schemas.microsoft.com/office/drawing/2014/main" id="{73122902-361E-749B-9956-A0A9D37A982C}"/>
              </a:ext>
            </a:extLst>
          </p:cNvPr>
          <p:cNvSpPr/>
          <p:nvPr/>
        </p:nvSpPr>
        <p:spPr>
          <a:xfrm>
            <a:off x="6240807" y="904869"/>
            <a:ext cx="2434881" cy="192024"/>
          </a:xfrm>
          <a:prstGeom prst="rect">
            <a:avLst/>
          </a:prstGeom>
          <a:solidFill>
            <a:srgbClr val="C55A11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1" name="Text 7">
            <a:extLst>
              <a:ext uri="{FF2B5EF4-FFF2-40B4-BE49-F238E27FC236}">
                <a16:creationId xmlns:a16="http://schemas.microsoft.com/office/drawing/2014/main" id="{854B750D-6997-595F-3A19-AE1E49AE77DB}"/>
              </a:ext>
            </a:extLst>
          </p:cNvPr>
          <p:cNvSpPr/>
          <p:nvPr/>
        </p:nvSpPr>
        <p:spPr>
          <a:xfrm>
            <a:off x="6251331" y="918585"/>
            <a:ext cx="22219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항공기관제</a:t>
            </a:r>
            <a:r>
              <a:rPr lang="en-US" altLang="ko-KR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(AC)</a:t>
            </a:r>
            <a:endParaRPr lang="en-US" altLang="ko-KR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2" name="Shape 8">
            <a:extLst>
              <a:ext uri="{FF2B5EF4-FFF2-40B4-BE49-F238E27FC236}">
                <a16:creationId xmlns:a16="http://schemas.microsoft.com/office/drawing/2014/main" id="{C0B248DF-E605-7A1A-7707-C209D65C58F4}"/>
              </a:ext>
            </a:extLst>
          </p:cNvPr>
          <p:cNvSpPr/>
          <p:nvPr/>
        </p:nvSpPr>
        <p:spPr>
          <a:xfrm>
            <a:off x="8038452" y="932301"/>
            <a:ext cx="486295" cy="137160"/>
          </a:xfrm>
          <a:prstGeom prst="rect">
            <a:avLst/>
          </a:prstGeom>
          <a:solidFill>
            <a:srgbClr val="FFF0E0"/>
          </a:solidFill>
          <a:ln w="12700">
            <a:noFill/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92" name="Shape 10">
            <a:extLst>
              <a:ext uri="{FF2B5EF4-FFF2-40B4-BE49-F238E27FC236}">
                <a16:creationId xmlns:a16="http://schemas.microsoft.com/office/drawing/2014/main" id="{96561FA0-513B-609D-EBDA-333632127DAB}"/>
              </a:ext>
            </a:extLst>
          </p:cNvPr>
          <p:cNvSpPr/>
          <p:nvPr/>
        </p:nvSpPr>
        <p:spPr>
          <a:xfrm>
            <a:off x="6284495" y="1218666"/>
            <a:ext cx="720000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3" name="Text 11">
            <a:extLst>
              <a:ext uri="{FF2B5EF4-FFF2-40B4-BE49-F238E27FC236}">
                <a16:creationId xmlns:a16="http://schemas.microsoft.com/office/drawing/2014/main" id="{3E4F4D5B-349E-0236-6980-8260BAF14320}"/>
              </a:ext>
            </a:extLst>
          </p:cNvPr>
          <p:cNvSpPr/>
          <p:nvPr/>
        </p:nvSpPr>
        <p:spPr>
          <a:xfrm>
            <a:off x="6371580" y="1233180"/>
            <a:ext cx="538336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360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4" name="Text 12">
            <a:extLst>
              <a:ext uri="{FF2B5EF4-FFF2-40B4-BE49-F238E27FC236}">
                <a16:creationId xmlns:a16="http://schemas.microsoft.com/office/drawing/2014/main" id="{DBD926B2-830F-EA60-4CEB-293B7E170F10}"/>
              </a:ext>
            </a:extLst>
          </p:cNvPr>
          <p:cNvSpPr/>
          <p:nvPr/>
        </p:nvSpPr>
        <p:spPr>
          <a:xfrm>
            <a:off x="6371580" y="1427163"/>
            <a:ext cx="538336" cy="14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9" name="Shape 13">
            <a:extLst>
              <a:ext uri="{FF2B5EF4-FFF2-40B4-BE49-F238E27FC236}">
                <a16:creationId xmlns:a16="http://schemas.microsoft.com/office/drawing/2014/main" id="{E1FDE35B-0E5F-714A-9DD1-80EF302FCB73}"/>
              </a:ext>
            </a:extLst>
          </p:cNvPr>
          <p:cNvSpPr/>
          <p:nvPr/>
        </p:nvSpPr>
        <p:spPr>
          <a:xfrm>
            <a:off x="7091927" y="1218666"/>
            <a:ext cx="720000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0" name="Text 14">
            <a:extLst>
              <a:ext uri="{FF2B5EF4-FFF2-40B4-BE49-F238E27FC236}">
                <a16:creationId xmlns:a16="http://schemas.microsoft.com/office/drawing/2014/main" id="{C253D18B-202F-E6D3-B565-ECB799F0F508}"/>
              </a:ext>
            </a:extLst>
          </p:cNvPr>
          <p:cNvSpPr/>
          <p:nvPr/>
        </p:nvSpPr>
        <p:spPr>
          <a:xfrm>
            <a:off x="7171754" y="1240038"/>
            <a:ext cx="57121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1" name="Text 15">
            <a:extLst>
              <a:ext uri="{FF2B5EF4-FFF2-40B4-BE49-F238E27FC236}">
                <a16:creationId xmlns:a16="http://schemas.microsoft.com/office/drawing/2014/main" id="{390D6665-3E51-5456-1607-D8229B892FC4}"/>
              </a:ext>
            </a:extLst>
          </p:cNvPr>
          <p:cNvSpPr/>
          <p:nvPr/>
        </p:nvSpPr>
        <p:spPr>
          <a:xfrm>
            <a:off x="7171754" y="1432062"/>
            <a:ext cx="571211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굘함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l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6" name="Shape 16">
            <a:extLst>
              <a:ext uri="{FF2B5EF4-FFF2-40B4-BE49-F238E27FC236}">
                <a16:creationId xmlns:a16="http://schemas.microsoft.com/office/drawing/2014/main" id="{4003E77D-9F6D-1389-7331-95D0262D1DCC}"/>
              </a:ext>
            </a:extLst>
          </p:cNvPr>
          <p:cNvSpPr/>
          <p:nvPr/>
        </p:nvSpPr>
        <p:spPr>
          <a:xfrm>
            <a:off x="7899359" y="1218666"/>
            <a:ext cx="720000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7" name="Text 17">
            <a:extLst>
              <a:ext uri="{FF2B5EF4-FFF2-40B4-BE49-F238E27FC236}">
                <a16:creationId xmlns:a16="http://schemas.microsoft.com/office/drawing/2014/main" id="{B841E0FD-E20D-A5B5-C830-DFBD1C9E1B56}"/>
              </a:ext>
            </a:extLst>
          </p:cNvPr>
          <p:cNvSpPr/>
          <p:nvPr/>
        </p:nvSpPr>
        <p:spPr>
          <a:xfrm>
            <a:off x="7986444" y="1240038"/>
            <a:ext cx="5330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83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6" name="Shape 19">
            <a:extLst>
              <a:ext uri="{FF2B5EF4-FFF2-40B4-BE49-F238E27FC236}">
                <a16:creationId xmlns:a16="http://schemas.microsoft.com/office/drawing/2014/main" id="{AD39D650-C1C1-1ED5-5D71-8D1BBEC8A6D5}"/>
              </a:ext>
            </a:extLst>
          </p:cNvPr>
          <p:cNvSpPr/>
          <p:nvPr/>
        </p:nvSpPr>
        <p:spPr>
          <a:xfrm>
            <a:off x="6287616" y="1689000"/>
            <a:ext cx="41148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7" name="Text 20">
            <a:extLst>
              <a:ext uri="{FF2B5EF4-FFF2-40B4-BE49-F238E27FC236}">
                <a16:creationId xmlns:a16="http://schemas.microsoft.com/office/drawing/2014/main" id="{1BEC7014-AE1A-0155-3AD4-177E95DC3BCE}"/>
              </a:ext>
            </a:extLst>
          </p:cNvPr>
          <p:cNvSpPr/>
          <p:nvPr/>
        </p:nvSpPr>
        <p:spPr>
          <a:xfrm>
            <a:off x="6356196" y="1689000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8" name="Text 21">
            <a:extLst>
              <a:ext uri="{FF2B5EF4-FFF2-40B4-BE49-F238E27FC236}">
                <a16:creationId xmlns:a16="http://schemas.microsoft.com/office/drawing/2014/main" id="{019CF756-F51B-069C-E82E-8510C1F452E3}"/>
              </a:ext>
            </a:extLst>
          </p:cNvPr>
          <p:cNvSpPr/>
          <p:nvPr/>
        </p:nvSpPr>
        <p:spPr>
          <a:xfrm>
            <a:off x="6287617" y="1826160"/>
            <a:ext cx="2317008" cy="5623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관제 업무 특성상 복잡한 화면 구성과 실시간 편집 기능이 다수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차에서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테스트 결함이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48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건으로 급증하며 개발 완성도 저하 확인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</p:txBody>
      </p:sp>
      <p:sp>
        <p:nvSpPr>
          <p:cNvPr id="179" name="Shape 22">
            <a:extLst>
              <a:ext uri="{FF2B5EF4-FFF2-40B4-BE49-F238E27FC236}">
                <a16:creationId xmlns:a16="http://schemas.microsoft.com/office/drawing/2014/main" id="{6B3D61D1-AA15-C271-B85D-F0A85233C4DE}"/>
              </a:ext>
            </a:extLst>
          </p:cNvPr>
          <p:cNvSpPr/>
          <p:nvPr/>
        </p:nvSpPr>
        <p:spPr>
          <a:xfrm>
            <a:off x="6287616" y="2512209"/>
            <a:ext cx="41148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0" name="Text 23">
            <a:extLst>
              <a:ext uri="{FF2B5EF4-FFF2-40B4-BE49-F238E27FC236}">
                <a16:creationId xmlns:a16="http://schemas.microsoft.com/office/drawing/2014/main" id="{8489E605-77A9-99AE-0C6B-352F277F982E}"/>
              </a:ext>
            </a:extLst>
          </p:cNvPr>
          <p:cNvSpPr/>
          <p:nvPr/>
        </p:nvSpPr>
        <p:spPr>
          <a:xfrm>
            <a:off x="6356196" y="2512209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1" name="Text 24">
            <a:extLst>
              <a:ext uri="{FF2B5EF4-FFF2-40B4-BE49-F238E27FC236}">
                <a16:creationId xmlns:a16="http://schemas.microsoft.com/office/drawing/2014/main" id="{834D8313-5E7F-12AA-F69F-A2E311A1BE23}"/>
              </a:ext>
            </a:extLst>
          </p:cNvPr>
          <p:cNvSpPr/>
          <p:nvPr/>
        </p:nvSpPr>
        <p:spPr>
          <a:xfrm>
            <a:off x="6287616" y="2649368"/>
            <a:ext cx="2331743" cy="707549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기능 결함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265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중 권한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저장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조회 오류가 집중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UI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75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—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복잡한 관제 화면의 표준화 미흡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③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단계 결함 급증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(48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은 신규 기능 추가 개발 이슈로 판단</a:t>
            </a:r>
          </a:p>
        </p:txBody>
      </p:sp>
      <p:sp>
        <p:nvSpPr>
          <p:cNvPr id="183" name="Shape 26">
            <a:extLst>
              <a:ext uri="{FF2B5EF4-FFF2-40B4-BE49-F238E27FC236}">
                <a16:creationId xmlns:a16="http://schemas.microsoft.com/office/drawing/2014/main" id="{E3E5A6C6-4D86-B692-CF04-77A66C34441E}"/>
              </a:ext>
            </a:extLst>
          </p:cNvPr>
          <p:cNvSpPr/>
          <p:nvPr/>
        </p:nvSpPr>
        <p:spPr>
          <a:xfrm>
            <a:off x="6299514" y="3456695"/>
            <a:ext cx="41148" cy="1160057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4" name="Text 27">
            <a:extLst>
              <a:ext uri="{FF2B5EF4-FFF2-40B4-BE49-F238E27FC236}">
                <a16:creationId xmlns:a16="http://schemas.microsoft.com/office/drawing/2014/main" id="{5858CCD5-16E7-2B37-44DC-855FF522685F}"/>
              </a:ext>
            </a:extLst>
          </p:cNvPr>
          <p:cNvSpPr/>
          <p:nvPr/>
        </p:nvSpPr>
        <p:spPr>
          <a:xfrm>
            <a:off x="6372376" y="3504702"/>
            <a:ext cx="189716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5" name="Text 28">
            <a:extLst>
              <a:ext uri="{FF2B5EF4-FFF2-40B4-BE49-F238E27FC236}">
                <a16:creationId xmlns:a16="http://schemas.microsoft.com/office/drawing/2014/main" id="{3161D674-B867-07D7-73A8-CD72F1C6DDCA}"/>
              </a:ext>
            </a:extLst>
          </p:cNvPr>
          <p:cNvSpPr/>
          <p:nvPr/>
        </p:nvSpPr>
        <p:spPr>
          <a:xfrm>
            <a:off x="6406921" y="3711279"/>
            <a:ext cx="2141590" cy="69069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단계 결함 급증이 주목 포인트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신규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변경 기능에 대한 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검토 기준 강화 및 회귀 테스트 범위 확대 권고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</p:txBody>
      </p:sp>
      <p:sp>
        <p:nvSpPr>
          <p:cNvPr id="6" name="Text 90">
            <a:extLst>
              <a:ext uri="{FF2B5EF4-FFF2-40B4-BE49-F238E27FC236}">
                <a16:creationId xmlns:a16="http://schemas.microsoft.com/office/drawing/2014/main" id="{C5C2B567-49E0-02D7-9259-17ADB9C5E390}"/>
              </a:ext>
            </a:extLst>
          </p:cNvPr>
          <p:cNvSpPr/>
          <p:nvPr/>
        </p:nvSpPr>
        <p:spPr>
          <a:xfrm>
            <a:off x="2305526" y="1402949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0">
            <a:extLst>
              <a:ext uri="{FF2B5EF4-FFF2-40B4-BE49-F238E27FC236}">
                <a16:creationId xmlns:a16="http://schemas.microsoft.com/office/drawing/2014/main" id="{8AAF4A25-629D-77C3-3F5E-B513B78274F3}"/>
              </a:ext>
            </a:extLst>
          </p:cNvPr>
          <p:cNvSpPr/>
          <p:nvPr/>
        </p:nvSpPr>
        <p:spPr>
          <a:xfrm>
            <a:off x="5246538" y="1402949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90">
            <a:extLst>
              <a:ext uri="{FF2B5EF4-FFF2-40B4-BE49-F238E27FC236}">
                <a16:creationId xmlns:a16="http://schemas.microsoft.com/office/drawing/2014/main" id="{89B7FE62-25BD-6483-E30E-DF0788420196}"/>
              </a:ext>
            </a:extLst>
          </p:cNvPr>
          <p:cNvSpPr/>
          <p:nvPr/>
        </p:nvSpPr>
        <p:spPr>
          <a:xfrm>
            <a:off x="7891754" y="1402949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37887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351BB-F9E4-BF48-FDF0-FDABD0B3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AF95B5-7ACD-8C15-E856-973AFA3DA253}"/>
              </a:ext>
            </a:extLst>
          </p:cNvPr>
          <p:cNvSpPr/>
          <p:nvPr/>
        </p:nvSpPr>
        <p:spPr>
          <a:xfrm>
            <a:off x="22860" y="13716"/>
            <a:ext cx="9121140" cy="493776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760857-80F6-E09E-6E3D-DD40183B22F3}"/>
              </a:ext>
            </a:extLst>
          </p:cNvPr>
          <p:cNvSpPr/>
          <p:nvPr/>
        </p:nvSpPr>
        <p:spPr>
          <a:xfrm>
            <a:off x="0" y="493776"/>
            <a:ext cx="9121140" cy="411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CDEF7E-89D0-C57B-4C9C-068253DB6064}"/>
              </a:ext>
            </a:extLst>
          </p:cNvPr>
          <p:cNvSpPr/>
          <p:nvPr/>
        </p:nvSpPr>
        <p:spPr>
          <a:xfrm>
            <a:off x="240030" y="54864"/>
            <a:ext cx="61722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고위험 모듈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심층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ko-KR" alt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분석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16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74871310-C70F-26DD-893A-3092D871C5F6}"/>
              </a:ext>
            </a:extLst>
          </p:cNvPr>
          <p:cNvSpPr/>
          <p:nvPr/>
        </p:nvSpPr>
        <p:spPr>
          <a:xfrm>
            <a:off x="451940" y="788669"/>
            <a:ext cx="4076364" cy="3861053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9F3B32EA-C580-1528-C040-D66437F50196}"/>
              </a:ext>
            </a:extLst>
          </p:cNvPr>
          <p:cNvSpPr/>
          <p:nvPr/>
        </p:nvSpPr>
        <p:spPr>
          <a:xfrm>
            <a:off x="451940" y="788670"/>
            <a:ext cx="4076364" cy="19202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1EFA3EE8-484A-B82D-9DBD-B8DF8C986596}"/>
              </a:ext>
            </a:extLst>
          </p:cNvPr>
          <p:cNvSpPr/>
          <p:nvPr/>
        </p:nvSpPr>
        <p:spPr>
          <a:xfrm>
            <a:off x="527777" y="795129"/>
            <a:ext cx="251489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예측관리(PM)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80">
            <a:extLst>
              <a:ext uri="{FF2B5EF4-FFF2-40B4-BE49-F238E27FC236}">
                <a16:creationId xmlns:a16="http://schemas.microsoft.com/office/drawing/2014/main" id="{D4763FF8-6B28-5D23-492A-A5D601284D2A}"/>
              </a:ext>
            </a:extLst>
          </p:cNvPr>
          <p:cNvSpPr/>
          <p:nvPr/>
        </p:nvSpPr>
        <p:spPr>
          <a:xfrm>
            <a:off x="3663444" y="816102"/>
            <a:ext cx="534924" cy="137160"/>
          </a:xfrm>
          <a:prstGeom prst="rect">
            <a:avLst/>
          </a:prstGeom>
          <a:solidFill>
            <a:srgbClr val="FFF0E0"/>
          </a:solidFill>
          <a:ln w="12700">
            <a:solidFill>
              <a:srgbClr val="C55A11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55A11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C0C10735-F14B-0324-1365-13C68BFBB31F}"/>
              </a:ext>
            </a:extLst>
          </p:cNvPr>
          <p:cNvSpPr/>
          <p:nvPr/>
        </p:nvSpPr>
        <p:spPr>
          <a:xfrm>
            <a:off x="535034" y="1102467"/>
            <a:ext cx="1161606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CED11B97-3662-58C8-09DC-687FA5608B02}"/>
              </a:ext>
            </a:extLst>
          </p:cNvPr>
          <p:cNvSpPr/>
          <p:nvPr/>
        </p:nvSpPr>
        <p:spPr>
          <a:xfrm>
            <a:off x="774521" y="1109325"/>
            <a:ext cx="706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208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13C5F48C-388E-BE6E-5AD4-E0B1B3DF931B}"/>
              </a:ext>
            </a:extLst>
          </p:cNvPr>
          <p:cNvSpPr/>
          <p:nvPr/>
        </p:nvSpPr>
        <p:spPr>
          <a:xfrm>
            <a:off x="781778" y="1301349"/>
            <a:ext cx="7061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47183BD4-C7C6-24FA-799F-D9F3DF23E71D}"/>
              </a:ext>
            </a:extLst>
          </p:cNvPr>
          <p:cNvSpPr/>
          <p:nvPr/>
        </p:nvSpPr>
        <p:spPr>
          <a:xfrm>
            <a:off x="1899268" y="1102467"/>
            <a:ext cx="1161606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049D02E2-B112-590C-AE76-4F3FC36D92E6}"/>
              </a:ext>
            </a:extLst>
          </p:cNvPr>
          <p:cNvSpPr/>
          <p:nvPr/>
        </p:nvSpPr>
        <p:spPr>
          <a:xfrm>
            <a:off x="2138755" y="1109325"/>
            <a:ext cx="706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Rix고딕 L" panose="02020603020101020101" pitchFamily="18" charset="-127"/>
                <a:ea typeface="Rix고딕 L" panose="02020603020101020101" pitchFamily="18" charset="-127"/>
              </a:rPr>
              <a:t>108</a:t>
            </a:r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2A29A05F-792C-BA62-04F3-350596A70974}"/>
              </a:ext>
            </a:extLst>
          </p:cNvPr>
          <p:cNvSpPr/>
          <p:nvPr/>
        </p:nvSpPr>
        <p:spPr>
          <a:xfrm>
            <a:off x="3241733" y="1102467"/>
            <a:ext cx="1161606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03E69A0B-3E4B-7AA7-5924-97E40D580AFA}"/>
              </a:ext>
            </a:extLst>
          </p:cNvPr>
          <p:cNvSpPr/>
          <p:nvPr/>
        </p:nvSpPr>
        <p:spPr>
          <a:xfrm>
            <a:off x="3481220" y="1109325"/>
            <a:ext cx="706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129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7EBC21B5-828C-CEDB-4317-78F8F6B5353E}"/>
              </a:ext>
            </a:extLst>
          </p:cNvPr>
          <p:cNvSpPr/>
          <p:nvPr/>
        </p:nvSpPr>
        <p:spPr>
          <a:xfrm>
            <a:off x="3488477" y="1279578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2396E1C9-528E-20B0-B6A7-AF3491A75FF9}"/>
              </a:ext>
            </a:extLst>
          </p:cNvPr>
          <p:cNvSpPr/>
          <p:nvPr/>
        </p:nvSpPr>
        <p:spPr>
          <a:xfrm>
            <a:off x="527777" y="1638114"/>
            <a:ext cx="41148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D8D1B491-A7C6-5A33-47BD-32B16A482D33}"/>
              </a:ext>
            </a:extLst>
          </p:cNvPr>
          <p:cNvSpPr/>
          <p:nvPr/>
        </p:nvSpPr>
        <p:spPr>
          <a:xfrm>
            <a:off x="596357" y="1638114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0772AE21-30F0-4946-F037-68D0D05BD601}"/>
              </a:ext>
            </a:extLst>
          </p:cNvPr>
          <p:cNvSpPr/>
          <p:nvPr/>
        </p:nvSpPr>
        <p:spPr>
          <a:xfrm>
            <a:off x="527777" y="1782531"/>
            <a:ext cx="3911847" cy="576724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기능 결함(153건) 중 조회/검색 오류 비중 높음.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Critical 34건으로 규모 대비 심각도가 높은 모듈. </a:t>
            </a:r>
          </a:p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감리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단계 결함이 1-2차 12건·2-1차 15건·2-2차 11건으로 지속 발생.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Shape 94">
            <a:extLst>
              <a:ext uri="{FF2B5EF4-FFF2-40B4-BE49-F238E27FC236}">
                <a16:creationId xmlns:a16="http://schemas.microsoft.com/office/drawing/2014/main" id="{43427C29-8099-7711-B10D-8E8D9682A913}"/>
              </a:ext>
            </a:extLst>
          </p:cNvPr>
          <p:cNvSpPr/>
          <p:nvPr/>
        </p:nvSpPr>
        <p:spPr>
          <a:xfrm>
            <a:off x="527777" y="2504869"/>
            <a:ext cx="41148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B75CD8FC-F3E8-A968-006B-9D3DE59835EB}"/>
              </a:ext>
            </a:extLst>
          </p:cNvPr>
          <p:cNvSpPr/>
          <p:nvPr/>
        </p:nvSpPr>
        <p:spPr>
          <a:xfrm>
            <a:off x="596357" y="2504869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96">
            <a:extLst>
              <a:ext uri="{FF2B5EF4-FFF2-40B4-BE49-F238E27FC236}">
                <a16:creationId xmlns:a16="http://schemas.microsoft.com/office/drawing/2014/main" id="{A2DD7BA5-E5AE-18DD-ABF1-618D0116E52B}"/>
              </a:ext>
            </a:extLst>
          </p:cNvPr>
          <p:cNvSpPr/>
          <p:nvPr/>
        </p:nvSpPr>
        <p:spPr>
          <a:xfrm>
            <a:off x="527778" y="2642029"/>
            <a:ext cx="3834414" cy="676114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감리 단계 지속 결함 — 선행 단계 완결성 부족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문서화 결함 19건 포함, 산출물 품질 관리 필요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>
            <a:extLst>
              <a:ext uri="{FF2B5EF4-FFF2-40B4-BE49-F238E27FC236}">
                <a16:creationId xmlns:a16="http://schemas.microsoft.com/office/drawing/2014/main" id="{539C5FB8-7532-784D-0CE7-C86977ACBD3D}"/>
              </a:ext>
            </a:extLst>
          </p:cNvPr>
          <p:cNvSpPr/>
          <p:nvPr/>
        </p:nvSpPr>
        <p:spPr>
          <a:xfrm>
            <a:off x="535034" y="3484405"/>
            <a:ext cx="3911847" cy="861318"/>
          </a:xfrm>
          <a:prstGeom prst="rect">
            <a:avLst/>
          </a:prstGeom>
          <a:solidFill>
            <a:srgbClr val="FFFDE7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Shape 98">
            <a:extLst>
              <a:ext uri="{FF2B5EF4-FFF2-40B4-BE49-F238E27FC236}">
                <a16:creationId xmlns:a16="http://schemas.microsoft.com/office/drawing/2014/main" id="{5B6754ED-6926-4753-DB0C-48CBE5784575}"/>
              </a:ext>
            </a:extLst>
          </p:cNvPr>
          <p:cNvSpPr/>
          <p:nvPr/>
        </p:nvSpPr>
        <p:spPr>
          <a:xfrm>
            <a:off x="535034" y="3484405"/>
            <a:ext cx="41148" cy="861318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Text 99">
            <a:extLst>
              <a:ext uri="{FF2B5EF4-FFF2-40B4-BE49-F238E27FC236}">
                <a16:creationId xmlns:a16="http://schemas.microsoft.com/office/drawing/2014/main" id="{1D5D2166-A329-FCA9-8DE7-CFC948A28913}"/>
              </a:ext>
            </a:extLst>
          </p:cNvPr>
          <p:cNvSpPr/>
          <p:nvPr/>
        </p:nvSpPr>
        <p:spPr>
          <a:xfrm>
            <a:off x="603614" y="3541264"/>
            <a:ext cx="4142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F3841F13-1681-915B-7125-458EB01BECD1}"/>
              </a:ext>
            </a:extLst>
          </p:cNvPr>
          <p:cNvSpPr/>
          <p:nvPr/>
        </p:nvSpPr>
        <p:spPr>
          <a:xfrm>
            <a:off x="618128" y="3657849"/>
            <a:ext cx="3758577" cy="664677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감리 단계 결함이 매 차수 지속 발생하는 패턴은 선행 단계 인수 기준 미충족 문제. 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조치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미완료건을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포함해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후속 단계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진입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전 집중 조치 필요.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Shape 101">
            <a:extLst>
              <a:ext uri="{FF2B5EF4-FFF2-40B4-BE49-F238E27FC236}">
                <a16:creationId xmlns:a16="http://schemas.microsoft.com/office/drawing/2014/main" id="{5010F782-3076-0D77-4430-ABF8D9C57AC5}"/>
              </a:ext>
            </a:extLst>
          </p:cNvPr>
          <p:cNvSpPr/>
          <p:nvPr/>
        </p:nvSpPr>
        <p:spPr>
          <a:xfrm>
            <a:off x="4666019" y="788270"/>
            <a:ext cx="4009669" cy="3861453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Shape 102">
            <a:extLst>
              <a:ext uri="{FF2B5EF4-FFF2-40B4-BE49-F238E27FC236}">
                <a16:creationId xmlns:a16="http://schemas.microsoft.com/office/drawing/2014/main" id="{6D4611DF-2BA3-0AF8-0C36-AB5F97F352F7}"/>
              </a:ext>
            </a:extLst>
          </p:cNvPr>
          <p:cNvSpPr/>
          <p:nvPr/>
        </p:nvSpPr>
        <p:spPr>
          <a:xfrm>
            <a:off x="4666019" y="788271"/>
            <a:ext cx="4009669" cy="19202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Text 103">
            <a:extLst>
              <a:ext uri="{FF2B5EF4-FFF2-40B4-BE49-F238E27FC236}">
                <a16:creationId xmlns:a16="http://schemas.microsoft.com/office/drawing/2014/main" id="{E4670D0A-4B18-6AEE-4430-426CE027E692}"/>
              </a:ext>
            </a:extLst>
          </p:cNvPr>
          <p:cNvSpPr/>
          <p:nvPr/>
        </p:nvSpPr>
        <p:spPr>
          <a:xfrm>
            <a:off x="4788670" y="801987"/>
            <a:ext cx="954786" cy="17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자원배정(RS)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Shape 104">
            <a:extLst>
              <a:ext uri="{FF2B5EF4-FFF2-40B4-BE49-F238E27FC236}">
                <a16:creationId xmlns:a16="http://schemas.microsoft.com/office/drawing/2014/main" id="{892D4AFF-9E30-60AE-6A4E-E39C3A18782C}"/>
              </a:ext>
            </a:extLst>
          </p:cNvPr>
          <p:cNvSpPr/>
          <p:nvPr/>
        </p:nvSpPr>
        <p:spPr>
          <a:xfrm>
            <a:off x="7975134" y="815703"/>
            <a:ext cx="534924" cy="137160"/>
          </a:xfrm>
          <a:prstGeom prst="rect">
            <a:avLst/>
          </a:prstGeom>
          <a:solidFill>
            <a:srgbClr val="FFF0E0"/>
          </a:solidFill>
          <a:ln w="12700">
            <a:solidFill>
              <a:srgbClr val="C55A11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55A11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08" name="Shape 106">
            <a:extLst>
              <a:ext uri="{FF2B5EF4-FFF2-40B4-BE49-F238E27FC236}">
                <a16:creationId xmlns:a16="http://schemas.microsoft.com/office/drawing/2014/main" id="{0346654F-2458-A875-1A9D-3FE776DD9397}"/>
              </a:ext>
            </a:extLst>
          </p:cNvPr>
          <p:cNvSpPr/>
          <p:nvPr/>
        </p:nvSpPr>
        <p:spPr>
          <a:xfrm>
            <a:off x="4759642" y="1102068"/>
            <a:ext cx="1161606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Text 107">
            <a:extLst>
              <a:ext uri="{FF2B5EF4-FFF2-40B4-BE49-F238E27FC236}">
                <a16:creationId xmlns:a16="http://schemas.microsoft.com/office/drawing/2014/main" id="{F4E5C9B4-18C0-466A-D182-90665DEC1E93}"/>
              </a:ext>
            </a:extLst>
          </p:cNvPr>
          <p:cNvSpPr/>
          <p:nvPr/>
        </p:nvSpPr>
        <p:spPr>
          <a:xfrm>
            <a:off x="4948328" y="1108926"/>
            <a:ext cx="7995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325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Text 108">
            <a:extLst>
              <a:ext uri="{FF2B5EF4-FFF2-40B4-BE49-F238E27FC236}">
                <a16:creationId xmlns:a16="http://schemas.microsoft.com/office/drawing/2014/main" id="{D5400608-5525-A408-71F5-71D7F48C40C8}"/>
              </a:ext>
            </a:extLst>
          </p:cNvPr>
          <p:cNvSpPr/>
          <p:nvPr/>
        </p:nvSpPr>
        <p:spPr>
          <a:xfrm>
            <a:off x="4933814" y="1300949"/>
            <a:ext cx="857131" cy="171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1" name="Shape 109">
            <a:extLst>
              <a:ext uri="{FF2B5EF4-FFF2-40B4-BE49-F238E27FC236}">
                <a16:creationId xmlns:a16="http://schemas.microsoft.com/office/drawing/2014/main" id="{F9BC64F9-D679-CA27-51B2-1E095DC22286}"/>
              </a:ext>
            </a:extLst>
          </p:cNvPr>
          <p:cNvSpPr/>
          <p:nvPr/>
        </p:nvSpPr>
        <p:spPr>
          <a:xfrm>
            <a:off x="6109363" y="1102068"/>
            <a:ext cx="1161606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2" name="Text 110">
            <a:extLst>
              <a:ext uri="{FF2B5EF4-FFF2-40B4-BE49-F238E27FC236}">
                <a16:creationId xmlns:a16="http://schemas.microsoft.com/office/drawing/2014/main" id="{4516D308-42D0-C350-5A38-E01664A59124}"/>
              </a:ext>
            </a:extLst>
          </p:cNvPr>
          <p:cNvSpPr/>
          <p:nvPr/>
        </p:nvSpPr>
        <p:spPr>
          <a:xfrm>
            <a:off x="6298049" y="1108926"/>
            <a:ext cx="7995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187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4" name="Shape 112">
            <a:extLst>
              <a:ext uri="{FF2B5EF4-FFF2-40B4-BE49-F238E27FC236}">
                <a16:creationId xmlns:a16="http://schemas.microsoft.com/office/drawing/2014/main" id="{EDFD3271-1E5D-EA30-3DE0-8777174D3712}"/>
              </a:ext>
            </a:extLst>
          </p:cNvPr>
          <p:cNvSpPr/>
          <p:nvPr/>
        </p:nvSpPr>
        <p:spPr>
          <a:xfrm>
            <a:off x="7422799" y="1102068"/>
            <a:ext cx="1161606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5" name="Text 113">
            <a:extLst>
              <a:ext uri="{FF2B5EF4-FFF2-40B4-BE49-F238E27FC236}">
                <a16:creationId xmlns:a16="http://schemas.microsoft.com/office/drawing/2014/main" id="{6C154021-D40A-A2E1-3C3F-DE284F85931C}"/>
              </a:ext>
            </a:extLst>
          </p:cNvPr>
          <p:cNvSpPr/>
          <p:nvPr/>
        </p:nvSpPr>
        <p:spPr>
          <a:xfrm>
            <a:off x="7611485" y="1108926"/>
            <a:ext cx="7995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161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7" name="Shape 115">
            <a:extLst>
              <a:ext uri="{FF2B5EF4-FFF2-40B4-BE49-F238E27FC236}">
                <a16:creationId xmlns:a16="http://schemas.microsoft.com/office/drawing/2014/main" id="{34B14B76-AC1C-4FA1-1A82-E64BC87B8FE2}"/>
              </a:ext>
            </a:extLst>
          </p:cNvPr>
          <p:cNvSpPr/>
          <p:nvPr/>
        </p:nvSpPr>
        <p:spPr>
          <a:xfrm>
            <a:off x="4774156" y="1666743"/>
            <a:ext cx="41148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8" name="Text 116">
            <a:extLst>
              <a:ext uri="{FF2B5EF4-FFF2-40B4-BE49-F238E27FC236}">
                <a16:creationId xmlns:a16="http://schemas.microsoft.com/office/drawing/2014/main" id="{329FABF6-F31A-7DAF-F169-4D5757CABD2D}"/>
              </a:ext>
            </a:extLst>
          </p:cNvPr>
          <p:cNvSpPr/>
          <p:nvPr/>
        </p:nvSpPr>
        <p:spPr>
          <a:xfrm>
            <a:off x="4842736" y="1666743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9" name="Text 117">
            <a:extLst>
              <a:ext uri="{FF2B5EF4-FFF2-40B4-BE49-F238E27FC236}">
                <a16:creationId xmlns:a16="http://schemas.microsoft.com/office/drawing/2014/main" id="{EE3AD0E5-97D2-89E8-6805-C74AE292F2A2}"/>
              </a:ext>
            </a:extLst>
          </p:cNvPr>
          <p:cNvSpPr/>
          <p:nvPr/>
        </p:nvSpPr>
        <p:spPr>
          <a:xfrm>
            <a:off x="4774156" y="1782531"/>
            <a:ext cx="3810249" cy="651472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자원배정 로직의 복잡성으로 기능 결함 240건 집중. </a:t>
            </a:r>
          </a:p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현업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단계에서 결함이 지속 증가(1-2차 35건→2-1차 39건)</a:t>
            </a: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하는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패턴은</a:t>
            </a:r>
            <a:endParaRPr lang="en-US" sz="800" dirty="0">
              <a:solidFill>
                <a:srgbClr val="555555"/>
              </a:solidFill>
              <a:latin typeface="Rix고딕 L" panose="02020603020101020101" pitchFamily="18" charset="-127"/>
              <a:ea typeface="Rix고딕 L" panose="02020603020101020101" pitchFamily="18" charset="-127"/>
              <a:cs typeface="맑은 고딕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현업 요구사항과 개발 결과물 간 괴리로 판단.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0" name="Shape 118">
            <a:extLst>
              <a:ext uri="{FF2B5EF4-FFF2-40B4-BE49-F238E27FC236}">
                <a16:creationId xmlns:a16="http://schemas.microsoft.com/office/drawing/2014/main" id="{D873B785-AB61-4E4E-12F8-1B713E8710F8}"/>
              </a:ext>
            </a:extLst>
          </p:cNvPr>
          <p:cNvSpPr/>
          <p:nvPr/>
        </p:nvSpPr>
        <p:spPr>
          <a:xfrm>
            <a:off x="4774156" y="2533498"/>
            <a:ext cx="41148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1" name="Text 119">
            <a:extLst>
              <a:ext uri="{FF2B5EF4-FFF2-40B4-BE49-F238E27FC236}">
                <a16:creationId xmlns:a16="http://schemas.microsoft.com/office/drawing/2014/main" id="{8D2E562D-8F59-A6EA-F7CD-234E02B29C0C}"/>
              </a:ext>
            </a:extLst>
          </p:cNvPr>
          <p:cNvSpPr/>
          <p:nvPr/>
        </p:nvSpPr>
        <p:spPr>
          <a:xfrm>
            <a:off x="4842736" y="2533498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2" name="Text 120">
            <a:extLst>
              <a:ext uri="{FF2B5EF4-FFF2-40B4-BE49-F238E27FC236}">
                <a16:creationId xmlns:a16="http://schemas.microsoft.com/office/drawing/2014/main" id="{BEF192FA-5016-3A5F-5A62-08998FA50F93}"/>
              </a:ext>
            </a:extLst>
          </p:cNvPr>
          <p:cNvSpPr/>
          <p:nvPr/>
        </p:nvSpPr>
        <p:spPr>
          <a:xfrm>
            <a:off x="4774156" y="2670658"/>
            <a:ext cx="3077534" cy="721334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기능 결함 240건 — 복잡한 자원 배정 알고리즘 검증 부족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현업 단계 결함 증가 추이 — 업무 이해도 차이 존재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③ 미완료 161건으로 잔존 위험 높음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3" name="Shape 121">
            <a:extLst>
              <a:ext uri="{FF2B5EF4-FFF2-40B4-BE49-F238E27FC236}">
                <a16:creationId xmlns:a16="http://schemas.microsoft.com/office/drawing/2014/main" id="{6D3AA4F5-75D4-18F0-831F-39DC00F9A33F}"/>
              </a:ext>
            </a:extLst>
          </p:cNvPr>
          <p:cNvSpPr/>
          <p:nvPr/>
        </p:nvSpPr>
        <p:spPr>
          <a:xfrm>
            <a:off x="4774156" y="3474348"/>
            <a:ext cx="3766230" cy="875463"/>
          </a:xfrm>
          <a:prstGeom prst="rect">
            <a:avLst/>
          </a:prstGeom>
          <a:solidFill>
            <a:srgbClr val="FFFDE7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4" name="Shape 122">
            <a:extLst>
              <a:ext uri="{FF2B5EF4-FFF2-40B4-BE49-F238E27FC236}">
                <a16:creationId xmlns:a16="http://schemas.microsoft.com/office/drawing/2014/main" id="{9998078D-B206-D680-A571-243D954E855C}"/>
              </a:ext>
            </a:extLst>
          </p:cNvPr>
          <p:cNvSpPr/>
          <p:nvPr/>
        </p:nvSpPr>
        <p:spPr>
          <a:xfrm>
            <a:off x="4774155" y="3474348"/>
            <a:ext cx="45719" cy="905081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5" name="Text 123">
            <a:extLst>
              <a:ext uri="{FF2B5EF4-FFF2-40B4-BE49-F238E27FC236}">
                <a16:creationId xmlns:a16="http://schemas.microsoft.com/office/drawing/2014/main" id="{C4255349-A660-F40D-D166-B4642907FCE4}"/>
              </a:ext>
            </a:extLst>
          </p:cNvPr>
          <p:cNvSpPr/>
          <p:nvPr/>
        </p:nvSpPr>
        <p:spPr>
          <a:xfrm>
            <a:off x="4842736" y="3494923"/>
            <a:ext cx="2453087" cy="162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6" name="Text 124">
            <a:extLst>
              <a:ext uri="{FF2B5EF4-FFF2-40B4-BE49-F238E27FC236}">
                <a16:creationId xmlns:a16="http://schemas.microsoft.com/office/drawing/2014/main" id="{A08445AA-CFBF-6099-2F28-D86B07CD9E58}"/>
              </a:ext>
            </a:extLst>
          </p:cNvPr>
          <p:cNvSpPr/>
          <p:nvPr/>
        </p:nvSpPr>
        <p:spPr>
          <a:xfrm>
            <a:off x="4857250" y="3675876"/>
            <a:ext cx="3568291" cy="581820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현업 단계 결함 증가 패턴은 요구사항 기반 재검토가 필요한 신호. </a:t>
            </a:r>
          </a:p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현업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담당자와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개발팀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간 리뷰 세션 추가 권고.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67B04B81-6F2F-34B6-3C81-71F37AC9AC14}"/>
              </a:ext>
            </a:extLst>
          </p:cNvPr>
          <p:cNvSpPr/>
          <p:nvPr/>
        </p:nvSpPr>
        <p:spPr>
          <a:xfrm>
            <a:off x="2156044" y="1314628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6120E1ED-9962-C869-B829-192F188F0D8D}"/>
              </a:ext>
            </a:extLst>
          </p:cNvPr>
          <p:cNvSpPr/>
          <p:nvPr/>
        </p:nvSpPr>
        <p:spPr>
          <a:xfrm>
            <a:off x="6402470" y="1323191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9" name="Text 90">
            <a:extLst>
              <a:ext uri="{FF2B5EF4-FFF2-40B4-BE49-F238E27FC236}">
                <a16:creationId xmlns:a16="http://schemas.microsoft.com/office/drawing/2014/main" id="{A3E8705B-0DB4-7722-41C0-D869C44E3667}"/>
              </a:ext>
            </a:extLst>
          </p:cNvPr>
          <p:cNvSpPr/>
          <p:nvPr/>
        </p:nvSpPr>
        <p:spPr>
          <a:xfrm>
            <a:off x="7630557" y="1279578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64205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5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단계별 결함 집중도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5394960" y="777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결함 비중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200968" y="1133856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200968" y="1133856"/>
            <a:ext cx="64008" cy="40233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5338128" y="11338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709728" y="1280160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709728" y="1196340"/>
            <a:ext cx="189610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709728" y="11338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208건 (4.9%)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200968" y="1645920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200968" y="1645920"/>
            <a:ext cx="64008" cy="40233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38128" y="16459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3자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709728" y="1792224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709728" y="1702308"/>
            <a:ext cx="900000" cy="12801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7097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882건 (21.0%)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200968" y="2157984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200968" y="2157984"/>
            <a:ext cx="64008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338128" y="21579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709728" y="2304288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709728" y="2191512"/>
            <a:ext cx="190800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709728" y="215798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2007건 (47.8%)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5200968" y="2670048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200968" y="2670048"/>
            <a:ext cx="64008" cy="40233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338128" y="26700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709728" y="2816352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6709728" y="2724912"/>
            <a:ext cx="612000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709728" y="26700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671건 (16.0%)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200968" y="3182112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200968" y="3182112"/>
            <a:ext cx="64008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338128" y="3182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709728" y="3328416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709728" y="3229356"/>
            <a:ext cx="432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709728" y="318211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435건 (10.3%)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432261" y="3911414"/>
            <a:ext cx="824342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02920" y="39273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🔍  핵심 인사이트 — 공사테스트 집중 문제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02920" y="402793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공사테스트에 전체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결함의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47.8%(2,007건)가 집중 — 이는 개발자·PL 단계의 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사전 자체 검증 부재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로 인해 초기 결함이 이월되는 구조적 문제에서 비롯됩니다.
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4.9%(208건)에 불과 → 실질적 검증 없이 공사테스트로 진입하는 관행이 전체 품질 저하의 근본 원인입니다.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F62AE0D-AB47-D65B-52CE-E624A9D88A17}"/>
              </a:ext>
            </a:extLst>
          </p:cNvPr>
          <p:cNvGrpSpPr/>
          <p:nvPr/>
        </p:nvGrpSpPr>
        <p:grpSpPr>
          <a:xfrm>
            <a:off x="381000" y="806958"/>
            <a:ext cx="4690872" cy="2788920"/>
            <a:chOff x="381000" y="806958"/>
            <a:chExt cx="4690872" cy="2788920"/>
          </a:xfrm>
        </p:grpSpPr>
        <p:graphicFrame>
          <p:nvGraphicFramePr>
            <p:cNvPr id="5" name="Chart 0"/>
            <p:cNvGraphicFramePr/>
            <p:nvPr>
              <p:extLst>
                <p:ext uri="{D42A27DB-BD31-4B8C-83A1-F6EECF244321}">
                  <p14:modId xmlns:p14="http://schemas.microsoft.com/office/powerpoint/2010/main" val="1924633383"/>
                </p:ext>
              </p:extLst>
            </p:nvPr>
          </p:nvGraphicFramePr>
          <p:xfrm>
            <a:off x="381000" y="806958"/>
            <a:ext cx="4690872" cy="278892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2" name="Text 41">
              <a:extLst>
                <a:ext uri="{FF2B5EF4-FFF2-40B4-BE49-F238E27FC236}">
                  <a16:creationId xmlns:a16="http://schemas.microsoft.com/office/drawing/2014/main" id="{B6AAC739-2AD5-26DE-F47C-D4957E645393}"/>
                </a:ext>
              </a:extLst>
            </p:cNvPr>
            <p:cNvSpPr/>
            <p:nvPr/>
          </p:nvSpPr>
          <p:spPr>
            <a:xfrm>
              <a:off x="1850100" y="981370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4.9%</a:t>
              </a:r>
            </a:p>
          </p:txBody>
        </p:sp>
        <p:sp>
          <p:nvSpPr>
            <p:cNvPr id="4" name="Text 41">
              <a:extLst>
                <a:ext uri="{FF2B5EF4-FFF2-40B4-BE49-F238E27FC236}">
                  <a16:creationId xmlns:a16="http://schemas.microsoft.com/office/drawing/2014/main" id="{1683786F-4018-989F-9F7D-53BCB14C43DC}"/>
                </a:ext>
              </a:extLst>
            </p:cNvPr>
            <p:cNvSpPr/>
            <p:nvPr/>
          </p:nvSpPr>
          <p:spPr>
            <a:xfrm>
              <a:off x="2974404" y="1359981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21.0%</a:t>
              </a:r>
            </a:p>
          </p:txBody>
        </p:sp>
        <p:sp>
          <p:nvSpPr>
            <p:cNvPr id="40" name="Text 41">
              <a:extLst>
                <a:ext uri="{FF2B5EF4-FFF2-40B4-BE49-F238E27FC236}">
                  <a16:creationId xmlns:a16="http://schemas.microsoft.com/office/drawing/2014/main" id="{A07E9206-6961-4DAE-C657-6EE66861A9BE}"/>
                </a:ext>
              </a:extLst>
            </p:cNvPr>
            <p:cNvSpPr/>
            <p:nvPr/>
          </p:nvSpPr>
          <p:spPr>
            <a:xfrm>
              <a:off x="4567746" y="1803735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rgbClr val="FF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47.8%</a:t>
              </a:r>
            </a:p>
          </p:txBody>
        </p:sp>
        <p:sp>
          <p:nvSpPr>
            <p:cNvPr id="41" name="Text 41">
              <a:extLst>
                <a:ext uri="{FF2B5EF4-FFF2-40B4-BE49-F238E27FC236}">
                  <a16:creationId xmlns:a16="http://schemas.microsoft.com/office/drawing/2014/main" id="{4C8630A9-0F81-F922-E4A7-98946801F496}"/>
                </a:ext>
              </a:extLst>
            </p:cNvPr>
            <p:cNvSpPr/>
            <p:nvPr/>
          </p:nvSpPr>
          <p:spPr>
            <a:xfrm>
              <a:off x="2527554" y="2224906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16.0%</a:t>
              </a:r>
            </a:p>
          </p:txBody>
        </p:sp>
        <p:sp>
          <p:nvSpPr>
            <p:cNvPr id="42" name="Text 41">
              <a:extLst>
                <a:ext uri="{FF2B5EF4-FFF2-40B4-BE49-F238E27FC236}">
                  <a16:creationId xmlns:a16="http://schemas.microsoft.com/office/drawing/2014/main" id="{FB92EA17-F433-376D-7608-D8A39DC1A7E2}"/>
                </a:ext>
              </a:extLst>
            </p:cNvPr>
            <p:cNvSpPr/>
            <p:nvPr/>
          </p:nvSpPr>
          <p:spPr>
            <a:xfrm>
              <a:off x="2247864" y="2634532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10.3%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158520-C2C2-8236-088F-910600340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65F026-113D-808D-DBDE-87AE34CD33E2}"/>
              </a:ext>
            </a:extLst>
          </p:cNvPr>
          <p:cNvSpPr/>
          <p:nvPr/>
        </p:nvSpPr>
        <p:spPr>
          <a:xfrm>
            <a:off x="320040" y="0"/>
            <a:ext cx="7498080" cy="422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 분포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E157BFE-8D11-FB88-2D40-14B6469B5CD4}"/>
              </a:ext>
            </a:extLst>
          </p:cNvPr>
          <p:cNvSpPr/>
          <p:nvPr/>
        </p:nvSpPr>
        <p:spPr>
          <a:xfrm>
            <a:off x="433645" y="772806"/>
            <a:ext cx="8242043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 lIns="18000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2,007건(47.8%)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·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공항운영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(GO)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현업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248건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최다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·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(AC)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PL단계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40건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구조적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이상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21C7F02-BF9C-B135-ECDE-77119DCBDD08}"/>
              </a:ext>
            </a:extLst>
          </p:cNvPr>
          <p:cNvSpPr/>
          <p:nvPr/>
        </p:nvSpPr>
        <p:spPr>
          <a:xfrm>
            <a:off x="433645" y="77280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18F8605C-7CEE-C54F-62A6-7304B5CA93D2}"/>
              </a:ext>
            </a:extLst>
          </p:cNvPr>
          <p:cNvGraphicFramePr/>
          <p:nvPr/>
        </p:nvGraphicFramePr>
        <p:xfrm>
          <a:off x="433644" y="1115568"/>
          <a:ext cx="5235635" cy="3511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>
            <a:extLst>
              <a:ext uri="{FF2B5EF4-FFF2-40B4-BE49-F238E27FC236}">
                <a16:creationId xmlns:a16="http://schemas.microsoft.com/office/drawing/2014/main" id="{88642F70-91D1-691C-8C2C-C582589437C6}"/>
              </a:ext>
            </a:extLst>
          </p:cNvPr>
          <p:cNvSpPr/>
          <p:nvPr/>
        </p:nvSpPr>
        <p:spPr>
          <a:xfrm>
            <a:off x="5852160" y="1115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합계</a:t>
            </a:r>
            <a:endParaRPr lang="en-US" sz="10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69FAA651-E950-174C-D56C-4C1BF123A78A}"/>
              </a:ext>
            </a:extLst>
          </p:cNvPr>
          <p:cNvGrpSpPr/>
          <p:nvPr/>
        </p:nvGrpSpPr>
        <p:grpSpPr>
          <a:xfrm>
            <a:off x="5852160" y="1746525"/>
            <a:ext cx="2823528" cy="274320"/>
            <a:chOff x="5852160" y="1389334"/>
            <a:chExt cx="2823528" cy="274320"/>
          </a:xfrm>
        </p:grpSpPr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107B546C-07FD-E5A6-374A-0F06C8AC37F3}"/>
                </a:ext>
              </a:extLst>
            </p:cNvPr>
            <p:cNvSpPr/>
            <p:nvPr/>
          </p:nvSpPr>
          <p:spPr>
            <a:xfrm>
              <a:off x="5852160" y="1389334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7AC541E9-4918-6B7C-FB74-3445DA224424}"/>
                </a:ext>
              </a:extLst>
            </p:cNvPr>
            <p:cNvSpPr/>
            <p:nvPr/>
          </p:nvSpPr>
          <p:spPr>
            <a:xfrm>
              <a:off x="5852160" y="1389334"/>
              <a:ext cx="64008" cy="274320"/>
            </a:xfrm>
            <a:prstGeom prst="rect">
              <a:avLst/>
            </a:prstGeom>
            <a:solidFill>
              <a:srgbClr val="3B82C4"/>
            </a:solidFill>
            <a:ln w="12700">
              <a:solidFill>
                <a:srgbClr val="3B82C4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53E6BB1E-B06C-660D-A441-6EF9132B163F}"/>
                </a:ext>
              </a:extLst>
            </p:cNvPr>
            <p:cNvSpPr/>
            <p:nvPr/>
          </p:nvSpPr>
          <p:spPr>
            <a:xfrm>
              <a:off x="5989320" y="1555867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6FA4B5DC-0A63-D74F-E8A9-B780164B27B2}"/>
                </a:ext>
              </a:extLst>
            </p:cNvPr>
            <p:cNvSpPr/>
            <p:nvPr/>
          </p:nvSpPr>
          <p:spPr>
            <a:xfrm>
              <a:off x="5989320" y="1555867"/>
              <a:ext cx="748981" cy="59312"/>
            </a:xfrm>
            <a:prstGeom prst="rect">
              <a:avLst/>
            </a:prstGeom>
            <a:solidFill>
              <a:srgbClr val="3B82C4"/>
            </a:solidFill>
            <a:ln w="12700">
              <a:solidFill>
                <a:srgbClr val="3B82C4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1">
              <a:extLst>
                <a:ext uri="{FF2B5EF4-FFF2-40B4-BE49-F238E27FC236}">
                  <a16:creationId xmlns:a16="http://schemas.microsoft.com/office/drawing/2014/main" id="{521827C4-3E6B-DEBB-E59E-FC53E8D1E390}"/>
                </a:ext>
              </a:extLst>
            </p:cNvPr>
            <p:cNvSpPr/>
            <p:nvPr/>
          </p:nvSpPr>
          <p:spPr>
            <a:xfrm>
              <a:off x="5989320" y="1405129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3자테스트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3568163F-676B-F309-30F6-76B7C2BCD164}"/>
                </a:ext>
              </a:extLst>
            </p:cNvPr>
            <p:cNvSpPr/>
            <p:nvPr/>
          </p:nvSpPr>
          <p:spPr>
            <a:xfrm>
              <a:off x="7567629" y="1453618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3B82C4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882건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BFD0C5A4-997F-DE22-D6B0-7EBEFAA70025}"/>
                </a:ext>
              </a:extLst>
            </p:cNvPr>
            <p:cNvSpPr/>
            <p:nvPr/>
          </p:nvSpPr>
          <p:spPr>
            <a:xfrm>
              <a:off x="8165174" y="1458052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3B82C4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24.0%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B547E80-CA50-9F0F-4A27-5DAE3E777B00}"/>
              </a:ext>
            </a:extLst>
          </p:cNvPr>
          <p:cNvGrpSpPr/>
          <p:nvPr/>
        </p:nvGrpSpPr>
        <p:grpSpPr>
          <a:xfrm>
            <a:off x="5852160" y="2100372"/>
            <a:ext cx="2823528" cy="274320"/>
            <a:chOff x="5852160" y="1791670"/>
            <a:chExt cx="2823528" cy="274320"/>
          </a:xfrm>
        </p:grpSpPr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4A28D935-D9D6-3B7A-8393-F679035C2008}"/>
                </a:ext>
              </a:extLst>
            </p:cNvPr>
            <p:cNvSpPr/>
            <p:nvPr/>
          </p:nvSpPr>
          <p:spPr>
            <a:xfrm>
              <a:off x="5852160" y="1791670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5">
              <a:extLst>
                <a:ext uri="{FF2B5EF4-FFF2-40B4-BE49-F238E27FC236}">
                  <a16:creationId xmlns:a16="http://schemas.microsoft.com/office/drawing/2014/main" id="{CD05BCC4-A88B-52B5-FFD7-95AF44E709C8}"/>
                </a:ext>
              </a:extLst>
            </p:cNvPr>
            <p:cNvSpPr/>
            <p:nvPr/>
          </p:nvSpPr>
          <p:spPr>
            <a:xfrm>
              <a:off x="5852160" y="1791670"/>
              <a:ext cx="64008" cy="27432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6">
              <a:extLst>
                <a:ext uri="{FF2B5EF4-FFF2-40B4-BE49-F238E27FC236}">
                  <a16:creationId xmlns:a16="http://schemas.microsoft.com/office/drawing/2014/main" id="{D74755E3-B0CD-8127-FE6A-02CD35725CBA}"/>
                </a:ext>
              </a:extLst>
            </p:cNvPr>
            <p:cNvSpPr/>
            <p:nvPr/>
          </p:nvSpPr>
          <p:spPr>
            <a:xfrm>
              <a:off x="5989320" y="1992838"/>
              <a:ext cx="1211580" cy="45719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Shape 17">
              <a:extLst>
                <a:ext uri="{FF2B5EF4-FFF2-40B4-BE49-F238E27FC236}">
                  <a16:creationId xmlns:a16="http://schemas.microsoft.com/office/drawing/2014/main" id="{EBBA0425-D19F-589E-172E-BB2BFA244F32}"/>
                </a:ext>
              </a:extLst>
            </p:cNvPr>
            <p:cNvSpPr/>
            <p:nvPr/>
          </p:nvSpPr>
          <p:spPr>
            <a:xfrm>
              <a:off x="5989320" y="1958203"/>
              <a:ext cx="1463040" cy="5931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8">
              <a:extLst>
                <a:ext uri="{FF2B5EF4-FFF2-40B4-BE49-F238E27FC236}">
                  <a16:creationId xmlns:a16="http://schemas.microsoft.com/office/drawing/2014/main" id="{6E1ECBB4-1A64-9DB3-3A61-E1C82DDF5D94}"/>
                </a:ext>
              </a:extLst>
            </p:cNvPr>
            <p:cNvSpPr/>
            <p:nvPr/>
          </p:nvSpPr>
          <p:spPr>
            <a:xfrm>
              <a:off x="5989320" y="1807465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19">
              <a:extLst>
                <a:ext uri="{FF2B5EF4-FFF2-40B4-BE49-F238E27FC236}">
                  <a16:creationId xmlns:a16="http://schemas.microsoft.com/office/drawing/2014/main" id="{0E5F53A0-6929-06B3-C8A4-BAFD88C420BB}"/>
                </a:ext>
              </a:extLst>
            </p:cNvPr>
            <p:cNvSpPr/>
            <p:nvPr/>
          </p:nvSpPr>
          <p:spPr>
            <a:xfrm>
              <a:off x="7567629" y="1855954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2,007건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0">
              <a:extLst>
                <a:ext uri="{FF2B5EF4-FFF2-40B4-BE49-F238E27FC236}">
                  <a16:creationId xmlns:a16="http://schemas.microsoft.com/office/drawing/2014/main" id="{34DC41BD-1F29-D2BE-D023-B313745E325A}"/>
                </a:ext>
              </a:extLst>
            </p:cNvPr>
            <p:cNvSpPr/>
            <p:nvPr/>
          </p:nvSpPr>
          <p:spPr>
            <a:xfrm>
              <a:off x="8165174" y="1860388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46.8%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6B99EC32-2B8F-6CF5-1AA1-96A1F8E3DCEC}"/>
              </a:ext>
            </a:extLst>
          </p:cNvPr>
          <p:cNvGrpSpPr/>
          <p:nvPr/>
        </p:nvGrpSpPr>
        <p:grpSpPr>
          <a:xfrm>
            <a:off x="5852160" y="2454219"/>
            <a:ext cx="2823528" cy="274320"/>
            <a:chOff x="5852160" y="2194006"/>
            <a:chExt cx="2823528" cy="274320"/>
          </a:xfrm>
        </p:grpSpPr>
        <p:sp>
          <p:nvSpPr>
            <p:cNvPr id="24" name="Shape 21">
              <a:extLst>
                <a:ext uri="{FF2B5EF4-FFF2-40B4-BE49-F238E27FC236}">
                  <a16:creationId xmlns:a16="http://schemas.microsoft.com/office/drawing/2014/main" id="{B70F5CF3-896A-B8DF-301E-429E262A6323}"/>
                </a:ext>
              </a:extLst>
            </p:cNvPr>
            <p:cNvSpPr/>
            <p:nvPr/>
          </p:nvSpPr>
          <p:spPr>
            <a:xfrm>
              <a:off x="5852160" y="2194006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22">
              <a:extLst>
                <a:ext uri="{FF2B5EF4-FFF2-40B4-BE49-F238E27FC236}">
                  <a16:creationId xmlns:a16="http://schemas.microsoft.com/office/drawing/2014/main" id="{79FB6639-2C3D-8000-1AF7-6EB99605ED29}"/>
                </a:ext>
              </a:extLst>
            </p:cNvPr>
            <p:cNvSpPr/>
            <p:nvPr/>
          </p:nvSpPr>
          <p:spPr>
            <a:xfrm>
              <a:off x="5852160" y="2194006"/>
              <a:ext cx="64008" cy="27432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3">
              <a:extLst>
                <a:ext uri="{FF2B5EF4-FFF2-40B4-BE49-F238E27FC236}">
                  <a16:creationId xmlns:a16="http://schemas.microsoft.com/office/drawing/2014/main" id="{99E6121D-6784-CD60-B233-585E8861E000}"/>
                </a:ext>
              </a:extLst>
            </p:cNvPr>
            <p:cNvSpPr/>
            <p:nvPr/>
          </p:nvSpPr>
          <p:spPr>
            <a:xfrm>
              <a:off x="5989320" y="2360539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12D6851A-67C3-1675-590F-CEC97744D8DF}"/>
                </a:ext>
              </a:extLst>
            </p:cNvPr>
            <p:cNvSpPr/>
            <p:nvPr/>
          </p:nvSpPr>
          <p:spPr>
            <a:xfrm>
              <a:off x="5989320" y="2360539"/>
              <a:ext cx="515668" cy="5931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5972095A-50EF-565A-07C4-440DE58EAB12}"/>
                </a:ext>
              </a:extLst>
            </p:cNvPr>
            <p:cNvSpPr/>
            <p:nvPr/>
          </p:nvSpPr>
          <p:spPr>
            <a:xfrm>
              <a:off x="5989320" y="2209801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6">
              <a:extLst>
                <a:ext uri="{FF2B5EF4-FFF2-40B4-BE49-F238E27FC236}">
                  <a16:creationId xmlns:a16="http://schemas.microsoft.com/office/drawing/2014/main" id="{2CBFF9BA-672C-0A53-7DCB-3CD1E2593A07}"/>
                </a:ext>
              </a:extLst>
            </p:cNvPr>
            <p:cNvSpPr/>
            <p:nvPr/>
          </p:nvSpPr>
          <p:spPr>
            <a:xfrm>
              <a:off x="7567629" y="2258290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671건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7">
              <a:extLst>
                <a:ext uri="{FF2B5EF4-FFF2-40B4-BE49-F238E27FC236}">
                  <a16:creationId xmlns:a16="http://schemas.microsoft.com/office/drawing/2014/main" id="{B22473F2-5AFF-7593-2FED-F99E59EFF505}"/>
                </a:ext>
              </a:extLst>
            </p:cNvPr>
            <p:cNvSpPr/>
            <p:nvPr/>
          </p:nvSpPr>
          <p:spPr>
            <a:xfrm>
              <a:off x="8165174" y="2262724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16.5%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99B6B9F8-3569-3458-2532-6BA38B78A810}"/>
              </a:ext>
            </a:extLst>
          </p:cNvPr>
          <p:cNvGrpSpPr/>
          <p:nvPr/>
        </p:nvGrpSpPr>
        <p:grpSpPr>
          <a:xfrm>
            <a:off x="5852160" y="2808066"/>
            <a:ext cx="2823528" cy="274320"/>
            <a:chOff x="5852160" y="2596342"/>
            <a:chExt cx="2823528" cy="274320"/>
          </a:xfrm>
        </p:grpSpPr>
        <p:sp>
          <p:nvSpPr>
            <p:cNvPr id="31" name="Shape 28">
              <a:extLst>
                <a:ext uri="{FF2B5EF4-FFF2-40B4-BE49-F238E27FC236}">
                  <a16:creationId xmlns:a16="http://schemas.microsoft.com/office/drawing/2014/main" id="{EA719BFF-788D-06D4-1CFE-0160E1BAAA3C}"/>
                </a:ext>
              </a:extLst>
            </p:cNvPr>
            <p:cNvSpPr/>
            <p:nvPr/>
          </p:nvSpPr>
          <p:spPr>
            <a:xfrm>
              <a:off x="5852160" y="2596342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Shape 29">
              <a:extLst>
                <a:ext uri="{FF2B5EF4-FFF2-40B4-BE49-F238E27FC236}">
                  <a16:creationId xmlns:a16="http://schemas.microsoft.com/office/drawing/2014/main" id="{44D1BD23-75E3-EA9A-D430-0C6C0354F82C}"/>
                </a:ext>
              </a:extLst>
            </p:cNvPr>
            <p:cNvSpPr/>
            <p:nvPr/>
          </p:nvSpPr>
          <p:spPr>
            <a:xfrm>
              <a:off x="5852160" y="2596342"/>
              <a:ext cx="64008" cy="274320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0">
              <a:extLst>
                <a:ext uri="{FF2B5EF4-FFF2-40B4-BE49-F238E27FC236}">
                  <a16:creationId xmlns:a16="http://schemas.microsoft.com/office/drawing/2014/main" id="{3FAE4A5A-8B59-8D2B-09ED-8C13904F2F67}"/>
                </a:ext>
              </a:extLst>
            </p:cNvPr>
            <p:cNvSpPr/>
            <p:nvPr/>
          </p:nvSpPr>
          <p:spPr>
            <a:xfrm>
              <a:off x="5989320" y="2762875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Shape 31">
              <a:extLst>
                <a:ext uri="{FF2B5EF4-FFF2-40B4-BE49-F238E27FC236}">
                  <a16:creationId xmlns:a16="http://schemas.microsoft.com/office/drawing/2014/main" id="{F2E0FA40-68F0-1423-4747-D593D09A5F77}"/>
                </a:ext>
              </a:extLst>
            </p:cNvPr>
            <p:cNvSpPr/>
            <p:nvPr/>
          </p:nvSpPr>
          <p:spPr>
            <a:xfrm>
              <a:off x="5989320" y="2797510"/>
              <a:ext cx="246688" cy="59312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2">
              <a:extLst>
                <a:ext uri="{FF2B5EF4-FFF2-40B4-BE49-F238E27FC236}">
                  <a16:creationId xmlns:a16="http://schemas.microsoft.com/office/drawing/2014/main" id="{7BF993C8-4B21-ECEB-A0B3-10DF92BEFBEB}"/>
                </a:ext>
              </a:extLst>
            </p:cNvPr>
            <p:cNvSpPr/>
            <p:nvPr/>
          </p:nvSpPr>
          <p:spPr>
            <a:xfrm>
              <a:off x="5989320" y="2612137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3">
              <a:extLst>
                <a:ext uri="{FF2B5EF4-FFF2-40B4-BE49-F238E27FC236}">
                  <a16:creationId xmlns:a16="http://schemas.microsoft.com/office/drawing/2014/main" id="{7F402274-1516-90F8-4DDD-B9ED13CA138E}"/>
                </a:ext>
              </a:extLst>
            </p:cNvPr>
            <p:cNvSpPr/>
            <p:nvPr/>
          </p:nvSpPr>
          <p:spPr>
            <a:xfrm>
              <a:off x="7567629" y="2660626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435건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4">
              <a:extLst>
                <a:ext uri="{FF2B5EF4-FFF2-40B4-BE49-F238E27FC236}">
                  <a16:creationId xmlns:a16="http://schemas.microsoft.com/office/drawing/2014/main" id="{2842DD44-8652-F607-1C26-00A48760A180}"/>
                </a:ext>
              </a:extLst>
            </p:cNvPr>
            <p:cNvSpPr/>
            <p:nvPr/>
          </p:nvSpPr>
          <p:spPr>
            <a:xfrm>
              <a:off x="8165174" y="2665060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7.9%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45" name="Shape 42">
            <a:extLst>
              <a:ext uri="{FF2B5EF4-FFF2-40B4-BE49-F238E27FC236}">
                <a16:creationId xmlns:a16="http://schemas.microsoft.com/office/drawing/2014/main" id="{252D17A2-F653-DA72-091B-761D83606480}"/>
              </a:ext>
            </a:extLst>
          </p:cNvPr>
          <p:cNvSpPr/>
          <p:nvPr/>
        </p:nvSpPr>
        <p:spPr>
          <a:xfrm>
            <a:off x="5852161" y="3275212"/>
            <a:ext cx="2823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E55D8329-9F86-A54E-61C9-9A3A088B7813}"/>
              </a:ext>
            </a:extLst>
          </p:cNvPr>
          <p:cNvSpPr/>
          <p:nvPr/>
        </p:nvSpPr>
        <p:spPr>
          <a:xfrm>
            <a:off x="5961888" y="3275212"/>
            <a:ext cx="1962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주요 특징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04F714BA-D9AE-FC53-2C6D-9E49FFB0271C}"/>
              </a:ext>
            </a:extLst>
          </p:cNvPr>
          <p:cNvSpPr/>
          <p:nvPr/>
        </p:nvSpPr>
        <p:spPr>
          <a:xfrm>
            <a:off x="5852160" y="3602182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0EBAEFFB-0BD4-1F73-2A9A-BCB518AE445D}"/>
              </a:ext>
            </a:extLst>
          </p:cNvPr>
          <p:cNvSpPr/>
          <p:nvPr/>
        </p:nvSpPr>
        <p:spPr>
          <a:xfrm>
            <a:off x="5852160" y="3602182"/>
            <a:ext cx="54864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F34D97B-0D6D-F368-4816-9F93D8A8E6F5}"/>
              </a:ext>
            </a:extLst>
          </p:cNvPr>
          <p:cNvSpPr/>
          <p:nvPr/>
        </p:nvSpPr>
        <p:spPr>
          <a:xfrm>
            <a:off x="5971032" y="36021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E1960791-2907-7339-82C1-D528E50C496A}"/>
              </a:ext>
            </a:extLst>
          </p:cNvPr>
          <p:cNvSpPr/>
          <p:nvPr/>
        </p:nvSpPr>
        <p:spPr>
          <a:xfrm>
            <a:off x="6766561" y="360218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248건 최다 — 데이터 22.3% · ASIS 정합성 집중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2752234-7327-1E24-511F-8B01223EB479}"/>
              </a:ext>
            </a:extLst>
          </p:cNvPr>
          <p:cNvSpPr/>
          <p:nvPr/>
        </p:nvSpPr>
        <p:spPr>
          <a:xfrm>
            <a:off x="5852160" y="3913078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089FB7BD-1A60-AF55-113E-1CA34AEF366E}"/>
              </a:ext>
            </a:extLst>
          </p:cNvPr>
          <p:cNvSpPr/>
          <p:nvPr/>
        </p:nvSpPr>
        <p:spPr>
          <a:xfrm>
            <a:off x="5852160" y="3913078"/>
            <a:ext cx="54864" cy="256032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E3BC1257-4422-5251-830F-E6D6CD9B88C9}"/>
              </a:ext>
            </a:extLst>
          </p:cNvPr>
          <p:cNvSpPr/>
          <p:nvPr/>
        </p:nvSpPr>
        <p:spPr>
          <a:xfrm>
            <a:off x="5971032" y="391307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1759413D-0EBD-38D7-09D6-337EC05F0A17}"/>
              </a:ext>
            </a:extLst>
          </p:cNvPr>
          <p:cNvSpPr/>
          <p:nvPr/>
        </p:nvSpPr>
        <p:spPr>
          <a:xfrm>
            <a:off x="6766561" y="391307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99건 · PL 40건 — 구조적 품질 이상 · 기능 73.6%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93FB64FF-A845-2BF0-0E1C-BB1D86789631}"/>
              </a:ext>
            </a:extLst>
          </p:cNvPr>
          <p:cNvSpPr/>
          <p:nvPr/>
        </p:nvSpPr>
        <p:spPr>
          <a:xfrm>
            <a:off x="5852160" y="4223974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90B5BCB4-F8D7-D7F3-CB7B-981A3D1791B7}"/>
              </a:ext>
            </a:extLst>
          </p:cNvPr>
          <p:cNvSpPr/>
          <p:nvPr/>
        </p:nvSpPr>
        <p:spPr>
          <a:xfrm>
            <a:off x="5852160" y="4223974"/>
            <a:ext cx="54864" cy="25603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ABCBC85-156F-5869-F058-14690BB3BBE3}"/>
              </a:ext>
            </a:extLst>
          </p:cNvPr>
          <p:cNvSpPr/>
          <p:nvPr/>
        </p:nvSpPr>
        <p:spPr>
          <a:xfrm>
            <a:off x="5971032" y="422397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9A3D1C2D-93CB-ACC9-0381-31ACAACEEC4C}"/>
              </a:ext>
            </a:extLst>
          </p:cNvPr>
          <p:cNvSpPr/>
          <p:nvPr/>
        </p:nvSpPr>
        <p:spPr>
          <a:xfrm>
            <a:off x="6766561" y="4223974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223건 집중 — UI 39.4% 화면 표준 미준수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41F215C1-A66E-7DB4-FD30-33849A75A7D4}"/>
              </a:ext>
            </a:extLst>
          </p:cNvPr>
          <p:cNvSpPr/>
          <p:nvPr/>
        </p:nvSpPr>
        <p:spPr>
          <a:xfrm>
            <a:off x="5852160" y="4534870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7062616D-DCE1-BCBA-E838-4075167D1AB3}"/>
              </a:ext>
            </a:extLst>
          </p:cNvPr>
          <p:cNvSpPr/>
          <p:nvPr/>
        </p:nvSpPr>
        <p:spPr>
          <a:xfrm>
            <a:off x="5852160" y="4534870"/>
            <a:ext cx="54864" cy="25603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722D2641-990A-C269-B0DA-4694198ED6AF}"/>
              </a:ext>
            </a:extLst>
          </p:cNvPr>
          <p:cNvSpPr/>
          <p:nvPr/>
        </p:nvSpPr>
        <p:spPr>
          <a:xfrm>
            <a:off x="5971032" y="453487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4C229075-10B9-2B56-49CA-9B61EF012B19}"/>
              </a:ext>
            </a:extLst>
          </p:cNvPr>
          <p:cNvSpPr/>
          <p:nvPr/>
        </p:nvSpPr>
        <p:spPr>
          <a:xfrm>
            <a:off x="6766561" y="4534870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0건→ 하위 단계 TC 커버리지 부족 가능성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C8CDE0DD-2896-5F02-1EAA-6BECD1051DFA}"/>
              </a:ext>
            </a:extLst>
          </p:cNvPr>
          <p:cNvSpPr/>
          <p:nvPr/>
        </p:nvSpPr>
        <p:spPr>
          <a:xfrm>
            <a:off x="431800" y="4567982"/>
            <a:ext cx="46458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합계 : 3자 1,008 + 공사 1,969 + 현업 694 + 감리 332 + PL 200 = 4,203건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1B41C38-9BCC-47C7-F8B2-97C3D49D8D24}"/>
              </a:ext>
            </a:extLst>
          </p:cNvPr>
          <p:cNvGrpSpPr/>
          <p:nvPr/>
        </p:nvGrpSpPr>
        <p:grpSpPr>
          <a:xfrm>
            <a:off x="5852161" y="1417273"/>
            <a:ext cx="2823528" cy="274320"/>
            <a:chOff x="5852160" y="2998678"/>
            <a:chExt cx="2823528" cy="274320"/>
          </a:xfrm>
        </p:grpSpPr>
        <p:sp>
          <p:nvSpPr>
            <p:cNvPr id="4" name="Shape 35">
              <a:extLst>
                <a:ext uri="{FF2B5EF4-FFF2-40B4-BE49-F238E27FC236}">
                  <a16:creationId xmlns:a16="http://schemas.microsoft.com/office/drawing/2014/main" id="{E99B09CD-D964-E789-908F-4A5B1480CEC7}"/>
                </a:ext>
              </a:extLst>
            </p:cNvPr>
            <p:cNvSpPr/>
            <p:nvPr/>
          </p:nvSpPr>
          <p:spPr>
            <a:xfrm>
              <a:off x="5852160" y="2998678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Shape 36">
              <a:extLst>
                <a:ext uri="{FF2B5EF4-FFF2-40B4-BE49-F238E27FC236}">
                  <a16:creationId xmlns:a16="http://schemas.microsoft.com/office/drawing/2014/main" id="{E2B3E505-553A-BE75-879F-32C89C466BCE}"/>
                </a:ext>
              </a:extLst>
            </p:cNvPr>
            <p:cNvSpPr/>
            <p:nvPr/>
          </p:nvSpPr>
          <p:spPr>
            <a:xfrm>
              <a:off x="5852160" y="2998678"/>
              <a:ext cx="64008" cy="274320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Shape 37">
              <a:extLst>
                <a:ext uri="{FF2B5EF4-FFF2-40B4-BE49-F238E27FC236}">
                  <a16:creationId xmlns:a16="http://schemas.microsoft.com/office/drawing/2014/main" id="{48EEE3A4-9352-824D-3F0A-5BB5669A9B64}"/>
                </a:ext>
              </a:extLst>
            </p:cNvPr>
            <p:cNvSpPr/>
            <p:nvPr/>
          </p:nvSpPr>
          <p:spPr>
            <a:xfrm>
              <a:off x="5989320" y="3165211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Shape 38">
              <a:extLst>
                <a:ext uri="{FF2B5EF4-FFF2-40B4-BE49-F238E27FC236}">
                  <a16:creationId xmlns:a16="http://schemas.microsoft.com/office/drawing/2014/main" id="{4C10E666-5FAE-5656-30AC-79B7134FF3E0}"/>
                </a:ext>
              </a:extLst>
            </p:cNvPr>
            <p:cNvSpPr/>
            <p:nvPr/>
          </p:nvSpPr>
          <p:spPr>
            <a:xfrm>
              <a:off x="5989320" y="3165211"/>
              <a:ext cx="148607" cy="59312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1" name="Text 39">
              <a:extLst>
                <a:ext uri="{FF2B5EF4-FFF2-40B4-BE49-F238E27FC236}">
                  <a16:creationId xmlns:a16="http://schemas.microsoft.com/office/drawing/2014/main" id="{6746F369-7F20-BACA-B65E-0A42E48C0D81}"/>
                </a:ext>
              </a:extLst>
            </p:cNvPr>
            <p:cNvSpPr/>
            <p:nvPr/>
          </p:nvSpPr>
          <p:spPr>
            <a:xfrm>
              <a:off x="5989320" y="3014473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PL등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2" name="Text 40">
              <a:extLst>
                <a:ext uri="{FF2B5EF4-FFF2-40B4-BE49-F238E27FC236}">
                  <a16:creationId xmlns:a16="http://schemas.microsoft.com/office/drawing/2014/main" id="{B2B65141-3CA2-D6F9-309A-DD21833054EA}"/>
                </a:ext>
              </a:extLst>
            </p:cNvPr>
            <p:cNvSpPr/>
            <p:nvPr/>
          </p:nvSpPr>
          <p:spPr>
            <a:xfrm>
              <a:off x="7567629" y="3062962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208건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3" name="Text 41">
              <a:extLst>
                <a:ext uri="{FF2B5EF4-FFF2-40B4-BE49-F238E27FC236}">
                  <a16:creationId xmlns:a16="http://schemas.microsoft.com/office/drawing/2014/main" id="{2397D8FC-A7BD-71B2-A178-5DB4D208019E}"/>
                </a:ext>
              </a:extLst>
            </p:cNvPr>
            <p:cNvSpPr/>
            <p:nvPr/>
          </p:nvSpPr>
          <p:spPr>
            <a:xfrm>
              <a:off x="8165174" y="3067396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4.8%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6732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-4155"/>
            <a:ext cx="7680960" cy="439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 및 잔여 차수 시사점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5" y="775023"/>
            <a:ext cx="4789516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5864" y="1106425"/>
            <a:ext cx="2322576" cy="118144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6720" y="1115568"/>
            <a:ext cx="2322576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36448" y="120700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</a:t>
            </a:r>
            <a:endParaRPr lang="en-US" sz="13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10768" y="120700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 집중 현상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36448" y="14719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49.7%</a:t>
            </a:r>
            <a:endParaRPr lang="en-US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25168" y="1668504"/>
            <a:ext cx="1082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1,969건 / 4,203건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8412" y="1883112"/>
            <a:ext cx="2221992" cy="376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사전 검증 부재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→ 초기 결함 이월 구조 고착화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880360" y="1115569"/>
            <a:ext cx="2322576" cy="118144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880360" y="1115568"/>
            <a:ext cx="2322576" cy="5486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90088" y="120700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</a:t>
            </a:r>
            <a:endParaRPr lang="en-US" sz="13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압도적 집중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90088" y="14719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61.8%</a:t>
            </a:r>
            <a:endParaRPr lang="en-US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51930" y="1668504"/>
            <a:ext cx="102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2,685건 / 4,648건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76372" y="1916640"/>
            <a:ext cx="2221992" cy="322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요구사항 분석 미흡·개발 </a:t>
            </a:r>
            <a:r>
              <a:rPr lang="en-US" sz="8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로직</a:t>
            </a: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오류가</a:t>
            </a: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주원인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21" name="Chart 0"/>
          <p:cNvGraphicFramePr/>
          <p:nvPr>
            <p:extLst>
              <p:ext uri="{D42A27DB-BD31-4B8C-83A1-F6EECF244321}">
                <p14:modId xmlns:p14="http://schemas.microsoft.com/office/powerpoint/2010/main" val="350395643"/>
              </p:ext>
            </p:extLst>
          </p:nvPr>
        </p:nvGraphicFramePr>
        <p:xfrm>
          <a:off x="387377" y="2308376"/>
          <a:ext cx="2322576" cy="1003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/>
          <p:cNvGraphicFramePr/>
          <p:nvPr>
            <p:extLst>
              <p:ext uri="{D42A27DB-BD31-4B8C-83A1-F6EECF244321}">
                <p14:modId xmlns:p14="http://schemas.microsoft.com/office/powerpoint/2010/main" val="426688553"/>
              </p:ext>
            </p:extLst>
          </p:nvPr>
        </p:nvGraphicFramePr>
        <p:xfrm>
          <a:off x="2880361" y="2294453"/>
          <a:ext cx="2233103" cy="1017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73" name="그룹 72">
            <a:extLst>
              <a:ext uri="{FF2B5EF4-FFF2-40B4-BE49-F238E27FC236}">
                <a16:creationId xmlns:a16="http://schemas.microsoft.com/office/drawing/2014/main" id="{35E202DA-2BBD-9529-2915-57139C42389A}"/>
              </a:ext>
            </a:extLst>
          </p:cNvPr>
          <p:cNvGrpSpPr/>
          <p:nvPr/>
        </p:nvGrpSpPr>
        <p:grpSpPr>
          <a:xfrm>
            <a:off x="439743" y="3453248"/>
            <a:ext cx="1609344" cy="804672"/>
            <a:chOff x="274320" y="4005072"/>
            <a:chExt cx="1609344" cy="804672"/>
          </a:xfrm>
        </p:grpSpPr>
        <p:sp>
          <p:nvSpPr>
            <p:cNvPr id="23" name="Shape 19"/>
            <p:cNvSpPr/>
            <p:nvPr/>
          </p:nvSpPr>
          <p:spPr>
            <a:xfrm>
              <a:off x="274320" y="4005072"/>
              <a:ext cx="1572768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0"/>
            <p:cNvSpPr/>
            <p:nvPr/>
          </p:nvSpPr>
          <p:spPr>
            <a:xfrm>
              <a:off x="274320" y="4005072"/>
              <a:ext cx="64008" cy="804672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1"/>
            <p:cNvSpPr/>
            <p:nvPr/>
          </p:nvSpPr>
          <p:spPr>
            <a:xfrm>
              <a:off x="420624" y="4050792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8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 복수단계 반복 결함</a:t>
              </a:r>
              <a:endParaRPr lang="en-US" sz="78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22"/>
            <p:cNvSpPr/>
            <p:nvPr/>
          </p:nvSpPr>
          <p:spPr>
            <a:xfrm>
              <a:off x="420624" y="4242816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</a:t>
              </a:r>
              <a:endParaRPr lang="en-US" sz="16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3"/>
            <p:cNvSpPr/>
            <p:nvPr/>
          </p:nvSpPr>
          <p:spPr>
            <a:xfrm>
              <a:off x="1060704" y="4311396"/>
              <a:ext cx="720714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667개 시나리오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4"/>
            <p:cNvSpPr/>
            <p:nvPr/>
          </p:nvSpPr>
          <p:spPr>
            <a:xfrm>
              <a:off x="420624" y="4553712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 이월 구조 고착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 확인 프로세스 부재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9" name="Shape 25"/>
          <p:cNvSpPr/>
          <p:nvPr/>
        </p:nvSpPr>
        <p:spPr>
          <a:xfrm>
            <a:off x="2045208" y="3453248"/>
            <a:ext cx="1572768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2045208" y="3453248"/>
            <a:ext cx="64008" cy="80467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2191512" y="34989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 </a:t>
            </a:r>
            <a:r>
              <a:rPr lang="ko-KR" alt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30.9% 잔존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2191512" y="3690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2187633" y="398311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감리 전 </a:t>
            </a:r>
            <a:r>
              <a:rPr lang="en-US" sz="7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전수</a:t>
            </a: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해소</a:t>
            </a:r>
            <a:r>
              <a:rPr lang="ko-KR" alt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를 통한 재결함 여부 확인</a:t>
            </a: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시급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1"/>
          <p:cNvSpPr/>
          <p:nvPr/>
        </p:nvSpPr>
        <p:spPr>
          <a:xfrm>
            <a:off x="3810000" y="3453248"/>
            <a:ext cx="1572768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157C528B-B45C-1333-7078-F52D183542DF}"/>
              </a:ext>
            </a:extLst>
          </p:cNvPr>
          <p:cNvGrpSpPr/>
          <p:nvPr/>
        </p:nvGrpSpPr>
        <p:grpSpPr>
          <a:xfrm>
            <a:off x="3810000" y="3453248"/>
            <a:ext cx="1728216" cy="804672"/>
            <a:chOff x="3803904" y="4005072"/>
            <a:chExt cx="1728216" cy="804672"/>
          </a:xfrm>
        </p:grpSpPr>
        <p:sp>
          <p:nvSpPr>
            <p:cNvPr id="36" name="Shape 32"/>
            <p:cNvSpPr/>
            <p:nvPr/>
          </p:nvSpPr>
          <p:spPr>
            <a:xfrm>
              <a:off x="3803904" y="4005072"/>
              <a:ext cx="64008" cy="804672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45382C8-86C3-DED1-072D-7A62C0AB66A6}"/>
                </a:ext>
              </a:extLst>
            </p:cNvPr>
            <p:cNvGrpSpPr/>
            <p:nvPr/>
          </p:nvGrpSpPr>
          <p:grpSpPr>
            <a:xfrm>
              <a:off x="3950208" y="4050792"/>
              <a:ext cx="1581912" cy="712470"/>
              <a:chOff x="3950208" y="4050792"/>
              <a:chExt cx="1581912" cy="712470"/>
            </a:xfrm>
          </p:grpSpPr>
          <p:sp>
            <p:nvSpPr>
              <p:cNvPr id="37" name="Text 33"/>
              <p:cNvSpPr/>
              <p:nvPr/>
            </p:nvSpPr>
            <p:spPr>
              <a:xfrm>
                <a:off x="3950208" y="4050792"/>
                <a:ext cx="1463040" cy="201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80" b="1" dirty="0">
                    <a:solidFill>
                      <a:srgbClr val="9CA3A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⑤  결함기각 최다 — 공항운영</a:t>
                </a:r>
                <a:endParaRPr lang="en-US" sz="78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38" name="Text 34"/>
              <p:cNvSpPr/>
              <p:nvPr/>
            </p:nvSpPr>
            <p:spPr>
              <a:xfrm>
                <a:off x="3950208" y="4242816"/>
                <a:ext cx="146304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57건</a:t>
                </a:r>
                <a:endParaRPr lang="en-US" sz="16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39" name="Text 35"/>
              <p:cNvSpPr/>
              <p:nvPr/>
            </p:nvSpPr>
            <p:spPr>
              <a:xfrm>
                <a:off x="4404637" y="4374157"/>
                <a:ext cx="1127483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50" dirty="0">
                    <a:solidFill>
                      <a:srgbClr val="9CA3A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총 기각 445건 중 최다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40" name="Text 36"/>
              <p:cNvSpPr/>
              <p:nvPr/>
            </p:nvSpPr>
            <p:spPr>
              <a:xfrm>
                <a:off x="3950208" y="4562094"/>
                <a:ext cx="1321448" cy="201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50" dirty="0">
                    <a:solidFill>
                      <a:srgbClr val="4B5563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테스터 간 결함 인정 기준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  <a:p>
                <a:pPr marL="0" indent="0">
                  <a:buNone/>
                </a:pPr>
                <a:r>
                  <a:rPr lang="en-US" sz="750" dirty="0">
                    <a:solidFill>
                      <a:srgbClr val="4B5563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불일치 가능성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</p:grpSp>
      <p:sp>
        <p:nvSpPr>
          <p:cNvPr id="41" name="Shape 37"/>
          <p:cNvSpPr/>
          <p:nvPr/>
        </p:nvSpPr>
        <p:spPr>
          <a:xfrm>
            <a:off x="5623560" y="775023"/>
            <a:ext cx="30521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5742432" y="76809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잔여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차수(2-3차) 대비 시사점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783658F-0D09-7050-EF97-A0ACA7AA5E2C}"/>
              </a:ext>
            </a:extLst>
          </p:cNvPr>
          <p:cNvGrpSpPr/>
          <p:nvPr/>
        </p:nvGrpSpPr>
        <p:grpSpPr>
          <a:xfrm>
            <a:off x="5623560" y="1115568"/>
            <a:ext cx="3052128" cy="694944"/>
            <a:chOff x="5623560" y="1115568"/>
            <a:chExt cx="3052128" cy="694944"/>
          </a:xfrm>
        </p:grpSpPr>
        <p:sp>
          <p:nvSpPr>
            <p:cNvPr id="43" name="Shape 39"/>
            <p:cNvSpPr/>
            <p:nvPr/>
          </p:nvSpPr>
          <p:spPr>
            <a:xfrm>
              <a:off x="5623560" y="1115568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4" name="Shape 40"/>
            <p:cNvSpPr/>
            <p:nvPr/>
          </p:nvSpPr>
          <p:spPr>
            <a:xfrm>
              <a:off x="5623560" y="1115568"/>
              <a:ext cx="64008" cy="69494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Shape 41"/>
            <p:cNvSpPr/>
            <p:nvPr/>
          </p:nvSpPr>
          <p:spPr>
            <a:xfrm>
              <a:off x="7833638" y="1188720"/>
              <a:ext cx="748792" cy="201168"/>
            </a:xfrm>
            <a:prstGeom prst="roundRect">
              <a:avLst>
                <a:gd name="adj" fmla="val 27273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HIGH RISK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47" name="Text 43"/>
            <p:cNvSpPr/>
            <p:nvPr/>
          </p:nvSpPr>
          <p:spPr>
            <a:xfrm>
              <a:off x="5760720" y="1170432"/>
              <a:ext cx="212140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미결 결함 이월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8" name="Text 44"/>
            <p:cNvSpPr/>
            <p:nvPr/>
          </p:nvSpPr>
          <p:spPr>
            <a:xfrm>
              <a:off x="5760720" y="1389888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1,735건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9" name="Text 45"/>
            <p:cNvSpPr/>
            <p:nvPr/>
          </p:nvSpPr>
          <p:spPr>
            <a:xfrm>
              <a:off x="7059168" y="1415656"/>
              <a:ext cx="1548384" cy="3297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현재 미결 결함이 2-3차 이월 시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 단계 결함 급증 예상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54488DAE-18B7-B994-847E-DE217A424744}"/>
              </a:ext>
            </a:extLst>
          </p:cNvPr>
          <p:cNvGrpSpPr/>
          <p:nvPr/>
        </p:nvGrpSpPr>
        <p:grpSpPr>
          <a:xfrm>
            <a:off x="5623560" y="1928402"/>
            <a:ext cx="3052128" cy="694944"/>
            <a:chOff x="5623560" y="1956816"/>
            <a:chExt cx="3052128" cy="694944"/>
          </a:xfrm>
        </p:grpSpPr>
        <p:sp>
          <p:nvSpPr>
            <p:cNvPr id="50" name="Shape 46"/>
            <p:cNvSpPr/>
            <p:nvPr/>
          </p:nvSpPr>
          <p:spPr>
            <a:xfrm>
              <a:off x="5623560" y="1956816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1" name="Shape 47"/>
            <p:cNvSpPr/>
            <p:nvPr/>
          </p:nvSpPr>
          <p:spPr>
            <a:xfrm>
              <a:off x="5623560" y="1956816"/>
              <a:ext cx="64008" cy="69494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2" name="Shape 48"/>
            <p:cNvSpPr/>
            <p:nvPr/>
          </p:nvSpPr>
          <p:spPr>
            <a:xfrm>
              <a:off x="7833638" y="2029968"/>
              <a:ext cx="748792" cy="201168"/>
            </a:xfrm>
            <a:prstGeom prst="roundRect">
              <a:avLst>
                <a:gd name="adj" fmla="val 27273"/>
              </a:avLst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HIGH RISK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54" name="Text 50"/>
            <p:cNvSpPr/>
            <p:nvPr/>
          </p:nvSpPr>
          <p:spPr>
            <a:xfrm>
              <a:off x="5760720" y="2011680"/>
              <a:ext cx="212140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항공기관제(AC) 지속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5" name="Text 51"/>
            <p:cNvSpPr/>
            <p:nvPr/>
          </p:nvSpPr>
          <p:spPr>
            <a:xfrm>
              <a:off x="5760720" y="2231136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37건 발생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6" name="Text 52"/>
            <p:cNvSpPr/>
            <p:nvPr/>
          </p:nvSpPr>
          <p:spPr>
            <a:xfrm>
              <a:off x="7059168" y="2249978"/>
              <a:ext cx="1616520" cy="3501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이미 37건 · PL 집중(95건)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구조적 문제 미해소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3923BAD-F502-AD47-007F-20F52745F229}"/>
              </a:ext>
            </a:extLst>
          </p:cNvPr>
          <p:cNvGrpSpPr/>
          <p:nvPr/>
        </p:nvGrpSpPr>
        <p:grpSpPr>
          <a:xfrm>
            <a:off x="5623560" y="2741236"/>
            <a:ext cx="3052128" cy="694944"/>
            <a:chOff x="5623560" y="2798064"/>
            <a:chExt cx="3052128" cy="694944"/>
          </a:xfrm>
        </p:grpSpPr>
        <p:sp>
          <p:nvSpPr>
            <p:cNvPr id="57" name="Shape 53"/>
            <p:cNvSpPr/>
            <p:nvPr/>
          </p:nvSpPr>
          <p:spPr>
            <a:xfrm>
              <a:off x="5623560" y="2798064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8" name="Shape 54"/>
            <p:cNvSpPr/>
            <p:nvPr/>
          </p:nvSpPr>
          <p:spPr>
            <a:xfrm>
              <a:off x="5623560" y="2798064"/>
              <a:ext cx="64008" cy="694944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9" name="Shape 55"/>
            <p:cNvSpPr/>
            <p:nvPr/>
          </p:nvSpPr>
          <p:spPr>
            <a:xfrm>
              <a:off x="7979942" y="2871216"/>
              <a:ext cx="612648" cy="201168"/>
            </a:xfrm>
            <a:prstGeom prst="roundRect">
              <a:avLst>
                <a:gd name="adj" fmla="val 27273"/>
              </a:avLst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긴급조치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61" name="Text 57"/>
            <p:cNvSpPr/>
            <p:nvPr/>
          </p:nvSpPr>
          <p:spPr>
            <a:xfrm>
              <a:off x="5760720" y="2852928"/>
              <a:ext cx="226771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항공통계포털(AS)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2" name="Text 58"/>
            <p:cNvSpPr/>
            <p:nvPr/>
          </p:nvSpPr>
          <p:spPr>
            <a:xfrm>
              <a:off x="5760720" y="3072384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89건 미결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3" name="Text 59"/>
            <p:cNvSpPr/>
            <p:nvPr/>
          </p:nvSpPr>
          <p:spPr>
            <a:xfrm>
              <a:off x="7059168" y="3091224"/>
              <a:ext cx="1523262" cy="355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 단계 검토요청 89건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감리 전 전수 조치 필수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8F6C184C-3914-A505-89F6-4C4C690FC603}"/>
              </a:ext>
            </a:extLst>
          </p:cNvPr>
          <p:cNvGrpSpPr/>
          <p:nvPr/>
        </p:nvGrpSpPr>
        <p:grpSpPr>
          <a:xfrm>
            <a:off x="5623560" y="3554069"/>
            <a:ext cx="3052128" cy="694944"/>
            <a:chOff x="5623560" y="3639312"/>
            <a:chExt cx="3052128" cy="694944"/>
          </a:xfrm>
        </p:grpSpPr>
        <p:sp>
          <p:nvSpPr>
            <p:cNvPr id="64" name="Shape 60"/>
            <p:cNvSpPr/>
            <p:nvPr/>
          </p:nvSpPr>
          <p:spPr>
            <a:xfrm>
              <a:off x="5623560" y="3639312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5" name="Shape 61"/>
            <p:cNvSpPr/>
            <p:nvPr/>
          </p:nvSpPr>
          <p:spPr>
            <a:xfrm>
              <a:off x="5623560" y="3639312"/>
              <a:ext cx="64008" cy="69494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6" name="Shape 62"/>
            <p:cNvSpPr/>
            <p:nvPr/>
          </p:nvSpPr>
          <p:spPr>
            <a:xfrm>
              <a:off x="7979942" y="3712464"/>
              <a:ext cx="612648" cy="201168"/>
            </a:xfrm>
            <a:prstGeom prst="roundRect">
              <a:avLst>
                <a:gd name="adj" fmla="val 27273"/>
              </a:avLst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제도개선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68" name="Text 64"/>
            <p:cNvSpPr/>
            <p:nvPr/>
          </p:nvSpPr>
          <p:spPr>
            <a:xfrm>
              <a:off x="5760720" y="3694176"/>
              <a:ext cx="226771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품질 게이트 부재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Text 65"/>
            <p:cNvSpPr/>
            <p:nvPr/>
          </p:nvSpPr>
          <p:spPr>
            <a:xfrm>
              <a:off x="5760720" y="3913632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구조적 반복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Text 66"/>
            <p:cNvSpPr/>
            <p:nvPr/>
          </p:nvSpPr>
          <p:spPr>
            <a:xfrm>
              <a:off x="7059168" y="3877056"/>
              <a:ext cx="139903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 진입 전 PL 검수 의무화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없이는 반복 지속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71" name="Shape 67"/>
          <p:cNvSpPr/>
          <p:nvPr/>
        </p:nvSpPr>
        <p:spPr>
          <a:xfrm>
            <a:off x="439742" y="4443395"/>
            <a:ext cx="8235945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Text 68"/>
          <p:cNvSpPr/>
          <p:nvPr/>
        </p:nvSpPr>
        <p:spPr>
          <a:xfrm>
            <a:off x="879486" y="4443395"/>
            <a:ext cx="7242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 인력의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개입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+ 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 관리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2-3차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위기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불가피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F22EF-7C32-F434-26C9-2DA08E16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C1E314-BB0E-7478-EFD6-7DA95D53936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F027BE-AFD1-7D91-B5FD-C8E6089B6324}"/>
              </a:ext>
            </a:extLst>
          </p:cNvPr>
          <p:cNvSpPr/>
          <p:nvPr/>
        </p:nvSpPr>
        <p:spPr>
          <a:xfrm>
            <a:off x="320040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미결 결함 현황 및 모듈별 대응 계획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0321FC6A-7876-553F-46AD-29E4AFDEE417}"/>
              </a:ext>
            </a:extLst>
          </p:cNvPr>
          <p:cNvGraphicFramePr/>
          <p:nvPr/>
        </p:nvGraphicFramePr>
        <p:xfrm>
          <a:off x="274320" y="771525"/>
          <a:ext cx="859536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49E02F2F-6EEE-D78E-4BDB-35FB8D9F7A48}"/>
              </a:ext>
            </a:extLst>
          </p:cNvPr>
          <p:cNvSpPr/>
          <p:nvPr/>
        </p:nvSpPr>
        <p:spPr>
          <a:xfrm>
            <a:off x="433649" y="3400044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8EC4BB1-9BDF-786C-7F09-3EB22443E44B}"/>
              </a:ext>
            </a:extLst>
          </p:cNvPr>
          <p:cNvSpPr/>
          <p:nvPr/>
        </p:nvSpPr>
        <p:spPr>
          <a:xfrm>
            <a:off x="433648" y="3400044"/>
            <a:ext cx="64008" cy="379603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96D2D1E-7E31-8148-6F7B-66445D698ABD}"/>
              </a:ext>
            </a:extLst>
          </p:cNvPr>
          <p:cNvSpPr/>
          <p:nvPr/>
        </p:nvSpPr>
        <p:spPr>
          <a:xfrm>
            <a:off x="598240" y="3500628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1C43A9A-B3EE-42CE-A858-7B7A89D638AC}"/>
              </a:ext>
            </a:extLst>
          </p:cNvPr>
          <p:cNvSpPr/>
          <p:nvPr/>
        </p:nvSpPr>
        <p:spPr>
          <a:xfrm>
            <a:off x="598240" y="3500628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즉시(1주)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B69A8F3-9A8A-9B17-F854-2F7E45C6F6EF}"/>
              </a:ext>
            </a:extLst>
          </p:cNvPr>
          <p:cNvSpPr/>
          <p:nvPr/>
        </p:nvSpPr>
        <p:spPr>
          <a:xfrm>
            <a:off x="1732096" y="3400044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 조치요청 29건 + 항공통계포털(AS) 검토요청 89건 + 공항운영(GO) 확인대기 330건 — 전수 조치 계획 수립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FE09B69-785F-FEDB-3ACD-8D65D1B18CA6}"/>
              </a:ext>
            </a:extLst>
          </p:cNvPr>
          <p:cNvSpPr/>
          <p:nvPr/>
        </p:nvSpPr>
        <p:spPr>
          <a:xfrm>
            <a:off x="433649" y="3912108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A4277E0-643B-14C2-D04E-3F8089D63152}"/>
              </a:ext>
            </a:extLst>
          </p:cNvPr>
          <p:cNvSpPr/>
          <p:nvPr/>
        </p:nvSpPr>
        <p:spPr>
          <a:xfrm>
            <a:off x="433648" y="3912108"/>
            <a:ext cx="64008" cy="379603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75B1F29-9365-FD1A-8F3E-AD41F7A65DE6}"/>
              </a:ext>
            </a:extLst>
          </p:cNvPr>
          <p:cNvSpPr/>
          <p:nvPr/>
        </p:nvSpPr>
        <p:spPr>
          <a:xfrm>
            <a:off x="598240" y="4012692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87B3AE0-FFAB-1B3D-D53C-4AE6AB91AB8C}"/>
              </a:ext>
            </a:extLst>
          </p:cNvPr>
          <p:cNvSpPr/>
          <p:nvPr/>
        </p:nvSpPr>
        <p:spPr>
          <a:xfrm>
            <a:off x="598240" y="4012692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단기(2~4주)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995CA0E-23D8-34F1-2BB0-527F12420B62}"/>
              </a:ext>
            </a:extLst>
          </p:cNvPr>
          <p:cNvSpPr/>
          <p:nvPr/>
        </p:nvSpPr>
        <p:spPr>
          <a:xfrm>
            <a:off x="1732096" y="3912108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항공기관제·항공통계포털·공항운영 3개 모듈 전담 QA 지정 + 주간 결함 현황 보고 체계 수립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842DBA5-AE14-9342-40CB-45168C3373DA}"/>
              </a:ext>
            </a:extLst>
          </p:cNvPr>
          <p:cNvSpPr/>
          <p:nvPr/>
        </p:nvSpPr>
        <p:spPr>
          <a:xfrm>
            <a:off x="433649" y="4424172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A741E0C-86BE-797D-1D03-9AF026C08878}"/>
              </a:ext>
            </a:extLst>
          </p:cNvPr>
          <p:cNvSpPr/>
          <p:nvPr/>
        </p:nvSpPr>
        <p:spPr>
          <a:xfrm>
            <a:off x="433648" y="4424172"/>
            <a:ext cx="64008" cy="379603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6651577D-A1F8-CEEB-82EC-3EA9632AC8D8}"/>
              </a:ext>
            </a:extLst>
          </p:cNvPr>
          <p:cNvSpPr/>
          <p:nvPr/>
        </p:nvSpPr>
        <p:spPr>
          <a:xfrm>
            <a:off x="598240" y="4524756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2397763E-DB3E-93E8-F003-B29DC0E7B6DF}"/>
              </a:ext>
            </a:extLst>
          </p:cNvPr>
          <p:cNvSpPr/>
          <p:nvPr/>
        </p:nvSpPr>
        <p:spPr>
          <a:xfrm>
            <a:off x="598240" y="4524756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중기(1~2개월)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513AEBB-476F-DBAE-EFB5-A69D1379145F}"/>
              </a:ext>
            </a:extLst>
          </p:cNvPr>
          <p:cNvSpPr/>
          <p:nvPr/>
        </p:nvSpPr>
        <p:spPr>
          <a:xfrm>
            <a:off x="1732096" y="4424172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PL·개발자 자체 테스트 체크리스트 도입 / 공사테스트 진입 전 Quality Gate 운영 / UI·데이터 전용 테스트 케이스 추가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7F82DED1-CF32-A882-6A2A-399B8FEA4FA7}"/>
              </a:ext>
            </a:extLst>
          </p:cNvPr>
          <p:cNvSpPr/>
          <p:nvPr/>
        </p:nvSpPr>
        <p:spPr>
          <a:xfrm>
            <a:off x="7287768" y="166116"/>
            <a:ext cx="1734312" cy="1677924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7093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C7E7B-024A-B486-9E8D-7C1D17FD3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7E01A8-DA39-8587-AD1F-BDCB2202A5D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213D67-7C1A-E45A-99B4-E1F2EAB44E53}"/>
              </a:ext>
            </a:extLst>
          </p:cNvPr>
          <p:cNvSpPr/>
          <p:nvPr/>
        </p:nvSpPr>
        <p:spPr>
          <a:xfrm>
            <a:off x="320040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종합 인사이트 및 품질 개선 액션플랜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19094E-3E5B-B625-5F40-2C9E02DB7B76}"/>
              </a:ext>
            </a:extLst>
          </p:cNvPr>
          <p:cNvSpPr/>
          <p:nvPr/>
        </p:nvSpPr>
        <p:spPr>
          <a:xfrm>
            <a:off x="6858000" y="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섹션 7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B881DD4-E4AA-0D34-E7CE-68CEE3BD1164}"/>
              </a:ext>
            </a:extLst>
          </p:cNvPr>
          <p:cNvGrpSpPr/>
          <p:nvPr/>
        </p:nvGrpSpPr>
        <p:grpSpPr>
          <a:xfrm>
            <a:off x="433646" y="777240"/>
            <a:ext cx="2560320" cy="914400"/>
            <a:chOff x="433646" y="777240"/>
            <a:chExt cx="2706624" cy="91440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A0433F13-D71A-6623-6B27-809476C539B6}"/>
                </a:ext>
              </a:extLst>
            </p:cNvPr>
            <p:cNvSpPr/>
            <p:nvPr/>
          </p:nvSpPr>
          <p:spPr>
            <a:xfrm>
              <a:off x="433646" y="777240"/>
              <a:ext cx="2706624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6245AC82-0EB9-E2C7-D268-E7B143180EF1}"/>
                </a:ext>
              </a:extLst>
            </p:cNvPr>
            <p:cNvSpPr/>
            <p:nvPr/>
          </p:nvSpPr>
          <p:spPr>
            <a:xfrm>
              <a:off x="433646" y="777240"/>
              <a:ext cx="64008" cy="91440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5F58EBF2-C42D-564C-0285-D813099C27B2}"/>
                </a:ext>
              </a:extLst>
            </p:cNvPr>
            <p:cNvSpPr/>
            <p:nvPr/>
          </p:nvSpPr>
          <p:spPr>
            <a:xfrm>
              <a:off x="57995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공사테스트 집중 구조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9D2A6106-E090-3A3B-BB93-FAADAE0FB95B}"/>
                </a:ext>
              </a:extLst>
            </p:cNvPr>
            <p:cNvSpPr/>
            <p:nvPr/>
          </p:nvSpPr>
          <p:spPr>
            <a:xfrm>
              <a:off x="57995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49.7%(1,969건)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BF21BE0-18BE-D8A4-2402-9E9DC125404C}"/>
                </a:ext>
              </a:extLst>
            </p:cNvPr>
            <p:cNvSpPr/>
            <p:nvPr/>
          </p:nvSpPr>
          <p:spPr>
            <a:xfrm>
              <a:off x="57995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개발자·PL 사전 검증 부재 → 초기 결함 이월 고착화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8B165AE0-D998-AEC3-53E8-D7015FC74FEE}"/>
              </a:ext>
            </a:extLst>
          </p:cNvPr>
          <p:cNvGrpSpPr/>
          <p:nvPr/>
        </p:nvGrpSpPr>
        <p:grpSpPr>
          <a:xfrm>
            <a:off x="3168535" y="777240"/>
            <a:ext cx="2688336" cy="914400"/>
            <a:chOff x="3274106" y="777240"/>
            <a:chExt cx="2688336" cy="914400"/>
          </a:xfrm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46308EE7-7EA7-6A93-FDAE-7367CCCA9701}"/>
                </a:ext>
              </a:extLst>
            </p:cNvPr>
            <p:cNvSpPr/>
            <p:nvPr/>
          </p:nvSpPr>
          <p:spPr>
            <a:xfrm>
              <a:off x="3274106" y="777240"/>
              <a:ext cx="2608810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75BAFD8A-30E6-F81C-1D6D-476107AB9F3C}"/>
                </a:ext>
              </a:extLst>
            </p:cNvPr>
            <p:cNvSpPr/>
            <p:nvPr/>
          </p:nvSpPr>
          <p:spPr>
            <a:xfrm>
              <a:off x="3274106" y="777240"/>
              <a:ext cx="64008" cy="91440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44C5B082-9D6B-491A-BAF0-A833FFAD238B}"/>
                </a:ext>
              </a:extLst>
            </p:cNvPr>
            <p:cNvSpPr/>
            <p:nvPr/>
          </p:nvSpPr>
          <p:spPr>
            <a:xfrm>
              <a:off x="342041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기능 결함 압도적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F141042-A1A4-F502-5E9B-2F62C72E7858}"/>
                </a:ext>
              </a:extLst>
            </p:cNvPr>
            <p:cNvSpPr/>
            <p:nvPr/>
          </p:nvSpPr>
          <p:spPr>
            <a:xfrm>
              <a:off x="342041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61.8%(2,685건)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E2F74C77-7A6B-707D-2258-FD6E79033EE1}"/>
                </a:ext>
              </a:extLst>
            </p:cNvPr>
            <p:cNvSpPr/>
            <p:nvPr/>
          </p:nvSpPr>
          <p:spPr>
            <a:xfrm>
              <a:off x="342041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분석 미흡 + 비즈니스 로직 구현 오류 주원인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64486F6-337E-0EAC-44D5-8B7C6D0A9774}"/>
              </a:ext>
            </a:extLst>
          </p:cNvPr>
          <p:cNvGrpSpPr/>
          <p:nvPr/>
        </p:nvGrpSpPr>
        <p:grpSpPr>
          <a:xfrm>
            <a:off x="6031440" y="777240"/>
            <a:ext cx="2688336" cy="914400"/>
            <a:chOff x="6163056" y="777240"/>
            <a:chExt cx="2688336" cy="914400"/>
          </a:xfrm>
        </p:grpSpPr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C90361F-F359-EC25-49D6-32D05769B944}"/>
                </a:ext>
              </a:extLst>
            </p:cNvPr>
            <p:cNvSpPr/>
            <p:nvPr/>
          </p:nvSpPr>
          <p:spPr>
            <a:xfrm>
              <a:off x="6163056" y="777240"/>
              <a:ext cx="2651760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3297FC84-B5D2-80F7-930F-6A5618A36484}"/>
                </a:ext>
              </a:extLst>
            </p:cNvPr>
            <p:cNvSpPr/>
            <p:nvPr/>
          </p:nvSpPr>
          <p:spPr>
            <a:xfrm>
              <a:off x="6163056" y="777240"/>
              <a:ext cx="64008" cy="914400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A8BBE50B-1756-5D60-3C66-B9C96D449634}"/>
                </a:ext>
              </a:extLst>
            </p:cNvPr>
            <p:cNvSpPr/>
            <p:nvPr/>
          </p:nvSpPr>
          <p:spPr>
            <a:xfrm>
              <a:off x="630936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복수단계 반복 결함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1F57B464-88C5-D587-0460-4C6AF89F9822}"/>
                </a:ext>
              </a:extLst>
            </p:cNvPr>
            <p:cNvSpPr/>
            <p:nvPr/>
          </p:nvSpPr>
          <p:spPr>
            <a:xfrm>
              <a:off x="630936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25.5%(667시나리오)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DF650B22-0A02-12EA-7FCB-1CBD22CAF796}"/>
                </a:ext>
              </a:extLst>
            </p:cNvPr>
            <p:cNvSpPr/>
            <p:nvPr/>
          </p:nvSpPr>
          <p:spPr>
            <a:xfrm>
              <a:off x="630936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 이월 구조 고착 — 조치 완료 확인 프로세스 부재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0" name="Shape 18">
            <a:extLst>
              <a:ext uri="{FF2B5EF4-FFF2-40B4-BE49-F238E27FC236}">
                <a16:creationId xmlns:a16="http://schemas.microsoft.com/office/drawing/2014/main" id="{BA37966B-802B-8BFD-B6BD-6E1DD8F9E463}"/>
              </a:ext>
            </a:extLst>
          </p:cNvPr>
          <p:cNvSpPr/>
          <p:nvPr/>
        </p:nvSpPr>
        <p:spPr>
          <a:xfrm>
            <a:off x="433647" y="1847088"/>
            <a:ext cx="4035246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FDF02C1-E12C-0A62-8C00-50F285E10C61}"/>
              </a:ext>
            </a:extLst>
          </p:cNvPr>
          <p:cNvSpPr/>
          <p:nvPr/>
        </p:nvSpPr>
        <p:spPr>
          <a:xfrm>
            <a:off x="433647" y="1847088"/>
            <a:ext cx="64008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9BF3D7-688C-97D0-E641-9A0DAD48E7F2}"/>
              </a:ext>
            </a:extLst>
          </p:cNvPr>
          <p:cNvSpPr/>
          <p:nvPr/>
        </p:nvSpPr>
        <p:spPr>
          <a:xfrm>
            <a:off x="579951" y="189280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미결 결함 누적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1A6BE79-EE0D-29DE-7B54-EBC189B718EF}"/>
              </a:ext>
            </a:extLst>
          </p:cNvPr>
          <p:cNvSpPr/>
          <p:nvPr/>
        </p:nvSpPr>
        <p:spPr>
          <a:xfrm>
            <a:off x="579951" y="2157984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41.3%(1,735건)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E0D1004-1005-A881-ADE6-BAE427C8EA97}"/>
              </a:ext>
            </a:extLst>
          </p:cNvPr>
          <p:cNvSpPr/>
          <p:nvPr/>
        </p:nvSpPr>
        <p:spPr>
          <a:xfrm>
            <a:off x="579951" y="239572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 1,297건 — 2-3차 감리 전 전수 조치 시급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C5B4414-9805-5B04-80A1-4C3D029F20C4}"/>
              </a:ext>
            </a:extLst>
          </p:cNvPr>
          <p:cNvSpPr/>
          <p:nvPr/>
        </p:nvSpPr>
        <p:spPr>
          <a:xfrm>
            <a:off x="4638777" y="1847088"/>
            <a:ext cx="4035246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8C3193B-A166-461E-8EDC-F9C90A5B88DD}"/>
              </a:ext>
            </a:extLst>
          </p:cNvPr>
          <p:cNvSpPr/>
          <p:nvPr/>
        </p:nvSpPr>
        <p:spPr>
          <a:xfrm>
            <a:off x="4638777" y="1847088"/>
            <a:ext cx="64008" cy="9144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954926B-B3F1-0535-8E80-F8D575F20D2E}"/>
              </a:ext>
            </a:extLst>
          </p:cNvPr>
          <p:cNvSpPr/>
          <p:nvPr/>
        </p:nvSpPr>
        <p:spPr>
          <a:xfrm>
            <a:off x="4785081" y="189280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⑤ 고위험 모듈 3개 집중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655DD85-F9FC-2042-4C5A-1D4B74F9DE2A}"/>
              </a:ext>
            </a:extLst>
          </p:cNvPr>
          <p:cNvSpPr/>
          <p:nvPr/>
        </p:nvSpPr>
        <p:spPr>
          <a:xfrm>
            <a:off x="4785081" y="2157984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AC·AS·GO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8FBB389-FBAA-A9E7-F0CF-0AFAE6491C1D}"/>
              </a:ext>
            </a:extLst>
          </p:cNvPr>
          <p:cNvSpPr/>
          <p:nvPr/>
        </p:nvSpPr>
        <p:spPr>
          <a:xfrm>
            <a:off x="4785081" y="239572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즉시 전담 QA 지정 및 집중 모니터링 체계 가동 필요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9FADA431-E7AB-FCB1-322A-8431B91EF904}"/>
              </a:ext>
            </a:extLst>
          </p:cNvPr>
          <p:cNvSpPr/>
          <p:nvPr/>
        </p:nvSpPr>
        <p:spPr>
          <a:xfrm>
            <a:off x="433647" y="2880360"/>
            <a:ext cx="8249554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B8E4598-1405-72FE-1F06-C8633FCC2C69}"/>
              </a:ext>
            </a:extLst>
          </p:cNvPr>
          <p:cNvSpPr/>
          <p:nvPr/>
        </p:nvSpPr>
        <p:spPr>
          <a:xfrm>
            <a:off x="497654" y="2880360"/>
            <a:ext cx="24963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개선 로드맵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45DF912A-20AF-2BF3-C56B-549F3927F35F}"/>
              </a:ext>
            </a:extLst>
          </p:cNvPr>
          <p:cNvGrpSpPr/>
          <p:nvPr/>
        </p:nvGrpSpPr>
        <p:grpSpPr>
          <a:xfrm>
            <a:off x="433647" y="3218688"/>
            <a:ext cx="2011680" cy="1482852"/>
            <a:chOff x="274320" y="3218688"/>
            <a:chExt cx="2011680" cy="1482852"/>
          </a:xfrm>
        </p:grpSpPr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32CD12AF-FE29-7C25-B656-D1ABBBF0D3C4}"/>
                </a:ext>
              </a:extLst>
            </p:cNvPr>
            <p:cNvSpPr/>
            <p:nvPr/>
          </p:nvSpPr>
          <p:spPr>
            <a:xfrm>
              <a:off x="274320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3D084B84-350B-F548-71F3-B40FAA03A19C}"/>
                </a:ext>
              </a:extLst>
            </p:cNvPr>
            <p:cNvSpPr/>
            <p:nvPr/>
          </p:nvSpPr>
          <p:spPr>
            <a:xfrm>
              <a:off x="274320" y="3218688"/>
              <a:ext cx="1965960" cy="36576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6FB0E5C8-554E-3797-B2CF-CCD5DB3D086D}"/>
                </a:ext>
              </a:extLst>
            </p:cNvPr>
            <p:cNvSpPr/>
            <p:nvPr/>
          </p:nvSpPr>
          <p:spPr>
            <a:xfrm>
              <a:off x="274320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즉시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(1주 내)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3B6488F9-270D-B410-8384-3D716E88F41D}"/>
                </a:ext>
              </a:extLst>
            </p:cNvPr>
            <p:cNvSpPr/>
            <p:nvPr/>
          </p:nvSpPr>
          <p:spPr>
            <a:xfrm>
              <a:off x="374904" y="3723132"/>
              <a:ext cx="1874520" cy="9784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AC 조치요청 29건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처리</a:t>
              </a: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AS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검토요청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89건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처리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GO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330건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계획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수립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lnSpc>
                  <a:spcPct val="200000"/>
                </a:lnSpc>
                <a:buNone/>
              </a:pP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3F85F28-5D24-A506-AB81-0E62FAC66F3F}"/>
              </a:ext>
            </a:extLst>
          </p:cNvPr>
          <p:cNvGrpSpPr/>
          <p:nvPr/>
        </p:nvGrpSpPr>
        <p:grpSpPr>
          <a:xfrm>
            <a:off x="2526792" y="3218688"/>
            <a:ext cx="2011680" cy="1482852"/>
            <a:chOff x="2450592" y="3218688"/>
            <a:chExt cx="2011680" cy="1482852"/>
          </a:xfrm>
        </p:grpSpPr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E2285589-75AC-A446-E68B-0846BA9B862E}"/>
                </a:ext>
              </a:extLst>
            </p:cNvPr>
            <p:cNvSpPr/>
            <p:nvPr/>
          </p:nvSpPr>
          <p:spPr>
            <a:xfrm>
              <a:off x="2450592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F3C2E0EF-8730-DE23-2BFC-63DF34FA359C}"/>
                </a:ext>
              </a:extLst>
            </p:cNvPr>
            <p:cNvSpPr/>
            <p:nvPr/>
          </p:nvSpPr>
          <p:spPr>
            <a:xfrm>
              <a:off x="2450592" y="3218688"/>
              <a:ext cx="1965960" cy="36576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E2FC4D88-4DD3-BE3A-37A4-93FD21D8EF00}"/>
                </a:ext>
              </a:extLst>
            </p:cNvPr>
            <p:cNvSpPr/>
            <p:nvPr/>
          </p:nvSpPr>
          <p:spPr>
            <a:xfrm>
              <a:off x="2450592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(2~4주)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0BAB116A-5152-BA87-FD27-CBB9DA02BBEC}"/>
                </a:ext>
              </a:extLst>
            </p:cNvPr>
            <p:cNvSpPr/>
            <p:nvPr/>
          </p:nvSpPr>
          <p:spPr>
            <a:xfrm>
              <a:off x="2542032" y="3639312"/>
              <a:ext cx="187452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3개 고위험 모듈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전담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QA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주간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현황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보고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체계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현업-수행사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협의체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발족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0978566-8C1D-530C-CF46-8B7135EAC8B2}"/>
              </a:ext>
            </a:extLst>
          </p:cNvPr>
          <p:cNvGrpSpPr/>
          <p:nvPr/>
        </p:nvGrpSpPr>
        <p:grpSpPr>
          <a:xfrm>
            <a:off x="4619937" y="3218688"/>
            <a:ext cx="2011680" cy="1482852"/>
            <a:chOff x="4626864" y="3218688"/>
            <a:chExt cx="2011680" cy="1482852"/>
          </a:xfrm>
        </p:grpSpPr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19D733A5-53FD-FCA5-59B0-2FB4AE185795}"/>
                </a:ext>
              </a:extLst>
            </p:cNvPr>
            <p:cNvSpPr/>
            <p:nvPr/>
          </p:nvSpPr>
          <p:spPr>
            <a:xfrm>
              <a:off x="4626864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Shape 43">
              <a:extLst>
                <a:ext uri="{FF2B5EF4-FFF2-40B4-BE49-F238E27FC236}">
                  <a16:creationId xmlns:a16="http://schemas.microsoft.com/office/drawing/2014/main" id="{551B4A3F-C24A-ACBE-F5E6-B522C4DA83D6}"/>
                </a:ext>
              </a:extLst>
            </p:cNvPr>
            <p:cNvSpPr/>
            <p:nvPr/>
          </p:nvSpPr>
          <p:spPr>
            <a:xfrm>
              <a:off x="4626864" y="3218688"/>
              <a:ext cx="1965960" cy="36576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08F9F8C3-FD62-7B76-8122-273C6BD2D66B}"/>
                </a:ext>
              </a:extLst>
            </p:cNvPr>
            <p:cNvSpPr/>
            <p:nvPr/>
          </p:nvSpPr>
          <p:spPr>
            <a:xfrm>
              <a:off x="4626864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중기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(1~2개월)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F76E2926-D2A7-16A3-9E43-7CE4F1B7A2EA}"/>
                </a:ext>
              </a:extLst>
            </p:cNvPr>
            <p:cNvSpPr/>
            <p:nvPr/>
          </p:nvSpPr>
          <p:spPr>
            <a:xfrm>
              <a:off x="4718304" y="3639312"/>
              <a:ext cx="187452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Quality Gate 운영(공사 진입 전)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자체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체크리스트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UI·데이터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전용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TC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추가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7C7B7997-113E-2102-8B18-226F4C779B55}"/>
              </a:ext>
            </a:extLst>
          </p:cNvPr>
          <p:cNvGrpSpPr/>
          <p:nvPr/>
        </p:nvGrpSpPr>
        <p:grpSpPr>
          <a:xfrm>
            <a:off x="6713081" y="3218688"/>
            <a:ext cx="2011680" cy="1482852"/>
            <a:chOff x="6803136" y="3218688"/>
            <a:chExt cx="2011680" cy="1482852"/>
          </a:xfrm>
        </p:grpSpPr>
        <p:sp>
          <p:nvSpPr>
            <p:cNvPr id="50" name="Shape 48">
              <a:extLst>
                <a:ext uri="{FF2B5EF4-FFF2-40B4-BE49-F238E27FC236}">
                  <a16:creationId xmlns:a16="http://schemas.microsoft.com/office/drawing/2014/main" id="{3522A4F0-775C-CC94-8F46-2D5CC6D653D3}"/>
                </a:ext>
              </a:extLst>
            </p:cNvPr>
            <p:cNvSpPr/>
            <p:nvPr/>
          </p:nvSpPr>
          <p:spPr>
            <a:xfrm>
              <a:off x="6803136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6C387E67-F9B3-A102-139E-5888A75B128D}"/>
                </a:ext>
              </a:extLst>
            </p:cNvPr>
            <p:cNvSpPr/>
            <p:nvPr/>
          </p:nvSpPr>
          <p:spPr>
            <a:xfrm>
              <a:off x="6803136" y="3218688"/>
              <a:ext cx="1965960" cy="365760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2" name="Text 50">
              <a:extLst>
                <a:ext uri="{FF2B5EF4-FFF2-40B4-BE49-F238E27FC236}">
                  <a16:creationId xmlns:a16="http://schemas.microsoft.com/office/drawing/2014/main" id="{4D5EDA4C-226E-90BD-852F-772AAF0C6FC5}"/>
                </a:ext>
              </a:extLst>
            </p:cNvPr>
            <p:cNvSpPr/>
            <p:nvPr/>
          </p:nvSpPr>
          <p:spPr>
            <a:xfrm>
              <a:off x="6803136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장기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(사업 전반)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200B5383-41C1-C34F-A9D2-541804CC9E2A}"/>
                </a:ext>
              </a:extLst>
            </p:cNvPr>
            <p:cNvSpPr/>
            <p:nvPr/>
          </p:nvSpPr>
          <p:spPr>
            <a:xfrm>
              <a:off x="6894576" y="3639312"/>
              <a:ext cx="1874520" cy="10622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조기경보 KPI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수립</a:t>
              </a: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차수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종료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시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트렌드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정례화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코드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도입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lnSpc>
                  <a:spcPct val="200000"/>
                </a:lnSpc>
                <a:buNone/>
              </a:pP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265705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33B2DB"/>
        </a:solidFill>
        <a:ln w="31750">
          <a:solidFill>
            <a:srgbClr val="33B2DB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2511</TotalTime>
  <Words>7220</Words>
  <Application>Microsoft Office PowerPoint</Application>
  <PresentationFormat>화면 슬라이드 쇼(16:9)</PresentationFormat>
  <Paragraphs>1295</Paragraphs>
  <Slides>32</Slides>
  <Notes>32</Notes>
  <HiddenSlides>5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KoPub돋움체 Bold</vt:lpstr>
      <vt:lpstr>Noto Sans KR</vt:lpstr>
      <vt:lpstr>Rix고딕 L</vt:lpstr>
      <vt:lpstr>맑은 고딕</vt:lpstr>
      <vt:lpstr>Arial</vt:lpstr>
      <vt:lpstr>Calibri</vt:lpstr>
      <vt:lpstr>1_Office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christal</dc:creator>
  <cp:lastModifiedBy>양수정</cp:lastModifiedBy>
  <cp:revision>39</cp:revision>
  <dcterms:created xsi:type="dcterms:W3CDTF">2026-03-27T15:44:54Z</dcterms:created>
  <dcterms:modified xsi:type="dcterms:W3CDTF">2026-03-31T08:48:26Z</dcterms:modified>
</cp:coreProperties>
</file>