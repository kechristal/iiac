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63" r:id="rId2"/>
    <p:sldMasterId id="2147483667" r:id="rId3"/>
  </p:sldMasterIdLst>
  <p:notesMasterIdLst>
    <p:notesMasterId r:id="rId12"/>
  </p:notesMasterIdLst>
  <p:sldIdLst>
    <p:sldId id="289" r:id="rId4"/>
    <p:sldId id="355" r:id="rId5"/>
    <p:sldId id="274" r:id="rId6"/>
    <p:sldId id="270" r:id="rId7"/>
    <p:sldId id="354" r:id="rId8"/>
    <p:sldId id="353" r:id="rId9"/>
    <p:sldId id="351" r:id="rId10"/>
    <p:sldId id="356" r:id="rId11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CBA00"/>
    <a:srgbClr val="6BAD3E"/>
    <a:srgbClr val="25447E"/>
    <a:srgbClr val="E7E6E6"/>
    <a:srgbClr val="F3843F"/>
    <a:srgbClr val="3B6DC7"/>
    <a:srgbClr val="4D93D3"/>
    <a:srgbClr val="9D9D9D"/>
    <a:srgbClr val="BD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2421" autoAdjust="0"/>
  </p:normalViewPr>
  <p:slideViewPr>
    <p:cSldViewPr snapToGrid="0">
      <p:cViewPr varScale="1">
        <p:scale>
          <a:sx n="101" d="100"/>
          <a:sy n="101" d="100"/>
        </p:scale>
        <p:origin x="11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9" d="100"/>
          <a:sy n="79" d="100"/>
        </p:scale>
        <p:origin x="403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F5DBC-2D43-4714-A011-1B997A865431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2C630-A325-4356-BDAD-28F4716C49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786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B41CC7-FE31-4B6D-A108-F4AA61656A6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904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80679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41752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78398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69717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15479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44FD8-F141-457E-9E54-C32A23416C70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1DC9-7EB9-40B4-AF94-EAA07A156A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726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한쪽 모서리 2">
            <a:extLst>
              <a:ext uri="{FF2B5EF4-FFF2-40B4-BE49-F238E27FC236}">
                <a16:creationId xmlns:a16="http://schemas.microsoft.com/office/drawing/2014/main" id="{26ED30E8-F940-60DB-BBCC-7534AC8AC4D9}"/>
              </a:ext>
            </a:extLst>
          </p:cNvPr>
          <p:cNvSpPr/>
          <p:nvPr userDrawn="1"/>
        </p:nvSpPr>
        <p:spPr>
          <a:xfrm flipV="1">
            <a:off x="0" y="0"/>
            <a:ext cx="12192000" cy="584200"/>
          </a:xfrm>
          <a:prstGeom prst="round1Rect">
            <a:avLst>
              <a:gd name="adj" fmla="val 0"/>
            </a:avLst>
          </a:prstGeom>
          <a:solidFill>
            <a:srgbClr val="0034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800" noProof="0" dirty="0">
              <a:solidFill>
                <a:schemeClr val="lt1"/>
              </a:solidFill>
            </a:endParaRPr>
          </a:p>
        </p:txBody>
      </p:sp>
      <p:sp>
        <p:nvSpPr>
          <p:cNvPr id="4" name="Rectangle 59">
            <a:extLst>
              <a:ext uri="{FF2B5EF4-FFF2-40B4-BE49-F238E27FC236}">
                <a16:creationId xmlns:a16="http://schemas.microsoft.com/office/drawing/2014/main" id="{62C55127-337E-736B-BE22-CF2961025B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31880" y="6587714"/>
            <a:ext cx="12824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fld id="{B9BD96D4-FBDC-4909-BFD7-96760582A1EC}" type="slidenum">
              <a:rPr kumimoji="1" lang="en-US" altLang="ko-KR" sz="800" smtClean="0">
                <a:ln>
                  <a:solidFill>
                    <a:srgbClr val="00609F">
                      <a:alpha val="0"/>
                    </a:srgbClr>
                  </a:solidFill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 algn="ctr"/>
              <a:t>‹#›</a:t>
            </a:fld>
            <a:endParaRPr kumimoji="1" lang="en-US" altLang="ko-KR" sz="800" dirty="0">
              <a:ln>
                <a:solidFill>
                  <a:srgbClr val="00609F">
                    <a:alpha val="0"/>
                  </a:srgbClr>
                </a:solidFill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1B4EF29-22AC-41D3-5072-0269D0BBC4DA}"/>
              </a:ext>
            </a:extLst>
          </p:cNvPr>
          <p:cNvGrpSpPr/>
          <p:nvPr userDrawn="1"/>
        </p:nvGrpSpPr>
        <p:grpSpPr>
          <a:xfrm>
            <a:off x="468298" y="6571423"/>
            <a:ext cx="2994356" cy="155693"/>
            <a:chOff x="299815" y="6545448"/>
            <a:chExt cx="2432914" cy="155693"/>
          </a:xfrm>
        </p:grpSpPr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8E2C4790-E2C6-796E-2A96-7F1869EF7CAD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323489" y="6585448"/>
              <a:ext cx="1409240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defTabSz="95747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| </a:t>
              </a:r>
              <a:r>
                <a:rPr kumimoji="1" lang="ko-KR" altLang="en-US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인천국제공항 통합정보시스템 고도화 구축 사업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18D2AB3-9C96-8285-7BC0-E33EB9F6B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 bwMode="gray">
            <a:xfrm>
              <a:off x="299815" y="6545448"/>
              <a:ext cx="955164" cy="155693"/>
            </a:xfrm>
            <a:prstGeom prst="rect">
              <a:avLst/>
            </a:prstGeom>
          </p:spPr>
        </p:pic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45B411FF-1BC8-218E-FC34-2D578B7610C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902" y="213649"/>
            <a:ext cx="1425175" cy="15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227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>
          <p15:clr>
            <a:srgbClr val="FBAE40"/>
          </p15:clr>
        </p15:guide>
        <p15:guide id="2" pos="5842">
          <p15:clr>
            <a:srgbClr val="FBAE40"/>
          </p15:clr>
        </p15:guide>
        <p15:guide id="3" pos="398">
          <p15:clr>
            <a:srgbClr val="FBAE40"/>
          </p15:clr>
        </p15:guide>
        <p15:guide id="4" orient="horz" pos="2160">
          <p15:clr>
            <a:srgbClr val="FBAE40"/>
          </p15:clr>
        </p15:guide>
        <p15:guide id="5" orient="horz" pos="323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726939"/>
            <a:ext cx="2539157" cy="27699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7107001" y="6550305"/>
            <a:ext cx="800219" cy="369332"/>
          </a:xfrm>
        </p:spPr>
        <p:txBody>
          <a:bodyPr/>
          <a:lstStyle>
            <a:lvl1pPr>
              <a:defRPr/>
            </a:lvl1pPr>
          </a:lstStyle>
          <a:p>
            <a:fld id="{A1542008-AD40-4DEB-AC4D-4DBBC63F8233}" type="slidenum">
              <a:rPr lang="en-US" altLang="ko-KR" smtClean="0"/>
              <a:pPr/>
              <a:t>‹#›</a:t>
            </a:fld>
            <a:r>
              <a:rPr lang="en-US" altLang="ko-KR"/>
              <a:t> / </a:t>
            </a:r>
            <a:r>
              <a:rPr lang="en-US" altLang="ko-KR" sz="1000"/>
              <a:t>50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1733783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8016" y="160745"/>
            <a:ext cx="2539157" cy="27699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600">
                <a:latin typeface="HY헤드라인M" pitchFamily="18" charset="-127"/>
                <a:ea typeface="HY헤드라인M" pitchFamily="18" charset="-127"/>
              </a:defRPr>
            </a:lvl1pPr>
            <a:lvl2pPr>
              <a:defRPr sz="1600">
                <a:latin typeface="HY헤드라인M" pitchFamily="18" charset="-127"/>
                <a:ea typeface="HY헤드라인M" pitchFamily="18" charset="-127"/>
              </a:defRPr>
            </a:lvl2pPr>
            <a:lvl3pPr>
              <a:defRPr sz="1600">
                <a:latin typeface="HY헤드라인M" pitchFamily="18" charset="-127"/>
                <a:ea typeface="HY헤드라인M" pitchFamily="18" charset="-127"/>
              </a:defRPr>
            </a:lvl3pPr>
            <a:lvl4pPr>
              <a:defRPr sz="1600">
                <a:latin typeface="HY헤드라인M" pitchFamily="18" charset="-127"/>
                <a:ea typeface="HY헤드라인M" pitchFamily="18" charset="-127"/>
              </a:defRPr>
            </a:lvl4pPr>
            <a:lvl5pPr>
              <a:defRPr sz="1600"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직사각형 4"/>
          <p:cNvSpPr/>
          <p:nvPr userDrawn="1"/>
        </p:nvSpPr>
        <p:spPr>
          <a:xfrm>
            <a:off x="5918750" y="6525345"/>
            <a:ext cx="4379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57263">
              <a:defRPr/>
            </a:pPr>
            <a:fld id="{971A2348-C2E4-4667-B586-C30A4E79AEB3}" type="slidenum">
              <a:rPr lang="en-US" altLang="ko-KR" sz="1400" b="1" smtClean="0">
                <a:latin typeface="Arial" pitchFamily="34" charset="0"/>
                <a:ea typeface="나눔고딕" pitchFamily="50" charset="-127"/>
                <a:cs typeface="Arial" pitchFamily="34" charset="0"/>
              </a:rPr>
              <a:pPr defTabSz="957263">
                <a:defRPr/>
              </a:pPr>
              <a:t>‹#›</a:t>
            </a:fld>
            <a:r>
              <a:rPr lang="en-US" altLang="ko-KR" sz="1000" dirty="0">
                <a:latin typeface="Arial" pitchFamily="34" charset="0"/>
                <a:ea typeface="나눔고딕" pitchFamily="50" charset="-127"/>
                <a:cs typeface="Arial" pitchFamily="34" charset="0"/>
              </a:rPr>
              <a:t> 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Arial" pitchFamily="34" charset="0"/>
              <a:ea typeface="나눔고딕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156950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>
          <a:xfrm>
            <a:off x="7107001" y="6550305"/>
            <a:ext cx="800219" cy="369332"/>
          </a:xfrm>
        </p:spPr>
        <p:txBody>
          <a:bodyPr/>
          <a:lstStyle>
            <a:lvl1pPr>
              <a:defRPr/>
            </a:lvl1pPr>
          </a:lstStyle>
          <a:p>
            <a:fld id="{51A61B3A-9CA1-48A3-B09F-FD7D4A5347ED}" type="slidenum">
              <a:rPr lang="en-US" altLang="ko-KR" smtClean="0"/>
              <a:pPr/>
              <a:t>‹#›</a:t>
            </a:fld>
            <a:r>
              <a:rPr lang="en-US" altLang="ko-KR"/>
              <a:t> / </a:t>
            </a:r>
            <a:r>
              <a:rPr lang="en-US" altLang="ko-KR" sz="1000"/>
              <a:t>50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3907987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7570" y="243910"/>
            <a:ext cx="1944443" cy="215444"/>
          </a:xfrm>
          <a:prstGeom prst="rect">
            <a:avLst/>
          </a:prstGeom>
        </p:spPr>
        <p:txBody>
          <a:bodyPr/>
          <a:lstStyle>
            <a:lvl1pPr algn="l">
              <a:defRPr sz="1400" b="1"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5640636" y="6596390"/>
            <a:ext cx="1247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0"/>
              <a:t>별첨</a:t>
            </a:r>
            <a:r>
              <a:rPr lang="ko-KR" altLang="en-US" sz="1100" b="1"/>
              <a:t> </a:t>
            </a:r>
            <a:fld id="{10504741-7183-4FA7-BFB3-5F1E6B8CE812}" type="slidenum">
              <a:rPr lang="ko-KR" altLang="en-US" sz="1100" b="1" smtClean="0"/>
              <a:pPr algn="ctr"/>
              <a:t>‹#›</a:t>
            </a:fld>
            <a:r>
              <a:rPr lang="ko-KR" altLang="en-US" sz="1100" b="1"/>
              <a:t> </a:t>
            </a:r>
            <a:r>
              <a:rPr lang="en-US" altLang="ko-KR" sz="1100" b="1"/>
              <a:t>/</a:t>
            </a:r>
            <a:r>
              <a:rPr lang="en-US" altLang="ko-KR" sz="1000" b="0" dirty="0"/>
              <a:t>54</a:t>
            </a:r>
            <a:endParaRPr lang="ko-KR" altLang="en-US" sz="1000" b="0" dirty="0"/>
          </a:p>
        </p:txBody>
      </p:sp>
    </p:spTree>
    <p:extLst>
      <p:ext uri="{BB962C8B-B14F-4D97-AF65-F5344CB8AC3E}">
        <p14:creationId xmlns:p14="http://schemas.microsoft.com/office/powerpoint/2010/main" val="2588468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5708431" y="6596390"/>
            <a:ext cx="10206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C765828-5F97-4DF2-A710-F2EB4066BAB1}" type="slidenum">
              <a:rPr lang="ko-KR" altLang="en-US" sz="1100" b="1" smtClean="0"/>
              <a:pPr algn="ctr"/>
              <a:t>‹#›</a:t>
            </a:fld>
            <a:r>
              <a:rPr lang="ko-KR" altLang="en-US" sz="1100" b="1"/>
              <a:t> </a:t>
            </a:r>
            <a:r>
              <a:rPr lang="ko-KR" altLang="en-US" sz="1000"/>
              <a:t> </a:t>
            </a:r>
            <a:r>
              <a:rPr lang="en-US" altLang="ko-KR" sz="1000"/>
              <a:t>/ 25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46621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각형: 둥근 한쪽 모서리 20">
            <a:extLst>
              <a:ext uri="{FF2B5EF4-FFF2-40B4-BE49-F238E27FC236}">
                <a16:creationId xmlns:a16="http://schemas.microsoft.com/office/drawing/2014/main" id="{ECF79BE5-BD41-D2A8-271E-758B9CCD8DAE}"/>
              </a:ext>
            </a:extLst>
          </p:cNvPr>
          <p:cNvSpPr/>
          <p:nvPr userDrawn="1"/>
        </p:nvSpPr>
        <p:spPr>
          <a:xfrm flipV="1">
            <a:off x="0" y="0"/>
            <a:ext cx="12192000" cy="584200"/>
          </a:xfrm>
          <a:prstGeom prst="round1Rect">
            <a:avLst>
              <a:gd name="adj" fmla="val 0"/>
            </a:avLst>
          </a:prstGeom>
          <a:solidFill>
            <a:srgbClr val="0034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Rectangle 59">
            <a:extLst>
              <a:ext uri="{FF2B5EF4-FFF2-40B4-BE49-F238E27FC236}">
                <a16:creationId xmlns:a16="http://schemas.microsoft.com/office/drawing/2014/main" id="{77B1A52D-67D2-512A-F1CD-8B280133AD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31880" y="6587714"/>
            <a:ext cx="12824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BD96D4-FBDC-4909-BFD7-96760582A1EC}" type="slidenum">
              <a:rPr kumimoji="1" lang="en-US" altLang="ko-KR" sz="800" b="0" i="0" u="none" strike="noStrike" kern="1200" cap="none" spc="0" normalizeH="0" baseline="0" noProof="0" smtClean="0">
                <a:ln>
                  <a:solidFill>
                    <a:srgbClr val="00609F">
                      <a:alpha val="0"/>
                    </a:srgbClr>
                  </a:solidFill>
                </a:ln>
                <a:solidFill>
                  <a:srgbClr val="5F5F5F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ko-KR" sz="800" b="0" i="0" u="none" strike="noStrike" kern="1200" cap="none" spc="0" normalizeH="0" baseline="0" noProof="0" dirty="0">
              <a:ln>
                <a:solidFill>
                  <a:srgbClr val="00609F">
                    <a:alpha val="0"/>
                  </a:srgbClr>
                </a:solidFill>
              </a:ln>
              <a:solidFill>
                <a:srgbClr val="5F5F5F"/>
              </a:solidFill>
              <a:effectLst/>
              <a:uLnTx/>
              <a:uFillTx/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9115F56-5BC3-861C-344B-286546EA85EA}"/>
              </a:ext>
            </a:extLst>
          </p:cNvPr>
          <p:cNvGrpSpPr/>
          <p:nvPr userDrawn="1"/>
        </p:nvGrpSpPr>
        <p:grpSpPr>
          <a:xfrm>
            <a:off x="468299" y="6571423"/>
            <a:ext cx="3048858" cy="155693"/>
            <a:chOff x="299815" y="6545448"/>
            <a:chExt cx="2477197" cy="155693"/>
          </a:xfrm>
        </p:grpSpPr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1A4676B3-4BA9-E359-B49F-A03AFC7065DA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323489" y="6585448"/>
              <a:ext cx="1453523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marL="0" marR="0" lvl="0" indent="0" algn="l" defTabSz="957474" rtl="0" eaLnBrk="0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700" b="0" i="0" u="none" strike="noStrike" kern="120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| </a:t>
              </a:r>
              <a:r>
                <a:rPr kumimoji="1" lang="ko-KR" altLang="en-US" sz="700" b="0" i="0" u="none" strike="noStrike" kern="1200" cap="none" spc="0" normalizeH="0" baseline="0" noProof="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인천국제공항　통합정보시스템 고도화 구축 사업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D4A54F2-3B65-0FFC-4B3D-42D54653A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 bwMode="gray">
            <a:xfrm>
              <a:off x="299815" y="6545448"/>
              <a:ext cx="955164" cy="155693"/>
            </a:xfrm>
            <a:prstGeom prst="rect">
              <a:avLst/>
            </a:prstGeom>
          </p:spPr>
        </p:pic>
      </p:grp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685" y="6511501"/>
            <a:ext cx="1450873" cy="242937"/>
          </a:xfrm>
          <a:prstGeom prst="rect">
            <a:avLst/>
          </a:prstGeom>
        </p:spPr>
      </p:pic>
      <p:grpSp>
        <p:nvGrpSpPr>
          <p:cNvPr id="2" name="그룹 1"/>
          <p:cNvGrpSpPr/>
          <p:nvPr userDrawn="1"/>
        </p:nvGrpSpPr>
        <p:grpSpPr>
          <a:xfrm>
            <a:off x="10427977" y="77413"/>
            <a:ext cx="1414582" cy="443379"/>
            <a:chOff x="10427977" y="77413"/>
            <a:chExt cx="1414582" cy="443379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D34A100D-B537-B83E-0F2C-531635203217}"/>
                </a:ext>
              </a:extLst>
            </p:cNvPr>
            <p:cNvGrpSpPr/>
            <p:nvPr userDrawn="1"/>
          </p:nvGrpSpPr>
          <p:grpSpPr>
            <a:xfrm>
              <a:off x="10427977" y="77413"/>
              <a:ext cx="1414582" cy="443379"/>
              <a:chOff x="8038807" y="0"/>
              <a:chExt cx="1414582" cy="443379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32C599-D17E-32B6-1EE9-346065250115}"/>
                  </a:ext>
                </a:extLst>
              </p:cNvPr>
              <p:cNvSpPr txBox="1"/>
              <p:nvPr/>
            </p:nvSpPr>
            <p:spPr>
              <a:xfrm>
                <a:off x="8038807" y="270441"/>
                <a:ext cx="1336583" cy="1538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>
                <a:defPPr>
                  <a:defRPr lang="ko-KR"/>
                </a:defPPr>
                <a:lvl1pPr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1100" spc="-2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marL="0" marR="0" lvl="0" indent="0" algn="r" defTabSz="9141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40" normalizeH="0" baseline="0" noProof="0" dirty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현업 단위테스트 결과 리뷰 </a:t>
                </a:r>
              </a:p>
            </p:txBody>
          </p:sp>
          <p:cxnSp>
            <p:nvCxnSpPr>
              <p:cNvPr id="19" name="직선 연결선 109">
                <a:extLst>
                  <a:ext uri="{FF2B5EF4-FFF2-40B4-BE49-F238E27FC236}">
                    <a16:creationId xmlns:a16="http://schemas.microsoft.com/office/drawing/2014/main" id="{056C6A96-585D-F666-8E00-9B0A66536827}"/>
                  </a:ext>
                </a:extLst>
              </p:cNvPr>
              <p:cNvCxnSpPr/>
              <p:nvPr/>
            </p:nvCxnSpPr>
            <p:spPr>
              <a:xfrm>
                <a:off x="9453389" y="0"/>
                <a:ext cx="0" cy="443379"/>
              </a:xfrm>
              <a:prstGeom prst="line">
                <a:avLst/>
              </a:prstGeom>
              <a:ln w="9525" cap="flat">
                <a:solidFill>
                  <a:srgbClr val="9AA3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AC935BD-F940-7942-B750-837F8997D518}"/>
                </a:ext>
              </a:extLst>
            </p:cNvPr>
            <p:cNvSpPr/>
            <p:nvPr userDrawn="1"/>
          </p:nvSpPr>
          <p:spPr>
            <a:xfrm>
              <a:off x="116410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9B34389-9A8F-1649-6284-ACFAD5A8DA15}"/>
                </a:ext>
              </a:extLst>
            </p:cNvPr>
            <p:cNvSpPr/>
            <p:nvPr userDrawn="1"/>
          </p:nvSpPr>
          <p:spPr>
            <a:xfrm>
              <a:off x="114262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BF3E9267-D3B0-F322-8BDD-60A1AFD00E47}"/>
                </a:ext>
              </a:extLst>
            </p:cNvPr>
            <p:cNvSpPr/>
            <p:nvPr userDrawn="1"/>
          </p:nvSpPr>
          <p:spPr>
            <a:xfrm>
              <a:off x="115336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7053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20">
          <p15:clr>
            <a:srgbClr val="F26B43"/>
          </p15:clr>
        </p15:guide>
        <p15:guide id="3" pos="240">
          <p15:clr>
            <a:srgbClr val="F26B43"/>
          </p15:clr>
        </p15:guide>
        <p15:guide id="4" pos="6000">
          <p15:clr>
            <a:srgbClr val="F26B43"/>
          </p15:clr>
        </p15:guide>
        <p15:guide id="5" orient="horz" pos="406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9">
            <a:extLst>
              <a:ext uri="{FF2B5EF4-FFF2-40B4-BE49-F238E27FC236}">
                <a16:creationId xmlns:a16="http://schemas.microsoft.com/office/drawing/2014/main" id="{9F82B906-B480-0852-246F-922BDA4EF5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31880" y="6587714"/>
            <a:ext cx="12824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fld id="{B9BD96D4-FBDC-4909-BFD7-96760582A1EC}" type="slidenum">
              <a:rPr kumimoji="1" lang="en-US" altLang="ko-KR" sz="800" smtClean="0">
                <a:ln>
                  <a:solidFill>
                    <a:srgbClr val="00609F">
                      <a:alpha val="0"/>
                    </a:srgbClr>
                  </a:solidFill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 algn="ctr"/>
              <a:t>‹#›</a:t>
            </a:fld>
            <a:endParaRPr kumimoji="1" lang="en-US" altLang="ko-KR" sz="800" dirty="0">
              <a:ln>
                <a:solidFill>
                  <a:srgbClr val="00609F">
                    <a:alpha val="0"/>
                  </a:srgbClr>
                </a:solidFill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FE9D500-9CDC-13D5-156A-5731D9325E66}"/>
              </a:ext>
            </a:extLst>
          </p:cNvPr>
          <p:cNvGrpSpPr/>
          <p:nvPr userDrawn="1"/>
        </p:nvGrpSpPr>
        <p:grpSpPr>
          <a:xfrm>
            <a:off x="468298" y="6571423"/>
            <a:ext cx="2994356" cy="155693"/>
            <a:chOff x="299815" y="6545448"/>
            <a:chExt cx="2432914" cy="155693"/>
          </a:xfrm>
        </p:grpSpPr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3780E697-AC35-EDDF-4E4B-ED4F63A09AFD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323489" y="6585448"/>
              <a:ext cx="1409240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defTabSz="95747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| </a:t>
              </a:r>
              <a:r>
                <a:rPr kumimoji="1" lang="ko-KR" altLang="en-US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인천국제공항 통합정보시스템 고도화 구축 사업</a:t>
              </a: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867C7DB-6F2F-8438-8EB6-1EE2223D2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 bwMode="gray">
            <a:xfrm>
              <a:off x="299815" y="6545448"/>
              <a:ext cx="955164" cy="155693"/>
            </a:xfrm>
            <a:prstGeom prst="rect">
              <a:avLst/>
            </a:prstGeom>
          </p:spPr>
        </p:pic>
      </p:grpSp>
      <p:sp>
        <p:nvSpPr>
          <p:cNvPr id="22" name="Line 4"/>
          <p:cNvSpPr>
            <a:spLocks noChangeShapeType="1"/>
          </p:cNvSpPr>
          <p:nvPr userDrawn="1"/>
        </p:nvSpPr>
        <p:spPr bwMode="auto">
          <a:xfrm>
            <a:off x="0" y="571500"/>
            <a:ext cx="1219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endParaRPr lang="ko-KR" altLang="en-US" sz="180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4A100D-B537-B83E-0F2C-531635203217}"/>
              </a:ext>
            </a:extLst>
          </p:cNvPr>
          <p:cNvGrpSpPr/>
          <p:nvPr userDrawn="1"/>
        </p:nvGrpSpPr>
        <p:grpSpPr>
          <a:xfrm>
            <a:off x="10861364" y="1"/>
            <a:ext cx="1010999" cy="443379"/>
            <a:chOff x="8631953" y="0"/>
            <a:chExt cx="821436" cy="44337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A32C599-D17E-32B6-1EE9-346065250115}"/>
                </a:ext>
              </a:extLst>
            </p:cNvPr>
            <p:cNvSpPr txBox="1"/>
            <p:nvPr/>
          </p:nvSpPr>
          <p:spPr>
            <a:xfrm>
              <a:off x="8631953" y="270441"/>
              <a:ext cx="743432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defTabSz="914125" fontAlgn="base" latinLnBrk="0">
                <a:spcBef>
                  <a:spcPct val="0"/>
                </a:spcBef>
                <a:spcAft>
                  <a:spcPts val="200"/>
                </a:spcAft>
                <a:defRPr sz="1100" spc="-2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charset="0"/>
                </a:defRPr>
              </a:lvl1pPr>
            </a:lstStyle>
            <a:p>
              <a:pPr marL="0" marR="0" lvl="0" indent="0" algn="r" defTabSz="9141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제</a:t>
              </a:r>
              <a:r>
                <a:rPr kumimoji="0" lang="en-US" altLang="ko-KR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3</a:t>
              </a:r>
              <a:r>
                <a:rPr kumimoji="0" lang="ko-KR" altLang="en-US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자 테스트 계획</a:t>
              </a:r>
              <a:endParaRPr kumimoji="0" lang="en-US" altLang="ko-KR" sz="1000" b="0" i="0" u="none" strike="noStrike" kern="1200" cap="none" spc="-4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charset="0"/>
              </a:endParaRPr>
            </a:p>
          </p:txBody>
        </p:sp>
        <p:cxnSp>
          <p:nvCxnSpPr>
            <p:cNvPr id="30" name="직선 연결선 109">
              <a:extLst>
                <a:ext uri="{FF2B5EF4-FFF2-40B4-BE49-F238E27FC236}">
                  <a16:creationId xmlns:a16="http://schemas.microsoft.com/office/drawing/2014/main" id="{056C6A96-585D-F666-8E00-9B0A66536827}"/>
                </a:ext>
              </a:extLst>
            </p:cNvPr>
            <p:cNvCxnSpPr/>
            <p:nvPr/>
          </p:nvCxnSpPr>
          <p:spPr>
            <a:xfrm>
              <a:off x="9453389" y="0"/>
              <a:ext cx="0" cy="443379"/>
            </a:xfrm>
            <a:prstGeom prst="line">
              <a:avLst/>
            </a:prstGeom>
            <a:ln w="9525" cap="flat">
              <a:solidFill>
                <a:srgbClr val="9AA3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타원 30">
            <a:extLst>
              <a:ext uri="{FF2B5EF4-FFF2-40B4-BE49-F238E27FC236}">
                <a16:creationId xmlns:a16="http://schemas.microsoft.com/office/drawing/2014/main" id="{5AC935BD-F940-7942-B750-837F8997D518}"/>
              </a:ext>
            </a:extLst>
          </p:cNvPr>
          <p:cNvSpPr/>
          <p:nvPr userDrawn="1"/>
        </p:nvSpPr>
        <p:spPr>
          <a:xfrm>
            <a:off x="11624348" y="171485"/>
            <a:ext cx="70892" cy="57600"/>
          </a:xfrm>
          <a:prstGeom prst="ellipse">
            <a:avLst/>
          </a:prstGeom>
          <a:solidFill>
            <a:srgbClr val="EEF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A9B34389-9A8F-1649-6284-ACFAD5A8DA15}"/>
              </a:ext>
            </a:extLst>
          </p:cNvPr>
          <p:cNvSpPr/>
          <p:nvPr userDrawn="1"/>
        </p:nvSpPr>
        <p:spPr>
          <a:xfrm>
            <a:off x="11359979" y="171485"/>
            <a:ext cx="70892" cy="57600"/>
          </a:xfrm>
          <a:prstGeom prst="ellipse">
            <a:avLst/>
          </a:prstGeom>
          <a:solidFill>
            <a:srgbClr val="D8D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60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BF3E9267-D3B0-F322-8BDD-60A1AFD00E47}"/>
              </a:ext>
            </a:extLst>
          </p:cNvPr>
          <p:cNvSpPr/>
          <p:nvPr userDrawn="1"/>
        </p:nvSpPr>
        <p:spPr>
          <a:xfrm>
            <a:off x="11492164" y="171485"/>
            <a:ext cx="70892" cy="57600"/>
          </a:xfrm>
          <a:prstGeom prst="ellipse">
            <a:avLst/>
          </a:prstGeom>
          <a:solidFill>
            <a:srgbClr val="1774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60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685" y="6511501"/>
            <a:ext cx="1450873" cy="24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43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73" r:id="rId4"/>
    <p:sldLayoutId id="2147483677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>
          <p15:clr>
            <a:srgbClr val="F26B43"/>
          </p15:clr>
        </p15:guide>
        <p15:guide id="2" pos="6000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572">
          <p15:clr>
            <a:srgbClr val="F26B43"/>
          </p15:clr>
        </p15:guide>
        <p15:guide id="5" orient="horz" pos="406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1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38016" y="160745"/>
            <a:ext cx="3953005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ko-KR"/>
              <a:t>Chapter(HY</a:t>
            </a:r>
            <a:r>
              <a:rPr lang="ko-KR" altLang="en-US"/>
              <a:t>견고딕</a:t>
            </a:r>
            <a:r>
              <a:rPr lang="en-US" altLang="ko-KR"/>
              <a:t>/Normal/18pt.)</a:t>
            </a:r>
          </a:p>
        </p:txBody>
      </p:sp>
      <p:sp>
        <p:nvSpPr>
          <p:cNvPr id="138244" name="Line 4"/>
          <p:cNvSpPr>
            <a:spLocks noChangeShapeType="1"/>
          </p:cNvSpPr>
          <p:nvPr/>
        </p:nvSpPr>
        <p:spPr bwMode="auto">
          <a:xfrm>
            <a:off x="336062" y="549275"/>
            <a:ext cx="11519877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 latinLnBrk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pPr>
            <a:endParaRPr kumimoji="1" lang="ko-KR" altLang="en-US" sz="1100" b="1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24271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8124" y="620714"/>
            <a:ext cx="11353801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Governing Message(HY</a:t>
            </a:r>
            <a:r>
              <a:rPr lang="ko-KR" altLang="en-US" dirty="0"/>
              <a:t>견고딕</a:t>
            </a:r>
            <a:r>
              <a:rPr lang="en-US" altLang="ko-KR" dirty="0"/>
              <a:t>/Normal/16pt.)</a:t>
            </a:r>
          </a:p>
        </p:txBody>
      </p:sp>
      <p:sp>
        <p:nvSpPr>
          <p:cNvPr id="17039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774438" y="6596471"/>
            <a:ext cx="64312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1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kumimoji="1" b="1">
                <a:solidFill>
                  <a:srgbClr val="000000"/>
                </a:solidFill>
                <a:effectLst/>
                <a:latin typeface="Arial" charset="0"/>
                <a:ea typeface="+mn-ea"/>
              </a:defRPr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fld id="{D901DA46-8911-4498-BA0B-EC3B427DABB3}" type="slidenum">
              <a:rPr lang="en-US" altLang="ko-KR" sz="1200" smtClean="0"/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ko-KR" sz="1200"/>
              <a:t> / </a:t>
            </a:r>
            <a:r>
              <a:rPr lang="en-US" altLang="ko-KR" sz="1000"/>
              <a:t>00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3848719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hf hdr="0" dt="0"/>
  <p:txStyles>
    <p:titleStyle>
      <a:lvl1pPr algn="l" rtl="0" fontAlgn="base" latinLnBrk="1">
        <a:spcBef>
          <a:spcPct val="0"/>
        </a:spcBef>
        <a:spcAft>
          <a:spcPct val="0"/>
        </a:spcAft>
        <a:defRPr kumimoji="1">
          <a:solidFill>
            <a:srgbClr val="000000"/>
          </a:solidFill>
          <a:latin typeface="+mj-lt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>
          <a:solidFill>
            <a:srgbClr val="000000"/>
          </a:solidFill>
          <a:latin typeface="HY견고딕" pitchFamily="18" charset="-127"/>
          <a:ea typeface="HY견고딕" pitchFamily="18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>
          <a:solidFill>
            <a:srgbClr val="000000"/>
          </a:solidFill>
          <a:latin typeface="HY견고딕" pitchFamily="18" charset="-127"/>
          <a:ea typeface="HY견고딕" pitchFamily="18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>
          <a:solidFill>
            <a:srgbClr val="000000"/>
          </a:solidFill>
          <a:latin typeface="HY견고딕" pitchFamily="18" charset="-127"/>
          <a:ea typeface="HY견고딕" pitchFamily="18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>
          <a:solidFill>
            <a:srgbClr val="000000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>
          <a:solidFill>
            <a:srgbClr val="000000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>
          <a:solidFill>
            <a:srgbClr val="000000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>
          <a:solidFill>
            <a:srgbClr val="000000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>
          <a:solidFill>
            <a:srgbClr val="000000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FontTx/>
        <a:buNone/>
        <a:defRPr kumimoji="1" sz="16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Font typeface="Arial" charset="0"/>
        <a:buChar char="–"/>
        <a:defRPr kumimoji="1" sz="1600">
          <a:solidFill>
            <a:schemeClr val="tx1"/>
          </a:solidFill>
          <a:latin typeface="굴림" charset="-127"/>
          <a:ea typeface="굴림" charset="-127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Font typeface="Arial" charset="0"/>
        <a:buChar char="•"/>
        <a:defRPr kumimoji="1" sz="1400">
          <a:solidFill>
            <a:schemeClr val="tx1"/>
          </a:solidFill>
          <a:latin typeface="굴림" charset="-127"/>
          <a:ea typeface="굴림" charset="-127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Font typeface="Arial" charset="0"/>
        <a:buChar char="–"/>
        <a:defRPr kumimoji="1" sz="1200">
          <a:solidFill>
            <a:schemeClr val="tx1"/>
          </a:solidFill>
          <a:latin typeface="굴림" charset="-127"/>
          <a:ea typeface="굴림" charset="-127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Font typeface="Arial" charset="0"/>
        <a:buChar char="»"/>
        <a:defRPr kumimoji="1" sz="1200">
          <a:solidFill>
            <a:schemeClr val="tx1"/>
          </a:solidFill>
          <a:latin typeface="굴림" charset="-127"/>
          <a:ea typeface="굴림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Font typeface="Arial" charset="0"/>
        <a:buChar char="»"/>
        <a:defRPr kumimoji="1" sz="1200">
          <a:solidFill>
            <a:schemeClr val="tx1"/>
          </a:solidFill>
          <a:latin typeface="굴림" charset="-127"/>
          <a:ea typeface="굴림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Font typeface="Arial" charset="0"/>
        <a:buChar char="»"/>
        <a:defRPr kumimoji="1" sz="1200">
          <a:solidFill>
            <a:schemeClr val="tx1"/>
          </a:solidFill>
          <a:latin typeface="굴림" charset="-127"/>
          <a:ea typeface="굴림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Font typeface="Arial" charset="0"/>
        <a:buChar char="»"/>
        <a:defRPr kumimoji="1" sz="1200">
          <a:solidFill>
            <a:schemeClr val="tx1"/>
          </a:solidFill>
          <a:latin typeface="굴림" charset="-127"/>
          <a:ea typeface="굴림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Font typeface="Arial" charset="0"/>
        <a:buChar char="»"/>
        <a:defRPr kumimoji="1" sz="1200">
          <a:solidFill>
            <a:schemeClr val="tx1"/>
          </a:solidFill>
          <a:latin typeface="굴림" charset="-127"/>
          <a:ea typeface="굴림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01AADF5-7B5D-4FC5-24AD-4BFEA5EC92B6}"/>
              </a:ext>
            </a:extLst>
          </p:cNvPr>
          <p:cNvSpPr/>
          <p:nvPr/>
        </p:nvSpPr>
        <p:spPr bwMode="gray">
          <a:xfrm>
            <a:off x="628206" y="1568095"/>
            <a:ext cx="5256584" cy="1692771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defTabSz="685800" fontAlgn="base" latinLnBrk="0">
              <a:lnSpc>
                <a:spcPct val="110000"/>
              </a:lnSpc>
              <a:defRPr/>
            </a:pPr>
            <a:r>
              <a:rPr lang="ko-KR" altLang="en-US" sz="28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인천국제공항</a:t>
            </a:r>
          </a:p>
          <a:p>
            <a:pPr defTabSz="685800" fontAlgn="base" latinLnBrk="0">
              <a:lnSpc>
                <a:spcPct val="110000"/>
              </a:lnSpc>
              <a:defRPr/>
            </a:pPr>
            <a:r>
              <a:rPr lang="ko-KR" altLang="en-US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통합정보시스템 고도화</a:t>
            </a:r>
            <a:br>
              <a:rPr lang="en-US" altLang="ko-KR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ko-KR" altLang="en-US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구축사업</a:t>
            </a:r>
            <a:endParaRPr lang="en-US" altLang="ko-KR" sz="3600" spc="-30" dirty="0">
              <a:ln>
                <a:solidFill>
                  <a:srgbClr val="9933FF">
                    <a:alpha val="0"/>
                  </a:srgbClr>
                </a:solidFill>
              </a:ln>
              <a:solidFill>
                <a:srgbClr val="4472C4">
                  <a:lumMod val="7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23B5E8-A9CC-1E60-922D-D50CC07BB63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8207" y="707036"/>
            <a:ext cx="1922885" cy="30969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0C92C1E-EAB5-2D3E-D989-AC05435A2A9A}"/>
              </a:ext>
            </a:extLst>
          </p:cNvPr>
          <p:cNvSpPr/>
          <p:nvPr/>
        </p:nvSpPr>
        <p:spPr bwMode="gray">
          <a:xfrm>
            <a:off x="628206" y="3527535"/>
            <a:ext cx="4138527" cy="5693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defTabSz="685800" fontAlgn="base" latinLnBrk="0">
              <a:spcBef>
                <a:spcPts val="600"/>
              </a:spcBef>
              <a:spcAft>
                <a:spcPct val="0"/>
              </a:spcAft>
              <a:defRPr/>
            </a:pPr>
            <a:r>
              <a:rPr lang="en-US" altLang="ko-KR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Iteration2 3</a:t>
            </a:r>
            <a:r>
              <a:rPr lang="ko-KR" altLang="en-US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차 단위테스트 </a:t>
            </a:r>
            <a:r>
              <a:rPr lang="en-US" altLang="ko-KR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</a:t>
            </a:r>
            <a:r>
              <a:rPr lang="ko-KR" altLang="en-US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 시험 수행 계획 </a:t>
            </a:r>
            <a:endParaRPr lang="en-US" altLang="ko-KR" sz="1600" dirty="0">
              <a:ln>
                <a:solidFill>
                  <a:srgbClr val="9933FF">
                    <a:alpha val="0"/>
                  </a:srgbClr>
                </a:solidFill>
              </a:ln>
              <a:solidFill>
                <a:prstClr val="white">
                  <a:lumMod val="50000"/>
                </a:prst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defTabSz="685800" fontAlgn="base" latinLnBrk="0">
              <a:spcBef>
                <a:spcPts val="600"/>
              </a:spcBef>
              <a:spcAft>
                <a:spcPct val="0"/>
              </a:spcAft>
              <a:defRPr/>
            </a:pPr>
            <a:r>
              <a:rPr lang="en-US" altLang="ko-KR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2026.03.23 ~ 2026.03.27 (5</a:t>
            </a:r>
            <a:r>
              <a:rPr lang="ko-KR" altLang="en-US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일</a:t>
            </a:r>
            <a:r>
              <a:rPr lang="en-US" altLang="ko-KR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73908146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C0B19DBD-46A5-4A47-BB9E-74357341DC20}"/>
              </a:ext>
            </a:extLst>
          </p:cNvPr>
          <p:cNvSpPr/>
          <p:nvPr/>
        </p:nvSpPr>
        <p:spPr>
          <a:xfrm>
            <a:off x="5567322" y="2614633"/>
            <a:ext cx="5270016" cy="1094172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  <a:cs typeface="+mn-cs"/>
            </a:endParaRPr>
          </a:p>
        </p:txBody>
      </p:sp>
      <p:sp>
        <p:nvSpPr>
          <p:cNvPr id="16" name="TextBox 27">
            <a:extLst>
              <a:ext uri="{FF2B5EF4-FFF2-40B4-BE49-F238E27FC236}">
                <a16:creationId xmlns:a16="http://schemas.microsoft.com/office/drawing/2014/main" id="{11837BD0-1E45-4A8C-A71A-D4983063A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891" y="626360"/>
            <a:ext cx="8810297" cy="819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spcBef>
                <a:spcPct val="30000"/>
              </a:spcBef>
            </a:pPr>
            <a:r>
              <a:rPr lang="en-US" altLang="ko-KR" sz="1500" b="1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맑은 고딕 Semilight" panose="020B0502040204020203" pitchFamily="50" charset="-127"/>
              </a:rPr>
              <a:t>3</a:t>
            </a:r>
            <a:r>
              <a:rPr lang="ko-KR" altLang="en-US" sz="1500" b="1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맑은 고딕 Semilight" panose="020B0502040204020203" pitchFamily="50" charset="-127"/>
              </a:rPr>
              <a:t>자 시험 통하여 구현 단계 성과물에 대한 기능성</a:t>
            </a:r>
            <a:r>
              <a:rPr lang="en-US" altLang="ko-KR" sz="1500" b="1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500" b="1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맑은 고딕 Semilight" panose="020B0502040204020203" pitchFamily="50" charset="-127"/>
              </a:rPr>
              <a:t>신뢰성</a:t>
            </a:r>
            <a:r>
              <a:rPr lang="en-US" altLang="ko-KR" sz="1500" b="1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500" b="1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맑은 고딕 Semilight" panose="020B0502040204020203" pitchFamily="50" charset="-127"/>
              </a:rPr>
              <a:t>사용성 측면에서 객관적으로 </a:t>
            </a:r>
            <a:r>
              <a:rPr lang="ko-KR" altLang="en-US" sz="1500" b="1" dirty="0" err="1">
                <a:latin typeface="KoPub돋움체 Bold" panose="00000800000000000000" pitchFamily="2" charset="-127"/>
                <a:ea typeface="KoPub돋움체 Bold" panose="00000800000000000000" pitchFamily="2" charset="-127"/>
                <a:cs typeface="맑은 고딕 Semilight" panose="020B0502040204020203" pitchFamily="50" charset="-127"/>
              </a:rPr>
              <a:t>테스트함으로서</a:t>
            </a:r>
            <a:r>
              <a:rPr lang="en-US" altLang="ko-KR" sz="1500" b="1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맑은 고딕 Semilight" panose="020B0502040204020203" pitchFamily="50" charset="-127"/>
              </a:rPr>
              <a:t>,</a:t>
            </a:r>
          </a:p>
          <a:p>
            <a:pPr latinLnBrk="0">
              <a:lnSpc>
                <a:spcPct val="150000"/>
              </a:lnSpc>
              <a:spcBef>
                <a:spcPct val="30000"/>
              </a:spcBef>
            </a:pPr>
            <a:r>
              <a:rPr lang="ko-KR" altLang="en-US" sz="1500" b="1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맑은 고딕 Semilight" panose="020B0502040204020203" pitchFamily="50" charset="-127"/>
              </a:rPr>
              <a:t>결함을 사전에 도출하여 취약한 부분을 보완하여 개발 품질 수준을 높이고자 함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0B395B-5A0D-4B47-9FC0-D38E5C3FC40D}"/>
              </a:ext>
            </a:extLst>
          </p:cNvPr>
          <p:cNvSpPr txBox="1"/>
          <p:nvPr/>
        </p:nvSpPr>
        <p:spPr>
          <a:xfrm>
            <a:off x="390681" y="1773637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sym typeface="Wingdings"/>
              </a:rPr>
              <a:t> </a:t>
            </a:r>
            <a:r>
              <a:rPr lang="ko-KR" altLang="en-US" sz="16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목 적</a:t>
            </a:r>
            <a:endParaRPr lang="en-US" altLang="ko-KR" sz="1600" b="1" dirty="0">
              <a:solidFill>
                <a:srgbClr val="000000"/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FEDD672-9CE7-4285-AD8F-C98BE1A2F4A2}"/>
              </a:ext>
            </a:extLst>
          </p:cNvPr>
          <p:cNvCxnSpPr>
            <a:cxnSpLocks/>
          </p:cNvCxnSpPr>
          <p:nvPr/>
        </p:nvCxnSpPr>
        <p:spPr>
          <a:xfrm>
            <a:off x="494885" y="2112191"/>
            <a:ext cx="3816424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FB01A8F-0BE0-443C-B547-565CEB0DC519}"/>
              </a:ext>
            </a:extLst>
          </p:cNvPr>
          <p:cNvSpPr txBox="1"/>
          <p:nvPr/>
        </p:nvSpPr>
        <p:spPr>
          <a:xfrm>
            <a:off x="5202659" y="1773637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sym typeface="Wingdings"/>
              </a:rPr>
              <a:t> 점검 사항 </a:t>
            </a:r>
            <a:endParaRPr lang="en-US" altLang="ko-KR" sz="1600" b="1" dirty="0">
              <a:solidFill>
                <a:srgbClr val="000000"/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ABF1695-F161-4EFC-9FA2-F72B2C0D1483}"/>
              </a:ext>
            </a:extLst>
          </p:cNvPr>
          <p:cNvCxnSpPr>
            <a:cxnSpLocks/>
          </p:cNvCxnSpPr>
          <p:nvPr/>
        </p:nvCxnSpPr>
        <p:spPr>
          <a:xfrm>
            <a:off x="5296384" y="2112191"/>
            <a:ext cx="597600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23" name="Rectangle 4">
            <a:extLst>
              <a:ext uri="{FF2B5EF4-FFF2-40B4-BE49-F238E27FC236}">
                <a16:creationId xmlns:a16="http://schemas.microsoft.com/office/drawing/2014/main" id="{0775D178-16CF-41AF-9C91-AC5A6F91C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7869" y="2162178"/>
            <a:ext cx="3554005" cy="362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300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○ </a:t>
            </a:r>
            <a:r>
              <a:rPr kumimoji="1" lang="ko-KR" altLang="en-US" sz="13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기능의 </a:t>
            </a:r>
            <a:r>
              <a:rPr kumimoji="1" lang="ko-KR" altLang="en-US" sz="1300" b="1" dirty="0" err="1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충분성</a:t>
            </a:r>
            <a:r>
              <a:rPr kumimoji="1" lang="ko-KR" altLang="en-US" sz="13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 확인</a:t>
            </a:r>
            <a:endParaRPr kumimoji="1" lang="en-US" altLang="ko-KR" sz="1300" dirty="0">
              <a:solidFill>
                <a:srgbClr val="000000"/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굴림" charset="-127"/>
            </a:endParaRPr>
          </a:p>
        </p:txBody>
      </p:sp>
      <p:sp>
        <p:nvSpPr>
          <p:cNvPr id="26" name="Rectangle 4">
            <a:extLst>
              <a:ext uri="{FF2B5EF4-FFF2-40B4-BE49-F238E27FC236}">
                <a16:creationId xmlns:a16="http://schemas.microsoft.com/office/drawing/2014/main" id="{4E8CBF85-85B3-4B12-B1BA-27175146F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993" y="2162178"/>
            <a:ext cx="4148953" cy="963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3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○</a:t>
            </a:r>
            <a:r>
              <a:rPr kumimoji="1" lang="en-US" altLang="ko-KR" sz="13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 3</a:t>
            </a:r>
            <a:r>
              <a:rPr kumimoji="1" lang="ko-KR" altLang="en-US" sz="13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자 관점의 독립적인 테스트를 통한 현재 품질수준 점검</a:t>
            </a:r>
            <a:endParaRPr kumimoji="1" lang="en-US" altLang="ko-KR" sz="1300" b="1" dirty="0">
              <a:solidFill>
                <a:srgbClr val="000000"/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3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○ 주요 기능에 대한 취약점을 사전 노출하여 </a:t>
            </a:r>
            <a:endParaRPr kumimoji="1" lang="en-US" altLang="ko-KR" sz="1300" b="1" dirty="0">
              <a:solidFill>
                <a:srgbClr val="000000"/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3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    </a:t>
            </a:r>
            <a:r>
              <a:rPr kumimoji="1" lang="ko-KR" altLang="en-US" sz="13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고객 테스트</a:t>
            </a:r>
            <a:r>
              <a:rPr kumimoji="1" lang="en-US" altLang="ko-KR" sz="13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 </a:t>
            </a:r>
            <a:r>
              <a:rPr kumimoji="1" lang="ko-KR" altLang="en-US" sz="13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전 신뢰성 있는 품질</a:t>
            </a:r>
            <a:r>
              <a:rPr kumimoji="1" lang="en-US" altLang="ko-KR" sz="13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 </a:t>
            </a:r>
            <a:r>
              <a:rPr kumimoji="1" lang="ko-KR" altLang="en-US" sz="13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수준 확보</a:t>
            </a:r>
            <a:endParaRPr kumimoji="1" lang="en-US" altLang="ko-KR" sz="1300" b="1" dirty="0">
              <a:solidFill>
                <a:srgbClr val="000000"/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굴림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7C44C95-0097-4676-ABFF-4662C2A26EC5}"/>
              </a:ext>
            </a:extLst>
          </p:cNvPr>
          <p:cNvSpPr/>
          <p:nvPr/>
        </p:nvSpPr>
        <p:spPr>
          <a:xfrm>
            <a:off x="5582066" y="4545110"/>
            <a:ext cx="5263735" cy="862032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  <a:cs typeface="+mn-cs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2C2ACFBF-37DA-4276-AEF1-34325149E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868" y="4092655"/>
            <a:ext cx="2621149" cy="362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300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○ </a:t>
            </a:r>
            <a:r>
              <a:rPr kumimoji="1" lang="ko-KR" altLang="en-US" sz="1300" b="1" dirty="0" err="1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비기능</a:t>
            </a:r>
            <a:r>
              <a:rPr kumimoji="1" lang="ko-KR" altLang="en-US" sz="13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 품질 특성 검증</a:t>
            </a:r>
            <a:endParaRPr kumimoji="1" lang="en-US" altLang="ko-KR" sz="1300" dirty="0">
              <a:solidFill>
                <a:srgbClr val="000000"/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굴림" charset="-127"/>
            </a:endParaRPr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19C14135-7F07-4611-8D16-F2DEDEE3B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7460" y="4576443"/>
            <a:ext cx="5177474" cy="342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dirty="0"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  </a:t>
            </a:r>
            <a:r>
              <a:rPr kumimoji="1" lang="en-US" altLang="ko-KR" sz="1200" b="1" dirty="0"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-  </a:t>
            </a:r>
            <a:r>
              <a:rPr kumimoji="1" lang="ko-KR" altLang="en-US" sz="1200" b="1" dirty="0"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예외 상황에서의 신뢰적인 기능 작동여부 확인</a:t>
            </a:r>
            <a:endParaRPr kumimoji="1" lang="en-US" altLang="ko-KR" sz="1200" b="1" dirty="0">
              <a:latin typeface="KoPub돋움체 Light" panose="00000300000000000000" pitchFamily="2" charset="-127"/>
              <a:ea typeface="KoPub돋움체 Light" panose="00000300000000000000" pitchFamily="2" charset="-127"/>
              <a:cs typeface="굴림" charset="-127"/>
            </a:endParaRPr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65D1F9F0-442E-44AD-A25F-64C2BFB43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0454" y="2611881"/>
            <a:ext cx="3023217" cy="1173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 </a:t>
            </a:r>
            <a:r>
              <a:rPr kumimoji="1" lang="en-US" altLang="ko-KR" sz="12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- </a:t>
            </a:r>
            <a:r>
              <a:rPr kumimoji="1" lang="ko-KR" altLang="en-US" sz="12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기능 정상 동작 여부 및 오류 식별</a:t>
            </a:r>
            <a:endParaRPr kumimoji="1" lang="en-US" altLang="ko-KR" sz="1200" b="1" dirty="0">
              <a:solidFill>
                <a:srgbClr val="000000"/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 - </a:t>
            </a:r>
            <a:r>
              <a:rPr kumimoji="1" lang="ko-KR" altLang="en-US" sz="12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 요구사항에 부합한 기능 </a:t>
            </a:r>
            <a:r>
              <a:rPr kumimoji="1" lang="ko-KR" altLang="en-US" sz="1200" b="1" dirty="0" err="1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충분성</a:t>
            </a:r>
            <a:r>
              <a:rPr kumimoji="1" lang="ko-KR" altLang="en-US" sz="12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 확인</a:t>
            </a:r>
            <a:r>
              <a:rPr kumimoji="1" lang="en-US" altLang="ko-KR" sz="12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  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 -  </a:t>
            </a:r>
            <a:r>
              <a:rPr kumimoji="1" lang="ko-KR" altLang="en-US" sz="12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  <a:t>공통 표준 항목의 준수 점검</a:t>
            </a:r>
            <a:br>
              <a:rPr kumimoji="1" lang="en-US" altLang="ko-KR" sz="12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굴림" charset="-127"/>
              </a:rPr>
            </a:br>
            <a:endParaRPr kumimoji="1" lang="en-US" altLang="ko-KR" sz="1200" b="1" dirty="0">
              <a:latin typeface="KoPub돋움체 Light" panose="00000300000000000000" pitchFamily="2" charset="-127"/>
              <a:ea typeface="KoPub돋움체 Light" panose="00000300000000000000" pitchFamily="2" charset="-127"/>
              <a:cs typeface="굴림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2BA05A9-8D8B-4523-802E-C1184C5545B7}"/>
              </a:ext>
            </a:extLst>
          </p:cNvPr>
          <p:cNvSpPr/>
          <p:nvPr/>
        </p:nvSpPr>
        <p:spPr>
          <a:xfrm>
            <a:off x="500905" y="113211"/>
            <a:ext cx="1002197" cy="416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685800" fontAlgn="base" latinLnBrk="0">
              <a:lnSpc>
                <a:spcPct val="110000"/>
              </a:lnSpc>
              <a:defRPr/>
            </a:pPr>
            <a:r>
              <a:rPr lang="en-US" altLang="ko-KR" sz="20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1. </a:t>
            </a:r>
            <a:r>
              <a:rPr lang="ko-KR" altLang="en-US" sz="20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개 요</a:t>
            </a:r>
            <a:endParaRPr lang="en-US" altLang="ko-KR" sz="2000" spc="-30" dirty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5" name="Rectangle 609">
            <a:extLst>
              <a:ext uri="{FF2B5EF4-FFF2-40B4-BE49-F238E27FC236}">
                <a16:creationId xmlns:a16="http://schemas.microsoft.com/office/drawing/2014/main" id="{D246A11C-B337-421F-83F3-8C7DBC7CB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1" y="3991517"/>
            <a:ext cx="3266129" cy="2592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 algn="ctr">
              <a:spcAft>
                <a:spcPts val="300"/>
              </a:spcAft>
              <a:defRPr/>
            </a:pPr>
            <a:r>
              <a:rPr lang="en-US" altLang="ko-KR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Iteration 2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</a:p>
        </p:txBody>
      </p:sp>
      <p:sp>
        <p:nvSpPr>
          <p:cNvPr id="36" name="Rectangle 609">
            <a:extLst>
              <a:ext uri="{FF2B5EF4-FFF2-40B4-BE49-F238E27FC236}">
                <a16:creationId xmlns:a16="http://schemas.microsoft.com/office/drawing/2014/main" id="{273557BF-8A3F-445D-947E-CC7995D14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86" y="4560109"/>
            <a:ext cx="912036" cy="216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>
              <a:spcAft>
                <a:spcPts val="300"/>
              </a:spcAft>
              <a:defRPr/>
            </a:pPr>
            <a:r>
              <a:rPr lang="ko-KR" altLang="en-US" sz="11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온라인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0726A37-C874-4E89-A235-2821E5CCEC51}"/>
              </a:ext>
            </a:extLst>
          </p:cNvPr>
          <p:cNvSpPr/>
          <p:nvPr/>
        </p:nvSpPr>
        <p:spPr>
          <a:xfrm>
            <a:off x="1258590" y="4242496"/>
            <a:ext cx="262760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9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전체 개발 기능 중 잔여 개발 대상 </a:t>
            </a:r>
            <a:r>
              <a:rPr lang="en-US" altLang="ko-KR" sz="9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496</a:t>
            </a:r>
            <a:r>
              <a:rPr lang="ko-KR" altLang="en-US" sz="9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건 중 </a:t>
            </a:r>
            <a:r>
              <a:rPr lang="en-US" altLang="ko-KR" sz="9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440</a:t>
            </a:r>
            <a:r>
              <a:rPr lang="ko-KR" altLang="en-US" sz="9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건</a:t>
            </a:r>
            <a:endParaRPr lang="ko-KR" altLang="en-US" sz="900" dirty="0"/>
          </a:p>
        </p:txBody>
      </p:sp>
      <p:sp>
        <p:nvSpPr>
          <p:cNvPr id="52" name="Rectangle 609">
            <a:extLst>
              <a:ext uri="{FF2B5EF4-FFF2-40B4-BE49-F238E27FC236}">
                <a16:creationId xmlns:a16="http://schemas.microsoft.com/office/drawing/2014/main" id="{669DFB7F-800A-44C2-9B78-D7EF97C0E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86" y="4811966"/>
            <a:ext cx="912036" cy="216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>
              <a:spcAft>
                <a:spcPts val="300"/>
              </a:spcAft>
              <a:defRPr/>
            </a:pPr>
            <a:r>
              <a:rPr lang="ko-KR" altLang="en-US" sz="11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레포트</a:t>
            </a:r>
            <a:endParaRPr lang="ko-KR" altLang="en-US" sz="11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accent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E2D578-7C4F-4308-AE13-9B7406E30650}"/>
              </a:ext>
            </a:extLst>
          </p:cNvPr>
          <p:cNvSpPr txBox="1"/>
          <p:nvPr/>
        </p:nvSpPr>
        <p:spPr>
          <a:xfrm>
            <a:off x="439098" y="3567238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sym typeface="Wingdings"/>
              </a:rPr>
              <a:t> 테스트 대상</a:t>
            </a:r>
            <a:endParaRPr lang="en-US" altLang="ko-KR" sz="1600" b="1" dirty="0">
              <a:solidFill>
                <a:srgbClr val="000000"/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53" name="Rectangle 609">
            <a:extLst>
              <a:ext uri="{FF2B5EF4-FFF2-40B4-BE49-F238E27FC236}">
                <a16:creationId xmlns:a16="http://schemas.microsoft.com/office/drawing/2014/main" id="{1CFB5BBF-153A-48A3-A346-CF7F9BEAC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86" y="5063823"/>
            <a:ext cx="912036" cy="216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>
              <a:spcAft>
                <a:spcPts val="300"/>
              </a:spcAft>
              <a:defRPr/>
            </a:pPr>
            <a:r>
              <a:rPr lang="ko-KR" altLang="en-US" sz="11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프로시져</a:t>
            </a:r>
            <a:endParaRPr lang="ko-KR" altLang="en-US" sz="11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accent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4" name="Rectangle 609">
            <a:extLst>
              <a:ext uri="{FF2B5EF4-FFF2-40B4-BE49-F238E27FC236}">
                <a16:creationId xmlns:a16="http://schemas.microsoft.com/office/drawing/2014/main" id="{2B0A704A-EF9F-4080-B001-EA666339D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85" y="5502605"/>
            <a:ext cx="912036" cy="216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>
              <a:spcAft>
                <a:spcPts val="300"/>
              </a:spcAft>
              <a:defRPr/>
            </a:pPr>
            <a:r>
              <a:rPr lang="ko-KR" altLang="en-US" sz="11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배치</a:t>
            </a:r>
          </a:p>
        </p:txBody>
      </p:sp>
      <p:sp>
        <p:nvSpPr>
          <p:cNvPr id="55" name="Rectangle 609">
            <a:extLst>
              <a:ext uri="{FF2B5EF4-FFF2-40B4-BE49-F238E27FC236}">
                <a16:creationId xmlns:a16="http://schemas.microsoft.com/office/drawing/2014/main" id="{8513EDC6-2FAC-4F0A-89D7-D47B8F7C5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85" y="5754461"/>
            <a:ext cx="912036" cy="216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>
              <a:spcAft>
                <a:spcPts val="300"/>
              </a:spcAft>
              <a:defRPr/>
            </a:pPr>
            <a:r>
              <a:rPr lang="ko-KR" altLang="en-US" sz="11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인터페이스</a:t>
            </a:r>
          </a:p>
        </p:txBody>
      </p:sp>
      <p:sp>
        <p:nvSpPr>
          <p:cNvPr id="57" name="이등변 삼각형 56">
            <a:extLst>
              <a:ext uri="{FF2B5EF4-FFF2-40B4-BE49-F238E27FC236}">
                <a16:creationId xmlns:a16="http://schemas.microsoft.com/office/drawing/2014/main" id="{3D5204BD-43E0-4667-9D71-7F648D39135F}"/>
              </a:ext>
            </a:extLst>
          </p:cNvPr>
          <p:cNvSpPr/>
          <p:nvPr/>
        </p:nvSpPr>
        <p:spPr>
          <a:xfrm>
            <a:off x="1280344" y="4304866"/>
            <a:ext cx="45719" cy="85069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2087D2-DC67-48DF-8D08-3586A7A1ED59}"/>
              </a:ext>
            </a:extLst>
          </p:cNvPr>
          <p:cNvSpPr txBox="1"/>
          <p:nvPr/>
        </p:nvSpPr>
        <p:spPr>
          <a:xfrm>
            <a:off x="1776620" y="4771159"/>
            <a:ext cx="1461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테스트 수행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3E5CCA7-63E2-4CFE-8317-B9122B6CC56E}"/>
              </a:ext>
            </a:extLst>
          </p:cNvPr>
          <p:cNvSpPr/>
          <p:nvPr/>
        </p:nvSpPr>
        <p:spPr>
          <a:xfrm>
            <a:off x="620072" y="4479732"/>
            <a:ext cx="3266127" cy="872739"/>
          </a:xfrm>
          <a:prstGeom prst="rect">
            <a:avLst/>
          </a:prstGeom>
          <a:noFill/>
          <a:ln w="3175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140AFA-422E-4E2D-A6DF-78ED54795AD5}"/>
              </a:ext>
            </a:extLst>
          </p:cNvPr>
          <p:cNvSpPr txBox="1"/>
          <p:nvPr/>
        </p:nvSpPr>
        <p:spPr>
          <a:xfrm>
            <a:off x="710084" y="6077694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※ </a:t>
            </a:r>
            <a:r>
              <a:rPr lang="ko-KR" altLang="en-US" sz="1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첨부</a:t>
            </a:r>
            <a:r>
              <a:rPr lang="en-US" altLang="ko-KR" sz="1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) Iteration2_3</a:t>
            </a:r>
            <a:r>
              <a:rPr lang="ko-KR" altLang="en-US" sz="1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차 테스트대상 참조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D56B671-192D-4CDA-8BD7-51B7776172C8}"/>
              </a:ext>
            </a:extLst>
          </p:cNvPr>
          <p:cNvSpPr/>
          <p:nvPr/>
        </p:nvSpPr>
        <p:spPr>
          <a:xfrm>
            <a:off x="620071" y="5442373"/>
            <a:ext cx="3266127" cy="604942"/>
          </a:xfrm>
          <a:prstGeom prst="rect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39D309-7BBC-4095-A756-8AEC1E1218C3}"/>
              </a:ext>
            </a:extLst>
          </p:cNvPr>
          <p:cNvSpPr txBox="1"/>
          <p:nvPr/>
        </p:nvSpPr>
        <p:spPr>
          <a:xfrm>
            <a:off x="1776620" y="5572541"/>
            <a:ext cx="1461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테스트 제외 </a:t>
            </a:r>
            <a:r>
              <a:rPr lang="en-US" altLang="ko-KR" sz="11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(56</a:t>
            </a:r>
            <a:r>
              <a:rPr lang="ko-KR" altLang="en-US" sz="11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건</a:t>
            </a:r>
            <a:r>
              <a:rPr lang="en-US" altLang="ko-KR" sz="11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)</a:t>
            </a:r>
            <a:endParaRPr lang="ko-KR" altLang="en-US" sz="11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0499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500905" y="113211"/>
            <a:ext cx="2496196" cy="416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685800" fontAlgn="base" latinLnBrk="0">
              <a:lnSpc>
                <a:spcPct val="110000"/>
              </a:lnSpc>
              <a:defRPr/>
            </a:pPr>
            <a:r>
              <a:rPr lang="en-US" altLang="ko-KR" sz="20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 </a:t>
            </a:r>
            <a:r>
              <a:rPr lang="ko-KR" altLang="en-US" sz="20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테스트 조직 및 일정</a:t>
            </a:r>
            <a:endParaRPr lang="en-US" altLang="ko-KR" sz="2000" spc="-30" dirty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0" name="TextBox 107">
            <a:extLst>
              <a:ext uri="{FF2B5EF4-FFF2-40B4-BE49-F238E27FC236}">
                <a16:creationId xmlns:a16="http://schemas.microsoft.com/office/drawing/2014/main" id="{24197229-DD0C-0820-4357-D85BE9997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905" y="942592"/>
            <a:ext cx="255481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kumimoji="0" lang="ko-KR" altLang="en-US" sz="1600" b="0" kern="0" spc="-80" dirty="0">
                <a:ln>
                  <a:solidFill>
                    <a:srgbClr val="2F7B80">
                      <a:alpha val="0"/>
                    </a:srgbClr>
                  </a:solidFill>
                </a:ln>
                <a:latin typeface="KoPub돋움체 Bold" pitchFamily="18" charset="-127"/>
                <a:ea typeface="KoPub돋움체 Bold" pitchFamily="18" charset="-127"/>
              </a:rPr>
              <a:t>□  조직 구성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BEDE0B3-A4FE-4712-B021-64ED2B867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484392"/>
              </p:ext>
            </p:extLst>
          </p:nvPr>
        </p:nvGraphicFramePr>
        <p:xfrm>
          <a:off x="588921" y="1315801"/>
          <a:ext cx="4458624" cy="1788795"/>
        </p:xfrm>
        <a:graphic>
          <a:graphicData uri="http://schemas.openxmlformats.org/drawingml/2006/table">
            <a:tbl>
              <a:tblPr firstRow="1" firstCol="1" bandRow="1"/>
              <a:tblGrid>
                <a:gridCol w="935079">
                  <a:extLst>
                    <a:ext uri="{9D8B030D-6E8A-4147-A177-3AD203B41FA5}">
                      <a16:colId xmlns:a16="http://schemas.microsoft.com/office/drawing/2014/main" val="3002535416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417545079"/>
                    </a:ext>
                  </a:extLst>
                </a:gridCol>
                <a:gridCol w="2475795">
                  <a:extLst>
                    <a:ext uri="{9D8B030D-6E8A-4147-A177-3AD203B41FA5}">
                      <a16:colId xmlns:a16="http://schemas.microsoft.com/office/drawing/2014/main" val="3065035465"/>
                    </a:ext>
                  </a:extLst>
                </a:gridCol>
              </a:tblGrid>
              <a:tr h="28922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200" b="1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역할</a:t>
                      </a:r>
                      <a:endParaRPr lang="ko-KR" sz="12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200" b="1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인원</a:t>
                      </a:r>
                      <a:endParaRPr lang="ko-KR" sz="12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200" b="1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주요 책임</a:t>
                      </a:r>
                      <a:endParaRPr lang="ko-KR" sz="12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624796"/>
                  </a:ext>
                </a:extLst>
              </a:tr>
              <a:tr h="29180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테스트 관리</a:t>
                      </a: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명</a:t>
                      </a: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전체 테스트 관리</a:t>
                      </a:r>
                      <a:r>
                        <a:rPr lang="en-US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현황 관리 및 보고서</a:t>
                      </a: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63287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테스트 리더</a:t>
                      </a: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명</a:t>
                      </a: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전체 테스트 </a:t>
                      </a:r>
                      <a:r>
                        <a:rPr lang="ko-KR" altLang="en-US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수행 </a:t>
                      </a:r>
                      <a:r>
                        <a:rPr lang="ko-KR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관리</a:t>
                      </a:r>
                      <a:r>
                        <a:rPr lang="en-US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테스트 수행</a:t>
                      </a:r>
                      <a:endParaRPr lang="ko-KR" sz="1200" b="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50235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테스터</a:t>
                      </a: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ko-KR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명</a:t>
                      </a: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altLang="en-US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테스트</a:t>
                      </a:r>
                      <a:r>
                        <a:rPr lang="ko-KR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 수행</a:t>
                      </a:r>
                      <a:r>
                        <a:rPr lang="en-US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결함 등록</a:t>
                      </a: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718222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PL, </a:t>
                      </a:r>
                      <a:r>
                        <a:rPr lang="ko-KR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개발자</a:t>
                      </a: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200" b="0" kern="10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각 모듈별 담당</a:t>
                      </a: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12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기능 수정 및 원인 분석</a:t>
                      </a: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032321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200" b="1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합계</a:t>
                      </a:r>
                      <a:endParaRPr lang="ko-KR" sz="12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ko-KR" sz="1200" b="1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명</a:t>
                      </a:r>
                      <a:endParaRPr lang="ko-KR" sz="12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endParaRPr lang="ko-KR" sz="12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220317"/>
                  </a:ext>
                </a:extLst>
              </a:tr>
            </a:tbl>
          </a:graphicData>
        </a:graphic>
      </p:graphicFrame>
      <p:sp>
        <p:nvSpPr>
          <p:cNvPr id="30" name="Rectangle 609">
            <a:extLst>
              <a:ext uri="{FF2B5EF4-FFF2-40B4-BE49-F238E27FC236}">
                <a16:creationId xmlns:a16="http://schemas.microsoft.com/office/drawing/2014/main" id="{6FB5C540-BD5A-4EDB-A6DB-7102C9356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03" y="3834626"/>
            <a:ext cx="773547" cy="15173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 algn="ctr">
              <a:spcAft>
                <a:spcPts val="300"/>
              </a:spcAft>
              <a:defRPr/>
            </a:pP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</a:t>
            </a:r>
            <a:endParaRPr lang="en-US" altLang="ko-KR" sz="12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>
              <a:spcAft>
                <a:spcPts val="300"/>
              </a:spcAft>
              <a:defRPr/>
            </a:pP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사업자</a:t>
            </a:r>
          </a:p>
        </p:txBody>
      </p:sp>
      <p:sp>
        <p:nvSpPr>
          <p:cNvPr id="33" name="Rectangle 609">
            <a:extLst>
              <a:ext uri="{FF2B5EF4-FFF2-40B4-BE49-F238E27FC236}">
                <a16:creationId xmlns:a16="http://schemas.microsoft.com/office/drawing/2014/main" id="{738742DB-18B6-4019-82CD-F4DE775EC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916" y="3835052"/>
            <a:ext cx="520219" cy="15173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>
              <a:spcAft>
                <a:spcPts val="300"/>
              </a:spcAft>
              <a:defRPr/>
            </a:pPr>
            <a:r>
              <a:rPr lang="en-US" altLang="ko-KR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IDT</a:t>
            </a:r>
            <a:endParaRPr lang="ko-KR" altLang="en-US" sz="800" b="1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34" name="Rectangle 609">
            <a:extLst>
              <a:ext uri="{FF2B5EF4-FFF2-40B4-BE49-F238E27FC236}">
                <a16:creationId xmlns:a16="http://schemas.microsoft.com/office/drawing/2014/main" id="{4E30E529-73CA-404E-9151-137B499C5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100" y="4144268"/>
            <a:ext cx="1656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>
              <a:spcAft>
                <a:spcPts val="300"/>
              </a:spcAft>
              <a:defRPr/>
            </a:pPr>
            <a:r>
              <a:rPr lang="ko-KR" altLang="en-US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윤 성 훈 차장     </a:t>
            </a:r>
            <a:r>
              <a:rPr lang="en-US" altLang="ko-KR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(</a:t>
            </a:r>
            <a:r>
              <a:rPr lang="ko-KR" altLang="en-US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기존</a:t>
            </a:r>
            <a:r>
              <a:rPr lang="en-US" altLang="ko-KR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)</a:t>
            </a:r>
            <a:endParaRPr lang="ko-KR" altLang="en-US" sz="800" b="1" kern="0" dirty="0">
              <a:ln>
                <a:solidFill>
                  <a:prstClr val="white">
                    <a:alpha val="0"/>
                  </a:prstClr>
                </a:solidFill>
              </a:ln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35" name="Rectangle 609">
            <a:extLst>
              <a:ext uri="{FF2B5EF4-FFF2-40B4-BE49-F238E27FC236}">
                <a16:creationId xmlns:a16="http://schemas.microsoft.com/office/drawing/2014/main" id="{2D5656D2-B6BE-4D71-923B-C653B0CA9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100" y="4453615"/>
            <a:ext cx="1656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>
              <a:spcAft>
                <a:spcPts val="300"/>
              </a:spcAft>
              <a:defRPr/>
            </a:pPr>
            <a:r>
              <a:rPr lang="ko-KR" altLang="en-US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김 철 현 차장     </a:t>
            </a:r>
            <a:r>
              <a:rPr lang="en-US" altLang="ko-KR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(</a:t>
            </a:r>
            <a:r>
              <a:rPr lang="ko-KR" altLang="en-US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기존</a:t>
            </a:r>
            <a:r>
              <a:rPr lang="en-US" altLang="ko-KR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)</a:t>
            </a:r>
            <a:endParaRPr lang="ko-KR" altLang="en-US" sz="800" b="1" kern="0" dirty="0">
              <a:ln>
                <a:solidFill>
                  <a:prstClr val="white">
                    <a:alpha val="0"/>
                  </a:prstClr>
                </a:solidFill>
              </a:ln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36" name="Rectangle 609">
            <a:extLst>
              <a:ext uri="{FF2B5EF4-FFF2-40B4-BE49-F238E27FC236}">
                <a16:creationId xmlns:a16="http://schemas.microsoft.com/office/drawing/2014/main" id="{5A0CF65C-EB74-41D6-B01A-21FD789E3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100" y="4762962"/>
            <a:ext cx="1656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>
              <a:spcAft>
                <a:spcPts val="300"/>
              </a:spcAft>
              <a:defRPr/>
            </a:pPr>
            <a:r>
              <a:rPr lang="ko-KR" altLang="en-US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박 선 용 차장     </a:t>
            </a:r>
            <a:r>
              <a:rPr lang="en-US" altLang="ko-KR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(</a:t>
            </a:r>
            <a:r>
              <a:rPr lang="ko-KR" altLang="en-US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신규</a:t>
            </a:r>
            <a:r>
              <a:rPr lang="en-US" altLang="ko-KR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)</a:t>
            </a:r>
            <a:endParaRPr lang="ko-KR" altLang="en-US" sz="800" b="1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FF0000"/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50" name="Rectangle 609">
            <a:extLst>
              <a:ext uri="{FF2B5EF4-FFF2-40B4-BE49-F238E27FC236}">
                <a16:creationId xmlns:a16="http://schemas.microsoft.com/office/drawing/2014/main" id="{E23D2AF2-FCEA-476A-AAE0-CF17DC5BB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100" y="3834921"/>
            <a:ext cx="1656000" cy="2880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>
              <a:spcAft>
                <a:spcPts val="300"/>
              </a:spcAft>
              <a:defRPr/>
            </a:pPr>
            <a:r>
              <a:rPr lang="ko-KR" altLang="en-US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양 수 정 수석</a:t>
            </a:r>
            <a:endParaRPr lang="ko-KR" altLang="en-US" sz="800" b="1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51" name="Rectangle 609">
            <a:extLst>
              <a:ext uri="{FF2B5EF4-FFF2-40B4-BE49-F238E27FC236}">
                <a16:creationId xmlns:a16="http://schemas.microsoft.com/office/drawing/2014/main" id="{8866B73B-90CE-4347-A116-9F3A60B78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5392" y="3834921"/>
            <a:ext cx="1139516" cy="28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 algn="ctr">
              <a:spcAft>
                <a:spcPts val="300"/>
              </a:spcAft>
              <a:defRPr/>
            </a:pPr>
            <a:r>
              <a:rPr lang="ko-KR" altLang="en-US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테스트 관리</a:t>
            </a:r>
            <a:endParaRPr lang="ko-KR" altLang="en-US" sz="800" b="1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56" name="Rectangle 609">
            <a:extLst>
              <a:ext uri="{FF2B5EF4-FFF2-40B4-BE49-F238E27FC236}">
                <a16:creationId xmlns:a16="http://schemas.microsoft.com/office/drawing/2014/main" id="{3A5E4631-B981-45EB-A96E-9F2B5FAFB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5392" y="4147277"/>
            <a:ext cx="1139516" cy="28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 algn="ctr">
              <a:spcAft>
                <a:spcPts val="300"/>
              </a:spcAft>
              <a:defRPr/>
            </a:pPr>
            <a:r>
              <a:rPr lang="ko-KR" altLang="en-US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테스트 리더</a:t>
            </a:r>
            <a:endParaRPr lang="ko-KR" altLang="en-US" sz="800" b="1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57" name="Rectangle 609">
            <a:extLst>
              <a:ext uri="{FF2B5EF4-FFF2-40B4-BE49-F238E27FC236}">
                <a16:creationId xmlns:a16="http://schemas.microsoft.com/office/drawing/2014/main" id="{582BF9B9-13BF-429E-92F0-55E682FD5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5392" y="4453615"/>
            <a:ext cx="1139516" cy="151737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 algn="ctr">
              <a:spcAft>
                <a:spcPts val="300"/>
              </a:spcAft>
              <a:defRPr/>
            </a:pPr>
            <a:r>
              <a:rPr lang="ko-KR" altLang="en-US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테스터</a:t>
            </a:r>
            <a:endParaRPr lang="ko-KR" altLang="en-US" sz="800" b="1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9C128C-BD37-4EC1-851F-F793A221184D}"/>
              </a:ext>
            </a:extLst>
          </p:cNvPr>
          <p:cNvSpPr txBox="1"/>
          <p:nvPr/>
        </p:nvSpPr>
        <p:spPr>
          <a:xfrm>
            <a:off x="500905" y="6058187"/>
            <a:ext cx="614821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※ </a:t>
            </a:r>
            <a:r>
              <a:rPr lang="ko-KR" altLang="ko-KR" sz="1000" b="1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테스터 </a:t>
            </a:r>
            <a:r>
              <a:rPr lang="ko-KR" altLang="en-US" sz="1000" b="1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인력 </a:t>
            </a:r>
            <a:r>
              <a:rPr lang="ko-KR" altLang="ko-KR" sz="1000" b="1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구성 기준</a:t>
            </a:r>
            <a:r>
              <a:rPr lang="en-US" altLang="ko-KR" sz="1000" b="1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  </a:t>
            </a:r>
          </a:p>
          <a:p>
            <a:r>
              <a:rPr lang="en-US" altLang="ko-KR" sz="1000" b="1" dirty="0"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    </a:t>
            </a:r>
            <a:r>
              <a:rPr lang="en-US" altLang="ko-KR" sz="1000" b="1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: </a:t>
            </a:r>
            <a:r>
              <a:rPr lang="en-US" altLang="ko-KR" sz="1000" b="1" dirty="0">
                <a:solidFill>
                  <a:srgbClr val="0000FF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Iteration 1,2 </a:t>
            </a:r>
            <a:r>
              <a:rPr lang="ko-KR" altLang="en-US" sz="1000" b="1" dirty="0">
                <a:solidFill>
                  <a:srgbClr val="0000FF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단계</a:t>
            </a:r>
            <a:r>
              <a:rPr lang="ko-KR" altLang="ko-KR" sz="1000" b="1" dirty="0">
                <a:solidFill>
                  <a:srgbClr val="0000FF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000" b="1" dirty="0">
                <a:solidFill>
                  <a:srgbClr val="0000FF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ko-KR" sz="1000" b="1" dirty="0">
                <a:solidFill>
                  <a:srgbClr val="0000FF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테스트 </a:t>
            </a:r>
            <a:r>
              <a:rPr lang="ko-KR" altLang="en-US" sz="1000" b="1" dirty="0">
                <a:solidFill>
                  <a:srgbClr val="0000FF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수행</a:t>
            </a:r>
            <a:r>
              <a:rPr lang="ko-KR" altLang="ko-KR" sz="1000" b="1" dirty="0">
                <a:solidFill>
                  <a:srgbClr val="0000FF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인력 </a:t>
            </a:r>
            <a:r>
              <a:rPr lang="en-US" altLang="ko-KR" sz="1000" b="1" dirty="0">
                <a:solidFill>
                  <a:srgbClr val="0000FF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000" b="1" dirty="0">
                <a:solidFill>
                  <a:srgbClr val="0000FF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우선</a:t>
            </a:r>
            <a:r>
              <a:rPr lang="en-US" altLang="ko-KR" sz="1000" b="1" dirty="0">
                <a:solidFill>
                  <a:srgbClr val="0000FF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 ( </a:t>
            </a:r>
            <a:r>
              <a:rPr lang="ko-KR" altLang="en-US" sz="1000" b="1" dirty="0">
                <a:solidFill>
                  <a:srgbClr val="0000FF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신규 인력은</a:t>
            </a:r>
            <a:r>
              <a:rPr lang="en-US" altLang="ko-KR" sz="1000" b="1" dirty="0">
                <a:solidFill>
                  <a:srgbClr val="0000FF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000" b="1" dirty="0">
                <a:solidFill>
                  <a:srgbClr val="0000FF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개발업무 수행 인력으로 구성 </a:t>
            </a:r>
            <a:r>
              <a:rPr lang="en-US" altLang="ko-KR" sz="1000" b="1" dirty="0">
                <a:solidFill>
                  <a:srgbClr val="0000FF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)</a:t>
            </a:r>
            <a:r>
              <a:rPr lang="ko-KR" altLang="en-US" sz="1000" b="1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 </a:t>
            </a:r>
            <a:endParaRPr lang="ko-KR" altLang="en-US" sz="1000" b="1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62" name="TextBox 107">
            <a:extLst>
              <a:ext uri="{FF2B5EF4-FFF2-40B4-BE49-F238E27FC236}">
                <a16:creationId xmlns:a16="http://schemas.microsoft.com/office/drawing/2014/main" id="{7824C358-0FB5-4776-93FD-AF92CDAFB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870" y="3464239"/>
            <a:ext cx="16200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kumimoji="0" lang="ko-KR" altLang="en-US" sz="1600" b="0" kern="0" spc="-80" dirty="0">
                <a:ln>
                  <a:solidFill>
                    <a:srgbClr val="2F7B80">
                      <a:alpha val="0"/>
                    </a:srgbClr>
                  </a:solidFill>
                </a:ln>
                <a:latin typeface="KoPub돋움체 Bold" pitchFamily="18" charset="-127"/>
                <a:ea typeface="KoPub돋움체 Bold" pitchFamily="18" charset="-127"/>
              </a:rPr>
              <a:t>□  테스트 인력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1DD436F-555C-411E-9197-16609602C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583689"/>
              </p:ext>
            </p:extLst>
          </p:nvPr>
        </p:nvGraphicFramePr>
        <p:xfrm>
          <a:off x="6267450" y="1306118"/>
          <a:ext cx="5486399" cy="1568380"/>
        </p:xfrm>
        <a:graphic>
          <a:graphicData uri="http://schemas.openxmlformats.org/drawingml/2006/table">
            <a:tbl>
              <a:tblPr firstRow="1" firstCol="1" bandRow="1"/>
              <a:tblGrid>
                <a:gridCol w="1239188">
                  <a:extLst>
                    <a:ext uri="{9D8B030D-6E8A-4147-A177-3AD203B41FA5}">
                      <a16:colId xmlns:a16="http://schemas.microsoft.com/office/drawing/2014/main" val="3513901736"/>
                    </a:ext>
                  </a:extLst>
                </a:gridCol>
                <a:gridCol w="1149246">
                  <a:extLst>
                    <a:ext uri="{9D8B030D-6E8A-4147-A177-3AD203B41FA5}">
                      <a16:colId xmlns:a16="http://schemas.microsoft.com/office/drawing/2014/main" val="4167912388"/>
                    </a:ext>
                  </a:extLst>
                </a:gridCol>
                <a:gridCol w="604768">
                  <a:extLst>
                    <a:ext uri="{9D8B030D-6E8A-4147-A177-3AD203B41FA5}">
                      <a16:colId xmlns:a16="http://schemas.microsoft.com/office/drawing/2014/main" val="3280482585"/>
                    </a:ext>
                  </a:extLst>
                </a:gridCol>
                <a:gridCol w="2493197">
                  <a:extLst>
                    <a:ext uri="{9D8B030D-6E8A-4147-A177-3AD203B41FA5}">
                      <a16:colId xmlns:a16="http://schemas.microsoft.com/office/drawing/2014/main" val="1691380014"/>
                    </a:ext>
                  </a:extLst>
                </a:gridCol>
              </a:tblGrid>
              <a:tr h="313676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altLang="en-US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단계</a:t>
                      </a:r>
                      <a:endParaRPr lang="ko-KR" sz="12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altLang="en-US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일정</a:t>
                      </a:r>
                      <a:endParaRPr lang="ko-KR" sz="12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altLang="en-US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기간</a:t>
                      </a:r>
                      <a:endParaRPr lang="ko-KR" sz="12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altLang="en-US" sz="1200" b="1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주요 활동</a:t>
                      </a:r>
                      <a:endParaRPr lang="ko-KR" sz="12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463328"/>
                  </a:ext>
                </a:extLst>
              </a:tr>
              <a:tr h="313676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테스트 준비</a:t>
                      </a: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03.18 ~ 03.19</a:t>
                      </a:r>
                      <a:endParaRPr lang="ko-KR" sz="12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일</a:t>
                      </a: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환경 점검</a:t>
                      </a:r>
                      <a:r>
                        <a:rPr lang="en-US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테스트 시나리오</a:t>
                      </a:r>
                      <a:r>
                        <a:rPr lang="ko-KR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 배포</a:t>
                      </a: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2358093"/>
                  </a:ext>
                </a:extLst>
              </a:tr>
              <a:tr h="313676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테스트 수행</a:t>
                      </a: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03.23 ~ 03.27</a:t>
                      </a:r>
                      <a:endParaRPr lang="ko-KR" sz="12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ko-KR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일</a:t>
                      </a: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자 테스트 실시</a:t>
                      </a: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1075078"/>
                  </a:ext>
                </a:extLst>
              </a:tr>
              <a:tr h="313676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결함 </a:t>
                      </a:r>
                      <a:r>
                        <a:rPr lang="ko-KR" altLang="en-US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관리</a:t>
                      </a:r>
                      <a:endParaRPr lang="ko-KR" sz="12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03.23 ~ 04.03</a:t>
                      </a:r>
                      <a:endParaRPr lang="ko-KR" sz="12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altLang="ko-KR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ko-KR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일</a:t>
                      </a: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결함</a:t>
                      </a:r>
                      <a:r>
                        <a:rPr lang="en-US" altLang="ko-KR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원인 파악 및</a:t>
                      </a:r>
                      <a:r>
                        <a:rPr lang="ko-KR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 수정</a:t>
                      </a:r>
                      <a:r>
                        <a:rPr lang="ko-KR" altLang="en-US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 조치</a:t>
                      </a:r>
                      <a:endParaRPr lang="ko-KR" sz="12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790039"/>
                  </a:ext>
                </a:extLst>
              </a:tr>
              <a:tr h="313676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테스트 </a:t>
                      </a:r>
                      <a:r>
                        <a:rPr lang="ko-KR" altLang="en-US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종</a:t>
                      </a:r>
                      <a:r>
                        <a:rPr lang="ko-KR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료</a:t>
                      </a: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altLang="ko-KR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04.06</a:t>
                      </a:r>
                      <a:endParaRPr lang="ko-KR" sz="12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일</a:t>
                      </a: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12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결과 보고서 작성 및 제출</a:t>
                      </a: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447768"/>
                  </a:ext>
                </a:extLst>
              </a:tr>
            </a:tbl>
          </a:graphicData>
        </a:graphic>
      </p:graphicFrame>
      <p:sp>
        <p:nvSpPr>
          <p:cNvPr id="63" name="TextBox 107">
            <a:extLst>
              <a:ext uri="{FF2B5EF4-FFF2-40B4-BE49-F238E27FC236}">
                <a16:creationId xmlns:a16="http://schemas.microsoft.com/office/drawing/2014/main" id="{09EE7B0F-FF96-4020-9CFA-E1BEB7530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3175" y="942592"/>
            <a:ext cx="255481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kumimoji="0" lang="ko-KR" altLang="en-US" sz="1600" b="0" kern="0" spc="-80" dirty="0">
                <a:ln>
                  <a:solidFill>
                    <a:srgbClr val="2F7B80">
                      <a:alpha val="0"/>
                    </a:srgbClr>
                  </a:solidFill>
                </a:ln>
                <a:latin typeface="KoPub돋움체 Bold" pitchFamily="18" charset="-127"/>
                <a:ea typeface="KoPub돋움체 Bold" pitchFamily="18" charset="-127"/>
              </a:rPr>
              <a:t>□  테스트 일정</a:t>
            </a:r>
          </a:p>
        </p:txBody>
      </p:sp>
      <p:sp>
        <p:nvSpPr>
          <p:cNvPr id="65" name="TextBox 107">
            <a:extLst>
              <a:ext uri="{FF2B5EF4-FFF2-40B4-BE49-F238E27FC236}">
                <a16:creationId xmlns:a16="http://schemas.microsoft.com/office/drawing/2014/main" id="{3FB5CB5F-ABD9-4653-8F29-6F0F505AF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3175" y="3464239"/>
            <a:ext cx="16200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kumimoji="0" lang="ko-KR" altLang="en-US" sz="1600" b="0" kern="0" spc="-80" dirty="0">
                <a:ln>
                  <a:solidFill>
                    <a:srgbClr val="2F7B80">
                      <a:alpha val="0"/>
                    </a:srgbClr>
                  </a:solidFill>
                </a:ln>
                <a:latin typeface="KoPub돋움체 Bold" pitchFamily="18" charset="-127"/>
                <a:ea typeface="KoPub돋움체 Bold" pitchFamily="18" charset="-127"/>
              </a:rPr>
              <a:t>□  테스트 환경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0C28360-448B-4145-A7B6-F827FD8E6F25}"/>
              </a:ext>
            </a:extLst>
          </p:cNvPr>
          <p:cNvSpPr/>
          <p:nvPr/>
        </p:nvSpPr>
        <p:spPr>
          <a:xfrm>
            <a:off x="6099199" y="3830336"/>
            <a:ext cx="548639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 </a:t>
            </a:r>
            <a:r>
              <a:rPr lang="ko-KR" altLang="en-US" sz="12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테스트 서버 및 </a:t>
            </a:r>
            <a:r>
              <a:rPr lang="en-US" altLang="ko-KR" sz="12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DB </a:t>
            </a:r>
            <a:r>
              <a:rPr lang="en-US" altLang="ko-KR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개발</a:t>
            </a:r>
            <a:r>
              <a:rPr lang="en-US" altLang="ko-KR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</a:t>
            </a:r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테스트 환경 내 구성</a:t>
            </a:r>
            <a:endParaRPr lang="en-US" altLang="ko-KR" sz="1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endParaRPr lang="en-US" altLang="ko-KR" sz="12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네트워크 </a:t>
            </a:r>
            <a:r>
              <a:rPr lang="en-US" altLang="ko-KR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외부 접근이 차단된 내부 개발용 네트워크 </a:t>
            </a:r>
            <a:r>
              <a:rPr lang="en-US" altLang="ko-KR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 </a:t>
            </a:r>
            <a:r>
              <a:rPr lang="ko-KR" altLang="en-US" sz="12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개발망</a:t>
            </a:r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pPr marL="171450" indent="-171450">
              <a:buFontTx/>
              <a:buChar char="-"/>
            </a:pPr>
            <a:endParaRPr lang="en-US" altLang="ko-KR" sz="1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접근방법</a:t>
            </a:r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개발용 네트워크에 접속 가능한 유선 이더넷 연결 단말 사용</a:t>
            </a:r>
            <a:endParaRPr lang="en-US" altLang="ko-KR" sz="1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endParaRPr lang="en-US" altLang="ko-KR" sz="1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en-US" altLang="ko-KR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 </a:t>
            </a:r>
            <a:r>
              <a:rPr lang="ko-KR" altLang="en-US" sz="12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테스트 장소 </a:t>
            </a:r>
            <a:r>
              <a:rPr lang="en-US" altLang="ko-KR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ING </a:t>
            </a:r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모터스 </a:t>
            </a:r>
            <a:r>
              <a:rPr lang="en-US" altLang="ko-KR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3</a:t>
            </a:r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층 </a:t>
            </a:r>
            <a:r>
              <a:rPr lang="en-US" altLang="ko-KR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305</a:t>
            </a:r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호 </a:t>
            </a:r>
            <a:r>
              <a:rPr lang="en-US" altLang="ko-KR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테스트 룸</a:t>
            </a:r>
            <a:r>
              <a:rPr lang="en-US" altLang="ko-KR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5C7C6F8-2FCC-4E7F-8FD2-2501C4F8AE78}"/>
              </a:ext>
            </a:extLst>
          </p:cNvPr>
          <p:cNvSpPr txBox="1"/>
          <p:nvPr/>
        </p:nvSpPr>
        <p:spPr>
          <a:xfrm>
            <a:off x="6244472" y="2889152"/>
            <a:ext cx="4727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※ </a:t>
            </a:r>
            <a:r>
              <a:rPr lang="ko-KR" altLang="en-US" sz="1050" b="1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총 </a:t>
            </a:r>
            <a:r>
              <a:rPr lang="en-US" altLang="ko-KR" sz="1050" b="1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13</a:t>
            </a:r>
            <a:r>
              <a:rPr lang="ko-KR" altLang="en-US" sz="1050" b="1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일 </a:t>
            </a:r>
            <a:r>
              <a:rPr lang="en-US" altLang="ko-KR" sz="1050" b="1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: </a:t>
            </a:r>
            <a:r>
              <a:rPr lang="ko-KR" altLang="en-US" sz="1050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준비 </a:t>
            </a:r>
            <a:r>
              <a:rPr lang="en-US" altLang="ko-KR" sz="1050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2</a:t>
            </a:r>
            <a:r>
              <a:rPr lang="ko-KR" altLang="en-US" sz="1050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일 </a:t>
            </a:r>
            <a:r>
              <a:rPr lang="en-US" altLang="ko-KR" sz="1050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+ </a:t>
            </a:r>
            <a:r>
              <a:rPr lang="ko-KR" altLang="en-US" sz="1050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수행 </a:t>
            </a:r>
            <a:r>
              <a:rPr lang="en-US" altLang="ko-KR" sz="1050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5</a:t>
            </a:r>
            <a:r>
              <a:rPr lang="ko-KR" altLang="en-US" sz="1050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일 </a:t>
            </a:r>
            <a:r>
              <a:rPr lang="en-US" altLang="ko-KR" sz="1050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+ </a:t>
            </a:r>
            <a:r>
              <a:rPr lang="ko-KR" altLang="en-US" sz="1050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조치 </a:t>
            </a:r>
            <a:r>
              <a:rPr lang="en-US" altLang="ko-KR" sz="1050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5</a:t>
            </a:r>
            <a:r>
              <a:rPr lang="ko-KR" altLang="en-US" sz="1050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일 </a:t>
            </a:r>
            <a:r>
              <a:rPr lang="en-US" altLang="ko-KR" sz="1050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+ </a:t>
            </a:r>
            <a:r>
              <a:rPr lang="ko-KR" altLang="en-US" sz="1050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보고 </a:t>
            </a:r>
            <a:r>
              <a:rPr lang="en-US" altLang="ko-KR" sz="1050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1</a:t>
            </a:r>
            <a:r>
              <a:rPr lang="ko-KR" altLang="en-US" sz="1050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일 </a:t>
            </a:r>
            <a:r>
              <a:rPr lang="ko-KR" altLang="en-US" sz="1050" b="1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 </a:t>
            </a:r>
            <a:endParaRPr lang="ko-KR" altLang="en-US" sz="1050" b="1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69" name="Rectangle 609">
            <a:extLst>
              <a:ext uri="{FF2B5EF4-FFF2-40B4-BE49-F238E27FC236}">
                <a16:creationId xmlns:a16="http://schemas.microsoft.com/office/drawing/2014/main" id="{F37562D8-0BB3-409B-871E-B35274365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916" y="5691003"/>
            <a:ext cx="52021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 algn="ctr">
              <a:spcAft>
                <a:spcPts val="300"/>
              </a:spcAft>
              <a:defRPr/>
            </a:pPr>
            <a:r>
              <a:rPr lang="en-US" altLang="ko-KR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JKDS</a:t>
            </a:r>
            <a:endParaRPr lang="ko-KR" altLang="en-US" sz="1200" b="1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70" name="Rectangle 609">
            <a:extLst>
              <a:ext uri="{FF2B5EF4-FFF2-40B4-BE49-F238E27FC236}">
                <a16:creationId xmlns:a16="http://schemas.microsoft.com/office/drawing/2014/main" id="{09915467-F48D-44A7-BCA2-401C249AB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100" y="5691003"/>
            <a:ext cx="1656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>
              <a:spcAft>
                <a:spcPts val="300"/>
              </a:spcAft>
              <a:defRPr/>
            </a:pPr>
            <a:r>
              <a:rPr lang="ko-KR" altLang="en-US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최 민 혁 사원     </a:t>
            </a:r>
            <a:r>
              <a:rPr lang="en-US" altLang="ko-KR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(</a:t>
            </a:r>
            <a:r>
              <a:rPr lang="ko-KR" altLang="en-US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기존</a:t>
            </a:r>
            <a:r>
              <a:rPr lang="en-US" altLang="ko-KR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)</a:t>
            </a:r>
            <a:endParaRPr lang="ko-KR" altLang="en-US" sz="800" b="1" kern="0" dirty="0">
              <a:ln>
                <a:solidFill>
                  <a:prstClr val="white">
                    <a:alpha val="0"/>
                  </a:prstClr>
                </a:solidFill>
              </a:ln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71" name="Rectangle 609">
            <a:extLst>
              <a:ext uri="{FF2B5EF4-FFF2-40B4-BE49-F238E27FC236}">
                <a16:creationId xmlns:a16="http://schemas.microsoft.com/office/drawing/2014/main" id="{167A1F3A-8381-4787-BB80-8A0BF24B0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04" y="5691003"/>
            <a:ext cx="773546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 algn="ctr">
              <a:spcAft>
                <a:spcPts val="300"/>
              </a:spcAft>
              <a:defRPr/>
            </a:pP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하도급</a:t>
            </a:r>
          </a:p>
        </p:txBody>
      </p:sp>
      <p:sp>
        <p:nvSpPr>
          <p:cNvPr id="72" name="Rectangle 609">
            <a:extLst>
              <a:ext uri="{FF2B5EF4-FFF2-40B4-BE49-F238E27FC236}">
                <a16:creationId xmlns:a16="http://schemas.microsoft.com/office/drawing/2014/main" id="{B5BC12CE-F7AE-417D-AC27-97B9D8E39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100" y="5069145"/>
            <a:ext cx="1656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>
              <a:spcAft>
                <a:spcPts val="300"/>
              </a:spcAft>
              <a:defRPr/>
            </a:pPr>
            <a:r>
              <a:rPr lang="ko-KR" altLang="en-US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최 유 림 과장     </a:t>
            </a:r>
            <a:r>
              <a:rPr lang="en-US" altLang="ko-KR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(</a:t>
            </a:r>
            <a:r>
              <a:rPr lang="ko-KR" altLang="en-US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신규</a:t>
            </a:r>
            <a:r>
              <a:rPr lang="en-US" altLang="ko-KR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)</a:t>
            </a:r>
            <a:endParaRPr lang="ko-KR" altLang="en-US" sz="800" b="1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FF0000"/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28" name="Rectangle 609">
            <a:extLst>
              <a:ext uri="{FF2B5EF4-FFF2-40B4-BE49-F238E27FC236}">
                <a16:creationId xmlns:a16="http://schemas.microsoft.com/office/drawing/2014/main" id="{D18EB520-0BE2-4AEF-AB2C-7E978750C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04" y="5377716"/>
            <a:ext cx="773546" cy="28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 algn="ctr">
              <a:spcAft>
                <a:spcPts val="300"/>
              </a:spcAft>
              <a:defRPr/>
            </a:pP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부사업자</a:t>
            </a:r>
          </a:p>
        </p:txBody>
      </p:sp>
      <p:sp>
        <p:nvSpPr>
          <p:cNvPr id="29" name="Rectangle 609">
            <a:extLst>
              <a:ext uri="{FF2B5EF4-FFF2-40B4-BE49-F238E27FC236}">
                <a16:creationId xmlns:a16="http://schemas.microsoft.com/office/drawing/2014/main" id="{2F5B0C89-BC7A-47B9-9BE2-CA7D58010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916" y="5377716"/>
            <a:ext cx="520219" cy="28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 algn="ctr">
              <a:spcAft>
                <a:spcPts val="300"/>
              </a:spcAft>
              <a:defRPr/>
            </a:pPr>
            <a:r>
              <a:rPr lang="en-US" altLang="ko-KR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SPT</a:t>
            </a:r>
            <a:endParaRPr lang="ko-KR" altLang="en-US" sz="1200" b="1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37" name="Rectangle 609">
            <a:extLst>
              <a:ext uri="{FF2B5EF4-FFF2-40B4-BE49-F238E27FC236}">
                <a16:creationId xmlns:a16="http://schemas.microsoft.com/office/drawing/2014/main" id="{525F2D27-2D39-4042-B2A4-F1941CB6C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100" y="5381656"/>
            <a:ext cx="1656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>
              <a:spcAft>
                <a:spcPts val="300"/>
              </a:spcAft>
              <a:defRPr/>
            </a:pPr>
            <a:r>
              <a:rPr lang="ko-KR" altLang="en-US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김 승 무 위원     </a:t>
            </a:r>
            <a:r>
              <a:rPr lang="en-US" altLang="ko-KR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(</a:t>
            </a:r>
            <a:r>
              <a:rPr lang="ko-KR" altLang="en-US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기존</a:t>
            </a:r>
            <a:r>
              <a:rPr lang="en-US" altLang="ko-KR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)</a:t>
            </a:r>
            <a:r>
              <a:rPr lang="ko-KR" altLang="en-US" sz="1200" b="1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  </a:t>
            </a:r>
            <a:endParaRPr lang="ko-KR" altLang="en-US" sz="800" b="1" kern="0" dirty="0">
              <a:ln>
                <a:solidFill>
                  <a:prstClr val="white">
                    <a:alpha val="0"/>
                  </a:prstClr>
                </a:solidFill>
              </a:ln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38" name="TextBox 107">
            <a:extLst>
              <a:ext uri="{FF2B5EF4-FFF2-40B4-BE49-F238E27FC236}">
                <a16:creationId xmlns:a16="http://schemas.microsoft.com/office/drawing/2014/main" id="{8A69BA61-F605-49DC-BD6A-ACE9B2394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5542" y="5484015"/>
            <a:ext cx="16200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kumimoji="0" lang="ko-KR" altLang="en-US" sz="1600" b="0" kern="0" spc="-80" dirty="0">
                <a:ln>
                  <a:solidFill>
                    <a:srgbClr val="2F7B80">
                      <a:alpha val="0"/>
                    </a:srgbClr>
                  </a:solidFill>
                </a:ln>
                <a:latin typeface="KoPub돋움체 Bold" pitchFamily="18" charset="-127"/>
                <a:ea typeface="KoPub돋움체 Bold" pitchFamily="18" charset="-127"/>
              </a:rPr>
              <a:t>□  비    고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4601BAD-7AE8-42BC-9A6B-4D550E10AB7A}"/>
              </a:ext>
            </a:extLst>
          </p:cNvPr>
          <p:cNvSpPr/>
          <p:nvPr/>
        </p:nvSpPr>
        <p:spPr>
          <a:xfrm>
            <a:off x="6053175" y="5747871"/>
            <a:ext cx="5486398" cy="61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“ 공통 항목 </a:t>
            </a:r>
            <a:r>
              <a:rPr lang="en-US" altLang="ko-KR" sz="12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 </a:t>
            </a:r>
            <a:r>
              <a:rPr lang="ko-KR" altLang="en-US" sz="12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공통 </a:t>
            </a:r>
            <a:r>
              <a:rPr lang="en-US" altLang="ko-KR" sz="12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CheckList</a:t>
            </a:r>
            <a:r>
              <a:rPr lang="en-US" altLang="ko-KR" sz="12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) </a:t>
            </a:r>
            <a:r>
              <a:rPr lang="ko-KR" altLang="en-US" sz="12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점검 전담 인력 </a:t>
            </a:r>
            <a:r>
              <a:rPr lang="en-US" altLang="ko-KR" sz="12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“</a:t>
            </a:r>
            <a:r>
              <a:rPr lang="ko-KR" altLang="en-US" sz="12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배치 </a:t>
            </a:r>
            <a:endParaRPr lang="en-US" altLang="ko-KR" sz="12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    ⇒ </a:t>
            </a:r>
            <a:r>
              <a:rPr lang="ko-KR" altLang="en-US" sz="12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업무모듈별</a:t>
            </a:r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공통 항목 점검 수준의 일관성을 유지</a:t>
            </a:r>
            <a:endParaRPr lang="en-US" altLang="ko-KR" sz="1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244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5E4E1BD5-C148-4CC4-BB0E-A96967D639EB}"/>
              </a:ext>
            </a:extLst>
          </p:cNvPr>
          <p:cNvSpPr/>
          <p:nvPr/>
        </p:nvSpPr>
        <p:spPr>
          <a:xfrm>
            <a:off x="1276057" y="1331176"/>
            <a:ext cx="10322999" cy="18255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 w="28575">
                <a:solidFill>
                  <a:srgbClr val="000000"/>
                </a:solidFill>
              </a:ln>
              <a:solidFill>
                <a:srgbClr val="FFFFFF"/>
              </a:solidFill>
              <a:effectLst/>
              <a:uLnTx/>
              <a:uFillTx/>
              <a:latin typeface="HY견고딕"/>
              <a:ea typeface="HY견고딕"/>
              <a:cs typeface="+mn-cs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A2FFB416-3096-4E0E-BEE8-BA276ACE918F}"/>
              </a:ext>
            </a:extLst>
          </p:cNvPr>
          <p:cNvSpPr/>
          <p:nvPr/>
        </p:nvSpPr>
        <p:spPr>
          <a:xfrm>
            <a:off x="2236760" y="922677"/>
            <a:ext cx="44755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준비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50BECEBB-28D3-4AE0-A743-0F592901959A}"/>
              </a:ext>
            </a:extLst>
          </p:cNvPr>
          <p:cNvSpPr/>
          <p:nvPr/>
        </p:nvSpPr>
        <p:spPr>
          <a:xfrm>
            <a:off x="4677586" y="902071"/>
            <a:ext cx="44755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200" b="1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수행</a:t>
            </a:r>
            <a:endParaRPr lang="ko-KR" altLang="en-US" sz="1200" b="1" dirty="0">
              <a:solidFill>
                <a:srgbClr val="000000"/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961329B-290B-4AD4-9640-886222912649}"/>
              </a:ext>
            </a:extLst>
          </p:cNvPr>
          <p:cNvSpPr/>
          <p:nvPr/>
        </p:nvSpPr>
        <p:spPr>
          <a:xfrm>
            <a:off x="500905" y="113211"/>
            <a:ext cx="3765774" cy="416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685800" fontAlgn="base" latinLnBrk="0">
              <a:lnSpc>
                <a:spcPct val="110000"/>
              </a:lnSpc>
              <a:defRPr/>
            </a:pPr>
            <a:r>
              <a:rPr lang="en-US" altLang="ko-KR" sz="20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테스트 프로세스 및 단계별 활동</a:t>
            </a:r>
            <a:endParaRPr lang="en-US" altLang="ko-KR" sz="2000" spc="-30" dirty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193" name="꺾인 연결선 34">
            <a:extLst>
              <a:ext uri="{FF2B5EF4-FFF2-40B4-BE49-F238E27FC236}">
                <a16:creationId xmlns:a16="http://schemas.microsoft.com/office/drawing/2014/main" id="{DBC14FFD-5E8D-4399-AD34-CE849C1B14FE}"/>
              </a:ext>
            </a:extLst>
          </p:cNvPr>
          <p:cNvCxnSpPr>
            <a:cxnSpLocks/>
            <a:stCxn id="80" idx="2"/>
            <a:endCxn id="34" idx="0"/>
          </p:cNvCxnSpPr>
          <p:nvPr/>
        </p:nvCxnSpPr>
        <p:spPr>
          <a:xfrm rot="5400000">
            <a:off x="4426420" y="2331803"/>
            <a:ext cx="936618" cy="24"/>
          </a:xfrm>
          <a:prstGeom prst="bentConnector3">
            <a:avLst>
              <a:gd name="adj1" fmla="val 50000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tailEnd type="triangle"/>
          </a:ln>
          <a:effectLst/>
        </p:spPr>
      </p:cxnSp>
      <p:cxnSp>
        <p:nvCxnSpPr>
          <p:cNvPr id="94" name="꺾인 연결선 34">
            <a:extLst>
              <a:ext uri="{FF2B5EF4-FFF2-40B4-BE49-F238E27FC236}">
                <a16:creationId xmlns:a16="http://schemas.microsoft.com/office/drawing/2014/main" id="{0D049E34-C1F5-4FB7-A845-2753E9BBC241}"/>
              </a:ext>
            </a:extLst>
          </p:cNvPr>
          <p:cNvCxnSpPr>
            <a:cxnSpLocks/>
            <a:stCxn id="65" idx="3"/>
            <a:endCxn id="80" idx="1"/>
          </p:cNvCxnSpPr>
          <p:nvPr/>
        </p:nvCxnSpPr>
        <p:spPr>
          <a:xfrm flipV="1">
            <a:off x="3070404" y="1628313"/>
            <a:ext cx="586046" cy="1069561"/>
          </a:xfrm>
          <a:prstGeom prst="bentConnector3">
            <a:avLst>
              <a:gd name="adj1" fmla="val 50000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tailEnd type="triangle"/>
          </a:ln>
          <a:effectLst/>
        </p:spPr>
      </p:cxnSp>
      <p:sp>
        <p:nvSpPr>
          <p:cNvPr id="110" name="모서리가 둥근 직사각형 64">
            <a:extLst>
              <a:ext uri="{FF2B5EF4-FFF2-40B4-BE49-F238E27FC236}">
                <a16:creationId xmlns:a16="http://schemas.microsoft.com/office/drawing/2014/main" id="{0F0B0002-8613-4774-9BB3-D2C333DCB8F0}"/>
              </a:ext>
            </a:extLst>
          </p:cNvPr>
          <p:cNvSpPr/>
          <p:nvPr/>
        </p:nvSpPr>
        <p:spPr>
          <a:xfrm>
            <a:off x="10223588" y="1702465"/>
            <a:ext cx="621588" cy="575752"/>
          </a:xfrm>
          <a:prstGeom prst="roundRect">
            <a:avLst/>
          </a:prstGeom>
          <a:solidFill>
            <a:srgbClr val="FFFFFF">
              <a:lumMod val="95000"/>
            </a:srgbClr>
          </a:solidFill>
          <a:ln w="12700" cap="flat" cmpd="dbl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완료</a:t>
            </a:r>
          </a:p>
        </p:txBody>
      </p:sp>
      <p:grpSp>
        <p:nvGrpSpPr>
          <p:cNvPr id="283" name="그룹 282">
            <a:extLst>
              <a:ext uri="{FF2B5EF4-FFF2-40B4-BE49-F238E27FC236}">
                <a16:creationId xmlns:a16="http://schemas.microsoft.com/office/drawing/2014/main" id="{B530DE03-4A81-46BA-B9FC-084F98728445}"/>
              </a:ext>
            </a:extLst>
          </p:cNvPr>
          <p:cNvGrpSpPr/>
          <p:nvPr/>
        </p:nvGrpSpPr>
        <p:grpSpPr>
          <a:xfrm>
            <a:off x="1725624" y="1582352"/>
            <a:ext cx="1344780" cy="1259522"/>
            <a:chOff x="1287474" y="1582352"/>
            <a:chExt cx="1344780" cy="1259522"/>
          </a:xfrm>
        </p:grpSpPr>
        <p:sp>
          <p:nvSpPr>
            <p:cNvPr id="87" name="모서리가 둥근 직사각형 1">
              <a:extLst>
                <a:ext uri="{FF2B5EF4-FFF2-40B4-BE49-F238E27FC236}">
                  <a16:creationId xmlns:a16="http://schemas.microsoft.com/office/drawing/2014/main" id="{7AB520AE-8809-464C-BFAB-B22048F82EB6}"/>
                </a:ext>
              </a:extLst>
            </p:cNvPr>
            <p:cNvSpPr/>
            <p:nvPr/>
          </p:nvSpPr>
          <p:spPr>
            <a:xfrm>
              <a:off x="1287474" y="1582352"/>
              <a:ext cx="1344780" cy="288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테스트 환경 점검</a:t>
              </a:r>
            </a:p>
          </p:txBody>
        </p:sp>
        <p:sp>
          <p:nvSpPr>
            <p:cNvPr id="57" name="모서리가 둥근 직사각형 1">
              <a:extLst>
                <a:ext uri="{FF2B5EF4-FFF2-40B4-BE49-F238E27FC236}">
                  <a16:creationId xmlns:a16="http://schemas.microsoft.com/office/drawing/2014/main" id="{C3090EA1-1406-438D-AB8F-C66E2CF8AA63}"/>
                </a:ext>
              </a:extLst>
            </p:cNvPr>
            <p:cNvSpPr/>
            <p:nvPr/>
          </p:nvSpPr>
          <p:spPr>
            <a:xfrm>
              <a:off x="1287474" y="2230034"/>
              <a:ext cx="1344780" cy="288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테스트 목록 배포 </a:t>
              </a:r>
            </a:p>
          </p:txBody>
        </p:sp>
        <p:sp>
          <p:nvSpPr>
            <p:cNvPr id="58" name="모서리가 둥근 직사각형 1">
              <a:extLst>
                <a:ext uri="{FF2B5EF4-FFF2-40B4-BE49-F238E27FC236}">
                  <a16:creationId xmlns:a16="http://schemas.microsoft.com/office/drawing/2014/main" id="{AAD385B5-DDC6-4407-8D40-CF929DB724F9}"/>
                </a:ext>
              </a:extLst>
            </p:cNvPr>
            <p:cNvSpPr/>
            <p:nvPr/>
          </p:nvSpPr>
          <p:spPr>
            <a:xfrm>
              <a:off x="1287474" y="1906193"/>
              <a:ext cx="1344780" cy="288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테스트 시나리오 준비</a:t>
              </a:r>
            </a:p>
          </p:txBody>
        </p:sp>
        <p:sp>
          <p:nvSpPr>
            <p:cNvPr id="65" name="모서리가 둥근 직사각형 1">
              <a:extLst>
                <a:ext uri="{FF2B5EF4-FFF2-40B4-BE49-F238E27FC236}">
                  <a16:creationId xmlns:a16="http://schemas.microsoft.com/office/drawing/2014/main" id="{47A6EE2B-CAEB-4737-AD90-3A27F1A6CA38}"/>
                </a:ext>
              </a:extLst>
            </p:cNvPr>
            <p:cNvSpPr/>
            <p:nvPr/>
          </p:nvSpPr>
          <p:spPr>
            <a:xfrm>
              <a:off x="1287474" y="2553874"/>
              <a:ext cx="1344780" cy="288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테스트 교육 실시</a:t>
              </a:r>
            </a:p>
          </p:txBody>
        </p: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7FB2560-E8A5-4246-92F5-32686D6DE143}"/>
              </a:ext>
            </a:extLst>
          </p:cNvPr>
          <p:cNvSpPr/>
          <p:nvPr/>
        </p:nvSpPr>
        <p:spPr bwMode="auto">
          <a:xfrm>
            <a:off x="4444422" y="2800124"/>
            <a:ext cx="900589" cy="281107"/>
          </a:xfrm>
          <a:prstGeom prst="rect">
            <a:avLst/>
          </a:prstGeom>
          <a:noFill/>
          <a:ln w="9525" algn="ctr">
            <a:solidFill>
              <a:schemeClr val="accent1">
                <a:lumMod val="50000"/>
              </a:schemeClr>
            </a:solidFill>
            <a:round/>
            <a:headEnd/>
            <a:tailEnd/>
          </a:ln>
        </p:spPr>
        <p:txBody>
          <a:bodyPr lIns="0" tIns="0" rIns="0" bIns="0" rtlCol="0" anchor="ctr"/>
          <a:lstStyle/>
          <a:p>
            <a:pPr algn="ctr"/>
            <a:r>
              <a:rPr lang="ko-KR" altLang="en-US" sz="120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결함 등록</a:t>
            </a:r>
            <a:endParaRPr lang="ko-KR" altLang="en-US" sz="1200" dirty="0"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EB202E0-7442-4399-B293-2F161D2608D1}"/>
              </a:ext>
            </a:extLst>
          </p:cNvPr>
          <p:cNvGrpSpPr/>
          <p:nvPr/>
        </p:nvGrpSpPr>
        <p:grpSpPr>
          <a:xfrm>
            <a:off x="4453947" y="2078113"/>
            <a:ext cx="936647" cy="380586"/>
            <a:chOff x="4119837" y="2544064"/>
            <a:chExt cx="936647" cy="380586"/>
          </a:xfrm>
        </p:grpSpPr>
        <p:sp>
          <p:nvSpPr>
            <p:cNvPr id="35" name="다이아몬드 34">
              <a:extLst>
                <a:ext uri="{FF2B5EF4-FFF2-40B4-BE49-F238E27FC236}">
                  <a16:creationId xmlns:a16="http://schemas.microsoft.com/office/drawing/2014/main" id="{EA2A6BE4-8988-4B80-96A9-2FDCD5255A20}"/>
                </a:ext>
              </a:extLst>
            </p:cNvPr>
            <p:cNvSpPr/>
            <p:nvPr/>
          </p:nvSpPr>
          <p:spPr bwMode="auto">
            <a:xfrm>
              <a:off x="4119837" y="2544064"/>
              <a:ext cx="881196" cy="380586"/>
            </a:xfrm>
            <a:prstGeom prst="diamond">
              <a:avLst/>
            </a:prstGeom>
            <a:solidFill>
              <a:schemeClr val="bg1"/>
            </a:solidFill>
            <a:ln w="6350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</p:spPr>
          <p:txBody>
            <a:bodyPr lIns="0" tIns="0" rIns="0" bIns="0" rtlCol="0" anchor="ctr"/>
            <a:lstStyle/>
            <a:p>
              <a:pPr algn="ctr"/>
              <a:endParaRPr lang="ko-KR" altLang="en-US" sz="1200" b="1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1D9D7FAB-6D21-456B-97BE-CA651FBACDB3}"/>
                </a:ext>
              </a:extLst>
            </p:cNvPr>
            <p:cNvSpPr/>
            <p:nvPr/>
          </p:nvSpPr>
          <p:spPr>
            <a:xfrm>
              <a:off x="4243485" y="2595857"/>
              <a:ext cx="81299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dirty="0">
                  <a:solidFill>
                    <a:srgbClr val="000000"/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결함</a:t>
              </a:r>
              <a:r>
                <a:rPr lang="en-US" altLang="ko-KR" sz="1050" dirty="0">
                  <a:solidFill>
                    <a:srgbClr val="000000"/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 </a:t>
              </a:r>
              <a:r>
                <a:rPr lang="ko-KR" altLang="en-US" sz="1050" dirty="0">
                  <a:solidFill>
                    <a:srgbClr val="000000"/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발생</a:t>
              </a:r>
            </a:p>
          </p:txBody>
        </p:sp>
      </p:grp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B38B6D59-FA49-4A35-8950-07DB130078C5}"/>
              </a:ext>
            </a:extLst>
          </p:cNvPr>
          <p:cNvSpPr/>
          <p:nvPr/>
        </p:nvSpPr>
        <p:spPr bwMode="auto">
          <a:xfrm>
            <a:off x="6391095" y="2697874"/>
            <a:ext cx="835826" cy="281107"/>
          </a:xfrm>
          <a:prstGeom prst="rect">
            <a:avLst/>
          </a:prstGeom>
          <a:noFill/>
          <a:ln w="9525" algn="ctr">
            <a:solidFill>
              <a:schemeClr val="accent1">
                <a:lumMod val="50000"/>
              </a:schemeClr>
            </a:solidFill>
            <a:round/>
            <a:headEnd/>
            <a:tailEnd/>
          </a:ln>
        </p:spPr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원인 분석</a:t>
            </a: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097AE2F1-9E9C-4413-A18F-A05B72C24623}"/>
              </a:ext>
            </a:extLst>
          </p:cNvPr>
          <p:cNvSpPr/>
          <p:nvPr/>
        </p:nvSpPr>
        <p:spPr bwMode="auto">
          <a:xfrm>
            <a:off x="8374692" y="2210225"/>
            <a:ext cx="835826" cy="281107"/>
          </a:xfrm>
          <a:prstGeom prst="rect">
            <a:avLst/>
          </a:prstGeom>
          <a:noFill/>
          <a:ln w="9525" algn="ctr">
            <a:solidFill>
              <a:schemeClr val="accent1">
                <a:lumMod val="50000"/>
              </a:schemeClr>
            </a:solidFill>
            <a:round/>
            <a:headEnd/>
            <a:tailEnd/>
          </a:ln>
        </p:spPr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결함 조치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05F541EF-B2B9-4564-84A1-BD7504FF051E}"/>
              </a:ext>
            </a:extLst>
          </p:cNvPr>
          <p:cNvSpPr txBox="1"/>
          <p:nvPr/>
        </p:nvSpPr>
        <p:spPr>
          <a:xfrm>
            <a:off x="4802531" y="2415200"/>
            <a:ext cx="3762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C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Y</a:t>
            </a:r>
            <a:endParaRPr lang="ko-KR" altLang="en-US" sz="1000" b="1" dirty="0">
              <a:solidFill>
                <a:srgbClr val="C0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53CE028B-4D66-4032-8A57-3C98CBD4FE46}"/>
              </a:ext>
            </a:extLst>
          </p:cNvPr>
          <p:cNvSpPr txBox="1"/>
          <p:nvPr/>
        </p:nvSpPr>
        <p:spPr>
          <a:xfrm>
            <a:off x="5375856" y="2058799"/>
            <a:ext cx="3762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C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N</a:t>
            </a:r>
            <a:endParaRPr lang="ko-KR" altLang="en-US" sz="1000" b="1" dirty="0">
              <a:solidFill>
                <a:srgbClr val="C0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199" name="꺾인 연결선 34">
            <a:extLst>
              <a:ext uri="{FF2B5EF4-FFF2-40B4-BE49-F238E27FC236}">
                <a16:creationId xmlns:a16="http://schemas.microsoft.com/office/drawing/2014/main" id="{9B350CFC-69BF-429B-B399-4B4388A7D473}"/>
              </a:ext>
            </a:extLst>
          </p:cNvPr>
          <p:cNvCxnSpPr>
            <a:cxnSpLocks/>
            <a:stCxn id="34" idx="3"/>
            <a:endCxn id="170" idx="1"/>
          </p:cNvCxnSpPr>
          <p:nvPr/>
        </p:nvCxnSpPr>
        <p:spPr>
          <a:xfrm flipV="1">
            <a:off x="5345011" y="2838428"/>
            <a:ext cx="1046084" cy="102250"/>
          </a:xfrm>
          <a:prstGeom prst="bentConnector3">
            <a:avLst>
              <a:gd name="adj1" fmla="val 50000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tailEnd type="triangle"/>
          </a:ln>
          <a:effectLst/>
        </p:spPr>
      </p:cxnSp>
      <p:cxnSp>
        <p:nvCxnSpPr>
          <p:cNvPr id="206" name="꺾인 연결선 34">
            <a:extLst>
              <a:ext uri="{FF2B5EF4-FFF2-40B4-BE49-F238E27FC236}">
                <a16:creationId xmlns:a16="http://schemas.microsoft.com/office/drawing/2014/main" id="{3C31B587-8522-49F2-AAA6-327A2C6E6718}"/>
              </a:ext>
            </a:extLst>
          </p:cNvPr>
          <p:cNvCxnSpPr>
            <a:cxnSpLocks/>
            <a:stCxn id="171" idx="0"/>
            <a:endCxn id="80" idx="3"/>
          </p:cNvCxnSpPr>
          <p:nvPr/>
        </p:nvCxnSpPr>
        <p:spPr>
          <a:xfrm rot="16200000" flipV="1">
            <a:off x="7171862" y="589482"/>
            <a:ext cx="581912" cy="2659574"/>
          </a:xfrm>
          <a:prstGeom prst="bentConnector2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C00000"/>
            </a:solidFill>
            <a:prstDash val="solid"/>
            <a:tailEnd type="triangle"/>
          </a:ln>
          <a:effectLst/>
        </p:spPr>
      </p:cxnSp>
      <p:cxnSp>
        <p:nvCxnSpPr>
          <p:cNvPr id="216" name="직선 화살표 연결선 215">
            <a:extLst>
              <a:ext uri="{FF2B5EF4-FFF2-40B4-BE49-F238E27FC236}">
                <a16:creationId xmlns:a16="http://schemas.microsoft.com/office/drawing/2014/main" id="{1610718D-EDFC-442E-A1D4-103931807DC4}"/>
              </a:ext>
            </a:extLst>
          </p:cNvPr>
          <p:cNvCxnSpPr>
            <a:cxnSpLocks/>
            <a:stCxn id="35" idx="3"/>
            <a:endCxn id="110" idx="1"/>
          </p:cNvCxnSpPr>
          <p:nvPr/>
        </p:nvCxnSpPr>
        <p:spPr>
          <a:xfrm flipV="1">
            <a:off x="5335143" y="1990341"/>
            <a:ext cx="4888445" cy="278065"/>
          </a:xfrm>
          <a:prstGeom prst="bentConnector3">
            <a:avLst>
              <a:gd name="adj1" fmla="val 50000"/>
            </a:avLst>
          </a:prstGeom>
          <a:ln w="349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E756D040-6066-423B-9DE0-D7E5652D6B44}"/>
              </a:ext>
            </a:extLst>
          </p:cNvPr>
          <p:cNvCxnSpPr>
            <a:cxnSpLocks/>
          </p:cNvCxnSpPr>
          <p:nvPr/>
        </p:nvCxnSpPr>
        <p:spPr>
          <a:xfrm>
            <a:off x="3579628" y="1188725"/>
            <a:ext cx="2676948" cy="0"/>
          </a:xfrm>
          <a:prstGeom prst="straightConnector1">
            <a:avLst/>
          </a:prstGeom>
          <a:solidFill>
            <a:srgbClr val="FFFFFF">
              <a:lumMod val="95000"/>
            </a:srgbClr>
          </a:solidFill>
          <a:ln w="3175" cap="flat" cmpd="sng" algn="ctr">
            <a:solidFill>
              <a:srgbClr val="FFFFFF">
                <a:lumMod val="85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232334EE-4D17-4D67-8FC7-079A2D964EC8}"/>
              </a:ext>
            </a:extLst>
          </p:cNvPr>
          <p:cNvCxnSpPr>
            <a:cxnSpLocks/>
          </p:cNvCxnSpPr>
          <p:nvPr/>
        </p:nvCxnSpPr>
        <p:spPr>
          <a:xfrm>
            <a:off x="9342571" y="1179070"/>
            <a:ext cx="2267902" cy="9655"/>
          </a:xfrm>
          <a:prstGeom prst="straightConnector1">
            <a:avLst/>
          </a:prstGeom>
          <a:solidFill>
            <a:srgbClr val="FFFFFF">
              <a:lumMod val="95000"/>
            </a:srgbClr>
          </a:solidFill>
          <a:ln w="3175" cap="flat" cmpd="sng" algn="ctr">
            <a:solidFill>
              <a:srgbClr val="FFFFFF">
                <a:lumMod val="85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0631A8F2-7CE7-4E19-9D10-71B24737ABD9}"/>
              </a:ext>
            </a:extLst>
          </p:cNvPr>
          <p:cNvCxnSpPr>
            <a:cxnSpLocks/>
          </p:cNvCxnSpPr>
          <p:nvPr/>
        </p:nvCxnSpPr>
        <p:spPr>
          <a:xfrm>
            <a:off x="1285876" y="1049396"/>
            <a:ext cx="0" cy="296042"/>
          </a:xfrm>
          <a:prstGeom prst="line">
            <a:avLst/>
          </a:prstGeom>
          <a:solidFill>
            <a:srgbClr val="FFFFFF">
              <a:lumMod val="95000"/>
            </a:srgbClr>
          </a:solidFill>
          <a:ln w="3175" cap="flat" cmpd="sng" algn="ctr">
            <a:solidFill>
              <a:srgbClr val="FFFFFF">
                <a:lumMod val="85000"/>
              </a:srgbClr>
            </a:solidFill>
            <a:prstDash val="solid"/>
          </a:ln>
          <a:effectLst/>
        </p:spPr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1460BCF5-9AD4-49B1-84A5-D65F95931F1B}"/>
              </a:ext>
            </a:extLst>
          </p:cNvPr>
          <p:cNvCxnSpPr>
            <a:cxnSpLocks/>
          </p:cNvCxnSpPr>
          <p:nvPr/>
        </p:nvCxnSpPr>
        <p:spPr>
          <a:xfrm>
            <a:off x="6274230" y="1089417"/>
            <a:ext cx="0" cy="216000"/>
          </a:xfrm>
          <a:prstGeom prst="line">
            <a:avLst/>
          </a:prstGeom>
          <a:solidFill>
            <a:srgbClr val="FFFFFF">
              <a:lumMod val="95000"/>
            </a:srgbClr>
          </a:solidFill>
          <a:ln w="3175" cap="flat" cmpd="sng" algn="ctr">
            <a:solidFill>
              <a:srgbClr val="FFFFFF">
                <a:lumMod val="85000"/>
              </a:srgbClr>
            </a:solidFill>
            <a:prstDash val="solid"/>
          </a:ln>
          <a:effectLst/>
        </p:spPr>
      </p:cxnSp>
      <p:cxnSp>
        <p:nvCxnSpPr>
          <p:cNvPr id="173" name="직선 화살표 연결선 172">
            <a:extLst>
              <a:ext uri="{FF2B5EF4-FFF2-40B4-BE49-F238E27FC236}">
                <a16:creationId xmlns:a16="http://schemas.microsoft.com/office/drawing/2014/main" id="{1E241E12-F7AB-4728-8601-81D5A64300AD}"/>
              </a:ext>
            </a:extLst>
          </p:cNvPr>
          <p:cNvCxnSpPr>
            <a:cxnSpLocks/>
          </p:cNvCxnSpPr>
          <p:nvPr/>
        </p:nvCxnSpPr>
        <p:spPr>
          <a:xfrm flipV="1">
            <a:off x="1276057" y="1188725"/>
            <a:ext cx="2304000" cy="0"/>
          </a:xfrm>
          <a:prstGeom prst="straightConnector1">
            <a:avLst/>
          </a:prstGeom>
          <a:solidFill>
            <a:srgbClr val="FFFFFF">
              <a:lumMod val="95000"/>
            </a:srgbClr>
          </a:solidFill>
          <a:ln w="3175" cap="flat" cmpd="sng" algn="ctr">
            <a:solidFill>
              <a:srgbClr val="FFFFFF">
                <a:lumMod val="85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221" name="직선 화살표 연결선 220">
            <a:extLst>
              <a:ext uri="{FF2B5EF4-FFF2-40B4-BE49-F238E27FC236}">
                <a16:creationId xmlns:a16="http://schemas.microsoft.com/office/drawing/2014/main" id="{B6249EEE-84EA-4B40-9F10-F83FC97FBB8D}"/>
              </a:ext>
            </a:extLst>
          </p:cNvPr>
          <p:cNvCxnSpPr>
            <a:cxnSpLocks/>
          </p:cNvCxnSpPr>
          <p:nvPr/>
        </p:nvCxnSpPr>
        <p:spPr>
          <a:xfrm>
            <a:off x="6256576" y="1179070"/>
            <a:ext cx="3085995" cy="0"/>
          </a:xfrm>
          <a:prstGeom prst="straightConnector1">
            <a:avLst/>
          </a:prstGeom>
          <a:solidFill>
            <a:srgbClr val="FFFFFF">
              <a:lumMod val="95000"/>
            </a:srgbClr>
          </a:solidFill>
          <a:ln w="3175" cap="flat" cmpd="sng" algn="ctr">
            <a:solidFill>
              <a:srgbClr val="FFFFFF">
                <a:lumMod val="85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222" name="직선 연결선 221">
            <a:extLst>
              <a:ext uri="{FF2B5EF4-FFF2-40B4-BE49-F238E27FC236}">
                <a16:creationId xmlns:a16="http://schemas.microsoft.com/office/drawing/2014/main" id="{C5A07DD8-BDD1-4482-8A0A-A925B0FFE8DA}"/>
              </a:ext>
            </a:extLst>
          </p:cNvPr>
          <p:cNvCxnSpPr>
            <a:cxnSpLocks/>
          </p:cNvCxnSpPr>
          <p:nvPr/>
        </p:nvCxnSpPr>
        <p:spPr>
          <a:xfrm>
            <a:off x="11610473" y="1049396"/>
            <a:ext cx="0" cy="296042"/>
          </a:xfrm>
          <a:prstGeom prst="line">
            <a:avLst/>
          </a:prstGeom>
          <a:solidFill>
            <a:srgbClr val="FFFFFF">
              <a:lumMod val="95000"/>
            </a:srgbClr>
          </a:solidFill>
          <a:ln w="3175" cap="flat" cmpd="sng" algn="ctr">
            <a:solidFill>
              <a:srgbClr val="FFFFFF">
                <a:lumMod val="85000"/>
              </a:srgbClr>
            </a:solidFill>
            <a:prstDash val="solid"/>
          </a:ln>
          <a:effectLst/>
        </p:spPr>
      </p:cxn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94859973-5721-4DD6-B376-3EDB80ED400D}"/>
              </a:ext>
            </a:extLst>
          </p:cNvPr>
          <p:cNvCxnSpPr>
            <a:cxnSpLocks/>
          </p:cNvCxnSpPr>
          <p:nvPr/>
        </p:nvCxnSpPr>
        <p:spPr>
          <a:xfrm>
            <a:off x="9343100" y="1089417"/>
            <a:ext cx="0" cy="216000"/>
          </a:xfrm>
          <a:prstGeom prst="line">
            <a:avLst/>
          </a:prstGeom>
          <a:solidFill>
            <a:srgbClr val="FFFFFF">
              <a:lumMod val="95000"/>
            </a:srgbClr>
          </a:solidFill>
          <a:ln w="3175" cap="flat" cmpd="sng" algn="ctr">
            <a:solidFill>
              <a:srgbClr val="FFFFFF">
                <a:lumMod val="85000"/>
              </a:srgbClr>
            </a:solidFill>
            <a:prstDash val="solid"/>
          </a:ln>
          <a:effectLst/>
        </p:spPr>
      </p:cxn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F4FB4684-E472-4B14-BF0A-4BB7E21C2416}"/>
              </a:ext>
            </a:extLst>
          </p:cNvPr>
          <p:cNvSpPr/>
          <p:nvPr/>
        </p:nvSpPr>
        <p:spPr>
          <a:xfrm>
            <a:off x="7363745" y="911726"/>
            <a:ext cx="75373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결함 관리</a:t>
            </a:r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C7437F24-8A05-4B6D-8E9C-FF673391FCEF}"/>
              </a:ext>
            </a:extLst>
          </p:cNvPr>
          <p:cNvSpPr/>
          <p:nvPr/>
        </p:nvSpPr>
        <p:spPr>
          <a:xfrm>
            <a:off x="10295324" y="911726"/>
            <a:ext cx="44755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종료</a:t>
            </a:r>
          </a:p>
        </p:txBody>
      </p:sp>
      <p:cxnSp>
        <p:nvCxnSpPr>
          <p:cNvPr id="231" name="직선 연결선 230">
            <a:extLst>
              <a:ext uri="{FF2B5EF4-FFF2-40B4-BE49-F238E27FC236}">
                <a16:creationId xmlns:a16="http://schemas.microsoft.com/office/drawing/2014/main" id="{8F4AF683-BEB1-44C8-9742-681E54DFA052}"/>
              </a:ext>
            </a:extLst>
          </p:cNvPr>
          <p:cNvCxnSpPr>
            <a:cxnSpLocks/>
          </p:cNvCxnSpPr>
          <p:nvPr/>
        </p:nvCxnSpPr>
        <p:spPr>
          <a:xfrm flipH="1">
            <a:off x="9342571" y="3428603"/>
            <a:ext cx="0" cy="1800000"/>
          </a:xfrm>
          <a:prstGeom prst="line">
            <a:avLst/>
          </a:prstGeom>
          <a:solidFill>
            <a:srgbClr val="FFFFFF">
              <a:lumMod val="95000"/>
            </a:srgbClr>
          </a:solidFill>
          <a:ln w="3175" cap="flat" cmpd="sng" algn="ctr">
            <a:solidFill>
              <a:srgbClr val="FFFFFF">
                <a:lumMod val="85000"/>
              </a:srgbClr>
            </a:solidFill>
            <a:prstDash val="sysDot"/>
          </a:ln>
          <a:effectLst/>
        </p:spPr>
      </p:cxnSp>
      <p:cxnSp>
        <p:nvCxnSpPr>
          <p:cNvPr id="234" name="직선 연결선 233">
            <a:extLst>
              <a:ext uri="{FF2B5EF4-FFF2-40B4-BE49-F238E27FC236}">
                <a16:creationId xmlns:a16="http://schemas.microsoft.com/office/drawing/2014/main" id="{63E26C31-372F-41A3-A3C5-9B5ECA7A9D9A}"/>
              </a:ext>
            </a:extLst>
          </p:cNvPr>
          <p:cNvCxnSpPr>
            <a:cxnSpLocks/>
          </p:cNvCxnSpPr>
          <p:nvPr/>
        </p:nvCxnSpPr>
        <p:spPr>
          <a:xfrm flipH="1">
            <a:off x="6285433" y="3428603"/>
            <a:ext cx="0" cy="1800000"/>
          </a:xfrm>
          <a:prstGeom prst="line">
            <a:avLst/>
          </a:prstGeom>
          <a:solidFill>
            <a:srgbClr val="FFFFFF">
              <a:lumMod val="95000"/>
            </a:srgbClr>
          </a:solidFill>
          <a:ln w="3175" cap="flat" cmpd="sng" algn="ctr">
            <a:solidFill>
              <a:srgbClr val="FFFFFF">
                <a:lumMod val="85000"/>
              </a:srgbClr>
            </a:solidFill>
            <a:prstDash val="sysDot"/>
          </a:ln>
          <a:effectLst/>
        </p:spPr>
      </p:cxnSp>
      <p:cxnSp>
        <p:nvCxnSpPr>
          <p:cNvPr id="235" name="직선 연결선 234">
            <a:extLst>
              <a:ext uri="{FF2B5EF4-FFF2-40B4-BE49-F238E27FC236}">
                <a16:creationId xmlns:a16="http://schemas.microsoft.com/office/drawing/2014/main" id="{47652BDB-BF99-4E38-B2E1-2D74D1A19E2E}"/>
              </a:ext>
            </a:extLst>
          </p:cNvPr>
          <p:cNvCxnSpPr>
            <a:cxnSpLocks/>
          </p:cNvCxnSpPr>
          <p:nvPr/>
        </p:nvCxnSpPr>
        <p:spPr>
          <a:xfrm flipH="1">
            <a:off x="3533095" y="3428603"/>
            <a:ext cx="0" cy="1800000"/>
          </a:xfrm>
          <a:prstGeom prst="line">
            <a:avLst/>
          </a:prstGeom>
          <a:solidFill>
            <a:srgbClr val="FFFFFF">
              <a:lumMod val="95000"/>
            </a:srgbClr>
          </a:solidFill>
          <a:ln w="3175" cap="flat" cmpd="sng" algn="ctr">
            <a:solidFill>
              <a:srgbClr val="FFFFFF">
                <a:lumMod val="85000"/>
              </a:srgbClr>
            </a:solidFill>
            <a:prstDash val="sysDot"/>
          </a:ln>
          <a:effectLst/>
        </p:spPr>
      </p:cxnSp>
      <p:cxnSp>
        <p:nvCxnSpPr>
          <p:cNvPr id="236" name="직선 연결선 235">
            <a:extLst>
              <a:ext uri="{FF2B5EF4-FFF2-40B4-BE49-F238E27FC236}">
                <a16:creationId xmlns:a16="http://schemas.microsoft.com/office/drawing/2014/main" id="{924EAC69-29AD-4104-AEAB-EE38580CFE7D}"/>
              </a:ext>
            </a:extLst>
          </p:cNvPr>
          <p:cNvCxnSpPr>
            <a:cxnSpLocks/>
          </p:cNvCxnSpPr>
          <p:nvPr/>
        </p:nvCxnSpPr>
        <p:spPr>
          <a:xfrm flipH="1">
            <a:off x="1276057" y="3428603"/>
            <a:ext cx="0" cy="1800000"/>
          </a:xfrm>
          <a:prstGeom prst="line">
            <a:avLst/>
          </a:prstGeom>
          <a:solidFill>
            <a:srgbClr val="FFFFFF">
              <a:lumMod val="95000"/>
            </a:srgbClr>
          </a:solidFill>
          <a:ln w="3175" cap="flat" cmpd="sng" algn="ctr">
            <a:solidFill>
              <a:srgbClr val="FFFFFF">
                <a:lumMod val="85000"/>
              </a:srgbClr>
            </a:solidFill>
            <a:prstDash val="sysDot"/>
          </a:ln>
          <a:effectLst/>
        </p:spPr>
      </p:cxnSp>
      <p:cxnSp>
        <p:nvCxnSpPr>
          <p:cNvPr id="237" name="직선 연결선 236">
            <a:extLst>
              <a:ext uri="{FF2B5EF4-FFF2-40B4-BE49-F238E27FC236}">
                <a16:creationId xmlns:a16="http://schemas.microsoft.com/office/drawing/2014/main" id="{05956DFB-752B-40AF-9133-3248528115FC}"/>
              </a:ext>
            </a:extLst>
          </p:cNvPr>
          <p:cNvCxnSpPr>
            <a:cxnSpLocks/>
          </p:cNvCxnSpPr>
          <p:nvPr/>
        </p:nvCxnSpPr>
        <p:spPr>
          <a:xfrm flipH="1">
            <a:off x="11616041" y="3428603"/>
            <a:ext cx="0" cy="1800000"/>
          </a:xfrm>
          <a:prstGeom prst="line">
            <a:avLst/>
          </a:prstGeom>
          <a:solidFill>
            <a:srgbClr val="FFFFFF">
              <a:lumMod val="95000"/>
            </a:srgbClr>
          </a:solidFill>
          <a:ln w="3175" cap="flat" cmpd="sng" algn="ctr">
            <a:solidFill>
              <a:srgbClr val="FFFFFF">
                <a:lumMod val="85000"/>
              </a:srgbClr>
            </a:solidFill>
            <a:prstDash val="sysDot"/>
          </a:ln>
          <a:effectLst/>
        </p:spPr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E431BB90-5800-4C9C-8E56-AA4520CAEB53}"/>
              </a:ext>
            </a:extLst>
          </p:cNvPr>
          <p:cNvSpPr txBox="1"/>
          <p:nvPr/>
        </p:nvSpPr>
        <p:spPr>
          <a:xfrm>
            <a:off x="1336352" y="3466615"/>
            <a:ext cx="203832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테스트 환경 구성 및 점검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테스트 데이터 준비</a:t>
            </a:r>
            <a:endParaRPr lang="en-US" altLang="ko-KR" sz="12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테스트케이스 리뷰 및 배포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테스터 교육 실시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D19A09EE-8E9E-4E0F-B6F4-B5D03440C6E4}"/>
              </a:ext>
            </a:extLst>
          </p:cNvPr>
          <p:cNvSpPr txBox="1"/>
          <p:nvPr/>
        </p:nvSpPr>
        <p:spPr>
          <a:xfrm>
            <a:off x="3630478" y="3466615"/>
            <a:ext cx="250255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테스트시나리오 기반 기능 검증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예상결과 대비 실제 결과 확인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화면별</a:t>
            </a:r>
            <a:r>
              <a:rPr lang="en-US" altLang="ko-KR" sz="12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/</a:t>
            </a:r>
            <a:r>
              <a:rPr lang="ko-KR" altLang="en-US" sz="12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기능별 순차 테스트 진행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결함 발견 시 즉시 </a:t>
            </a:r>
            <a:r>
              <a:rPr lang="en-US" altLang="ko-KR" sz="12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TMS</a:t>
            </a:r>
            <a:r>
              <a:rPr lang="ko-KR" altLang="en-US" sz="12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에 등록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테스트 진행 현황 보고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D6934FF0-A66E-4328-B758-1DF3A51109D0}"/>
              </a:ext>
            </a:extLst>
          </p:cNvPr>
          <p:cNvSpPr txBox="1"/>
          <p:nvPr/>
        </p:nvSpPr>
        <p:spPr>
          <a:xfrm>
            <a:off x="6313829" y="3466615"/>
            <a:ext cx="25025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TMS</a:t>
            </a:r>
            <a:r>
              <a:rPr lang="ko-KR" altLang="en-US" sz="12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를 통한 결함 추적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결함 분류 </a:t>
            </a:r>
            <a:r>
              <a:rPr lang="en-US" altLang="ko-KR" sz="12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개발팀 결함 할당 및 조치 요청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6D2C5A3F-C192-4930-8271-EC1BC57C0BD4}"/>
              </a:ext>
            </a:extLst>
          </p:cNvPr>
          <p:cNvSpPr txBox="1"/>
          <p:nvPr/>
        </p:nvSpPr>
        <p:spPr>
          <a:xfrm>
            <a:off x="9430609" y="3466615"/>
            <a:ext cx="22075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테스트 수행 완료 확인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미해결 결함에 대한 이슈 정리</a:t>
            </a:r>
            <a:endParaRPr lang="en-US" altLang="ko-KR" sz="12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테스트 결과 보고서 작성</a:t>
            </a:r>
          </a:p>
        </p:txBody>
      </p:sp>
      <p:sp>
        <p:nvSpPr>
          <p:cNvPr id="252" name="Rectangle 609">
            <a:extLst>
              <a:ext uri="{FF2B5EF4-FFF2-40B4-BE49-F238E27FC236}">
                <a16:creationId xmlns:a16="http://schemas.microsoft.com/office/drawing/2014/main" id="{8D8BE1BE-B858-48C8-973E-4E7C3C731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388" y="5352428"/>
            <a:ext cx="2038324" cy="314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 algn="ctr">
              <a:spcAft>
                <a:spcPts val="300"/>
              </a:spcAft>
              <a:defRPr/>
            </a:pP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테스트 계획서</a:t>
            </a:r>
          </a:p>
        </p:txBody>
      </p:sp>
      <p:sp>
        <p:nvSpPr>
          <p:cNvPr id="253" name="Rectangle 609">
            <a:extLst>
              <a:ext uri="{FF2B5EF4-FFF2-40B4-BE49-F238E27FC236}">
                <a16:creationId xmlns:a16="http://schemas.microsoft.com/office/drawing/2014/main" id="{E6A79B5C-C78C-492A-9FC0-C94DA010C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0478" y="5352429"/>
            <a:ext cx="2502554" cy="314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 algn="ctr">
              <a:spcAft>
                <a:spcPts val="300"/>
              </a:spcAft>
              <a:defRPr/>
            </a:pPr>
            <a:r>
              <a:rPr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테스트 시나리오</a:t>
            </a:r>
            <a:endParaRPr lang="ko-KR" altLang="en-US" sz="12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54" name="Rectangle 609">
            <a:extLst>
              <a:ext uri="{FF2B5EF4-FFF2-40B4-BE49-F238E27FC236}">
                <a16:creationId xmlns:a16="http://schemas.microsoft.com/office/drawing/2014/main" id="{E5B918D1-22F9-4C55-B79E-08C31455B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4776" y="5730852"/>
            <a:ext cx="2502554" cy="314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 algn="ctr">
              <a:spcAft>
                <a:spcPts val="300"/>
              </a:spcAft>
              <a:defRPr/>
            </a:pP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테스트 현황보고서 </a:t>
            </a:r>
            <a:r>
              <a:rPr lang="en-US" altLang="ko-KR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메일</a:t>
            </a:r>
            <a:r>
              <a:rPr lang="en-US" altLang="ko-KR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12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55" name="Rectangle 609">
            <a:extLst>
              <a:ext uri="{FF2B5EF4-FFF2-40B4-BE49-F238E27FC236}">
                <a16:creationId xmlns:a16="http://schemas.microsoft.com/office/drawing/2014/main" id="{CF0588ED-67A5-40EF-A24F-D6FB0D702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3881" y="5352428"/>
            <a:ext cx="2856288" cy="314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 algn="ctr">
              <a:spcAft>
                <a:spcPts val="300"/>
              </a:spcAft>
              <a:defRPr/>
            </a:pP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결함 목록 및 조치 현황</a:t>
            </a:r>
          </a:p>
        </p:txBody>
      </p:sp>
      <p:sp>
        <p:nvSpPr>
          <p:cNvPr id="256" name="Rectangle 609">
            <a:extLst>
              <a:ext uri="{FF2B5EF4-FFF2-40B4-BE49-F238E27FC236}">
                <a16:creationId xmlns:a16="http://schemas.microsoft.com/office/drawing/2014/main" id="{BC6CF8B5-FF7C-4F91-95D1-5E3FC8EA3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4975" y="5352428"/>
            <a:ext cx="1992468" cy="314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none" anchor="ctr"/>
          <a:lstStyle/>
          <a:p>
            <a:pPr algn="ctr">
              <a:spcAft>
                <a:spcPts val="300"/>
              </a:spcAft>
              <a:defRPr/>
            </a:pP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테스트 결과 보고서</a:t>
            </a:r>
          </a:p>
        </p:txBody>
      </p: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099481D4-8C57-4A27-A8AE-FB615732E09F}"/>
              </a:ext>
            </a:extLst>
          </p:cNvPr>
          <p:cNvSpPr/>
          <p:nvPr/>
        </p:nvSpPr>
        <p:spPr bwMode="auto">
          <a:xfrm>
            <a:off x="7718136" y="2696435"/>
            <a:ext cx="835826" cy="281107"/>
          </a:xfrm>
          <a:prstGeom prst="rect">
            <a:avLst/>
          </a:prstGeom>
          <a:noFill/>
          <a:ln w="9525" algn="ctr">
            <a:solidFill>
              <a:schemeClr val="accent1">
                <a:lumMod val="50000"/>
              </a:schemeClr>
            </a:solidFill>
            <a:round/>
            <a:headEnd/>
            <a:tailEnd/>
          </a:ln>
        </p:spPr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결함 분류</a:t>
            </a:r>
          </a:p>
        </p:txBody>
      </p:sp>
      <p:cxnSp>
        <p:nvCxnSpPr>
          <p:cNvPr id="270" name="꺾인 연결선 34">
            <a:extLst>
              <a:ext uri="{FF2B5EF4-FFF2-40B4-BE49-F238E27FC236}">
                <a16:creationId xmlns:a16="http://schemas.microsoft.com/office/drawing/2014/main" id="{39F2696C-C8D6-49D5-ADA1-56A99F6704E8}"/>
              </a:ext>
            </a:extLst>
          </p:cNvPr>
          <p:cNvCxnSpPr>
            <a:cxnSpLocks/>
            <a:stCxn id="170" idx="3"/>
            <a:endCxn id="257" idx="1"/>
          </p:cNvCxnSpPr>
          <p:nvPr/>
        </p:nvCxnSpPr>
        <p:spPr>
          <a:xfrm flipV="1">
            <a:off x="7226921" y="2836989"/>
            <a:ext cx="491215" cy="1439"/>
          </a:xfrm>
          <a:prstGeom prst="bentConnector3">
            <a:avLst>
              <a:gd name="adj1" fmla="val 50000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tailEnd type="triangle"/>
          </a:ln>
          <a:effectLst/>
        </p:spPr>
      </p:cxnSp>
      <p:cxnSp>
        <p:nvCxnSpPr>
          <p:cNvPr id="276" name="꺾인 연결선 34">
            <a:extLst>
              <a:ext uri="{FF2B5EF4-FFF2-40B4-BE49-F238E27FC236}">
                <a16:creationId xmlns:a16="http://schemas.microsoft.com/office/drawing/2014/main" id="{7F48EABF-13C9-4EBB-A523-D4D9C3EFE898}"/>
              </a:ext>
            </a:extLst>
          </p:cNvPr>
          <p:cNvCxnSpPr>
            <a:cxnSpLocks/>
            <a:stCxn id="257" idx="3"/>
            <a:endCxn id="171" idx="2"/>
          </p:cNvCxnSpPr>
          <p:nvPr/>
        </p:nvCxnSpPr>
        <p:spPr>
          <a:xfrm flipV="1">
            <a:off x="8553962" y="2491332"/>
            <a:ext cx="238643" cy="345657"/>
          </a:xfrm>
          <a:prstGeom prst="bentConnector2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tailEnd type="triangle"/>
          </a:ln>
          <a:effectLst/>
        </p:spPr>
      </p:cxnSp>
      <p:sp>
        <p:nvSpPr>
          <p:cNvPr id="282" name="직사각형 281">
            <a:extLst>
              <a:ext uri="{FF2B5EF4-FFF2-40B4-BE49-F238E27FC236}">
                <a16:creationId xmlns:a16="http://schemas.microsoft.com/office/drawing/2014/main" id="{B8AE0312-89F5-4743-B041-C772919FF4CF}"/>
              </a:ext>
            </a:extLst>
          </p:cNvPr>
          <p:cNvSpPr/>
          <p:nvPr/>
        </p:nvSpPr>
        <p:spPr>
          <a:xfrm>
            <a:off x="407670" y="1930212"/>
            <a:ext cx="71045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200" b="1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프로세스</a:t>
            </a:r>
            <a:endParaRPr lang="ko-KR" altLang="en-US" sz="1200" b="1" dirty="0">
              <a:solidFill>
                <a:srgbClr val="000000"/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285" name="직사각형 284">
            <a:extLst>
              <a:ext uri="{FF2B5EF4-FFF2-40B4-BE49-F238E27FC236}">
                <a16:creationId xmlns:a16="http://schemas.microsoft.com/office/drawing/2014/main" id="{447A9881-0F7C-43FF-8555-B46891585D0B}"/>
              </a:ext>
            </a:extLst>
          </p:cNvPr>
          <p:cNvSpPr/>
          <p:nvPr/>
        </p:nvSpPr>
        <p:spPr>
          <a:xfrm>
            <a:off x="574830" y="3943668"/>
            <a:ext cx="44755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활동</a:t>
            </a:r>
          </a:p>
        </p:txBody>
      </p:sp>
      <p:sp>
        <p:nvSpPr>
          <p:cNvPr id="286" name="직사각형 285">
            <a:extLst>
              <a:ext uri="{FF2B5EF4-FFF2-40B4-BE49-F238E27FC236}">
                <a16:creationId xmlns:a16="http://schemas.microsoft.com/office/drawing/2014/main" id="{B8F2B90F-7FAC-4198-9E38-6B4D27791818}"/>
              </a:ext>
            </a:extLst>
          </p:cNvPr>
          <p:cNvSpPr/>
          <p:nvPr/>
        </p:nvSpPr>
        <p:spPr>
          <a:xfrm>
            <a:off x="506502" y="5453853"/>
            <a:ext cx="57900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산출물</a:t>
            </a:r>
          </a:p>
        </p:txBody>
      </p:sp>
      <p:sp>
        <p:nvSpPr>
          <p:cNvPr id="80" name="모서리가 둥근 직사각형 1">
            <a:extLst>
              <a:ext uri="{FF2B5EF4-FFF2-40B4-BE49-F238E27FC236}">
                <a16:creationId xmlns:a16="http://schemas.microsoft.com/office/drawing/2014/main" id="{2DB6B3BE-4F34-431A-A3D7-436DF036B1D5}"/>
              </a:ext>
            </a:extLst>
          </p:cNvPr>
          <p:cNvSpPr/>
          <p:nvPr/>
        </p:nvSpPr>
        <p:spPr>
          <a:xfrm>
            <a:off x="3656450" y="1393119"/>
            <a:ext cx="2476581" cy="470387"/>
          </a:xfrm>
          <a:prstGeom prst="rect">
            <a:avLst/>
          </a:prstGeom>
          <a:noFill/>
          <a:ln w="63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A5CC7AA3-20AD-494D-B567-97DAA31E6053}"/>
              </a:ext>
            </a:extLst>
          </p:cNvPr>
          <p:cNvSpPr/>
          <p:nvPr/>
        </p:nvSpPr>
        <p:spPr bwMode="auto">
          <a:xfrm>
            <a:off x="3850014" y="1494089"/>
            <a:ext cx="900589" cy="281107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accent1">
                <a:lumMod val="50000"/>
              </a:schemeClr>
            </a:solidFill>
            <a:round/>
            <a:headEnd/>
            <a:tailEnd/>
          </a:ln>
        </p:spPr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기능 테스트</a:t>
            </a:r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BF6768FC-BC06-4050-9212-092709485AF2}"/>
              </a:ext>
            </a:extLst>
          </p:cNvPr>
          <p:cNvCxnSpPr>
            <a:cxnSpLocks/>
          </p:cNvCxnSpPr>
          <p:nvPr/>
        </p:nvCxnSpPr>
        <p:spPr>
          <a:xfrm>
            <a:off x="3583184" y="1127517"/>
            <a:ext cx="0" cy="216000"/>
          </a:xfrm>
          <a:prstGeom prst="line">
            <a:avLst/>
          </a:prstGeom>
          <a:solidFill>
            <a:srgbClr val="FFFFFF">
              <a:lumMod val="95000"/>
            </a:srgbClr>
          </a:solidFill>
          <a:ln w="3175" cap="flat" cmpd="sng" algn="ctr">
            <a:solidFill>
              <a:srgbClr val="FFFFFF">
                <a:lumMod val="85000"/>
              </a:srgbClr>
            </a:solidFill>
            <a:prstDash val="solid"/>
          </a:ln>
          <a:effectLst/>
        </p:spPr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1125A7D-6A1E-493B-8CC1-30EAFCE9F75F}"/>
              </a:ext>
            </a:extLst>
          </p:cNvPr>
          <p:cNvSpPr/>
          <p:nvPr/>
        </p:nvSpPr>
        <p:spPr bwMode="auto">
          <a:xfrm>
            <a:off x="4952999" y="1495385"/>
            <a:ext cx="1141651" cy="2811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chemeClr val="accent1">
                <a:lumMod val="50000"/>
              </a:schemeClr>
            </a:solidFill>
            <a:round/>
            <a:headEnd/>
            <a:tailEnd/>
          </a:ln>
        </p:spPr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공통 항목 점검</a:t>
            </a:r>
          </a:p>
        </p:txBody>
      </p:sp>
    </p:spTree>
    <p:extLst>
      <p:ext uri="{BB962C8B-B14F-4D97-AF65-F5344CB8AC3E}">
        <p14:creationId xmlns:p14="http://schemas.microsoft.com/office/powerpoint/2010/main" val="205540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500905" y="113211"/>
            <a:ext cx="4823756" cy="416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685800" fontAlgn="base" latinLnBrk="0">
              <a:lnSpc>
                <a:spcPct val="110000"/>
              </a:lnSpc>
              <a:defRPr/>
            </a:pPr>
            <a:r>
              <a:rPr lang="en-US" altLang="ko-KR" sz="20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4. </a:t>
            </a:r>
            <a:r>
              <a:rPr lang="ko-KR" altLang="en-US" sz="20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결함관리 구분 </a:t>
            </a:r>
            <a:r>
              <a:rPr lang="en-US" altLang="ko-KR" sz="20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 </a:t>
            </a:r>
            <a:r>
              <a:rPr lang="ko-KR" altLang="en-US" sz="20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심각도 </a:t>
            </a:r>
            <a:r>
              <a:rPr lang="en-US" altLang="ko-KR" sz="20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/ </a:t>
            </a:r>
            <a:r>
              <a:rPr lang="ko-KR" altLang="en-US" sz="20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유형 </a:t>
            </a:r>
            <a:r>
              <a:rPr lang="en-US" altLang="ko-KR" sz="20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/ </a:t>
            </a:r>
            <a:r>
              <a:rPr lang="ko-KR" altLang="en-US" sz="20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조치상태 </a:t>
            </a:r>
            <a:r>
              <a:rPr lang="en-US" altLang="ko-KR" sz="20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endParaRPr lang="en-US" altLang="ko-KR" sz="2000" spc="-30" dirty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0" name="TextBox 107">
            <a:extLst>
              <a:ext uri="{FF2B5EF4-FFF2-40B4-BE49-F238E27FC236}">
                <a16:creationId xmlns:a16="http://schemas.microsoft.com/office/drawing/2014/main" id="{24197229-DD0C-0820-4357-D85BE9997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905" y="942592"/>
            <a:ext cx="255481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kumimoji="0" lang="ko-KR" altLang="en-US" sz="1600" b="0" kern="0" spc="-80" dirty="0">
                <a:ln>
                  <a:solidFill>
                    <a:srgbClr val="2F7B80">
                      <a:alpha val="0"/>
                    </a:srgbClr>
                  </a:solidFill>
                </a:ln>
                <a:latin typeface="KoPub돋움체 Bold" pitchFamily="18" charset="-127"/>
                <a:ea typeface="KoPub돋움체 Bold" pitchFamily="18" charset="-127"/>
              </a:rPr>
              <a:t>□  결함 심각도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BEDE0B3-A4FE-4712-B021-64ED2B86753F}"/>
              </a:ext>
            </a:extLst>
          </p:cNvPr>
          <p:cNvGraphicFramePr>
            <a:graphicFrameLocks noGrp="1"/>
          </p:cNvGraphicFramePr>
          <p:nvPr/>
        </p:nvGraphicFramePr>
        <p:xfrm>
          <a:off x="588921" y="1315801"/>
          <a:ext cx="4802229" cy="1560749"/>
        </p:xfrm>
        <a:graphic>
          <a:graphicData uri="http://schemas.openxmlformats.org/drawingml/2006/table">
            <a:tbl>
              <a:tblPr firstRow="1" firstCol="1" bandRow="1"/>
              <a:tblGrid>
                <a:gridCol w="801729">
                  <a:extLst>
                    <a:ext uri="{9D8B030D-6E8A-4147-A177-3AD203B41FA5}">
                      <a16:colId xmlns:a16="http://schemas.microsoft.com/office/drawing/2014/main" val="3002535416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3065035465"/>
                    </a:ext>
                  </a:extLst>
                </a:gridCol>
              </a:tblGrid>
              <a:tr h="25958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altLang="en-US" sz="1200" b="1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등급</a:t>
                      </a:r>
                      <a:endParaRPr lang="ko-KR" sz="1200" b="1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altLang="en-US" sz="1200" b="1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결함 내용</a:t>
                      </a:r>
                      <a:endParaRPr lang="ko-KR" sz="1200" b="1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624796"/>
                  </a:ext>
                </a:extLst>
              </a:tr>
              <a:tr h="50545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Critical</a:t>
                      </a:r>
                      <a:endParaRPr lang="ko-KR" sz="1100" b="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시스템 중단</a:t>
                      </a:r>
                      <a:r>
                        <a:rPr lang="en-US" altLang="ko-KR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데이터 손실 발생</a:t>
                      </a:r>
                      <a:r>
                        <a:rPr lang="en-US" altLang="ko-KR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필수 화면 오류</a:t>
                      </a:r>
                      <a:r>
                        <a:rPr lang="en-US" altLang="ko-KR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주요 기능 동작 불가</a:t>
                      </a:r>
                      <a:endParaRPr lang="en-US" altLang="ko-KR" sz="1100" b="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C/R/U/D </a:t>
                      </a:r>
                      <a:r>
                        <a:rPr lang="ko-KR" altLang="en-US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실패</a:t>
                      </a:r>
                      <a:endParaRPr lang="ko-KR" sz="1100" b="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632877"/>
                  </a:ext>
                </a:extLst>
              </a:tr>
              <a:tr h="50545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altLang="ko-KR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Major</a:t>
                      </a:r>
                      <a:endParaRPr lang="ko-KR" sz="1100" b="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altLang="en-US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부분 기능 오류</a:t>
                      </a:r>
                      <a:r>
                        <a:rPr lang="en-US" altLang="ko-KR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, UI </a:t>
                      </a:r>
                      <a:r>
                        <a:rPr lang="ko-KR" altLang="en-US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오류</a:t>
                      </a:r>
                      <a:r>
                        <a:rPr lang="en-US" altLang="ko-KR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일부 기능 </a:t>
                      </a:r>
                      <a:r>
                        <a:rPr lang="ko-KR" altLang="en-US" sz="1100" b="0" kern="100" dirty="0" err="1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미작동</a:t>
                      </a:r>
                      <a:endParaRPr lang="en-US" altLang="ko-KR" sz="1100" b="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altLang="ko-KR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Critical </a:t>
                      </a:r>
                      <a:r>
                        <a:rPr lang="ko-KR" altLang="en-US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결함 발생시 우회 처리 방법 존재하는 경우 </a:t>
                      </a:r>
                      <a:r>
                        <a:rPr lang="en-US" altLang="ko-KR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Major</a:t>
                      </a:r>
                      <a:r>
                        <a:rPr lang="ko-KR" altLang="en-US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로 조정</a:t>
                      </a:r>
                      <a:endParaRPr lang="ko-KR" sz="1100" b="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502352"/>
                  </a:ext>
                </a:extLst>
              </a:tr>
              <a:tr h="29026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altLang="ko-KR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Minor</a:t>
                      </a:r>
                      <a:endParaRPr lang="ko-KR" sz="1100" b="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altLang="en-US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경미한 오류</a:t>
                      </a:r>
                      <a:r>
                        <a:rPr lang="en-US" altLang="ko-KR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사용성 개선 사항</a:t>
                      </a:r>
                      <a:r>
                        <a:rPr lang="en-US" altLang="ko-KR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문구 오타</a:t>
                      </a:r>
                      <a:r>
                        <a:rPr lang="en-US" altLang="ko-KR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정렬 오류</a:t>
                      </a:r>
                      <a:r>
                        <a:rPr lang="en-US" altLang="ko-KR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 </a:t>
                      </a:r>
                      <a:endParaRPr lang="ko-KR" sz="1100" b="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22031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1DD436F-555C-411E-9197-16609602CB8A}"/>
              </a:ext>
            </a:extLst>
          </p:cNvPr>
          <p:cNvGraphicFramePr>
            <a:graphicFrameLocks noGrp="1"/>
          </p:cNvGraphicFramePr>
          <p:nvPr/>
        </p:nvGraphicFramePr>
        <p:xfrm>
          <a:off x="588921" y="3399390"/>
          <a:ext cx="4802229" cy="3000975"/>
        </p:xfrm>
        <a:graphic>
          <a:graphicData uri="http://schemas.openxmlformats.org/drawingml/2006/table">
            <a:tbl>
              <a:tblPr firstRow="1" firstCol="1" bandRow="1"/>
              <a:tblGrid>
                <a:gridCol w="801729">
                  <a:extLst>
                    <a:ext uri="{9D8B030D-6E8A-4147-A177-3AD203B41FA5}">
                      <a16:colId xmlns:a16="http://schemas.microsoft.com/office/drawing/2014/main" val="3513901736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1691380014"/>
                    </a:ext>
                  </a:extLst>
                </a:gridCol>
              </a:tblGrid>
              <a:tr h="277260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ko-KR" sz="1100" b="1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유형</a:t>
                      </a:r>
                      <a:endParaRPr lang="ko-KR" sz="1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ko-KR" sz="1100" b="1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설명</a:t>
                      </a:r>
                      <a:endParaRPr lang="ko-KR" sz="1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463328"/>
                  </a:ext>
                </a:extLst>
              </a:tr>
              <a:tr h="302635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ko-KR" sz="110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기능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lang="ko-KR" sz="1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응용 프로그램이 수행해야 할 기능상의 결함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2358093"/>
                  </a:ext>
                </a:extLst>
              </a:tr>
              <a:tr h="302635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ko-KR" sz="110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프로세스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lang="ko-KR" sz="1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업무 프로세스 문제로 인한 결함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1075078"/>
                  </a:ext>
                </a:extLst>
              </a:tr>
              <a:tr h="302635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ko-KR" sz="110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데이터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lang="ko-KR" sz="1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응용 프로그램 수행 완료 후 </a:t>
                      </a:r>
                      <a:r>
                        <a:rPr lang="en-US" altLang="ko-KR" sz="1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C/R/U/D</a:t>
                      </a:r>
                      <a:r>
                        <a:rPr lang="ko-KR" altLang="en-US" sz="1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데이터의 결함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250042"/>
                  </a:ext>
                </a:extLst>
              </a:tr>
              <a:tr h="302635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ko-KR" sz="1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인터페이스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lang="ko-KR" sz="1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서로 다른 시스템</a:t>
                      </a:r>
                      <a:r>
                        <a:rPr lang="en-US" altLang="ko-KR" sz="1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간의 인터페이스 문제로 발생하는 결함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3001763"/>
                  </a:ext>
                </a:extLst>
              </a:tr>
              <a:tr h="302635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ko-KR" sz="110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표준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lang="ko-KR" sz="1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응용 프로그램이 표준을 준수하여 구현되지 않았을 경우의 결함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097601"/>
                  </a:ext>
                </a:extLst>
              </a:tr>
              <a:tr h="302635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UI</a:t>
                      </a:r>
                      <a:endParaRPr lang="ko-KR" sz="110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lang="ko-KR" sz="1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UI(</a:t>
                      </a:r>
                      <a:r>
                        <a:rPr lang="ko-KR" sz="1100" dirty="0" err="1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User</a:t>
                      </a:r>
                      <a:r>
                        <a:rPr lang="ko-KR" sz="1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100" dirty="0" err="1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Interface</a:t>
                      </a:r>
                      <a:r>
                        <a:rPr lang="ko-KR" sz="1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) 문제로 인한 결함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6600428"/>
                  </a:ext>
                </a:extLst>
              </a:tr>
              <a:tr h="302635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ko-KR" sz="1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성능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lang="ko-KR" altLang="en-US" sz="1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기능 처리로 </a:t>
                      </a:r>
                      <a:r>
                        <a:rPr lang="ko-KR" sz="1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성능 저하, 과부하 등의 문제가 발생할 수 있는 결함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64548"/>
                  </a:ext>
                </a:extLst>
              </a:tr>
              <a:tr h="302635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ko-KR" sz="1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문서화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lang="ko-KR" sz="1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문서화 작업 문제로 인한 결함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9969230"/>
                  </a:ext>
                </a:extLst>
              </a:tr>
              <a:tr h="302635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ko-KR" sz="1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기타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lang="ko-KR" sz="1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위 항목에 포함되지 않는 결함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6472164"/>
                  </a:ext>
                </a:extLst>
              </a:tr>
            </a:tbl>
          </a:graphicData>
        </a:graphic>
      </p:graphicFrame>
      <p:sp>
        <p:nvSpPr>
          <p:cNvPr id="63" name="TextBox 107">
            <a:extLst>
              <a:ext uri="{FF2B5EF4-FFF2-40B4-BE49-F238E27FC236}">
                <a16:creationId xmlns:a16="http://schemas.microsoft.com/office/drawing/2014/main" id="{09EE7B0F-FF96-4020-9CFA-E1BEB7530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905" y="3086494"/>
            <a:ext cx="255481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kumimoji="0" lang="ko-KR" altLang="en-US" sz="1600" b="0" kern="0" spc="-80" dirty="0">
                <a:ln>
                  <a:solidFill>
                    <a:srgbClr val="2F7B80">
                      <a:alpha val="0"/>
                    </a:srgbClr>
                  </a:solidFill>
                </a:ln>
                <a:latin typeface="KoPub돋움체 Bold" pitchFamily="18" charset="-127"/>
                <a:ea typeface="KoPub돋움체 Bold" pitchFamily="18" charset="-127"/>
              </a:rPr>
              <a:t>□  결함 유형</a:t>
            </a: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205206C6-F5B6-43F0-B01C-D7CB8C43FFE8}"/>
              </a:ext>
            </a:extLst>
          </p:cNvPr>
          <p:cNvGraphicFramePr>
            <a:graphicFrameLocks noGrp="1"/>
          </p:cNvGraphicFramePr>
          <p:nvPr/>
        </p:nvGraphicFramePr>
        <p:xfrm>
          <a:off x="5834025" y="1315801"/>
          <a:ext cx="5791200" cy="4534679"/>
        </p:xfrm>
        <a:graphic>
          <a:graphicData uri="http://schemas.openxmlformats.org/drawingml/2006/table">
            <a:tbl>
              <a:tblPr firstRow="1" firstCol="1" bandRow="1"/>
              <a:tblGrid>
                <a:gridCol w="385800">
                  <a:extLst>
                    <a:ext uri="{9D8B030D-6E8A-4147-A177-3AD203B41FA5}">
                      <a16:colId xmlns:a16="http://schemas.microsoft.com/office/drawing/2014/main" val="359775513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3513901736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4167912388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3019940279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3280482585"/>
                    </a:ext>
                  </a:extLst>
                </a:gridCol>
                <a:gridCol w="2624100">
                  <a:extLst>
                    <a:ext uri="{9D8B030D-6E8A-4147-A177-3AD203B41FA5}">
                      <a16:colId xmlns:a16="http://schemas.microsoft.com/office/drawing/2014/main" val="1691380014"/>
                    </a:ext>
                  </a:extLst>
                </a:gridCol>
              </a:tblGrid>
              <a:tr h="25582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altLang="en-US" sz="1200" b="1" kern="100" dirty="0">
                          <a:solidFill>
                            <a:schemeClr val="bg1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순서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altLang="en-US" sz="1200" b="1" kern="100" dirty="0">
                          <a:solidFill>
                            <a:schemeClr val="bg1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단계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altLang="en-US" sz="1200" b="1" kern="100" dirty="0">
                          <a:solidFill>
                            <a:schemeClr val="bg1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테스터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altLang="ko-KR" sz="1200" b="1" kern="100" dirty="0">
                          <a:solidFill>
                            <a:schemeClr val="bg1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PL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altLang="en-US" sz="1200" b="1" kern="100" dirty="0">
                          <a:solidFill>
                            <a:schemeClr val="bg1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개발자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altLang="en-US" sz="1200" b="1" kern="100" dirty="0">
                          <a:solidFill>
                            <a:schemeClr val="bg1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주요 활동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463328"/>
                  </a:ext>
                </a:extLst>
              </a:tr>
              <a:tr h="611265">
                <a:tc>
                  <a:txBody>
                    <a:bodyPr/>
                    <a:lstStyle/>
                    <a:p>
                      <a:pPr marL="0" indent="0"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1</a:t>
                      </a: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결함검토요청</a:t>
                      </a: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테스트 수행 결과 발견된 결함을 등록</a:t>
                      </a:r>
                      <a:r>
                        <a:rPr lang="en-US" alt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alt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PL</a:t>
                      </a: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이 결함을 검토 함</a:t>
                      </a: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2358093"/>
                  </a:ext>
                </a:extLst>
              </a:tr>
              <a:tr h="611265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alt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2</a:t>
                      </a: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</a:pP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조치요청</a:t>
                      </a: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alt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결함</a:t>
                      </a:r>
                      <a:r>
                        <a:rPr lang="en-US" alt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식별 및</a:t>
                      </a:r>
                      <a:r>
                        <a:rPr lang="ko-KR" alt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 수정</a:t>
                      </a: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 조치</a:t>
                      </a:r>
                      <a:endParaRPr lang="en-US" alt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개발자는 식별된 결함을 조치 함</a:t>
                      </a:r>
                      <a:endParaRPr lang="ko-KR" alt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1075078"/>
                  </a:ext>
                </a:extLst>
              </a:tr>
              <a:tr h="611265">
                <a:tc vMerge="1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</a:pP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결함등록기각</a:t>
                      </a: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alt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결함</a:t>
                      </a: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이 아님으로 확인 되어 기가 처리</a:t>
                      </a:r>
                      <a:endParaRPr lang="en-US" alt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alt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⇒ </a:t>
                      </a: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종료 </a:t>
                      </a:r>
                      <a:r>
                        <a:rPr lang="en-US" alt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ko-KR" altLang="en-US" sz="1100" kern="100" dirty="0" err="1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수행사</a:t>
                      </a: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 종료 </a:t>
                      </a:r>
                      <a:r>
                        <a:rPr lang="en-US" alt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790039"/>
                  </a:ext>
                </a:extLst>
              </a:tr>
              <a:tr h="611265">
                <a:tc rowSpan="2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alt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3</a:t>
                      </a: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</a:pP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확인요청</a:t>
                      </a: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결함 조치가 완료 되어 조치결과 확인요청</a:t>
                      </a:r>
                      <a:endParaRPr lang="en-US" alt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alt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PL</a:t>
                      </a: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이 결함조치 여부를 확인</a:t>
                      </a: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447768"/>
                  </a:ext>
                </a:extLst>
              </a:tr>
              <a:tr h="611265">
                <a:tc vMerge="1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</a:pP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확인요청</a:t>
                      </a: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결함 조치가 완료 되어 조치결과 확인요청</a:t>
                      </a:r>
                      <a:endParaRPr lang="en-US" alt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테스터는 결함조치 여부를 확인</a:t>
                      </a:r>
                      <a:endParaRPr lang="ko-KR" alt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90107"/>
                  </a:ext>
                </a:extLst>
              </a:tr>
              <a:tr h="6112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재조치요청</a:t>
                      </a:r>
                      <a:endParaRPr lang="ko-KR" alt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결함이 </a:t>
                      </a:r>
                      <a:r>
                        <a:rPr lang="ko-KR" altLang="en-US" sz="1100" kern="100" dirty="0" err="1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미조치</a:t>
                      </a: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 되거나</a:t>
                      </a:r>
                      <a:r>
                        <a:rPr lang="en-US" alt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부가 결함이 확인됨</a:t>
                      </a:r>
                      <a:endParaRPr lang="en-US" alt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alt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2) </a:t>
                      </a:r>
                      <a:r>
                        <a:rPr lang="ko-KR" altLang="en-US" sz="1100" u="sng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조치요청</a:t>
                      </a: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 단계 </a:t>
                      </a:r>
                      <a:r>
                        <a:rPr lang="ko-KR" altLang="en-US" sz="1100" kern="100" dirty="0" err="1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재수행</a:t>
                      </a:r>
                      <a:endParaRPr lang="ko-KR" alt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4522695"/>
                  </a:ext>
                </a:extLst>
              </a:tr>
              <a:tr h="611265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alt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5</a:t>
                      </a: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</a:pP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최종확인</a:t>
                      </a: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결함 조치 확인 </a:t>
                      </a:r>
                      <a:endParaRPr lang="en-US" alt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⇒ </a:t>
                      </a: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종료 </a:t>
                      </a:r>
                      <a:r>
                        <a:rPr lang="en-US" alt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테스터 종료 </a:t>
                      </a:r>
                      <a:r>
                        <a:rPr lang="en-US" alt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9525" marT="9525" marB="9525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064793"/>
                  </a:ext>
                </a:extLst>
              </a:tr>
            </a:tbl>
          </a:graphicData>
        </a:graphic>
      </p:graphicFrame>
      <p:sp>
        <p:nvSpPr>
          <p:cNvPr id="39" name="TextBox 107">
            <a:extLst>
              <a:ext uri="{FF2B5EF4-FFF2-40B4-BE49-F238E27FC236}">
                <a16:creationId xmlns:a16="http://schemas.microsoft.com/office/drawing/2014/main" id="{913FD7C9-7A3E-4423-925D-5A96A659D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935502"/>
            <a:ext cx="255481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kumimoji="0" lang="ko-KR" altLang="en-US" sz="1600" b="0" kern="0" spc="-80" dirty="0">
                <a:ln>
                  <a:solidFill>
                    <a:srgbClr val="2F7B80">
                      <a:alpha val="0"/>
                    </a:srgbClr>
                  </a:solidFill>
                </a:ln>
                <a:latin typeface="KoPub돋움체 Bold" pitchFamily="18" charset="-127"/>
                <a:ea typeface="KoPub돋움체 Bold" pitchFamily="18" charset="-127"/>
              </a:rPr>
              <a:t>□  결함조치 상태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4B40F11-315F-4D9E-BDAF-4B1373B624E4}"/>
              </a:ext>
            </a:extLst>
          </p:cNvPr>
          <p:cNvGrpSpPr/>
          <p:nvPr/>
        </p:nvGrpSpPr>
        <p:grpSpPr>
          <a:xfrm>
            <a:off x="7336746" y="1756677"/>
            <a:ext cx="821612" cy="216001"/>
            <a:chOff x="7220846" y="1880174"/>
            <a:chExt cx="840968" cy="202861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66968574-B635-41B4-AF4F-7FE5066258D7}"/>
                </a:ext>
              </a:extLst>
            </p:cNvPr>
            <p:cNvSpPr/>
            <p:nvPr/>
          </p:nvSpPr>
          <p:spPr bwMode="auto">
            <a:xfrm>
              <a:off x="7220846" y="1880174"/>
              <a:ext cx="221089" cy="202860"/>
            </a:xfrm>
            <a:prstGeom prst="ellipse">
              <a:avLst/>
            </a:prstGeom>
            <a:noFill/>
            <a:ln w="9525" algn="ctr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</p:spPr>
          <p:txBody>
            <a:bodyPr lIns="0" tIns="0" rIns="0" bIns="0" rtlCol="0" anchor="ctr"/>
            <a:lstStyle/>
            <a:p>
              <a:pPr algn="ctr"/>
              <a:endParaRPr lang="ko-KR" altLang="en-US" sz="1200" b="1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6C47F600-7160-4A56-8324-2A9EBDCA01F0}"/>
                </a:ext>
              </a:extLst>
            </p:cNvPr>
            <p:cNvSpPr/>
            <p:nvPr/>
          </p:nvSpPr>
          <p:spPr bwMode="auto">
            <a:xfrm>
              <a:off x="7840725" y="1880175"/>
              <a:ext cx="221089" cy="202860"/>
            </a:xfrm>
            <a:prstGeom prst="ellipse">
              <a:avLst/>
            </a:prstGeom>
            <a:noFill/>
            <a:ln w="9525" algn="ctr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</p:spPr>
          <p:txBody>
            <a:bodyPr lIns="0" tIns="0" rIns="0" bIns="0" rtlCol="0" anchor="ctr"/>
            <a:lstStyle/>
            <a:p>
              <a:pPr algn="ctr"/>
              <a:endParaRPr lang="ko-KR" altLang="en-US" sz="1200" b="1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72449E99-C6F0-423E-967D-A1FD6CE91890}"/>
                </a:ext>
              </a:extLst>
            </p:cNvPr>
            <p:cNvCxnSpPr/>
            <p:nvPr/>
          </p:nvCxnSpPr>
          <p:spPr>
            <a:xfrm>
              <a:off x="7446597" y="1988175"/>
              <a:ext cx="405329" cy="0"/>
            </a:xfrm>
            <a:prstGeom prst="straightConnector1">
              <a:avLst/>
            </a:prstGeom>
            <a:ln w="38100"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타원 57">
            <a:extLst>
              <a:ext uri="{FF2B5EF4-FFF2-40B4-BE49-F238E27FC236}">
                <a16:creationId xmlns:a16="http://schemas.microsoft.com/office/drawing/2014/main" id="{2BE73924-4A28-4ADC-B247-416D4D7248FF}"/>
              </a:ext>
            </a:extLst>
          </p:cNvPr>
          <p:cNvSpPr/>
          <p:nvPr/>
        </p:nvSpPr>
        <p:spPr bwMode="auto">
          <a:xfrm rot="10800000">
            <a:off x="7977614" y="3023974"/>
            <a:ext cx="216000" cy="216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algn="ctr">
            <a:solidFill>
              <a:schemeClr val="accent1">
                <a:lumMod val="50000"/>
              </a:schemeClr>
            </a:solidFill>
            <a:round/>
            <a:headEnd/>
            <a:tailEnd/>
          </a:ln>
        </p:spPr>
        <p:txBody>
          <a:bodyPr lIns="0" tIns="0" rIns="0" bIns="0" rtlCol="0" anchor="ctr"/>
          <a:lstStyle/>
          <a:p>
            <a:pPr algn="ctr"/>
            <a:endParaRPr lang="ko-KR" altLang="en-US" sz="1200" b="1" dirty="0"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AFDE8CBC-8110-4E58-B5F9-6152B1D07084}"/>
              </a:ext>
            </a:extLst>
          </p:cNvPr>
          <p:cNvSpPr/>
          <p:nvPr/>
        </p:nvSpPr>
        <p:spPr bwMode="auto">
          <a:xfrm rot="10800000">
            <a:off x="7327234" y="5457308"/>
            <a:ext cx="216000" cy="216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9525" algn="ctr">
            <a:solidFill>
              <a:schemeClr val="accent2">
                <a:lumMod val="75000"/>
              </a:schemeClr>
            </a:solidFill>
            <a:round/>
            <a:headEnd/>
            <a:tailEnd/>
          </a:ln>
        </p:spPr>
        <p:txBody>
          <a:bodyPr lIns="0" tIns="0" rIns="0" bIns="0" rtlCol="0" anchor="ctr"/>
          <a:lstStyle/>
          <a:p>
            <a:pPr algn="ctr"/>
            <a:endParaRPr lang="ko-KR" altLang="en-US" sz="1200" b="1" dirty="0"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0FDE7C4-17D1-41D5-9821-8BFA24A1A80D}"/>
              </a:ext>
            </a:extLst>
          </p:cNvPr>
          <p:cNvSpPr txBox="1"/>
          <p:nvPr/>
        </p:nvSpPr>
        <p:spPr>
          <a:xfrm>
            <a:off x="5834025" y="5941849"/>
            <a:ext cx="4727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※ 3) </a:t>
            </a:r>
            <a:r>
              <a:rPr lang="ko-KR" altLang="en-US" sz="1050" b="1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확인 요청 시 </a:t>
            </a:r>
            <a:r>
              <a:rPr lang="en-US" altLang="ko-KR" sz="1050" b="1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050" b="1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개발자가 테스터에게 직접 </a:t>
            </a:r>
            <a:r>
              <a:rPr lang="ko-KR" altLang="en-US" sz="1050" b="1" u="sng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확인요청</a:t>
            </a:r>
            <a:r>
              <a:rPr lang="ko-KR" altLang="en-US" sz="1050" b="1" dirty="0"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Times New Roman" panose="02020603050405020304" pitchFamily="18" charset="0"/>
              </a:rPr>
              <a:t> 진행 가능</a:t>
            </a:r>
            <a:endParaRPr lang="ko-KR" altLang="en-US" sz="1050" b="1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4F56A5A2-3DEB-47D2-81DD-CA555404E466}"/>
              </a:ext>
            </a:extLst>
          </p:cNvPr>
          <p:cNvGrpSpPr/>
          <p:nvPr/>
        </p:nvGrpSpPr>
        <p:grpSpPr>
          <a:xfrm>
            <a:off x="7977614" y="2367097"/>
            <a:ext cx="821612" cy="216001"/>
            <a:chOff x="7220846" y="1880174"/>
            <a:chExt cx="840968" cy="202861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6C365E1F-C073-4EF9-88D9-DDBE56DACD96}"/>
                </a:ext>
              </a:extLst>
            </p:cNvPr>
            <p:cNvSpPr/>
            <p:nvPr/>
          </p:nvSpPr>
          <p:spPr bwMode="auto">
            <a:xfrm>
              <a:off x="7220846" y="1880174"/>
              <a:ext cx="221089" cy="202860"/>
            </a:xfrm>
            <a:prstGeom prst="ellipse">
              <a:avLst/>
            </a:prstGeom>
            <a:noFill/>
            <a:ln w="9525" algn="ctr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</p:spPr>
          <p:txBody>
            <a:bodyPr lIns="0" tIns="0" rIns="0" bIns="0" rtlCol="0" anchor="ctr"/>
            <a:lstStyle/>
            <a:p>
              <a:pPr algn="ctr"/>
              <a:endParaRPr lang="ko-KR" altLang="en-US" sz="1200" b="1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D09DF2AB-60E4-468E-B8DE-551D7B872AA9}"/>
                </a:ext>
              </a:extLst>
            </p:cNvPr>
            <p:cNvSpPr/>
            <p:nvPr/>
          </p:nvSpPr>
          <p:spPr bwMode="auto">
            <a:xfrm>
              <a:off x="7840725" y="1880175"/>
              <a:ext cx="221089" cy="202860"/>
            </a:xfrm>
            <a:prstGeom prst="ellipse">
              <a:avLst/>
            </a:prstGeom>
            <a:noFill/>
            <a:ln w="9525" algn="ctr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</p:spPr>
          <p:txBody>
            <a:bodyPr lIns="0" tIns="0" rIns="0" bIns="0" rtlCol="0" anchor="ctr"/>
            <a:lstStyle/>
            <a:p>
              <a:pPr algn="ctr"/>
              <a:endParaRPr lang="ko-KR" altLang="en-US" sz="1200" b="1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80" name="직선 화살표 연결선 79">
              <a:extLst>
                <a:ext uri="{FF2B5EF4-FFF2-40B4-BE49-F238E27FC236}">
                  <a16:creationId xmlns:a16="http://schemas.microsoft.com/office/drawing/2014/main" id="{A5D00C79-AE0E-4FFB-9FC8-3097735EDF15}"/>
                </a:ext>
              </a:extLst>
            </p:cNvPr>
            <p:cNvCxnSpPr/>
            <p:nvPr/>
          </p:nvCxnSpPr>
          <p:spPr>
            <a:xfrm>
              <a:off x="7446597" y="1988175"/>
              <a:ext cx="405329" cy="0"/>
            </a:xfrm>
            <a:prstGeom prst="straightConnector1">
              <a:avLst/>
            </a:prstGeom>
            <a:ln w="38100"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4F98B023-6218-4850-BBE5-DA9FF17D19F6}"/>
              </a:ext>
            </a:extLst>
          </p:cNvPr>
          <p:cNvGrpSpPr/>
          <p:nvPr/>
        </p:nvGrpSpPr>
        <p:grpSpPr>
          <a:xfrm rot="10800000">
            <a:off x="7977614" y="3586744"/>
            <a:ext cx="821612" cy="216001"/>
            <a:chOff x="7220846" y="1880174"/>
            <a:chExt cx="840968" cy="202861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0901EAF4-7A9C-4E27-9449-C15F05EED2F1}"/>
                </a:ext>
              </a:extLst>
            </p:cNvPr>
            <p:cNvSpPr/>
            <p:nvPr/>
          </p:nvSpPr>
          <p:spPr bwMode="auto">
            <a:xfrm>
              <a:off x="7220846" y="1880174"/>
              <a:ext cx="221089" cy="202860"/>
            </a:xfrm>
            <a:prstGeom prst="ellipse">
              <a:avLst/>
            </a:prstGeom>
            <a:noFill/>
            <a:ln w="9525" algn="ctr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</p:spPr>
          <p:txBody>
            <a:bodyPr lIns="0" tIns="0" rIns="0" bIns="0" rtlCol="0" anchor="ctr"/>
            <a:lstStyle/>
            <a:p>
              <a:pPr algn="ctr"/>
              <a:endParaRPr lang="ko-KR" altLang="en-US" sz="1200" b="1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1C74FD28-8B94-413F-AB54-283302D17B6A}"/>
                </a:ext>
              </a:extLst>
            </p:cNvPr>
            <p:cNvSpPr/>
            <p:nvPr/>
          </p:nvSpPr>
          <p:spPr bwMode="auto">
            <a:xfrm>
              <a:off x="7840725" y="1880175"/>
              <a:ext cx="221089" cy="202860"/>
            </a:xfrm>
            <a:prstGeom prst="ellipse">
              <a:avLst/>
            </a:prstGeom>
            <a:noFill/>
            <a:ln w="9525" algn="ctr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</p:spPr>
          <p:txBody>
            <a:bodyPr lIns="0" tIns="0" rIns="0" bIns="0" rtlCol="0" anchor="ctr"/>
            <a:lstStyle/>
            <a:p>
              <a:pPr algn="ctr"/>
              <a:endParaRPr lang="ko-KR" altLang="en-US" sz="1200" b="1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84" name="직선 화살표 연결선 83">
              <a:extLst>
                <a:ext uri="{FF2B5EF4-FFF2-40B4-BE49-F238E27FC236}">
                  <a16:creationId xmlns:a16="http://schemas.microsoft.com/office/drawing/2014/main" id="{CEF075C7-ABEA-4A73-81ED-817334311B75}"/>
                </a:ext>
              </a:extLst>
            </p:cNvPr>
            <p:cNvCxnSpPr/>
            <p:nvPr/>
          </p:nvCxnSpPr>
          <p:spPr>
            <a:xfrm>
              <a:off x="7446597" y="1988175"/>
              <a:ext cx="405329" cy="0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DF006850-D623-41C9-AF47-7DE946E84DA0}"/>
              </a:ext>
            </a:extLst>
          </p:cNvPr>
          <p:cNvGrpSpPr/>
          <p:nvPr/>
        </p:nvGrpSpPr>
        <p:grpSpPr>
          <a:xfrm rot="10800000">
            <a:off x="7337891" y="4220896"/>
            <a:ext cx="821612" cy="216001"/>
            <a:chOff x="7220846" y="1880174"/>
            <a:chExt cx="840968" cy="202861"/>
          </a:xfrm>
        </p:grpSpPr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BB58E1E6-A8A5-4730-A3BC-1C73D6F8562A}"/>
                </a:ext>
              </a:extLst>
            </p:cNvPr>
            <p:cNvSpPr/>
            <p:nvPr/>
          </p:nvSpPr>
          <p:spPr bwMode="auto">
            <a:xfrm>
              <a:off x="7220846" y="1880174"/>
              <a:ext cx="221089" cy="202860"/>
            </a:xfrm>
            <a:prstGeom prst="ellipse">
              <a:avLst/>
            </a:prstGeom>
            <a:noFill/>
            <a:ln w="9525" algn="ctr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</p:spPr>
          <p:txBody>
            <a:bodyPr lIns="0" tIns="0" rIns="0" bIns="0" rtlCol="0" anchor="ctr"/>
            <a:lstStyle/>
            <a:p>
              <a:pPr algn="ctr"/>
              <a:endParaRPr lang="ko-KR" altLang="en-US" sz="1200" b="1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217C6D89-3DA6-4BD7-9A06-D29DA81ECBC1}"/>
                </a:ext>
              </a:extLst>
            </p:cNvPr>
            <p:cNvSpPr/>
            <p:nvPr/>
          </p:nvSpPr>
          <p:spPr bwMode="auto">
            <a:xfrm>
              <a:off x="7840725" y="1880175"/>
              <a:ext cx="221089" cy="202860"/>
            </a:xfrm>
            <a:prstGeom prst="ellipse">
              <a:avLst/>
            </a:prstGeom>
            <a:noFill/>
            <a:ln w="9525" algn="ctr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</p:spPr>
          <p:txBody>
            <a:bodyPr lIns="0" tIns="0" rIns="0" bIns="0" rtlCol="0" anchor="ctr"/>
            <a:lstStyle/>
            <a:p>
              <a:pPr algn="ctr"/>
              <a:endParaRPr lang="ko-KR" altLang="en-US" sz="1200" b="1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88" name="직선 화살표 연결선 87">
              <a:extLst>
                <a:ext uri="{FF2B5EF4-FFF2-40B4-BE49-F238E27FC236}">
                  <a16:creationId xmlns:a16="http://schemas.microsoft.com/office/drawing/2014/main" id="{45657816-A488-40C1-9665-31F78F0030F1}"/>
                </a:ext>
              </a:extLst>
            </p:cNvPr>
            <p:cNvCxnSpPr/>
            <p:nvPr/>
          </p:nvCxnSpPr>
          <p:spPr>
            <a:xfrm>
              <a:off x="7446597" y="1988175"/>
              <a:ext cx="405329" cy="0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5E3B520C-E4DA-45EF-94B2-4C36949F1997}"/>
              </a:ext>
            </a:extLst>
          </p:cNvPr>
          <p:cNvGrpSpPr/>
          <p:nvPr/>
        </p:nvGrpSpPr>
        <p:grpSpPr>
          <a:xfrm>
            <a:off x="7348152" y="4831764"/>
            <a:ext cx="821612" cy="216001"/>
            <a:chOff x="7220846" y="1880174"/>
            <a:chExt cx="840968" cy="202861"/>
          </a:xfrm>
        </p:grpSpPr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8332DB1A-E8B0-4B87-9FB2-184348F3C342}"/>
                </a:ext>
              </a:extLst>
            </p:cNvPr>
            <p:cNvSpPr/>
            <p:nvPr/>
          </p:nvSpPr>
          <p:spPr bwMode="auto">
            <a:xfrm>
              <a:off x="7220846" y="1880174"/>
              <a:ext cx="221089" cy="202860"/>
            </a:xfrm>
            <a:prstGeom prst="ellipse">
              <a:avLst/>
            </a:prstGeom>
            <a:noFill/>
            <a:ln w="9525" algn="ctr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</p:spPr>
          <p:txBody>
            <a:bodyPr lIns="0" tIns="0" rIns="0" bIns="0" rtlCol="0" anchor="ctr"/>
            <a:lstStyle/>
            <a:p>
              <a:pPr algn="ctr"/>
              <a:endParaRPr lang="ko-KR" altLang="en-US" sz="1200" b="1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DED1493C-A1CF-4062-A826-09D4376A59B2}"/>
                </a:ext>
              </a:extLst>
            </p:cNvPr>
            <p:cNvSpPr/>
            <p:nvPr/>
          </p:nvSpPr>
          <p:spPr bwMode="auto">
            <a:xfrm>
              <a:off x="7840725" y="1880175"/>
              <a:ext cx="221089" cy="202860"/>
            </a:xfrm>
            <a:prstGeom prst="ellipse">
              <a:avLst/>
            </a:prstGeom>
            <a:noFill/>
            <a:ln w="9525" algn="ctr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</p:spPr>
          <p:txBody>
            <a:bodyPr lIns="0" tIns="0" rIns="0" bIns="0" rtlCol="0" anchor="ctr"/>
            <a:lstStyle/>
            <a:p>
              <a:pPr algn="ctr"/>
              <a:endParaRPr lang="ko-KR" altLang="en-US" sz="1200" b="1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93" name="직선 화살표 연결선 92">
              <a:extLst>
                <a:ext uri="{FF2B5EF4-FFF2-40B4-BE49-F238E27FC236}">
                  <a16:creationId xmlns:a16="http://schemas.microsoft.com/office/drawing/2014/main" id="{A35B8BDD-6107-4B73-A6DB-5648647579AD}"/>
                </a:ext>
              </a:extLst>
            </p:cNvPr>
            <p:cNvCxnSpPr/>
            <p:nvPr/>
          </p:nvCxnSpPr>
          <p:spPr>
            <a:xfrm>
              <a:off x="7446597" y="1988175"/>
              <a:ext cx="405329" cy="0"/>
            </a:xfrm>
            <a:prstGeom prst="straightConnector1">
              <a:avLst/>
            </a:prstGeom>
            <a:ln w="38100"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8329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9961329B-290B-4AD4-9640-886222912649}"/>
              </a:ext>
            </a:extLst>
          </p:cNvPr>
          <p:cNvSpPr/>
          <p:nvPr/>
        </p:nvSpPr>
        <p:spPr>
          <a:xfrm>
            <a:off x="500905" y="113211"/>
            <a:ext cx="3243196" cy="416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685800" fontAlgn="base" latinLnBrk="0">
              <a:lnSpc>
                <a:spcPct val="110000"/>
              </a:lnSpc>
              <a:defRPr/>
            </a:pPr>
            <a:r>
              <a:rPr lang="en-US" altLang="ko-KR" sz="20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5. </a:t>
            </a:r>
            <a:r>
              <a:rPr lang="ko-KR" altLang="en-US" sz="20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지표 관리 및 의사소통 계획</a:t>
            </a:r>
            <a:endParaRPr lang="en-US" altLang="ko-KR" sz="2000" spc="-30" dirty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9" name="TextBox 107">
            <a:extLst>
              <a:ext uri="{FF2B5EF4-FFF2-40B4-BE49-F238E27FC236}">
                <a16:creationId xmlns:a16="http://schemas.microsoft.com/office/drawing/2014/main" id="{89503E77-A993-4A26-AE36-A3F892118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905" y="942592"/>
            <a:ext cx="255481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kumimoji="0" lang="ko-KR" altLang="en-US" sz="1600" b="0" kern="0" spc="-80" dirty="0">
                <a:ln>
                  <a:solidFill>
                    <a:srgbClr val="2F7B80">
                      <a:alpha val="0"/>
                    </a:srgbClr>
                  </a:solidFill>
                </a:ln>
                <a:latin typeface="KoPub돋움체 Bold" pitchFamily="18" charset="-127"/>
                <a:ea typeface="KoPub돋움체 Bold" pitchFamily="18" charset="-127"/>
              </a:rPr>
              <a:t>□  테스트 수행 </a:t>
            </a:r>
            <a:r>
              <a:rPr kumimoji="0" lang="en-US" altLang="ko-KR" sz="1600" b="0" kern="0" spc="-80" dirty="0">
                <a:ln>
                  <a:solidFill>
                    <a:srgbClr val="2F7B80">
                      <a:alpha val="0"/>
                    </a:srgbClr>
                  </a:solidFill>
                </a:ln>
                <a:latin typeface="KoPub돋움체 Bold" pitchFamily="18" charset="-127"/>
                <a:ea typeface="KoPub돋움체 Bold" pitchFamily="18" charset="-127"/>
              </a:rPr>
              <a:t>K P I ( </a:t>
            </a:r>
            <a:r>
              <a:rPr kumimoji="0" lang="ko-KR" altLang="en-US" sz="1600" b="0" kern="0" spc="-80" dirty="0">
                <a:ln>
                  <a:solidFill>
                    <a:srgbClr val="2F7B80">
                      <a:alpha val="0"/>
                    </a:srgbClr>
                  </a:solidFill>
                </a:ln>
                <a:latin typeface="KoPub돋움체 Bold" pitchFamily="18" charset="-127"/>
                <a:ea typeface="KoPub돋움체 Bold" pitchFamily="18" charset="-127"/>
              </a:rPr>
              <a:t>목표 지표 </a:t>
            </a:r>
            <a:r>
              <a:rPr kumimoji="0" lang="en-US" altLang="ko-KR" sz="1600" b="0" kern="0" spc="-80" dirty="0">
                <a:ln>
                  <a:solidFill>
                    <a:srgbClr val="2F7B80">
                      <a:alpha val="0"/>
                    </a:srgbClr>
                  </a:solidFill>
                </a:ln>
                <a:latin typeface="KoPub돋움체 Bold" pitchFamily="18" charset="-127"/>
                <a:ea typeface="KoPub돋움체 Bold" pitchFamily="18" charset="-127"/>
              </a:rPr>
              <a:t>)</a:t>
            </a:r>
            <a:r>
              <a:rPr kumimoji="0" lang="ko-KR" altLang="en-US" sz="1600" b="0" kern="0" spc="-80" dirty="0">
                <a:ln>
                  <a:solidFill>
                    <a:srgbClr val="2F7B80">
                      <a:alpha val="0"/>
                    </a:srgbClr>
                  </a:solidFill>
                </a:ln>
                <a:latin typeface="KoPub돋움체 Bold" pitchFamily="18" charset="-127"/>
                <a:ea typeface="KoPub돋움체 Bold" pitchFamily="18" charset="-127"/>
              </a:rPr>
              <a:t> </a:t>
            </a:r>
            <a:r>
              <a:rPr kumimoji="0" lang="en-US" altLang="ko-KR" sz="1600" b="0" kern="0" spc="-80" dirty="0">
                <a:ln>
                  <a:solidFill>
                    <a:srgbClr val="2F7B80">
                      <a:alpha val="0"/>
                    </a:srgbClr>
                  </a:solidFill>
                </a:ln>
                <a:latin typeface="KoPub돋움체 Bold" pitchFamily="18" charset="-127"/>
                <a:ea typeface="KoPub돋움체 Bold" pitchFamily="18" charset="-127"/>
              </a:rPr>
              <a:t> </a:t>
            </a:r>
            <a:endParaRPr kumimoji="0" lang="ko-KR" altLang="en-US" sz="1600" b="0" kern="0" spc="-80" dirty="0">
              <a:ln>
                <a:solidFill>
                  <a:srgbClr val="2F7B80">
                    <a:alpha val="0"/>
                  </a:srgbClr>
                </a:solidFill>
              </a:ln>
              <a:latin typeface="KoPub돋움체 Bold" pitchFamily="18" charset="-127"/>
              <a:ea typeface="KoPub돋움체 Bold" pitchFamily="18" charset="-127"/>
            </a:endParaRPr>
          </a:p>
        </p:txBody>
      </p:sp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B5FFFCD0-CA66-4808-A67D-4ABE5B2463C2}"/>
              </a:ext>
            </a:extLst>
          </p:cNvPr>
          <p:cNvGraphicFramePr>
            <a:graphicFrameLocks noGrp="1"/>
          </p:cNvGraphicFramePr>
          <p:nvPr/>
        </p:nvGraphicFramePr>
        <p:xfrm>
          <a:off x="588921" y="1315801"/>
          <a:ext cx="6907254" cy="1484549"/>
        </p:xfrm>
        <a:graphic>
          <a:graphicData uri="http://schemas.openxmlformats.org/drawingml/2006/table">
            <a:tbl>
              <a:tblPr firstRow="1" firstCol="1" bandRow="1"/>
              <a:tblGrid>
                <a:gridCol w="1288128">
                  <a:extLst>
                    <a:ext uri="{9D8B030D-6E8A-4147-A177-3AD203B41FA5}">
                      <a16:colId xmlns:a16="http://schemas.microsoft.com/office/drawing/2014/main" val="3002535416"/>
                    </a:ext>
                  </a:extLst>
                </a:gridCol>
                <a:gridCol w="4323726">
                  <a:extLst>
                    <a:ext uri="{9D8B030D-6E8A-4147-A177-3AD203B41FA5}">
                      <a16:colId xmlns:a16="http://schemas.microsoft.com/office/drawing/2014/main" val="306503546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562559631"/>
                    </a:ext>
                  </a:extLst>
                </a:gridCol>
              </a:tblGrid>
              <a:tr h="246299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altLang="en-US" sz="1200" b="1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지표</a:t>
                      </a:r>
                      <a:endParaRPr lang="ko-KR" sz="1200" b="1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altLang="en-US" sz="1200" b="1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결함 내용</a:t>
                      </a:r>
                      <a:endParaRPr lang="ko-KR" sz="1200" b="1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altLang="en-US" sz="1200" b="1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목표</a:t>
                      </a:r>
                      <a:endParaRPr lang="ko-KR" sz="1200" b="1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624796"/>
                  </a:ext>
                </a:extLst>
              </a:tr>
              <a:tr h="340995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altLang="en-US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테스트 </a:t>
                      </a:r>
                      <a:r>
                        <a:rPr lang="ko-KR" altLang="en-US" sz="1100" b="0" kern="100" dirty="0" err="1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이행율</a:t>
                      </a:r>
                      <a:endParaRPr lang="ko-KR" sz="1100" b="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100" dirty="0"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테스트 계획 수립된 대상의 테스트 수행 완료 율</a:t>
                      </a:r>
                    </a:p>
                  </a:txBody>
                  <a:tcPr marL="36000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100%</a:t>
                      </a:r>
                      <a:endParaRPr lang="ko-KR" sz="1100" b="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632877"/>
                  </a:ext>
                </a:extLst>
              </a:tr>
              <a:tr h="340995">
                <a:tc rowSpan="3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altLang="en-US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결함 </a:t>
                      </a:r>
                      <a:r>
                        <a:rPr lang="ko-KR" altLang="en-US" sz="1100" b="0" kern="100" dirty="0" err="1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해결율</a:t>
                      </a:r>
                      <a:endParaRPr lang="ko-KR" sz="1100" b="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altLang="en-US" sz="1100" dirty="0"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전체 결함 대비 해결된 결함 비율 </a:t>
                      </a:r>
                      <a:endParaRPr lang="en-US" altLang="ko-KR" sz="1100" dirty="0"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36000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altLang="ko-KR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80% </a:t>
                      </a:r>
                      <a:r>
                        <a:rPr lang="ko-KR" altLang="en-US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이상</a:t>
                      </a:r>
                      <a:endParaRPr lang="ko-KR" sz="1100" b="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502352"/>
                  </a:ext>
                </a:extLst>
              </a:tr>
              <a:tr h="270510">
                <a:tc vMerge="1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b="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결함 구분상 </a:t>
                      </a:r>
                      <a:r>
                        <a:rPr lang="en-US" altLang="ko-KR" sz="1100" dirty="0"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‘</a:t>
                      </a:r>
                      <a:r>
                        <a:rPr lang="ko-KR" altLang="en-US" sz="1100" dirty="0"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결함</a:t>
                      </a:r>
                      <a:r>
                        <a:rPr lang="en-US" altLang="ko-KR" sz="1100" dirty="0"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’</a:t>
                      </a:r>
                      <a:endParaRPr lang="ko-KR" sz="1100" b="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altLang="ko-KR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95% </a:t>
                      </a:r>
                      <a:r>
                        <a:rPr lang="ko-KR" altLang="en-US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이상</a:t>
                      </a:r>
                      <a:endParaRPr lang="ko-KR" sz="1100" b="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440108"/>
                  </a:ext>
                </a:extLst>
              </a:tr>
              <a:tr h="285750">
                <a:tc vMerge="1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endParaRPr lang="ko-KR" sz="1100" b="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결함 구분상 </a:t>
                      </a:r>
                      <a:r>
                        <a:rPr lang="en-US" altLang="ko-KR" sz="1100" dirty="0"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‘</a:t>
                      </a:r>
                      <a:r>
                        <a:rPr lang="ko-KR" altLang="en-US" sz="1100" dirty="0"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변경</a:t>
                      </a:r>
                      <a:r>
                        <a:rPr lang="en-US" altLang="ko-KR" sz="1100" dirty="0"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/</a:t>
                      </a:r>
                      <a:r>
                        <a:rPr lang="ko-KR" altLang="en-US" sz="1100" dirty="0"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개선</a:t>
                      </a:r>
                      <a:r>
                        <a:rPr lang="en-US" altLang="ko-KR" sz="1100" dirty="0"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‘,’</a:t>
                      </a:r>
                      <a:r>
                        <a:rPr lang="ko-KR" altLang="en-US" sz="1100" dirty="0"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신규</a:t>
                      </a:r>
                      <a:r>
                        <a:rPr lang="en-US" altLang="ko-KR" sz="1100" dirty="0"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＇</a:t>
                      </a:r>
                      <a:endParaRPr lang="ko-KR" sz="1100" b="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altLang="ko-KR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80% </a:t>
                      </a:r>
                      <a:r>
                        <a:rPr lang="ko-KR" altLang="en-US" sz="1100" b="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이상</a:t>
                      </a:r>
                      <a:endParaRPr lang="ko-KR" sz="1100" b="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9525" marT="9525" marB="9525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661559"/>
                  </a:ext>
                </a:extLst>
              </a:tr>
            </a:tbl>
          </a:graphicData>
        </a:graphic>
      </p:graphicFrame>
      <p:sp>
        <p:nvSpPr>
          <p:cNvPr id="7" name="TextBox 107">
            <a:extLst>
              <a:ext uri="{FF2B5EF4-FFF2-40B4-BE49-F238E27FC236}">
                <a16:creationId xmlns:a16="http://schemas.microsoft.com/office/drawing/2014/main" id="{E8614F2F-0061-4D1A-A683-34C50ED7D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292" y="3470435"/>
            <a:ext cx="255481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kumimoji="0" lang="ko-KR" altLang="en-US" sz="1600" b="0" kern="0" spc="-80" dirty="0">
                <a:ln>
                  <a:solidFill>
                    <a:srgbClr val="2F7B80">
                      <a:alpha val="0"/>
                    </a:srgbClr>
                  </a:solidFill>
                </a:ln>
                <a:latin typeface="KoPub돋움체 Bold" pitchFamily="18" charset="-127"/>
                <a:ea typeface="KoPub돋움체 Bold" pitchFamily="18" charset="-127"/>
              </a:rPr>
              <a:t>□  의사소통 계획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1B25B98-A60A-4F66-B1F8-87B849F59E39}"/>
              </a:ext>
            </a:extLst>
          </p:cNvPr>
          <p:cNvGraphicFramePr>
            <a:graphicFrameLocks noGrp="1"/>
          </p:cNvGraphicFramePr>
          <p:nvPr/>
        </p:nvGraphicFramePr>
        <p:xfrm>
          <a:off x="573358" y="3843642"/>
          <a:ext cx="10370868" cy="2041671"/>
        </p:xfrm>
        <a:graphic>
          <a:graphicData uri="http://schemas.openxmlformats.org/drawingml/2006/table">
            <a:tbl>
              <a:tblPr firstRow="1" firstCol="1" bandRow="1"/>
              <a:tblGrid>
                <a:gridCol w="879404">
                  <a:extLst>
                    <a:ext uri="{9D8B030D-6E8A-4147-A177-3AD203B41FA5}">
                      <a16:colId xmlns:a16="http://schemas.microsoft.com/office/drawing/2014/main" val="3002535416"/>
                    </a:ext>
                  </a:extLst>
                </a:gridCol>
                <a:gridCol w="1078102">
                  <a:extLst>
                    <a:ext uri="{9D8B030D-6E8A-4147-A177-3AD203B41FA5}">
                      <a16:colId xmlns:a16="http://schemas.microsoft.com/office/drawing/2014/main" val="3065035465"/>
                    </a:ext>
                  </a:extLst>
                </a:gridCol>
                <a:gridCol w="1406220">
                  <a:extLst>
                    <a:ext uri="{9D8B030D-6E8A-4147-A177-3AD203B41FA5}">
                      <a16:colId xmlns:a16="http://schemas.microsoft.com/office/drawing/2014/main" val="2634518738"/>
                    </a:ext>
                  </a:extLst>
                </a:gridCol>
                <a:gridCol w="2606195">
                  <a:extLst>
                    <a:ext uri="{9D8B030D-6E8A-4147-A177-3AD203B41FA5}">
                      <a16:colId xmlns:a16="http://schemas.microsoft.com/office/drawing/2014/main" val="3927008500"/>
                    </a:ext>
                  </a:extLst>
                </a:gridCol>
                <a:gridCol w="4400947">
                  <a:extLst>
                    <a:ext uri="{9D8B030D-6E8A-4147-A177-3AD203B41FA5}">
                      <a16:colId xmlns:a16="http://schemas.microsoft.com/office/drawing/2014/main" val="3562559631"/>
                    </a:ext>
                  </a:extLst>
                </a:gridCol>
              </a:tblGrid>
              <a:tr h="290208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100" b="1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구분</a:t>
                      </a: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100" b="1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주기</a:t>
                      </a: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100" b="1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참석자</a:t>
                      </a: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100" b="1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내용</a:t>
                      </a: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100" b="1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비고</a:t>
                      </a: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624796"/>
                  </a:ext>
                </a:extLst>
              </a:tr>
              <a:tr h="55818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일일 미팅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매일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테스트팀</a:t>
                      </a:r>
                      <a:r>
                        <a:rPr 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개발팀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진행 현황</a:t>
                      </a:r>
                      <a:r>
                        <a:rPr 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이슈 공유</a:t>
                      </a:r>
                    </a:p>
                  </a:txBody>
                  <a:tcPr marL="72000" marR="0" marT="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Quick Review ( 20</a:t>
                      </a:r>
                      <a:r>
                        <a:rPr 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분 이내</a:t>
                      </a:r>
                      <a:r>
                        <a:rPr 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 )</a:t>
                      </a: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0" marT="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632877"/>
                  </a:ext>
                </a:extLst>
              </a:tr>
              <a:tr h="715137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단계 보고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100" kern="10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활동 종료일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PM, PL, PMO</a:t>
                      </a: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테스트</a:t>
                      </a:r>
                      <a:r>
                        <a:rPr 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결함처리 진척도</a:t>
                      </a:r>
                      <a:r>
                        <a:rPr 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주요 이슈</a:t>
                      </a:r>
                    </a:p>
                  </a:txBody>
                  <a:tcPr marL="72000" marR="0" marT="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테스트 종료</a:t>
                      </a:r>
                      <a:r>
                        <a:rPr lang="en-US" alt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시</a:t>
                      </a:r>
                    </a:p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결함조치 종료</a:t>
                      </a:r>
                      <a:r>
                        <a:rPr lang="en-US" alt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시</a:t>
                      </a:r>
                    </a:p>
                  </a:txBody>
                  <a:tcPr marL="72000" marR="0" marT="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502352"/>
                  </a:ext>
                </a:extLst>
              </a:tr>
              <a:tr h="47814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100" kern="10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완료 보고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100" kern="10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테스트 종료 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전체 이해관계자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1100" kern="10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최종 결과 및 다음 단계</a:t>
                      </a:r>
                    </a:p>
                  </a:txBody>
                  <a:tcPr marL="72000" marR="0" marT="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결함조치 종</a:t>
                      </a: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료</a:t>
                      </a:r>
                      <a:r>
                        <a:rPr lang="ko-KR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 단계 보고는 </a:t>
                      </a:r>
                      <a:r>
                        <a:rPr lang="ko-KR" altLang="en-US" sz="1100" kern="100" dirty="0"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Times New Roman" panose="02020603050405020304" pitchFamily="18" charset="0"/>
                        </a:rPr>
                        <a:t>완료보고로 대체 </a:t>
                      </a:r>
                      <a:endParaRPr lang="ko-KR" sz="1100" kern="100" dirty="0">
                        <a:effectLst/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0" marT="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440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2285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334623" y="5023377"/>
            <a:ext cx="4401279" cy="34585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1" indent="-190500" defTabSz="457200" latinLnBrk="0">
              <a:spcAft>
                <a:spcPts val="600"/>
              </a:spcAft>
            </a:pPr>
            <a:r>
              <a:rPr kumimoji="1" lang="ko-KR" altLang="en-US" sz="16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rPr>
              <a:t>○ 제</a:t>
            </a:r>
            <a:r>
              <a:rPr kumimoji="1" lang="en-US" altLang="ko-KR" sz="16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rPr>
              <a:t>3</a:t>
            </a:r>
            <a:r>
              <a:rPr kumimoji="1" lang="ko-KR" altLang="en-US" sz="16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rPr>
              <a:t>자 및 공사</a:t>
            </a:r>
            <a:r>
              <a:rPr kumimoji="1" lang="en-US" altLang="ko-KR" sz="16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rPr>
              <a:t>/</a:t>
            </a:r>
            <a:r>
              <a:rPr kumimoji="1" lang="ko-KR" altLang="en-US" sz="16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rPr>
              <a:t>현업</a:t>
            </a:r>
            <a:r>
              <a:rPr kumimoji="1" lang="en-US" altLang="ko-KR" sz="16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rPr>
              <a:t>/</a:t>
            </a:r>
            <a:r>
              <a:rPr kumimoji="1" lang="ko-KR" altLang="en-US" sz="16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rPr>
              <a:t>감리 단위테스트</a:t>
            </a:r>
          </a:p>
        </p:txBody>
      </p:sp>
      <p:sp>
        <p:nvSpPr>
          <p:cNvPr id="18" name="이등변 삼각형 17"/>
          <p:cNvSpPr/>
          <p:nvPr/>
        </p:nvSpPr>
        <p:spPr bwMode="gray">
          <a:xfrm rot="10800000">
            <a:off x="2971800" y="4724375"/>
            <a:ext cx="8621036" cy="1126880"/>
          </a:xfrm>
          <a:prstGeom prst="triangle">
            <a:avLst>
              <a:gd name="adj" fmla="val 0"/>
            </a:avLst>
          </a:prstGeom>
          <a:gradFill flip="none" rotWithShape="1">
            <a:gsLst>
              <a:gs pos="56000">
                <a:schemeClr val="lt1">
                  <a:tint val="80000"/>
                  <a:satMod val="300000"/>
                  <a:alpha val="39000"/>
                </a:schemeClr>
              </a:gs>
              <a:gs pos="100000">
                <a:schemeClr val="lt1">
                  <a:shade val="30000"/>
                  <a:satMod val="200000"/>
                </a:schemeClr>
              </a:gs>
            </a:gsLst>
            <a:lin ang="5400000" scaled="1"/>
            <a:tileRect/>
          </a:gradFill>
          <a:ln w="3175" algn="ctr">
            <a:noFill/>
            <a:round/>
            <a:headEnd/>
            <a:tailEnd/>
          </a:ln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rtlCol="0" anchor="ctr"/>
          <a:lstStyle/>
          <a:p>
            <a:pPr algn="ctr" defTabSz="457200" latinLnBrk="0">
              <a:defRPr/>
            </a:pPr>
            <a:endParaRPr lang="ko-KR" altLang="en-US" sz="894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6312039" y="5714752"/>
            <a:ext cx="1259458" cy="217133"/>
            <a:chOff x="1135008" y="5665166"/>
            <a:chExt cx="4766400" cy="213438"/>
          </a:xfrm>
        </p:grpSpPr>
        <p:sp>
          <p:nvSpPr>
            <p:cNvPr id="30" name="오각형 17"/>
            <p:cNvSpPr>
              <a:spLocks noChangeArrowheads="1"/>
            </p:cNvSpPr>
            <p:nvPr/>
          </p:nvSpPr>
          <p:spPr bwMode="auto">
            <a:xfrm>
              <a:off x="1135008" y="5665166"/>
              <a:ext cx="2383200" cy="213437"/>
            </a:xfrm>
            <a:prstGeom prst="homePlate">
              <a:avLst>
                <a:gd name="adj" fmla="val 49972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3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자</a:t>
              </a:r>
            </a:p>
          </p:txBody>
        </p:sp>
        <p:sp>
          <p:nvSpPr>
            <p:cNvPr id="31" name="오각형 17"/>
            <p:cNvSpPr>
              <a:spLocks noChangeArrowheads="1"/>
            </p:cNvSpPr>
            <p:nvPr/>
          </p:nvSpPr>
          <p:spPr bwMode="auto">
            <a:xfrm>
              <a:off x="3518208" y="5665167"/>
              <a:ext cx="2383200" cy="213437"/>
            </a:xfrm>
            <a:prstGeom prst="homePlate">
              <a:avLst>
                <a:gd name="adj" fmla="val 49972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lvl="0" algn="ctr">
                <a:defRPr/>
              </a:pPr>
              <a:r>
                <a:rPr lang="ko-KR" altLang="en-US" sz="1100" b="1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공사</a:t>
              </a:r>
              <a:r>
                <a:rPr lang="en-US" altLang="ko-KR" sz="1100" b="1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/</a:t>
              </a:r>
              <a:r>
                <a:rPr lang="ko-KR" altLang="en-US" sz="1100" b="1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현업</a:t>
              </a: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8120725" y="5944034"/>
            <a:ext cx="1259458" cy="217136"/>
            <a:chOff x="1135008" y="5665164"/>
            <a:chExt cx="4766400" cy="213441"/>
          </a:xfrm>
        </p:grpSpPr>
        <p:sp>
          <p:nvSpPr>
            <p:cNvPr id="28" name="오각형 17"/>
            <p:cNvSpPr>
              <a:spLocks noChangeArrowheads="1"/>
            </p:cNvSpPr>
            <p:nvPr/>
          </p:nvSpPr>
          <p:spPr bwMode="auto">
            <a:xfrm>
              <a:off x="1135008" y="5665164"/>
              <a:ext cx="2383200" cy="213437"/>
            </a:xfrm>
            <a:prstGeom prst="homePlate">
              <a:avLst>
                <a:gd name="adj" fmla="val 49972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3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자</a:t>
              </a:r>
            </a:p>
          </p:txBody>
        </p:sp>
        <p:sp>
          <p:nvSpPr>
            <p:cNvPr id="29" name="오각형 17"/>
            <p:cNvSpPr>
              <a:spLocks noChangeArrowheads="1"/>
            </p:cNvSpPr>
            <p:nvPr/>
          </p:nvSpPr>
          <p:spPr bwMode="auto">
            <a:xfrm>
              <a:off x="3518208" y="5665168"/>
              <a:ext cx="2383200" cy="213437"/>
            </a:xfrm>
            <a:prstGeom prst="homePlate">
              <a:avLst>
                <a:gd name="adj" fmla="val 49972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lvl="0" algn="ctr">
                <a:defRPr/>
              </a:pPr>
              <a:r>
                <a:rPr lang="ko-KR" altLang="en-US" sz="1100" b="1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공사</a:t>
              </a:r>
              <a:r>
                <a:rPr lang="en-US" altLang="ko-KR" sz="1100" b="1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/</a:t>
              </a:r>
              <a:r>
                <a:rPr lang="ko-KR" altLang="en-US" sz="1100" b="1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현업</a:t>
              </a: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9858879" y="6185321"/>
            <a:ext cx="1259458" cy="217133"/>
            <a:chOff x="1135008" y="5665166"/>
            <a:chExt cx="4766400" cy="213438"/>
          </a:xfrm>
        </p:grpSpPr>
        <p:sp>
          <p:nvSpPr>
            <p:cNvPr id="25" name="오각형 17"/>
            <p:cNvSpPr>
              <a:spLocks noChangeArrowheads="1"/>
            </p:cNvSpPr>
            <p:nvPr/>
          </p:nvSpPr>
          <p:spPr bwMode="auto">
            <a:xfrm>
              <a:off x="1135008" y="5665166"/>
              <a:ext cx="2383200" cy="213437"/>
            </a:xfrm>
            <a:prstGeom prst="homePlate">
              <a:avLst>
                <a:gd name="adj" fmla="val 49972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3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자</a:t>
              </a:r>
            </a:p>
          </p:txBody>
        </p:sp>
        <p:sp>
          <p:nvSpPr>
            <p:cNvPr id="27" name="오각형 17"/>
            <p:cNvSpPr>
              <a:spLocks noChangeArrowheads="1"/>
            </p:cNvSpPr>
            <p:nvPr/>
          </p:nvSpPr>
          <p:spPr bwMode="auto">
            <a:xfrm>
              <a:off x="3518208" y="5665167"/>
              <a:ext cx="2383200" cy="213437"/>
            </a:xfrm>
            <a:prstGeom prst="homePlate">
              <a:avLst>
                <a:gd name="adj" fmla="val 49972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lvl="0" algn="ctr">
                <a:defRPr/>
              </a:pPr>
              <a:r>
                <a:rPr lang="ko-KR" altLang="en-US" sz="1100" b="1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공사</a:t>
              </a:r>
              <a:r>
                <a:rPr lang="en-US" altLang="ko-KR" sz="1100" b="1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/</a:t>
              </a:r>
              <a:r>
                <a:rPr lang="ko-KR" altLang="en-US" sz="1100" b="1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현업</a:t>
              </a: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967154" y="5714760"/>
            <a:ext cx="5062716" cy="687701"/>
            <a:chOff x="-832255" y="5801090"/>
            <a:chExt cx="8716799" cy="690426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5760ED4A-6A11-DF9C-31A9-58EB85C544B7}"/>
                </a:ext>
              </a:extLst>
            </p:cNvPr>
            <p:cNvSpPr/>
            <p:nvPr/>
          </p:nvSpPr>
          <p:spPr>
            <a:xfrm>
              <a:off x="698734" y="5801090"/>
              <a:ext cx="7185810" cy="217132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r">
                <a:defRPr/>
              </a:pPr>
              <a:r>
                <a:rPr lang="en-US" altLang="ko-KR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’25</a:t>
              </a:r>
              <a:r>
                <a:rPr lang="ko-KR" altLang="en-US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년</a:t>
              </a:r>
              <a:r>
                <a:rPr lang="en-US" altLang="ko-KR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7</a:t>
              </a:r>
              <a:r>
                <a:rPr lang="ko-KR" altLang="en-US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월 </a:t>
              </a:r>
              <a:r>
                <a:rPr lang="en-US" altLang="ko-KR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~10</a:t>
              </a:r>
              <a:r>
                <a:rPr lang="ko-KR" altLang="en-US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월 응용개발팀 단위테스트 종료 대상 </a:t>
              </a:r>
              <a:r>
                <a:rPr lang="en-US" altLang="ko-KR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(1</a:t>
              </a:r>
              <a:r>
                <a:rPr lang="ko-KR" altLang="en-US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차</a:t>
              </a:r>
              <a:r>
                <a:rPr lang="en-US" altLang="ko-KR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</a:t>
              </a:r>
              <a:endParaRPr lang="ko-KR" altLang="en-US" sz="11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5760ED4A-6A11-DF9C-31A9-58EB85C544B7}"/>
                </a:ext>
              </a:extLst>
            </p:cNvPr>
            <p:cNvSpPr/>
            <p:nvPr/>
          </p:nvSpPr>
          <p:spPr>
            <a:xfrm>
              <a:off x="-574905" y="6043939"/>
              <a:ext cx="8459449" cy="217132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r">
                <a:defRPr/>
              </a:pPr>
              <a:r>
                <a:rPr lang="en-US" altLang="ko-KR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‘25</a:t>
              </a:r>
              <a:r>
                <a:rPr lang="ko-KR" altLang="en-US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년</a:t>
              </a:r>
              <a:r>
                <a:rPr lang="en-US" altLang="ko-KR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11</a:t>
              </a:r>
              <a:r>
                <a:rPr lang="ko-KR" altLang="en-US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월 </a:t>
              </a:r>
              <a:r>
                <a:rPr lang="en-US" altLang="ko-KR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~ ‘26</a:t>
              </a:r>
              <a:r>
                <a:rPr lang="ko-KR" altLang="en-US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년 </a:t>
              </a:r>
              <a:r>
                <a:rPr lang="en-US" altLang="ko-KR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1</a:t>
              </a:r>
              <a:r>
                <a:rPr lang="ko-KR" altLang="en-US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월</a:t>
              </a:r>
              <a:r>
                <a:rPr lang="en-US" altLang="ko-KR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15</a:t>
              </a:r>
              <a:r>
                <a:rPr lang="ko-KR" altLang="en-US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일 응용개발팀 단위테스트 종료 대상 </a:t>
              </a:r>
              <a:r>
                <a:rPr lang="en-US" altLang="ko-KR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(2</a:t>
              </a:r>
              <a:r>
                <a:rPr lang="ko-KR" altLang="en-US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차</a:t>
              </a:r>
              <a:r>
                <a:rPr lang="en-US" altLang="ko-KR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</a:t>
              </a:r>
              <a:endParaRPr lang="ko-KR" altLang="en-US" sz="11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5760ED4A-6A11-DF9C-31A9-58EB85C544B7}"/>
                </a:ext>
              </a:extLst>
            </p:cNvPr>
            <p:cNvSpPr/>
            <p:nvPr/>
          </p:nvSpPr>
          <p:spPr>
            <a:xfrm>
              <a:off x="-832255" y="6274384"/>
              <a:ext cx="8713926" cy="217132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r">
                <a:defRPr/>
              </a:pPr>
              <a:r>
                <a:rPr lang="en-US" altLang="ko-KR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‘26</a:t>
              </a:r>
              <a:r>
                <a:rPr lang="ko-KR" altLang="en-US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년</a:t>
              </a:r>
              <a:r>
                <a:rPr lang="en-US" altLang="ko-KR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1</a:t>
              </a:r>
              <a:r>
                <a:rPr lang="ko-KR" altLang="en-US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월</a:t>
              </a:r>
              <a:r>
                <a:rPr lang="en-US" altLang="ko-KR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16</a:t>
              </a:r>
              <a:r>
                <a:rPr lang="ko-KR" altLang="en-US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일 </a:t>
              </a:r>
              <a:r>
                <a:rPr lang="en-US" altLang="ko-KR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~ ‘26</a:t>
              </a:r>
              <a:r>
                <a:rPr lang="ko-KR" altLang="en-US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년 </a:t>
              </a:r>
              <a:r>
                <a:rPr lang="en-US" altLang="ko-KR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3</a:t>
              </a:r>
              <a:r>
                <a:rPr lang="ko-KR" altLang="en-US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월 응용개발팀 단위테스트 종료 대상 </a:t>
              </a:r>
              <a:r>
                <a:rPr lang="en-US" altLang="ko-KR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(3</a:t>
              </a:r>
              <a:r>
                <a:rPr lang="ko-KR" altLang="en-US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차</a:t>
              </a:r>
              <a:r>
                <a:rPr lang="en-US" altLang="ko-KR" sz="11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</a:t>
              </a:r>
              <a:endParaRPr lang="ko-KR" altLang="en-US" sz="11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cxnSp>
        <p:nvCxnSpPr>
          <p:cNvPr id="37" name="직선 화살표 연결선 36"/>
          <p:cNvCxnSpPr>
            <a:stCxn id="34" idx="3"/>
            <a:endCxn id="30" idx="1"/>
          </p:cNvCxnSpPr>
          <p:nvPr/>
        </p:nvCxnSpPr>
        <p:spPr>
          <a:xfrm>
            <a:off x="6029870" y="5822898"/>
            <a:ext cx="282169" cy="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cxnSpLocks/>
            <a:stCxn id="35" idx="3"/>
            <a:endCxn id="28" idx="1"/>
          </p:cNvCxnSpPr>
          <p:nvPr/>
        </p:nvCxnSpPr>
        <p:spPr>
          <a:xfrm flipV="1">
            <a:off x="6029870" y="6052600"/>
            <a:ext cx="2090855" cy="12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cxnSpLocks/>
            <a:stCxn id="36" idx="3"/>
            <a:endCxn id="25" idx="1"/>
          </p:cNvCxnSpPr>
          <p:nvPr/>
        </p:nvCxnSpPr>
        <p:spPr>
          <a:xfrm flipV="1">
            <a:off x="6028201" y="6293887"/>
            <a:ext cx="3830678" cy="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</a:rPr>
              <a:t>첨부 １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</a:rPr>
              <a:t>)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</a:rPr>
              <a:t>3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</a:rPr>
              <a:t>자 </a:t>
            </a:r>
            <a:r>
              <a:rPr lang="ko-KR" altLang="en-US" sz="2000" b="1" dirty="0">
                <a:solidFill>
                  <a:schemeClr val="accent1">
                    <a:lumMod val="50000"/>
                  </a:schemeClr>
                </a:solidFill>
              </a:rPr>
              <a:t>단위테스트 수행 </a:t>
            </a: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2000" b="1" dirty="0">
                <a:solidFill>
                  <a:schemeClr val="accent1">
                    <a:lumMod val="50000"/>
                  </a:schemeClr>
                </a:solidFill>
              </a:rPr>
              <a:t>대상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4" name="Text Box 56" descr="엠보싱 작은상자(Gray_Ver)">
            <a:extLst>
              <a:ext uri="{FF2B5EF4-FFF2-40B4-BE49-F238E27FC236}">
                <a16:creationId xmlns:a16="http://schemas.microsoft.com/office/drawing/2014/main" id="{EDFD3839-1E4B-4BEB-9C71-CD7085570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43838" y="953209"/>
            <a:ext cx="948998" cy="13859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r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2026.03.16</a:t>
            </a:r>
          </a:p>
        </p:txBody>
      </p:sp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B52485FD-8246-4BC4-858F-904EF2C44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368915"/>
              </p:ext>
            </p:extLst>
          </p:nvPr>
        </p:nvGraphicFramePr>
        <p:xfrm>
          <a:off x="6282288" y="4991988"/>
          <a:ext cx="5310548" cy="705828"/>
        </p:xfrm>
        <a:graphic>
          <a:graphicData uri="http://schemas.openxmlformats.org/drawingml/2006/table">
            <a:tbl>
              <a:tblPr/>
              <a:tblGrid>
                <a:gridCol w="531769">
                  <a:extLst>
                    <a:ext uri="{9D8B030D-6E8A-4147-A177-3AD203B41FA5}">
                      <a16:colId xmlns:a16="http://schemas.microsoft.com/office/drawing/2014/main" val="1928283681"/>
                    </a:ext>
                  </a:extLst>
                </a:gridCol>
                <a:gridCol w="455375">
                  <a:extLst>
                    <a:ext uri="{9D8B030D-6E8A-4147-A177-3AD203B41FA5}">
                      <a16:colId xmlns:a16="http://schemas.microsoft.com/office/drawing/2014/main" val="412545237"/>
                    </a:ext>
                  </a:extLst>
                </a:gridCol>
                <a:gridCol w="455375">
                  <a:extLst>
                    <a:ext uri="{9D8B030D-6E8A-4147-A177-3AD203B41FA5}">
                      <a16:colId xmlns:a16="http://schemas.microsoft.com/office/drawing/2014/main" val="3249167043"/>
                    </a:ext>
                  </a:extLst>
                </a:gridCol>
                <a:gridCol w="429781">
                  <a:extLst>
                    <a:ext uri="{9D8B030D-6E8A-4147-A177-3AD203B41FA5}">
                      <a16:colId xmlns:a16="http://schemas.microsoft.com/office/drawing/2014/main" val="221066183"/>
                    </a:ext>
                  </a:extLst>
                </a:gridCol>
                <a:gridCol w="429781">
                  <a:extLst>
                    <a:ext uri="{9D8B030D-6E8A-4147-A177-3AD203B41FA5}">
                      <a16:colId xmlns:a16="http://schemas.microsoft.com/office/drawing/2014/main" val="3255429879"/>
                    </a:ext>
                  </a:extLst>
                </a:gridCol>
                <a:gridCol w="429781">
                  <a:extLst>
                    <a:ext uri="{9D8B030D-6E8A-4147-A177-3AD203B41FA5}">
                      <a16:colId xmlns:a16="http://schemas.microsoft.com/office/drawing/2014/main" val="2698275112"/>
                    </a:ext>
                  </a:extLst>
                </a:gridCol>
                <a:gridCol w="429781">
                  <a:extLst>
                    <a:ext uri="{9D8B030D-6E8A-4147-A177-3AD203B41FA5}">
                      <a16:colId xmlns:a16="http://schemas.microsoft.com/office/drawing/2014/main" val="1778622971"/>
                    </a:ext>
                  </a:extLst>
                </a:gridCol>
                <a:gridCol w="429781">
                  <a:extLst>
                    <a:ext uri="{9D8B030D-6E8A-4147-A177-3AD203B41FA5}">
                      <a16:colId xmlns:a16="http://schemas.microsoft.com/office/drawing/2014/main" val="979562915"/>
                    </a:ext>
                  </a:extLst>
                </a:gridCol>
                <a:gridCol w="429781">
                  <a:extLst>
                    <a:ext uri="{9D8B030D-6E8A-4147-A177-3AD203B41FA5}">
                      <a16:colId xmlns:a16="http://schemas.microsoft.com/office/drawing/2014/main" val="3584689684"/>
                    </a:ext>
                  </a:extLst>
                </a:gridCol>
                <a:gridCol w="429781">
                  <a:extLst>
                    <a:ext uri="{9D8B030D-6E8A-4147-A177-3AD203B41FA5}">
                      <a16:colId xmlns:a16="http://schemas.microsoft.com/office/drawing/2014/main" val="1473949964"/>
                    </a:ext>
                  </a:extLst>
                </a:gridCol>
                <a:gridCol w="429781">
                  <a:extLst>
                    <a:ext uri="{9D8B030D-6E8A-4147-A177-3AD203B41FA5}">
                      <a16:colId xmlns:a16="http://schemas.microsoft.com/office/drawing/2014/main" val="3995579870"/>
                    </a:ext>
                  </a:extLst>
                </a:gridCol>
                <a:gridCol w="429781">
                  <a:extLst>
                    <a:ext uri="{9D8B030D-6E8A-4147-A177-3AD203B41FA5}">
                      <a16:colId xmlns:a16="http://schemas.microsoft.com/office/drawing/2014/main" val="2722449584"/>
                    </a:ext>
                  </a:extLst>
                </a:gridCol>
              </a:tblGrid>
              <a:tr h="176457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차</a:t>
                      </a:r>
                      <a:r>
                        <a:rPr lang="en-US" altLang="ko-KR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(’25.11)</a:t>
                      </a:r>
                      <a:endParaRPr lang="ko-KR" altLang="en-US" sz="9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’</a:t>
                      </a:r>
                      <a:r>
                        <a:rPr lang="en-US" altLang="ko-KR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26.1</a:t>
                      </a:r>
                      <a:r>
                        <a:rPr lang="ko-KR" altLang="en-US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차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(’26.1)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’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26.3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차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(’26.3)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’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26.5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003403"/>
                  </a:ext>
                </a:extLst>
              </a:tr>
              <a:tr h="176457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일정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감리점검</a:t>
                      </a:r>
                      <a:endParaRPr lang="en-US" altLang="ko-KR" sz="9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(1</a:t>
                      </a:r>
                      <a:r>
                        <a:rPr lang="ko-KR" altLang="en-US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차</a:t>
                      </a:r>
                      <a:r>
                        <a:rPr lang="en-US" altLang="ko-KR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endParaRPr lang="ko-KR" altLang="en-US" sz="9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일정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감리점검</a:t>
                      </a:r>
                      <a:endParaRPr lang="en-US" altLang="ko-KR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(2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차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일정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감리점검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(3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차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741136"/>
                  </a:ext>
                </a:extLst>
              </a:tr>
              <a:tr h="17645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제</a:t>
                      </a:r>
                      <a:r>
                        <a:rPr lang="en-US" altLang="ko-KR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  <a:r>
                        <a:rPr lang="ko-KR" altLang="en-US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현업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제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현업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제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현업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551686"/>
                  </a:ext>
                </a:extLst>
              </a:tr>
              <a:tr h="176457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651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건 중 </a:t>
                      </a:r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641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건</a:t>
                      </a:r>
                      <a:endParaRPr lang="en-US" altLang="ko-KR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496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건 중 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440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건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922412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B37F3AF6-ED60-4E29-AF8E-209A1B88FC04}"/>
              </a:ext>
            </a:extLst>
          </p:cNvPr>
          <p:cNvSpPr/>
          <p:nvPr/>
        </p:nvSpPr>
        <p:spPr>
          <a:xfrm>
            <a:off x="6976936" y="4759926"/>
            <a:ext cx="41139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 latinLnBrk="0">
              <a:spcAft>
                <a:spcPts val="600"/>
              </a:spcAft>
            </a:pPr>
            <a:r>
              <a:rPr lang="ko-KR" altLang="en-US" sz="100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공사</a:t>
            </a:r>
            <a:r>
              <a:rPr lang="en-US" altLang="ko-KR" sz="100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00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현업 단위테스트</a:t>
            </a:r>
            <a:r>
              <a:rPr lang="en-US" altLang="ko-KR" sz="100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(2,3</a:t>
            </a:r>
            <a:r>
              <a:rPr lang="ko-KR" altLang="en-US" sz="100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차</a:t>
            </a:r>
            <a:r>
              <a:rPr lang="en-US" altLang="ko-KR" sz="100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00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 </a:t>
            </a:r>
            <a:r>
              <a:rPr lang="en-US" altLang="ko-KR" sz="100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lang="ko-KR" altLang="en-US" sz="100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 테스트 결함조치 완료 프로그램 대상 진행</a:t>
            </a:r>
            <a:endParaRPr lang="en-US" altLang="ko-KR" sz="1000" dirty="0">
              <a:solidFill>
                <a:prstClr val="black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2" name="TextBox 107">
            <a:extLst>
              <a:ext uri="{FF2B5EF4-FFF2-40B4-BE49-F238E27FC236}">
                <a16:creationId xmlns:a16="http://schemas.microsoft.com/office/drawing/2014/main" id="{97ADD3F5-10DB-433D-85D3-F97CDEEBB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905" y="942592"/>
            <a:ext cx="255481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kumimoji="0" lang="ko-KR" altLang="en-US" sz="1600" b="0" kern="0" spc="-80" dirty="0">
                <a:ln>
                  <a:solidFill>
                    <a:srgbClr val="2F7B80">
                      <a:alpha val="0"/>
                    </a:srgbClr>
                  </a:solidFill>
                </a:ln>
                <a:latin typeface="KoPub돋움체 Bold" pitchFamily="18" charset="-127"/>
                <a:ea typeface="KoPub돋움체 Bold" pitchFamily="18" charset="-127"/>
              </a:rPr>
              <a:t>□  업무영역 별 대상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13C7921-B6BF-401F-86F6-403151C90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089346"/>
              </p:ext>
            </p:extLst>
          </p:nvPr>
        </p:nvGraphicFramePr>
        <p:xfrm>
          <a:off x="1367625" y="1166191"/>
          <a:ext cx="10225211" cy="3551526"/>
        </p:xfrm>
        <a:graphic>
          <a:graphicData uri="http://schemas.openxmlformats.org/drawingml/2006/table">
            <a:tbl>
              <a:tblPr/>
              <a:tblGrid>
                <a:gridCol w="1434089">
                  <a:extLst>
                    <a:ext uri="{9D8B030D-6E8A-4147-A177-3AD203B41FA5}">
                      <a16:colId xmlns:a16="http://schemas.microsoft.com/office/drawing/2014/main" val="1355034885"/>
                    </a:ext>
                  </a:extLst>
                </a:gridCol>
                <a:gridCol w="998742">
                  <a:extLst>
                    <a:ext uri="{9D8B030D-6E8A-4147-A177-3AD203B41FA5}">
                      <a16:colId xmlns:a16="http://schemas.microsoft.com/office/drawing/2014/main" val="1052780370"/>
                    </a:ext>
                  </a:extLst>
                </a:gridCol>
                <a:gridCol w="1174345">
                  <a:extLst>
                    <a:ext uri="{9D8B030D-6E8A-4147-A177-3AD203B41FA5}">
                      <a16:colId xmlns:a16="http://schemas.microsoft.com/office/drawing/2014/main" val="2940049951"/>
                    </a:ext>
                  </a:extLst>
                </a:gridCol>
                <a:gridCol w="757287">
                  <a:extLst>
                    <a:ext uri="{9D8B030D-6E8A-4147-A177-3AD203B41FA5}">
                      <a16:colId xmlns:a16="http://schemas.microsoft.com/office/drawing/2014/main" val="283574936"/>
                    </a:ext>
                  </a:extLst>
                </a:gridCol>
                <a:gridCol w="998742">
                  <a:extLst>
                    <a:ext uri="{9D8B030D-6E8A-4147-A177-3AD203B41FA5}">
                      <a16:colId xmlns:a16="http://schemas.microsoft.com/office/drawing/2014/main" val="3100223711"/>
                    </a:ext>
                  </a:extLst>
                </a:gridCol>
                <a:gridCol w="1174345">
                  <a:extLst>
                    <a:ext uri="{9D8B030D-6E8A-4147-A177-3AD203B41FA5}">
                      <a16:colId xmlns:a16="http://schemas.microsoft.com/office/drawing/2014/main" val="3370221122"/>
                    </a:ext>
                  </a:extLst>
                </a:gridCol>
                <a:gridCol w="757287">
                  <a:extLst>
                    <a:ext uri="{9D8B030D-6E8A-4147-A177-3AD203B41FA5}">
                      <a16:colId xmlns:a16="http://schemas.microsoft.com/office/drawing/2014/main" val="2530401186"/>
                    </a:ext>
                  </a:extLst>
                </a:gridCol>
                <a:gridCol w="998742">
                  <a:extLst>
                    <a:ext uri="{9D8B030D-6E8A-4147-A177-3AD203B41FA5}">
                      <a16:colId xmlns:a16="http://schemas.microsoft.com/office/drawing/2014/main" val="252294431"/>
                    </a:ext>
                  </a:extLst>
                </a:gridCol>
                <a:gridCol w="1174345">
                  <a:extLst>
                    <a:ext uri="{9D8B030D-6E8A-4147-A177-3AD203B41FA5}">
                      <a16:colId xmlns:a16="http://schemas.microsoft.com/office/drawing/2014/main" val="228913213"/>
                    </a:ext>
                  </a:extLst>
                </a:gridCol>
                <a:gridCol w="757287">
                  <a:extLst>
                    <a:ext uri="{9D8B030D-6E8A-4147-A177-3AD203B41FA5}">
                      <a16:colId xmlns:a16="http://schemas.microsoft.com/office/drawing/2014/main" val="3471916681"/>
                    </a:ext>
                  </a:extLst>
                </a:gridCol>
              </a:tblGrid>
              <a:tr h="224198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Iteration2 1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Iteration2 2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Iteration2 3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224777"/>
                  </a:ext>
                </a:extLst>
              </a:tr>
              <a:tr h="32399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</a:t>
                      </a:r>
                      <a:b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시나리오 건수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제외건수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Batch/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Interafce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 건수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</a:t>
                      </a:r>
                      <a:b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시나리오 건수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제외건수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Batch/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Interafce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 건수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시나리오 건수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제외건수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Batch/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Interafce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 건수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761711"/>
                  </a:ext>
                </a:extLst>
              </a:tr>
              <a:tr h="16685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운항계획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FP)</a:t>
                      </a:r>
                    </a:p>
                  </a:txBody>
                  <a:tcPr marL="108000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67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67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73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124022"/>
                  </a:ext>
                </a:extLst>
              </a:tr>
              <a:tr h="16685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비상계획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CP)</a:t>
                      </a:r>
                    </a:p>
                  </a:txBody>
                  <a:tcPr marL="108000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92738"/>
                  </a:ext>
                </a:extLst>
              </a:tr>
              <a:tr h="16685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자원배정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RS)</a:t>
                      </a:r>
                    </a:p>
                  </a:txBody>
                  <a:tcPr marL="108000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65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65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508069"/>
                  </a:ext>
                </a:extLst>
              </a:tr>
              <a:tr h="16685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A-CDM(CM)</a:t>
                      </a:r>
                    </a:p>
                  </a:txBody>
                  <a:tcPr marL="108000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78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17140"/>
                  </a:ext>
                </a:extLst>
              </a:tr>
              <a:tr h="16685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항공기관제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AC)</a:t>
                      </a:r>
                    </a:p>
                  </a:txBody>
                  <a:tcPr marL="108000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58444"/>
                  </a:ext>
                </a:extLst>
              </a:tr>
              <a:tr h="16685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공통관리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FIMS-CA)</a:t>
                      </a:r>
                    </a:p>
                  </a:txBody>
                  <a:tcPr marL="108000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515389"/>
                  </a:ext>
                </a:extLst>
              </a:tr>
              <a:tr h="16685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예측관리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PM)</a:t>
                      </a:r>
                    </a:p>
                  </a:txBody>
                  <a:tcPr marL="108000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449025"/>
                  </a:ext>
                </a:extLst>
              </a:tr>
              <a:tr h="16685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항공보안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FS)</a:t>
                      </a:r>
                    </a:p>
                  </a:txBody>
                  <a:tcPr marL="108000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385324"/>
                  </a:ext>
                </a:extLst>
              </a:tr>
              <a:tr h="16685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공항운영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GO)</a:t>
                      </a:r>
                    </a:p>
                  </a:txBody>
                  <a:tcPr marL="108000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888521"/>
                  </a:ext>
                </a:extLst>
              </a:tr>
              <a:tr h="16685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항공통계포털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(AS)</a:t>
                      </a:r>
                    </a:p>
                  </a:txBody>
                  <a:tcPr marL="108000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121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121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368229"/>
                  </a:ext>
                </a:extLst>
              </a:tr>
              <a:tr h="16685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공통관리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AOMS-CA)</a:t>
                      </a:r>
                    </a:p>
                  </a:txBody>
                  <a:tcPr marL="108000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501964"/>
                  </a:ext>
                </a:extLst>
              </a:tr>
              <a:tr h="16685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모바일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WES)</a:t>
                      </a:r>
                    </a:p>
                  </a:txBody>
                  <a:tcPr marL="108000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188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188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225790"/>
                  </a:ext>
                </a:extLst>
              </a:tr>
              <a:tr h="16685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모바일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MES)</a:t>
                      </a:r>
                    </a:p>
                  </a:txBody>
                  <a:tcPr marL="108000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550411"/>
                  </a:ext>
                </a:extLst>
              </a:tr>
              <a:tr h="16685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자원배정엔진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(RE)</a:t>
                      </a:r>
                    </a:p>
                  </a:txBody>
                  <a:tcPr marL="108000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23993"/>
                  </a:ext>
                </a:extLst>
              </a:tr>
              <a:tr h="16685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자원배정차트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(RC)</a:t>
                      </a:r>
                    </a:p>
                  </a:txBody>
                  <a:tcPr marL="108000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105551"/>
                  </a:ext>
                </a:extLst>
              </a:tr>
              <a:tr h="16685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푸시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SW(PUSH)</a:t>
                      </a:r>
                    </a:p>
                  </a:txBody>
                  <a:tcPr marL="108000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172753"/>
                  </a:ext>
                </a:extLst>
              </a:tr>
              <a:tr h="16685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SLOT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관리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SLOT)</a:t>
                      </a:r>
                    </a:p>
                  </a:txBody>
                  <a:tcPr marL="108000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9418" marR="72000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656980"/>
                  </a:ext>
                </a:extLst>
              </a:tr>
              <a:tr h="166852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계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685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685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651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641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496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>
                          <a:solidFill>
                            <a:srgbClr val="75717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440</a:t>
                      </a: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937760"/>
                  </a:ext>
                </a:extLst>
              </a:tr>
            </a:tbl>
          </a:graphicData>
        </a:graphic>
      </p:graphicFrame>
      <p:sp>
        <p:nvSpPr>
          <p:cNvPr id="40" name="직사각형 39">
            <a:extLst>
              <a:ext uri="{FF2B5EF4-FFF2-40B4-BE49-F238E27FC236}">
                <a16:creationId xmlns:a16="http://schemas.microsoft.com/office/drawing/2014/main" id="{188FC7A4-EABB-4265-94E0-1398053CE357}"/>
              </a:ext>
            </a:extLst>
          </p:cNvPr>
          <p:cNvSpPr/>
          <p:nvPr/>
        </p:nvSpPr>
        <p:spPr>
          <a:xfrm>
            <a:off x="10858500" y="1382562"/>
            <a:ext cx="743860" cy="336181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>
              <a:ln w="28575">
                <a:solidFill>
                  <a:srgbClr val="000000"/>
                </a:solidFill>
              </a:ln>
              <a:solidFill>
                <a:srgbClr val="FFFFFF"/>
              </a:solidFill>
              <a:effectLst/>
              <a:uLnTx/>
              <a:uFillTx/>
              <a:latin typeface="HY견고딕"/>
              <a:ea typeface="HY견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1020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</a:rPr>
              <a:t>첨부 ２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</a:rPr>
              <a:t>)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</a:rPr>
              <a:t> 업무영역별 사전 점검 결과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F61A6B14-8B31-4995-A764-3EFB9779A9ED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J$6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10527" y="881487"/>
            <a:ext cx="7497092" cy="991448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  <p:sp>
        <p:nvSpPr>
          <p:cNvPr id="45" name="TextBox 107">
            <a:extLst>
              <a:ext uri="{FF2B5EF4-FFF2-40B4-BE49-F238E27FC236}">
                <a16:creationId xmlns:a16="http://schemas.microsoft.com/office/drawing/2014/main" id="{F8E6490D-8F65-49D1-891A-FF8FC93FF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856304"/>
            <a:ext cx="255481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kumimoji="0" lang="ko-KR" altLang="en-US" sz="1600" b="0" kern="0" spc="-80" dirty="0">
                <a:ln>
                  <a:solidFill>
                    <a:srgbClr val="2F7B80">
                      <a:alpha val="0"/>
                    </a:srgbClr>
                  </a:solidFill>
                </a:ln>
                <a:latin typeface="KoPub돋움체 Bold" pitchFamily="18" charset="-127"/>
                <a:ea typeface="KoPub돋움체 Bold" pitchFamily="18" charset="-127"/>
              </a:rPr>
              <a:t>□  사전 점검 항목</a:t>
            </a:r>
          </a:p>
        </p:txBody>
      </p:sp>
      <p:sp>
        <p:nvSpPr>
          <p:cNvPr id="46" name="Text Box 56" descr="엠보싱 작은상자(Gray_Ver)">
            <a:extLst>
              <a:ext uri="{FF2B5EF4-FFF2-40B4-BE49-F238E27FC236}">
                <a16:creationId xmlns:a16="http://schemas.microsoft.com/office/drawing/2014/main" id="{3601F26A-9829-47B3-B93A-6B8DEC857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68819" y="1794392"/>
            <a:ext cx="1289805" cy="15708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r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점검일 </a:t>
            </a:r>
            <a:r>
              <a: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: 2026.03.16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9B41B7F-B500-47A3-8198-3A393557D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87" y="2025570"/>
            <a:ext cx="11433737" cy="43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244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9_Office 테마">
  <a:themeElements>
    <a:clrScheme name="8_Office 테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8_Office 테마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300" b="1" dirty="0" smtClean="0">
            <a:latin typeface="나눔고딕" pitchFamily="50" charset="-127"/>
            <a:ea typeface="나눔고딕" pitchFamily="50" charset="-127"/>
          </a:defRPr>
        </a:defPPr>
      </a:lstStyle>
    </a:txDef>
  </a:objectDefaults>
  <a:extraClrSchemeLst>
    <a:extraClrScheme>
      <a:clrScheme name="8_Office 테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25517</TotalTime>
  <Words>1465</Words>
  <Application>Microsoft Office PowerPoint</Application>
  <PresentationFormat>와이드스크린</PresentationFormat>
  <Paragraphs>485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8</vt:i4>
      </vt:variant>
    </vt:vector>
  </HeadingPairs>
  <TitlesOfParts>
    <vt:vector size="23" baseType="lpstr">
      <vt:lpstr>HY견고딕</vt:lpstr>
      <vt:lpstr>HY헤드라인M</vt:lpstr>
      <vt:lpstr>KoPub돋움체 Bold</vt:lpstr>
      <vt:lpstr>KoPub돋움체 Light</vt:lpstr>
      <vt:lpstr>KoPub돋움체 Medium</vt:lpstr>
      <vt:lpstr>굴림</vt:lpstr>
      <vt:lpstr>나눔고딕</vt:lpstr>
      <vt:lpstr>맑은 고딕</vt:lpstr>
      <vt:lpstr>Arial</vt:lpstr>
      <vt:lpstr>Calibri</vt:lpstr>
      <vt:lpstr>Calibri Light</vt:lpstr>
      <vt:lpstr>Wingdings</vt:lpstr>
      <vt:lpstr>1_Office 테마</vt:lpstr>
      <vt:lpstr>Office 테마</vt:lpstr>
      <vt:lpstr>9_Office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IDT-D-0001</dc:creator>
  <cp:lastModifiedBy>IIS-IDT-N-0063-U</cp:lastModifiedBy>
  <cp:revision>996</cp:revision>
  <cp:lastPrinted>2025-08-26T01:52:33Z</cp:lastPrinted>
  <dcterms:created xsi:type="dcterms:W3CDTF">2024-06-13T01:42:00Z</dcterms:created>
  <dcterms:modified xsi:type="dcterms:W3CDTF">2026-03-17T06:27:33Z</dcterms:modified>
</cp:coreProperties>
</file>