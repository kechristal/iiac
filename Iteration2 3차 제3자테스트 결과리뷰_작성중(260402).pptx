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Ex1.xml" ContentType="application/vnd.ms-office.chartex+xml"/>
  <Override PartName="/ppt/charts/style3.xml" ContentType="application/vnd.ms-office.chartstyle+xml"/>
  <Override PartName="/ppt/charts/colors3.xml" ContentType="application/vnd.ms-office.chartcolorstyle+xml"/>
  <Override PartName="/ppt/charts/chartEx2.xml" ContentType="application/vnd.ms-office.chartex+xml"/>
  <Override PartName="/ppt/charts/style4.xml" ContentType="application/vnd.ms-office.chartstyle+xml"/>
  <Override PartName="/ppt/charts/colors4.xml" ContentType="application/vnd.ms-office.chartcolorstyle+xml"/>
  <Override PartName="/ppt/charts/chart3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63" r:id="rId2"/>
  </p:sldMasterIdLst>
  <p:notesMasterIdLst>
    <p:notesMasterId r:id="rId56"/>
  </p:notesMasterIdLst>
  <p:sldIdLst>
    <p:sldId id="289" r:id="rId3"/>
    <p:sldId id="344" r:id="rId4"/>
    <p:sldId id="325" r:id="rId5"/>
    <p:sldId id="328" r:id="rId6"/>
    <p:sldId id="340" r:id="rId7"/>
    <p:sldId id="319" r:id="rId8"/>
    <p:sldId id="341" r:id="rId9"/>
    <p:sldId id="342" r:id="rId10"/>
    <p:sldId id="363" r:id="rId11"/>
    <p:sldId id="349" r:id="rId12"/>
    <p:sldId id="345" r:id="rId13"/>
    <p:sldId id="347" r:id="rId14"/>
    <p:sldId id="346" r:id="rId15"/>
    <p:sldId id="364" r:id="rId16"/>
    <p:sldId id="365" r:id="rId17"/>
    <p:sldId id="366" r:id="rId18"/>
    <p:sldId id="367" r:id="rId19"/>
    <p:sldId id="368" r:id="rId20"/>
    <p:sldId id="369" r:id="rId21"/>
    <p:sldId id="370" r:id="rId22"/>
    <p:sldId id="371" r:id="rId23"/>
    <p:sldId id="372" r:id="rId24"/>
    <p:sldId id="373" r:id="rId25"/>
    <p:sldId id="374" r:id="rId26"/>
    <p:sldId id="375" r:id="rId27"/>
    <p:sldId id="376" r:id="rId28"/>
    <p:sldId id="377" r:id="rId29"/>
    <p:sldId id="378" r:id="rId30"/>
    <p:sldId id="379" r:id="rId31"/>
    <p:sldId id="380" r:id="rId32"/>
    <p:sldId id="381" r:id="rId33"/>
    <p:sldId id="382" r:id="rId34"/>
    <p:sldId id="352" r:id="rId35"/>
    <p:sldId id="383" r:id="rId36"/>
    <p:sldId id="326" r:id="rId37"/>
    <p:sldId id="358" r:id="rId38"/>
    <p:sldId id="348" r:id="rId39"/>
    <p:sldId id="362" r:id="rId40"/>
    <p:sldId id="353" r:id="rId41"/>
    <p:sldId id="361" r:id="rId42"/>
    <p:sldId id="354" r:id="rId43"/>
    <p:sldId id="356" r:id="rId44"/>
    <p:sldId id="343" r:id="rId45"/>
    <p:sldId id="360" r:id="rId46"/>
    <p:sldId id="339" r:id="rId47"/>
    <p:sldId id="327" r:id="rId48"/>
    <p:sldId id="329" r:id="rId49"/>
    <p:sldId id="357" r:id="rId50"/>
    <p:sldId id="331" r:id="rId51"/>
    <p:sldId id="332" r:id="rId52"/>
    <p:sldId id="336" r:id="rId53"/>
    <p:sldId id="337" r:id="rId54"/>
    <p:sldId id="338" r:id="rId55"/>
  </p:sldIdLst>
  <p:sldSz cx="12192000" cy="6858000"/>
  <p:notesSz cx="6797675" cy="99266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483" userDrawn="1">
          <p15:clr>
            <a:srgbClr val="A4A3A4"/>
          </p15:clr>
        </p15:guide>
        <p15:guide id="2" pos="1504" userDrawn="1">
          <p15:clr>
            <a:srgbClr val="A4A3A4"/>
          </p15:clr>
        </p15:guide>
        <p15:guide id="3" pos="7174" userDrawn="1">
          <p15:clr>
            <a:srgbClr val="A4A3A4"/>
          </p15:clr>
        </p15:guide>
        <p15:guide id="4" pos="6584" userDrawn="1">
          <p15:clr>
            <a:srgbClr val="A4A3A4"/>
          </p15:clr>
        </p15:guide>
        <p15:guide id="5" orient="horz" pos="1344" userDrawn="1">
          <p15:clr>
            <a:srgbClr val="A4A3A4"/>
          </p15:clr>
        </p15:guide>
        <p15:guide id="6" orient="horz" pos="2024" userDrawn="1">
          <p15:clr>
            <a:srgbClr val="A4A3A4"/>
          </p15:clr>
        </p15:guide>
        <p15:guide id="7" orient="horz" pos="3566" userDrawn="1">
          <p15:clr>
            <a:srgbClr val="A4A3A4"/>
          </p15:clr>
        </p15:guide>
        <p15:guide id="8" orient="horz" pos="595" userDrawn="1">
          <p15:clr>
            <a:srgbClr val="A4A3A4"/>
          </p15:clr>
        </p15:guide>
        <p15:guide id="9" orient="horz" pos="84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1F8EC"/>
    <a:srgbClr val="FDE9E7"/>
    <a:srgbClr val="FDE1DF"/>
    <a:srgbClr val="FCCFCC"/>
    <a:srgbClr val="DDDDDD"/>
    <a:srgbClr val="ED7D31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2421" autoAdjust="0"/>
  </p:normalViewPr>
  <p:slideViewPr>
    <p:cSldViewPr snapToGrid="0">
      <p:cViewPr varScale="1">
        <p:scale>
          <a:sx n="76" d="100"/>
          <a:sy n="76" d="100"/>
        </p:scale>
        <p:origin x="898" y="58"/>
      </p:cViewPr>
      <p:guideLst>
        <p:guide pos="483"/>
        <p:guide pos="1504"/>
        <p:guide pos="7174"/>
        <p:guide pos="6584"/>
        <p:guide orient="horz" pos="1344"/>
        <p:guide orient="horz" pos="2024"/>
        <p:guide orient="horz" pos="3566"/>
        <p:guide orient="horz" pos="595"/>
        <p:guide orient="horz" pos="84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viewProps" Target="viewProps.xml"/><Relationship Id="rId5" Type="http://schemas.openxmlformats.org/officeDocument/2006/relationships/slide" Target="slides/slide3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theme" Target="theme/theme1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presProps" Target="presProps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1.%20file%20trans\&#9733;%20ITR2_2&#52264;_&#49688;&#54665;%20&#44208;&#44284;_0128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D:\05.%20IIAC\3&#51088;&#53580;&#49828;&#53944;\&#44256;&#46020;&#54868;_&#49884;&#49828;&#53596;_3&#52264;_&#45800;&#50948;&#53580;&#49828;&#53944;_&#44208;&#54632;_&#50896;&#51064;_&#48516;&#49437;-Genspark_AI_Sheets-20260401_2213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D:\05.%20IIAC\3&#51088;&#53580;&#49828;&#53944;\&#44256;&#46020;&#54868;_&#49884;&#49828;&#53596;_3&#52264;_&#45800;&#50948;&#53580;&#49828;&#53944;_&#44208;&#54632;_&#50896;&#51064;_&#48516;&#49437;-Genspark_AI_Sheets-20260401_2213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Ex1.xml.rels><?xml version="1.0" encoding="UTF-8" standalone="yes"?>
<Relationships xmlns="http://schemas.openxmlformats.org/package/2006/relationships"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Ex2.xml.rels><?xml version="1.0" encoding="UTF-8" standalone="yes"?>
<Relationships xmlns="http://schemas.openxmlformats.org/package/2006/relationships"><Relationship Id="rId3" Type="http://schemas.microsoft.com/office/2011/relationships/chartColorStyle" Target="colors4.xml"/><Relationship Id="rId2" Type="http://schemas.microsoft.com/office/2011/relationships/chartStyle" Target="style4.xml"/><Relationship Id="rId1" Type="http://schemas.openxmlformats.org/officeDocument/2006/relationships/oleObject" Target="file:///D:\05.%20IIAC\3&#51088;&#53580;&#49828;&#53944;\&#44256;&#46020;&#54868;_&#49884;&#49828;&#53596;_3&#52264;_&#45800;&#50948;&#53580;&#49828;&#53944;_&#44208;&#54632;_&#50896;&#51064;_&#48516;&#49437;-Genspark_AI_Sheets-20260401_2213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spPr>
            <a:solidFill>
              <a:srgbClr val="FF0000"/>
            </a:solidFill>
          </c:spPr>
          <c:dPt>
            <c:idx val="0"/>
            <c:bubble3D val="0"/>
            <c:spPr>
              <a:solidFill>
                <a:srgbClr val="FF0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64B6-4148-8E1B-DD68A3B1C173}"/>
              </c:ext>
            </c:extLst>
          </c:dPt>
          <c:dPt>
            <c:idx val="1"/>
            <c:bubble3D val="0"/>
            <c:spPr>
              <a:solidFill>
                <a:schemeClr val="bg2">
                  <a:lumMod val="9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64B6-4148-8E1B-DD68A3B1C173}"/>
              </c:ext>
            </c:extLst>
          </c:dPt>
          <c:val>
            <c:numRef>
              <c:f>Itr2_2_결함_pivot!$AA$13:$AA$14</c:f>
              <c:numCache>
                <c:formatCode>General</c:formatCode>
                <c:ptCount val="2"/>
                <c:pt idx="0">
                  <c:v>161</c:v>
                </c:pt>
                <c:pt idx="1">
                  <c:v>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4B6-4148-8E1B-DD68A3B1C17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val>
            <c:numRef>
              <c:f>Sheet1!#REF!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  <c:extLst>
            <c:ext xmlns:c15="http://schemas.microsoft.com/office/drawing/2012/chart" uri="{02D57815-91ED-43cb-92C2-25804820EDAC}">
              <c15:filteredCategoryTitle>
                <c15:cat>
                  <c:strRef>
                    <c:extLst>
                      <c:ext uri="{02D57815-91ED-43cb-92C2-25804820EDAC}">
                        <c15:formulaRef>
                          <c15:sqref>Sheet1!#REF!</c15:sqref>
                        </c15:formulaRef>
                      </c:ext>
                    </c:extLst>
                  </c:strRef>
                </c15:cat>
              </c15:filteredCategoryTitle>
            </c:ext>
            <c:ext xmlns:c16="http://schemas.microsoft.com/office/drawing/2014/chart" uri="{C3380CC4-5D6E-409C-BE32-E72D297353CC}">
              <c16:uniqueId val="{00000004-2654-41A8-8EDA-DD0EFE7E6AD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1"/>
        <c:overlap val="-14"/>
        <c:axId val="1928471567"/>
        <c:axId val="1928459567"/>
      </c:barChart>
      <c:catAx>
        <c:axId val="192847156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928459567"/>
        <c:crosses val="autoZero"/>
        <c:auto val="1"/>
        <c:lblAlgn val="ctr"/>
        <c:lblOffset val="100"/>
        <c:noMultiLvlLbl val="0"/>
      </c:catAx>
      <c:valAx>
        <c:axId val="1928459567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92847156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8291328799163954E-2"/>
          <c:y val="1.4387380794319364E-2"/>
          <c:w val="0.90704042853951616"/>
          <c:h val="0.8004668535138062"/>
        </c:manualLayout>
      </c:layout>
      <c:lineChart>
        <c:grouping val="standard"/>
        <c:varyColors val="0"/>
        <c:ser>
          <c:idx val="0"/>
          <c:order val="0"/>
          <c:tx>
            <c:strRef>
              <c:f>Sheet1!$N$110</c:f>
              <c:strCache>
                <c:ptCount val="1"/>
                <c:pt idx="0">
                  <c:v>1차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strRef>
              <c:f>Sheet1!$M$111:$M$121</c:f>
              <c:strCache>
                <c:ptCount val="11"/>
                <c:pt idx="0">
                  <c:v>환경미비</c:v>
                </c:pt>
                <c:pt idx="1">
                  <c:v>스키마 권한</c:v>
                </c:pt>
                <c:pt idx="2">
                  <c:v>프로세스</c:v>
                </c:pt>
                <c:pt idx="3">
                  <c:v>문서</c:v>
                </c:pt>
                <c:pt idx="4">
                  <c:v>기능</c:v>
                </c:pt>
                <c:pt idx="5">
                  <c:v>값검증</c:v>
                </c:pt>
                <c:pt idx="6">
                  <c:v>화면</c:v>
                </c:pt>
                <c:pt idx="7">
                  <c:v>데이터누락</c:v>
                </c:pt>
                <c:pt idx="8">
                  <c:v>권한누락</c:v>
                </c:pt>
                <c:pt idx="9">
                  <c:v>공통화면</c:v>
                </c:pt>
                <c:pt idx="10">
                  <c:v>결함아</c:v>
                </c:pt>
              </c:strCache>
            </c:strRef>
          </c:cat>
          <c:val>
            <c:numRef>
              <c:f>Sheet1!$N$111:$N$121</c:f>
              <c:numCache>
                <c:formatCode>General</c:formatCode>
                <c:ptCount val="11"/>
                <c:pt idx="0">
                  <c:v>2</c:v>
                </c:pt>
                <c:pt idx="1">
                  <c:v>34</c:v>
                </c:pt>
                <c:pt idx="2">
                  <c:v>18</c:v>
                </c:pt>
                <c:pt idx="3">
                  <c:v>32</c:v>
                </c:pt>
                <c:pt idx="4">
                  <c:v>99</c:v>
                </c:pt>
                <c:pt idx="5">
                  <c:v>9</c:v>
                </c:pt>
                <c:pt idx="6">
                  <c:v>3</c:v>
                </c:pt>
                <c:pt idx="7">
                  <c:v>26</c:v>
                </c:pt>
                <c:pt idx="8">
                  <c:v>6</c:v>
                </c:pt>
                <c:pt idx="9">
                  <c:v>9</c:v>
                </c:pt>
                <c:pt idx="10">
                  <c:v>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02B-4F58-9327-E734E3E81F40}"/>
            </c:ext>
          </c:extLst>
        </c:ser>
        <c:ser>
          <c:idx val="1"/>
          <c:order val="1"/>
          <c:tx>
            <c:strRef>
              <c:f>Sheet1!$O$110</c:f>
              <c:strCache>
                <c:ptCount val="1"/>
                <c:pt idx="0">
                  <c:v>2차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cat>
            <c:strRef>
              <c:f>Sheet1!$M$111:$M$121</c:f>
              <c:strCache>
                <c:ptCount val="11"/>
                <c:pt idx="0">
                  <c:v>환경미비</c:v>
                </c:pt>
                <c:pt idx="1">
                  <c:v>스키마 권한</c:v>
                </c:pt>
                <c:pt idx="2">
                  <c:v>프로세스</c:v>
                </c:pt>
                <c:pt idx="3">
                  <c:v>문서</c:v>
                </c:pt>
                <c:pt idx="4">
                  <c:v>기능</c:v>
                </c:pt>
                <c:pt idx="5">
                  <c:v>값검증</c:v>
                </c:pt>
                <c:pt idx="6">
                  <c:v>화면</c:v>
                </c:pt>
                <c:pt idx="7">
                  <c:v>데이터누락</c:v>
                </c:pt>
                <c:pt idx="8">
                  <c:v>권한누락</c:v>
                </c:pt>
                <c:pt idx="9">
                  <c:v>공통화면</c:v>
                </c:pt>
                <c:pt idx="10">
                  <c:v>결함아</c:v>
                </c:pt>
              </c:strCache>
            </c:strRef>
          </c:cat>
          <c:val>
            <c:numRef>
              <c:f>Sheet1!$O$111:$O$121</c:f>
              <c:numCache>
                <c:formatCode>General</c:formatCode>
                <c:ptCount val="11"/>
                <c:pt idx="0">
                  <c:v>0</c:v>
                </c:pt>
                <c:pt idx="1">
                  <c:v>0</c:v>
                </c:pt>
                <c:pt idx="2">
                  <c:v>14</c:v>
                </c:pt>
                <c:pt idx="3">
                  <c:v>4</c:v>
                </c:pt>
                <c:pt idx="4">
                  <c:v>87</c:v>
                </c:pt>
                <c:pt idx="5">
                  <c:v>6</c:v>
                </c:pt>
                <c:pt idx="6">
                  <c:v>8</c:v>
                </c:pt>
                <c:pt idx="7">
                  <c:v>2</c:v>
                </c:pt>
                <c:pt idx="8">
                  <c:v>0</c:v>
                </c:pt>
                <c:pt idx="9">
                  <c:v>39</c:v>
                </c:pt>
                <c:pt idx="10">
                  <c:v>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902B-4F58-9327-E734E3E81F40}"/>
            </c:ext>
          </c:extLst>
        </c:ser>
        <c:ser>
          <c:idx val="2"/>
          <c:order val="2"/>
          <c:tx>
            <c:strRef>
              <c:f>Sheet1!$P$110</c:f>
              <c:strCache>
                <c:ptCount val="1"/>
                <c:pt idx="0">
                  <c:v>3차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cat>
            <c:strRef>
              <c:f>Sheet1!$M$111:$M$121</c:f>
              <c:strCache>
                <c:ptCount val="11"/>
                <c:pt idx="0">
                  <c:v>환경미비</c:v>
                </c:pt>
                <c:pt idx="1">
                  <c:v>스키마 권한</c:v>
                </c:pt>
                <c:pt idx="2">
                  <c:v>프로세스</c:v>
                </c:pt>
                <c:pt idx="3">
                  <c:v>문서</c:v>
                </c:pt>
                <c:pt idx="4">
                  <c:v>기능</c:v>
                </c:pt>
                <c:pt idx="5">
                  <c:v>값검증</c:v>
                </c:pt>
                <c:pt idx="6">
                  <c:v>화면</c:v>
                </c:pt>
                <c:pt idx="7">
                  <c:v>데이터누락</c:v>
                </c:pt>
                <c:pt idx="8">
                  <c:v>권한누락</c:v>
                </c:pt>
                <c:pt idx="9">
                  <c:v>공통화면</c:v>
                </c:pt>
                <c:pt idx="10">
                  <c:v>결함아</c:v>
                </c:pt>
              </c:strCache>
            </c:strRef>
          </c:cat>
          <c:val>
            <c:numRef>
              <c:f>Sheet1!$P$111:$P$121</c:f>
              <c:numCache>
                <c:formatCode>General</c:formatCode>
                <c:ptCount val="11"/>
                <c:pt idx="0">
                  <c:v>0</c:v>
                </c:pt>
                <c:pt idx="1">
                  <c:v>0</c:v>
                </c:pt>
                <c:pt idx="2">
                  <c:v>7</c:v>
                </c:pt>
                <c:pt idx="3">
                  <c:v>12</c:v>
                </c:pt>
                <c:pt idx="4">
                  <c:v>34</c:v>
                </c:pt>
                <c:pt idx="5">
                  <c:v>0</c:v>
                </c:pt>
                <c:pt idx="6">
                  <c:v>0</c:v>
                </c:pt>
                <c:pt idx="7">
                  <c:v>6</c:v>
                </c:pt>
                <c:pt idx="8">
                  <c:v>0</c:v>
                </c:pt>
                <c:pt idx="9">
                  <c:v>33</c:v>
                </c:pt>
                <c:pt idx="10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902B-4F58-9327-E734E3E81F4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745315199"/>
        <c:axId val="1745315679"/>
      </c:lineChart>
      <c:catAx>
        <c:axId val="174531519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745315679"/>
        <c:crosses val="autoZero"/>
        <c:auto val="1"/>
        <c:lblAlgn val="ctr"/>
        <c:lblOffset val="100"/>
        <c:noMultiLvlLbl val="0"/>
      </c:catAx>
      <c:valAx>
        <c:axId val="1745315679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74531519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>
    <cx:plotArea>
      <cx:plotAreaRegion/>
    </cx:plotArea>
  </cx:chart>
</cx:chartSpace>
</file>

<file path=ppt/charts/chartEx2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Sheet4!$M$10:$M$14</cx:f>
        <cx:lvl ptCount="5">
          <cx:pt idx="0">기능</cx:pt>
          <cx:pt idx="1">공통</cx:pt>
          <cx:pt idx="2">데이터</cx:pt>
          <cx:pt idx="3">문서화</cx:pt>
          <cx:pt idx="4">기타</cx:pt>
        </cx:lvl>
      </cx:strDim>
      <cx:numDim type="size">
        <cx:f>Sheet4!$N$10:$N$14</cx:f>
        <cx:lvl ptCount="5" formatCode="G/표준">
          <cx:pt idx="0">41</cx:pt>
          <cx:pt idx="1">33</cx:pt>
          <cx:pt idx="2">6</cx:pt>
          <cx:pt idx="3">12</cx:pt>
          <cx:pt idx="4">1</cx:pt>
        </cx:lvl>
      </cx:numDim>
    </cx:data>
  </cx:chartData>
  <cx:chart>
    <cx:title pos="t" align="ctr" overlay="0">
      <cx:tx>
        <cx:txData>
          <cx:v/>
        </cx:txData>
      </cx:tx>
      <cx:txPr>
        <a:bodyPr spcFirstLastPara="1" vertOverflow="ellipsis" horzOverflow="overflow" wrap="square" lIns="0" tIns="0" rIns="0" bIns="0" anchor="ctr" anchorCtr="1"/>
        <a:lstStyle/>
        <a:p>
          <a:pPr algn="ctr" rtl="0">
            <a:defRPr/>
          </a:pPr>
          <a:endParaRPr lang="ko-KR" altLang="en-US" sz="1400" b="0" i="0" u="none" strike="noStrike" baseline="0" dirty="0">
            <a:solidFill>
              <a:prstClr val="black">
                <a:lumMod val="65000"/>
                <a:lumOff val="35000"/>
              </a:prstClr>
            </a:solidFill>
            <a:latin typeface="Calibri"/>
            <a:ea typeface="맑은 고딕" panose="020B0503020000020004" pitchFamily="50" charset="-127"/>
          </a:endParaRPr>
        </a:p>
      </cx:txPr>
    </cx:title>
    <cx:plotArea>
      <cx:plotAreaRegion>
        <cx:series layoutId="treemap" uniqueId="{66CF0E27-4BE0-4025-8A8A-2B082650D1DB}">
          <cx:dataLabels pos="inEnd">
            <cx:visibility seriesName="0" categoryName="1" value="0"/>
          </cx:dataLabels>
          <cx:dataId val="0"/>
          <cx:layoutPr>
            <cx:parentLabelLayout val="overlapping"/>
          </cx:layoutPr>
        </cx:series>
      </cx:plotAreaRegion>
    </cx:plotArea>
  </cx:chart>
</cx:chartSpace>
</file>

<file path=ppt/charts/colors1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410">
  <cs:axisTitle>
    <cs:lnRef idx="0"/>
    <cs:fillRef idx="0"/>
    <cs:effectRef idx="0"/>
    <cs:fontRef idx="minor">
      <a:schemeClr val="tx1">
        <a:lumMod val="65000"/>
        <a:lumOff val="35000"/>
      </a:schemeClr>
    </cs:fontRef>
    <cs:spPr>
      <a:solidFill>
        <a:schemeClr val="bg1">
          <a:lumMod val="65000"/>
        </a:schemeClr>
      </a:solidFill>
      <a:ln w="19050">
        <a:solidFill>
          <a:schemeClr val="bg1"/>
        </a:solidFill>
      </a:ln>
    </cs:spPr>
    <cs:defRPr sz="9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/>
  </cs:chartArea>
  <cs:dataLabel>
    <cs:lnRef idx="0"/>
    <cs:fillRef idx="0"/>
    <cs:effectRef idx="0"/>
    <cs:fontRef idx="minor">
      <a:schemeClr val="lt1"/>
    </cs:fontRef>
    <cs:defRPr sz="9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/>
  </cs:valueAxis>
  <cs:wall>
    <cs:lnRef idx="0"/>
    <cs:fillRef idx="0"/>
    <cs:effectRef idx="0"/>
    <cs:fontRef idx="minor">
      <a:schemeClr val="tx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410">
  <cs:axisTitle>
    <cs:lnRef idx="0"/>
    <cs:fillRef idx="0"/>
    <cs:effectRef idx="0"/>
    <cs:fontRef idx="minor">
      <a:schemeClr val="tx1">
        <a:lumMod val="65000"/>
        <a:lumOff val="35000"/>
      </a:schemeClr>
    </cs:fontRef>
    <cs:spPr>
      <a:solidFill>
        <a:schemeClr val="bg1">
          <a:lumMod val="65000"/>
        </a:schemeClr>
      </a:solidFill>
      <a:ln w="19050">
        <a:solidFill>
          <a:schemeClr val="bg1"/>
        </a:solidFill>
      </a:ln>
    </cs:spPr>
    <cs:defRPr sz="9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/>
  </cs:chartArea>
  <cs:dataLabel>
    <cs:lnRef idx="0"/>
    <cs:fillRef idx="0"/>
    <cs:effectRef idx="0"/>
    <cs:fontRef idx="minor">
      <a:schemeClr val="lt1"/>
    </cs:fontRef>
    <cs:defRPr sz="9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/>
  </cs:valueAxis>
  <cs:wall>
    <cs:lnRef idx="0"/>
    <cs:fillRef idx="0"/>
    <cs:effectRef idx="0"/>
    <cs:fontRef idx="minor">
      <a:schemeClr val="tx1"/>
    </cs:fontRef>
  </cs:wall>
</cs:chartStyle>
</file>

<file path=ppt/charts/style5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9F5DBC-2D43-4714-A011-1B997A865431}" type="datetimeFigureOut">
              <a:rPr lang="ko-KR" altLang="en-US" smtClean="0"/>
              <a:t>2026-04-02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22C630-A325-4356-BDAD-28F4716C49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97864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6B41CC7-FE31-4B6D-A108-F4AA61656A60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219048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22C630-A325-4356-BDAD-28F4716C49E0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99909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22C630-A325-4356-BDAD-28F4716C49E0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29561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22C630-A325-4356-BDAD-28F4716C49E0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71627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22C630-A325-4356-BDAD-28F4716C49E0}" type="slidenum">
              <a:rPr lang="ko-KR" altLang="en-US" smtClean="0"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73866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22C630-A325-4356-BDAD-28F4716C49E0}" type="slidenum">
              <a:rPr lang="ko-KR" altLang="en-US" smtClean="0"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38453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22C630-A325-4356-BDAD-28F4716C49E0}" type="slidenum">
              <a:rPr lang="ko-KR" altLang="en-US" smtClean="0"/>
              <a:t>46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252173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22C630-A325-4356-BDAD-28F4716C49E0}" type="slidenum">
              <a:rPr lang="ko-KR" altLang="en-US" smtClean="0"/>
              <a:t>47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16505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70585E34-5F14-45D3-BBB7-3055EB2B07EB}"/>
              </a:ext>
            </a:extLst>
          </p:cNvPr>
          <p:cNvSpPr/>
          <p:nvPr userDrawn="1"/>
        </p:nvSpPr>
        <p:spPr>
          <a:xfrm>
            <a:off x="8568267" y="93133"/>
            <a:ext cx="1439333" cy="406400"/>
          </a:xfrm>
          <a:prstGeom prst="roundRect">
            <a:avLst/>
          </a:prstGeom>
          <a:solidFill>
            <a:srgbClr val="FF0000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b="1" dirty="0">
              <a:ln w="76200">
                <a:solidFill>
                  <a:schemeClr val="tx1"/>
                </a:solidFill>
              </a:ln>
              <a:solidFill>
                <a:schemeClr val="bg1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97929F4-DC14-4DDE-A4E7-07CE78C35A4D}"/>
              </a:ext>
            </a:extLst>
          </p:cNvPr>
          <p:cNvSpPr txBox="1"/>
          <p:nvPr userDrawn="1"/>
        </p:nvSpPr>
        <p:spPr>
          <a:xfrm>
            <a:off x="8711653" y="130201"/>
            <a:ext cx="12362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800" b="1" dirty="0">
                <a:solidFill>
                  <a:schemeClr val="bg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내부 내포용</a:t>
            </a:r>
          </a:p>
        </p:txBody>
      </p:sp>
    </p:spTree>
    <p:extLst>
      <p:ext uri="{BB962C8B-B14F-4D97-AF65-F5344CB8AC3E}">
        <p14:creationId xmlns:p14="http://schemas.microsoft.com/office/powerpoint/2010/main" val="82376719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24340762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F44FD8-F141-457E-9E54-C32A23416C70}" type="datetimeFigureOut">
              <a:rPr lang="ko-KR" altLang="en-US" smtClean="0"/>
              <a:t>2026-04-02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791DC9-7EB9-40B4-AF94-EAA07A156A6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03693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8783985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6697178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1154791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emf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.png"/><Relationship Id="rId5" Type="http://schemas.openxmlformats.org/officeDocument/2006/relationships/image" Target="../media/image1.emf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사각형: 둥근 한쪽 모서리 20">
            <a:extLst>
              <a:ext uri="{FF2B5EF4-FFF2-40B4-BE49-F238E27FC236}">
                <a16:creationId xmlns:a16="http://schemas.microsoft.com/office/drawing/2014/main" id="{ECF79BE5-BD41-D2A8-271E-758B9CCD8DAE}"/>
              </a:ext>
            </a:extLst>
          </p:cNvPr>
          <p:cNvSpPr/>
          <p:nvPr userDrawn="1"/>
        </p:nvSpPr>
        <p:spPr>
          <a:xfrm flipV="1">
            <a:off x="0" y="0"/>
            <a:ext cx="12192000" cy="584200"/>
          </a:xfrm>
          <a:prstGeom prst="round1Rect">
            <a:avLst>
              <a:gd name="adj" fmla="val 0"/>
            </a:avLst>
          </a:prstGeom>
          <a:solidFill>
            <a:srgbClr val="00346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 sz="1800" noProof="0" dirty="0">
              <a:solidFill>
                <a:schemeClr val="lt1"/>
              </a:solidFill>
            </a:endParaRPr>
          </a:p>
        </p:txBody>
      </p:sp>
      <p:sp>
        <p:nvSpPr>
          <p:cNvPr id="4" name="Rectangle 59">
            <a:extLst>
              <a:ext uri="{FF2B5EF4-FFF2-40B4-BE49-F238E27FC236}">
                <a16:creationId xmlns:a16="http://schemas.microsoft.com/office/drawing/2014/main" id="{77B1A52D-67D2-512A-F1CD-8B280133ADA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031880" y="6587714"/>
            <a:ext cx="128240" cy="1231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AFCDE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13500000" algn="ctr" rotWithShape="0">
                    <a:srgbClr val="697B8F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pPr algn="ctr"/>
            <a:fld id="{B9BD96D4-FBDC-4909-BFD7-96760582A1EC}" type="slidenum">
              <a:rPr kumimoji="1" lang="en-US" altLang="ko-KR" sz="800" smtClean="0">
                <a:ln>
                  <a:solidFill>
                    <a:srgbClr val="00609F">
                      <a:alpha val="0"/>
                    </a:srgbClr>
                  </a:solidFill>
                </a:ln>
                <a:solidFill>
                  <a:srgbClr val="5F5F5F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pPr algn="ctr"/>
              <a:t>‹#›</a:t>
            </a:fld>
            <a:endParaRPr kumimoji="1" lang="en-US" altLang="ko-KR" sz="800" dirty="0">
              <a:ln>
                <a:solidFill>
                  <a:srgbClr val="00609F">
                    <a:alpha val="0"/>
                  </a:srgbClr>
                </a:solidFill>
              </a:ln>
              <a:solidFill>
                <a:srgbClr val="5F5F5F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69115F56-5BC3-861C-344B-286546EA85EA}"/>
              </a:ext>
            </a:extLst>
          </p:cNvPr>
          <p:cNvGrpSpPr/>
          <p:nvPr userDrawn="1"/>
        </p:nvGrpSpPr>
        <p:grpSpPr>
          <a:xfrm>
            <a:off x="468299" y="6571423"/>
            <a:ext cx="3048858" cy="155693"/>
            <a:chOff x="299815" y="6545448"/>
            <a:chExt cx="2477197" cy="155693"/>
          </a:xfrm>
        </p:grpSpPr>
        <p:sp>
          <p:nvSpPr>
            <p:cNvPr id="6" name="Text Box 9">
              <a:extLst>
                <a:ext uri="{FF2B5EF4-FFF2-40B4-BE49-F238E27FC236}">
                  <a16:creationId xmlns:a16="http://schemas.microsoft.com/office/drawing/2014/main" id="{1A4676B3-4BA9-E359-B49F-A03AFC7065DA}"/>
                </a:ext>
              </a:extLst>
            </p:cNvPr>
            <p:cNvSpPr txBox="1">
              <a:spLocks noChangeArrowheads="1"/>
            </p:cNvSpPr>
            <p:nvPr userDrawn="1"/>
          </p:nvSpPr>
          <p:spPr bwMode="auto">
            <a:xfrm>
              <a:off x="1323489" y="6585448"/>
              <a:ext cx="1453523" cy="1077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 anchor="ctr" anchorCtr="0">
              <a:spAutoFit/>
            </a:bodyPr>
            <a:lstStyle/>
            <a:p>
              <a:pPr defTabSz="957474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en-US" altLang="ko-KR" sz="700" dirty="0">
                  <a:ln>
                    <a:solidFill>
                      <a:prstClr val="white">
                        <a:lumMod val="75000"/>
                        <a:alpha val="0"/>
                      </a:prstClr>
                    </a:solidFill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Segoe UI" panose="020B0502040204020203" pitchFamily="34" charset="0"/>
                </a:rPr>
                <a:t>| </a:t>
              </a:r>
              <a:r>
                <a:rPr kumimoji="1" lang="ko-KR" altLang="en-US" sz="700" dirty="0">
                  <a:ln>
                    <a:solidFill>
                      <a:prstClr val="white">
                        <a:lumMod val="75000"/>
                        <a:alpha val="0"/>
                      </a:prstClr>
                    </a:solidFill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Segoe UI" panose="020B0502040204020203" pitchFamily="34" charset="0"/>
                </a:rPr>
                <a:t>인천국제공항　통합정보시스템 고도화 구축 사업</a:t>
              </a:r>
            </a:p>
          </p:txBody>
        </p:sp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6D4A54F2-3B65-0FFC-4B3D-42D54653A8D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 bwMode="gray">
            <a:xfrm>
              <a:off x="299815" y="6545448"/>
              <a:ext cx="955164" cy="155693"/>
            </a:xfrm>
            <a:prstGeom prst="rect">
              <a:avLst/>
            </a:prstGeom>
          </p:spPr>
        </p:pic>
      </p:grpSp>
      <p:pic>
        <p:nvPicPr>
          <p:cNvPr id="15" name="그림 14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1685" y="6511501"/>
            <a:ext cx="1450873" cy="242937"/>
          </a:xfrm>
          <a:prstGeom prst="rect">
            <a:avLst/>
          </a:prstGeom>
        </p:spPr>
      </p:pic>
      <p:grpSp>
        <p:nvGrpSpPr>
          <p:cNvPr id="2" name="그룹 1"/>
          <p:cNvGrpSpPr/>
          <p:nvPr userDrawn="1"/>
        </p:nvGrpSpPr>
        <p:grpSpPr>
          <a:xfrm>
            <a:off x="10499790" y="77413"/>
            <a:ext cx="1342769" cy="443379"/>
            <a:chOff x="10499790" y="77413"/>
            <a:chExt cx="1342769" cy="443379"/>
          </a:xfrm>
        </p:grpSpPr>
        <p:grpSp>
          <p:nvGrpSpPr>
            <p:cNvPr id="17" name="그룹 16">
              <a:extLst>
                <a:ext uri="{FF2B5EF4-FFF2-40B4-BE49-F238E27FC236}">
                  <a16:creationId xmlns:a16="http://schemas.microsoft.com/office/drawing/2014/main" id="{D34A100D-B537-B83E-0F2C-531635203217}"/>
                </a:ext>
              </a:extLst>
            </p:cNvPr>
            <p:cNvGrpSpPr/>
            <p:nvPr userDrawn="1"/>
          </p:nvGrpSpPr>
          <p:grpSpPr>
            <a:xfrm>
              <a:off x="10499790" y="77413"/>
              <a:ext cx="1342769" cy="443379"/>
              <a:chOff x="8110620" y="0"/>
              <a:chExt cx="1342769" cy="443379"/>
            </a:xfrm>
          </p:grpSpPr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A32C599-D17E-32B6-1EE9-346065250115}"/>
                  </a:ext>
                </a:extLst>
              </p:cNvPr>
              <p:cNvSpPr txBox="1"/>
              <p:nvPr/>
            </p:nvSpPr>
            <p:spPr>
              <a:xfrm>
                <a:off x="8110620" y="270441"/>
                <a:ext cx="1264770" cy="1538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>
                <a:spAutoFit/>
              </a:bodyPr>
              <a:lstStyle>
                <a:defPPr>
                  <a:defRPr lang="ko-KR"/>
                </a:defPPr>
                <a:lvl1pPr defTabSz="914125" fontAlgn="base" latinLnBrk="0">
                  <a:spcBef>
                    <a:spcPct val="0"/>
                  </a:spcBef>
                  <a:spcAft>
                    <a:spcPts val="200"/>
                  </a:spcAft>
                  <a:defRPr sz="1100" spc="-2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  <a:cs typeface="Arial" charset="0"/>
                  </a:defRPr>
                </a:lvl1pPr>
              </a:lstStyle>
              <a:p>
                <a:pPr marL="0" marR="0" lvl="0" indent="0" algn="r" defTabSz="914125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2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00" b="0" i="0" u="none" strike="noStrike" kern="1200" cap="none" spc="-40" normalizeH="0" baseline="0" noProof="0" dirty="0">
                    <a:ln>
                      <a:solidFill>
                        <a:srgbClr val="FF0000">
                          <a:alpha val="0"/>
                        </a:srgbClr>
                      </a:solidFill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Arial" charset="0"/>
                  </a:rPr>
                  <a:t>3</a:t>
                </a:r>
                <a:r>
                  <a:rPr kumimoji="0" lang="ko-KR" altLang="en-US" sz="1000" b="0" i="0" u="none" strike="noStrike" kern="1200" cap="none" spc="-40" normalizeH="0" baseline="0" noProof="0" dirty="0">
                    <a:ln>
                      <a:solidFill>
                        <a:srgbClr val="FF0000">
                          <a:alpha val="0"/>
                        </a:srgbClr>
                      </a:solidFill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Arial" charset="0"/>
                  </a:rPr>
                  <a:t>자 </a:t>
                </a:r>
                <a:r>
                  <a:rPr kumimoji="0" lang="ko-KR" altLang="en-US" sz="1000" b="0" i="0" u="none" strike="noStrike" kern="1200" cap="none" spc="-40" normalizeH="0" baseline="0" noProof="0" dirty="0" err="1">
                    <a:ln>
                      <a:solidFill>
                        <a:srgbClr val="FF0000">
                          <a:alpha val="0"/>
                        </a:srgbClr>
                      </a:solidFill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Arial" charset="0"/>
                  </a:rPr>
                  <a:t>단위테스트</a:t>
                </a:r>
                <a:r>
                  <a:rPr kumimoji="0" lang="ko-KR" altLang="en-US" sz="1000" b="0" i="0" u="none" strike="noStrike" kern="1200" cap="none" spc="-40" normalizeH="0" baseline="0" noProof="0" dirty="0">
                    <a:ln>
                      <a:solidFill>
                        <a:srgbClr val="FF0000">
                          <a:alpha val="0"/>
                        </a:srgbClr>
                      </a:solidFill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Arial" charset="0"/>
                  </a:rPr>
                  <a:t> 결과 리뷰 </a:t>
                </a:r>
              </a:p>
            </p:txBody>
          </p:sp>
          <p:cxnSp>
            <p:nvCxnSpPr>
              <p:cNvPr id="19" name="직선 연결선 109">
                <a:extLst>
                  <a:ext uri="{FF2B5EF4-FFF2-40B4-BE49-F238E27FC236}">
                    <a16:creationId xmlns:a16="http://schemas.microsoft.com/office/drawing/2014/main" id="{056C6A96-585D-F666-8E00-9B0A66536827}"/>
                  </a:ext>
                </a:extLst>
              </p:cNvPr>
              <p:cNvCxnSpPr/>
              <p:nvPr/>
            </p:nvCxnSpPr>
            <p:spPr>
              <a:xfrm>
                <a:off x="9453389" y="0"/>
                <a:ext cx="0" cy="443379"/>
              </a:xfrm>
              <a:prstGeom prst="line">
                <a:avLst/>
              </a:prstGeom>
              <a:ln w="9525" cap="flat">
                <a:solidFill>
                  <a:srgbClr val="9AA3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0" name="타원 19">
              <a:extLst>
                <a:ext uri="{FF2B5EF4-FFF2-40B4-BE49-F238E27FC236}">
                  <a16:creationId xmlns:a16="http://schemas.microsoft.com/office/drawing/2014/main" id="{5AC935BD-F940-7942-B750-837F8997D518}"/>
                </a:ext>
              </a:extLst>
            </p:cNvPr>
            <p:cNvSpPr/>
            <p:nvPr userDrawn="1"/>
          </p:nvSpPr>
          <p:spPr>
            <a:xfrm>
              <a:off x="11641054" y="248898"/>
              <a:ext cx="57600" cy="576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600" b="0" i="0" u="none" strike="noStrike" kern="1200" cap="none" spc="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  <a:cs typeface="+mn-cs"/>
              </a:endParaRPr>
            </a:p>
          </p:txBody>
        </p:sp>
        <p:sp>
          <p:nvSpPr>
            <p:cNvPr id="22" name="타원 21">
              <a:extLst>
                <a:ext uri="{FF2B5EF4-FFF2-40B4-BE49-F238E27FC236}">
                  <a16:creationId xmlns:a16="http://schemas.microsoft.com/office/drawing/2014/main" id="{A9B34389-9A8F-1649-6284-ACFAD5A8DA15}"/>
                </a:ext>
              </a:extLst>
            </p:cNvPr>
            <p:cNvSpPr/>
            <p:nvPr userDrawn="1"/>
          </p:nvSpPr>
          <p:spPr>
            <a:xfrm>
              <a:off x="11426254" y="248898"/>
              <a:ext cx="57600" cy="576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ko-KR" altLang="en-US" sz="160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prstClr val="white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23" name="타원 22">
              <a:extLst>
                <a:ext uri="{FF2B5EF4-FFF2-40B4-BE49-F238E27FC236}">
                  <a16:creationId xmlns:a16="http://schemas.microsoft.com/office/drawing/2014/main" id="{BF3E9267-D3B0-F322-8BDD-60A1AFD00E47}"/>
                </a:ext>
              </a:extLst>
            </p:cNvPr>
            <p:cNvSpPr/>
            <p:nvPr userDrawn="1"/>
          </p:nvSpPr>
          <p:spPr>
            <a:xfrm>
              <a:off x="11533654" y="248898"/>
              <a:ext cx="57600" cy="576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ko-KR" altLang="en-US" sz="160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prstClr val="white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540200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7" r:id="rId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68">
          <p15:clr>
            <a:srgbClr val="F26B43"/>
          </p15:clr>
        </p15:guide>
        <p15:guide id="2" pos="3120">
          <p15:clr>
            <a:srgbClr val="F26B43"/>
          </p15:clr>
        </p15:guide>
        <p15:guide id="3" pos="240">
          <p15:clr>
            <a:srgbClr val="F26B43"/>
          </p15:clr>
        </p15:guide>
        <p15:guide id="4" pos="6000">
          <p15:clr>
            <a:srgbClr val="F26B43"/>
          </p15:clr>
        </p15:guide>
        <p15:guide id="5" orient="horz" pos="4065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9">
            <a:extLst>
              <a:ext uri="{FF2B5EF4-FFF2-40B4-BE49-F238E27FC236}">
                <a16:creationId xmlns:a16="http://schemas.microsoft.com/office/drawing/2014/main" id="{9F82B906-B480-0852-246F-922BDA4EF52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031880" y="6587714"/>
            <a:ext cx="128240" cy="1231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AFCDE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13500000" algn="ctr" rotWithShape="0">
                    <a:srgbClr val="697B8F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pPr algn="ctr"/>
            <a:fld id="{B9BD96D4-FBDC-4909-BFD7-96760582A1EC}" type="slidenum">
              <a:rPr kumimoji="1" lang="en-US" altLang="ko-KR" sz="800" smtClean="0">
                <a:ln>
                  <a:solidFill>
                    <a:srgbClr val="00609F">
                      <a:alpha val="0"/>
                    </a:srgbClr>
                  </a:solidFill>
                </a:ln>
                <a:solidFill>
                  <a:srgbClr val="5F5F5F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pPr algn="ctr"/>
              <a:t>‹#›</a:t>
            </a:fld>
            <a:endParaRPr kumimoji="1" lang="en-US" altLang="ko-KR" sz="800" dirty="0">
              <a:ln>
                <a:solidFill>
                  <a:srgbClr val="00609F">
                    <a:alpha val="0"/>
                  </a:srgbClr>
                </a:solidFill>
              </a:ln>
              <a:solidFill>
                <a:srgbClr val="5F5F5F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9FE9D500-9CDC-13D5-156A-5731D9325E66}"/>
              </a:ext>
            </a:extLst>
          </p:cNvPr>
          <p:cNvGrpSpPr/>
          <p:nvPr userDrawn="1"/>
        </p:nvGrpSpPr>
        <p:grpSpPr>
          <a:xfrm>
            <a:off x="468298" y="6571423"/>
            <a:ext cx="2994356" cy="155693"/>
            <a:chOff x="299815" y="6545448"/>
            <a:chExt cx="2432914" cy="155693"/>
          </a:xfrm>
        </p:grpSpPr>
        <p:sp>
          <p:nvSpPr>
            <p:cNvPr id="8" name="Text Box 9">
              <a:extLst>
                <a:ext uri="{FF2B5EF4-FFF2-40B4-BE49-F238E27FC236}">
                  <a16:creationId xmlns:a16="http://schemas.microsoft.com/office/drawing/2014/main" id="{3780E697-AC35-EDDF-4E4B-ED4F63A09AFD}"/>
                </a:ext>
              </a:extLst>
            </p:cNvPr>
            <p:cNvSpPr txBox="1">
              <a:spLocks noChangeArrowheads="1"/>
            </p:cNvSpPr>
            <p:nvPr userDrawn="1"/>
          </p:nvSpPr>
          <p:spPr bwMode="auto">
            <a:xfrm>
              <a:off x="1323489" y="6585448"/>
              <a:ext cx="1409240" cy="1077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 anchor="ctr" anchorCtr="0">
              <a:spAutoFit/>
            </a:bodyPr>
            <a:lstStyle/>
            <a:p>
              <a:pPr defTabSz="957474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en-US" altLang="ko-KR" sz="700" dirty="0">
                  <a:ln>
                    <a:solidFill>
                      <a:prstClr val="white">
                        <a:lumMod val="75000"/>
                        <a:alpha val="0"/>
                      </a:prstClr>
                    </a:solidFill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Segoe UI" panose="020B0502040204020203" pitchFamily="34" charset="0"/>
                </a:rPr>
                <a:t>| </a:t>
              </a:r>
              <a:r>
                <a:rPr kumimoji="1" lang="ko-KR" altLang="en-US" sz="700" dirty="0">
                  <a:ln>
                    <a:solidFill>
                      <a:prstClr val="white">
                        <a:lumMod val="75000"/>
                        <a:alpha val="0"/>
                      </a:prstClr>
                    </a:solidFill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Segoe UI" panose="020B0502040204020203" pitchFamily="34" charset="0"/>
                </a:rPr>
                <a:t>인천국제공항 통합정보시스템 고도화 구축 사업</a:t>
              </a:r>
            </a:p>
          </p:txBody>
        </p:sp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F867C7DB-6F2F-8438-8EB6-1EE2223D2CE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 bwMode="gray">
            <a:xfrm>
              <a:off x="299815" y="6545448"/>
              <a:ext cx="955164" cy="155693"/>
            </a:xfrm>
            <a:prstGeom prst="rect">
              <a:avLst/>
            </a:prstGeom>
          </p:spPr>
        </p:pic>
      </p:grpSp>
      <p:sp>
        <p:nvSpPr>
          <p:cNvPr id="22" name="Line 4"/>
          <p:cNvSpPr>
            <a:spLocks noChangeShapeType="1"/>
          </p:cNvSpPr>
          <p:nvPr userDrawn="1"/>
        </p:nvSpPr>
        <p:spPr bwMode="auto">
          <a:xfrm>
            <a:off x="0" y="571500"/>
            <a:ext cx="1219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endParaRPr lang="ko-KR" altLang="en-US" sz="1800"/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D34A100D-B537-B83E-0F2C-531635203217}"/>
              </a:ext>
            </a:extLst>
          </p:cNvPr>
          <p:cNvGrpSpPr/>
          <p:nvPr userDrawn="1"/>
        </p:nvGrpSpPr>
        <p:grpSpPr>
          <a:xfrm>
            <a:off x="10719335" y="1"/>
            <a:ext cx="1153026" cy="443379"/>
            <a:chOff x="8516556" y="0"/>
            <a:chExt cx="936833" cy="443379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5A32C599-D17E-32B6-1EE9-346065250115}"/>
                </a:ext>
              </a:extLst>
            </p:cNvPr>
            <p:cNvSpPr txBox="1"/>
            <p:nvPr/>
          </p:nvSpPr>
          <p:spPr>
            <a:xfrm>
              <a:off x="8516556" y="270441"/>
              <a:ext cx="858829" cy="1538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 anchor="ctr">
              <a:spAutoFit/>
            </a:bodyPr>
            <a:lstStyle>
              <a:defPPr>
                <a:defRPr lang="ko-KR"/>
              </a:defPPr>
              <a:lvl1pPr defTabSz="914125" fontAlgn="base" latinLnBrk="0">
                <a:spcBef>
                  <a:spcPct val="0"/>
                </a:spcBef>
                <a:spcAft>
                  <a:spcPts val="200"/>
                </a:spcAft>
                <a:defRPr sz="1100" spc="-2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Arial" charset="0"/>
                </a:defRPr>
              </a:lvl1pPr>
            </a:lstStyle>
            <a:p>
              <a:pPr marL="0" marR="0" lvl="0" indent="0" algn="r" defTabSz="91412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2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0" i="0" u="none" strike="noStrike" kern="1200" cap="none" spc="-40" normalizeH="0" baseline="0" noProof="0" dirty="0">
                  <a:ln>
                    <a:solidFill>
                      <a:srgbClr val="FF0000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KoPub돋움체 Medium" panose="00000600000000000000" pitchFamily="2" charset="-127"/>
                  <a:ea typeface="KoPub돋움체 Medium" panose="00000600000000000000" pitchFamily="2" charset="-127"/>
                  <a:cs typeface="Arial" charset="0"/>
                </a:rPr>
                <a:t>제</a:t>
              </a:r>
              <a:r>
                <a:rPr kumimoji="0" lang="en-US" altLang="ko-KR" sz="1000" b="0" i="0" u="none" strike="noStrike" kern="1200" cap="none" spc="-40" normalizeH="0" baseline="0" noProof="0" dirty="0">
                  <a:ln>
                    <a:solidFill>
                      <a:srgbClr val="FF0000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KoPub돋움체 Medium" panose="00000600000000000000" pitchFamily="2" charset="-127"/>
                  <a:ea typeface="KoPub돋움체 Medium" panose="00000600000000000000" pitchFamily="2" charset="-127"/>
                  <a:cs typeface="Arial" charset="0"/>
                </a:rPr>
                <a:t>3</a:t>
              </a:r>
              <a:r>
                <a:rPr kumimoji="0" lang="ko-KR" altLang="en-US" sz="1000" b="0" i="0" u="none" strike="noStrike" kern="1200" cap="none" spc="-40" normalizeH="0" baseline="0" noProof="0" dirty="0">
                  <a:ln>
                    <a:solidFill>
                      <a:srgbClr val="FF0000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KoPub돋움체 Medium" panose="00000600000000000000" pitchFamily="2" charset="-127"/>
                  <a:ea typeface="KoPub돋움체 Medium" panose="00000600000000000000" pitchFamily="2" charset="-127"/>
                  <a:cs typeface="Arial" charset="0"/>
                </a:rPr>
                <a:t>자 테스트 계획</a:t>
              </a:r>
              <a:r>
                <a:rPr kumimoji="0" lang="en-US" altLang="ko-KR" sz="1000" b="0" i="0" u="none" strike="noStrike" kern="1200" cap="none" spc="-40" normalizeH="0" baseline="0" noProof="0" dirty="0">
                  <a:ln>
                    <a:solidFill>
                      <a:srgbClr val="FF0000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KoPub돋움체 Medium" panose="00000600000000000000" pitchFamily="2" charset="-127"/>
                  <a:ea typeface="KoPub돋움체 Medium" panose="00000600000000000000" pitchFamily="2" charset="-127"/>
                  <a:cs typeface="Arial" charset="0"/>
                </a:rPr>
                <a:t>(</a:t>
              </a:r>
              <a:r>
                <a:rPr kumimoji="0" lang="ko-KR" altLang="en-US" sz="1000" b="0" i="0" u="none" strike="noStrike" kern="1200" cap="none" spc="-40" normalizeH="0" baseline="0" noProof="0" dirty="0">
                  <a:ln>
                    <a:solidFill>
                      <a:srgbClr val="FF0000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KoPub돋움체 Medium" panose="00000600000000000000" pitchFamily="2" charset="-127"/>
                  <a:ea typeface="KoPub돋움체 Medium" panose="00000600000000000000" pitchFamily="2" charset="-127"/>
                  <a:cs typeface="Arial" charset="0"/>
                </a:rPr>
                <a:t>안</a:t>
              </a:r>
              <a:r>
                <a:rPr kumimoji="0" lang="en-US" altLang="ko-KR" sz="1000" b="0" i="0" u="none" strike="noStrike" kern="1200" cap="none" spc="-40" normalizeH="0" baseline="0" noProof="0" dirty="0">
                  <a:ln>
                    <a:solidFill>
                      <a:srgbClr val="FF0000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KoPub돋움체 Medium" panose="00000600000000000000" pitchFamily="2" charset="-127"/>
                  <a:ea typeface="KoPub돋움체 Medium" panose="00000600000000000000" pitchFamily="2" charset="-127"/>
                  <a:cs typeface="Arial" charset="0"/>
                </a:rPr>
                <a:t>)</a:t>
              </a:r>
            </a:p>
          </p:txBody>
        </p:sp>
        <p:cxnSp>
          <p:nvCxnSpPr>
            <p:cNvPr id="30" name="직선 연결선 109">
              <a:extLst>
                <a:ext uri="{FF2B5EF4-FFF2-40B4-BE49-F238E27FC236}">
                  <a16:creationId xmlns:a16="http://schemas.microsoft.com/office/drawing/2014/main" id="{056C6A96-585D-F666-8E00-9B0A66536827}"/>
                </a:ext>
              </a:extLst>
            </p:cNvPr>
            <p:cNvCxnSpPr/>
            <p:nvPr/>
          </p:nvCxnSpPr>
          <p:spPr>
            <a:xfrm>
              <a:off x="9453389" y="0"/>
              <a:ext cx="0" cy="443379"/>
            </a:xfrm>
            <a:prstGeom prst="line">
              <a:avLst/>
            </a:prstGeom>
            <a:ln w="9525" cap="flat">
              <a:solidFill>
                <a:srgbClr val="9AA3A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타원 30">
            <a:extLst>
              <a:ext uri="{FF2B5EF4-FFF2-40B4-BE49-F238E27FC236}">
                <a16:creationId xmlns:a16="http://schemas.microsoft.com/office/drawing/2014/main" id="{5AC935BD-F940-7942-B750-837F8997D518}"/>
              </a:ext>
            </a:extLst>
          </p:cNvPr>
          <p:cNvSpPr/>
          <p:nvPr userDrawn="1"/>
        </p:nvSpPr>
        <p:spPr>
          <a:xfrm>
            <a:off x="11624348" y="171485"/>
            <a:ext cx="70892" cy="57600"/>
          </a:xfrm>
          <a:prstGeom prst="ellipse">
            <a:avLst/>
          </a:prstGeom>
          <a:solidFill>
            <a:srgbClr val="EEF0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0" i="0" u="none" strike="noStrike" kern="1200" cap="none" spc="0" normalizeH="0" baseline="0" noProof="0">
              <a:ln>
                <a:solidFill>
                  <a:srgbClr val="FF0000"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KoPub돋움체 Bold" panose="00000800000000000000" pitchFamily="2" charset="-127"/>
              <a:ea typeface="KoPub돋움체 Bold" panose="00000800000000000000" pitchFamily="2" charset="-127"/>
              <a:cs typeface="+mn-cs"/>
            </a:endParaRPr>
          </a:p>
        </p:txBody>
      </p:sp>
      <p:sp>
        <p:nvSpPr>
          <p:cNvPr id="32" name="타원 31">
            <a:extLst>
              <a:ext uri="{FF2B5EF4-FFF2-40B4-BE49-F238E27FC236}">
                <a16:creationId xmlns:a16="http://schemas.microsoft.com/office/drawing/2014/main" id="{A9B34389-9A8F-1649-6284-ACFAD5A8DA15}"/>
              </a:ext>
            </a:extLst>
          </p:cNvPr>
          <p:cNvSpPr/>
          <p:nvPr userDrawn="1"/>
        </p:nvSpPr>
        <p:spPr>
          <a:xfrm>
            <a:off x="11359979" y="171485"/>
            <a:ext cx="70892" cy="57600"/>
          </a:xfrm>
          <a:prstGeom prst="ellipse">
            <a:avLst/>
          </a:prstGeom>
          <a:solidFill>
            <a:srgbClr val="D8DC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600">
              <a:ln>
                <a:solidFill>
                  <a:srgbClr val="FF0000">
                    <a:alpha val="0"/>
                  </a:srgbClr>
                </a:solidFill>
              </a:ln>
              <a:solidFill>
                <a:prstClr val="white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33" name="타원 32">
            <a:extLst>
              <a:ext uri="{FF2B5EF4-FFF2-40B4-BE49-F238E27FC236}">
                <a16:creationId xmlns:a16="http://schemas.microsoft.com/office/drawing/2014/main" id="{BF3E9267-D3B0-F322-8BDD-60A1AFD00E47}"/>
              </a:ext>
            </a:extLst>
          </p:cNvPr>
          <p:cNvSpPr/>
          <p:nvPr userDrawn="1"/>
        </p:nvSpPr>
        <p:spPr>
          <a:xfrm>
            <a:off x="11492164" y="171485"/>
            <a:ext cx="70892" cy="57600"/>
          </a:xfrm>
          <a:prstGeom prst="ellipse">
            <a:avLst/>
          </a:prstGeom>
          <a:solidFill>
            <a:srgbClr val="1774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600">
              <a:ln>
                <a:solidFill>
                  <a:srgbClr val="FF0000">
                    <a:alpha val="0"/>
                  </a:srgbClr>
                </a:solidFill>
              </a:ln>
              <a:solidFill>
                <a:prstClr val="white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pic>
        <p:nvPicPr>
          <p:cNvPr id="15" name="그림 14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1685" y="6511501"/>
            <a:ext cx="1450873" cy="242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943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40">
          <p15:clr>
            <a:srgbClr val="F26B43"/>
          </p15:clr>
        </p15:guide>
        <p15:guide id="2" pos="6000">
          <p15:clr>
            <a:srgbClr val="F26B43"/>
          </p15:clr>
        </p15:guide>
        <p15:guide id="3" orient="horz" pos="482">
          <p15:clr>
            <a:srgbClr val="F26B43"/>
          </p15:clr>
        </p15:guide>
        <p15:guide id="4" orient="horz" pos="572">
          <p15:clr>
            <a:srgbClr val="F26B43"/>
          </p15:clr>
        </p15:guide>
        <p15:guide id="5" orient="horz" pos="4065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emf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4.png"/><Relationship Id="rId7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11" Type="http://schemas.openxmlformats.org/officeDocument/2006/relationships/image" Target="../media/image21.png"/><Relationship Id="rId5" Type="http://schemas.openxmlformats.org/officeDocument/2006/relationships/image" Target="../media/image16.png"/><Relationship Id="rId10" Type="http://schemas.openxmlformats.org/officeDocument/2006/relationships/image" Target="../media/image20.png"/><Relationship Id="rId4" Type="http://schemas.openxmlformats.org/officeDocument/2006/relationships/image" Target="../media/image15.png"/><Relationship Id="rId9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microsoft.com/office/2014/relationships/chartEx" Target="../charts/chartEx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microsoft.com/office/2014/relationships/chartEx" Target="../charts/chartEx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emf"/><Relationship Id="rId2" Type="http://schemas.openxmlformats.org/officeDocument/2006/relationships/image" Target="../media/image56.emf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emf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601AADF5-7B5D-4FC5-24AD-4BFEA5EC92B6}"/>
              </a:ext>
            </a:extLst>
          </p:cNvPr>
          <p:cNvSpPr/>
          <p:nvPr/>
        </p:nvSpPr>
        <p:spPr bwMode="gray">
          <a:xfrm>
            <a:off x="628206" y="1568095"/>
            <a:ext cx="5256584" cy="1692771"/>
          </a:xfrm>
          <a:prstGeom prst="rect">
            <a:avLst/>
          </a:prstGeom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CCFFFF">
                      <a:alpha val="50000"/>
                    </a:srgbClr>
                  </a:outerShdw>
                </a:effectLst>
              </a14:hiddenEffects>
            </a:ext>
          </a:extLst>
        </p:spPr>
        <p:txBody>
          <a:bodyPr wrap="square" lIns="0" tIns="0" rIns="0" bIns="0" anchor="ctr" anchorCtr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/>
          <a:p>
            <a:pPr defTabSz="685800" fontAlgn="base" latinLnBrk="0">
              <a:lnSpc>
                <a:spcPct val="110000"/>
              </a:lnSpc>
              <a:defRPr/>
            </a:pPr>
            <a:r>
              <a:rPr lang="ko-KR" altLang="en-US" sz="2800" spc="-30" dirty="0">
                <a:ln>
                  <a:solidFill>
                    <a:srgbClr val="9933FF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인천국제공항</a:t>
            </a:r>
          </a:p>
          <a:p>
            <a:pPr defTabSz="685800" fontAlgn="base" latinLnBrk="0">
              <a:lnSpc>
                <a:spcPct val="110000"/>
              </a:lnSpc>
              <a:defRPr/>
            </a:pPr>
            <a:r>
              <a:rPr lang="ko-KR" altLang="en-US" sz="3600" spc="-30" dirty="0">
                <a:ln>
                  <a:solidFill>
                    <a:srgbClr val="9933FF">
                      <a:alpha val="0"/>
                    </a:srgbClr>
                  </a:solidFill>
                </a:ln>
                <a:solidFill>
                  <a:srgbClr val="4472C4">
                    <a:lumMod val="75000"/>
                  </a:srgb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통합정보시스템 고도화</a:t>
            </a:r>
            <a:br>
              <a:rPr lang="en-US" altLang="ko-KR" sz="3600" spc="-30" dirty="0">
                <a:ln>
                  <a:solidFill>
                    <a:srgbClr val="9933FF">
                      <a:alpha val="0"/>
                    </a:srgbClr>
                  </a:solidFill>
                </a:ln>
                <a:solidFill>
                  <a:srgbClr val="4472C4">
                    <a:lumMod val="75000"/>
                  </a:srgb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</a:br>
            <a:r>
              <a:rPr lang="ko-KR" altLang="en-US" sz="3600" spc="-30" dirty="0">
                <a:ln>
                  <a:solidFill>
                    <a:srgbClr val="9933FF">
                      <a:alpha val="0"/>
                    </a:srgbClr>
                  </a:solidFill>
                </a:ln>
                <a:solidFill>
                  <a:srgbClr val="4472C4">
                    <a:lumMod val="75000"/>
                  </a:srgb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구축사업</a:t>
            </a:r>
            <a:endParaRPr lang="en-US" altLang="ko-KR" sz="3600" spc="-30" dirty="0">
              <a:ln>
                <a:solidFill>
                  <a:srgbClr val="9933FF">
                    <a:alpha val="0"/>
                  </a:srgbClr>
                </a:solidFill>
              </a:ln>
              <a:solidFill>
                <a:srgbClr val="4472C4">
                  <a:lumMod val="75000"/>
                </a:srgbClr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223B5E8-A9CC-1E60-922D-D50CC07BB63B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628207" y="707036"/>
            <a:ext cx="1922885" cy="309696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90C92C1E-EAB5-2D3E-D989-AC05435A2A9A}"/>
              </a:ext>
            </a:extLst>
          </p:cNvPr>
          <p:cNvSpPr/>
          <p:nvPr/>
        </p:nvSpPr>
        <p:spPr bwMode="gray">
          <a:xfrm>
            <a:off x="628206" y="3429000"/>
            <a:ext cx="7308097" cy="569387"/>
          </a:xfrm>
          <a:prstGeom prst="rect">
            <a:avLst/>
          </a:prstGeom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CCFFFF">
                      <a:alpha val="50000"/>
                    </a:srgbClr>
                  </a:outerShdw>
                </a:effectLst>
              </a14:hiddenEffects>
            </a:ext>
          </a:extLst>
        </p:spPr>
        <p:txBody>
          <a:bodyPr wrap="square" lIns="0" tIns="0" rIns="0" bIns="0" anchor="ctr" anchorCtr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/>
          <a:p>
            <a:pPr defTabSz="685800" fontAlgn="base" latinLnBrk="0">
              <a:spcBef>
                <a:spcPts val="600"/>
              </a:spcBef>
              <a:spcAft>
                <a:spcPct val="0"/>
              </a:spcAft>
              <a:defRPr/>
            </a:pPr>
            <a:r>
              <a:rPr lang="en-US" altLang="ko-KR" sz="1600" dirty="0">
                <a:ln>
                  <a:solidFill>
                    <a:srgbClr val="9933FF">
                      <a:alpha val="0"/>
                    </a:srgbClr>
                  </a:solidFill>
                </a:ln>
                <a:solidFill>
                  <a:prstClr val="white">
                    <a:lumMod val="50000"/>
                  </a:prstClr>
                </a:solidFill>
                <a:latin typeface="KoPub돋움체 Medium" panose="02020603020101020101" pitchFamily="18" charset="-127"/>
                <a:ea typeface="KoPub돋움체 Medium" panose="02020603020101020101"/>
              </a:rPr>
              <a:t>Iteration2   3</a:t>
            </a:r>
            <a:r>
              <a:rPr lang="ko-KR" altLang="en-US" sz="1600" dirty="0">
                <a:ln>
                  <a:solidFill>
                    <a:srgbClr val="9933FF">
                      <a:alpha val="0"/>
                    </a:srgbClr>
                  </a:solidFill>
                </a:ln>
                <a:solidFill>
                  <a:prstClr val="white">
                    <a:lumMod val="50000"/>
                  </a:prstClr>
                </a:solidFill>
                <a:latin typeface="KoPub돋움체 Medium" panose="02020603020101020101" pitchFamily="18" charset="-127"/>
                <a:ea typeface="KoPub돋움체 Medium" panose="02020603020101020101"/>
              </a:rPr>
              <a:t>차</a:t>
            </a:r>
            <a:endParaRPr lang="en-US" altLang="ko-KR" sz="1600" dirty="0">
              <a:ln>
                <a:solidFill>
                  <a:srgbClr val="9933FF">
                    <a:alpha val="0"/>
                  </a:srgbClr>
                </a:solidFill>
              </a:ln>
              <a:solidFill>
                <a:prstClr val="white">
                  <a:lumMod val="50000"/>
                </a:prstClr>
              </a:solidFill>
              <a:latin typeface="KoPub돋움체 Medium" panose="02020603020101020101" pitchFamily="18" charset="-127"/>
              <a:ea typeface="KoPub돋움체 Medium" panose="02020603020101020101"/>
            </a:endParaRPr>
          </a:p>
          <a:p>
            <a:pPr defTabSz="685800" fontAlgn="base" latinLnBrk="0">
              <a:spcBef>
                <a:spcPts val="600"/>
              </a:spcBef>
              <a:spcAft>
                <a:spcPct val="0"/>
              </a:spcAft>
              <a:defRPr/>
            </a:pPr>
            <a:r>
              <a:rPr lang="en-US" altLang="ko-KR" sz="1600" dirty="0">
                <a:ln>
                  <a:solidFill>
                    <a:srgbClr val="9933FF">
                      <a:alpha val="0"/>
                    </a:srgbClr>
                  </a:solidFill>
                </a:ln>
                <a:solidFill>
                  <a:prstClr val="white">
                    <a:lumMod val="50000"/>
                  </a:prstClr>
                </a:solidFill>
                <a:latin typeface="KoPub돋움체 Medium" panose="02020603020101020101" pitchFamily="18" charset="-127"/>
                <a:ea typeface="KoPub돋움체 Medium" panose="02020603020101020101"/>
              </a:rPr>
              <a:t>  3</a:t>
            </a:r>
            <a:r>
              <a:rPr lang="ko-KR" altLang="en-US" sz="1600" dirty="0">
                <a:ln>
                  <a:solidFill>
                    <a:srgbClr val="9933FF">
                      <a:alpha val="0"/>
                    </a:srgbClr>
                  </a:solidFill>
                </a:ln>
                <a:solidFill>
                  <a:prstClr val="white">
                    <a:lumMod val="50000"/>
                  </a:prstClr>
                </a:solidFill>
                <a:latin typeface="KoPub돋움체 Medium" panose="02020603020101020101" pitchFamily="18" charset="-127"/>
                <a:ea typeface="KoPub돋움체 Medium" panose="02020603020101020101"/>
              </a:rPr>
              <a:t>자 단위테스트 수행 결과 보고 </a:t>
            </a:r>
            <a:r>
              <a:rPr lang="en-US" altLang="ko-KR" sz="1600" dirty="0">
                <a:ln>
                  <a:solidFill>
                    <a:srgbClr val="9933FF">
                      <a:alpha val="0"/>
                    </a:srgbClr>
                  </a:solidFill>
                </a:ln>
                <a:solidFill>
                  <a:prstClr val="white">
                    <a:lumMod val="50000"/>
                  </a:prstClr>
                </a:solidFill>
                <a:latin typeface="KoPub돋움체 Medium" panose="02020603020101020101" pitchFamily="18" charset="-127"/>
                <a:ea typeface="KoPub돋움체 Medium" panose="02020603020101020101"/>
              </a:rPr>
              <a:t>( 04. 03)</a:t>
            </a:r>
          </a:p>
        </p:txBody>
      </p:sp>
    </p:spTree>
    <p:extLst>
      <p:ext uri="{BB962C8B-B14F-4D97-AF65-F5344CB8AC3E}">
        <p14:creationId xmlns:p14="http://schemas.microsoft.com/office/powerpoint/2010/main" val="3739081464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31EDE0-7E00-77A9-70CF-18BACAB57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E4F21C5D-1DEB-E254-59B2-5B2113A45F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892" y="91161"/>
            <a:ext cx="5652516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indent="-354013" defTabSz="957743">
              <a:defRPr sz="2200" spc="-11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9pPr>
          </a:lstStyle>
          <a:p>
            <a:pPr lvl="0" latinLnBrk="0">
              <a:defRPr/>
            </a:pPr>
            <a:r>
              <a:rPr kumimoji="0" lang="ko-KR" altLang="en-US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  <a:r>
              <a:rPr lang="en-US" altLang="ko-KR" sz="2000" b="1" dirty="0">
                <a:solidFill>
                  <a:prstClr val="white"/>
                </a:solidFill>
              </a:rPr>
              <a:t>Contents</a:t>
            </a:r>
            <a:endParaRPr kumimoji="0" lang="en-US" altLang="ko-KR" sz="2000" b="1" i="0" u="none" strike="noStrike" kern="1200" cap="none" spc="-11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5" name="TextBox 27">
            <a:extLst>
              <a:ext uri="{FF2B5EF4-FFF2-40B4-BE49-F238E27FC236}">
                <a16:creationId xmlns:a16="http://schemas.microsoft.com/office/drawing/2014/main" id="{1D345610-EE29-DEBE-CE8D-ABC4EA9F2E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6763" y="944563"/>
            <a:ext cx="10567198" cy="33245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latinLnBrk="0">
              <a:lnSpc>
                <a:spcPct val="120000"/>
              </a:lnSpc>
              <a:spcBef>
                <a:spcPct val="30000"/>
              </a:spcBef>
              <a:buFont typeface="Wingdings" pitchFamily="2" charset="2"/>
              <a:buNone/>
            </a:pPr>
            <a:r>
              <a:rPr lang="en-US" altLang="ko-KR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I .  3</a:t>
            </a:r>
            <a:r>
              <a:rPr lang="ko-KR" altLang="en-US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자 테스트</a:t>
            </a:r>
            <a:r>
              <a:rPr lang="en-US" altLang="ko-KR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altLang="en-US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수행</a:t>
            </a:r>
            <a:endParaRPr lang="en-US" altLang="ko-KR" sz="1600" b="1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latinLnBrk="0">
              <a:lnSpc>
                <a:spcPct val="120000"/>
              </a:lnSpc>
              <a:spcBef>
                <a:spcPct val="30000"/>
              </a:spcBef>
              <a:buFont typeface="Wingdings" pitchFamily="2" charset="2"/>
              <a:buNone/>
            </a:pPr>
            <a:r>
              <a:rPr lang="en-US" altLang="ko-KR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      1. </a:t>
            </a:r>
            <a:r>
              <a:rPr lang="ko-KR" altLang="en-US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개요</a:t>
            </a:r>
            <a:endParaRPr lang="en-US" altLang="ko-KR" sz="1600" b="1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latinLnBrk="0">
              <a:lnSpc>
                <a:spcPct val="120000"/>
              </a:lnSpc>
              <a:spcBef>
                <a:spcPct val="30000"/>
              </a:spcBef>
              <a:buFont typeface="Wingdings" pitchFamily="2" charset="2"/>
              <a:buNone/>
            </a:pPr>
            <a:r>
              <a:rPr lang="en-US" altLang="ko-KR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      2. </a:t>
            </a:r>
            <a:r>
              <a:rPr lang="ko-KR" altLang="en-US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테스트 방법</a:t>
            </a:r>
            <a:endParaRPr lang="en-US" altLang="ko-KR" sz="1600" b="1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latinLnBrk="0">
              <a:lnSpc>
                <a:spcPct val="120000"/>
              </a:lnSpc>
              <a:spcBef>
                <a:spcPct val="30000"/>
              </a:spcBef>
              <a:buFont typeface="Wingdings" pitchFamily="2" charset="2"/>
              <a:buNone/>
            </a:pPr>
            <a:r>
              <a:rPr lang="en-US" altLang="ko-KR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      3. </a:t>
            </a:r>
            <a:r>
              <a:rPr lang="ko-KR" altLang="en-US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테스트 결과 기록</a:t>
            </a:r>
            <a:endParaRPr lang="en-US" altLang="ko-KR" sz="1600" b="1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latinLnBrk="0">
              <a:lnSpc>
                <a:spcPct val="120000"/>
              </a:lnSpc>
              <a:spcBef>
                <a:spcPct val="30000"/>
              </a:spcBef>
              <a:buFont typeface="Wingdings" pitchFamily="2" charset="2"/>
              <a:buNone/>
            </a:pPr>
            <a:endParaRPr lang="en-US" altLang="ko-KR" sz="1600" b="1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latinLnBrk="0">
              <a:lnSpc>
                <a:spcPct val="120000"/>
              </a:lnSpc>
              <a:spcBef>
                <a:spcPct val="30000"/>
              </a:spcBef>
              <a:buFont typeface="Wingdings" pitchFamily="2" charset="2"/>
              <a:buNone/>
            </a:pPr>
            <a:endParaRPr lang="en-US" altLang="ko-KR" sz="1600" b="1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marL="400050" indent="-400050" latinLnBrk="0">
              <a:lnSpc>
                <a:spcPct val="120000"/>
              </a:lnSpc>
              <a:spcBef>
                <a:spcPct val="30000"/>
              </a:spcBef>
              <a:buFont typeface="Wingdings" pitchFamily="2" charset="2"/>
              <a:buAutoNum type="romanUcPeriod" startAt="2"/>
            </a:pPr>
            <a:r>
              <a:rPr lang="ko-KR" altLang="en-US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테스트 수행 결과</a:t>
            </a:r>
            <a:endParaRPr lang="en-US" altLang="ko-KR" sz="1600" b="1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latinLnBrk="0">
              <a:lnSpc>
                <a:spcPct val="120000"/>
              </a:lnSpc>
              <a:spcBef>
                <a:spcPct val="30000"/>
              </a:spcBef>
              <a:buFont typeface="Wingdings" pitchFamily="2" charset="2"/>
              <a:buNone/>
            </a:pPr>
            <a:r>
              <a:rPr lang="en-US" altLang="ko-KR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      1. </a:t>
            </a:r>
            <a:r>
              <a:rPr lang="ko-KR" altLang="en-US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테스트 결과</a:t>
            </a:r>
            <a:endParaRPr lang="en-US" altLang="ko-KR" sz="1600" b="1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latinLnBrk="0">
              <a:lnSpc>
                <a:spcPct val="120000"/>
              </a:lnSpc>
              <a:spcBef>
                <a:spcPct val="30000"/>
              </a:spcBef>
              <a:buFont typeface="Wingdings" pitchFamily="2" charset="2"/>
              <a:buNone/>
            </a:pPr>
            <a:r>
              <a:rPr lang="en-US" altLang="ko-KR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      2. </a:t>
            </a:r>
            <a:r>
              <a:rPr lang="ko-KR" altLang="en-US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결함 조치 현황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19DCDD37-9CA1-4FEA-B80B-744FCAA10F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96036" y="6072188"/>
            <a:ext cx="4292903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indent="-354013" defTabSz="957743">
              <a:defRPr sz="2200" spc="-11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9pPr>
          </a:lstStyle>
          <a:p>
            <a:pPr lvl="0" latinLnBrk="0">
              <a:defRPr/>
            </a:pPr>
            <a:r>
              <a:rPr kumimoji="0" lang="en-US" altLang="ko-KR" sz="12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/>
                </a:solidFill>
                <a:effectLst/>
                <a:uLnTx/>
                <a:uFillTx/>
              </a:rPr>
              <a:t>※  </a:t>
            </a:r>
            <a:r>
              <a:rPr kumimoji="0" lang="ko-KR" altLang="en-US" sz="12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/>
                </a:solidFill>
                <a:effectLst/>
                <a:uLnTx/>
                <a:uFillTx/>
              </a:rPr>
              <a:t>참고  </a:t>
            </a:r>
            <a:r>
              <a:rPr kumimoji="0" lang="en-US" altLang="ko-KR" sz="12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/>
                </a:solidFill>
                <a:effectLst/>
                <a:uLnTx/>
                <a:uFillTx/>
              </a:rPr>
              <a:t>)  </a:t>
            </a:r>
            <a:r>
              <a:rPr kumimoji="0" lang="ko-KR" altLang="en-US" sz="12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/>
                </a:solidFill>
                <a:effectLst/>
                <a:uLnTx/>
                <a:uFillTx/>
              </a:rPr>
              <a:t>테스트 사전 점검결과 </a:t>
            </a:r>
            <a:endParaRPr kumimoji="0" lang="en-US" altLang="ko-KR" sz="1200" b="1" i="0" u="none" strike="noStrike" kern="1200" cap="none" spc="-11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schemeClr val="tx1"/>
              </a:solidFill>
              <a:effectLst/>
              <a:uLnTx/>
              <a:uFillTx/>
            </a:endParaRPr>
          </a:p>
          <a:p>
            <a:pPr lvl="0" latinLnBrk="0">
              <a:defRPr/>
            </a:pPr>
            <a:r>
              <a:rPr kumimoji="0" lang="en-US" altLang="ko-KR" sz="12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/>
                </a:solidFill>
                <a:effectLst/>
                <a:uLnTx/>
                <a:uFillTx/>
              </a:rPr>
              <a:t>※  </a:t>
            </a:r>
            <a:r>
              <a:rPr kumimoji="0" lang="ko-KR" altLang="en-US" sz="12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/>
                </a:solidFill>
                <a:effectLst/>
                <a:uLnTx/>
                <a:uFillTx/>
              </a:rPr>
              <a:t>참고  </a:t>
            </a:r>
            <a:r>
              <a:rPr kumimoji="0" lang="en-US" altLang="ko-KR" sz="12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/>
                </a:solidFill>
                <a:effectLst/>
                <a:uLnTx/>
                <a:uFillTx/>
              </a:rPr>
              <a:t>)  </a:t>
            </a:r>
            <a:r>
              <a:rPr kumimoji="0" lang="ko-KR" altLang="en-US" sz="12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/>
                </a:solidFill>
                <a:effectLst/>
                <a:uLnTx/>
                <a:uFillTx/>
              </a:rPr>
              <a:t>테스트 수행 중</a:t>
            </a:r>
            <a:r>
              <a:rPr kumimoji="0" lang="en-US" altLang="ko-KR" sz="12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/>
                </a:solidFill>
                <a:effectLst/>
                <a:uLnTx/>
                <a:uFillTx/>
              </a:rPr>
              <a:t> </a:t>
            </a:r>
            <a:r>
              <a:rPr kumimoji="0" lang="ko-KR" altLang="en-US" sz="12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/>
                </a:solidFill>
                <a:effectLst/>
                <a:uLnTx/>
                <a:uFillTx/>
              </a:rPr>
              <a:t>테스터 </a:t>
            </a:r>
            <a:r>
              <a:rPr kumimoji="0" lang="en-US" altLang="ko-KR" sz="12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/>
                </a:solidFill>
                <a:effectLst/>
                <a:uLnTx/>
                <a:uFillTx/>
              </a:rPr>
              <a:t>Daily Review  :  </a:t>
            </a:r>
            <a:r>
              <a:rPr kumimoji="0" lang="ko-KR" altLang="en-US" sz="12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/>
                </a:solidFill>
                <a:effectLst/>
                <a:uLnTx/>
                <a:uFillTx/>
              </a:rPr>
              <a:t>문제점  </a:t>
            </a:r>
            <a:r>
              <a:rPr kumimoji="0" lang="en-US" altLang="ko-KR" sz="12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/>
                </a:solidFill>
                <a:effectLst/>
                <a:uLnTx/>
                <a:uFillTx/>
              </a:rPr>
              <a:t>/ </a:t>
            </a:r>
            <a:r>
              <a:rPr kumimoji="0" lang="ko-KR" altLang="en-US" sz="12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/>
                </a:solidFill>
                <a:effectLst/>
                <a:uLnTx/>
                <a:uFillTx/>
              </a:rPr>
              <a:t>개선점</a:t>
            </a:r>
            <a:endParaRPr kumimoji="0" lang="en-US" altLang="ko-KR" sz="1200" b="1" i="0" u="none" strike="noStrike" kern="1200" cap="none" spc="-11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  <p:sp>
        <p:nvSpPr>
          <p:cNvPr id="6" name="TextBox 27">
            <a:extLst>
              <a:ext uri="{FF2B5EF4-FFF2-40B4-BE49-F238E27FC236}">
                <a16:creationId xmlns:a16="http://schemas.microsoft.com/office/drawing/2014/main" id="{3EF01A8C-E72F-4F83-97FD-8A76A9F10C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46319" y="3126494"/>
            <a:ext cx="4018769" cy="25859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latinLnBrk="0">
              <a:lnSpc>
                <a:spcPct val="120000"/>
              </a:lnSpc>
              <a:spcBef>
                <a:spcPct val="30000"/>
              </a:spcBef>
            </a:pPr>
            <a:r>
              <a:rPr lang="en-US" altLang="ko-KR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III.   </a:t>
            </a:r>
            <a:r>
              <a:rPr lang="ko-KR" altLang="en-US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테스트 수행 결과</a:t>
            </a:r>
            <a:endParaRPr lang="en-US" altLang="ko-KR" sz="1600" b="1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latinLnBrk="0">
              <a:lnSpc>
                <a:spcPct val="120000"/>
              </a:lnSpc>
              <a:spcBef>
                <a:spcPct val="30000"/>
              </a:spcBef>
              <a:buFont typeface="Wingdings" pitchFamily="2" charset="2"/>
              <a:buNone/>
            </a:pPr>
            <a:r>
              <a:rPr lang="en-US" altLang="ko-KR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      1. </a:t>
            </a:r>
            <a:r>
              <a:rPr lang="ko-KR" altLang="en-US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유효 결함 현황 분석</a:t>
            </a:r>
            <a:endParaRPr lang="en-US" altLang="ko-KR" sz="1600" b="1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latinLnBrk="0">
              <a:lnSpc>
                <a:spcPct val="120000"/>
              </a:lnSpc>
              <a:spcBef>
                <a:spcPct val="30000"/>
              </a:spcBef>
              <a:buFont typeface="Wingdings" pitchFamily="2" charset="2"/>
              <a:buNone/>
            </a:pPr>
            <a:r>
              <a:rPr lang="en-US" altLang="ko-KR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      2. </a:t>
            </a:r>
            <a:r>
              <a:rPr lang="ko-KR" altLang="en-US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정량적 결함 분석 </a:t>
            </a:r>
            <a:endParaRPr lang="en-US" altLang="ko-KR" sz="1600" b="1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latinLnBrk="0">
              <a:lnSpc>
                <a:spcPct val="120000"/>
              </a:lnSpc>
              <a:spcBef>
                <a:spcPct val="30000"/>
              </a:spcBef>
              <a:buFont typeface="Wingdings" pitchFamily="2" charset="2"/>
              <a:buNone/>
            </a:pPr>
            <a:r>
              <a:rPr lang="en-US" altLang="ko-KR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      3. </a:t>
            </a:r>
            <a:r>
              <a:rPr lang="ko-KR" altLang="en-US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결함 원인 분석</a:t>
            </a:r>
            <a:endParaRPr lang="en-US" altLang="ko-KR" sz="1600" b="1" kern="100" dirty="0"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  <a:p>
            <a:pPr latinLnBrk="0">
              <a:lnSpc>
                <a:spcPct val="120000"/>
              </a:lnSpc>
              <a:spcBef>
                <a:spcPct val="30000"/>
              </a:spcBef>
              <a:buFont typeface="Wingdings" pitchFamily="2" charset="2"/>
              <a:buNone/>
            </a:pPr>
            <a:r>
              <a:rPr lang="en-US" altLang="ko-KR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      4. </a:t>
            </a:r>
            <a:r>
              <a:rPr lang="ko-KR" altLang="ko-KR" sz="16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결함 </a:t>
            </a:r>
            <a:r>
              <a:rPr lang="ko-KR" altLang="en-US" sz="16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사례 </a:t>
            </a:r>
            <a:r>
              <a:rPr lang="en-US" altLang="ko-KR" sz="16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( </a:t>
            </a:r>
            <a:r>
              <a:rPr lang="ko-KR" altLang="en-US" sz="16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심각도별  </a:t>
            </a:r>
            <a:r>
              <a:rPr lang="en-US" altLang="ko-KR" sz="16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)</a:t>
            </a:r>
          </a:p>
          <a:p>
            <a:pPr latinLnBrk="0">
              <a:lnSpc>
                <a:spcPct val="120000"/>
              </a:lnSpc>
              <a:spcBef>
                <a:spcPct val="30000"/>
              </a:spcBef>
              <a:buFont typeface="Wingdings" pitchFamily="2" charset="2"/>
              <a:buNone/>
            </a:pPr>
            <a:r>
              <a:rPr lang="en-US" altLang="ko-KR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      5. </a:t>
            </a:r>
            <a:r>
              <a:rPr lang="ko-KR" altLang="ko-KR" sz="16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결함 </a:t>
            </a:r>
            <a:r>
              <a:rPr lang="ko-KR" altLang="en-US" sz="16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사례 </a:t>
            </a:r>
            <a:r>
              <a:rPr lang="en-US" altLang="ko-KR" sz="16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( </a:t>
            </a:r>
            <a:r>
              <a:rPr lang="ko-KR" altLang="en-US" sz="16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유형별  </a:t>
            </a:r>
            <a:r>
              <a:rPr lang="en-US" altLang="ko-KR" sz="16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) </a:t>
            </a:r>
          </a:p>
          <a:p>
            <a:pPr latinLnBrk="0">
              <a:lnSpc>
                <a:spcPct val="120000"/>
              </a:lnSpc>
              <a:spcBef>
                <a:spcPct val="30000"/>
              </a:spcBef>
              <a:buFont typeface="Wingdings" pitchFamily="2" charset="2"/>
              <a:buNone/>
            </a:pPr>
            <a:r>
              <a:rPr lang="en-US" altLang="ko-KR" sz="16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      6. </a:t>
            </a:r>
            <a:r>
              <a:rPr lang="ko-KR" altLang="ko-KR" sz="16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재발 방지 방안</a:t>
            </a:r>
            <a:endParaRPr lang="en-US" altLang="ko-KR" sz="1600" b="1" kern="100" dirty="0"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7503414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">
            <a:extLst>
              <a:ext uri="{FF2B5EF4-FFF2-40B4-BE49-F238E27FC236}">
                <a16:creationId xmlns:a16="http://schemas.microsoft.com/office/drawing/2014/main" id="{C9ED3EB1-9AB1-4FBA-E43B-912930EB48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892" y="91161"/>
            <a:ext cx="5652516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indent="-354013" defTabSz="957743">
              <a:defRPr sz="2200" spc="-11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9pPr>
          </a:lstStyle>
          <a:p>
            <a:pPr lvl="0" latinLnBrk="0">
              <a:defRPr/>
            </a:pPr>
            <a:r>
              <a:rPr kumimoji="0" lang="ko-KR" altLang="en-US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  <a:r>
              <a:rPr kumimoji="0" lang="en-US" altLang="ko-KR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I - 1.</a:t>
            </a:r>
            <a:r>
              <a:rPr kumimoji="0" lang="ko-KR" altLang="en-US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 개요</a:t>
            </a:r>
            <a:endParaRPr kumimoji="0" lang="en-US" altLang="ko-KR" sz="2000" b="1" i="0" u="none" strike="noStrike" kern="1200" cap="none" spc="-11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8" name="TextBox 27"/>
          <p:cNvSpPr txBox="1">
            <a:spLocks noChangeArrowheads="1"/>
          </p:cNvSpPr>
          <p:nvPr/>
        </p:nvSpPr>
        <p:spPr bwMode="auto">
          <a:xfrm>
            <a:off x="399351" y="692696"/>
            <a:ext cx="11470595" cy="6052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latinLnBrk="0">
              <a:lnSpc>
                <a:spcPts val="2000"/>
              </a:lnSpc>
              <a:spcBef>
                <a:spcPct val="30000"/>
              </a:spcBef>
            </a:pPr>
            <a:r>
              <a:rPr lang="ko-KR" altLang="en-US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통합정보시스템 개발완료 된 기능에 대해 </a:t>
            </a:r>
            <a:r>
              <a:rPr lang="en-US" altLang="ko-KR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3</a:t>
            </a:r>
            <a:r>
              <a:rPr lang="ko-KR" altLang="en-US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자 단위테스트를 통해 기능 적합성 및 사용자 사용성 측면에서 취약한 부분을 재점검하고 보완하여 개발 품질 수준을 높이고자 함</a:t>
            </a:r>
          </a:p>
        </p:txBody>
      </p:sp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471360" y="1661045"/>
            <a:ext cx="5242872" cy="10618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1" lang="en-US" altLang="ko-KR" sz="1400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굴림" charset="-127"/>
              </a:rPr>
              <a:t> 3</a:t>
            </a:r>
            <a:r>
              <a:rPr kumimoji="1" lang="ko-KR" altLang="en-US" sz="1400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굴림" charset="-127"/>
              </a:rPr>
              <a:t>자 관점의 독립적인 테스트를 통한 현재 품질수준을 확인</a:t>
            </a:r>
            <a:endParaRPr kumimoji="1" lang="en-US" altLang="ko-KR" sz="1400" dirty="0">
              <a:solidFill>
                <a:srgbClr val="000000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  <a:cs typeface="굴림" charset="-127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1" lang="ko-KR" altLang="en-US" sz="1400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굴림" charset="-127"/>
              </a:rPr>
              <a:t> 주요 기능에 대한 취약점을 사전 노출하여 고객 </a:t>
            </a:r>
            <a:r>
              <a:rPr kumimoji="1" lang="en-US" altLang="ko-KR" sz="1400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굴림" charset="-127"/>
              </a:rPr>
              <a:t>release </a:t>
            </a:r>
            <a:r>
              <a:rPr kumimoji="1" lang="ko-KR" altLang="en-US" sz="1400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굴림" charset="-127"/>
              </a:rPr>
              <a:t>전</a:t>
            </a:r>
            <a:br>
              <a:rPr kumimoji="1" lang="en-US" altLang="ko-KR" sz="1400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굴림" charset="-127"/>
              </a:rPr>
            </a:br>
            <a:r>
              <a:rPr kumimoji="1" lang="en-US" altLang="ko-KR" sz="1400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굴림" charset="-127"/>
              </a:rPr>
              <a:t> </a:t>
            </a:r>
            <a:r>
              <a:rPr kumimoji="1" lang="ko-KR" altLang="en-US" sz="1400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굴림" charset="-127"/>
              </a:rPr>
              <a:t> 신뢰성 있는 품질 수준의 확보 </a:t>
            </a:r>
            <a:endParaRPr kumimoji="1" lang="en-US" altLang="ko-KR" sz="1400" dirty="0">
              <a:solidFill>
                <a:srgbClr val="000000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  <a:cs typeface="굴림" charset="-127"/>
            </a:endParaRPr>
          </a:p>
        </p:txBody>
      </p:sp>
      <p:sp>
        <p:nvSpPr>
          <p:cNvPr id="10" name="Rectangle 4"/>
          <p:cNvSpPr>
            <a:spLocks noChangeArrowheads="1"/>
          </p:cNvSpPr>
          <p:nvPr/>
        </p:nvSpPr>
        <p:spPr bwMode="auto">
          <a:xfrm>
            <a:off x="471360" y="3244304"/>
            <a:ext cx="4968552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1" lang="ko-KR" altLang="en-US" sz="1400" b="1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굴림" charset="-127"/>
              </a:rPr>
              <a:t> 기능 확인</a:t>
            </a:r>
            <a:endParaRPr kumimoji="1" lang="en-US" altLang="ko-KR" sz="1400" b="1" dirty="0">
              <a:solidFill>
                <a:srgbClr val="000000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  <a:cs typeface="굴림" charset="-127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굴림" charset="-127"/>
              </a:rPr>
              <a:t>    </a:t>
            </a:r>
            <a:r>
              <a:rPr kumimoji="1" lang="ko-KR" altLang="en-US" sz="1400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굴림" charset="-127"/>
              </a:rPr>
              <a:t>테스트 시나리오 기반한 기능 및 정상 동작 여부 확인</a:t>
            </a:r>
            <a:endParaRPr kumimoji="1" lang="en-US" altLang="ko-KR" sz="1400" dirty="0">
              <a:solidFill>
                <a:srgbClr val="000000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  <a:cs typeface="굴림" charset="-127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1" lang="en-US" altLang="ko-KR" sz="1400" b="1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굴림" charset="-127"/>
              </a:rPr>
              <a:t> </a:t>
            </a:r>
            <a:r>
              <a:rPr kumimoji="1" lang="ko-KR" altLang="en-US" sz="1400" b="1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굴림" charset="-127"/>
              </a:rPr>
              <a:t>사용성 검증</a:t>
            </a:r>
            <a:endParaRPr kumimoji="1" lang="en-US" altLang="ko-KR" sz="1400" b="1" dirty="0">
              <a:solidFill>
                <a:srgbClr val="000000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  <a:cs typeface="굴림" charset="-127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  <a:cs typeface="굴림" charset="-127"/>
              </a:rPr>
              <a:t>    실 사용자 관점에서 사용 편의성 및 직관성</a:t>
            </a:r>
            <a:r>
              <a:rPr kumimoji="1"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  <a:cs typeface="굴림" charset="-127"/>
              </a:rPr>
              <a:t>, </a:t>
            </a:r>
            <a:r>
              <a:rPr kumimoji="1"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  <a:cs typeface="굴림" charset="-127"/>
              </a:rPr>
              <a:t>사용성 검증</a:t>
            </a:r>
            <a:endParaRPr kumimoji="1" lang="en-US" altLang="ko-KR" sz="1400" dirty="0">
              <a:latin typeface="KoPub돋움체 Medium" panose="00000600000000000000" pitchFamily="2" charset="-127"/>
              <a:ea typeface="KoPub돋움체 Medium" panose="00000600000000000000" pitchFamily="2" charset="-127"/>
              <a:cs typeface="굴림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71360" y="1338511"/>
            <a:ext cx="3023578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sym typeface="Wingdings"/>
              </a:rPr>
              <a:t> </a:t>
            </a:r>
            <a:r>
              <a:rPr lang="ko-KR" altLang="en-US" sz="1600" b="1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목적</a:t>
            </a:r>
            <a:endParaRPr lang="en-US" altLang="ko-KR" sz="1600" b="1" dirty="0">
              <a:solidFill>
                <a:srgbClr val="000000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cxnSp>
        <p:nvCxnSpPr>
          <p:cNvPr id="13" name="직선 연결선 12"/>
          <p:cNvCxnSpPr/>
          <p:nvPr/>
        </p:nvCxnSpPr>
        <p:spPr>
          <a:xfrm>
            <a:off x="558938" y="1618379"/>
            <a:ext cx="4680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71360" y="2945731"/>
            <a:ext cx="3023578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sym typeface="Wingdings"/>
              </a:rPr>
              <a:t> 품질 측면의 검증 사항</a:t>
            </a:r>
            <a:endParaRPr lang="en-US" altLang="ko-KR" sz="1600" b="1" dirty="0">
              <a:solidFill>
                <a:srgbClr val="000000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cxnSp>
        <p:nvCxnSpPr>
          <p:cNvPr id="15" name="직선 연결선 14"/>
          <p:cNvCxnSpPr/>
          <p:nvPr/>
        </p:nvCxnSpPr>
        <p:spPr>
          <a:xfrm>
            <a:off x="558938" y="3225599"/>
            <a:ext cx="4680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320556" y="1338915"/>
            <a:ext cx="3168352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sym typeface="Wingdings"/>
              </a:rPr>
              <a:t> 테스트 일정 및 조직</a:t>
            </a:r>
            <a:endParaRPr lang="en-US" altLang="ko-KR" sz="1600" b="1" dirty="0">
              <a:solidFill>
                <a:srgbClr val="000000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cxnSp>
        <p:nvCxnSpPr>
          <p:cNvPr id="17" name="직선 연결선 16"/>
          <p:cNvCxnSpPr/>
          <p:nvPr/>
        </p:nvCxnSpPr>
        <p:spPr>
          <a:xfrm>
            <a:off x="6408134" y="1618783"/>
            <a:ext cx="4680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320555" y="1665769"/>
            <a:ext cx="4904887" cy="291073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87313" indent="-87313" latinLnBrk="0">
              <a:lnSpc>
                <a:spcPct val="120000"/>
              </a:lnSpc>
              <a:spcBef>
                <a:spcPct val="30000"/>
              </a:spcBef>
              <a:buFont typeface="Arial" pitchFamily="34" charset="0"/>
              <a:buChar char="•"/>
            </a:pPr>
            <a:r>
              <a:rPr lang="ko-KR" altLang="en-US" sz="14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일정 </a:t>
            </a:r>
            <a:r>
              <a:rPr lang="en-US" altLang="ko-KR" sz="14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:  03/23 ~ 03/27 (5</a:t>
            </a:r>
            <a:r>
              <a:rPr lang="ko-KR" altLang="en-US" sz="14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일</a:t>
            </a:r>
            <a:r>
              <a:rPr lang="en-US" altLang="ko-KR" sz="14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)</a:t>
            </a:r>
          </a:p>
          <a:p>
            <a:pPr marL="87313" indent="-87313" latinLnBrk="0">
              <a:lnSpc>
                <a:spcPct val="120000"/>
              </a:lnSpc>
              <a:spcBef>
                <a:spcPct val="30000"/>
              </a:spcBef>
            </a:pPr>
            <a:r>
              <a:rPr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  </a:t>
            </a:r>
            <a:r>
              <a:rPr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. </a:t>
            </a:r>
            <a:r>
              <a:rPr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신규기능검증 수행 </a:t>
            </a:r>
            <a:r>
              <a:rPr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(440</a:t>
            </a:r>
            <a:r>
              <a:rPr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건 시나리오</a:t>
            </a:r>
            <a:r>
              <a:rPr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) </a:t>
            </a:r>
          </a:p>
          <a:p>
            <a:pPr marL="87313" indent="-87313" latinLnBrk="0">
              <a:lnSpc>
                <a:spcPct val="120000"/>
              </a:lnSpc>
              <a:spcBef>
                <a:spcPct val="30000"/>
              </a:spcBef>
            </a:pPr>
            <a:r>
              <a:rPr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     </a:t>
            </a:r>
            <a:r>
              <a:rPr lang="en-US" altLang="ko-KR" sz="14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* </a:t>
            </a:r>
            <a:r>
              <a:rPr lang="ko-KR" altLang="en-US" sz="14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테스트 성공률 및 결함 현황</a:t>
            </a:r>
            <a:r>
              <a:rPr lang="en-US" altLang="ko-KR" sz="14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(04/02, 08:00 </a:t>
            </a:r>
            <a:r>
              <a:rPr lang="ko-KR" altLang="en-US" sz="14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기준</a:t>
            </a:r>
            <a:r>
              <a:rPr lang="en-US" altLang="ko-KR" sz="14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)</a:t>
            </a:r>
          </a:p>
          <a:p>
            <a:pPr marL="87313" indent="-87313" latinLnBrk="0">
              <a:lnSpc>
                <a:spcPct val="120000"/>
              </a:lnSpc>
              <a:spcBef>
                <a:spcPct val="30000"/>
              </a:spcBef>
            </a:pPr>
            <a:r>
              <a:rPr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  . </a:t>
            </a:r>
            <a:r>
              <a:rPr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리뷰 </a:t>
            </a:r>
            <a:r>
              <a:rPr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(04/03)</a:t>
            </a:r>
            <a:r>
              <a:rPr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endParaRPr lang="en-US" altLang="ko-KR" sz="14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marL="87313" indent="-87313" latinLnBrk="0">
              <a:lnSpc>
                <a:spcPct val="120000"/>
              </a:lnSpc>
              <a:spcBef>
                <a:spcPct val="30000"/>
              </a:spcBef>
            </a:pPr>
            <a:r>
              <a:rPr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  . </a:t>
            </a:r>
            <a:r>
              <a:rPr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결함 조치</a:t>
            </a:r>
            <a:r>
              <a:rPr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(~04/03)</a:t>
            </a:r>
          </a:p>
          <a:p>
            <a:pPr marL="87313" indent="-87313" latinLnBrk="0">
              <a:lnSpc>
                <a:spcPct val="120000"/>
              </a:lnSpc>
              <a:spcBef>
                <a:spcPct val="30000"/>
              </a:spcBef>
              <a:buFont typeface="Arial" pitchFamily="34" charset="0"/>
              <a:buChar char="•"/>
            </a:pPr>
            <a:r>
              <a:rPr lang="en-US" altLang="ko-KR" sz="14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Tester (6</a:t>
            </a:r>
            <a:r>
              <a:rPr lang="ko-KR" altLang="en-US" sz="14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명</a:t>
            </a:r>
            <a:r>
              <a:rPr lang="en-US" altLang="ko-KR" sz="14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)</a:t>
            </a:r>
          </a:p>
          <a:p>
            <a:pPr marL="182563" lvl="1" indent="-87313" latinLnBrk="0">
              <a:lnSpc>
                <a:spcPct val="120000"/>
              </a:lnSpc>
              <a:spcBef>
                <a:spcPct val="30000"/>
              </a:spcBef>
            </a:pPr>
            <a:r>
              <a:rPr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- </a:t>
            </a:r>
            <a:r>
              <a:rPr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윤성훈 차장</a:t>
            </a:r>
            <a:r>
              <a:rPr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, </a:t>
            </a:r>
            <a:r>
              <a:rPr lang="ko-KR" altLang="en-US" sz="1400" dirty="0" err="1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김철현</a:t>
            </a:r>
            <a:r>
              <a:rPr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차장</a:t>
            </a:r>
            <a:r>
              <a:rPr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,</a:t>
            </a:r>
          </a:p>
          <a:p>
            <a:pPr marL="182563" lvl="1" indent="-87313" latinLnBrk="0">
              <a:lnSpc>
                <a:spcPct val="120000"/>
              </a:lnSpc>
              <a:spcBef>
                <a:spcPct val="30000"/>
              </a:spcBef>
            </a:pPr>
            <a:r>
              <a:rPr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   </a:t>
            </a:r>
            <a:r>
              <a:rPr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박선용 차장</a:t>
            </a:r>
            <a:r>
              <a:rPr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, </a:t>
            </a:r>
            <a:r>
              <a:rPr lang="ko-KR" altLang="en-US" sz="1400" dirty="0" err="1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최유림</a:t>
            </a:r>
            <a:r>
              <a:rPr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과장</a:t>
            </a:r>
            <a:endParaRPr lang="en-US" altLang="ko-KR" sz="14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marL="182563" lvl="1" indent="-87313" latinLnBrk="0">
              <a:lnSpc>
                <a:spcPct val="120000"/>
              </a:lnSpc>
              <a:spcBef>
                <a:spcPct val="30000"/>
              </a:spcBef>
            </a:pPr>
            <a:r>
              <a:rPr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- </a:t>
            </a:r>
            <a:r>
              <a:rPr lang="ko-KR" altLang="en-US" sz="1400" dirty="0" err="1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김승무</a:t>
            </a:r>
            <a:r>
              <a:rPr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위원</a:t>
            </a:r>
            <a:r>
              <a:rPr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, </a:t>
            </a:r>
            <a:r>
              <a:rPr lang="ko-KR" altLang="en-US" sz="1400" dirty="0" err="1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최중혁</a:t>
            </a:r>
            <a:r>
              <a:rPr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사원</a:t>
            </a:r>
            <a:endParaRPr lang="en-US" altLang="ko-KR" sz="14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20" name="Rectangle 4"/>
          <p:cNvSpPr>
            <a:spLocks noChangeArrowheads="1"/>
          </p:cNvSpPr>
          <p:nvPr/>
        </p:nvSpPr>
        <p:spPr bwMode="auto">
          <a:xfrm>
            <a:off x="471360" y="5116848"/>
            <a:ext cx="10529196" cy="13531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총 </a:t>
            </a:r>
            <a:r>
              <a:rPr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17</a:t>
            </a:r>
            <a:r>
              <a:rPr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개 업무</a:t>
            </a:r>
            <a:r>
              <a:rPr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kumimoji="1"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  <a:cs typeface="굴림" charset="-127"/>
              </a:rPr>
              <a:t>온라인</a:t>
            </a:r>
            <a:r>
              <a:rPr kumimoji="1"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  <a:cs typeface="굴림" charset="-127"/>
              </a:rPr>
              <a:t>(</a:t>
            </a:r>
            <a:r>
              <a:rPr kumimoji="1" lang="ko-KR" altLang="en-US" sz="1400" dirty="0" err="1">
                <a:latin typeface="KoPub돋움체 Medium" panose="00000600000000000000" pitchFamily="2" charset="-127"/>
                <a:ea typeface="KoPub돋움체 Medium" panose="00000600000000000000" pitchFamily="2" charset="-127"/>
                <a:cs typeface="굴림" charset="-127"/>
              </a:rPr>
              <a:t>화면기준</a:t>
            </a:r>
            <a:r>
              <a:rPr kumimoji="1"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  <a:cs typeface="굴림" charset="-127"/>
              </a:rPr>
              <a:t>), </a:t>
            </a:r>
            <a:r>
              <a:rPr kumimoji="1"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  <a:cs typeface="굴림" charset="-127"/>
              </a:rPr>
              <a:t>함수</a:t>
            </a:r>
            <a:r>
              <a:rPr kumimoji="1"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  <a:cs typeface="굴림" charset="-127"/>
              </a:rPr>
              <a:t>/</a:t>
            </a:r>
            <a:r>
              <a:rPr kumimoji="1"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  <a:cs typeface="굴림" charset="-127"/>
              </a:rPr>
              <a:t>프로시저 </a:t>
            </a:r>
            <a:r>
              <a:rPr kumimoji="1"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  <a:cs typeface="굴림" charset="-127"/>
              </a:rPr>
              <a:t>: 440 </a:t>
            </a:r>
            <a:r>
              <a:rPr kumimoji="1"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  <a:cs typeface="굴림" charset="-127"/>
              </a:rPr>
              <a:t>건</a:t>
            </a:r>
            <a:endParaRPr lang="en-US" altLang="ko-KR" sz="14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 -  </a:t>
            </a:r>
            <a:r>
              <a:rPr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운항정보관리 </a:t>
            </a:r>
            <a:r>
              <a:rPr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: </a:t>
            </a:r>
            <a:r>
              <a:rPr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운항계획</a:t>
            </a:r>
            <a:r>
              <a:rPr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, </a:t>
            </a:r>
            <a:r>
              <a:rPr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자원배정</a:t>
            </a:r>
            <a:r>
              <a:rPr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, </a:t>
            </a:r>
            <a:r>
              <a:rPr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비상계획</a:t>
            </a:r>
            <a:r>
              <a:rPr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, A-CDM, </a:t>
            </a:r>
            <a:r>
              <a:rPr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공통관리</a:t>
            </a:r>
            <a:r>
              <a:rPr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,</a:t>
            </a:r>
            <a:r>
              <a:rPr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항공기관제 </a:t>
            </a:r>
            <a:endParaRPr lang="en-US" altLang="ko-KR" sz="14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 -  </a:t>
            </a:r>
            <a:r>
              <a:rPr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공항운영관리 </a:t>
            </a:r>
            <a:r>
              <a:rPr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: </a:t>
            </a:r>
            <a:r>
              <a:rPr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예측관리</a:t>
            </a:r>
            <a:r>
              <a:rPr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, </a:t>
            </a:r>
            <a:r>
              <a:rPr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항공보안</a:t>
            </a:r>
            <a:r>
              <a:rPr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, </a:t>
            </a:r>
            <a:r>
              <a:rPr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공항운영</a:t>
            </a:r>
            <a:r>
              <a:rPr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, </a:t>
            </a:r>
            <a:r>
              <a:rPr lang="ko-KR" altLang="en-US" sz="1400" dirty="0" err="1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항공통계포털</a:t>
            </a:r>
            <a:r>
              <a:rPr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, </a:t>
            </a:r>
            <a:r>
              <a:rPr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공통관리 </a:t>
            </a:r>
            <a:endParaRPr lang="en-US" altLang="ko-KR" sz="14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 - </a:t>
            </a:r>
            <a:r>
              <a:rPr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상용 및 모바일 </a:t>
            </a:r>
            <a:r>
              <a:rPr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: </a:t>
            </a:r>
            <a:r>
              <a:rPr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자원배정엔진</a:t>
            </a:r>
            <a:r>
              <a:rPr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, </a:t>
            </a:r>
            <a:r>
              <a:rPr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자원배정차트</a:t>
            </a:r>
            <a:r>
              <a:rPr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, SLOT , PUSH, WES, MES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1360" y="4794310"/>
            <a:ext cx="3023578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sym typeface="Wingdings"/>
              </a:rPr>
              <a:t> 테스트 대상</a:t>
            </a:r>
            <a:endParaRPr lang="en-US" altLang="ko-KR" sz="1600" b="1" dirty="0">
              <a:solidFill>
                <a:srgbClr val="000000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cxnSp>
        <p:nvCxnSpPr>
          <p:cNvPr id="24" name="직선 연결선 23"/>
          <p:cNvCxnSpPr>
            <a:cxnSpLocks/>
          </p:cNvCxnSpPr>
          <p:nvPr/>
        </p:nvCxnSpPr>
        <p:spPr>
          <a:xfrm>
            <a:off x="558938" y="5074178"/>
            <a:ext cx="10529196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6092993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AAED8090-E958-4CF2-A6E4-68D7741CAC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695205"/>
            <a:ext cx="5655226" cy="4392553"/>
          </a:xfrm>
          <a:prstGeom prst="rect">
            <a:avLst/>
          </a:prstGeom>
        </p:spPr>
      </p:pic>
      <p:sp>
        <p:nvSpPr>
          <p:cNvPr id="23" name="Rectangle 2">
            <a:extLst>
              <a:ext uri="{FF2B5EF4-FFF2-40B4-BE49-F238E27FC236}">
                <a16:creationId xmlns:a16="http://schemas.microsoft.com/office/drawing/2014/main" id="{C9ED3EB1-9AB1-4FBA-E43B-912930EB48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892" y="91161"/>
            <a:ext cx="5652516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indent="-354013" defTabSz="957743">
              <a:defRPr sz="2200" spc="-11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9pPr>
          </a:lstStyle>
          <a:p>
            <a:pPr lvl="0" latinLnBrk="0">
              <a:defRPr/>
            </a:pPr>
            <a:r>
              <a:rPr kumimoji="0" lang="ko-KR" altLang="en-US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  <a:r>
              <a:rPr kumimoji="0" lang="en-US" altLang="ko-KR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I - 2.</a:t>
            </a:r>
            <a:r>
              <a:rPr kumimoji="0" lang="ko-KR" altLang="en-US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  <a:r>
              <a:rPr lang="ko-KR" altLang="en-US" sz="2000" b="1" dirty="0">
                <a:solidFill>
                  <a:prstClr val="white"/>
                </a:solidFill>
              </a:rPr>
              <a:t>테스트 방법 </a:t>
            </a:r>
            <a:endParaRPr kumimoji="0" lang="en-US" altLang="ko-KR" sz="2000" b="1" i="0" u="none" strike="noStrike" kern="1200" cap="none" spc="-11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8" name="TextBox 27"/>
          <p:cNvSpPr txBox="1">
            <a:spLocks noChangeArrowheads="1"/>
          </p:cNvSpPr>
          <p:nvPr/>
        </p:nvSpPr>
        <p:spPr bwMode="auto">
          <a:xfrm>
            <a:off x="315412" y="764892"/>
            <a:ext cx="5652516" cy="3699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latinLnBrk="0">
              <a:lnSpc>
                <a:spcPct val="120000"/>
              </a:lnSpc>
              <a:spcBef>
                <a:spcPct val="30000"/>
              </a:spcBef>
              <a:buFont typeface="Wingdings" pitchFamily="2" charset="2"/>
              <a:buNone/>
            </a:pPr>
            <a:r>
              <a:rPr lang="ko-KR" altLang="en-US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테스트결과서를 기반으로 테스트케이스에 대하여 테스트 진행 </a:t>
            </a:r>
          </a:p>
        </p:txBody>
      </p:sp>
      <p:sp>
        <p:nvSpPr>
          <p:cNvPr id="6" name="TextBox 27"/>
          <p:cNvSpPr txBox="1">
            <a:spLocks noChangeArrowheads="1"/>
          </p:cNvSpPr>
          <p:nvPr/>
        </p:nvSpPr>
        <p:spPr bwMode="auto">
          <a:xfrm>
            <a:off x="6297561" y="770242"/>
            <a:ext cx="5021825" cy="7392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latinLnBrk="0">
              <a:lnSpc>
                <a:spcPct val="120000"/>
              </a:lnSpc>
              <a:spcBef>
                <a:spcPct val="30000"/>
              </a:spcBef>
              <a:buFont typeface="Wingdings" pitchFamily="2" charset="2"/>
              <a:buNone/>
            </a:pPr>
            <a:r>
              <a:rPr lang="en-US" altLang="ko-KR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TMS(</a:t>
            </a:r>
            <a:r>
              <a:rPr lang="ko-KR" altLang="en-US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테스트관리시스템</a:t>
            </a:r>
            <a:r>
              <a:rPr lang="en-US" altLang="ko-KR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) </a:t>
            </a:r>
            <a:r>
              <a:rPr lang="ko-KR" altLang="en-US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에 결함 등재 후 관리</a:t>
            </a:r>
            <a:endParaRPr lang="en-US" altLang="ko-KR" sz="1600" b="1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latinLnBrk="0">
              <a:lnSpc>
                <a:spcPct val="120000"/>
              </a:lnSpc>
              <a:spcBef>
                <a:spcPct val="30000"/>
              </a:spcBef>
              <a:buFont typeface="Wingdings" pitchFamily="2" charset="2"/>
              <a:buNone/>
            </a:pPr>
            <a:r>
              <a:rPr lang="ko-KR" altLang="en-US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테스트 차수 </a:t>
            </a:r>
            <a:r>
              <a:rPr lang="en-US" altLang="ko-KR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: 2-3</a:t>
            </a:r>
            <a:r>
              <a:rPr lang="ko-KR" altLang="en-US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차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38DF432-CEE5-46BD-AF34-7AE02AB63619}"/>
              </a:ext>
            </a:extLst>
          </p:cNvPr>
          <p:cNvSpPr/>
          <p:nvPr/>
        </p:nvSpPr>
        <p:spPr>
          <a:xfrm>
            <a:off x="6221052" y="2388058"/>
            <a:ext cx="1066439" cy="24430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FF0000"/>
              </a:solidFill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5ED90D6F-324B-410B-8FB5-61815C192C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99" y="1695205"/>
            <a:ext cx="5033319" cy="2239192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67747366-7E39-4825-913D-0D4707F872C2}"/>
              </a:ext>
            </a:extLst>
          </p:cNvPr>
          <p:cNvSpPr/>
          <p:nvPr/>
        </p:nvSpPr>
        <p:spPr>
          <a:xfrm>
            <a:off x="503550" y="2851744"/>
            <a:ext cx="5126044" cy="131385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918721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D41ABBB5-6B5F-4A50-BABB-12F39334F1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1968" y="1382664"/>
            <a:ext cx="6688507" cy="5048996"/>
          </a:xfrm>
          <a:prstGeom prst="rect">
            <a:avLst/>
          </a:prstGeom>
        </p:spPr>
      </p:pic>
      <p:sp>
        <p:nvSpPr>
          <p:cNvPr id="23" name="Rectangle 2">
            <a:extLst>
              <a:ext uri="{FF2B5EF4-FFF2-40B4-BE49-F238E27FC236}">
                <a16:creationId xmlns:a16="http://schemas.microsoft.com/office/drawing/2014/main" id="{C9ED3EB1-9AB1-4FBA-E43B-912930EB48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892" y="91161"/>
            <a:ext cx="5652516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indent="-354013" defTabSz="957743">
              <a:defRPr sz="2200" spc="-11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9pPr>
          </a:lstStyle>
          <a:p>
            <a:pPr lvl="0" latinLnBrk="0">
              <a:defRPr/>
            </a:pPr>
            <a:r>
              <a:rPr kumimoji="0" lang="ko-KR" altLang="en-US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  <a:r>
              <a:rPr kumimoji="0" lang="en-US" altLang="ko-KR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1 - 3.</a:t>
            </a:r>
            <a:r>
              <a:rPr kumimoji="0" lang="ko-KR" altLang="en-US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  <a:r>
              <a:rPr lang="ko-KR" altLang="en-US" sz="2000" b="1" dirty="0">
                <a:solidFill>
                  <a:prstClr val="white"/>
                </a:solidFill>
              </a:rPr>
              <a:t>테스트 결과 기록 </a:t>
            </a:r>
            <a:endParaRPr kumimoji="0" lang="en-US" altLang="ko-KR" sz="2000" b="1" i="0" u="none" strike="noStrike" kern="1200" cap="none" spc="-11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8" name="TextBox 27"/>
          <p:cNvSpPr txBox="1">
            <a:spLocks noChangeArrowheads="1"/>
          </p:cNvSpPr>
          <p:nvPr/>
        </p:nvSpPr>
        <p:spPr bwMode="auto">
          <a:xfrm>
            <a:off x="294646" y="764892"/>
            <a:ext cx="11070040" cy="3586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latinLnBrk="0">
              <a:lnSpc>
                <a:spcPct val="120000"/>
              </a:lnSpc>
              <a:spcBef>
                <a:spcPct val="30000"/>
              </a:spcBef>
              <a:buFont typeface="Wingdings" pitchFamily="2" charset="2"/>
              <a:buNone/>
            </a:pPr>
            <a:r>
              <a:rPr lang="ko-KR" altLang="en-US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단위 테스트 결과서 내 테스트 케이스 기록으로 결함을 명확하게 식별 할 수 있도록 함</a:t>
            </a:r>
          </a:p>
        </p:txBody>
      </p:sp>
      <p:sp>
        <p:nvSpPr>
          <p:cNvPr id="10" name="TextBox 27">
            <a:extLst>
              <a:ext uri="{FF2B5EF4-FFF2-40B4-BE49-F238E27FC236}">
                <a16:creationId xmlns:a16="http://schemas.microsoft.com/office/drawing/2014/main" id="{6E6203FB-83D8-46EF-9BF8-D69719BBB2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24317" y="3894702"/>
            <a:ext cx="699796" cy="3586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latinLnBrk="0">
              <a:lnSpc>
                <a:spcPct val="120000"/>
              </a:lnSpc>
              <a:spcBef>
                <a:spcPct val="30000"/>
              </a:spcBef>
              <a:buFont typeface="Wingdings" pitchFamily="2" charset="2"/>
              <a:buNone/>
            </a:pPr>
            <a:r>
              <a:rPr lang="en-US" altLang="ko-KR" sz="1600" b="1" dirty="0">
                <a:solidFill>
                  <a:srgbClr val="FF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[S_5]</a:t>
            </a:r>
            <a:endParaRPr lang="ko-KR" altLang="en-US" sz="1600" b="1" dirty="0">
              <a:solidFill>
                <a:srgbClr val="FF0000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F4C8E5CF-292A-4D50-9233-D47AF52C7D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905" y="2116884"/>
            <a:ext cx="836055" cy="4105297"/>
          </a:xfrm>
          <a:prstGeom prst="rect">
            <a:avLst/>
          </a:prstGeom>
        </p:spPr>
      </p:pic>
      <p:sp>
        <p:nvSpPr>
          <p:cNvPr id="14" name="타원 13">
            <a:extLst>
              <a:ext uri="{FF2B5EF4-FFF2-40B4-BE49-F238E27FC236}">
                <a16:creationId xmlns:a16="http://schemas.microsoft.com/office/drawing/2014/main" id="{88AB0A98-423E-4821-B6B8-33442D40964A}"/>
              </a:ext>
            </a:extLst>
          </p:cNvPr>
          <p:cNvSpPr/>
          <p:nvPr/>
        </p:nvSpPr>
        <p:spPr>
          <a:xfrm>
            <a:off x="8664470" y="3827957"/>
            <a:ext cx="582167" cy="548100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252C0B47-2F7E-486E-A1E0-E6D14C118F30}"/>
              </a:ext>
            </a:extLst>
          </p:cNvPr>
          <p:cNvSpPr/>
          <p:nvPr/>
        </p:nvSpPr>
        <p:spPr>
          <a:xfrm>
            <a:off x="8709514" y="4604393"/>
            <a:ext cx="547396" cy="339714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7" name="연결선: 구부러짐 16">
            <a:extLst>
              <a:ext uri="{FF2B5EF4-FFF2-40B4-BE49-F238E27FC236}">
                <a16:creationId xmlns:a16="http://schemas.microsoft.com/office/drawing/2014/main" id="{31251029-1576-4148-AEB4-B69CA0ADC4BF}"/>
              </a:ext>
            </a:extLst>
          </p:cNvPr>
          <p:cNvCxnSpPr>
            <a:cxnSpLocks/>
            <a:stCxn id="16" idx="6"/>
            <a:endCxn id="14" idx="6"/>
          </p:cNvCxnSpPr>
          <p:nvPr/>
        </p:nvCxnSpPr>
        <p:spPr>
          <a:xfrm flipH="1" flipV="1">
            <a:off x="9246637" y="4102007"/>
            <a:ext cx="10273" cy="672243"/>
          </a:xfrm>
          <a:prstGeom prst="curvedConnector3">
            <a:avLst>
              <a:gd name="adj1" fmla="val -2225251"/>
            </a:avLst>
          </a:prstGeom>
          <a:ln w="95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그림 19">
            <a:extLst>
              <a:ext uri="{FF2B5EF4-FFF2-40B4-BE49-F238E27FC236}">
                <a16:creationId xmlns:a16="http://schemas.microsoft.com/office/drawing/2014/main" id="{E4BFCFAF-AFBC-4908-964E-8B1EA84448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36826" y="2999400"/>
            <a:ext cx="944605" cy="3209987"/>
          </a:xfrm>
          <a:prstGeom prst="rect">
            <a:avLst/>
          </a:prstGeom>
        </p:spPr>
      </p:pic>
      <p:sp>
        <p:nvSpPr>
          <p:cNvPr id="22" name="TextBox 27">
            <a:extLst>
              <a:ext uri="{FF2B5EF4-FFF2-40B4-BE49-F238E27FC236}">
                <a16:creationId xmlns:a16="http://schemas.microsoft.com/office/drawing/2014/main" id="{C1936AF1-DEAC-4A12-8FDC-AB8E1DDAD2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6185" y="1248537"/>
            <a:ext cx="1110060" cy="7279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latinLnBrk="0">
              <a:lnSpc>
                <a:spcPct val="120000"/>
              </a:lnSpc>
              <a:spcBef>
                <a:spcPct val="30000"/>
              </a:spcBef>
              <a:buFont typeface="Wingdings" pitchFamily="2" charset="2"/>
              <a:buNone/>
            </a:pPr>
            <a:r>
              <a:rPr lang="en-US" altLang="ko-KR" sz="1600" b="1" dirty="0">
                <a:solidFill>
                  <a:srgbClr val="FF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[S_#]</a:t>
            </a:r>
          </a:p>
          <a:p>
            <a:pPr latinLnBrk="0">
              <a:lnSpc>
                <a:spcPct val="120000"/>
              </a:lnSpc>
              <a:spcBef>
                <a:spcPct val="30000"/>
              </a:spcBef>
              <a:buFont typeface="Wingdings" pitchFamily="2" charset="2"/>
              <a:buNone/>
            </a:pPr>
            <a:r>
              <a:rPr lang="ko-KR" altLang="en-US" sz="1600" b="1" dirty="0">
                <a:solidFill>
                  <a:srgbClr val="FF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시나리오</a:t>
            </a:r>
          </a:p>
        </p:txBody>
      </p:sp>
      <p:sp>
        <p:nvSpPr>
          <p:cNvPr id="24" name="TextBox 27">
            <a:extLst>
              <a:ext uri="{FF2B5EF4-FFF2-40B4-BE49-F238E27FC236}">
                <a16:creationId xmlns:a16="http://schemas.microsoft.com/office/drawing/2014/main" id="{0D925F73-DE9E-4BA8-B545-F71A8A5BB5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40019" y="1226664"/>
            <a:ext cx="1655736" cy="7279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latinLnBrk="0">
              <a:lnSpc>
                <a:spcPct val="120000"/>
              </a:lnSpc>
              <a:spcBef>
                <a:spcPct val="30000"/>
              </a:spcBef>
              <a:buFont typeface="Wingdings" pitchFamily="2" charset="2"/>
              <a:buNone/>
            </a:pPr>
            <a:r>
              <a:rPr lang="en-US" altLang="ko-KR" sz="1600" b="1" dirty="0">
                <a:solidFill>
                  <a:srgbClr val="FF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[C_#]</a:t>
            </a:r>
          </a:p>
          <a:p>
            <a:pPr latinLnBrk="0">
              <a:lnSpc>
                <a:spcPct val="120000"/>
              </a:lnSpc>
              <a:spcBef>
                <a:spcPct val="30000"/>
              </a:spcBef>
              <a:buFont typeface="Wingdings" pitchFamily="2" charset="2"/>
              <a:buNone/>
            </a:pPr>
            <a:r>
              <a:rPr lang="ko-KR" altLang="en-US" sz="1600" b="1" dirty="0" err="1">
                <a:solidFill>
                  <a:srgbClr val="FF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공통체크리스트</a:t>
            </a:r>
            <a:endParaRPr lang="ko-KR" altLang="en-US" sz="1600" b="1" dirty="0">
              <a:solidFill>
                <a:srgbClr val="FF0000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25" name="TextBox 27">
            <a:extLst>
              <a:ext uri="{FF2B5EF4-FFF2-40B4-BE49-F238E27FC236}">
                <a16:creationId xmlns:a16="http://schemas.microsoft.com/office/drawing/2014/main" id="{84F79483-5287-4C4A-B2D7-25D678B25F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6657" y="1248537"/>
            <a:ext cx="699796" cy="7279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latinLnBrk="0">
              <a:lnSpc>
                <a:spcPct val="120000"/>
              </a:lnSpc>
              <a:spcBef>
                <a:spcPct val="30000"/>
              </a:spcBef>
              <a:buFont typeface="Wingdings" pitchFamily="2" charset="2"/>
              <a:buNone/>
            </a:pPr>
            <a:r>
              <a:rPr lang="en-US" altLang="ko-KR" sz="1600" b="1" dirty="0">
                <a:solidFill>
                  <a:srgbClr val="FF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[X_#]</a:t>
            </a:r>
          </a:p>
          <a:p>
            <a:pPr latinLnBrk="0">
              <a:lnSpc>
                <a:spcPct val="120000"/>
              </a:lnSpc>
              <a:spcBef>
                <a:spcPct val="30000"/>
              </a:spcBef>
              <a:buFont typeface="Wingdings" pitchFamily="2" charset="2"/>
              <a:buNone/>
            </a:pPr>
            <a:r>
              <a:rPr lang="ko-KR" altLang="en-US" sz="1600" b="1" dirty="0">
                <a:solidFill>
                  <a:srgbClr val="FF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기타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ECC0E45B-2910-46F2-A99A-9EFDA4F274BE}"/>
              </a:ext>
            </a:extLst>
          </p:cNvPr>
          <p:cNvSpPr/>
          <p:nvPr/>
        </p:nvSpPr>
        <p:spPr>
          <a:xfrm>
            <a:off x="611525" y="1976493"/>
            <a:ext cx="1294720" cy="4455167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89188303-366B-49B5-8162-8C48B0DCBAFC}"/>
              </a:ext>
            </a:extLst>
          </p:cNvPr>
          <p:cNvSpPr/>
          <p:nvPr/>
        </p:nvSpPr>
        <p:spPr>
          <a:xfrm>
            <a:off x="2101880" y="1988021"/>
            <a:ext cx="1294720" cy="4455167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8862630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9010359" y="1427928"/>
            <a:ext cx="288348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 latinLnBrk="0"/>
            <a:r>
              <a:rPr kumimoji="1" lang="en-US" altLang="ko-KR" sz="1050" kern="0" spc="-3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※</a:t>
            </a:r>
            <a:r>
              <a:rPr lang="ko-KR" altLang="en-US" sz="105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테스트 성공률 및 결함 현황</a:t>
            </a:r>
            <a:r>
              <a:rPr lang="en-US" altLang="ko-KR" sz="105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(01/28, 09:00 </a:t>
            </a:r>
            <a:r>
              <a:rPr lang="ko-KR" altLang="en-US" sz="105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기준</a:t>
            </a:r>
            <a:r>
              <a:rPr lang="en-US" altLang="ko-KR" sz="105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)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EA74809-D702-420A-AA2C-A6FEE88D0610}"/>
              </a:ext>
            </a:extLst>
          </p:cNvPr>
          <p:cNvSpPr/>
          <p:nvPr/>
        </p:nvSpPr>
        <p:spPr>
          <a:xfrm>
            <a:off x="7966957" y="671462"/>
            <a:ext cx="4074355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457200" latinLnBrk="0"/>
            <a:r>
              <a:rPr kumimoji="1" lang="ko-KR" altLang="en-US" sz="1400" dirty="0">
                <a:latin typeface="HY견고딕" panose="02030600000101010101" pitchFamily="18" charset="-127"/>
                <a:ea typeface="HY견고딕" panose="02030600000101010101" pitchFamily="18" charset="-127"/>
              </a:rPr>
              <a:t>조치기한 내 목표 조치완료율 </a:t>
            </a:r>
            <a:r>
              <a:rPr kumimoji="1" lang="en-US" altLang="ko-KR" sz="1400" dirty="0">
                <a:solidFill>
                  <a:srgbClr val="FF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:    </a:t>
            </a:r>
            <a:r>
              <a:rPr kumimoji="1" lang="ko-KR" altLang="en-US" sz="1400" dirty="0">
                <a:solidFill>
                  <a:srgbClr val="0000FF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전체 </a:t>
            </a:r>
            <a:r>
              <a:rPr kumimoji="1" lang="en-US" altLang="ko-KR" sz="1400" dirty="0">
                <a:solidFill>
                  <a:srgbClr val="0000FF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– 80% </a:t>
            </a:r>
          </a:p>
          <a:p>
            <a:pPr defTabSz="457200" latinLnBrk="0"/>
            <a:r>
              <a:rPr kumimoji="1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</a:rPr>
              <a:t>                                              </a:t>
            </a:r>
            <a:r>
              <a:rPr kumimoji="1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</a:rPr>
              <a:t>결함 </a:t>
            </a:r>
            <a:r>
              <a:rPr kumimoji="1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</a:rPr>
              <a:t>– 95% </a:t>
            </a:r>
          </a:p>
          <a:p>
            <a:pPr defTabSz="457200" latinLnBrk="0"/>
            <a:r>
              <a:rPr kumimoji="1" lang="en-US" altLang="ko-KR" sz="1400" dirty="0">
                <a:solidFill>
                  <a:srgbClr val="FF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                                      </a:t>
            </a:r>
            <a:r>
              <a:rPr kumimoji="1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</a:rPr>
              <a:t>개선</a:t>
            </a:r>
            <a:r>
              <a:rPr kumimoji="1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</a:rPr>
              <a:t>/</a:t>
            </a:r>
            <a:r>
              <a:rPr kumimoji="1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</a:rPr>
              <a:t>변경 </a:t>
            </a:r>
            <a:r>
              <a:rPr kumimoji="1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</a:rPr>
              <a:t>– 80%</a:t>
            </a:r>
            <a:endParaRPr kumimoji="1" lang="en-US" altLang="ko-KR" sz="1400" kern="0" spc="-30" dirty="0">
              <a:ln>
                <a:solidFill>
                  <a:prstClr val="white">
                    <a:alpha val="0"/>
                  </a:prstClr>
                </a:solidFill>
              </a:ln>
              <a:solidFill>
                <a:srgbClr val="0000FF"/>
              </a:solidFill>
              <a:latin typeface="HY견고딕" panose="02030600000101010101" pitchFamily="18" charset="-127"/>
              <a:ea typeface="HY견고딕" panose="02030600000101010101" pitchFamily="18" charset="-127"/>
              <a:cs typeface="Segoe UI" panose="020B0502040204020203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21C2DCF-98AC-2CC7-5CDA-CF237E94C1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892" y="91161"/>
            <a:ext cx="5652516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indent="-354013" defTabSz="957743">
              <a:defRPr sz="2200" spc="-11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9pPr>
          </a:lstStyle>
          <a:p>
            <a:pPr lvl="0" latinLnBrk="0">
              <a:defRPr/>
            </a:pPr>
            <a:r>
              <a:rPr kumimoji="0" lang="ko-KR" altLang="en-US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  <a:r>
              <a:rPr kumimoji="0" lang="en-US" altLang="ko-KR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II - 1.</a:t>
            </a:r>
            <a:r>
              <a:rPr kumimoji="0" lang="ko-KR" altLang="en-US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 테스트 </a:t>
            </a:r>
            <a:r>
              <a:rPr lang="ko-KR" altLang="en-US" sz="2000" b="1" dirty="0">
                <a:solidFill>
                  <a:prstClr val="white"/>
                </a:solidFill>
              </a:rPr>
              <a:t>결과</a:t>
            </a:r>
            <a:endParaRPr kumimoji="0" lang="en-US" altLang="ko-KR" sz="2000" b="1" i="0" u="none" strike="noStrike" kern="1200" cap="none" spc="-11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8E0585D-508B-1DDC-9FAF-B5D9FDC02D2B}"/>
              </a:ext>
            </a:extLst>
          </p:cNvPr>
          <p:cNvSpPr/>
          <p:nvPr/>
        </p:nvSpPr>
        <p:spPr>
          <a:xfrm>
            <a:off x="405783" y="774650"/>
            <a:ext cx="7638522" cy="8466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52000" indent="-285750" defTabSz="457200" latinLnBrk="0">
              <a:lnSpc>
                <a:spcPts val="2000"/>
              </a:lnSpc>
              <a:buFontTx/>
              <a:buChar char="-"/>
            </a:pPr>
            <a:r>
              <a:rPr kumimoji="1" lang="ko-KR" altLang="en-US" sz="1400" kern="0" spc="-30" dirty="0">
                <a:ln>
                  <a:solidFill>
                    <a:prstClr val="white">
                      <a:alpha val="0"/>
                    </a:prstClr>
                  </a:solidFill>
                </a:ln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   식별 결함 </a:t>
            </a:r>
            <a:r>
              <a:rPr kumimoji="1"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:</a:t>
            </a:r>
            <a:r>
              <a:rPr kumimoji="1"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kumimoji="1"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258</a:t>
            </a:r>
            <a:r>
              <a:rPr kumimoji="1"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건</a:t>
            </a:r>
            <a:r>
              <a:rPr kumimoji="1"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, </a:t>
            </a:r>
            <a:r>
              <a:rPr kumimoji="1" lang="en-US" altLang="ko-KR" sz="1400" kern="0" spc="-30" dirty="0">
                <a:ln>
                  <a:solidFill>
                    <a:prstClr val="white">
                      <a:alpha val="0"/>
                    </a:prstClr>
                  </a:solidFill>
                </a:ln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207</a:t>
            </a:r>
            <a:r>
              <a:rPr kumimoji="1" lang="ko-KR" altLang="en-US" sz="1400" kern="0" spc="-30" dirty="0">
                <a:ln>
                  <a:solidFill>
                    <a:prstClr val="white">
                      <a:alpha val="0"/>
                    </a:prstClr>
                  </a:solidFill>
                </a:ln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개 시나리오</a:t>
            </a:r>
            <a:endParaRPr kumimoji="1" lang="en-US" altLang="ko-KR" sz="1400" kern="0" spc="-30" dirty="0">
              <a:ln>
                <a:solidFill>
                  <a:prstClr val="white">
                    <a:alpha val="0"/>
                  </a:prstClr>
                </a:solidFill>
              </a:ln>
              <a:latin typeface="KoPub돋움체 Medium" panose="00000600000000000000" pitchFamily="2" charset="-127"/>
              <a:ea typeface="KoPub돋움체 Medium" panose="00000600000000000000" pitchFamily="2" charset="-127"/>
              <a:cs typeface="Segoe UI" panose="020B0502040204020203" pitchFamily="34" charset="0"/>
            </a:endParaRPr>
          </a:p>
          <a:p>
            <a:pPr marL="252000" indent="-285750" defTabSz="457200" latinLnBrk="0">
              <a:lnSpc>
                <a:spcPts val="2000"/>
              </a:lnSpc>
              <a:buFontTx/>
              <a:buChar char="-"/>
            </a:pPr>
            <a:r>
              <a:rPr kumimoji="1" lang="ko-KR" altLang="en-US" sz="1100" kern="0" spc="-30" baseline="40000" dirty="0">
                <a:ln>
                  <a:solidFill>
                    <a:prstClr val="white">
                      <a:alpha val="0"/>
                    </a:prstClr>
                  </a:solidFill>
                </a:ln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주</a:t>
            </a:r>
            <a:r>
              <a:rPr kumimoji="1" lang="en-US" altLang="ko-KR" sz="1100" kern="0" spc="-30" baseline="40000" dirty="0">
                <a:ln>
                  <a:solidFill>
                    <a:prstClr val="white">
                      <a:alpha val="0"/>
                    </a:prstClr>
                  </a:solidFill>
                </a:ln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1)</a:t>
            </a:r>
            <a:r>
              <a:rPr kumimoji="1" lang="ko-KR" altLang="en-US" sz="1400" kern="0" spc="-30" dirty="0">
                <a:ln>
                  <a:solidFill>
                    <a:prstClr val="white">
                      <a:alpha val="0"/>
                    </a:prstClr>
                  </a:solidFill>
                </a:ln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유효 결함 </a:t>
            </a:r>
            <a:r>
              <a:rPr kumimoji="1" lang="en-US" altLang="ko-KR" sz="1400" kern="0" spc="-30" dirty="0">
                <a:ln>
                  <a:solidFill>
                    <a:prstClr val="white">
                      <a:alpha val="0"/>
                    </a:prstClr>
                  </a:solidFill>
                </a:ln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: 161</a:t>
            </a:r>
            <a:r>
              <a:rPr kumimoji="1" lang="ko-KR" altLang="en-US" sz="1400" kern="0" spc="-30" dirty="0">
                <a:ln>
                  <a:solidFill>
                    <a:prstClr val="white">
                      <a:alpha val="0"/>
                    </a:prstClr>
                  </a:solidFill>
                </a:ln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건</a:t>
            </a:r>
            <a:r>
              <a:rPr kumimoji="1" lang="en-US" altLang="ko-KR" sz="1400" kern="0" spc="-30" dirty="0">
                <a:ln>
                  <a:solidFill>
                    <a:prstClr val="white">
                      <a:alpha val="0"/>
                    </a:prstClr>
                  </a:solidFill>
                </a:ln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, 136</a:t>
            </a:r>
            <a:r>
              <a:rPr kumimoji="1" lang="ko-KR" altLang="en-US" sz="1400" kern="0" spc="-30" dirty="0">
                <a:ln>
                  <a:solidFill>
                    <a:prstClr val="white">
                      <a:alpha val="0"/>
                    </a:prstClr>
                  </a:solidFill>
                </a:ln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개 시나리오</a:t>
            </a:r>
            <a:endParaRPr kumimoji="1" lang="en-US" altLang="ko-KR" sz="1400" kern="0" spc="-30" dirty="0">
              <a:ln>
                <a:solidFill>
                  <a:prstClr val="white">
                    <a:alpha val="0"/>
                  </a:prstClr>
                </a:solidFill>
              </a:ln>
              <a:latin typeface="KoPub돋움체 Medium" panose="00000600000000000000" pitchFamily="2" charset="-127"/>
              <a:ea typeface="KoPub돋움체 Medium" panose="00000600000000000000" pitchFamily="2" charset="-127"/>
              <a:cs typeface="Segoe UI" panose="020B0502040204020203" pitchFamily="34" charset="0"/>
            </a:endParaRPr>
          </a:p>
          <a:p>
            <a:pPr marL="252000" indent="-285750" defTabSz="457200" latinLnBrk="0">
              <a:lnSpc>
                <a:spcPts val="2000"/>
              </a:lnSpc>
              <a:buFontTx/>
              <a:buChar char="-"/>
            </a:pPr>
            <a:r>
              <a:rPr kumimoji="1" lang="ko-KR" altLang="en-US" sz="1400" kern="0" spc="-30" dirty="0">
                <a:ln>
                  <a:solidFill>
                    <a:prstClr val="white">
                      <a:alpha val="0"/>
                    </a:prstClr>
                  </a:solidFill>
                </a:ln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결함 </a:t>
            </a:r>
            <a:r>
              <a:rPr kumimoji="1" lang="ko-KR" altLang="en-US" sz="1400" kern="0" spc="-30" dirty="0" err="1">
                <a:ln>
                  <a:solidFill>
                    <a:prstClr val="white">
                      <a:alpha val="0"/>
                    </a:prstClr>
                  </a:solidFill>
                </a:ln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발생율</a:t>
            </a:r>
            <a:r>
              <a:rPr kumimoji="1" lang="ko-KR" altLang="en-US" sz="1400" kern="0" spc="-30" dirty="0">
                <a:ln>
                  <a:solidFill>
                    <a:prstClr val="white">
                      <a:alpha val="0"/>
                    </a:prstClr>
                  </a:solidFill>
                </a:ln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 </a:t>
            </a:r>
            <a:r>
              <a:rPr kumimoji="1" lang="en-US" altLang="ko-KR" sz="1400" kern="0" spc="-30" dirty="0">
                <a:ln>
                  <a:solidFill>
                    <a:prstClr val="white">
                      <a:alpha val="0"/>
                    </a:prstClr>
                  </a:solidFill>
                </a:ln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: 16.6 %  ( </a:t>
            </a:r>
            <a:r>
              <a:rPr kumimoji="1" lang="ko-KR" altLang="en-US" sz="1400" kern="0" spc="-30" dirty="0">
                <a:ln>
                  <a:solidFill>
                    <a:prstClr val="white">
                      <a:alpha val="0"/>
                    </a:prstClr>
                  </a:solidFill>
                </a:ln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테스트 대상 시나리오 기준  </a:t>
            </a:r>
            <a:r>
              <a:rPr kumimoji="1" lang="en-US" altLang="ko-KR" sz="1400" kern="0" spc="-30" dirty="0">
                <a:ln>
                  <a:solidFill>
                    <a:prstClr val="white">
                      <a:alpha val="0"/>
                    </a:prstClr>
                  </a:solidFill>
                </a:ln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640</a:t>
            </a:r>
            <a:r>
              <a:rPr kumimoji="1" lang="ko-KR" altLang="en-US" sz="1400" kern="0" spc="-30" dirty="0">
                <a:ln>
                  <a:solidFill>
                    <a:prstClr val="white">
                      <a:alpha val="0"/>
                    </a:prstClr>
                  </a:solidFill>
                </a:ln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개 중 유효결함</a:t>
            </a:r>
            <a:r>
              <a:rPr kumimoji="1" lang="en-US" altLang="ko-KR" sz="1400" kern="0" spc="-30" dirty="0">
                <a:ln>
                  <a:solidFill>
                    <a:prstClr val="white">
                      <a:alpha val="0"/>
                    </a:prstClr>
                  </a:solidFill>
                </a:ln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 136</a:t>
            </a:r>
            <a:r>
              <a:rPr kumimoji="1" lang="ko-KR" altLang="en-US" sz="1400" kern="0" spc="-30" dirty="0">
                <a:ln>
                  <a:solidFill>
                    <a:prstClr val="white">
                      <a:alpha val="0"/>
                    </a:prstClr>
                  </a:solidFill>
                </a:ln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개 시나리오</a:t>
            </a:r>
            <a:r>
              <a:rPr kumimoji="1" lang="en-US" altLang="ko-KR" sz="1400" kern="0" spc="-30" dirty="0">
                <a:ln>
                  <a:solidFill>
                    <a:prstClr val="white">
                      <a:alpha val="0"/>
                    </a:prstClr>
                  </a:solidFill>
                </a:ln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)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FEF6F86-9C8A-44B3-9F34-9BC95C4CAD3F}"/>
              </a:ext>
            </a:extLst>
          </p:cNvPr>
          <p:cNvSpPr/>
          <p:nvPr/>
        </p:nvSpPr>
        <p:spPr>
          <a:xfrm>
            <a:off x="9010359" y="6014833"/>
            <a:ext cx="124932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457200" latinLnBrk="0"/>
            <a:r>
              <a:rPr kumimoji="1" lang="ko-KR" altLang="en-US" sz="10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조치 완료 기준</a:t>
            </a:r>
            <a:endParaRPr kumimoji="1" lang="en-US" altLang="ko-KR" sz="1000" kern="0" spc="-30" dirty="0">
              <a:ln>
                <a:solidFill>
                  <a:prstClr val="white">
                    <a:alpha val="0"/>
                  </a:prstClr>
                </a:solidFill>
              </a:ln>
              <a:latin typeface="KoPub돋움체 Medium" panose="00000600000000000000" pitchFamily="2" charset="-127"/>
              <a:ea typeface="KoPub돋움체 Medium" panose="00000600000000000000" pitchFamily="2" charset="-127"/>
              <a:cs typeface="Segoe UI" panose="020B0502040204020203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2C7D2D1-BEBE-4005-9549-EA25E801A087}"/>
              </a:ext>
            </a:extLst>
          </p:cNvPr>
          <p:cNvSpPr txBox="1"/>
          <p:nvPr/>
        </p:nvSpPr>
        <p:spPr>
          <a:xfrm>
            <a:off x="9943391" y="5832595"/>
            <a:ext cx="213664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ko-KR" altLang="en-US" sz="1000" b="0" i="0" u="none" strike="noStrike" kern="0" cap="none" spc="-3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결함 기각</a:t>
            </a:r>
            <a:endParaRPr kumimoji="1" lang="en-US" altLang="ko-KR" sz="1000" kern="0" spc="-3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  <a:cs typeface="Segoe UI" panose="020B0502040204020203" pitchFamily="34" charset="0"/>
            </a:endParaRPr>
          </a:p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ko-KR" altLang="en-US" sz="1000" b="0" i="0" u="none" strike="noStrike" kern="0" cap="none" spc="-3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결함조치 후 테스터 최종 확인 </a:t>
            </a:r>
            <a:endParaRPr kumimoji="1" lang="en-US" altLang="ko-KR" sz="1000" kern="0" spc="-3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  <a:cs typeface="Segoe UI" panose="020B0502040204020203" pitchFamily="34" charset="0"/>
            </a:endParaRPr>
          </a:p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ko-KR" altLang="en-US" sz="1000" kern="0" spc="-3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결</a:t>
            </a:r>
            <a:r>
              <a:rPr kumimoji="1" lang="ko-KR" altLang="en-US" sz="1000" b="0" i="0" u="none" strike="noStrike" kern="0" cap="none" spc="-30" normalizeH="0" baseline="0" noProof="0" dirty="0" err="1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함조치</a:t>
            </a:r>
            <a:r>
              <a:rPr kumimoji="1" lang="ko-KR" altLang="en-US" sz="1000" b="0" i="0" u="none" strike="noStrike" kern="0" cap="none" spc="-3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 후 테스터 확인 대기</a:t>
            </a:r>
            <a:endParaRPr lang="ko-KR" altLang="en-US" sz="10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ACA8C75-8899-4130-B821-A9B9EDEB932E}"/>
              </a:ext>
            </a:extLst>
          </p:cNvPr>
          <p:cNvSpPr/>
          <p:nvPr/>
        </p:nvSpPr>
        <p:spPr>
          <a:xfrm>
            <a:off x="522279" y="6065038"/>
            <a:ext cx="3741495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457200" latinLnBrk="0"/>
            <a:r>
              <a:rPr kumimoji="1" lang="en-US" altLang="ko-KR" sz="10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* </a:t>
            </a:r>
            <a:r>
              <a:rPr kumimoji="1" lang="ko-KR" altLang="en-US" sz="10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주</a:t>
            </a:r>
            <a:r>
              <a:rPr kumimoji="1" lang="en-US" altLang="ko-KR" sz="10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1) </a:t>
            </a:r>
            <a:r>
              <a:rPr kumimoji="1" lang="ko-KR" altLang="en-US" sz="10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유효 결함 </a:t>
            </a:r>
            <a:r>
              <a:rPr kumimoji="1" lang="en-US" altLang="ko-KR" sz="10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: </a:t>
            </a:r>
            <a:r>
              <a:rPr kumimoji="1" lang="ko-KR" altLang="en-US" sz="10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결함이 기각 되지 않고</a:t>
            </a:r>
            <a:r>
              <a:rPr kumimoji="1" lang="en-US" altLang="ko-KR" sz="10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, </a:t>
            </a:r>
            <a:r>
              <a:rPr kumimoji="1" lang="ko-KR" altLang="en-US" sz="10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조치 진행하는 결함</a:t>
            </a:r>
            <a:endParaRPr kumimoji="1" lang="en-US" altLang="ko-KR" sz="1000" kern="0" spc="-30" dirty="0">
              <a:ln>
                <a:solidFill>
                  <a:prstClr val="white">
                    <a:alpha val="0"/>
                  </a:prstClr>
                </a:solidFill>
              </a:ln>
              <a:latin typeface="KoPub돋움체 Medium" panose="00000600000000000000" pitchFamily="2" charset="-127"/>
              <a:ea typeface="KoPub돋움체 Medium" panose="00000600000000000000" pitchFamily="2" charset="-127"/>
              <a:cs typeface="Segoe UI" panose="020B0502040204020203" pitchFamily="34" charset="0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3C12BC8A-3AF3-4015-8B03-447898A3D42E}"/>
              </a:ext>
            </a:extLst>
          </p:cNvPr>
          <p:cNvPicPr>
            <a:picLocks noChangeAspect="1" noChangeArrowheads="1"/>
            <a:extLst>
              <a:ext uri="{84589F7E-364E-4C9E-8A38-B11213B215E9}">
                <a14:cameraTool xmlns:a14="http://schemas.microsoft.com/office/drawing/2010/main" cellRange="$H$1:$Z$20"/>
              </a:ext>
            </a:extLst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66763" y="1732088"/>
            <a:ext cx="11005314" cy="4239689"/>
          </a:xfrm>
          <a:prstGeom prst="rect">
            <a:avLst/>
          </a:prstGeom>
          <a:solidFill>
            <a:srgbClr xmlns:mc="http://schemas.openxmlformats.org/markup-compatibility/2006" xmlns:a14="http://schemas.microsoft.com/office/drawing/2010/main" val="FFFFFF" mc:Ignorable="a14" a14:legacySpreadsheetColorIndex="9"/>
          </a:solidFill>
          <a:ln w="9525">
            <a:solidFill>
              <a:srgbClr xmlns:mc="http://schemas.openxmlformats.org/markup-compatibility/2006" xmlns:a14="http://schemas.microsoft.com/office/drawing/2010/main" val="000000" mc:Ignorable="a14" a14:legacySpreadsheetColorIndex="64"/>
            </a:solidFill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759471209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69E79B89-4DF9-4986-813A-13BE60BCC7F1}"/>
              </a:ext>
            </a:extLst>
          </p:cNvPr>
          <p:cNvSpPr/>
          <p:nvPr/>
        </p:nvSpPr>
        <p:spPr>
          <a:xfrm>
            <a:off x="517237" y="767658"/>
            <a:ext cx="734193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457200" latinLnBrk="0"/>
            <a:r>
              <a:rPr kumimoji="1" lang="ko-KR" altLang="en-US" sz="1400" dirty="0">
                <a:latin typeface="HY견고딕" panose="02030600000101010101" pitchFamily="18" charset="-127"/>
                <a:ea typeface="HY견고딕" panose="02030600000101010101" pitchFamily="18" charset="-127"/>
              </a:rPr>
              <a:t>전체 결함</a:t>
            </a:r>
            <a:r>
              <a:rPr kumimoji="1" lang="en-US" altLang="ko-KR" sz="1400" dirty="0">
                <a:latin typeface="HY견고딕" panose="02030600000101010101" pitchFamily="18" charset="-127"/>
                <a:ea typeface="HY견고딕" panose="02030600000101010101" pitchFamily="18" charset="-127"/>
              </a:rPr>
              <a:t>, </a:t>
            </a:r>
            <a:r>
              <a:rPr kumimoji="1" lang="ko-KR" altLang="en-US" sz="1400" dirty="0">
                <a:latin typeface="HY견고딕" panose="02030600000101010101" pitchFamily="18" charset="-127"/>
                <a:ea typeface="HY견고딕" panose="02030600000101010101" pitchFamily="18" charset="-127"/>
              </a:rPr>
              <a:t>개선</a:t>
            </a:r>
            <a:r>
              <a:rPr kumimoji="1" lang="en-US" altLang="ko-KR" sz="1400" dirty="0">
                <a:latin typeface="HY견고딕" panose="02030600000101010101" pitchFamily="18" charset="-127"/>
                <a:ea typeface="HY견고딕" panose="02030600000101010101" pitchFamily="18" charset="-127"/>
              </a:rPr>
              <a:t>/</a:t>
            </a:r>
            <a:r>
              <a:rPr kumimoji="1" lang="ko-KR" altLang="en-US" sz="1400" dirty="0">
                <a:latin typeface="HY견고딕" panose="02030600000101010101" pitchFamily="18" charset="-127"/>
                <a:ea typeface="HY견고딕" panose="02030600000101010101" pitchFamily="18" charset="-127"/>
              </a:rPr>
              <a:t>변경</a:t>
            </a:r>
            <a:r>
              <a:rPr kumimoji="1" lang="en-US" altLang="ko-KR" sz="1400" dirty="0">
                <a:latin typeface="HY견고딕" panose="02030600000101010101" pitchFamily="18" charset="-127"/>
                <a:ea typeface="HY견고딕" panose="02030600000101010101" pitchFamily="18" charset="-127"/>
              </a:rPr>
              <a:t>, </a:t>
            </a:r>
            <a:r>
              <a:rPr kumimoji="1" lang="ko-KR" altLang="en-US" sz="1400" dirty="0">
                <a:latin typeface="HY견고딕" panose="02030600000101010101" pitchFamily="18" charset="-127"/>
                <a:ea typeface="HY견고딕" panose="02030600000101010101" pitchFamily="18" charset="-127"/>
              </a:rPr>
              <a:t>신규 </a:t>
            </a:r>
            <a:r>
              <a:rPr kumimoji="1" lang="en-US" altLang="ko-KR" sz="1400" dirty="0">
                <a:latin typeface="HY견고딕" panose="02030600000101010101" pitchFamily="18" charset="-127"/>
                <a:ea typeface="HY견고딕" panose="02030600000101010101" pitchFamily="18" charset="-127"/>
              </a:rPr>
              <a:t>- 258</a:t>
            </a:r>
            <a:r>
              <a:rPr kumimoji="1" lang="ko-KR" altLang="en-US" sz="1400" dirty="0">
                <a:latin typeface="HY견고딕" panose="02030600000101010101" pitchFamily="18" charset="-127"/>
                <a:ea typeface="HY견고딕" panose="02030600000101010101" pitchFamily="18" charset="-127"/>
              </a:rPr>
              <a:t>건</a:t>
            </a:r>
            <a:endParaRPr kumimoji="1" lang="en-US" altLang="ko-KR" sz="1400" kern="0" spc="-30" dirty="0">
              <a:ln>
                <a:solidFill>
                  <a:prstClr val="white">
                    <a:alpha val="0"/>
                  </a:prstClr>
                </a:solidFill>
              </a:ln>
              <a:solidFill>
                <a:srgbClr val="0000FF"/>
              </a:solidFill>
              <a:latin typeface="HY견고딕" panose="02030600000101010101" pitchFamily="18" charset="-127"/>
              <a:ea typeface="HY견고딕" panose="02030600000101010101" pitchFamily="18" charset="-127"/>
              <a:cs typeface="Segoe UI" panose="020B0502040204020203" pitchFamily="34" charset="0"/>
            </a:endParaRPr>
          </a:p>
        </p:txBody>
      </p:sp>
      <p:sp>
        <p:nvSpPr>
          <p:cNvPr id="6" name="TextBox 27">
            <a:extLst>
              <a:ext uri="{FF2B5EF4-FFF2-40B4-BE49-F238E27FC236}">
                <a16:creationId xmlns:a16="http://schemas.microsoft.com/office/drawing/2014/main" id="{C469C800-38F3-4F2F-8B5C-3843B931FF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5896" y="1107292"/>
            <a:ext cx="4809669" cy="8460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171450" indent="-171450" latinLnBrk="0">
              <a:lnSpc>
                <a:spcPct val="120000"/>
              </a:lnSpc>
              <a:spcBef>
                <a:spcPct val="30000"/>
              </a:spcBef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rgbClr val="FF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확인 대기 </a:t>
            </a:r>
            <a:r>
              <a:rPr lang="en-US" altLang="ko-KR" sz="12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: </a:t>
            </a:r>
            <a:r>
              <a:rPr lang="ko-KR" altLang="en-US" sz="12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결함 조치 후 테스터로 </a:t>
            </a:r>
            <a:r>
              <a:rPr lang="en-US" altLang="ko-KR" sz="12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[</a:t>
            </a:r>
            <a:r>
              <a:rPr lang="ko-KR" altLang="en-US" sz="12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확인요청</a:t>
            </a:r>
            <a:r>
              <a:rPr lang="en-US" altLang="ko-KR" sz="12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] </a:t>
            </a:r>
            <a:r>
              <a:rPr lang="ko-KR" altLang="en-US" sz="12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상태</a:t>
            </a:r>
            <a:endParaRPr lang="en-US" altLang="ko-KR" sz="12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marL="171450" indent="-171450" latinLnBrk="0">
              <a:lnSpc>
                <a:spcPct val="120000"/>
              </a:lnSpc>
              <a:spcBef>
                <a:spcPct val="30000"/>
              </a:spcBef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rgbClr val="0000F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확인 요청 </a:t>
            </a:r>
            <a:r>
              <a:rPr lang="en-US" altLang="ko-KR" sz="12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: PL </a:t>
            </a:r>
            <a:r>
              <a:rPr lang="ko-KR" altLang="en-US" sz="12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혹은 개발자 간 결함내용의 </a:t>
            </a:r>
            <a:r>
              <a:rPr lang="en-US" altLang="ko-KR" sz="12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[</a:t>
            </a:r>
            <a:r>
              <a:rPr lang="ko-KR" altLang="en-US" sz="12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확인요청</a:t>
            </a:r>
            <a:r>
              <a:rPr lang="en-US" altLang="ko-KR" sz="12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] </a:t>
            </a:r>
            <a:r>
              <a:rPr lang="ko-KR" altLang="en-US" sz="12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상태</a:t>
            </a:r>
            <a:endParaRPr lang="en-US" altLang="ko-KR" sz="12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marL="171450" indent="-171450" latinLnBrk="0">
              <a:lnSpc>
                <a:spcPct val="120000"/>
              </a:lnSpc>
              <a:spcBef>
                <a:spcPct val="30000"/>
              </a:spcBef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조치 완료 </a:t>
            </a:r>
            <a:r>
              <a:rPr lang="en-US" altLang="ko-KR" sz="12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: </a:t>
            </a:r>
            <a:r>
              <a:rPr lang="ko-KR" altLang="en-US" sz="12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결함등록기각 </a:t>
            </a:r>
            <a:r>
              <a:rPr lang="en-US" altLang="ko-KR" sz="12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+ </a:t>
            </a:r>
            <a:r>
              <a:rPr lang="ko-KR" altLang="en-US" sz="12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확인대기 </a:t>
            </a:r>
            <a:r>
              <a:rPr lang="en-US" altLang="ko-KR" sz="12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+ </a:t>
            </a:r>
            <a:r>
              <a:rPr lang="ko-KR" altLang="en-US" sz="12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최종확인 </a:t>
            </a:r>
          </a:p>
        </p:txBody>
      </p:sp>
      <p:sp>
        <p:nvSpPr>
          <p:cNvPr id="10" name="TextBox 27">
            <a:extLst>
              <a:ext uri="{FF2B5EF4-FFF2-40B4-BE49-F238E27FC236}">
                <a16:creationId xmlns:a16="http://schemas.microsoft.com/office/drawing/2014/main" id="{A41EDC2F-C987-4129-AC1D-BEFA8D6150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03707" y="2083282"/>
            <a:ext cx="699796" cy="3586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latinLnBrk="0">
              <a:lnSpc>
                <a:spcPct val="120000"/>
              </a:lnSpc>
              <a:spcBef>
                <a:spcPct val="30000"/>
              </a:spcBef>
              <a:buFont typeface="Wingdings" pitchFamily="2" charset="2"/>
              <a:buNone/>
            </a:pPr>
            <a:r>
              <a:rPr lang="en-US" altLang="ko-KR" sz="1600" b="1" dirty="0">
                <a:solidFill>
                  <a:srgbClr val="FF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*</a:t>
            </a:r>
            <a:endParaRPr lang="ko-KR" altLang="en-US" sz="1600" b="1" dirty="0">
              <a:solidFill>
                <a:srgbClr val="FF0000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11" name="TextBox 27">
            <a:extLst>
              <a:ext uri="{FF2B5EF4-FFF2-40B4-BE49-F238E27FC236}">
                <a16:creationId xmlns:a16="http://schemas.microsoft.com/office/drawing/2014/main" id="{6FBF09BF-9F92-4A99-8DC0-81C8EFDCC6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69382" y="2084030"/>
            <a:ext cx="699796" cy="3586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latinLnBrk="0">
              <a:lnSpc>
                <a:spcPct val="120000"/>
              </a:lnSpc>
              <a:spcBef>
                <a:spcPct val="30000"/>
              </a:spcBef>
              <a:buFont typeface="Wingdings" pitchFamily="2" charset="2"/>
              <a:buNone/>
            </a:pPr>
            <a:r>
              <a:rPr lang="en-US" altLang="ko-KR" sz="1600" b="1" dirty="0">
                <a:solidFill>
                  <a:srgbClr val="0000F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*</a:t>
            </a:r>
            <a:endParaRPr lang="ko-KR" altLang="en-US" sz="1600" b="1" dirty="0">
              <a:solidFill>
                <a:srgbClr val="0000FF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12" name="TextBox 27">
            <a:extLst>
              <a:ext uri="{FF2B5EF4-FFF2-40B4-BE49-F238E27FC236}">
                <a16:creationId xmlns:a16="http://schemas.microsoft.com/office/drawing/2014/main" id="{77877335-D6AB-405B-B552-6986C771EF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26533" y="2041928"/>
            <a:ext cx="699796" cy="3586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latinLnBrk="0">
              <a:lnSpc>
                <a:spcPct val="120000"/>
              </a:lnSpc>
              <a:spcBef>
                <a:spcPct val="30000"/>
              </a:spcBef>
              <a:buFont typeface="Wingdings" pitchFamily="2" charset="2"/>
              <a:buNone/>
            </a:pPr>
            <a:r>
              <a:rPr lang="en-US" altLang="ko-KR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*</a:t>
            </a:r>
            <a:endParaRPr lang="ko-KR" altLang="en-US" sz="1600" b="1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02AAC4E6-301D-DDDE-5854-F855813CC7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892" y="91161"/>
            <a:ext cx="5652516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indent="-354013" defTabSz="957743">
              <a:defRPr sz="2200" spc="-11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9pPr>
          </a:lstStyle>
          <a:p>
            <a:pPr lvl="0" latinLnBrk="0">
              <a:defRPr/>
            </a:pPr>
            <a:r>
              <a:rPr kumimoji="0" lang="ko-KR" altLang="en-US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  <a:r>
              <a:rPr kumimoji="0" lang="en-US" altLang="ko-KR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II - 2.</a:t>
            </a:r>
            <a:r>
              <a:rPr kumimoji="0" lang="ko-KR" altLang="en-US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 결함조치</a:t>
            </a:r>
            <a:r>
              <a:rPr kumimoji="0" lang="en-US" altLang="ko-KR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  <a:r>
              <a:rPr kumimoji="0" lang="ko-KR" altLang="en-US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현황    </a:t>
            </a:r>
            <a:r>
              <a:rPr kumimoji="0" lang="en-US" altLang="ko-KR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1/2 </a:t>
            </a: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BE1D6112-AD28-4FAA-94D5-C5A8BFC499EE}"/>
              </a:ext>
            </a:extLst>
          </p:cNvPr>
          <p:cNvPicPr>
            <a:picLocks noChangeAspect="1" noChangeArrowheads="1"/>
            <a:extLst>
              <a:ext uri="{84589F7E-364E-4C9E-8A38-B11213B215E9}">
                <a14:cameraTool xmlns:a14="http://schemas.microsoft.com/office/drawing/2010/main" cellRange="$Z$28:$AL$46"/>
              </a:ext>
            </a:extLst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74997" y="2033933"/>
            <a:ext cx="10788361" cy="4151027"/>
          </a:xfrm>
          <a:prstGeom prst="rect">
            <a:avLst/>
          </a:prstGeom>
          <a:solidFill>
            <a:srgbClr xmlns:mc="http://schemas.openxmlformats.org/markup-compatibility/2006" xmlns:a14="http://schemas.microsoft.com/office/drawing/2010/main" val="FFFFFF" mc:Ignorable="a14" a14:legacySpreadsheetColorIndex="9"/>
          </a:solidFill>
          <a:ln w="9525">
            <a:solidFill>
              <a:srgbClr xmlns:mc="http://schemas.openxmlformats.org/markup-compatibility/2006" xmlns:a14="http://schemas.microsoft.com/office/drawing/2010/main" val="000000" mc:Ignorable="a14" a14:legacySpreadsheetColorIndex="64"/>
            </a:solidFill>
            <a:miter lim="800000"/>
            <a:headEnd/>
            <a:tailEnd/>
          </a:ln>
        </p:spPr>
      </p:pic>
      <p:sp>
        <p:nvSpPr>
          <p:cNvPr id="16" name="직사각형 15">
            <a:extLst>
              <a:ext uri="{FF2B5EF4-FFF2-40B4-BE49-F238E27FC236}">
                <a16:creationId xmlns:a16="http://schemas.microsoft.com/office/drawing/2014/main" id="{A6BF860F-275C-484A-911D-A74AC5689AE8}"/>
              </a:ext>
            </a:extLst>
          </p:cNvPr>
          <p:cNvSpPr/>
          <p:nvPr/>
        </p:nvSpPr>
        <p:spPr>
          <a:xfrm>
            <a:off x="7629521" y="791660"/>
            <a:ext cx="4074355" cy="8281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457200" latinLnBrk="0">
              <a:lnSpc>
                <a:spcPts val="2000"/>
              </a:lnSpc>
            </a:pPr>
            <a:r>
              <a:rPr kumimoji="1" lang="ko-KR" altLang="en-US" sz="1400" dirty="0">
                <a:latin typeface="HY견고딕" panose="02030600000101010101" pitchFamily="18" charset="-127"/>
                <a:ea typeface="HY견고딕" panose="02030600000101010101" pitchFamily="18" charset="-127"/>
              </a:rPr>
              <a:t>조치기한 내 목표 조치완료율 </a:t>
            </a:r>
            <a:r>
              <a:rPr kumimoji="1" lang="en-US" altLang="ko-KR" sz="1400" dirty="0">
                <a:solidFill>
                  <a:srgbClr val="FF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:    </a:t>
            </a:r>
            <a:r>
              <a:rPr kumimoji="1" lang="ko-KR" altLang="en-US" sz="1400" dirty="0">
                <a:solidFill>
                  <a:srgbClr val="0000FF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전체 </a:t>
            </a:r>
            <a:r>
              <a:rPr kumimoji="1" lang="en-US" altLang="ko-KR" sz="1400" dirty="0">
                <a:solidFill>
                  <a:srgbClr val="0000FF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– 80% </a:t>
            </a:r>
          </a:p>
          <a:p>
            <a:pPr defTabSz="457200" latinLnBrk="0">
              <a:lnSpc>
                <a:spcPts val="2000"/>
              </a:lnSpc>
            </a:pPr>
            <a:r>
              <a:rPr kumimoji="1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</a:rPr>
              <a:t>                                              </a:t>
            </a:r>
            <a:r>
              <a:rPr kumimoji="1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</a:rPr>
              <a:t>결함 </a:t>
            </a:r>
            <a:r>
              <a:rPr kumimoji="1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</a:rPr>
              <a:t>– 95% </a:t>
            </a:r>
          </a:p>
          <a:p>
            <a:pPr defTabSz="457200" latinLnBrk="0">
              <a:lnSpc>
                <a:spcPts val="2000"/>
              </a:lnSpc>
            </a:pPr>
            <a:r>
              <a:rPr kumimoji="1" lang="en-US" altLang="ko-KR" sz="1400" dirty="0">
                <a:solidFill>
                  <a:srgbClr val="FF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                                      </a:t>
            </a:r>
            <a:r>
              <a:rPr kumimoji="1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</a:rPr>
              <a:t>개선</a:t>
            </a:r>
            <a:r>
              <a:rPr kumimoji="1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</a:rPr>
              <a:t>/</a:t>
            </a:r>
            <a:r>
              <a:rPr kumimoji="1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</a:rPr>
              <a:t>변경 </a:t>
            </a:r>
            <a:r>
              <a:rPr kumimoji="1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</a:rPr>
              <a:t>– 80%</a:t>
            </a:r>
            <a:endParaRPr kumimoji="1" lang="en-US" altLang="ko-KR" sz="1400" kern="0" spc="-30" dirty="0">
              <a:ln>
                <a:solidFill>
                  <a:prstClr val="white">
                    <a:alpha val="0"/>
                  </a:prstClr>
                </a:solidFill>
              </a:ln>
              <a:solidFill>
                <a:srgbClr val="0000FF"/>
              </a:solidFill>
              <a:latin typeface="HY견고딕" panose="02030600000101010101" pitchFamily="18" charset="-127"/>
              <a:ea typeface="HY견고딕" panose="02030600000101010101" pitchFamily="18" charset="-127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0958734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69E79B89-4DF9-4986-813A-13BE60BCC7F1}"/>
              </a:ext>
            </a:extLst>
          </p:cNvPr>
          <p:cNvSpPr/>
          <p:nvPr/>
        </p:nvSpPr>
        <p:spPr>
          <a:xfrm>
            <a:off x="416840" y="1118497"/>
            <a:ext cx="734193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457200" latinLnBrk="0"/>
            <a:r>
              <a:rPr kumimoji="1" lang="ko-KR" altLang="en-US" sz="1400" kern="0" spc="-30" dirty="0">
                <a:ln>
                  <a:solidFill>
                    <a:prstClr val="white">
                      <a:alpha val="0"/>
                    </a:prstClr>
                  </a:solidFill>
                </a:ln>
                <a:latin typeface="HY견고딕" panose="02030600000101010101" pitchFamily="18" charset="-127"/>
                <a:ea typeface="HY견고딕" panose="02030600000101010101" pitchFamily="18" charset="-127"/>
                <a:cs typeface="Segoe UI" panose="020B0502040204020203" pitchFamily="34" charset="0"/>
              </a:rPr>
              <a:t>결함조치</a:t>
            </a:r>
            <a:endParaRPr kumimoji="1" lang="en-US" altLang="ko-KR" sz="1400" kern="0" spc="-30" dirty="0">
              <a:ln>
                <a:solidFill>
                  <a:prstClr val="white">
                    <a:alpha val="0"/>
                  </a:prstClr>
                </a:solidFill>
              </a:ln>
              <a:latin typeface="HY견고딕" panose="02030600000101010101" pitchFamily="18" charset="-127"/>
              <a:ea typeface="HY견고딕" panose="02030600000101010101" pitchFamily="18" charset="-127"/>
              <a:cs typeface="Segoe UI" panose="020B0502040204020203" pitchFamily="34" charset="0"/>
            </a:endParaRPr>
          </a:p>
          <a:p>
            <a:pPr defTabSz="457200" latinLnBrk="0"/>
            <a:r>
              <a:rPr kumimoji="1" lang="ko-KR" altLang="en-US" sz="1400" kern="0" spc="-30" dirty="0">
                <a:ln>
                  <a:solidFill>
                    <a:prstClr val="white">
                      <a:alpha val="0"/>
                    </a:prstClr>
                  </a:solidFill>
                </a:ln>
                <a:latin typeface="HY견고딕" panose="02030600000101010101" pitchFamily="18" charset="-127"/>
                <a:ea typeface="HY견고딕" panose="02030600000101010101" pitchFamily="18" charset="-127"/>
                <a:cs typeface="Segoe UI" panose="020B0502040204020203" pitchFamily="34" charset="0"/>
              </a:rPr>
              <a:t>현황</a:t>
            </a:r>
            <a:endParaRPr kumimoji="1" lang="en-US" altLang="ko-KR" sz="1400" kern="0" spc="-30" dirty="0">
              <a:ln>
                <a:solidFill>
                  <a:prstClr val="white">
                    <a:alpha val="0"/>
                  </a:prstClr>
                </a:solidFill>
              </a:ln>
              <a:latin typeface="HY견고딕" panose="02030600000101010101" pitchFamily="18" charset="-127"/>
              <a:ea typeface="HY견고딕" panose="02030600000101010101" pitchFamily="18" charset="-127"/>
              <a:cs typeface="Segoe UI" panose="020B0502040204020203" pitchFamily="34" charset="0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61EE422-AAAF-4641-A7EF-D0C91510B7FA}"/>
              </a:ext>
            </a:extLst>
          </p:cNvPr>
          <p:cNvSpPr/>
          <p:nvPr/>
        </p:nvSpPr>
        <p:spPr>
          <a:xfrm>
            <a:off x="416842" y="4389168"/>
            <a:ext cx="734193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457200" latinLnBrk="0"/>
            <a:r>
              <a:rPr kumimoji="1" lang="ko-KR" altLang="en-US" sz="1400" kern="0" spc="-30" dirty="0">
                <a:ln>
                  <a:solidFill>
                    <a:prstClr val="white">
                      <a:alpha val="0"/>
                    </a:prstClr>
                  </a:solidFill>
                </a:ln>
                <a:latin typeface="HY견고딕" panose="02030600000101010101" pitchFamily="18" charset="-127"/>
                <a:ea typeface="HY견고딕" panose="02030600000101010101" pitchFamily="18" charset="-127"/>
                <a:cs typeface="Segoe UI" panose="020B0502040204020203" pitchFamily="34" charset="0"/>
              </a:rPr>
              <a:t>개선</a:t>
            </a:r>
            <a:r>
              <a:rPr kumimoji="1" lang="en-US" altLang="ko-KR" sz="1400" kern="0" spc="-30" dirty="0">
                <a:ln>
                  <a:solidFill>
                    <a:prstClr val="white">
                      <a:alpha val="0"/>
                    </a:prstClr>
                  </a:solidFill>
                </a:ln>
                <a:latin typeface="HY견고딕" panose="02030600000101010101" pitchFamily="18" charset="-127"/>
                <a:ea typeface="HY견고딕" panose="02030600000101010101" pitchFamily="18" charset="-127"/>
                <a:cs typeface="Segoe UI" panose="020B0502040204020203" pitchFamily="34" charset="0"/>
              </a:rPr>
              <a:t>,</a:t>
            </a:r>
            <a:r>
              <a:rPr kumimoji="1" lang="ko-KR" altLang="en-US" sz="1400" kern="0" spc="-30" dirty="0">
                <a:ln>
                  <a:solidFill>
                    <a:prstClr val="white">
                      <a:alpha val="0"/>
                    </a:prstClr>
                  </a:solidFill>
                </a:ln>
                <a:latin typeface="HY견고딕" panose="02030600000101010101" pitchFamily="18" charset="-127"/>
                <a:ea typeface="HY견고딕" panose="02030600000101010101" pitchFamily="18" charset="-127"/>
                <a:cs typeface="Segoe UI" panose="020B0502040204020203" pitchFamily="34" charset="0"/>
              </a:rPr>
              <a:t>신규</a:t>
            </a:r>
            <a:endParaRPr kumimoji="1" lang="en-US" altLang="ko-KR" sz="1400" kern="0" spc="-30" dirty="0">
              <a:ln>
                <a:solidFill>
                  <a:prstClr val="white">
                    <a:alpha val="0"/>
                  </a:prstClr>
                </a:solidFill>
              </a:ln>
              <a:latin typeface="HY견고딕" panose="02030600000101010101" pitchFamily="18" charset="-127"/>
              <a:ea typeface="HY견고딕" panose="02030600000101010101" pitchFamily="18" charset="-127"/>
              <a:cs typeface="Segoe UI" panose="020B0502040204020203" pitchFamily="34" charset="0"/>
            </a:endParaRPr>
          </a:p>
          <a:p>
            <a:pPr defTabSz="457200" latinLnBrk="0"/>
            <a:r>
              <a:rPr kumimoji="1" lang="ko-KR" altLang="en-US" sz="1400" kern="0" spc="-30" dirty="0">
                <a:ln>
                  <a:solidFill>
                    <a:prstClr val="white">
                      <a:alpha val="0"/>
                    </a:prstClr>
                  </a:solidFill>
                </a:ln>
                <a:latin typeface="HY견고딕" panose="02030600000101010101" pitchFamily="18" charset="-127"/>
                <a:ea typeface="HY견고딕" panose="02030600000101010101" pitchFamily="18" charset="-127"/>
                <a:cs typeface="Segoe UI" panose="020B0502040204020203" pitchFamily="34" charset="0"/>
              </a:rPr>
              <a:t>조치 현황</a:t>
            </a:r>
            <a:endParaRPr kumimoji="1" lang="en-US" altLang="ko-KR" sz="1400" kern="0" spc="-30" dirty="0">
              <a:ln>
                <a:solidFill>
                  <a:prstClr val="white">
                    <a:alpha val="0"/>
                  </a:prstClr>
                </a:solidFill>
              </a:ln>
              <a:latin typeface="HY견고딕" panose="02030600000101010101" pitchFamily="18" charset="-127"/>
              <a:ea typeface="HY견고딕" panose="02030600000101010101" pitchFamily="18" charset="-127"/>
              <a:cs typeface="Segoe UI" panose="020B0502040204020203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0ACD6434-C990-37E9-3D82-7A443C8BFA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892" y="91161"/>
            <a:ext cx="5652516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indent="-354013" defTabSz="957743">
              <a:defRPr sz="2200" spc="-11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9pPr>
          </a:lstStyle>
          <a:p>
            <a:pPr lvl="0" latinLnBrk="0">
              <a:defRPr/>
            </a:pPr>
            <a:r>
              <a:rPr kumimoji="0" lang="ko-KR" altLang="en-US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  <a:r>
              <a:rPr kumimoji="0" lang="en-US" altLang="ko-KR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II - 2.</a:t>
            </a:r>
            <a:r>
              <a:rPr kumimoji="0" lang="ko-KR" altLang="en-US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 결함조치</a:t>
            </a:r>
            <a:r>
              <a:rPr kumimoji="0" lang="en-US" altLang="ko-KR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  <a:r>
              <a:rPr kumimoji="0" lang="ko-KR" altLang="en-US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현황    </a:t>
            </a:r>
            <a:r>
              <a:rPr kumimoji="0" lang="en-US" altLang="ko-KR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2/2 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CA265E3-BE08-4E2B-A7BE-EC47D7D46049}"/>
              </a:ext>
            </a:extLst>
          </p:cNvPr>
          <p:cNvSpPr/>
          <p:nvPr/>
        </p:nvSpPr>
        <p:spPr>
          <a:xfrm>
            <a:off x="9738452" y="944563"/>
            <a:ext cx="1890515" cy="41857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457200" latinLnBrk="0"/>
            <a:r>
              <a:rPr kumimoji="1" lang="ko-KR" altLang="en-US" sz="1400" dirty="0">
                <a:latin typeface="HY견고딕" panose="02030600000101010101" pitchFamily="18" charset="-127"/>
                <a:ea typeface="HY견고딕" panose="02030600000101010101" pitchFamily="18" charset="-127"/>
              </a:rPr>
              <a:t>조치완료율 </a:t>
            </a:r>
            <a:endParaRPr kumimoji="1" lang="en-US" altLang="ko-KR" sz="1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defTabSz="457200" latinLnBrk="0"/>
            <a:endParaRPr kumimoji="1" lang="en-US" altLang="ko-KR" sz="1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defTabSz="457200" latinLnBrk="0"/>
            <a:r>
              <a:rPr kumimoji="1" lang="en-US" altLang="ko-KR" sz="1400" dirty="0">
                <a:latin typeface="HY견고딕" panose="02030600000101010101" pitchFamily="18" charset="-127"/>
                <a:ea typeface="HY견고딕" panose="02030600000101010101" pitchFamily="18" charset="-127"/>
              </a:rPr>
              <a:t>[</a:t>
            </a:r>
            <a:r>
              <a:rPr kumimoji="1" lang="ko-KR" altLang="en-US" sz="1400" dirty="0">
                <a:latin typeface="HY견고딕" panose="02030600000101010101" pitchFamily="18" charset="-127"/>
                <a:ea typeface="HY견고딕" panose="02030600000101010101" pitchFamily="18" charset="-127"/>
              </a:rPr>
              <a:t>결함 </a:t>
            </a:r>
            <a:r>
              <a:rPr kumimoji="1" lang="en-US" altLang="ko-KR" sz="1400" dirty="0">
                <a:latin typeface="HY견고딕" panose="02030600000101010101" pitchFamily="18" charset="-127"/>
                <a:ea typeface="HY견고딕" panose="02030600000101010101" pitchFamily="18" charset="-127"/>
              </a:rPr>
              <a:t>]</a:t>
            </a:r>
          </a:p>
          <a:p>
            <a:pPr defTabSz="457200" latinLnBrk="0"/>
            <a:endParaRPr kumimoji="1" lang="en-US" altLang="ko-KR" sz="1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defTabSz="457200" latinLnBrk="0"/>
            <a:r>
              <a:rPr kumimoji="1" lang="ko-KR" altLang="en-US" sz="1400" dirty="0">
                <a:latin typeface="HY견고딕" panose="02030600000101010101" pitchFamily="18" charset="-127"/>
                <a:ea typeface="HY견고딕" panose="02030600000101010101" pitchFamily="18" charset="-127"/>
              </a:rPr>
              <a:t>목표  </a:t>
            </a:r>
            <a:r>
              <a:rPr kumimoji="1" lang="en-US" altLang="ko-KR" sz="1400" dirty="0">
                <a:latin typeface="HY견고딕" panose="02030600000101010101" pitchFamily="18" charset="-127"/>
                <a:ea typeface="HY견고딕" panose="02030600000101010101" pitchFamily="18" charset="-127"/>
              </a:rPr>
              <a:t>- 95.0 %</a:t>
            </a:r>
          </a:p>
          <a:p>
            <a:pPr defTabSz="457200" latinLnBrk="0"/>
            <a:r>
              <a:rPr kumimoji="1" lang="ko-KR" altLang="en-US" sz="1400" dirty="0">
                <a:latin typeface="HY견고딕" panose="02030600000101010101" pitchFamily="18" charset="-127"/>
                <a:ea typeface="HY견고딕" panose="02030600000101010101" pitchFamily="18" charset="-127"/>
              </a:rPr>
              <a:t>실적  </a:t>
            </a:r>
            <a:r>
              <a:rPr kumimoji="1" lang="en-US" altLang="ko-KR" sz="1400" dirty="0">
                <a:latin typeface="HY견고딕" panose="02030600000101010101" pitchFamily="18" charset="-127"/>
                <a:ea typeface="HY견고딕" panose="02030600000101010101" pitchFamily="18" charset="-127"/>
              </a:rPr>
              <a:t>- </a:t>
            </a:r>
            <a:r>
              <a:rPr kumimoji="1" lang="en-US" altLang="ko-KR" sz="1400" dirty="0">
                <a:solidFill>
                  <a:srgbClr val="FF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80.4 %</a:t>
            </a:r>
          </a:p>
          <a:p>
            <a:pPr defTabSz="457200" latinLnBrk="0"/>
            <a:endParaRPr kumimoji="1" lang="en-US" altLang="ko-KR" sz="1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defTabSz="457200" latinLnBrk="0"/>
            <a:endParaRPr kumimoji="1" lang="en-US" altLang="ko-KR" sz="1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defTabSz="457200" latinLnBrk="0"/>
            <a:endParaRPr kumimoji="1" lang="en-US" altLang="ko-KR" sz="1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defTabSz="457200" latinLnBrk="0"/>
            <a:endParaRPr kumimoji="1" lang="en-US" altLang="ko-KR" sz="1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defTabSz="457200" latinLnBrk="0"/>
            <a:endParaRPr kumimoji="1" lang="en-US" altLang="ko-KR" sz="1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defTabSz="457200" latinLnBrk="0"/>
            <a:endParaRPr kumimoji="1" lang="en-US" altLang="ko-KR" sz="1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defTabSz="457200" latinLnBrk="0"/>
            <a:endParaRPr kumimoji="1" lang="en-US" altLang="ko-KR" sz="1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defTabSz="457200" latinLnBrk="0"/>
            <a:endParaRPr kumimoji="1" lang="en-US" altLang="ko-KR" sz="1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defTabSz="457200" latinLnBrk="0"/>
            <a:endParaRPr kumimoji="1" lang="en-US" altLang="ko-KR" sz="1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defTabSz="457200" latinLnBrk="0"/>
            <a:r>
              <a:rPr kumimoji="1" lang="en-US" altLang="ko-KR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</a:rPr>
              <a:t>[ </a:t>
            </a:r>
            <a:r>
              <a:rPr kumimoji="1" lang="ko-KR" altLang="en-US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</a:rPr>
              <a:t>개선</a:t>
            </a:r>
            <a:r>
              <a:rPr kumimoji="1" lang="en-US" altLang="ko-KR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</a:rPr>
              <a:t>/</a:t>
            </a:r>
            <a:r>
              <a:rPr kumimoji="1" lang="ko-KR" altLang="en-US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</a:rPr>
              <a:t>변경 </a:t>
            </a:r>
            <a:r>
              <a:rPr kumimoji="1" lang="en-US" altLang="ko-KR" sz="1400" dirty="0">
                <a:latin typeface="HY견고딕" panose="02030600000101010101" pitchFamily="18" charset="-127"/>
                <a:ea typeface="HY견고딕" panose="02030600000101010101" pitchFamily="18" charset="-127"/>
              </a:rPr>
              <a:t>]</a:t>
            </a:r>
          </a:p>
          <a:p>
            <a:pPr defTabSz="457200" latinLnBrk="0"/>
            <a:endParaRPr kumimoji="1" lang="en-US" altLang="ko-KR" sz="1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defTabSz="457200" latinLnBrk="0"/>
            <a:r>
              <a:rPr kumimoji="1" lang="ko-KR" altLang="en-US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</a:rPr>
              <a:t>목표  </a:t>
            </a:r>
            <a:r>
              <a:rPr kumimoji="1" lang="en-US" altLang="ko-KR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</a:rPr>
              <a:t>–  80.0 %</a:t>
            </a:r>
          </a:p>
          <a:p>
            <a:pPr defTabSz="457200" latinLnBrk="0"/>
            <a:r>
              <a:rPr kumimoji="1" lang="ko-KR" altLang="en-US" sz="1400" dirty="0">
                <a:latin typeface="HY견고딕" panose="02030600000101010101" pitchFamily="18" charset="-127"/>
                <a:ea typeface="HY견고딕" panose="02030600000101010101" pitchFamily="18" charset="-127"/>
                <a:cs typeface="Segoe UI" panose="020B0502040204020203" pitchFamily="34" charset="0"/>
              </a:rPr>
              <a:t>실적  </a:t>
            </a:r>
            <a:r>
              <a:rPr kumimoji="1" lang="en-US" altLang="ko-KR" sz="1400" dirty="0">
                <a:latin typeface="HY견고딕" panose="02030600000101010101" pitchFamily="18" charset="-127"/>
                <a:ea typeface="HY견고딕" panose="02030600000101010101" pitchFamily="18" charset="-127"/>
                <a:cs typeface="Segoe UI" panose="020B0502040204020203" pitchFamily="34" charset="0"/>
              </a:rPr>
              <a:t>–  </a:t>
            </a:r>
            <a:r>
              <a:rPr kumimoji="1" lang="en-US" altLang="ko-KR" sz="1400" dirty="0">
                <a:solidFill>
                  <a:srgbClr val="FF0000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Segoe UI" panose="020B0502040204020203" pitchFamily="34" charset="0"/>
              </a:rPr>
              <a:t>81.8 %</a:t>
            </a:r>
            <a:endParaRPr kumimoji="1" lang="en-US" altLang="ko-KR" sz="1400" kern="0" spc="-30" dirty="0">
              <a:ln>
                <a:solidFill>
                  <a:prstClr val="white">
                    <a:alpha val="0"/>
                  </a:prstClr>
                </a:solidFill>
              </a:ln>
              <a:solidFill>
                <a:srgbClr val="FF0000"/>
              </a:solidFill>
              <a:latin typeface="HY견고딕" panose="02030600000101010101" pitchFamily="18" charset="-127"/>
              <a:ea typeface="HY견고딕" panose="02030600000101010101" pitchFamily="18" charset="-127"/>
              <a:cs typeface="Segoe UI" panose="020B0502040204020203" pitchFamily="34" charset="0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936C2550-DAB1-4FAD-B564-0F8FB6C88E44}"/>
              </a:ext>
            </a:extLst>
          </p:cNvPr>
          <p:cNvPicPr>
            <a:picLocks noChangeAspect="1" noChangeArrowheads="1"/>
            <a:extLst>
              <a:ext uri="{84589F7E-364E-4C9E-8A38-B11213B215E9}">
                <a14:cameraTool xmlns:a14="http://schemas.microsoft.com/office/drawing/2010/main" cellRange="$Z$73:$AL$91"/>
              </a:ext>
            </a:extLst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08290" y="3854967"/>
            <a:ext cx="8047603" cy="2598221"/>
          </a:xfrm>
          <a:prstGeom prst="rect">
            <a:avLst/>
          </a:prstGeom>
          <a:solidFill>
            <a:srgbClr xmlns:mc="http://schemas.openxmlformats.org/markup-compatibility/2006" xmlns:a14="http://schemas.microsoft.com/office/drawing/2010/main" val="FFFFFF" mc:Ignorable="a14" a14:legacySpreadsheetColorIndex="9"/>
          </a:solidFill>
          <a:ln w="9525">
            <a:solidFill>
              <a:srgbClr xmlns:mc="http://schemas.openxmlformats.org/markup-compatibility/2006" xmlns:a14="http://schemas.microsoft.com/office/drawing/2010/main" val="000000" mc:Ignorable="a14" a14:legacySpreadsheetColorIndex="64"/>
            </a:solidFill>
            <a:miter lim="800000"/>
            <a:headEnd/>
            <a:tailEnd/>
          </a:ln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6C1588E0-4D31-4B48-B6C2-2D92C6923E44}"/>
              </a:ext>
            </a:extLst>
          </p:cNvPr>
          <p:cNvPicPr>
            <a:picLocks noChangeAspect="1" noChangeArrowheads="1"/>
            <a:extLst>
              <a:ext uri="{84589F7E-364E-4C9E-8A38-B11213B215E9}">
                <a14:cameraTool xmlns:a14="http://schemas.microsoft.com/office/drawing/2010/main" cellRange="$Z$49:$AL$67"/>
              </a:ext>
            </a:extLst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508290" y="869333"/>
            <a:ext cx="8016710" cy="2808815"/>
          </a:xfrm>
          <a:prstGeom prst="rect">
            <a:avLst/>
          </a:prstGeom>
          <a:solidFill>
            <a:srgbClr xmlns:mc="http://schemas.openxmlformats.org/markup-compatibility/2006" xmlns:a14="http://schemas.microsoft.com/office/drawing/2010/main" val="FFFFFF" mc:Ignorable="a14" a14:legacySpreadsheetColorIndex="9"/>
          </a:solidFill>
          <a:ln w="9525">
            <a:solidFill>
              <a:srgbClr xmlns:mc="http://schemas.openxmlformats.org/markup-compatibility/2006" xmlns:a14="http://schemas.microsoft.com/office/drawing/2010/main" val="000000" mc:Ignorable="a14" a14:legacySpreadsheetColorIndex="64"/>
            </a:solidFill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867951449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5">
            <a:extLst>
              <a:ext uri="{FF2B5EF4-FFF2-40B4-BE49-F238E27FC236}">
                <a16:creationId xmlns:a16="http://schemas.microsoft.com/office/drawing/2014/main" id="{4768BB41-9E6A-4DA3-B835-F28AA8D7D659}"/>
              </a:ext>
            </a:extLst>
          </p:cNvPr>
          <p:cNvGrpSpPr/>
          <p:nvPr/>
        </p:nvGrpSpPr>
        <p:grpSpPr>
          <a:xfrm>
            <a:off x="1027384" y="5328229"/>
            <a:ext cx="5632034" cy="704399"/>
            <a:chOff x="833764" y="5138588"/>
            <a:chExt cx="8847887" cy="788035"/>
          </a:xfrm>
        </p:grpSpPr>
        <p:sp>
          <p:nvSpPr>
            <p:cNvPr id="4" name="object 7">
              <a:extLst>
                <a:ext uri="{FF2B5EF4-FFF2-40B4-BE49-F238E27FC236}">
                  <a16:creationId xmlns:a16="http://schemas.microsoft.com/office/drawing/2014/main" id="{15867F43-9100-48ED-9ADA-65F23C7B0817}"/>
                </a:ext>
              </a:extLst>
            </p:cNvPr>
            <p:cNvSpPr/>
            <p:nvPr/>
          </p:nvSpPr>
          <p:spPr>
            <a:xfrm>
              <a:off x="833764" y="5152438"/>
              <a:ext cx="8847887" cy="766534"/>
            </a:xfrm>
            <a:custGeom>
              <a:avLst/>
              <a:gdLst/>
              <a:ahLst/>
              <a:cxnLst/>
              <a:rect l="l" t="t" r="r" b="b"/>
              <a:pathLst>
                <a:path w="9038590" h="788035">
                  <a:moveTo>
                    <a:pt x="8983920" y="787657"/>
                  </a:moveTo>
                  <a:lnTo>
                    <a:pt x="54648" y="787657"/>
                  </a:lnTo>
                  <a:lnTo>
                    <a:pt x="50845" y="787283"/>
                  </a:lnTo>
                  <a:lnTo>
                    <a:pt x="14415" y="767811"/>
                  </a:lnTo>
                  <a:lnTo>
                    <a:pt x="0" y="733008"/>
                  </a:lnTo>
                  <a:lnTo>
                    <a:pt x="0" y="729168"/>
                  </a:lnTo>
                  <a:lnTo>
                    <a:pt x="0" y="54648"/>
                  </a:lnTo>
                  <a:lnTo>
                    <a:pt x="19846" y="14414"/>
                  </a:lnTo>
                  <a:lnTo>
                    <a:pt x="54648" y="0"/>
                  </a:lnTo>
                  <a:lnTo>
                    <a:pt x="8983920" y="0"/>
                  </a:lnTo>
                  <a:lnTo>
                    <a:pt x="9024153" y="19846"/>
                  </a:lnTo>
                  <a:lnTo>
                    <a:pt x="9038569" y="54648"/>
                  </a:lnTo>
                  <a:lnTo>
                    <a:pt x="9038569" y="733008"/>
                  </a:lnTo>
                  <a:lnTo>
                    <a:pt x="9018722" y="773242"/>
                  </a:lnTo>
                  <a:lnTo>
                    <a:pt x="8987723" y="787283"/>
                  </a:lnTo>
                  <a:lnTo>
                    <a:pt x="8983920" y="787657"/>
                  </a:lnTo>
                  <a:close/>
                </a:path>
              </a:pathLst>
            </a:custGeom>
            <a:solidFill>
              <a:srgbClr val="EFF5FF"/>
            </a:solidFill>
          </p:spPr>
          <p:txBody>
            <a:bodyPr wrap="square" lIns="0" tIns="0" rIns="0" bIns="0" rtlCol="0"/>
            <a:lstStyle/>
            <a:p>
              <a:endParaRPr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5" name="object 8">
              <a:extLst>
                <a:ext uri="{FF2B5EF4-FFF2-40B4-BE49-F238E27FC236}">
                  <a16:creationId xmlns:a16="http://schemas.microsoft.com/office/drawing/2014/main" id="{25E3A4CF-062C-4026-96AB-219ACCF04909}"/>
                </a:ext>
              </a:extLst>
            </p:cNvPr>
            <p:cNvSpPr/>
            <p:nvPr/>
          </p:nvSpPr>
          <p:spPr>
            <a:xfrm>
              <a:off x="833764" y="5138588"/>
              <a:ext cx="8847887" cy="788035"/>
            </a:xfrm>
            <a:custGeom>
              <a:avLst/>
              <a:gdLst/>
              <a:ahLst/>
              <a:cxnLst/>
              <a:rect l="l" t="t" r="r" b="b"/>
              <a:pathLst>
                <a:path w="9038590" h="788035">
                  <a:moveTo>
                    <a:pt x="0" y="729168"/>
                  </a:moveTo>
                  <a:lnTo>
                    <a:pt x="0" y="58489"/>
                  </a:lnTo>
                  <a:lnTo>
                    <a:pt x="0" y="54648"/>
                  </a:lnTo>
                  <a:lnTo>
                    <a:pt x="374" y="50845"/>
                  </a:lnTo>
                  <a:lnTo>
                    <a:pt x="17131" y="17130"/>
                  </a:lnTo>
                  <a:lnTo>
                    <a:pt x="19846" y="14414"/>
                  </a:lnTo>
                  <a:lnTo>
                    <a:pt x="22801" y="11990"/>
                  </a:lnTo>
                  <a:lnTo>
                    <a:pt x="25994" y="9856"/>
                  </a:lnTo>
                  <a:lnTo>
                    <a:pt x="29187" y="7722"/>
                  </a:lnTo>
                  <a:lnTo>
                    <a:pt x="47078" y="1123"/>
                  </a:lnTo>
                  <a:lnTo>
                    <a:pt x="50845" y="374"/>
                  </a:lnTo>
                  <a:lnTo>
                    <a:pt x="54648" y="0"/>
                  </a:lnTo>
                  <a:lnTo>
                    <a:pt x="58489" y="0"/>
                  </a:lnTo>
                  <a:lnTo>
                    <a:pt x="8980080" y="0"/>
                  </a:lnTo>
                  <a:lnTo>
                    <a:pt x="8983920" y="0"/>
                  </a:lnTo>
                  <a:lnTo>
                    <a:pt x="8987723" y="374"/>
                  </a:lnTo>
                  <a:lnTo>
                    <a:pt x="8991490" y="1123"/>
                  </a:lnTo>
                  <a:lnTo>
                    <a:pt x="8995257" y="1872"/>
                  </a:lnTo>
                  <a:lnTo>
                    <a:pt x="9012574" y="9857"/>
                  </a:lnTo>
                  <a:lnTo>
                    <a:pt x="9015768" y="11990"/>
                  </a:lnTo>
                  <a:lnTo>
                    <a:pt x="9028710" y="25993"/>
                  </a:lnTo>
                  <a:lnTo>
                    <a:pt x="9030844" y="29187"/>
                  </a:lnTo>
                  <a:lnTo>
                    <a:pt x="9038569" y="58489"/>
                  </a:lnTo>
                  <a:lnTo>
                    <a:pt x="9038569" y="729168"/>
                  </a:lnTo>
                  <a:lnTo>
                    <a:pt x="9038569" y="733008"/>
                  </a:lnTo>
                  <a:lnTo>
                    <a:pt x="9038193" y="736812"/>
                  </a:lnTo>
                  <a:lnTo>
                    <a:pt x="9037444" y="740578"/>
                  </a:lnTo>
                  <a:lnTo>
                    <a:pt x="9036695" y="744345"/>
                  </a:lnTo>
                  <a:lnTo>
                    <a:pt x="9028710" y="761662"/>
                  </a:lnTo>
                  <a:lnTo>
                    <a:pt x="9026576" y="764856"/>
                  </a:lnTo>
                  <a:lnTo>
                    <a:pt x="9012574" y="777800"/>
                  </a:lnTo>
                  <a:lnTo>
                    <a:pt x="9009381" y="779934"/>
                  </a:lnTo>
                  <a:lnTo>
                    <a:pt x="8991490" y="786533"/>
                  </a:lnTo>
                  <a:lnTo>
                    <a:pt x="8987723" y="787283"/>
                  </a:lnTo>
                  <a:lnTo>
                    <a:pt x="8983920" y="787657"/>
                  </a:lnTo>
                  <a:lnTo>
                    <a:pt x="8980080" y="787657"/>
                  </a:lnTo>
                  <a:lnTo>
                    <a:pt x="58489" y="787657"/>
                  </a:lnTo>
                  <a:lnTo>
                    <a:pt x="54648" y="787657"/>
                  </a:lnTo>
                  <a:lnTo>
                    <a:pt x="50845" y="787283"/>
                  </a:lnTo>
                  <a:lnTo>
                    <a:pt x="17131" y="770526"/>
                  </a:lnTo>
                  <a:lnTo>
                    <a:pt x="14415" y="767811"/>
                  </a:lnTo>
                  <a:lnTo>
                    <a:pt x="1123" y="740578"/>
                  </a:lnTo>
                  <a:lnTo>
                    <a:pt x="374" y="736812"/>
                  </a:lnTo>
                  <a:lnTo>
                    <a:pt x="0" y="733008"/>
                  </a:lnTo>
                  <a:lnTo>
                    <a:pt x="0" y="729168"/>
                  </a:lnTo>
                  <a:close/>
                </a:path>
              </a:pathLst>
            </a:custGeom>
            <a:ln w="7798">
              <a:solidFill>
                <a:srgbClr val="DAE9FE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8" name="object 11">
              <a:extLst>
                <a:ext uri="{FF2B5EF4-FFF2-40B4-BE49-F238E27FC236}">
                  <a16:creationId xmlns:a16="http://schemas.microsoft.com/office/drawing/2014/main" id="{6C3D3A10-725E-41C1-960B-3C7F7C55ECEC}"/>
                </a:ext>
              </a:extLst>
            </p:cNvPr>
            <p:cNvSpPr/>
            <p:nvPr/>
          </p:nvSpPr>
          <p:spPr>
            <a:xfrm>
              <a:off x="1850614" y="5615426"/>
              <a:ext cx="62864" cy="62865"/>
            </a:xfrm>
            <a:custGeom>
              <a:avLst/>
              <a:gdLst/>
              <a:ahLst/>
              <a:cxnLst/>
              <a:rect l="l" t="t" r="r" b="b"/>
              <a:pathLst>
                <a:path w="62865" h="62864">
                  <a:moveTo>
                    <a:pt x="35331" y="62388"/>
                  </a:moveTo>
                  <a:lnTo>
                    <a:pt x="27057" y="62388"/>
                  </a:lnTo>
                  <a:lnTo>
                    <a:pt x="23078" y="61596"/>
                  </a:lnTo>
                  <a:lnTo>
                    <a:pt x="0" y="35330"/>
                  </a:lnTo>
                  <a:lnTo>
                    <a:pt x="0" y="27057"/>
                  </a:lnTo>
                  <a:lnTo>
                    <a:pt x="27057" y="0"/>
                  </a:lnTo>
                  <a:lnTo>
                    <a:pt x="35331" y="0"/>
                  </a:lnTo>
                  <a:lnTo>
                    <a:pt x="62388" y="27057"/>
                  </a:lnTo>
                  <a:lnTo>
                    <a:pt x="62388" y="31194"/>
                  </a:lnTo>
                  <a:lnTo>
                    <a:pt x="62388" y="35330"/>
                  </a:lnTo>
                  <a:lnTo>
                    <a:pt x="35331" y="62388"/>
                  </a:lnTo>
                  <a:close/>
                </a:path>
              </a:pathLst>
            </a:custGeom>
            <a:solidFill>
              <a:srgbClr val="EF4444"/>
            </a:solidFill>
          </p:spPr>
          <p:txBody>
            <a:bodyPr wrap="square" lIns="0" tIns="0" rIns="0" bIns="0" rtlCol="0"/>
            <a:lstStyle/>
            <a:p>
              <a:endParaRPr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</p:grpSp>
      <p:sp>
        <p:nvSpPr>
          <p:cNvPr id="11" name="object 14">
            <a:extLst>
              <a:ext uri="{FF2B5EF4-FFF2-40B4-BE49-F238E27FC236}">
                <a16:creationId xmlns:a16="http://schemas.microsoft.com/office/drawing/2014/main" id="{94594726-C25B-4E05-9E45-F2DBD567E29D}"/>
              </a:ext>
            </a:extLst>
          </p:cNvPr>
          <p:cNvSpPr txBox="1"/>
          <p:nvPr/>
        </p:nvSpPr>
        <p:spPr>
          <a:xfrm>
            <a:off x="1706718" y="5649397"/>
            <a:ext cx="2452370" cy="224420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137160">
              <a:lnSpc>
                <a:spcPct val="100000"/>
              </a:lnSpc>
              <a:spcBef>
                <a:spcPts val="450"/>
              </a:spcBef>
              <a:tabLst>
                <a:tab pos="1456055" algn="l"/>
              </a:tabLst>
            </a:pPr>
            <a:r>
              <a:rPr lang="ko-KR" altLang="en-US" sz="1100" b="1" spc="-30" dirty="0">
                <a:solidFill>
                  <a:srgbClr val="1F2937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맑은 고딕"/>
              </a:rPr>
              <a:t>공항운영 </a:t>
            </a:r>
            <a:r>
              <a:rPr lang="en-US" altLang="ko-KR" sz="1100" b="1" spc="-30" dirty="0">
                <a:solidFill>
                  <a:srgbClr val="1F2937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맑은 고딕"/>
              </a:rPr>
              <a:t>21</a:t>
            </a:r>
            <a:r>
              <a:rPr lang="ko-KR" altLang="en-US" sz="1100" b="1" spc="-30" dirty="0">
                <a:solidFill>
                  <a:srgbClr val="1F2937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맑은 고딕"/>
              </a:rPr>
              <a:t>건</a:t>
            </a:r>
            <a:endParaRPr sz="1100" dirty="0">
              <a:latin typeface="KoPub돋움체 Medium" panose="00000600000000000000" pitchFamily="2" charset="-127"/>
              <a:ea typeface="KoPub돋움체 Medium" panose="00000600000000000000" pitchFamily="2" charset="-127"/>
              <a:cs typeface="맑은 고딕"/>
            </a:endParaRPr>
          </a:p>
        </p:txBody>
      </p:sp>
      <p:sp>
        <p:nvSpPr>
          <p:cNvPr id="21" name="object 24">
            <a:extLst>
              <a:ext uri="{FF2B5EF4-FFF2-40B4-BE49-F238E27FC236}">
                <a16:creationId xmlns:a16="http://schemas.microsoft.com/office/drawing/2014/main" id="{CC30C2A0-5D79-42C0-8ACE-7DA98E03C604}"/>
              </a:ext>
            </a:extLst>
          </p:cNvPr>
          <p:cNvSpPr txBox="1"/>
          <p:nvPr/>
        </p:nvSpPr>
        <p:spPr>
          <a:xfrm>
            <a:off x="3412387" y="5696758"/>
            <a:ext cx="1033780" cy="184666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ko-KR" altLang="en-US" sz="1100" b="1" spc="-30" dirty="0">
                <a:solidFill>
                  <a:srgbClr val="1F2937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Trebuchet MS"/>
              </a:rPr>
              <a:t>공항통계 </a:t>
            </a:r>
            <a:r>
              <a:rPr lang="en-US" altLang="ko-KR" sz="1100" b="1" spc="-30" dirty="0">
                <a:solidFill>
                  <a:srgbClr val="1F2937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Trebuchet MS"/>
              </a:rPr>
              <a:t>18</a:t>
            </a:r>
            <a:r>
              <a:rPr lang="ko-KR" altLang="en-US" sz="1100" b="1" spc="-30" dirty="0">
                <a:solidFill>
                  <a:srgbClr val="1F2937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Trebuchet MS"/>
              </a:rPr>
              <a:t>건</a:t>
            </a:r>
            <a:endParaRPr sz="1100" dirty="0">
              <a:latin typeface="KoPub돋움체 Medium" panose="00000600000000000000" pitchFamily="2" charset="-127"/>
              <a:ea typeface="KoPub돋움체 Medium" panose="00000600000000000000" pitchFamily="2" charset="-127"/>
              <a:cs typeface="맑은 고딕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95751F4-5E5E-43EA-9B97-E2A582DAC332}"/>
              </a:ext>
            </a:extLst>
          </p:cNvPr>
          <p:cNvSpPr txBox="1"/>
          <p:nvPr/>
        </p:nvSpPr>
        <p:spPr>
          <a:xfrm>
            <a:off x="5166679" y="5663730"/>
            <a:ext cx="138594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100" b="1" spc="-10" dirty="0">
                <a:solidFill>
                  <a:srgbClr val="1F2937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Noto Sans KR"/>
              </a:rPr>
              <a:t>자원배정</a:t>
            </a:r>
            <a:r>
              <a:rPr lang="en-US" altLang="ko-KR" sz="1100" b="1" spc="-10" dirty="0">
                <a:solidFill>
                  <a:srgbClr val="1F2937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Noto Sans KR"/>
              </a:rPr>
              <a:t> </a:t>
            </a:r>
            <a:r>
              <a:rPr lang="en-US" altLang="ko-KR" sz="1100" b="1" spc="-25" dirty="0">
                <a:solidFill>
                  <a:srgbClr val="1F2937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Noto Sans KR"/>
              </a:rPr>
              <a:t>12</a:t>
            </a:r>
            <a:r>
              <a:rPr lang="ko-KR" altLang="en-US" sz="1100" b="1" spc="-25" dirty="0">
                <a:solidFill>
                  <a:srgbClr val="1F2937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맑은 고딕"/>
              </a:rPr>
              <a:t>건</a:t>
            </a:r>
            <a:endParaRPr lang="ko-KR" altLang="en-US" sz="1100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E3F461A-2CFA-478C-9C21-BC6FD5671587}"/>
              </a:ext>
            </a:extLst>
          </p:cNvPr>
          <p:cNvSpPr txBox="1"/>
          <p:nvPr/>
        </p:nvSpPr>
        <p:spPr>
          <a:xfrm>
            <a:off x="1623094" y="5336205"/>
            <a:ext cx="332632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lang="ko-KR" altLang="en-US" sz="1400" b="1" spc="-25" dirty="0">
                <a:solidFill>
                  <a:srgbClr val="1D40A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맑은 고딕"/>
              </a:rPr>
              <a:t>집중</a:t>
            </a:r>
            <a:r>
              <a:rPr lang="ko-KR" altLang="en-US" sz="1400" b="1" spc="-40" dirty="0">
                <a:solidFill>
                  <a:srgbClr val="1D40A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맑은 고딕"/>
              </a:rPr>
              <a:t> </a:t>
            </a:r>
            <a:r>
              <a:rPr lang="ko-KR" altLang="en-US" sz="1400" b="1" spc="-25" dirty="0">
                <a:solidFill>
                  <a:srgbClr val="1D40A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맑은 고딕"/>
              </a:rPr>
              <a:t>관리</a:t>
            </a:r>
            <a:r>
              <a:rPr lang="ko-KR" altLang="en-US" sz="1400" b="1" spc="-40" dirty="0">
                <a:solidFill>
                  <a:srgbClr val="1D40A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맑은 고딕"/>
              </a:rPr>
              <a:t> </a:t>
            </a:r>
            <a:r>
              <a:rPr lang="ko-KR" altLang="en-US" sz="1400" b="1" spc="-25" dirty="0">
                <a:solidFill>
                  <a:srgbClr val="1D40A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맑은 고딕"/>
              </a:rPr>
              <a:t>대상</a:t>
            </a:r>
            <a:r>
              <a:rPr lang="ko-KR" altLang="en-US" sz="1400" b="1" spc="-40" dirty="0">
                <a:solidFill>
                  <a:srgbClr val="1D40A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맑은 고딕"/>
              </a:rPr>
              <a:t> </a:t>
            </a:r>
            <a:r>
              <a:rPr lang="en-US" altLang="ko-KR" sz="1400" b="1" spc="-5" dirty="0">
                <a:solidFill>
                  <a:srgbClr val="1D40A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Noto Sans KR"/>
              </a:rPr>
              <a:t>(</a:t>
            </a:r>
            <a:r>
              <a:rPr lang="en-US" altLang="ko-KR" sz="1400" b="1" spc="-40" dirty="0">
                <a:solidFill>
                  <a:srgbClr val="1D40A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Noto Sans KR"/>
              </a:rPr>
              <a:t>T</a:t>
            </a:r>
            <a:r>
              <a:rPr lang="en-US" altLang="ko-KR" sz="1400" b="1" spc="-10" dirty="0">
                <a:solidFill>
                  <a:srgbClr val="1D40A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Noto Sans KR"/>
              </a:rPr>
              <a:t>OP</a:t>
            </a:r>
            <a:r>
              <a:rPr lang="ko-KR" altLang="en-US" sz="1400" b="1" spc="35" dirty="0">
                <a:solidFill>
                  <a:srgbClr val="1D40A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Noto Sans KR"/>
              </a:rPr>
              <a:t> </a:t>
            </a:r>
            <a:r>
              <a:rPr lang="en-US" altLang="ko-KR" sz="1400" b="1" spc="-10" dirty="0">
                <a:solidFill>
                  <a:srgbClr val="1D40A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Noto Sans KR"/>
              </a:rPr>
              <a:t>3</a:t>
            </a:r>
            <a:r>
              <a:rPr lang="ko-KR" altLang="en-US" sz="1400" b="1" spc="35" dirty="0">
                <a:solidFill>
                  <a:srgbClr val="1D40A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Noto Sans KR"/>
              </a:rPr>
              <a:t> </a:t>
            </a:r>
            <a:r>
              <a:rPr lang="en-US" altLang="ko-KR" sz="1400" b="1" spc="-10" dirty="0">
                <a:solidFill>
                  <a:srgbClr val="1D40A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Noto Sans KR"/>
              </a:rPr>
              <a:t>H</a:t>
            </a:r>
            <a:r>
              <a:rPr lang="en-US" altLang="ko-KR" sz="1400" b="1" spc="-40" dirty="0">
                <a:solidFill>
                  <a:srgbClr val="1D40A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Noto Sans KR"/>
              </a:rPr>
              <a:t>OT</a:t>
            </a:r>
            <a:r>
              <a:rPr lang="en-US" altLang="ko-KR" sz="1400" b="1" spc="-10" dirty="0">
                <a:solidFill>
                  <a:srgbClr val="1D40A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Noto Sans KR"/>
              </a:rPr>
              <a:t>SP</a:t>
            </a:r>
            <a:r>
              <a:rPr lang="en-US" altLang="ko-KR" sz="1400" b="1" spc="-40" dirty="0">
                <a:solidFill>
                  <a:srgbClr val="1D40A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Noto Sans KR"/>
              </a:rPr>
              <a:t>OT</a:t>
            </a:r>
            <a:r>
              <a:rPr lang="en-US" altLang="ko-KR" sz="1400" b="1" spc="-10" dirty="0">
                <a:solidFill>
                  <a:srgbClr val="1D40A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Noto Sans KR"/>
              </a:rPr>
              <a:t>S)</a:t>
            </a:r>
            <a:endParaRPr lang="ko-KR" altLang="en-US" sz="1400" dirty="0">
              <a:latin typeface="KoPub돋움체 Medium" panose="00000600000000000000" pitchFamily="2" charset="-127"/>
              <a:ea typeface="KoPub돋움체 Medium" panose="00000600000000000000" pitchFamily="2" charset="-127"/>
              <a:cs typeface="Noto Sans KR"/>
            </a:endParaRPr>
          </a:p>
        </p:txBody>
      </p:sp>
      <p:grpSp>
        <p:nvGrpSpPr>
          <p:cNvPr id="69" name="그룹 68">
            <a:extLst>
              <a:ext uri="{FF2B5EF4-FFF2-40B4-BE49-F238E27FC236}">
                <a16:creationId xmlns:a16="http://schemas.microsoft.com/office/drawing/2014/main" id="{C13F9F67-F9A4-48E4-9924-3D1659AF8B43}"/>
              </a:ext>
            </a:extLst>
          </p:cNvPr>
          <p:cNvGrpSpPr/>
          <p:nvPr/>
        </p:nvGrpSpPr>
        <p:grpSpPr>
          <a:xfrm>
            <a:off x="1203270" y="5478120"/>
            <a:ext cx="312420" cy="312420"/>
            <a:chOff x="1425522" y="5067716"/>
            <a:chExt cx="312420" cy="312420"/>
          </a:xfrm>
        </p:grpSpPr>
        <p:sp>
          <p:nvSpPr>
            <p:cNvPr id="67" name="object 9">
              <a:extLst>
                <a:ext uri="{FF2B5EF4-FFF2-40B4-BE49-F238E27FC236}">
                  <a16:creationId xmlns:a16="http://schemas.microsoft.com/office/drawing/2014/main" id="{94115178-CA54-41D6-879B-05E9FB7C9C61}"/>
                </a:ext>
              </a:extLst>
            </p:cNvPr>
            <p:cNvSpPr/>
            <p:nvPr/>
          </p:nvSpPr>
          <p:spPr>
            <a:xfrm>
              <a:off x="1425522" y="5067716"/>
              <a:ext cx="312420" cy="312420"/>
            </a:xfrm>
            <a:custGeom>
              <a:avLst/>
              <a:gdLst/>
              <a:ahLst/>
              <a:cxnLst/>
              <a:rect l="l" t="t" r="r" b="b"/>
              <a:pathLst>
                <a:path w="312419" h="312420">
                  <a:moveTo>
                    <a:pt x="155971" y="311943"/>
                  </a:moveTo>
                  <a:lnTo>
                    <a:pt x="118064" y="307267"/>
                  </a:lnTo>
                  <a:lnTo>
                    <a:pt x="82446" y="293527"/>
                  </a:lnTo>
                  <a:lnTo>
                    <a:pt x="51233" y="271545"/>
                  </a:lnTo>
                  <a:lnTo>
                    <a:pt x="26285" y="242624"/>
                  </a:lnTo>
                  <a:lnTo>
                    <a:pt x="9113" y="208507"/>
                  </a:lnTo>
                  <a:lnTo>
                    <a:pt x="749" y="171259"/>
                  </a:lnTo>
                  <a:lnTo>
                    <a:pt x="0" y="155971"/>
                  </a:lnTo>
                  <a:lnTo>
                    <a:pt x="187" y="148309"/>
                  </a:lnTo>
                  <a:lnTo>
                    <a:pt x="6714" y="110694"/>
                  </a:lnTo>
                  <a:lnTo>
                    <a:pt x="22184" y="75793"/>
                  </a:lnTo>
                  <a:lnTo>
                    <a:pt x="45683" y="45682"/>
                  </a:lnTo>
                  <a:lnTo>
                    <a:pt x="75793" y="22184"/>
                  </a:lnTo>
                  <a:lnTo>
                    <a:pt x="110695" y="6714"/>
                  </a:lnTo>
                  <a:lnTo>
                    <a:pt x="148309" y="187"/>
                  </a:lnTo>
                  <a:lnTo>
                    <a:pt x="155971" y="0"/>
                  </a:lnTo>
                  <a:lnTo>
                    <a:pt x="163634" y="187"/>
                  </a:lnTo>
                  <a:lnTo>
                    <a:pt x="201248" y="6714"/>
                  </a:lnTo>
                  <a:lnTo>
                    <a:pt x="236149" y="22184"/>
                  </a:lnTo>
                  <a:lnTo>
                    <a:pt x="266260" y="45682"/>
                  </a:lnTo>
                  <a:lnTo>
                    <a:pt x="289758" y="75793"/>
                  </a:lnTo>
                  <a:lnTo>
                    <a:pt x="305229" y="110694"/>
                  </a:lnTo>
                  <a:lnTo>
                    <a:pt x="311756" y="148309"/>
                  </a:lnTo>
                  <a:lnTo>
                    <a:pt x="311943" y="155971"/>
                  </a:lnTo>
                  <a:lnTo>
                    <a:pt x="311756" y="163634"/>
                  </a:lnTo>
                  <a:lnTo>
                    <a:pt x="305229" y="201247"/>
                  </a:lnTo>
                  <a:lnTo>
                    <a:pt x="289758" y="236148"/>
                  </a:lnTo>
                  <a:lnTo>
                    <a:pt x="266260" y="266259"/>
                  </a:lnTo>
                  <a:lnTo>
                    <a:pt x="236149" y="289758"/>
                  </a:lnTo>
                  <a:lnTo>
                    <a:pt x="201248" y="305228"/>
                  </a:lnTo>
                  <a:lnTo>
                    <a:pt x="163634" y="311756"/>
                  </a:lnTo>
                  <a:lnTo>
                    <a:pt x="155971" y="311943"/>
                  </a:lnTo>
                  <a:close/>
                </a:path>
              </a:pathLst>
            </a:custGeom>
            <a:solidFill>
              <a:srgbClr val="2562EB"/>
            </a:solidFill>
          </p:spPr>
          <p:txBody>
            <a:bodyPr wrap="square" lIns="0" tIns="0" rIns="0" bIns="0" rtlCol="0"/>
            <a:lstStyle/>
            <a:p>
              <a:endParaRPr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pic>
          <p:nvPicPr>
            <p:cNvPr id="68" name="object 10">
              <a:extLst>
                <a:ext uri="{FF2B5EF4-FFF2-40B4-BE49-F238E27FC236}">
                  <a16:creationId xmlns:a16="http://schemas.microsoft.com/office/drawing/2014/main" id="{7F52FBFA-380C-42F8-9604-9AA5B3DF4740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19105" y="5159355"/>
              <a:ext cx="123824" cy="126999"/>
            </a:xfrm>
            <a:prstGeom prst="rect">
              <a:avLst/>
            </a:prstGeom>
          </p:spPr>
        </p:pic>
      </p:grpSp>
      <p:grpSp>
        <p:nvGrpSpPr>
          <p:cNvPr id="75" name="object 15">
            <a:extLst>
              <a:ext uri="{FF2B5EF4-FFF2-40B4-BE49-F238E27FC236}">
                <a16:creationId xmlns:a16="http://schemas.microsoft.com/office/drawing/2014/main" id="{D2758ED3-63E4-4BE0-B5EB-9EF88C5E96FA}"/>
              </a:ext>
            </a:extLst>
          </p:cNvPr>
          <p:cNvGrpSpPr/>
          <p:nvPr/>
        </p:nvGrpSpPr>
        <p:grpSpPr>
          <a:xfrm>
            <a:off x="2328471" y="1034375"/>
            <a:ext cx="2297856" cy="1316447"/>
            <a:chOff x="774192" y="2185416"/>
            <a:chExt cx="2959735" cy="2725420"/>
          </a:xfrm>
        </p:grpSpPr>
        <p:sp>
          <p:nvSpPr>
            <p:cNvPr id="105" name="object 18">
              <a:extLst>
                <a:ext uri="{FF2B5EF4-FFF2-40B4-BE49-F238E27FC236}">
                  <a16:creationId xmlns:a16="http://schemas.microsoft.com/office/drawing/2014/main" id="{B87B46F3-2609-4721-816C-821C7CF324FA}"/>
                </a:ext>
              </a:extLst>
            </p:cNvPr>
            <p:cNvSpPr/>
            <p:nvPr/>
          </p:nvSpPr>
          <p:spPr>
            <a:xfrm>
              <a:off x="792480" y="2188464"/>
              <a:ext cx="2923540" cy="2688590"/>
            </a:xfrm>
            <a:custGeom>
              <a:avLst/>
              <a:gdLst/>
              <a:ahLst/>
              <a:cxnLst/>
              <a:rect l="l" t="t" r="r" b="b"/>
              <a:pathLst>
                <a:path w="2923540" h="2688590">
                  <a:moveTo>
                    <a:pt x="2923032" y="2688336"/>
                  </a:moveTo>
                  <a:lnTo>
                    <a:pt x="0" y="2688336"/>
                  </a:lnTo>
                  <a:lnTo>
                    <a:pt x="0" y="0"/>
                  </a:lnTo>
                  <a:lnTo>
                    <a:pt x="2923032" y="0"/>
                  </a:lnTo>
                  <a:lnTo>
                    <a:pt x="2923032" y="29551"/>
                  </a:lnTo>
                  <a:lnTo>
                    <a:pt x="130968" y="29551"/>
                  </a:lnTo>
                  <a:lnTo>
                    <a:pt x="122518" y="29959"/>
                  </a:lnTo>
                  <a:lnTo>
                    <a:pt x="83300" y="43995"/>
                  </a:lnTo>
                  <a:lnTo>
                    <a:pt x="55324" y="74856"/>
                  </a:lnTo>
                  <a:lnTo>
                    <a:pt x="45184" y="115336"/>
                  </a:lnTo>
                  <a:lnTo>
                    <a:pt x="45184" y="2540698"/>
                  </a:lnTo>
                  <a:lnTo>
                    <a:pt x="55325" y="2581177"/>
                  </a:lnTo>
                  <a:lnTo>
                    <a:pt x="83300" y="2612038"/>
                  </a:lnTo>
                  <a:lnTo>
                    <a:pt x="122518" y="2626074"/>
                  </a:lnTo>
                  <a:lnTo>
                    <a:pt x="130968" y="2626483"/>
                  </a:lnTo>
                  <a:lnTo>
                    <a:pt x="2923032" y="2626483"/>
                  </a:lnTo>
                  <a:lnTo>
                    <a:pt x="2923032" y="2688336"/>
                  </a:lnTo>
                  <a:close/>
                </a:path>
                <a:path w="2923540" h="2688590">
                  <a:moveTo>
                    <a:pt x="2923032" y="2626483"/>
                  </a:moveTo>
                  <a:lnTo>
                    <a:pt x="2790289" y="2626483"/>
                  </a:lnTo>
                  <a:lnTo>
                    <a:pt x="2798739" y="2626074"/>
                  </a:lnTo>
                  <a:lnTo>
                    <a:pt x="2807027" y="2624850"/>
                  </a:lnTo>
                  <a:lnTo>
                    <a:pt x="2844683" y="2607043"/>
                  </a:lnTo>
                  <a:lnTo>
                    <a:pt x="2869543" y="2573526"/>
                  </a:lnTo>
                  <a:lnTo>
                    <a:pt x="2876073" y="2540698"/>
                  </a:lnTo>
                  <a:lnTo>
                    <a:pt x="2876073" y="115336"/>
                  </a:lnTo>
                  <a:lnTo>
                    <a:pt x="2865932" y="74856"/>
                  </a:lnTo>
                  <a:lnTo>
                    <a:pt x="2837957" y="43995"/>
                  </a:lnTo>
                  <a:lnTo>
                    <a:pt x="2798739" y="29959"/>
                  </a:lnTo>
                  <a:lnTo>
                    <a:pt x="2790289" y="29551"/>
                  </a:lnTo>
                  <a:lnTo>
                    <a:pt x="2923032" y="29551"/>
                  </a:lnTo>
                  <a:lnTo>
                    <a:pt x="2923032" y="2626483"/>
                  </a:lnTo>
                  <a:close/>
                </a:path>
              </a:pathLst>
            </a:custGeom>
            <a:solidFill>
              <a:srgbClr val="000000">
                <a:alpha val="5879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106" name="object 19">
              <a:extLst>
                <a:ext uri="{FF2B5EF4-FFF2-40B4-BE49-F238E27FC236}">
                  <a16:creationId xmlns:a16="http://schemas.microsoft.com/office/drawing/2014/main" id="{B3BBA7AD-6A66-4726-BF90-5C4945E69486}"/>
                </a:ext>
              </a:extLst>
            </p:cNvPr>
            <p:cNvSpPr/>
            <p:nvPr/>
          </p:nvSpPr>
          <p:spPr>
            <a:xfrm>
              <a:off x="774192" y="2185416"/>
              <a:ext cx="2959735" cy="2725420"/>
            </a:xfrm>
            <a:custGeom>
              <a:avLst/>
              <a:gdLst/>
              <a:ahLst/>
              <a:cxnLst/>
              <a:rect l="l" t="t" r="r" b="b"/>
              <a:pathLst>
                <a:path w="2959735" h="2725420">
                  <a:moveTo>
                    <a:pt x="2959608" y="2724912"/>
                  </a:moveTo>
                  <a:lnTo>
                    <a:pt x="0" y="2724912"/>
                  </a:lnTo>
                  <a:lnTo>
                    <a:pt x="0" y="0"/>
                  </a:lnTo>
                  <a:lnTo>
                    <a:pt x="2959608" y="0"/>
                  </a:lnTo>
                  <a:lnTo>
                    <a:pt x="2959608" y="32599"/>
                  </a:lnTo>
                  <a:lnTo>
                    <a:pt x="149256" y="32599"/>
                  </a:lnTo>
                  <a:lnTo>
                    <a:pt x="140806" y="33007"/>
                  </a:lnTo>
                  <a:lnTo>
                    <a:pt x="101588" y="47043"/>
                  </a:lnTo>
                  <a:lnTo>
                    <a:pt x="73612" y="77904"/>
                  </a:lnTo>
                  <a:lnTo>
                    <a:pt x="63472" y="118384"/>
                  </a:lnTo>
                  <a:lnTo>
                    <a:pt x="63472" y="2543746"/>
                  </a:lnTo>
                  <a:lnTo>
                    <a:pt x="73613" y="2584225"/>
                  </a:lnTo>
                  <a:lnTo>
                    <a:pt x="101588" y="2615086"/>
                  </a:lnTo>
                  <a:lnTo>
                    <a:pt x="140806" y="2629122"/>
                  </a:lnTo>
                  <a:lnTo>
                    <a:pt x="149256" y="2629531"/>
                  </a:lnTo>
                  <a:lnTo>
                    <a:pt x="2959608" y="2629531"/>
                  </a:lnTo>
                  <a:lnTo>
                    <a:pt x="2959608" y="2724912"/>
                  </a:lnTo>
                  <a:close/>
                </a:path>
                <a:path w="2959735" h="2725420">
                  <a:moveTo>
                    <a:pt x="2959608" y="2629531"/>
                  </a:moveTo>
                  <a:lnTo>
                    <a:pt x="2808577" y="2629531"/>
                  </a:lnTo>
                  <a:lnTo>
                    <a:pt x="2817027" y="2629122"/>
                  </a:lnTo>
                  <a:lnTo>
                    <a:pt x="2825315" y="2627898"/>
                  </a:lnTo>
                  <a:lnTo>
                    <a:pt x="2862971" y="2610091"/>
                  </a:lnTo>
                  <a:lnTo>
                    <a:pt x="2887831" y="2576574"/>
                  </a:lnTo>
                  <a:lnTo>
                    <a:pt x="2894361" y="2543746"/>
                  </a:lnTo>
                  <a:lnTo>
                    <a:pt x="2894361" y="118384"/>
                  </a:lnTo>
                  <a:lnTo>
                    <a:pt x="2884220" y="77904"/>
                  </a:lnTo>
                  <a:lnTo>
                    <a:pt x="2856245" y="47043"/>
                  </a:lnTo>
                  <a:lnTo>
                    <a:pt x="2817027" y="33007"/>
                  </a:lnTo>
                  <a:lnTo>
                    <a:pt x="2808577" y="32599"/>
                  </a:lnTo>
                  <a:lnTo>
                    <a:pt x="2959608" y="32599"/>
                  </a:lnTo>
                  <a:lnTo>
                    <a:pt x="2959608" y="2629531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107" name="object 20">
              <a:extLst>
                <a:ext uri="{FF2B5EF4-FFF2-40B4-BE49-F238E27FC236}">
                  <a16:creationId xmlns:a16="http://schemas.microsoft.com/office/drawing/2014/main" id="{8F68AEFF-B55E-445E-B482-DBE90F716CCC}"/>
                </a:ext>
              </a:extLst>
            </p:cNvPr>
            <p:cNvSpPr/>
            <p:nvPr/>
          </p:nvSpPr>
          <p:spPr>
            <a:xfrm>
              <a:off x="829865" y="2229713"/>
              <a:ext cx="2846705" cy="2593341"/>
            </a:xfrm>
            <a:custGeom>
              <a:avLst/>
              <a:gdLst/>
              <a:ahLst/>
              <a:cxnLst/>
              <a:rect l="l" t="t" r="r" b="b"/>
              <a:pathLst>
                <a:path w="2846704" h="2593340">
                  <a:moveTo>
                    <a:pt x="2759048" y="2593032"/>
                  </a:moveTo>
                  <a:lnTo>
                    <a:pt x="87438" y="2593032"/>
                  </a:lnTo>
                  <a:lnTo>
                    <a:pt x="81352" y="2592432"/>
                  </a:lnTo>
                  <a:lnTo>
                    <a:pt x="36481" y="2573846"/>
                  </a:lnTo>
                  <a:lnTo>
                    <a:pt x="9475" y="2540938"/>
                  </a:lnTo>
                  <a:lnTo>
                    <a:pt x="0" y="2505593"/>
                  </a:lnTo>
                  <a:lnTo>
                    <a:pt x="0" y="2499449"/>
                  </a:lnTo>
                  <a:lnTo>
                    <a:pt x="0" y="69221"/>
                  </a:lnTo>
                  <a:lnTo>
                    <a:pt x="19185" y="28881"/>
                  </a:lnTo>
                  <a:lnTo>
                    <a:pt x="52093" y="7500"/>
                  </a:lnTo>
                  <a:lnTo>
                    <a:pt x="87438" y="0"/>
                  </a:lnTo>
                  <a:lnTo>
                    <a:pt x="2759048" y="0"/>
                  </a:lnTo>
                  <a:lnTo>
                    <a:pt x="2799785" y="9783"/>
                  </a:lnTo>
                  <a:lnTo>
                    <a:pt x="2834128" y="36970"/>
                  </a:lnTo>
                  <a:lnTo>
                    <a:pt x="2846486" y="69221"/>
                  </a:lnTo>
                  <a:lnTo>
                    <a:pt x="2846486" y="2505593"/>
                  </a:lnTo>
                  <a:lnTo>
                    <a:pt x="2834128" y="2546331"/>
                  </a:lnTo>
                  <a:lnTo>
                    <a:pt x="2799785" y="2580674"/>
                  </a:lnTo>
                  <a:lnTo>
                    <a:pt x="2765133" y="2592432"/>
                  </a:lnTo>
                  <a:lnTo>
                    <a:pt x="2759048" y="259303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108" name="object 21">
              <a:extLst>
                <a:ext uri="{FF2B5EF4-FFF2-40B4-BE49-F238E27FC236}">
                  <a16:creationId xmlns:a16="http://schemas.microsoft.com/office/drawing/2014/main" id="{8148967F-0697-4CFA-853A-868A7CC293A2}"/>
                </a:ext>
              </a:extLst>
            </p:cNvPr>
            <p:cNvSpPr/>
            <p:nvPr/>
          </p:nvSpPr>
          <p:spPr>
            <a:xfrm>
              <a:off x="830272" y="2210217"/>
              <a:ext cx="2846070" cy="85725"/>
            </a:xfrm>
            <a:custGeom>
              <a:avLst/>
              <a:gdLst/>
              <a:ahLst/>
              <a:cxnLst/>
              <a:rect l="l" t="t" r="r" b="b"/>
              <a:pathLst>
                <a:path w="2846070" h="85725">
                  <a:moveTo>
                    <a:pt x="0" y="85149"/>
                  </a:moveTo>
                  <a:lnTo>
                    <a:pt x="15349" y="41581"/>
                  </a:lnTo>
                  <a:lnTo>
                    <a:pt x="49016" y="11062"/>
                  </a:lnTo>
                  <a:lnTo>
                    <a:pt x="93175" y="0"/>
                  </a:lnTo>
                  <a:lnTo>
                    <a:pt x="2752496" y="0"/>
                  </a:lnTo>
                  <a:lnTo>
                    <a:pt x="2796655" y="11062"/>
                  </a:lnTo>
                  <a:lnTo>
                    <a:pt x="2828400" y="38992"/>
                  </a:lnTo>
                  <a:lnTo>
                    <a:pt x="93175" y="38992"/>
                  </a:lnTo>
                  <a:lnTo>
                    <a:pt x="83956" y="39252"/>
                  </a:lnTo>
                  <a:lnTo>
                    <a:pt x="41174" y="48184"/>
                  </a:lnTo>
                  <a:lnTo>
                    <a:pt x="6716" y="72692"/>
                  </a:lnTo>
                  <a:lnTo>
                    <a:pt x="1967" y="79380"/>
                  </a:lnTo>
                  <a:lnTo>
                    <a:pt x="0" y="85149"/>
                  </a:lnTo>
                  <a:close/>
                </a:path>
                <a:path w="2846070" h="85725">
                  <a:moveTo>
                    <a:pt x="2845671" y="85150"/>
                  </a:moveTo>
                  <a:lnTo>
                    <a:pt x="2818669" y="54982"/>
                  </a:lnTo>
                  <a:lnTo>
                    <a:pt x="2779620" y="41330"/>
                  </a:lnTo>
                  <a:lnTo>
                    <a:pt x="2752496" y="38992"/>
                  </a:lnTo>
                  <a:lnTo>
                    <a:pt x="2828400" y="38992"/>
                  </a:lnTo>
                  <a:lnTo>
                    <a:pt x="2844298" y="75322"/>
                  </a:lnTo>
                  <a:lnTo>
                    <a:pt x="2845633" y="84364"/>
                  </a:lnTo>
                  <a:lnTo>
                    <a:pt x="2845671" y="85150"/>
                  </a:lnTo>
                  <a:close/>
                </a:path>
              </a:pathLst>
            </a:custGeom>
            <a:solidFill>
              <a:srgbClr val="4A5462"/>
            </a:solidFill>
          </p:spPr>
          <p:txBody>
            <a:bodyPr wrap="square" lIns="0" tIns="0" rIns="0" bIns="0" rtlCol="0"/>
            <a:lstStyle/>
            <a:p>
              <a:endParaRPr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109" name="object 22">
              <a:extLst>
                <a:ext uri="{FF2B5EF4-FFF2-40B4-BE49-F238E27FC236}">
                  <a16:creationId xmlns:a16="http://schemas.microsoft.com/office/drawing/2014/main" id="{DEF23DDA-5558-45B5-8670-8B966631AC3B}"/>
                </a:ext>
              </a:extLst>
            </p:cNvPr>
            <p:cNvSpPr/>
            <p:nvPr/>
          </p:nvSpPr>
          <p:spPr>
            <a:xfrm>
              <a:off x="2091478" y="2440624"/>
              <a:ext cx="325017" cy="475590"/>
            </a:xfrm>
            <a:custGeom>
              <a:avLst/>
              <a:gdLst/>
              <a:ahLst/>
              <a:cxnLst/>
              <a:rect l="l" t="t" r="r" b="b"/>
              <a:pathLst>
                <a:path w="467994" h="467994">
                  <a:moveTo>
                    <a:pt x="241620" y="467915"/>
                  </a:moveTo>
                  <a:lnTo>
                    <a:pt x="226295" y="467915"/>
                  </a:lnTo>
                  <a:lnTo>
                    <a:pt x="218651" y="467539"/>
                  </a:lnTo>
                  <a:lnTo>
                    <a:pt x="180799" y="461925"/>
                  </a:lnTo>
                  <a:lnTo>
                    <a:pt x="137346" y="447173"/>
                  </a:lnTo>
                  <a:lnTo>
                    <a:pt x="97606" y="424229"/>
                  </a:lnTo>
                  <a:lnTo>
                    <a:pt x="63106" y="393972"/>
                  </a:lnTo>
                  <a:lnTo>
                    <a:pt x="35172" y="357566"/>
                  </a:lnTo>
                  <a:lnTo>
                    <a:pt x="14876" y="316410"/>
                  </a:lnTo>
                  <a:lnTo>
                    <a:pt x="3000" y="272085"/>
                  </a:lnTo>
                  <a:lnTo>
                    <a:pt x="0" y="241620"/>
                  </a:lnTo>
                  <a:lnTo>
                    <a:pt x="0" y="226295"/>
                  </a:lnTo>
                  <a:lnTo>
                    <a:pt x="5990" y="180799"/>
                  </a:lnTo>
                  <a:lnTo>
                    <a:pt x="20741" y="137346"/>
                  </a:lnTo>
                  <a:lnTo>
                    <a:pt x="43686" y="97606"/>
                  </a:lnTo>
                  <a:lnTo>
                    <a:pt x="73942" y="63106"/>
                  </a:lnTo>
                  <a:lnTo>
                    <a:pt x="110348" y="35171"/>
                  </a:lnTo>
                  <a:lnTo>
                    <a:pt x="151505" y="14876"/>
                  </a:lnTo>
                  <a:lnTo>
                    <a:pt x="195830" y="3000"/>
                  </a:lnTo>
                  <a:lnTo>
                    <a:pt x="226295" y="0"/>
                  </a:lnTo>
                  <a:lnTo>
                    <a:pt x="241620" y="0"/>
                  </a:lnTo>
                  <a:lnTo>
                    <a:pt x="287115" y="5990"/>
                  </a:lnTo>
                  <a:lnTo>
                    <a:pt x="330568" y="20740"/>
                  </a:lnTo>
                  <a:lnTo>
                    <a:pt x="370308" y="43685"/>
                  </a:lnTo>
                  <a:lnTo>
                    <a:pt x="404809" y="73942"/>
                  </a:lnTo>
                  <a:lnTo>
                    <a:pt x="432743" y="110348"/>
                  </a:lnTo>
                  <a:lnTo>
                    <a:pt x="453038" y="151504"/>
                  </a:lnTo>
                  <a:lnTo>
                    <a:pt x="464915" y="195829"/>
                  </a:lnTo>
                  <a:lnTo>
                    <a:pt x="467915" y="226295"/>
                  </a:lnTo>
                  <a:lnTo>
                    <a:pt x="467915" y="233957"/>
                  </a:lnTo>
                  <a:lnTo>
                    <a:pt x="467915" y="241620"/>
                  </a:lnTo>
                  <a:lnTo>
                    <a:pt x="461925" y="287115"/>
                  </a:lnTo>
                  <a:lnTo>
                    <a:pt x="447174" y="330568"/>
                  </a:lnTo>
                  <a:lnTo>
                    <a:pt x="424229" y="370308"/>
                  </a:lnTo>
                  <a:lnTo>
                    <a:pt x="393972" y="404808"/>
                  </a:lnTo>
                  <a:lnTo>
                    <a:pt x="357566" y="432743"/>
                  </a:lnTo>
                  <a:lnTo>
                    <a:pt x="316410" y="453038"/>
                  </a:lnTo>
                  <a:lnTo>
                    <a:pt x="272085" y="464914"/>
                  </a:lnTo>
                  <a:lnTo>
                    <a:pt x="249264" y="467539"/>
                  </a:lnTo>
                  <a:lnTo>
                    <a:pt x="241620" y="467915"/>
                  </a:lnTo>
                  <a:close/>
                </a:path>
              </a:pathLst>
            </a:custGeom>
            <a:solidFill>
              <a:srgbClr val="F2F4F5"/>
            </a:solidFill>
          </p:spPr>
          <p:txBody>
            <a:bodyPr wrap="square" lIns="0" tIns="0" rIns="0" bIns="0" rtlCol="0"/>
            <a:lstStyle/>
            <a:p>
              <a:endParaRPr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pic>
          <p:nvPicPr>
            <p:cNvPr id="110" name="object 23">
              <a:extLst>
                <a:ext uri="{FF2B5EF4-FFF2-40B4-BE49-F238E27FC236}">
                  <a16:creationId xmlns:a16="http://schemas.microsoft.com/office/drawing/2014/main" id="{2C77D1C0-14A7-456C-8B3A-5623DAE68D72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163919" y="2595548"/>
              <a:ext cx="184149" cy="155574"/>
            </a:xfrm>
            <a:prstGeom prst="rect">
              <a:avLst/>
            </a:prstGeom>
          </p:spPr>
        </p:pic>
      </p:grpSp>
      <p:sp>
        <p:nvSpPr>
          <p:cNvPr id="76" name="object 26">
            <a:extLst>
              <a:ext uri="{FF2B5EF4-FFF2-40B4-BE49-F238E27FC236}">
                <a16:creationId xmlns:a16="http://schemas.microsoft.com/office/drawing/2014/main" id="{F86FEDF3-48A6-4B72-B4DD-45DE72E656CD}"/>
              </a:ext>
            </a:extLst>
          </p:cNvPr>
          <p:cNvSpPr txBox="1"/>
          <p:nvPr/>
        </p:nvSpPr>
        <p:spPr>
          <a:xfrm>
            <a:off x="3018253" y="1388567"/>
            <a:ext cx="974044" cy="84862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10"/>
              </a:spcBef>
            </a:pPr>
            <a:r>
              <a:rPr sz="1050" b="1" spc="-60" dirty="0">
                <a:solidFill>
                  <a:srgbClr val="6A728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맑은 고딕"/>
              </a:rPr>
              <a:t>전체 등록 결함</a:t>
            </a:r>
            <a:endParaRPr sz="1050" dirty="0">
              <a:latin typeface="KoPub돋움체 Medium" panose="00000600000000000000" pitchFamily="2" charset="-127"/>
              <a:ea typeface="KoPub돋움체 Medium" panose="00000600000000000000" pitchFamily="2" charset="-127"/>
              <a:cs typeface="맑은 고딕"/>
            </a:endParaRPr>
          </a:p>
        </p:txBody>
      </p:sp>
      <p:sp>
        <p:nvSpPr>
          <p:cNvPr id="77" name="object 27">
            <a:extLst>
              <a:ext uri="{FF2B5EF4-FFF2-40B4-BE49-F238E27FC236}">
                <a16:creationId xmlns:a16="http://schemas.microsoft.com/office/drawing/2014/main" id="{3A5D0324-53EC-41FC-AC32-63C7A57A23A2}"/>
              </a:ext>
            </a:extLst>
          </p:cNvPr>
          <p:cNvSpPr txBox="1"/>
          <p:nvPr/>
        </p:nvSpPr>
        <p:spPr>
          <a:xfrm>
            <a:off x="3020088" y="1541571"/>
            <a:ext cx="1050576" cy="294311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5"/>
              </a:spcBef>
            </a:pPr>
            <a:r>
              <a:rPr lang="en-US" b="1" spc="15" dirty="0">
                <a:solidFill>
                  <a:srgbClr val="1F2937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Comic Sans MS"/>
              </a:rPr>
              <a:t>128</a:t>
            </a:r>
            <a:r>
              <a:rPr sz="1050" spc="-95" dirty="0">
                <a:solidFill>
                  <a:srgbClr val="9CA2A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Arial Unicode MS"/>
              </a:rPr>
              <a:t>건</a:t>
            </a:r>
            <a:endParaRPr dirty="0">
              <a:latin typeface="KoPub돋움체 Medium" panose="00000600000000000000" pitchFamily="2" charset="-127"/>
              <a:ea typeface="KoPub돋움체 Medium" panose="00000600000000000000" pitchFamily="2" charset="-127"/>
              <a:cs typeface="Arial Unicode MS"/>
            </a:endParaRPr>
          </a:p>
        </p:txBody>
      </p:sp>
      <p:grpSp>
        <p:nvGrpSpPr>
          <p:cNvPr id="78" name="object 28">
            <a:extLst>
              <a:ext uri="{FF2B5EF4-FFF2-40B4-BE49-F238E27FC236}">
                <a16:creationId xmlns:a16="http://schemas.microsoft.com/office/drawing/2014/main" id="{5B4D3019-553C-4028-AF6A-3B8E89D9A6DB}"/>
              </a:ext>
            </a:extLst>
          </p:cNvPr>
          <p:cNvGrpSpPr/>
          <p:nvPr/>
        </p:nvGrpSpPr>
        <p:grpSpPr>
          <a:xfrm>
            <a:off x="4673555" y="993292"/>
            <a:ext cx="2413710" cy="1391392"/>
            <a:chOff x="3794759" y="2100362"/>
            <a:chExt cx="3108960" cy="2880577"/>
          </a:xfrm>
        </p:grpSpPr>
        <p:sp>
          <p:nvSpPr>
            <p:cNvPr id="99" name="object 29">
              <a:extLst>
                <a:ext uri="{FF2B5EF4-FFF2-40B4-BE49-F238E27FC236}">
                  <a16:creationId xmlns:a16="http://schemas.microsoft.com/office/drawing/2014/main" id="{D60F49E8-23FD-4707-BF80-8ADAD0DB555C}"/>
                </a:ext>
              </a:extLst>
            </p:cNvPr>
            <p:cNvSpPr/>
            <p:nvPr/>
          </p:nvSpPr>
          <p:spPr>
            <a:xfrm>
              <a:off x="3816095" y="2124455"/>
              <a:ext cx="3066415" cy="2816860"/>
            </a:xfrm>
            <a:custGeom>
              <a:avLst/>
              <a:gdLst/>
              <a:ahLst/>
              <a:cxnLst/>
              <a:rect l="l" t="t" r="r" b="b"/>
              <a:pathLst>
                <a:path w="3066415" h="2816860">
                  <a:moveTo>
                    <a:pt x="3066288" y="2816352"/>
                  </a:moveTo>
                  <a:lnTo>
                    <a:pt x="0" y="2816352"/>
                  </a:lnTo>
                  <a:lnTo>
                    <a:pt x="0" y="0"/>
                  </a:lnTo>
                  <a:lnTo>
                    <a:pt x="3066288" y="0"/>
                  </a:lnTo>
                  <a:lnTo>
                    <a:pt x="3066288" y="28636"/>
                  </a:lnTo>
                  <a:lnTo>
                    <a:pt x="136847" y="28636"/>
                  </a:lnTo>
                  <a:lnTo>
                    <a:pt x="127974" y="29064"/>
                  </a:lnTo>
                  <a:lnTo>
                    <a:pt x="86796" y="43802"/>
                  </a:lnTo>
                  <a:lnTo>
                    <a:pt x="57421" y="76206"/>
                  </a:lnTo>
                  <a:lnTo>
                    <a:pt x="46774" y="118710"/>
                  </a:lnTo>
                  <a:lnTo>
                    <a:pt x="46774" y="2665340"/>
                  </a:lnTo>
                  <a:lnTo>
                    <a:pt x="57421" y="2707844"/>
                  </a:lnTo>
                  <a:lnTo>
                    <a:pt x="86796" y="2740248"/>
                  </a:lnTo>
                  <a:lnTo>
                    <a:pt x="127974" y="2754985"/>
                  </a:lnTo>
                  <a:lnTo>
                    <a:pt x="136847" y="2755414"/>
                  </a:lnTo>
                  <a:lnTo>
                    <a:pt x="3066288" y="2755414"/>
                  </a:lnTo>
                  <a:lnTo>
                    <a:pt x="3066288" y="2816352"/>
                  </a:lnTo>
                  <a:close/>
                </a:path>
                <a:path w="3066415" h="2816860">
                  <a:moveTo>
                    <a:pt x="3066288" y="2755414"/>
                  </a:moveTo>
                  <a:lnTo>
                    <a:pt x="2929133" y="2755414"/>
                  </a:lnTo>
                  <a:lnTo>
                    <a:pt x="2938007" y="2754985"/>
                  </a:lnTo>
                  <a:lnTo>
                    <a:pt x="2946709" y="2753700"/>
                  </a:lnTo>
                  <a:lnTo>
                    <a:pt x="2986248" y="2735003"/>
                  </a:lnTo>
                  <a:lnTo>
                    <a:pt x="3012350" y="2699810"/>
                  </a:lnTo>
                  <a:lnTo>
                    <a:pt x="3019207" y="2665340"/>
                  </a:lnTo>
                  <a:lnTo>
                    <a:pt x="3019207" y="118710"/>
                  </a:lnTo>
                  <a:lnTo>
                    <a:pt x="3008559" y="76206"/>
                  </a:lnTo>
                  <a:lnTo>
                    <a:pt x="2979185" y="43802"/>
                  </a:lnTo>
                  <a:lnTo>
                    <a:pt x="2938007" y="29064"/>
                  </a:lnTo>
                  <a:lnTo>
                    <a:pt x="2929133" y="28636"/>
                  </a:lnTo>
                  <a:lnTo>
                    <a:pt x="3066288" y="28636"/>
                  </a:lnTo>
                  <a:lnTo>
                    <a:pt x="3066288" y="2755414"/>
                  </a:lnTo>
                  <a:close/>
                </a:path>
              </a:pathLst>
            </a:custGeom>
            <a:solidFill>
              <a:srgbClr val="000000">
                <a:alpha val="5879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100" name="object 30">
              <a:extLst>
                <a:ext uri="{FF2B5EF4-FFF2-40B4-BE49-F238E27FC236}">
                  <a16:creationId xmlns:a16="http://schemas.microsoft.com/office/drawing/2014/main" id="{65BDE254-7E05-4D82-9A79-3FDD85FF702C}"/>
                </a:ext>
              </a:extLst>
            </p:cNvPr>
            <p:cNvSpPr/>
            <p:nvPr/>
          </p:nvSpPr>
          <p:spPr>
            <a:xfrm>
              <a:off x="3794759" y="2118359"/>
              <a:ext cx="3108960" cy="2862580"/>
            </a:xfrm>
            <a:custGeom>
              <a:avLst/>
              <a:gdLst/>
              <a:ahLst/>
              <a:cxnLst/>
              <a:rect l="l" t="t" r="r" b="b"/>
              <a:pathLst>
                <a:path w="3108959" h="2862579">
                  <a:moveTo>
                    <a:pt x="3108960" y="2862072"/>
                  </a:moveTo>
                  <a:lnTo>
                    <a:pt x="0" y="2862072"/>
                  </a:lnTo>
                  <a:lnTo>
                    <a:pt x="0" y="0"/>
                  </a:lnTo>
                  <a:lnTo>
                    <a:pt x="3108960" y="0"/>
                  </a:lnTo>
                  <a:lnTo>
                    <a:pt x="3108960" y="34732"/>
                  </a:lnTo>
                  <a:lnTo>
                    <a:pt x="158183" y="34732"/>
                  </a:lnTo>
                  <a:lnTo>
                    <a:pt x="149310" y="35160"/>
                  </a:lnTo>
                  <a:lnTo>
                    <a:pt x="108132" y="49898"/>
                  </a:lnTo>
                  <a:lnTo>
                    <a:pt x="78757" y="82302"/>
                  </a:lnTo>
                  <a:lnTo>
                    <a:pt x="68110" y="124806"/>
                  </a:lnTo>
                  <a:lnTo>
                    <a:pt x="68110" y="2671436"/>
                  </a:lnTo>
                  <a:lnTo>
                    <a:pt x="78757" y="2713940"/>
                  </a:lnTo>
                  <a:lnTo>
                    <a:pt x="108132" y="2746344"/>
                  </a:lnTo>
                  <a:lnTo>
                    <a:pt x="149310" y="2761081"/>
                  </a:lnTo>
                  <a:lnTo>
                    <a:pt x="158183" y="2761510"/>
                  </a:lnTo>
                  <a:lnTo>
                    <a:pt x="3108960" y="2761510"/>
                  </a:lnTo>
                  <a:lnTo>
                    <a:pt x="3108960" y="2862072"/>
                  </a:lnTo>
                  <a:close/>
                </a:path>
                <a:path w="3108959" h="2862579">
                  <a:moveTo>
                    <a:pt x="3108960" y="2761510"/>
                  </a:moveTo>
                  <a:lnTo>
                    <a:pt x="2950469" y="2761510"/>
                  </a:lnTo>
                  <a:lnTo>
                    <a:pt x="2959343" y="2761081"/>
                  </a:lnTo>
                  <a:lnTo>
                    <a:pt x="2968045" y="2759796"/>
                  </a:lnTo>
                  <a:lnTo>
                    <a:pt x="3007584" y="2741099"/>
                  </a:lnTo>
                  <a:lnTo>
                    <a:pt x="3033686" y="2705906"/>
                  </a:lnTo>
                  <a:lnTo>
                    <a:pt x="3040543" y="2671436"/>
                  </a:lnTo>
                  <a:lnTo>
                    <a:pt x="3040543" y="124806"/>
                  </a:lnTo>
                  <a:lnTo>
                    <a:pt x="3029895" y="82302"/>
                  </a:lnTo>
                  <a:lnTo>
                    <a:pt x="3000521" y="49898"/>
                  </a:lnTo>
                  <a:lnTo>
                    <a:pt x="2959343" y="35160"/>
                  </a:lnTo>
                  <a:lnTo>
                    <a:pt x="2950469" y="34732"/>
                  </a:lnTo>
                  <a:lnTo>
                    <a:pt x="3108960" y="34732"/>
                  </a:lnTo>
                  <a:lnTo>
                    <a:pt x="3108960" y="2761510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101" name="object 31">
              <a:extLst>
                <a:ext uri="{FF2B5EF4-FFF2-40B4-BE49-F238E27FC236}">
                  <a16:creationId xmlns:a16="http://schemas.microsoft.com/office/drawing/2014/main" id="{CD5C2031-E0C8-4EDD-8C9C-445B12DD0477}"/>
                </a:ext>
              </a:extLst>
            </p:cNvPr>
            <p:cNvSpPr/>
            <p:nvPr/>
          </p:nvSpPr>
          <p:spPr>
            <a:xfrm>
              <a:off x="3909331" y="2100362"/>
              <a:ext cx="2988945" cy="2722880"/>
            </a:xfrm>
            <a:custGeom>
              <a:avLst/>
              <a:gdLst/>
              <a:ahLst/>
              <a:cxnLst/>
              <a:rect l="l" t="t" r="r" b="b"/>
              <a:pathLst>
                <a:path w="2988945" h="2722879">
                  <a:moveTo>
                    <a:pt x="2897000" y="2722683"/>
                  </a:moveTo>
                  <a:lnTo>
                    <a:pt x="91810" y="2722683"/>
                  </a:lnTo>
                  <a:lnTo>
                    <a:pt x="85420" y="2722054"/>
                  </a:lnTo>
                  <a:lnTo>
                    <a:pt x="49035" y="2709707"/>
                  </a:lnTo>
                  <a:lnTo>
                    <a:pt x="20144" y="2684377"/>
                  </a:lnTo>
                  <a:lnTo>
                    <a:pt x="3146" y="2649919"/>
                  </a:lnTo>
                  <a:lnTo>
                    <a:pt x="0" y="2630873"/>
                  </a:lnTo>
                  <a:lnTo>
                    <a:pt x="0" y="2624421"/>
                  </a:lnTo>
                  <a:lnTo>
                    <a:pt x="0" y="72683"/>
                  </a:lnTo>
                  <a:lnTo>
                    <a:pt x="20144" y="30325"/>
                  </a:lnTo>
                  <a:lnTo>
                    <a:pt x="54698" y="7876"/>
                  </a:lnTo>
                  <a:lnTo>
                    <a:pt x="91810" y="0"/>
                  </a:lnTo>
                  <a:lnTo>
                    <a:pt x="2897000" y="0"/>
                  </a:lnTo>
                  <a:lnTo>
                    <a:pt x="2939775" y="10272"/>
                  </a:lnTo>
                  <a:lnTo>
                    <a:pt x="2975834" y="38819"/>
                  </a:lnTo>
                  <a:lnTo>
                    <a:pt x="2988810" y="72683"/>
                  </a:lnTo>
                  <a:lnTo>
                    <a:pt x="2988810" y="2630873"/>
                  </a:lnTo>
                  <a:lnTo>
                    <a:pt x="2978861" y="2667984"/>
                  </a:lnTo>
                  <a:lnTo>
                    <a:pt x="2955467" y="2698465"/>
                  </a:lnTo>
                  <a:lnTo>
                    <a:pt x="2922190" y="2717672"/>
                  </a:lnTo>
                  <a:lnTo>
                    <a:pt x="2903390" y="2722054"/>
                  </a:lnTo>
                  <a:lnTo>
                    <a:pt x="2897000" y="2722683"/>
                  </a:lnTo>
                  <a:close/>
                </a:path>
              </a:pathLst>
            </a:custGeom>
            <a:solidFill>
              <a:srgbClr val="FEF1F1"/>
            </a:solidFill>
          </p:spPr>
          <p:txBody>
            <a:bodyPr wrap="square" lIns="0" tIns="0" rIns="0" bIns="0" rtlCol="0"/>
            <a:lstStyle/>
            <a:p>
              <a:endParaRPr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102" name="object 32">
              <a:extLst>
                <a:ext uri="{FF2B5EF4-FFF2-40B4-BE49-F238E27FC236}">
                  <a16:creationId xmlns:a16="http://schemas.microsoft.com/office/drawing/2014/main" id="{07C55F55-0E36-42BE-9F8C-12BAAFF338AC}"/>
                </a:ext>
              </a:extLst>
            </p:cNvPr>
            <p:cNvSpPr/>
            <p:nvPr/>
          </p:nvSpPr>
          <p:spPr>
            <a:xfrm>
              <a:off x="3855109" y="2144903"/>
              <a:ext cx="2988310" cy="89535"/>
            </a:xfrm>
            <a:custGeom>
              <a:avLst/>
              <a:gdLst/>
              <a:ahLst/>
              <a:cxnLst/>
              <a:rect l="l" t="t" r="r" b="b"/>
              <a:pathLst>
                <a:path w="2988309" h="89535">
                  <a:moveTo>
                    <a:pt x="0" y="89407"/>
                  </a:moveTo>
                  <a:lnTo>
                    <a:pt x="11188" y="51894"/>
                  </a:lnTo>
                  <a:lnTo>
                    <a:pt x="35527" y="22266"/>
                  </a:lnTo>
                  <a:lnTo>
                    <a:pt x="69353" y="4207"/>
                  </a:lnTo>
                  <a:lnTo>
                    <a:pt x="97834" y="0"/>
                  </a:lnTo>
                  <a:lnTo>
                    <a:pt x="2890120" y="0"/>
                  </a:lnTo>
                  <a:lnTo>
                    <a:pt x="2927723" y="7479"/>
                  </a:lnTo>
                  <a:lnTo>
                    <a:pt x="2959602" y="28780"/>
                  </a:lnTo>
                  <a:lnTo>
                    <a:pt x="2969819" y="40942"/>
                  </a:lnTo>
                  <a:lnTo>
                    <a:pt x="97834" y="40942"/>
                  </a:lnTo>
                  <a:lnTo>
                    <a:pt x="88154" y="41215"/>
                  </a:lnTo>
                  <a:lnTo>
                    <a:pt x="43232" y="50593"/>
                  </a:lnTo>
                  <a:lnTo>
                    <a:pt x="11188" y="71214"/>
                  </a:lnTo>
                  <a:lnTo>
                    <a:pt x="2065" y="83349"/>
                  </a:lnTo>
                  <a:lnTo>
                    <a:pt x="0" y="89407"/>
                  </a:lnTo>
                  <a:close/>
                </a:path>
                <a:path w="2988309" h="89535">
                  <a:moveTo>
                    <a:pt x="2987955" y="89407"/>
                  </a:moveTo>
                  <a:lnTo>
                    <a:pt x="2959602" y="57731"/>
                  </a:lnTo>
                  <a:lnTo>
                    <a:pt x="2918602" y="43396"/>
                  </a:lnTo>
                  <a:lnTo>
                    <a:pt x="2890120" y="40942"/>
                  </a:lnTo>
                  <a:lnTo>
                    <a:pt x="2969819" y="40942"/>
                  </a:lnTo>
                  <a:lnTo>
                    <a:pt x="2986513" y="79088"/>
                  </a:lnTo>
                  <a:lnTo>
                    <a:pt x="2987915" y="88582"/>
                  </a:lnTo>
                  <a:lnTo>
                    <a:pt x="2987955" y="89407"/>
                  </a:lnTo>
                  <a:close/>
                </a:path>
              </a:pathLst>
            </a:custGeom>
            <a:solidFill>
              <a:srgbClr val="DB2525"/>
            </a:solidFill>
          </p:spPr>
          <p:txBody>
            <a:bodyPr wrap="square" lIns="0" tIns="0" rIns="0" bIns="0" rtlCol="0"/>
            <a:lstStyle/>
            <a:p>
              <a:endParaRPr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103" name="object 33">
              <a:extLst>
                <a:ext uri="{FF2B5EF4-FFF2-40B4-BE49-F238E27FC236}">
                  <a16:creationId xmlns:a16="http://schemas.microsoft.com/office/drawing/2014/main" id="{5ECE2732-039B-4490-9FFB-8AD72AEA6EC8}"/>
                </a:ext>
              </a:extLst>
            </p:cNvPr>
            <p:cNvSpPr/>
            <p:nvPr/>
          </p:nvSpPr>
          <p:spPr>
            <a:xfrm>
              <a:off x="5153146" y="2462507"/>
              <a:ext cx="383718" cy="443396"/>
            </a:xfrm>
            <a:custGeom>
              <a:avLst/>
              <a:gdLst/>
              <a:ahLst/>
              <a:cxnLst/>
              <a:rect l="l" t="t" r="r" b="b"/>
              <a:pathLst>
                <a:path w="491489" h="491489">
                  <a:moveTo>
                    <a:pt x="253701" y="491311"/>
                  </a:moveTo>
                  <a:lnTo>
                    <a:pt x="237610" y="491311"/>
                  </a:lnTo>
                  <a:lnTo>
                    <a:pt x="229583" y="490917"/>
                  </a:lnTo>
                  <a:lnTo>
                    <a:pt x="189839" y="485021"/>
                  </a:lnTo>
                  <a:lnTo>
                    <a:pt x="144213" y="469533"/>
                  </a:lnTo>
                  <a:lnTo>
                    <a:pt x="102486" y="445440"/>
                  </a:lnTo>
                  <a:lnTo>
                    <a:pt x="66261" y="413671"/>
                  </a:lnTo>
                  <a:lnTo>
                    <a:pt x="36930" y="375444"/>
                  </a:lnTo>
                  <a:lnTo>
                    <a:pt x="15620" y="332230"/>
                  </a:lnTo>
                  <a:lnTo>
                    <a:pt x="3150" y="285689"/>
                  </a:lnTo>
                  <a:lnTo>
                    <a:pt x="0" y="253701"/>
                  </a:lnTo>
                  <a:lnTo>
                    <a:pt x="0" y="237610"/>
                  </a:lnTo>
                  <a:lnTo>
                    <a:pt x="6289" y="189839"/>
                  </a:lnTo>
                  <a:lnTo>
                    <a:pt x="21778" y="144214"/>
                  </a:lnTo>
                  <a:lnTo>
                    <a:pt x="45870" y="102487"/>
                  </a:lnTo>
                  <a:lnTo>
                    <a:pt x="77639" y="66261"/>
                  </a:lnTo>
                  <a:lnTo>
                    <a:pt x="115866" y="36930"/>
                  </a:lnTo>
                  <a:lnTo>
                    <a:pt x="159080" y="15620"/>
                  </a:lnTo>
                  <a:lnTo>
                    <a:pt x="205621" y="3150"/>
                  </a:lnTo>
                  <a:lnTo>
                    <a:pt x="237610" y="0"/>
                  </a:lnTo>
                  <a:lnTo>
                    <a:pt x="253701" y="0"/>
                  </a:lnTo>
                  <a:lnTo>
                    <a:pt x="301471" y="6289"/>
                  </a:lnTo>
                  <a:lnTo>
                    <a:pt x="347096" y="21778"/>
                  </a:lnTo>
                  <a:lnTo>
                    <a:pt x="388824" y="45870"/>
                  </a:lnTo>
                  <a:lnTo>
                    <a:pt x="425049" y="77639"/>
                  </a:lnTo>
                  <a:lnTo>
                    <a:pt x="454380" y="115866"/>
                  </a:lnTo>
                  <a:lnTo>
                    <a:pt x="475690" y="159080"/>
                  </a:lnTo>
                  <a:lnTo>
                    <a:pt x="488160" y="205621"/>
                  </a:lnTo>
                  <a:lnTo>
                    <a:pt x="491311" y="245655"/>
                  </a:lnTo>
                  <a:lnTo>
                    <a:pt x="491311" y="253701"/>
                  </a:lnTo>
                  <a:lnTo>
                    <a:pt x="485021" y="301471"/>
                  </a:lnTo>
                  <a:lnTo>
                    <a:pt x="469532" y="347097"/>
                  </a:lnTo>
                  <a:lnTo>
                    <a:pt x="445440" y="388824"/>
                  </a:lnTo>
                  <a:lnTo>
                    <a:pt x="413671" y="425049"/>
                  </a:lnTo>
                  <a:lnTo>
                    <a:pt x="375444" y="454380"/>
                  </a:lnTo>
                  <a:lnTo>
                    <a:pt x="332230" y="475690"/>
                  </a:lnTo>
                  <a:lnTo>
                    <a:pt x="285689" y="488160"/>
                  </a:lnTo>
                  <a:lnTo>
                    <a:pt x="253701" y="491311"/>
                  </a:lnTo>
                  <a:close/>
                </a:path>
              </a:pathLst>
            </a:custGeom>
            <a:solidFill>
              <a:srgbClr val="FEE2E2"/>
            </a:solidFill>
          </p:spPr>
          <p:txBody>
            <a:bodyPr wrap="square" lIns="0" tIns="0" rIns="0" bIns="0" rtlCol="0"/>
            <a:lstStyle/>
            <a:p>
              <a:endParaRPr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pic>
          <p:nvPicPr>
            <p:cNvPr id="104" name="object 34">
              <a:extLst>
                <a:ext uri="{FF2B5EF4-FFF2-40B4-BE49-F238E27FC236}">
                  <a16:creationId xmlns:a16="http://schemas.microsoft.com/office/drawing/2014/main" id="{378C6821-5585-4E21-929B-293B760702F0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248928" y="2588929"/>
              <a:ext cx="203199" cy="174624"/>
            </a:xfrm>
            <a:prstGeom prst="rect">
              <a:avLst/>
            </a:prstGeom>
          </p:spPr>
        </p:pic>
      </p:grpSp>
      <p:sp>
        <p:nvSpPr>
          <p:cNvPr id="79" name="object 35">
            <a:extLst>
              <a:ext uri="{FF2B5EF4-FFF2-40B4-BE49-F238E27FC236}">
                <a16:creationId xmlns:a16="http://schemas.microsoft.com/office/drawing/2014/main" id="{6131B8B3-4FDC-4F7E-858C-65AA445300A1}"/>
              </a:ext>
            </a:extLst>
          </p:cNvPr>
          <p:cNvSpPr txBox="1"/>
          <p:nvPr/>
        </p:nvSpPr>
        <p:spPr>
          <a:xfrm>
            <a:off x="5298967" y="1398841"/>
            <a:ext cx="2119397" cy="86411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050" b="1" spc="-70" dirty="0">
                <a:solidFill>
                  <a:srgbClr val="B91B1B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맑은 고딕"/>
              </a:rPr>
              <a:t>유효</a:t>
            </a:r>
            <a:r>
              <a:rPr sz="1050" b="1" spc="-65" dirty="0">
                <a:solidFill>
                  <a:srgbClr val="B91B1B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맑은 고딕"/>
              </a:rPr>
              <a:t> </a:t>
            </a:r>
            <a:r>
              <a:rPr sz="1050" b="1" spc="-70" dirty="0">
                <a:solidFill>
                  <a:srgbClr val="B91B1B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맑은 고딕"/>
              </a:rPr>
              <a:t>결함</a:t>
            </a:r>
            <a:r>
              <a:rPr sz="1050" b="1" spc="-65" dirty="0">
                <a:solidFill>
                  <a:srgbClr val="B91B1B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맑은 고딕"/>
              </a:rPr>
              <a:t> </a:t>
            </a:r>
            <a:r>
              <a:rPr sz="1050" b="1" dirty="0">
                <a:solidFill>
                  <a:srgbClr val="B91B1B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Noto Sans KR"/>
              </a:rPr>
              <a:t>(</a:t>
            </a:r>
            <a:r>
              <a:rPr sz="1050" b="1" spc="-20" dirty="0">
                <a:solidFill>
                  <a:srgbClr val="B91B1B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Noto Sans KR"/>
              </a:rPr>
              <a:t>AC</a:t>
            </a:r>
            <a:r>
              <a:rPr sz="1050" b="1" dirty="0">
                <a:solidFill>
                  <a:srgbClr val="B91B1B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Noto Sans KR"/>
              </a:rPr>
              <a:t>TION</a:t>
            </a:r>
            <a:r>
              <a:rPr sz="1050" b="1" spc="45" dirty="0">
                <a:solidFill>
                  <a:srgbClr val="B91B1B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Noto Sans KR"/>
              </a:rPr>
              <a:t> </a:t>
            </a:r>
            <a:r>
              <a:rPr sz="1050" b="1" spc="-50" dirty="0">
                <a:solidFill>
                  <a:srgbClr val="B91B1B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Noto Sans KR"/>
              </a:rPr>
              <a:t>T</a:t>
            </a:r>
            <a:r>
              <a:rPr sz="1050" b="1" dirty="0">
                <a:solidFill>
                  <a:srgbClr val="B91B1B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Noto Sans KR"/>
              </a:rPr>
              <a:t>ARGET)</a:t>
            </a:r>
            <a:endParaRPr sz="1050" dirty="0">
              <a:latin typeface="KoPub돋움체 Medium" panose="00000600000000000000" pitchFamily="2" charset="-127"/>
              <a:ea typeface="KoPub돋움체 Medium" panose="00000600000000000000" pitchFamily="2" charset="-127"/>
              <a:cs typeface="Noto Sans KR"/>
            </a:endParaRPr>
          </a:p>
        </p:txBody>
      </p:sp>
      <p:grpSp>
        <p:nvGrpSpPr>
          <p:cNvPr id="80" name="object 36">
            <a:extLst>
              <a:ext uri="{FF2B5EF4-FFF2-40B4-BE49-F238E27FC236}">
                <a16:creationId xmlns:a16="http://schemas.microsoft.com/office/drawing/2014/main" id="{2AA076C0-0BA0-4A77-B707-A80315F73ECD}"/>
              </a:ext>
            </a:extLst>
          </p:cNvPr>
          <p:cNvGrpSpPr/>
          <p:nvPr/>
        </p:nvGrpSpPr>
        <p:grpSpPr>
          <a:xfrm>
            <a:off x="5518045" y="1835541"/>
            <a:ext cx="845952" cy="238595"/>
            <a:chOff x="6489254" y="509062"/>
            <a:chExt cx="868045" cy="447442"/>
          </a:xfrm>
        </p:grpSpPr>
        <p:sp>
          <p:nvSpPr>
            <p:cNvPr id="97" name="object 37">
              <a:extLst>
                <a:ext uri="{FF2B5EF4-FFF2-40B4-BE49-F238E27FC236}">
                  <a16:creationId xmlns:a16="http://schemas.microsoft.com/office/drawing/2014/main" id="{F3785861-0868-420F-905D-9CA370D1E214}"/>
                </a:ext>
              </a:extLst>
            </p:cNvPr>
            <p:cNvSpPr/>
            <p:nvPr/>
          </p:nvSpPr>
          <p:spPr>
            <a:xfrm>
              <a:off x="6489254" y="523005"/>
              <a:ext cx="868045" cy="433499"/>
            </a:xfrm>
            <a:custGeom>
              <a:avLst/>
              <a:gdLst/>
              <a:ahLst/>
              <a:cxnLst/>
              <a:rect l="l" t="t" r="r" b="b"/>
              <a:pathLst>
                <a:path w="868045" h="237489">
                  <a:moveTo>
                    <a:pt x="757045" y="237467"/>
                  </a:moveTo>
                  <a:lnTo>
                    <a:pt x="110937" y="237467"/>
                  </a:lnTo>
                  <a:lnTo>
                    <a:pt x="103216" y="236706"/>
                  </a:lnTo>
                  <a:lnTo>
                    <a:pt x="66093" y="225445"/>
                  </a:lnTo>
                  <a:lnTo>
                    <a:pt x="29263" y="197177"/>
                  </a:lnTo>
                  <a:lnTo>
                    <a:pt x="6054" y="156968"/>
                  </a:lnTo>
                  <a:lnTo>
                    <a:pt x="0" y="126529"/>
                  </a:lnTo>
                  <a:lnTo>
                    <a:pt x="0" y="118733"/>
                  </a:lnTo>
                  <a:lnTo>
                    <a:pt x="0" y="110937"/>
                  </a:lnTo>
                  <a:lnTo>
                    <a:pt x="12021" y="66093"/>
                  </a:lnTo>
                  <a:lnTo>
                    <a:pt x="40288" y="29263"/>
                  </a:lnTo>
                  <a:lnTo>
                    <a:pt x="80498" y="6054"/>
                  </a:lnTo>
                  <a:lnTo>
                    <a:pt x="110937" y="0"/>
                  </a:lnTo>
                  <a:lnTo>
                    <a:pt x="757045" y="0"/>
                  </a:lnTo>
                  <a:lnTo>
                    <a:pt x="801889" y="12021"/>
                  </a:lnTo>
                  <a:lnTo>
                    <a:pt x="838719" y="40288"/>
                  </a:lnTo>
                  <a:lnTo>
                    <a:pt x="861928" y="80498"/>
                  </a:lnTo>
                  <a:lnTo>
                    <a:pt x="867983" y="110937"/>
                  </a:lnTo>
                  <a:lnTo>
                    <a:pt x="867983" y="126529"/>
                  </a:lnTo>
                  <a:lnTo>
                    <a:pt x="855961" y="171373"/>
                  </a:lnTo>
                  <a:lnTo>
                    <a:pt x="827694" y="208203"/>
                  </a:lnTo>
                  <a:lnTo>
                    <a:pt x="787484" y="231412"/>
                  </a:lnTo>
                  <a:lnTo>
                    <a:pt x="764767" y="236706"/>
                  </a:lnTo>
                  <a:lnTo>
                    <a:pt x="757045" y="23746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98" name="object 38">
              <a:extLst>
                <a:ext uri="{FF2B5EF4-FFF2-40B4-BE49-F238E27FC236}">
                  <a16:creationId xmlns:a16="http://schemas.microsoft.com/office/drawing/2014/main" id="{934FE9F1-ACC4-44BB-A901-3B60F627F126}"/>
                </a:ext>
              </a:extLst>
            </p:cNvPr>
            <p:cNvSpPr/>
            <p:nvPr/>
          </p:nvSpPr>
          <p:spPr>
            <a:xfrm>
              <a:off x="6489254" y="509062"/>
              <a:ext cx="868045" cy="433499"/>
            </a:xfrm>
            <a:custGeom>
              <a:avLst/>
              <a:gdLst/>
              <a:ahLst/>
              <a:cxnLst/>
              <a:rect l="l" t="t" r="r" b="b"/>
              <a:pathLst>
                <a:path w="868045" h="237489">
                  <a:moveTo>
                    <a:pt x="0" y="118733"/>
                  </a:moveTo>
                  <a:lnTo>
                    <a:pt x="0" y="110937"/>
                  </a:lnTo>
                  <a:lnTo>
                    <a:pt x="760" y="103216"/>
                  </a:lnTo>
                  <a:lnTo>
                    <a:pt x="12021" y="66093"/>
                  </a:lnTo>
                  <a:lnTo>
                    <a:pt x="20010" y="52768"/>
                  </a:lnTo>
                  <a:lnTo>
                    <a:pt x="24341" y="46286"/>
                  </a:lnTo>
                  <a:lnTo>
                    <a:pt x="29263" y="40288"/>
                  </a:lnTo>
                  <a:lnTo>
                    <a:pt x="34776" y="34776"/>
                  </a:lnTo>
                  <a:lnTo>
                    <a:pt x="40288" y="29263"/>
                  </a:lnTo>
                  <a:lnTo>
                    <a:pt x="73296" y="9037"/>
                  </a:lnTo>
                  <a:lnTo>
                    <a:pt x="110937" y="0"/>
                  </a:lnTo>
                  <a:lnTo>
                    <a:pt x="118733" y="0"/>
                  </a:lnTo>
                  <a:lnTo>
                    <a:pt x="749249" y="0"/>
                  </a:lnTo>
                  <a:lnTo>
                    <a:pt x="757045" y="0"/>
                  </a:lnTo>
                  <a:lnTo>
                    <a:pt x="764767" y="760"/>
                  </a:lnTo>
                  <a:lnTo>
                    <a:pt x="801889" y="12021"/>
                  </a:lnTo>
                  <a:lnTo>
                    <a:pt x="833207" y="34776"/>
                  </a:lnTo>
                  <a:lnTo>
                    <a:pt x="847973" y="52768"/>
                  </a:lnTo>
                  <a:lnTo>
                    <a:pt x="852304" y="59250"/>
                  </a:lnTo>
                  <a:lnTo>
                    <a:pt x="855961" y="66093"/>
                  </a:lnTo>
                  <a:lnTo>
                    <a:pt x="858945" y="73295"/>
                  </a:lnTo>
                  <a:lnTo>
                    <a:pt x="861928" y="80498"/>
                  </a:lnTo>
                  <a:lnTo>
                    <a:pt x="864180" y="87923"/>
                  </a:lnTo>
                  <a:lnTo>
                    <a:pt x="865701" y="95569"/>
                  </a:lnTo>
                  <a:lnTo>
                    <a:pt x="867222" y="103216"/>
                  </a:lnTo>
                  <a:lnTo>
                    <a:pt x="867983" y="110937"/>
                  </a:lnTo>
                  <a:lnTo>
                    <a:pt x="867983" y="118733"/>
                  </a:lnTo>
                  <a:lnTo>
                    <a:pt x="867983" y="126529"/>
                  </a:lnTo>
                  <a:lnTo>
                    <a:pt x="867222" y="134250"/>
                  </a:lnTo>
                  <a:lnTo>
                    <a:pt x="865701" y="141897"/>
                  </a:lnTo>
                  <a:lnTo>
                    <a:pt x="864180" y="149543"/>
                  </a:lnTo>
                  <a:lnTo>
                    <a:pt x="861928" y="156968"/>
                  </a:lnTo>
                  <a:lnTo>
                    <a:pt x="858945" y="164170"/>
                  </a:lnTo>
                  <a:lnTo>
                    <a:pt x="855961" y="171373"/>
                  </a:lnTo>
                  <a:lnTo>
                    <a:pt x="833207" y="202690"/>
                  </a:lnTo>
                  <a:lnTo>
                    <a:pt x="801889" y="225445"/>
                  </a:lnTo>
                  <a:lnTo>
                    <a:pt x="764767" y="236706"/>
                  </a:lnTo>
                  <a:lnTo>
                    <a:pt x="757045" y="237467"/>
                  </a:lnTo>
                  <a:lnTo>
                    <a:pt x="749249" y="237467"/>
                  </a:lnTo>
                  <a:lnTo>
                    <a:pt x="118733" y="237467"/>
                  </a:lnTo>
                  <a:lnTo>
                    <a:pt x="110937" y="237467"/>
                  </a:lnTo>
                  <a:lnTo>
                    <a:pt x="103216" y="236706"/>
                  </a:lnTo>
                  <a:lnTo>
                    <a:pt x="95569" y="235185"/>
                  </a:lnTo>
                  <a:lnTo>
                    <a:pt x="87923" y="233664"/>
                  </a:lnTo>
                  <a:lnTo>
                    <a:pt x="52768" y="217456"/>
                  </a:lnTo>
                  <a:lnTo>
                    <a:pt x="24341" y="191180"/>
                  </a:lnTo>
                  <a:lnTo>
                    <a:pt x="6054" y="156968"/>
                  </a:lnTo>
                  <a:lnTo>
                    <a:pt x="0" y="126529"/>
                  </a:lnTo>
                  <a:lnTo>
                    <a:pt x="0" y="118733"/>
                  </a:lnTo>
                  <a:close/>
                </a:path>
              </a:pathLst>
            </a:custGeom>
            <a:ln w="8188">
              <a:solidFill>
                <a:srgbClr val="FEE2E2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</p:grpSp>
      <p:sp>
        <p:nvSpPr>
          <p:cNvPr id="81" name="object 39">
            <a:extLst>
              <a:ext uri="{FF2B5EF4-FFF2-40B4-BE49-F238E27FC236}">
                <a16:creationId xmlns:a16="http://schemas.microsoft.com/office/drawing/2014/main" id="{13288D60-9D18-4ED4-A15C-83A106C8E30D}"/>
              </a:ext>
            </a:extLst>
          </p:cNvPr>
          <p:cNvSpPr txBox="1"/>
          <p:nvPr/>
        </p:nvSpPr>
        <p:spPr>
          <a:xfrm>
            <a:off x="5495272" y="1136294"/>
            <a:ext cx="1056984" cy="696986"/>
          </a:xfrm>
          <a:prstGeom prst="rect">
            <a:avLst/>
          </a:prstGeom>
        </p:spPr>
        <p:txBody>
          <a:bodyPr vert="horz" wrap="square" lIns="0" tIns="41592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275"/>
              </a:spcBef>
            </a:pPr>
            <a:r>
              <a:rPr lang="en-US" b="1" spc="-15" dirty="0">
                <a:solidFill>
                  <a:srgbClr val="DB2525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Comic Sans MS"/>
              </a:rPr>
              <a:t>93</a:t>
            </a:r>
            <a:r>
              <a:rPr sz="1050" spc="-125" dirty="0">
                <a:solidFill>
                  <a:srgbClr val="FBA5A5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Arial Unicode MS"/>
              </a:rPr>
              <a:t>건</a:t>
            </a:r>
            <a:endParaRPr lang="ko-KR" altLang="en-US" spc="-125" dirty="0">
              <a:solidFill>
                <a:srgbClr val="FBA5A5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  <a:cs typeface="Arial Unicode MS"/>
            </a:endParaRPr>
          </a:p>
        </p:txBody>
      </p:sp>
      <p:sp>
        <p:nvSpPr>
          <p:cNvPr id="82" name="object 40">
            <a:extLst>
              <a:ext uri="{FF2B5EF4-FFF2-40B4-BE49-F238E27FC236}">
                <a16:creationId xmlns:a16="http://schemas.microsoft.com/office/drawing/2014/main" id="{C4616573-FB7D-4A86-9F94-E43C86FFFD12}"/>
              </a:ext>
            </a:extLst>
          </p:cNvPr>
          <p:cNvSpPr txBox="1"/>
          <p:nvPr/>
        </p:nvSpPr>
        <p:spPr>
          <a:xfrm>
            <a:off x="5156590" y="2068981"/>
            <a:ext cx="2047182" cy="19383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5270" marR="5080" indent="-243204">
              <a:lnSpc>
                <a:spcPct val="119400"/>
              </a:lnSpc>
              <a:spcBef>
                <a:spcPts val="100"/>
              </a:spcBef>
            </a:pPr>
            <a:r>
              <a:rPr sz="1050" spc="-70" dirty="0">
                <a:solidFill>
                  <a:srgbClr val="4A5462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Arial Unicode MS"/>
              </a:rPr>
              <a:t>실제 수정 및 </a:t>
            </a:r>
            <a:r>
              <a:rPr sz="1050" spc="-70" dirty="0" err="1">
                <a:solidFill>
                  <a:srgbClr val="4A5462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Arial Unicode MS"/>
              </a:rPr>
              <a:t>조치가</a:t>
            </a:r>
            <a:r>
              <a:rPr sz="1050" spc="-70" dirty="0">
                <a:solidFill>
                  <a:srgbClr val="4A5462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Arial Unicode MS"/>
              </a:rPr>
              <a:t> </a:t>
            </a:r>
            <a:r>
              <a:rPr sz="1050" spc="-60" dirty="0" err="1">
                <a:solidFill>
                  <a:srgbClr val="4A5462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Arial Unicode MS"/>
              </a:rPr>
              <a:t>필요한</a:t>
            </a:r>
            <a:r>
              <a:rPr lang="en-US" sz="1050" spc="-60" dirty="0">
                <a:solidFill>
                  <a:srgbClr val="4A5462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Arial Unicode MS"/>
              </a:rPr>
              <a:t> </a:t>
            </a:r>
            <a:r>
              <a:rPr sz="1050" spc="-70" dirty="0">
                <a:solidFill>
                  <a:srgbClr val="4A5462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Arial Unicode MS"/>
              </a:rPr>
              <a:t> 항목</a:t>
            </a:r>
            <a:endParaRPr sz="1050" dirty="0">
              <a:latin typeface="KoPub돋움체 Medium" panose="00000600000000000000" pitchFamily="2" charset="-127"/>
              <a:ea typeface="KoPub돋움체 Medium" panose="00000600000000000000" pitchFamily="2" charset="-127"/>
              <a:cs typeface="Arial Unicode MS"/>
            </a:endParaRPr>
          </a:p>
        </p:txBody>
      </p:sp>
      <p:sp>
        <p:nvSpPr>
          <p:cNvPr id="83" name="object 41">
            <a:extLst>
              <a:ext uri="{FF2B5EF4-FFF2-40B4-BE49-F238E27FC236}">
                <a16:creationId xmlns:a16="http://schemas.microsoft.com/office/drawing/2014/main" id="{AE766909-2FA0-48F7-AEE5-917C25E991B7}"/>
              </a:ext>
            </a:extLst>
          </p:cNvPr>
          <p:cNvSpPr/>
          <p:nvPr/>
        </p:nvSpPr>
        <p:spPr>
          <a:xfrm>
            <a:off x="6409789" y="1034582"/>
            <a:ext cx="631063" cy="102108"/>
          </a:xfrm>
          <a:custGeom>
            <a:avLst/>
            <a:gdLst/>
            <a:ahLst/>
            <a:cxnLst/>
            <a:rect l="l" t="t" r="r" b="b"/>
            <a:pathLst>
              <a:path w="524509" h="196850">
                <a:moveTo>
                  <a:pt x="524065" y="196524"/>
                </a:moveTo>
                <a:lnTo>
                  <a:pt x="61206" y="196524"/>
                </a:lnTo>
                <a:lnTo>
                  <a:pt x="25537" y="183094"/>
                </a:lnTo>
                <a:lnTo>
                  <a:pt x="3340" y="152111"/>
                </a:lnTo>
                <a:lnTo>
                  <a:pt x="0" y="135317"/>
                </a:lnTo>
                <a:lnTo>
                  <a:pt x="0" y="131016"/>
                </a:lnTo>
                <a:lnTo>
                  <a:pt x="0" y="0"/>
                </a:lnTo>
                <a:lnTo>
                  <a:pt x="524065" y="0"/>
                </a:lnTo>
                <a:lnTo>
                  <a:pt x="524065" y="196524"/>
                </a:lnTo>
                <a:close/>
              </a:path>
            </a:pathLst>
          </a:custGeom>
          <a:solidFill>
            <a:srgbClr val="DB2525"/>
          </a:solidFill>
        </p:spPr>
        <p:txBody>
          <a:bodyPr wrap="square" lIns="0" tIns="0" rIns="0" bIns="0" rtlCol="0"/>
          <a:lstStyle/>
          <a:p>
            <a:endParaRPr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84" name="object 42">
            <a:extLst>
              <a:ext uri="{FF2B5EF4-FFF2-40B4-BE49-F238E27FC236}">
                <a16:creationId xmlns:a16="http://schemas.microsoft.com/office/drawing/2014/main" id="{1C29FDD0-C381-4E1E-8901-79EE3A943C26}"/>
              </a:ext>
            </a:extLst>
          </p:cNvPr>
          <p:cNvSpPr txBox="1"/>
          <p:nvPr/>
        </p:nvSpPr>
        <p:spPr>
          <a:xfrm>
            <a:off x="6580022" y="1018606"/>
            <a:ext cx="494742" cy="13849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800" b="1" dirty="0">
                <a:solidFill>
                  <a:srgbClr val="FFFFF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Tahoma"/>
              </a:rPr>
              <a:t>F</a:t>
            </a:r>
            <a:r>
              <a:rPr sz="800" b="1" spc="15" dirty="0">
                <a:solidFill>
                  <a:srgbClr val="FFFFF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Tahoma"/>
              </a:rPr>
              <a:t>O</a:t>
            </a:r>
            <a:r>
              <a:rPr sz="800" b="1" spc="-15" dirty="0">
                <a:solidFill>
                  <a:srgbClr val="FFFFF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Tahoma"/>
              </a:rPr>
              <a:t>C</a:t>
            </a:r>
            <a:r>
              <a:rPr sz="800" b="1" spc="5" dirty="0">
                <a:solidFill>
                  <a:srgbClr val="FFFFF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Tahoma"/>
              </a:rPr>
              <a:t>US</a:t>
            </a:r>
            <a:endParaRPr sz="900" dirty="0">
              <a:latin typeface="KoPub돋움체 Medium" panose="00000600000000000000" pitchFamily="2" charset="-127"/>
              <a:ea typeface="KoPub돋움체 Medium" panose="00000600000000000000" pitchFamily="2" charset="-127"/>
              <a:cs typeface="Tahoma"/>
            </a:endParaRPr>
          </a:p>
        </p:txBody>
      </p:sp>
      <p:grpSp>
        <p:nvGrpSpPr>
          <p:cNvPr id="85" name="object 43">
            <a:extLst>
              <a:ext uri="{FF2B5EF4-FFF2-40B4-BE49-F238E27FC236}">
                <a16:creationId xmlns:a16="http://schemas.microsoft.com/office/drawing/2014/main" id="{B04DE32B-860D-462D-A35D-4730F58A944E}"/>
              </a:ext>
            </a:extLst>
          </p:cNvPr>
          <p:cNvGrpSpPr/>
          <p:nvPr/>
        </p:nvGrpSpPr>
        <p:grpSpPr>
          <a:xfrm>
            <a:off x="7141693" y="1034375"/>
            <a:ext cx="2297856" cy="1316447"/>
            <a:chOff x="6973823" y="2185416"/>
            <a:chExt cx="2959735" cy="2725420"/>
          </a:xfrm>
        </p:grpSpPr>
        <p:sp>
          <p:nvSpPr>
            <p:cNvPr id="91" name="object 44">
              <a:extLst>
                <a:ext uri="{FF2B5EF4-FFF2-40B4-BE49-F238E27FC236}">
                  <a16:creationId xmlns:a16="http://schemas.microsoft.com/office/drawing/2014/main" id="{DC47048F-8B0B-4392-9858-6C91CBB49918}"/>
                </a:ext>
              </a:extLst>
            </p:cNvPr>
            <p:cNvSpPr/>
            <p:nvPr/>
          </p:nvSpPr>
          <p:spPr>
            <a:xfrm>
              <a:off x="6992111" y="2188464"/>
              <a:ext cx="2923540" cy="2688590"/>
            </a:xfrm>
            <a:custGeom>
              <a:avLst/>
              <a:gdLst/>
              <a:ahLst/>
              <a:cxnLst/>
              <a:rect l="l" t="t" r="r" b="b"/>
              <a:pathLst>
                <a:path w="2923540" h="2688590">
                  <a:moveTo>
                    <a:pt x="2923032" y="2688336"/>
                  </a:moveTo>
                  <a:lnTo>
                    <a:pt x="0" y="2688336"/>
                  </a:lnTo>
                  <a:lnTo>
                    <a:pt x="0" y="0"/>
                  </a:lnTo>
                  <a:lnTo>
                    <a:pt x="2923032" y="0"/>
                  </a:lnTo>
                  <a:lnTo>
                    <a:pt x="2923032" y="29551"/>
                  </a:lnTo>
                  <a:lnTo>
                    <a:pt x="131218" y="29551"/>
                  </a:lnTo>
                  <a:lnTo>
                    <a:pt x="122767" y="29959"/>
                  </a:lnTo>
                  <a:lnTo>
                    <a:pt x="83548" y="43995"/>
                  </a:lnTo>
                  <a:lnTo>
                    <a:pt x="55573" y="74856"/>
                  </a:lnTo>
                  <a:lnTo>
                    <a:pt x="45433" y="115336"/>
                  </a:lnTo>
                  <a:lnTo>
                    <a:pt x="45433" y="2540698"/>
                  </a:lnTo>
                  <a:lnTo>
                    <a:pt x="55573" y="2581177"/>
                  </a:lnTo>
                  <a:lnTo>
                    <a:pt x="83548" y="2612038"/>
                  </a:lnTo>
                  <a:lnTo>
                    <a:pt x="122767" y="2626074"/>
                  </a:lnTo>
                  <a:lnTo>
                    <a:pt x="131218" y="2626483"/>
                  </a:lnTo>
                  <a:lnTo>
                    <a:pt x="2923032" y="2626483"/>
                  </a:lnTo>
                  <a:lnTo>
                    <a:pt x="2923032" y="2688336"/>
                  </a:lnTo>
                  <a:close/>
                </a:path>
                <a:path w="2923540" h="2688590">
                  <a:moveTo>
                    <a:pt x="2923032" y="2626483"/>
                  </a:moveTo>
                  <a:lnTo>
                    <a:pt x="2790538" y="2626483"/>
                  </a:lnTo>
                  <a:lnTo>
                    <a:pt x="2798989" y="2626074"/>
                  </a:lnTo>
                  <a:lnTo>
                    <a:pt x="2807277" y="2624850"/>
                  </a:lnTo>
                  <a:lnTo>
                    <a:pt x="2844932" y="2607043"/>
                  </a:lnTo>
                  <a:lnTo>
                    <a:pt x="2869792" y="2573526"/>
                  </a:lnTo>
                  <a:lnTo>
                    <a:pt x="2876323" y="2540698"/>
                  </a:lnTo>
                  <a:lnTo>
                    <a:pt x="2876323" y="115336"/>
                  </a:lnTo>
                  <a:lnTo>
                    <a:pt x="2866181" y="74856"/>
                  </a:lnTo>
                  <a:lnTo>
                    <a:pt x="2838206" y="43995"/>
                  </a:lnTo>
                  <a:lnTo>
                    <a:pt x="2798989" y="29959"/>
                  </a:lnTo>
                  <a:lnTo>
                    <a:pt x="2790538" y="29551"/>
                  </a:lnTo>
                  <a:lnTo>
                    <a:pt x="2923032" y="29551"/>
                  </a:lnTo>
                  <a:lnTo>
                    <a:pt x="2923032" y="2626483"/>
                  </a:lnTo>
                  <a:close/>
                </a:path>
              </a:pathLst>
            </a:custGeom>
            <a:solidFill>
              <a:srgbClr val="000000">
                <a:alpha val="5879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92" name="object 45">
              <a:extLst>
                <a:ext uri="{FF2B5EF4-FFF2-40B4-BE49-F238E27FC236}">
                  <a16:creationId xmlns:a16="http://schemas.microsoft.com/office/drawing/2014/main" id="{2CDEA752-D78F-4FC6-9EE3-5C5ABABAF040}"/>
                </a:ext>
              </a:extLst>
            </p:cNvPr>
            <p:cNvSpPr/>
            <p:nvPr/>
          </p:nvSpPr>
          <p:spPr>
            <a:xfrm>
              <a:off x="6973823" y="2185416"/>
              <a:ext cx="2959735" cy="2725420"/>
            </a:xfrm>
            <a:custGeom>
              <a:avLst/>
              <a:gdLst/>
              <a:ahLst/>
              <a:cxnLst/>
              <a:rect l="l" t="t" r="r" b="b"/>
              <a:pathLst>
                <a:path w="2959734" h="2725420">
                  <a:moveTo>
                    <a:pt x="2959608" y="2724912"/>
                  </a:moveTo>
                  <a:lnTo>
                    <a:pt x="0" y="2724912"/>
                  </a:lnTo>
                  <a:lnTo>
                    <a:pt x="0" y="0"/>
                  </a:lnTo>
                  <a:lnTo>
                    <a:pt x="2959608" y="0"/>
                  </a:lnTo>
                  <a:lnTo>
                    <a:pt x="2959608" y="32599"/>
                  </a:lnTo>
                  <a:lnTo>
                    <a:pt x="149506" y="32599"/>
                  </a:lnTo>
                  <a:lnTo>
                    <a:pt x="141055" y="33007"/>
                  </a:lnTo>
                  <a:lnTo>
                    <a:pt x="101836" y="47043"/>
                  </a:lnTo>
                  <a:lnTo>
                    <a:pt x="73861" y="77904"/>
                  </a:lnTo>
                  <a:lnTo>
                    <a:pt x="63721" y="118384"/>
                  </a:lnTo>
                  <a:lnTo>
                    <a:pt x="63721" y="2543746"/>
                  </a:lnTo>
                  <a:lnTo>
                    <a:pt x="73861" y="2584225"/>
                  </a:lnTo>
                  <a:lnTo>
                    <a:pt x="101836" y="2615086"/>
                  </a:lnTo>
                  <a:lnTo>
                    <a:pt x="141055" y="2629122"/>
                  </a:lnTo>
                  <a:lnTo>
                    <a:pt x="149506" y="2629531"/>
                  </a:lnTo>
                  <a:lnTo>
                    <a:pt x="2959608" y="2629531"/>
                  </a:lnTo>
                  <a:lnTo>
                    <a:pt x="2959608" y="2724912"/>
                  </a:lnTo>
                  <a:close/>
                </a:path>
                <a:path w="2959734" h="2725420">
                  <a:moveTo>
                    <a:pt x="2959608" y="2629531"/>
                  </a:moveTo>
                  <a:lnTo>
                    <a:pt x="2808826" y="2629531"/>
                  </a:lnTo>
                  <a:lnTo>
                    <a:pt x="2817277" y="2629122"/>
                  </a:lnTo>
                  <a:lnTo>
                    <a:pt x="2825565" y="2627898"/>
                  </a:lnTo>
                  <a:lnTo>
                    <a:pt x="2863220" y="2610091"/>
                  </a:lnTo>
                  <a:lnTo>
                    <a:pt x="2888080" y="2576574"/>
                  </a:lnTo>
                  <a:lnTo>
                    <a:pt x="2894611" y="2543746"/>
                  </a:lnTo>
                  <a:lnTo>
                    <a:pt x="2894611" y="118384"/>
                  </a:lnTo>
                  <a:lnTo>
                    <a:pt x="2884469" y="77904"/>
                  </a:lnTo>
                  <a:lnTo>
                    <a:pt x="2856494" y="47043"/>
                  </a:lnTo>
                  <a:lnTo>
                    <a:pt x="2817277" y="33007"/>
                  </a:lnTo>
                  <a:lnTo>
                    <a:pt x="2808826" y="32599"/>
                  </a:lnTo>
                  <a:lnTo>
                    <a:pt x="2959608" y="32599"/>
                  </a:lnTo>
                  <a:lnTo>
                    <a:pt x="2959608" y="2629531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93" name="object 46">
              <a:extLst>
                <a:ext uri="{FF2B5EF4-FFF2-40B4-BE49-F238E27FC236}">
                  <a16:creationId xmlns:a16="http://schemas.microsoft.com/office/drawing/2014/main" id="{C25A0518-BE14-472C-92D7-15BC2C6B878F}"/>
                </a:ext>
              </a:extLst>
            </p:cNvPr>
            <p:cNvSpPr/>
            <p:nvPr/>
          </p:nvSpPr>
          <p:spPr>
            <a:xfrm>
              <a:off x="7029746" y="2229713"/>
              <a:ext cx="2846705" cy="2593340"/>
            </a:xfrm>
            <a:custGeom>
              <a:avLst/>
              <a:gdLst/>
              <a:ahLst/>
              <a:cxnLst/>
              <a:rect l="l" t="t" r="r" b="b"/>
              <a:pathLst>
                <a:path w="2846704" h="2593340">
                  <a:moveTo>
                    <a:pt x="2759048" y="2593032"/>
                  </a:moveTo>
                  <a:lnTo>
                    <a:pt x="87439" y="2593032"/>
                  </a:lnTo>
                  <a:lnTo>
                    <a:pt x="81353" y="2592432"/>
                  </a:lnTo>
                  <a:lnTo>
                    <a:pt x="36481" y="2573846"/>
                  </a:lnTo>
                  <a:lnTo>
                    <a:pt x="9474" y="2540938"/>
                  </a:lnTo>
                  <a:lnTo>
                    <a:pt x="0" y="2505593"/>
                  </a:lnTo>
                  <a:lnTo>
                    <a:pt x="0" y="2499449"/>
                  </a:lnTo>
                  <a:lnTo>
                    <a:pt x="0" y="69221"/>
                  </a:lnTo>
                  <a:lnTo>
                    <a:pt x="19184" y="28881"/>
                  </a:lnTo>
                  <a:lnTo>
                    <a:pt x="52093" y="7500"/>
                  </a:lnTo>
                  <a:lnTo>
                    <a:pt x="87439" y="0"/>
                  </a:lnTo>
                  <a:lnTo>
                    <a:pt x="2759048" y="0"/>
                  </a:lnTo>
                  <a:lnTo>
                    <a:pt x="2799786" y="9783"/>
                  </a:lnTo>
                  <a:lnTo>
                    <a:pt x="2834128" y="36970"/>
                  </a:lnTo>
                  <a:lnTo>
                    <a:pt x="2846487" y="69221"/>
                  </a:lnTo>
                  <a:lnTo>
                    <a:pt x="2846487" y="2505593"/>
                  </a:lnTo>
                  <a:lnTo>
                    <a:pt x="2834128" y="2546331"/>
                  </a:lnTo>
                  <a:lnTo>
                    <a:pt x="2799786" y="2580674"/>
                  </a:lnTo>
                  <a:lnTo>
                    <a:pt x="2765134" y="2592432"/>
                  </a:lnTo>
                  <a:lnTo>
                    <a:pt x="2759048" y="259303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94" name="object 47">
              <a:extLst>
                <a:ext uri="{FF2B5EF4-FFF2-40B4-BE49-F238E27FC236}">
                  <a16:creationId xmlns:a16="http://schemas.microsoft.com/office/drawing/2014/main" id="{8BB8ECA4-3B06-4055-83E6-91CBBAACFA15}"/>
                </a:ext>
              </a:extLst>
            </p:cNvPr>
            <p:cNvSpPr/>
            <p:nvPr/>
          </p:nvSpPr>
          <p:spPr>
            <a:xfrm>
              <a:off x="7030154" y="2210217"/>
              <a:ext cx="2846070" cy="85725"/>
            </a:xfrm>
            <a:custGeom>
              <a:avLst/>
              <a:gdLst/>
              <a:ahLst/>
              <a:cxnLst/>
              <a:rect l="l" t="t" r="r" b="b"/>
              <a:pathLst>
                <a:path w="2846070" h="85725">
                  <a:moveTo>
                    <a:pt x="0" y="85147"/>
                  </a:moveTo>
                  <a:lnTo>
                    <a:pt x="15348" y="41581"/>
                  </a:lnTo>
                  <a:lnTo>
                    <a:pt x="49015" y="11062"/>
                  </a:lnTo>
                  <a:lnTo>
                    <a:pt x="93176" y="0"/>
                  </a:lnTo>
                  <a:lnTo>
                    <a:pt x="2752496" y="0"/>
                  </a:lnTo>
                  <a:lnTo>
                    <a:pt x="2796654" y="11062"/>
                  </a:lnTo>
                  <a:lnTo>
                    <a:pt x="2828399" y="38992"/>
                  </a:lnTo>
                  <a:lnTo>
                    <a:pt x="93176" y="38992"/>
                  </a:lnTo>
                  <a:lnTo>
                    <a:pt x="83956" y="39252"/>
                  </a:lnTo>
                  <a:lnTo>
                    <a:pt x="41173" y="48184"/>
                  </a:lnTo>
                  <a:lnTo>
                    <a:pt x="6715" y="72692"/>
                  </a:lnTo>
                  <a:lnTo>
                    <a:pt x="1966" y="79380"/>
                  </a:lnTo>
                  <a:lnTo>
                    <a:pt x="0" y="85147"/>
                  </a:lnTo>
                  <a:close/>
                </a:path>
                <a:path w="2846070" h="85725">
                  <a:moveTo>
                    <a:pt x="2845671" y="85151"/>
                  </a:moveTo>
                  <a:lnTo>
                    <a:pt x="2818668" y="54982"/>
                  </a:lnTo>
                  <a:lnTo>
                    <a:pt x="2779620" y="41330"/>
                  </a:lnTo>
                  <a:lnTo>
                    <a:pt x="2752496" y="38992"/>
                  </a:lnTo>
                  <a:lnTo>
                    <a:pt x="2828399" y="38992"/>
                  </a:lnTo>
                  <a:lnTo>
                    <a:pt x="2844297" y="75322"/>
                  </a:lnTo>
                  <a:lnTo>
                    <a:pt x="2845633" y="84364"/>
                  </a:lnTo>
                  <a:lnTo>
                    <a:pt x="2845671" y="85151"/>
                  </a:lnTo>
                  <a:close/>
                </a:path>
              </a:pathLst>
            </a:custGeom>
            <a:solidFill>
              <a:srgbClr val="9CA2AF"/>
            </a:solidFill>
          </p:spPr>
          <p:txBody>
            <a:bodyPr wrap="square" lIns="0" tIns="0" rIns="0" bIns="0" rtlCol="0"/>
            <a:lstStyle/>
            <a:p>
              <a:endParaRPr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95" name="object 48">
              <a:extLst>
                <a:ext uri="{FF2B5EF4-FFF2-40B4-BE49-F238E27FC236}">
                  <a16:creationId xmlns:a16="http://schemas.microsoft.com/office/drawing/2014/main" id="{7DB8F87A-8D26-4D0F-8A7A-1E2D554DCF13}"/>
                </a:ext>
              </a:extLst>
            </p:cNvPr>
            <p:cNvSpPr/>
            <p:nvPr/>
          </p:nvSpPr>
          <p:spPr>
            <a:xfrm>
              <a:off x="8283563" y="2545179"/>
              <a:ext cx="326397" cy="343628"/>
            </a:xfrm>
            <a:custGeom>
              <a:avLst/>
              <a:gdLst/>
              <a:ahLst/>
              <a:cxnLst/>
              <a:rect l="l" t="t" r="r" b="b"/>
              <a:pathLst>
                <a:path w="467995" h="467994">
                  <a:moveTo>
                    <a:pt x="241620" y="467915"/>
                  </a:moveTo>
                  <a:lnTo>
                    <a:pt x="226295" y="467915"/>
                  </a:lnTo>
                  <a:lnTo>
                    <a:pt x="218651" y="467539"/>
                  </a:lnTo>
                  <a:lnTo>
                    <a:pt x="180798" y="461925"/>
                  </a:lnTo>
                  <a:lnTo>
                    <a:pt x="137345" y="447173"/>
                  </a:lnTo>
                  <a:lnTo>
                    <a:pt x="97606" y="424229"/>
                  </a:lnTo>
                  <a:lnTo>
                    <a:pt x="63106" y="393972"/>
                  </a:lnTo>
                  <a:lnTo>
                    <a:pt x="35170" y="357566"/>
                  </a:lnTo>
                  <a:lnTo>
                    <a:pt x="14875" y="316410"/>
                  </a:lnTo>
                  <a:lnTo>
                    <a:pt x="3000" y="272085"/>
                  </a:lnTo>
                  <a:lnTo>
                    <a:pt x="0" y="241620"/>
                  </a:lnTo>
                  <a:lnTo>
                    <a:pt x="0" y="226295"/>
                  </a:lnTo>
                  <a:lnTo>
                    <a:pt x="5989" y="180799"/>
                  </a:lnTo>
                  <a:lnTo>
                    <a:pt x="20740" y="137346"/>
                  </a:lnTo>
                  <a:lnTo>
                    <a:pt x="43685" y="97606"/>
                  </a:lnTo>
                  <a:lnTo>
                    <a:pt x="73942" y="63106"/>
                  </a:lnTo>
                  <a:lnTo>
                    <a:pt x="110347" y="35171"/>
                  </a:lnTo>
                  <a:lnTo>
                    <a:pt x="151504" y="14876"/>
                  </a:lnTo>
                  <a:lnTo>
                    <a:pt x="195830" y="3000"/>
                  </a:lnTo>
                  <a:lnTo>
                    <a:pt x="226295" y="0"/>
                  </a:lnTo>
                  <a:lnTo>
                    <a:pt x="241620" y="0"/>
                  </a:lnTo>
                  <a:lnTo>
                    <a:pt x="287115" y="5990"/>
                  </a:lnTo>
                  <a:lnTo>
                    <a:pt x="330568" y="20740"/>
                  </a:lnTo>
                  <a:lnTo>
                    <a:pt x="370307" y="43685"/>
                  </a:lnTo>
                  <a:lnTo>
                    <a:pt x="404808" y="73942"/>
                  </a:lnTo>
                  <a:lnTo>
                    <a:pt x="432743" y="110348"/>
                  </a:lnTo>
                  <a:lnTo>
                    <a:pt x="453039" y="151504"/>
                  </a:lnTo>
                  <a:lnTo>
                    <a:pt x="464914" y="195829"/>
                  </a:lnTo>
                  <a:lnTo>
                    <a:pt x="467915" y="233957"/>
                  </a:lnTo>
                  <a:lnTo>
                    <a:pt x="467914" y="241620"/>
                  </a:lnTo>
                  <a:lnTo>
                    <a:pt x="461924" y="287115"/>
                  </a:lnTo>
                  <a:lnTo>
                    <a:pt x="447172" y="330568"/>
                  </a:lnTo>
                  <a:lnTo>
                    <a:pt x="424229" y="370308"/>
                  </a:lnTo>
                  <a:lnTo>
                    <a:pt x="393972" y="404808"/>
                  </a:lnTo>
                  <a:lnTo>
                    <a:pt x="357565" y="432743"/>
                  </a:lnTo>
                  <a:lnTo>
                    <a:pt x="316409" y="453038"/>
                  </a:lnTo>
                  <a:lnTo>
                    <a:pt x="272084" y="464914"/>
                  </a:lnTo>
                  <a:lnTo>
                    <a:pt x="241620" y="467915"/>
                  </a:lnTo>
                  <a:close/>
                </a:path>
              </a:pathLst>
            </a:custGeom>
            <a:solidFill>
              <a:srgbClr val="E4E7EB"/>
            </a:solidFill>
          </p:spPr>
          <p:txBody>
            <a:bodyPr wrap="square" lIns="0" tIns="0" rIns="0" bIns="0" rtlCol="0"/>
            <a:lstStyle/>
            <a:p>
              <a:endParaRPr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pic>
          <p:nvPicPr>
            <p:cNvPr id="96" name="object 49">
              <a:extLst>
                <a:ext uri="{FF2B5EF4-FFF2-40B4-BE49-F238E27FC236}">
                  <a16:creationId xmlns:a16="http://schemas.microsoft.com/office/drawing/2014/main" id="{1A8F2303-30A3-407A-B17E-AA033FF3BA23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358067" y="2622212"/>
              <a:ext cx="187324" cy="190499"/>
            </a:xfrm>
            <a:prstGeom prst="rect">
              <a:avLst/>
            </a:prstGeom>
          </p:spPr>
        </p:pic>
      </p:grpSp>
      <p:sp>
        <p:nvSpPr>
          <p:cNvPr id="86" name="object 50">
            <a:extLst>
              <a:ext uri="{FF2B5EF4-FFF2-40B4-BE49-F238E27FC236}">
                <a16:creationId xmlns:a16="http://schemas.microsoft.com/office/drawing/2014/main" id="{C1E2DD75-1807-4387-87DF-5FC8A77D636F}"/>
              </a:ext>
            </a:extLst>
          </p:cNvPr>
          <p:cNvSpPr txBox="1"/>
          <p:nvPr/>
        </p:nvSpPr>
        <p:spPr>
          <a:xfrm>
            <a:off x="7939039" y="1429663"/>
            <a:ext cx="750713" cy="84862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050" b="1" spc="-60" dirty="0">
                <a:solidFill>
                  <a:srgbClr val="6A728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맑은 고딕"/>
              </a:rPr>
              <a:t>기각 </a:t>
            </a:r>
            <a:r>
              <a:rPr sz="1050" b="1" dirty="0">
                <a:solidFill>
                  <a:srgbClr val="6A728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Trebuchet MS"/>
              </a:rPr>
              <a:t>/</a:t>
            </a:r>
            <a:r>
              <a:rPr sz="1050" b="1" spc="-20" dirty="0">
                <a:solidFill>
                  <a:srgbClr val="6A728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Trebuchet MS"/>
              </a:rPr>
              <a:t> </a:t>
            </a:r>
            <a:r>
              <a:rPr sz="1050" b="1" spc="-60" dirty="0">
                <a:solidFill>
                  <a:srgbClr val="6A728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맑은 고딕"/>
              </a:rPr>
              <a:t>제외</a:t>
            </a:r>
            <a:endParaRPr sz="1050" dirty="0">
              <a:latin typeface="KoPub돋움체 Medium" panose="00000600000000000000" pitchFamily="2" charset="-127"/>
              <a:ea typeface="KoPub돋움체 Medium" panose="00000600000000000000" pitchFamily="2" charset="-127"/>
              <a:cs typeface="맑은 고딕"/>
            </a:endParaRPr>
          </a:p>
        </p:txBody>
      </p:sp>
      <p:sp>
        <p:nvSpPr>
          <p:cNvPr id="87" name="object 51">
            <a:extLst>
              <a:ext uri="{FF2B5EF4-FFF2-40B4-BE49-F238E27FC236}">
                <a16:creationId xmlns:a16="http://schemas.microsoft.com/office/drawing/2014/main" id="{13C974E3-0F69-450B-939C-5E72A1D61C29}"/>
              </a:ext>
            </a:extLst>
          </p:cNvPr>
          <p:cNvSpPr txBox="1"/>
          <p:nvPr/>
        </p:nvSpPr>
        <p:spPr>
          <a:xfrm>
            <a:off x="7742905" y="1603928"/>
            <a:ext cx="1199953" cy="294311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5"/>
              </a:spcBef>
            </a:pPr>
            <a:r>
              <a:rPr lang="en-US" b="1" spc="15" dirty="0">
                <a:solidFill>
                  <a:srgbClr val="9CA2A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Comic Sans MS"/>
              </a:rPr>
              <a:t>35</a:t>
            </a:r>
            <a:r>
              <a:rPr sz="1050" spc="-95" dirty="0">
                <a:solidFill>
                  <a:srgbClr val="D0D5DA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Arial Unicode MS"/>
              </a:rPr>
              <a:t>건</a:t>
            </a:r>
            <a:endParaRPr dirty="0">
              <a:latin typeface="KoPub돋움체 Medium" panose="00000600000000000000" pitchFamily="2" charset="-127"/>
              <a:ea typeface="KoPub돋움체 Medium" panose="00000600000000000000" pitchFamily="2" charset="-127"/>
              <a:cs typeface="Arial Unicode MS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6EFFEB36-35A9-4822-A3C3-C741A21467B2}"/>
              </a:ext>
            </a:extLst>
          </p:cNvPr>
          <p:cNvSpPr txBox="1"/>
          <p:nvPr/>
        </p:nvSpPr>
        <p:spPr>
          <a:xfrm>
            <a:off x="2314920" y="1884434"/>
            <a:ext cx="2413711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065" marR="5080" algn="ctr"/>
            <a:r>
              <a:rPr lang="ko-KR" altLang="en-US" sz="1050" spc="-60" dirty="0">
                <a:solidFill>
                  <a:srgbClr val="6A728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Arial Unicode MS"/>
              </a:rPr>
              <a:t>테스트 수행 기간 동안 </a:t>
            </a:r>
            <a:r>
              <a:rPr lang="ko-KR" altLang="en-US" sz="1050" spc="-50" dirty="0">
                <a:solidFill>
                  <a:srgbClr val="6A728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Arial Unicode MS"/>
              </a:rPr>
              <a:t>등록된</a:t>
            </a:r>
            <a:endParaRPr lang="en-US" altLang="ko-KR" sz="1050" spc="-50" dirty="0">
              <a:solidFill>
                <a:srgbClr val="6A7280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  <a:cs typeface="Arial Unicode MS"/>
            </a:endParaRPr>
          </a:p>
          <a:p>
            <a:pPr marL="12065" marR="5080" algn="ctr"/>
            <a:r>
              <a:rPr lang="ko-KR" altLang="en-US" sz="1050" spc="-50" dirty="0">
                <a:solidFill>
                  <a:srgbClr val="6A728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Arial Unicode MS"/>
              </a:rPr>
              <a:t>모든 결함</a:t>
            </a:r>
            <a:r>
              <a:rPr lang="en-US" altLang="ko-KR" sz="1050" spc="-50" dirty="0">
                <a:solidFill>
                  <a:srgbClr val="6A728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Arial Unicode MS"/>
              </a:rPr>
              <a:t>, </a:t>
            </a:r>
            <a:r>
              <a:rPr lang="ko-KR" altLang="en-US" sz="1050" spc="-50" dirty="0">
                <a:solidFill>
                  <a:srgbClr val="6A728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Arial Unicode MS"/>
              </a:rPr>
              <a:t>개선</a:t>
            </a:r>
            <a:r>
              <a:rPr lang="en-US" altLang="ko-KR" sz="1050" spc="-50" dirty="0">
                <a:solidFill>
                  <a:srgbClr val="6A728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Arial Unicode MS"/>
              </a:rPr>
              <a:t>/</a:t>
            </a:r>
            <a:r>
              <a:rPr lang="ko-KR" altLang="en-US" sz="1050" spc="-50" dirty="0">
                <a:solidFill>
                  <a:srgbClr val="6A728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Arial Unicode MS"/>
              </a:rPr>
              <a:t>변경</a:t>
            </a:r>
            <a:r>
              <a:rPr lang="en-US" altLang="ko-KR" sz="1050" spc="-50" dirty="0">
                <a:solidFill>
                  <a:srgbClr val="6A728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Arial Unicode MS"/>
              </a:rPr>
              <a:t>, </a:t>
            </a:r>
            <a:r>
              <a:rPr lang="ko-KR" altLang="en-US" sz="1050" spc="-50" dirty="0">
                <a:solidFill>
                  <a:srgbClr val="6A728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Arial Unicode MS"/>
              </a:rPr>
              <a:t>신규  </a:t>
            </a:r>
            <a:r>
              <a:rPr lang="ko-KR" altLang="en-US" sz="1050" spc="-60" dirty="0">
                <a:solidFill>
                  <a:srgbClr val="6A728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Arial Unicode MS"/>
              </a:rPr>
              <a:t>합계</a:t>
            </a:r>
            <a:endParaRPr lang="ko-KR" altLang="en-US" sz="1050" dirty="0">
              <a:latin typeface="KoPub돋움체 Medium" panose="00000600000000000000" pitchFamily="2" charset="-127"/>
              <a:ea typeface="KoPub돋움체 Medium" panose="00000600000000000000" pitchFamily="2" charset="-127"/>
              <a:cs typeface="Arial Unicode MS"/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53218EDB-164C-47A3-BABF-22AA325D3F35}"/>
              </a:ext>
            </a:extLst>
          </p:cNvPr>
          <p:cNvSpPr txBox="1"/>
          <p:nvPr/>
        </p:nvSpPr>
        <p:spPr>
          <a:xfrm>
            <a:off x="5419530" y="1834881"/>
            <a:ext cx="107934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Bef>
                <a:spcPts val="620"/>
              </a:spcBef>
            </a:pPr>
            <a:r>
              <a:rPr lang="ko-KR" altLang="en-US" sz="1000" b="1" spc="-70" dirty="0">
                <a:solidFill>
                  <a:srgbClr val="DB2525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맑은 고딕"/>
              </a:rPr>
              <a:t>비중</a:t>
            </a:r>
            <a:r>
              <a:rPr lang="en-US" altLang="ko-KR" sz="1000" b="1" spc="-65" dirty="0">
                <a:solidFill>
                  <a:srgbClr val="DB2525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맑은 고딕"/>
              </a:rPr>
              <a:t>72.7</a:t>
            </a:r>
            <a:r>
              <a:rPr lang="en-US" altLang="ko-KR" sz="1000" b="1" dirty="0">
                <a:solidFill>
                  <a:srgbClr val="DB2525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Noto Sans KR"/>
              </a:rPr>
              <a:t>%</a:t>
            </a:r>
            <a:endParaRPr lang="ko-KR" altLang="en-US" sz="1000" dirty="0">
              <a:latin typeface="KoPub돋움체 Medium" panose="00000600000000000000" pitchFamily="2" charset="-127"/>
              <a:ea typeface="KoPub돋움체 Medium" panose="00000600000000000000" pitchFamily="2" charset="-127"/>
              <a:cs typeface="Noto Sans KR"/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15435B1A-2D54-4B70-984C-5F7453C4FC4B}"/>
              </a:ext>
            </a:extLst>
          </p:cNvPr>
          <p:cNvSpPr txBox="1"/>
          <p:nvPr/>
        </p:nvSpPr>
        <p:spPr>
          <a:xfrm>
            <a:off x="7320532" y="1897068"/>
            <a:ext cx="1955957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marR="5080" algn="ctr"/>
            <a:r>
              <a:rPr lang="ko-KR" altLang="en-US" sz="1050" spc="-60" dirty="0">
                <a:solidFill>
                  <a:srgbClr val="9CA2A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Arial Unicode MS"/>
              </a:rPr>
              <a:t>요건 변경</a:t>
            </a:r>
            <a:r>
              <a:rPr lang="en-US" altLang="ko-KR" sz="1050" spc="-15" dirty="0">
                <a:solidFill>
                  <a:srgbClr val="9CA2A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Arial"/>
              </a:rPr>
              <a:t>,</a:t>
            </a:r>
            <a:r>
              <a:rPr lang="ko-KR" altLang="en-US" sz="1050" spc="-10" dirty="0">
                <a:solidFill>
                  <a:srgbClr val="9CA2A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Arial"/>
              </a:rPr>
              <a:t> </a:t>
            </a:r>
            <a:r>
              <a:rPr lang="ko-KR" altLang="en-US" sz="1050" spc="-60" dirty="0">
                <a:solidFill>
                  <a:srgbClr val="9CA2A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Arial Unicode MS"/>
              </a:rPr>
              <a:t>중복</a:t>
            </a:r>
            <a:r>
              <a:rPr lang="en-US" altLang="ko-KR" sz="1050" spc="-15" dirty="0">
                <a:solidFill>
                  <a:srgbClr val="9CA2A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Arial"/>
              </a:rPr>
              <a:t>,</a:t>
            </a:r>
            <a:r>
              <a:rPr lang="ko-KR" altLang="en-US" sz="1050" spc="-10" dirty="0">
                <a:solidFill>
                  <a:srgbClr val="9CA2A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Arial"/>
              </a:rPr>
              <a:t> </a:t>
            </a:r>
            <a:r>
              <a:rPr lang="ko-KR" altLang="en-US" sz="1050" spc="-60" dirty="0">
                <a:solidFill>
                  <a:srgbClr val="9CA2A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Arial Unicode MS"/>
              </a:rPr>
              <a:t>오판</a:t>
            </a:r>
            <a:r>
              <a:rPr lang="ko-KR" altLang="en-US" sz="1050" dirty="0">
                <a:solidFill>
                  <a:srgbClr val="9CA2A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Arial Unicode MS"/>
              </a:rPr>
              <a:t> </a:t>
            </a:r>
            <a:r>
              <a:rPr lang="ko-KR" altLang="en-US" sz="1050" spc="-60" dirty="0">
                <a:solidFill>
                  <a:srgbClr val="9CA2A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Arial Unicode MS"/>
              </a:rPr>
              <a:t>등으로</a:t>
            </a:r>
            <a:r>
              <a:rPr lang="ko-KR" altLang="en-US" sz="1050" dirty="0">
                <a:solidFill>
                  <a:srgbClr val="9CA2A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Arial Unicode MS"/>
              </a:rPr>
              <a:t> </a:t>
            </a:r>
            <a:r>
              <a:rPr lang="ko-KR" altLang="en-US" sz="1050" spc="-50" dirty="0">
                <a:solidFill>
                  <a:srgbClr val="9CA2A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Arial Unicode MS"/>
              </a:rPr>
              <a:t>인한</a:t>
            </a:r>
            <a:endParaRPr lang="en-US" altLang="ko-KR" sz="1050" spc="-50" dirty="0">
              <a:solidFill>
                <a:srgbClr val="9CA2AF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  <a:cs typeface="Arial Unicode MS"/>
            </a:endParaRPr>
          </a:p>
          <a:p>
            <a:pPr marL="12700" marR="5080" algn="ctr"/>
            <a:r>
              <a:rPr lang="ko-KR" altLang="en-US" sz="1050" spc="-50" dirty="0">
                <a:solidFill>
                  <a:srgbClr val="9CA2A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Arial Unicode MS"/>
              </a:rPr>
              <a:t> </a:t>
            </a:r>
            <a:r>
              <a:rPr lang="ko-KR" altLang="en-US" sz="1050" spc="-50" dirty="0" err="1">
                <a:solidFill>
                  <a:srgbClr val="9CA2A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Arial Unicode MS"/>
              </a:rPr>
              <a:t>비유효</a:t>
            </a:r>
            <a:r>
              <a:rPr lang="ko-KR" altLang="en-US" sz="1050" dirty="0">
                <a:solidFill>
                  <a:srgbClr val="9CA2A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Arial Unicode MS"/>
              </a:rPr>
              <a:t> </a:t>
            </a:r>
            <a:r>
              <a:rPr lang="ko-KR" altLang="en-US" sz="1050" spc="-60" dirty="0">
                <a:solidFill>
                  <a:srgbClr val="9CA2A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Arial Unicode MS"/>
              </a:rPr>
              <a:t>데이터</a:t>
            </a:r>
            <a:r>
              <a:rPr lang="ko-KR" altLang="en-US" sz="1050" dirty="0">
                <a:solidFill>
                  <a:srgbClr val="9CA2A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Arial Unicode MS"/>
              </a:rPr>
              <a:t> </a:t>
            </a:r>
            <a:r>
              <a:rPr lang="en-US" altLang="ko-KR" sz="1050" spc="-10" dirty="0">
                <a:solidFill>
                  <a:srgbClr val="9CA2A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Arial"/>
              </a:rPr>
              <a:t>(</a:t>
            </a:r>
            <a:r>
              <a:rPr lang="ko-KR" altLang="en-US" sz="1050" spc="-60" dirty="0">
                <a:solidFill>
                  <a:srgbClr val="9CA2A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Arial Unicode MS"/>
              </a:rPr>
              <a:t>노이즈</a:t>
            </a:r>
            <a:r>
              <a:rPr lang="en-US" altLang="ko-KR" sz="1050" spc="-10" dirty="0">
                <a:solidFill>
                  <a:srgbClr val="9CA2A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Arial"/>
              </a:rPr>
              <a:t>)</a:t>
            </a:r>
            <a:endParaRPr lang="ko-KR" altLang="en-US" sz="1050" dirty="0">
              <a:latin typeface="KoPub돋움체 Medium" panose="00000600000000000000" pitchFamily="2" charset="-127"/>
              <a:ea typeface="KoPub돋움체 Medium" panose="00000600000000000000" pitchFamily="2" charset="-127"/>
              <a:cs typeface="Arial"/>
            </a:endParaRPr>
          </a:p>
        </p:txBody>
      </p:sp>
      <p:sp>
        <p:nvSpPr>
          <p:cNvPr id="111" name="object 62">
            <a:extLst>
              <a:ext uri="{FF2B5EF4-FFF2-40B4-BE49-F238E27FC236}">
                <a16:creationId xmlns:a16="http://schemas.microsoft.com/office/drawing/2014/main" id="{58C3BD52-21C8-4AFF-BF6D-7116FBA1A7BE}"/>
              </a:ext>
            </a:extLst>
          </p:cNvPr>
          <p:cNvSpPr txBox="1">
            <a:spLocks/>
          </p:cNvSpPr>
          <p:nvPr/>
        </p:nvSpPr>
        <p:spPr>
          <a:xfrm>
            <a:off x="641443" y="2954168"/>
            <a:ext cx="1746157" cy="225918"/>
          </a:xfrm>
          <a:prstGeom prst="rect">
            <a:avLst/>
          </a:prstGeom>
        </p:spPr>
        <p:txBody>
          <a:bodyPr vert="horz" wrap="square" lIns="0" tIns="10373" rIns="0" bIns="0" rtlCol="0">
            <a:sp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1527">
              <a:lnSpc>
                <a:spcPct val="100000"/>
              </a:lnSpc>
              <a:spcBef>
                <a:spcPts val="82"/>
              </a:spcBef>
            </a:pPr>
            <a:r>
              <a:rPr lang="ko-KR" altLang="en-US" sz="1400" b="1" spc="-9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결함</a:t>
            </a:r>
            <a:r>
              <a:rPr lang="ko-KR" altLang="en-US" sz="1400" b="1" spc="73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altLang="en-US" sz="1400" b="1" spc="-9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유효성</a:t>
            </a:r>
            <a:r>
              <a:rPr lang="ko-KR" altLang="en-US" sz="1400" b="1" spc="73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altLang="en-US" sz="1400" b="1" spc="-9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검증</a:t>
            </a:r>
            <a:r>
              <a:rPr lang="ko-KR" altLang="en-US" sz="1400" b="1" spc="73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altLang="en-US" sz="1400" b="1" spc="-9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결과 </a:t>
            </a:r>
          </a:p>
        </p:txBody>
      </p:sp>
      <p:graphicFrame>
        <p:nvGraphicFramePr>
          <p:cNvPr id="112" name="차트 111">
            <a:extLst>
              <a:ext uri="{FF2B5EF4-FFF2-40B4-BE49-F238E27FC236}">
                <a16:creationId xmlns:a16="http://schemas.microsoft.com/office/drawing/2014/main" id="{F693B957-EA18-4C20-992F-B048D10116F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10197474"/>
              </p:ext>
            </p:extLst>
          </p:nvPr>
        </p:nvGraphicFramePr>
        <p:xfrm>
          <a:off x="381000" y="3302596"/>
          <a:ext cx="2434634" cy="1405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114" name="object 27">
            <a:extLst>
              <a:ext uri="{FF2B5EF4-FFF2-40B4-BE49-F238E27FC236}">
                <a16:creationId xmlns:a16="http://schemas.microsoft.com/office/drawing/2014/main" id="{301295CD-0520-4A1E-875B-C8D6E6D85D2F}"/>
              </a:ext>
            </a:extLst>
          </p:cNvPr>
          <p:cNvSpPr txBox="1"/>
          <p:nvPr/>
        </p:nvSpPr>
        <p:spPr>
          <a:xfrm>
            <a:off x="1027384" y="3830455"/>
            <a:ext cx="1219001" cy="294311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5"/>
              </a:spcBef>
            </a:pPr>
            <a:r>
              <a:rPr lang="en-US" b="1" spc="15" dirty="0">
                <a:solidFill>
                  <a:schemeClr val="bg2">
                    <a:lumMod val="90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Comic Sans MS"/>
              </a:rPr>
              <a:t>128</a:t>
            </a:r>
            <a:r>
              <a:rPr sz="1050" spc="-95" dirty="0">
                <a:solidFill>
                  <a:schemeClr val="bg2">
                    <a:lumMod val="90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Arial Unicode MS"/>
              </a:rPr>
              <a:t>건</a:t>
            </a:r>
            <a:endParaRPr dirty="0">
              <a:solidFill>
                <a:schemeClr val="bg2">
                  <a:lumMod val="90000"/>
                </a:schemeClr>
              </a:solidFill>
              <a:latin typeface="KoPub돋움체 Medium" panose="00000600000000000000" pitchFamily="2" charset="-127"/>
              <a:ea typeface="KoPub돋움체 Medium" panose="00000600000000000000" pitchFamily="2" charset="-127"/>
              <a:cs typeface="Arial Unicode MS"/>
            </a:endParaRPr>
          </a:p>
        </p:txBody>
      </p:sp>
      <p:sp>
        <p:nvSpPr>
          <p:cNvPr id="115" name="object 39">
            <a:extLst>
              <a:ext uri="{FF2B5EF4-FFF2-40B4-BE49-F238E27FC236}">
                <a16:creationId xmlns:a16="http://schemas.microsoft.com/office/drawing/2014/main" id="{7C33330A-CB4F-4197-840A-AE0B6C79560B}"/>
              </a:ext>
            </a:extLst>
          </p:cNvPr>
          <p:cNvSpPr txBox="1"/>
          <p:nvPr/>
        </p:nvSpPr>
        <p:spPr>
          <a:xfrm>
            <a:off x="1575133" y="3979459"/>
            <a:ext cx="1226437" cy="727763"/>
          </a:xfrm>
          <a:prstGeom prst="rect">
            <a:avLst/>
          </a:prstGeom>
        </p:spPr>
        <p:txBody>
          <a:bodyPr vert="horz" wrap="square" lIns="0" tIns="41592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275"/>
              </a:spcBef>
            </a:pPr>
            <a:r>
              <a:rPr lang="en-US" sz="2000" b="1" spc="-15" dirty="0">
                <a:solidFill>
                  <a:srgbClr val="DB2525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Comic Sans MS"/>
              </a:rPr>
              <a:t>93</a:t>
            </a:r>
            <a:r>
              <a:rPr sz="1100" spc="-125" dirty="0">
                <a:solidFill>
                  <a:srgbClr val="FBA5A5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Arial Unicode MS"/>
              </a:rPr>
              <a:t>건</a:t>
            </a:r>
            <a:endParaRPr lang="ko-KR" altLang="en-US" sz="2000" spc="-125" dirty="0">
              <a:solidFill>
                <a:srgbClr val="FBA5A5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  <a:cs typeface="Arial Unicode MS"/>
            </a:endParaRPr>
          </a:p>
        </p:txBody>
      </p:sp>
      <p:grpSp>
        <p:nvGrpSpPr>
          <p:cNvPr id="116" name="object 8">
            <a:extLst>
              <a:ext uri="{FF2B5EF4-FFF2-40B4-BE49-F238E27FC236}">
                <a16:creationId xmlns:a16="http://schemas.microsoft.com/office/drawing/2014/main" id="{95FC8A29-1193-41A9-BAF6-3D78CECE088A}"/>
              </a:ext>
            </a:extLst>
          </p:cNvPr>
          <p:cNvGrpSpPr/>
          <p:nvPr/>
        </p:nvGrpSpPr>
        <p:grpSpPr>
          <a:xfrm>
            <a:off x="2821725" y="3295501"/>
            <a:ext cx="3837693" cy="333103"/>
            <a:chOff x="1024830" y="4526398"/>
            <a:chExt cx="3228975" cy="367030"/>
          </a:xfrm>
        </p:grpSpPr>
        <p:sp>
          <p:nvSpPr>
            <p:cNvPr id="117" name="object 9">
              <a:extLst>
                <a:ext uri="{FF2B5EF4-FFF2-40B4-BE49-F238E27FC236}">
                  <a16:creationId xmlns:a16="http://schemas.microsoft.com/office/drawing/2014/main" id="{9C2A3FE4-8C0E-4775-B7CA-885EE4D8F706}"/>
                </a:ext>
              </a:extLst>
            </p:cNvPr>
            <p:cNvSpPr/>
            <p:nvPr/>
          </p:nvSpPr>
          <p:spPr>
            <a:xfrm>
              <a:off x="1024830" y="4526398"/>
              <a:ext cx="920750" cy="367030"/>
            </a:xfrm>
            <a:custGeom>
              <a:avLst/>
              <a:gdLst/>
              <a:ahLst/>
              <a:cxnLst/>
              <a:rect l="l" t="t" r="r" b="b"/>
              <a:pathLst>
                <a:path w="920750" h="367029">
                  <a:moveTo>
                    <a:pt x="920234" y="366533"/>
                  </a:moveTo>
                  <a:lnTo>
                    <a:pt x="0" y="366533"/>
                  </a:lnTo>
                  <a:lnTo>
                    <a:pt x="0" y="0"/>
                  </a:lnTo>
                  <a:lnTo>
                    <a:pt x="920234" y="0"/>
                  </a:lnTo>
                  <a:lnTo>
                    <a:pt x="920234" y="366533"/>
                  </a:lnTo>
                  <a:close/>
                </a:path>
              </a:pathLst>
            </a:custGeom>
            <a:solidFill>
              <a:srgbClr val="F2F4F5"/>
            </a:solidFill>
          </p:spPr>
          <p:txBody>
            <a:bodyPr wrap="square" lIns="0" tIns="0" rIns="0" bIns="0" rtlCol="0"/>
            <a:lstStyle/>
            <a:p>
              <a:endParaRPr sz="240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118" name="object 10">
              <a:extLst>
                <a:ext uri="{FF2B5EF4-FFF2-40B4-BE49-F238E27FC236}">
                  <a16:creationId xmlns:a16="http://schemas.microsoft.com/office/drawing/2014/main" id="{2A5BC102-77B7-4E46-9D21-10927CA5D1B7}"/>
                </a:ext>
              </a:extLst>
            </p:cNvPr>
            <p:cNvSpPr/>
            <p:nvPr/>
          </p:nvSpPr>
          <p:spPr>
            <a:xfrm>
              <a:off x="1024830" y="4877335"/>
              <a:ext cx="920750" cy="15875"/>
            </a:xfrm>
            <a:custGeom>
              <a:avLst/>
              <a:gdLst/>
              <a:ahLst/>
              <a:cxnLst/>
              <a:rect l="l" t="t" r="r" b="b"/>
              <a:pathLst>
                <a:path w="920750" h="15875">
                  <a:moveTo>
                    <a:pt x="920234" y="15597"/>
                  </a:moveTo>
                  <a:lnTo>
                    <a:pt x="0" y="15597"/>
                  </a:lnTo>
                  <a:lnTo>
                    <a:pt x="0" y="0"/>
                  </a:lnTo>
                  <a:lnTo>
                    <a:pt x="920234" y="0"/>
                  </a:lnTo>
                  <a:lnTo>
                    <a:pt x="920234" y="15597"/>
                  </a:lnTo>
                  <a:close/>
                </a:path>
              </a:pathLst>
            </a:custGeom>
            <a:solidFill>
              <a:srgbClr val="E4E7EB"/>
            </a:solidFill>
          </p:spPr>
          <p:txBody>
            <a:bodyPr wrap="square" lIns="0" tIns="0" rIns="0" bIns="0" rtlCol="0"/>
            <a:lstStyle/>
            <a:p>
              <a:endParaRPr sz="240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119" name="object 11">
              <a:extLst>
                <a:ext uri="{FF2B5EF4-FFF2-40B4-BE49-F238E27FC236}">
                  <a16:creationId xmlns:a16="http://schemas.microsoft.com/office/drawing/2014/main" id="{131C7F53-F5E4-4921-880F-CB7FFE7DFF4E}"/>
                </a:ext>
              </a:extLst>
            </p:cNvPr>
            <p:cNvSpPr/>
            <p:nvPr/>
          </p:nvSpPr>
          <p:spPr>
            <a:xfrm>
              <a:off x="1945064" y="4526398"/>
              <a:ext cx="452755" cy="367030"/>
            </a:xfrm>
            <a:custGeom>
              <a:avLst/>
              <a:gdLst/>
              <a:ahLst/>
              <a:cxnLst/>
              <a:rect l="l" t="t" r="r" b="b"/>
              <a:pathLst>
                <a:path w="452755" h="367029">
                  <a:moveTo>
                    <a:pt x="452318" y="366533"/>
                  </a:moveTo>
                  <a:lnTo>
                    <a:pt x="0" y="366533"/>
                  </a:lnTo>
                  <a:lnTo>
                    <a:pt x="0" y="0"/>
                  </a:lnTo>
                  <a:lnTo>
                    <a:pt x="452318" y="0"/>
                  </a:lnTo>
                  <a:lnTo>
                    <a:pt x="452318" y="366533"/>
                  </a:lnTo>
                  <a:close/>
                </a:path>
              </a:pathLst>
            </a:custGeom>
            <a:solidFill>
              <a:srgbClr val="F2F4F5"/>
            </a:solidFill>
          </p:spPr>
          <p:txBody>
            <a:bodyPr wrap="square" lIns="0" tIns="0" rIns="0" bIns="0" rtlCol="0"/>
            <a:lstStyle/>
            <a:p>
              <a:endParaRPr sz="240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120" name="object 12">
              <a:extLst>
                <a:ext uri="{FF2B5EF4-FFF2-40B4-BE49-F238E27FC236}">
                  <a16:creationId xmlns:a16="http://schemas.microsoft.com/office/drawing/2014/main" id="{FD554160-3717-42CE-80E2-56F652E1ABC7}"/>
                </a:ext>
              </a:extLst>
            </p:cNvPr>
            <p:cNvSpPr/>
            <p:nvPr/>
          </p:nvSpPr>
          <p:spPr>
            <a:xfrm>
              <a:off x="1945064" y="4877335"/>
              <a:ext cx="452755" cy="15875"/>
            </a:xfrm>
            <a:custGeom>
              <a:avLst/>
              <a:gdLst/>
              <a:ahLst/>
              <a:cxnLst/>
              <a:rect l="l" t="t" r="r" b="b"/>
              <a:pathLst>
                <a:path w="452755" h="15875">
                  <a:moveTo>
                    <a:pt x="452318" y="15597"/>
                  </a:moveTo>
                  <a:lnTo>
                    <a:pt x="0" y="15597"/>
                  </a:lnTo>
                  <a:lnTo>
                    <a:pt x="0" y="0"/>
                  </a:lnTo>
                  <a:lnTo>
                    <a:pt x="452318" y="0"/>
                  </a:lnTo>
                  <a:lnTo>
                    <a:pt x="452318" y="15597"/>
                  </a:lnTo>
                  <a:close/>
                </a:path>
              </a:pathLst>
            </a:custGeom>
            <a:solidFill>
              <a:srgbClr val="E4E7EB"/>
            </a:solidFill>
          </p:spPr>
          <p:txBody>
            <a:bodyPr wrap="square" lIns="0" tIns="0" rIns="0" bIns="0" rtlCol="0"/>
            <a:lstStyle/>
            <a:p>
              <a:endParaRPr sz="240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121" name="object 13">
              <a:extLst>
                <a:ext uri="{FF2B5EF4-FFF2-40B4-BE49-F238E27FC236}">
                  <a16:creationId xmlns:a16="http://schemas.microsoft.com/office/drawing/2014/main" id="{77F5B48D-28C0-45A9-B1B9-61D88A06AB19}"/>
                </a:ext>
              </a:extLst>
            </p:cNvPr>
            <p:cNvSpPr/>
            <p:nvPr/>
          </p:nvSpPr>
          <p:spPr>
            <a:xfrm>
              <a:off x="2397382" y="4526398"/>
              <a:ext cx="577215" cy="367030"/>
            </a:xfrm>
            <a:custGeom>
              <a:avLst/>
              <a:gdLst/>
              <a:ahLst/>
              <a:cxnLst/>
              <a:rect l="l" t="t" r="r" b="b"/>
              <a:pathLst>
                <a:path w="577214" h="367029">
                  <a:moveTo>
                    <a:pt x="577095" y="366533"/>
                  </a:moveTo>
                  <a:lnTo>
                    <a:pt x="0" y="366533"/>
                  </a:lnTo>
                  <a:lnTo>
                    <a:pt x="0" y="0"/>
                  </a:lnTo>
                  <a:lnTo>
                    <a:pt x="577095" y="0"/>
                  </a:lnTo>
                  <a:lnTo>
                    <a:pt x="577095" y="366533"/>
                  </a:lnTo>
                  <a:close/>
                </a:path>
              </a:pathLst>
            </a:custGeom>
            <a:solidFill>
              <a:srgbClr val="F2F4F5"/>
            </a:solidFill>
          </p:spPr>
          <p:txBody>
            <a:bodyPr wrap="square" lIns="0" tIns="0" rIns="0" bIns="0" rtlCol="0"/>
            <a:lstStyle/>
            <a:p>
              <a:endParaRPr sz="240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122" name="object 14">
              <a:extLst>
                <a:ext uri="{FF2B5EF4-FFF2-40B4-BE49-F238E27FC236}">
                  <a16:creationId xmlns:a16="http://schemas.microsoft.com/office/drawing/2014/main" id="{6D1F2D6A-36BC-4B04-8DEB-4D9A58AE3283}"/>
                </a:ext>
              </a:extLst>
            </p:cNvPr>
            <p:cNvSpPr/>
            <p:nvPr/>
          </p:nvSpPr>
          <p:spPr>
            <a:xfrm>
              <a:off x="2397382" y="4877335"/>
              <a:ext cx="577215" cy="15875"/>
            </a:xfrm>
            <a:custGeom>
              <a:avLst/>
              <a:gdLst/>
              <a:ahLst/>
              <a:cxnLst/>
              <a:rect l="l" t="t" r="r" b="b"/>
              <a:pathLst>
                <a:path w="577214" h="15875">
                  <a:moveTo>
                    <a:pt x="577095" y="15597"/>
                  </a:moveTo>
                  <a:lnTo>
                    <a:pt x="0" y="15597"/>
                  </a:lnTo>
                  <a:lnTo>
                    <a:pt x="0" y="0"/>
                  </a:lnTo>
                  <a:lnTo>
                    <a:pt x="577095" y="0"/>
                  </a:lnTo>
                  <a:lnTo>
                    <a:pt x="577095" y="15597"/>
                  </a:lnTo>
                  <a:close/>
                </a:path>
              </a:pathLst>
            </a:custGeom>
            <a:solidFill>
              <a:srgbClr val="E4E7EB"/>
            </a:solidFill>
          </p:spPr>
          <p:txBody>
            <a:bodyPr wrap="square" lIns="0" tIns="0" rIns="0" bIns="0" rtlCol="0"/>
            <a:lstStyle/>
            <a:p>
              <a:endParaRPr sz="240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123" name="object 15">
              <a:extLst>
                <a:ext uri="{FF2B5EF4-FFF2-40B4-BE49-F238E27FC236}">
                  <a16:creationId xmlns:a16="http://schemas.microsoft.com/office/drawing/2014/main" id="{EAE07D1A-1853-4013-BC30-A9FE89927853}"/>
                </a:ext>
              </a:extLst>
            </p:cNvPr>
            <p:cNvSpPr/>
            <p:nvPr/>
          </p:nvSpPr>
          <p:spPr>
            <a:xfrm>
              <a:off x="2974478" y="4526398"/>
              <a:ext cx="1279525" cy="367030"/>
            </a:xfrm>
            <a:custGeom>
              <a:avLst/>
              <a:gdLst/>
              <a:ahLst/>
              <a:cxnLst/>
              <a:rect l="l" t="t" r="r" b="b"/>
              <a:pathLst>
                <a:path w="1279525" h="367029">
                  <a:moveTo>
                    <a:pt x="1278969" y="366533"/>
                  </a:moveTo>
                  <a:lnTo>
                    <a:pt x="0" y="366533"/>
                  </a:lnTo>
                  <a:lnTo>
                    <a:pt x="0" y="0"/>
                  </a:lnTo>
                  <a:lnTo>
                    <a:pt x="1278969" y="0"/>
                  </a:lnTo>
                  <a:lnTo>
                    <a:pt x="1278969" y="366533"/>
                  </a:lnTo>
                  <a:close/>
                </a:path>
              </a:pathLst>
            </a:custGeom>
            <a:solidFill>
              <a:srgbClr val="F2F4F5"/>
            </a:solidFill>
          </p:spPr>
          <p:txBody>
            <a:bodyPr wrap="square" lIns="0" tIns="0" rIns="0" bIns="0" rtlCol="0"/>
            <a:lstStyle/>
            <a:p>
              <a:endParaRPr sz="240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124" name="object 16">
              <a:extLst>
                <a:ext uri="{FF2B5EF4-FFF2-40B4-BE49-F238E27FC236}">
                  <a16:creationId xmlns:a16="http://schemas.microsoft.com/office/drawing/2014/main" id="{55F51667-8D35-49C4-B9C9-4B5CB0A5B0C1}"/>
                </a:ext>
              </a:extLst>
            </p:cNvPr>
            <p:cNvSpPr/>
            <p:nvPr/>
          </p:nvSpPr>
          <p:spPr>
            <a:xfrm>
              <a:off x="2974478" y="4877335"/>
              <a:ext cx="1279525" cy="15875"/>
            </a:xfrm>
            <a:custGeom>
              <a:avLst/>
              <a:gdLst/>
              <a:ahLst/>
              <a:cxnLst/>
              <a:rect l="l" t="t" r="r" b="b"/>
              <a:pathLst>
                <a:path w="1279525" h="15875">
                  <a:moveTo>
                    <a:pt x="1278969" y="15597"/>
                  </a:moveTo>
                  <a:lnTo>
                    <a:pt x="0" y="15597"/>
                  </a:lnTo>
                  <a:lnTo>
                    <a:pt x="0" y="0"/>
                  </a:lnTo>
                  <a:lnTo>
                    <a:pt x="1278969" y="0"/>
                  </a:lnTo>
                  <a:lnTo>
                    <a:pt x="1278969" y="15597"/>
                  </a:lnTo>
                  <a:close/>
                </a:path>
              </a:pathLst>
            </a:custGeom>
            <a:solidFill>
              <a:srgbClr val="E4E7EB"/>
            </a:solidFill>
          </p:spPr>
          <p:txBody>
            <a:bodyPr wrap="square" lIns="0" tIns="0" rIns="0" bIns="0" rtlCol="0"/>
            <a:lstStyle/>
            <a:p>
              <a:endParaRPr sz="240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</p:grpSp>
      <p:sp>
        <p:nvSpPr>
          <p:cNvPr id="125" name="object 17">
            <a:extLst>
              <a:ext uri="{FF2B5EF4-FFF2-40B4-BE49-F238E27FC236}">
                <a16:creationId xmlns:a16="http://schemas.microsoft.com/office/drawing/2014/main" id="{D28F6447-DA7B-4D7B-B726-64C49F129FFC}"/>
              </a:ext>
            </a:extLst>
          </p:cNvPr>
          <p:cNvSpPr txBox="1"/>
          <p:nvPr/>
        </p:nvSpPr>
        <p:spPr>
          <a:xfrm>
            <a:off x="3208602" y="3381044"/>
            <a:ext cx="2487832" cy="182080"/>
          </a:xfrm>
          <a:prstGeom prst="rect">
            <a:avLst/>
          </a:prstGeom>
        </p:spPr>
        <p:txBody>
          <a:bodyPr vert="horz" wrap="square" lIns="0" tIns="12679" rIns="0" bIns="0" rtlCol="0">
            <a:spAutoFit/>
          </a:bodyPr>
          <a:lstStyle/>
          <a:p>
            <a:pPr marL="84720">
              <a:spcBef>
                <a:spcPts val="100"/>
              </a:spcBef>
              <a:tabLst>
                <a:tab pos="917510" algn="l"/>
                <a:tab pos="1327855" algn="l"/>
                <a:tab pos="1856922" algn="l"/>
              </a:tabLst>
            </a:pPr>
            <a:r>
              <a:rPr sz="1100" b="1" spc="-54" dirty="0">
                <a:solidFill>
                  <a:srgbClr val="4A5462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맑은 고딕"/>
              </a:rPr>
              <a:t>구분	</a:t>
            </a:r>
            <a:r>
              <a:rPr sz="1100" b="1" spc="-54" dirty="0" err="1">
                <a:solidFill>
                  <a:srgbClr val="4A5462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맑은 고딕"/>
              </a:rPr>
              <a:t>건수</a:t>
            </a:r>
            <a:r>
              <a:rPr sz="1100" b="1" spc="-54" dirty="0">
                <a:solidFill>
                  <a:srgbClr val="4A5462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맑은 고딕"/>
              </a:rPr>
              <a:t>	</a:t>
            </a:r>
            <a:r>
              <a:rPr lang="en-US" sz="1100" b="1" spc="-54" dirty="0">
                <a:solidFill>
                  <a:srgbClr val="4A5462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맑은 고딕"/>
              </a:rPr>
              <a:t>       </a:t>
            </a:r>
            <a:r>
              <a:rPr lang="ko-KR" altLang="en-US" sz="1100" b="1" spc="-54" dirty="0">
                <a:solidFill>
                  <a:srgbClr val="4A5462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맑은 고딕"/>
              </a:rPr>
              <a:t>비중</a:t>
            </a:r>
            <a:r>
              <a:rPr sz="1100" b="1" spc="-54" dirty="0">
                <a:solidFill>
                  <a:srgbClr val="4A5462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맑은 고딕"/>
              </a:rPr>
              <a:t>	</a:t>
            </a:r>
            <a:r>
              <a:rPr lang="en-US" sz="1100" b="1" spc="-54" dirty="0">
                <a:solidFill>
                  <a:srgbClr val="4A5462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맑은 고딕"/>
              </a:rPr>
              <a:t>           </a:t>
            </a:r>
            <a:r>
              <a:rPr lang="ko-KR" altLang="en-US" sz="1100" b="1" spc="-54" dirty="0">
                <a:solidFill>
                  <a:srgbClr val="4A5462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맑은 고딕"/>
              </a:rPr>
              <a:t>비</a:t>
            </a:r>
            <a:r>
              <a:rPr sz="1100" b="1" spc="-54" dirty="0">
                <a:solidFill>
                  <a:srgbClr val="4A5462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맑은 고딕"/>
              </a:rPr>
              <a:t>고</a:t>
            </a:r>
            <a:endParaRPr sz="1100" dirty="0">
              <a:latin typeface="KoPub돋움체 Medium" panose="00000600000000000000" pitchFamily="2" charset="-127"/>
              <a:ea typeface="KoPub돋움체 Medium" panose="00000600000000000000" pitchFamily="2" charset="-127"/>
              <a:cs typeface="맑은 고딕"/>
            </a:endParaRPr>
          </a:p>
        </p:txBody>
      </p:sp>
      <p:graphicFrame>
        <p:nvGraphicFramePr>
          <p:cNvPr id="126" name="object 18">
            <a:extLst>
              <a:ext uri="{FF2B5EF4-FFF2-40B4-BE49-F238E27FC236}">
                <a16:creationId xmlns:a16="http://schemas.microsoft.com/office/drawing/2014/main" id="{080F0FC2-D7A0-4124-96CD-3C18CB0B01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0463581"/>
              </p:ext>
            </p:extLst>
          </p:nvPr>
        </p:nvGraphicFramePr>
        <p:xfrm>
          <a:off x="2782659" y="3659506"/>
          <a:ext cx="3876759" cy="8234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458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26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1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69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1213">
                <a:tc>
                  <a:txBody>
                    <a:bodyPr/>
                    <a:lstStyle/>
                    <a:p>
                      <a:pPr marL="0" marR="180975" algn="r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sz="1100" b="1" dirty="0">
                          <a:solidFill>
                            <a:srgbClr val="1F2937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맑은 고딕"/>
                        </a:rPr>
                        <a:t>유효</a:t>
                      </a:r>
                      <a:r>
                        <a:rPr sz="1100" b="1" spc="-60" dirty="0">
                          <a:solidFill>
                            <a:srgbClr val="1F2937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맑은 고딕"/>
                        </a:rPr>
                        <a:t> </a:t>
                      </a:r>
                      <a:r>
                        <a:rPr sz="1100" b="1" dirty="0">
                          <a:solidFill>
                            <a:srgbClr val="1F2937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맑은 고딕"/>
                        </a:rPr>
                        <a:t>결함</a:t>
                      </a:r>
                      <a:endParaRPr sz="1100" dirty="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맑은 고딕"/>
                      </a:endParaRPr>
                    </a:p>
                  </a:txBody>
                  <a:tcPr marL="36000" marR="0" marT="0" marB="36000" anchor="ctr">
                    <a:lnL>
                      <a:noFill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AF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en-US" sz="1100" b="1" spc="5" dirty="0">
                          <a:solidFill>
                            <a:srgbClr val="1F2937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Noto Sans KR"/>
                        </a:rPr>
                        <a:t>93</a:t>
                      </a:r>
                      <a:endParaRPr sz="1100" dirty="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Noto Sans KR"/>
                      </a:endParaRPr>
                    </a:p>
                  </a:txBody>
                  <a:tcPr marL="36000" marR="0" marT="0" marB="3600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107314" algn="r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en-US" sz="1100" spc="-25" dirty="0">
                          <a:solidFill>
                            <a:srgbClr val="1F2937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Noto Sans KR"/>
                        </a:rPr>
                        <a:t>72.7</a:t>
                      </a:r>
                      <a:r>
                        <a:rPr sz="1100" spc="-25" dirty="0">
                          <a:solidFill>
                            <a:srgbClr val="1F2937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Noto Sans KR"/>
                        </a:rPr>
                        <a:t>%</a:t>
                      </a:r>
                      <a:endParaRPr sz="1100" dirty="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Noto Sans KR"/>
                      </a:endParaRPr>
                    </a:p>
                  </a:txBody>
                  <a:tcPr marL="36000" marR="0" marT="0" marB="3600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AFA"/>
                    </a:solidFill>
                  </a:tcPr>
                </a:tc>
                <a:tc>
                  <a:txBody>
                    <a:bodyPr/>
                    <a:lstStyle/>
                    <a:p>
                      <a:pPr marL="0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sz="1100" dirty="0">
                          <a:solidFill>
                            <a:srgbClr val="1F2937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 Unicode MS"/>
                        </a:rPr>
                        <a:t>실제 수정</a:t>
                      </a:r>
                      <a:r>
                        <a:rPr sz="1100" dirty="0">
                          <a:solidFill>
                            <a:srgbClr val="1F2937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Noto Sans KR"/>
                        </a:rPr>
                        <a:t>/</a:t>
                      </a:r>
                      <a:r>
                        <a:rPr sz="1100" dirty="0">
                          <a:solidFill>
                            <a:srgbClr val="1F2937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 Unicode MS"/>
                        </a:rPr>
                        <a:t>조치 필요</a:t>
                      </a:r>
                      <a:endParaRPr sz="1100" dirty="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Arial Unicode MS"/>
                      </a:endParaRPr>
                    </a:p>
                  </a:txBody>
                  <a:tcPr marL="36000" marR="0" marT="0" marB="3600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3445">
                <a:tc>
                  <a:txBody>
                    <a:bodyPr/>
                    <a:lstStyle/>
                    <a:p>
                      <a:pPr marL="0" marR="168910" algn="r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sz="1100" spc="-50" dirty="0" err="1">
                          <a:solidFill>
                            <a:srgbClr val="6A7280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 Unicode MS"/>
                        </a:rPr>
                        <a:t>기각</a:t>
                      </a:r>
                      <a:r>
                        <a:rPr sz="1100" spc="-50" dirty="0">
                          <a:solidFill>
                            <a:srgbClr val="6A7280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Calibri"/>
                        </a:rPr>
                        <a:t>/</a:t>
                      </a:r>
                      <a:r>
                        <a:rPr sz="1100" spc="-50" dirty="0">
                          <a:solidFill>
                            <a:srgbClr val="6A7280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 Unicode MS"/>
                        </a:rPr>
                        <a:t>제외</a:t>
                      </a:r>
                      <a:endParaRPr sz="1100" dirty="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Arial Unicode MS"/>
                      </a:endParaRPr>
                    </a:p>
                  </a:txBody>
                  <a:tcPr marL="36000" marR="0" marT="0" marB="36000" anchor="ctr">
                    <a:lnL>
                      <a:noFill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AF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en-US" sz="1100" spc="5" dirty="0">
                          <a:solidFill>
                            <a:srgbClr val="1F2937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Georgia"/>
                        </a:rPr>
                        <a:t>35</a:t>
                      </a:r>
                    </a:p>
                  </a:txBody>
                  <a:tcPr marL="36000" marR="0" marT="0" marB="3600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107314" algn="r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en-US" sz="1100" spc="-25" dirty="0">
                          <a:solidFill>
                            <a:srgbClr val="1F2937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Noto Sans KR"/>
                        </a:rPr>
                        <a:t>27.3</a:t>
                      </a:r>
                      <a:r>
                        <a:rPr sz="1100" spc="-25" dirty="0">
                          <a:solidFill>
                            <a:srgbClr val="1F2937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Noto Sans KR"/>
                        </a:rPr>
                        <a:t>%</a:t>
                      </a:r>
                      <a:endParaRPr sz="1100" dirty="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Noto Sans KR"/>
                      </a:endParaRPr>
                    </a:p>
                  </a:txBody>
                  <a:tcPr marL="36000" marR="0" marT="0" marB="3600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AFA"/>
                    </a:solidFill>
                  </a:tcPr>
                </a:tc>
                <a:tc>
                  <a:txBody>
                    <a:bodyPr/>
                    <a:lstStyle/>
                    <a:p>
                      <a:pPr marL="0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Times New Roman"/>
                        </a:rPr>
                        <a:t>결</a:t>
                      </a:r>
                      <a:r>
                        <a:rPr sz="1100" dirty="0">
                          <a:solidFill>
                            <a:srgbClr val="1F2937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 Unicode MS"/>
                        </a:rPr>
                        <a:t>함 아님</a:t>
                      </a:r>
                      <a:r>
                        <a:rPr sz="1100" dirty="0">
                          <a:solidFill>
                            <a:srgbClr val="1F2937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Noto Sans KR"/>
                        </a:rPr>
                        <a:t>,</a:t>
                      </a:r>
                      <a:r>
                        <a:rPr sz="1100" spc="35" dirty="0">
                          <a:solidFill>
                            <a:srgbClr val="1F2937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Noto Sans KR"/>
                        </a:rPr>
                        <a:t> </a:t>
                      </a:r>
                      <a:r>
                        <a:rPr sz="1100" dirty="0">
                          <a:solidFill>
                            <a:srgbClr val="1F2937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 Unicode MS"/>
                        </a:rPr>
                        <a:t>중복 등</a:t>
                      </a:r>
                      <a:endParaRPr sz="1100" dirty="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Arial Unicode MS"/>
                      </a:endParaRPr>
                    </a:p>
                  </a:txBody>
                  <a:tcPr marL="36000" marR="0" marT="0" marB="3600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8812">
                <a:tc>
                  <a:txBody>
                    <a:bodyPr/>
                    <a:lstStyle/>
                    <a:p>
                      <a:pPr marL="0" algn="ctr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sz="1100" b="1" spc="-60" dirty="0" err="1">
                          <a:solidFill>
                            <a:srgbClr val="1F2937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맑은 고딕"/>
                        </a:rPr>
                        <a:t>총계</a:t>
                      </a:r>
                      <a:endParaRPr sz="1100" dirty="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맑은 고딕"/>
                      </a:endParaRPr>
                    </a:p>
                  </a:txBody>
                  <a:tcPr marL="36000" marR="0" marT="0" marB="36000" anchor="ctr">
                    <a:lnL>
                      <a:noFill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AF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en-US" sz="1100" b="1" spc="5" dirty="0">
                          <a:solidFill>
                            <a:srgbClr val="1F2937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Noto Sans KR"/>
                        </a:rPr>
                        <a:t>12</a:t>
                      </a:r>
                      <a:r>
                        <a:rPr sz="1100" b="1" spc="5" dirty="0">
                          <a:solidFill>
                            <a:srgbClr val="1F2937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Noto Sans KR"/>
                        </a:rPr>
                        <a:t>8</a:t>
                      </a:r>
                      <a:endParaRPr sz="1100" dirty="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Noto Sans KR"/>
                      </a:endParaRPr>
                    </a:p>
                  </a:txBody>
                  <a:tcPr marL="36000" marR="0" marT="0" marB="3600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113664" algn="r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sz="1100" b="1" spc="5" dirty="0">
                          <a:solidFill>
                            <a:srgbClr val="1F2937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Noto Sans KR"/>
                        </a:rPr>
                        <a:t>100%</a:t>
                      </a:r>
                      <a:endParaRPr sz="1100" dirty="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Noto Sans KR"/>
                      </a:endParaRPr>
                    </a:p>
                  </a:txBody>
                  <a:tcPr marL="36000" marR="0" marT="0" marB="3600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AFA"/>
                    </a:solidFill>
                  </a:tcPr>
                </a:tc>
                <a:tc>
                  <a:txBody>
                    <a:bodyPr/>
                    <a:lstStyle/>
                    <a:p>
                      <a:pPr marL="0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endParaRPr sz="1100" dirty="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Times New Roman"/>
                      </a:endParaRPr>
                    </a:p>
                  </a:txBody>
                  <a:tcPr marL="36000" marR="0" marT="0" marB="3600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127" name="object 19">
            <a:extLst>
              <a:ext uri="{FF2B5EF4-FFF2-40B4-BE49-F238E27FC236}">
                <a16:creationId xmlns:a16="http://schemas.microsoft.com/office/drawing/2014/main" id="{7A2326DD-BF43-41C8-9C8C-8403CFFAB08A}"/>
              </a:ext>
            </a:extLst>
          </p:cNvPr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906658" y="3761946"/>
            <a:ext cx="84932" cy="84932"/>
          </a:xfrm>
          <a:prstGeom prst="rect">
            <a:avLst/>
          </a:prstGeom>
        </p:spPr>
      </p:pic>
      <p:pic>
        <p:nvPicPr>
          <p:cNvPr id="128" name="object 20">
            <a:extLst>
              <a:ext uri="{FF2B5EF4-FFF2-40B4-BE49-F238E27FC236}">
                <a16:creationId xmlns:a16="http://schemas.microsoft.com/office/drawing/2014/main" id="{11041900-40A1-4A3C-BC97-37DFD54872EC}"/>
              </a:ext>
            </a:extLst>
          </p:cNvPr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906658" y="4046424"/>
            <a:ext cx="84932" cy="84932"/>
          </a:xfrm>
          <a:prstGeom prst="rect">
            <a:avLst/>
          </a:prstGeom>
        </p:spPr>
      </p:pic>
      <p:sp>
        <p:nvSpPr>
          <p:cNvPr id="129" name="object 11">
            <a:extLst>
              <a:ext uri="{FF2B5EF4-FFF2-40B4-BE49-F238E27FC236}">
                <a16:creationId xmlns:a16="http://schemas.microsoft.com/office/drawing/2014/main" id="{45BEE570-70C4-4496-920F-0874C00F2BFB}"/>
              </a:ext>
            </a:extLst>
          </p:cNvPr>
          <p:cNvSpPr/>
          <p:nvPr/>
        </p:nvSpPr>
        <p:spPr>
          <a:xfrm>
            <a:off x="3289947" y="5755468"/>
            <a:ext cx="62865" cy="56193"/>
          </a:xfrm>
          <a:custGeom>
            <a:avLst/>
            <a:gdLst/>
            <a:ahLst/>
            <a:cxnLst/>
            <a:rect l="l" t="t" r="r" b="b"/>
            <a:pathLst>
              <a:path w="62865" h="62864">
                <a:moveTo>
                  <a:pt x="35331" y="62388"/>
                </a:moveTo>
                <a:lnTo>
                  <a:pt x="27057" y="62388"/>
                </a:lnTo>
                <a:lnTo>
                  <a:pt x="23078" y="61596"/>
                </a:lnTo>
                <a:lnTo>
                  <a:pt x="0" y="35330"/>
                </a:lnTo>
                <a:lnTo>
                  <a:pt x="0" y="27057"/>
                </a:lnTo>
                <a:lnTo>
                  <a:pt x="27057" y="0"/>
                </a:lnTo>
                <a:lnTo>
                  <a:pt x="35331" y="0"/>
                </a:lnTo>
                <a:lnTo>
                  <a:pt x="62388" y="27057"/>
                </a:lnTo>
                <a:lnTo>
                  <a:pt x="62388" y="31194"/>
                </a:lnTo>
                <a:lnTo>
                  <a:pt x="62388" y="35330"/>
                </a:lnTo>
                <a:lnTo>
                  <a:pt x="35331" y="62388"/>
                </a:lnTo>
                <a:close/>
              </a:path>
            </a:pathLst>
          </a:custGeom>
          <a:solidFill>
            <a:srgbClr val="EF4444"/>
          </a:solidFill>
        </p:spPr>
        <p:txBody>
          <a:bodyPr wrap="square" lIns="0" tIns="0" rIns="0" bIns="0" rtlCol="0"/>
          <a:lstStyle/>
          <a:p>
            <a:endParaRPr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130" name="object 11">
            <a:extLst>
              <a:ext uri="{FF2B5EF4-FFF2-40B4-BE49-F238E27FC236}">
                <a16:creationId xmlns:a16="http://schemas.microsoft.com/office/drawing/2014/main" id="{36411B17-E0D2-41F8-B8E8-B5FED3CF5C30}"/>
              </a:ext>
            </a:extLst>
          </p:cNvPr>
          <p:cNvSpPr/>
          <p:nvPr/>
        </p:nvSpPr>
        <p:spPr>
          <a:xfrm>
            <a:off x="5125158" y="5764032"/>
            <a:ext cx="62865" cy="56193"/>
          </a:xfrm>
          <a:custGeom>
            <a:avLst/>
            <a:gdLst/>
            <a:ahLst/>
            <a:cxnLst/>
            <a:rect l="l" t="t" r="r" b="b"/>
            <a:pathLst>
              <a:path w="62865" h="62864">
                <a:moveTo>
                  <a:pt x="35331" y="62388"/>
                </a:moveTo>
                <a:lnTo>
                  <a:pt x="27057" y="62388"/>
                </a:lnTo>
                <a:lnTo>
                  <a:pt x="23078" y="61596"/>
                </a:lnTo>
                <a:lnTo>
                  <a:pt x="0" y="35330"/>
                </a:lnTo>
                <a:lnTo>
                  <a:pt x="0" y="27057"/>
                </a:lnTo>
                <a:lnTo>
                  <a:pt x="27057" y="0"/>
                </a:lnTo>
                <a:lnTo>
                  <a:pt x="35331" y="0"/>
                </a:lnTo>
                <a:lnTo>
                  <a:pt x="62388" y="27057"/>
                </a:lnTo>
                <a:lnTo>
                  <a:pt x="62388" y="31194"/>
                </a:lnTo>
                <a:lnTo>
                  <a:pt x="62388" y="35330"/>
                </a:lnTo>
                <a:lnTo>
                  <a:pt x="35331" y="62388"/>
                </a:lnTo>
                <a:close/>
              </a:path>
            </a:pathLst>
          </a:custGeom>
          <a:solidFill>
            <a:srgbClr val="EF4444"/>
          </a:solidFill>
        </p:spPr>
        <p:txBody>
          <a:bodyPr wrap="square" lIns="0" tIns="0" rIns="0" bIns="0" rtlCol="0"/>
          <a:lstStyle/>
          <a:p>
            <a:endParaRPr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147" name="object 32">
            <a:extLst>
              <a:ext uri="{FF2B5EF4-FFF2-40B4-BE49-F238E27FC236}">
                <a16:creationId xmlns:a16="http://schemas.microsoft.com/office/drawing/2014/main" id="{0B7CA510-4955-4173-863C-F81DC6B757E7}"/>
              </a:ext>
            </a:extLst>
          </p:cNvPr>
          <p:cNvSpPr txBox="1"/>
          <p:nvPr/>
        </p:nvSpPr>
        <p:spPr>
          <a:xfrm>
            <a:off x="7243999" y="3070800"/>
            <a:ext cx="2999127" cy="22762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b="1" spc="-85" dirty="0" err="1">
                <a:latin typeface="KoPub돋움체 Medium" panose="00000600000000000000" pitchFamily="2" charset="-127"/>
                <a:ea typeface="KoPub돋움체 Medium" panose="00000600000000000000" pitchFamily="2" charset="-127"/>
                <a:cs typeface="맑은 고딕"/>
              </a:rPr>
              <a:t>기각</a:t>
            </a:r>
            <a:r>
              <a:rPr sz="1400" b="1" spc="-45" dirty="0">
                <a:latin typeface="KoPub돋움체 Medium" panose="00000600000000000000" pitchFamily="2" charset="-127"/>
                <a:ea typeface="KoPub돋움체 Medium" panose="00000600000000000000" pitchFamily="2" charset="-127"/>
                <a:cs typeface="Noto Sans KR"/>
              </a:rPr>
              <a:t>(</a:t>
            </a:r>
            <a:r>
              <a:rPr sz="1400" b="1" spc="-110" dirty="0">
                <a:latin typeface="KoPub돋움체 Medium" panose="00000600000000000000" pitchFamily="2" charset="-127"/>
                <a:ea typeface="KoPub돋움체 Medium" panose="00000600000000000000" pitchFamily="2" charset="-127"/>
                <a:cs typeface="Noto Sans KR"/>
              </a:rPr>
              <a:t>R</a:t>
            </a:r>
            <a:r>
              <a:rPr sz="1400" b="1" spc="-65" dirty="0">
                <a:latin typeface="KoPub돋움체 Medium" panose="00000600000000000000" pitchFamily="2" charset="-127"/>
                <a:ea typeface="KoPub돋움체 Medium" panose="00000600000000000000" pitchFamily="2" charset="-127"/>
                <a:cs typeface="Noto Sans KR"/>
              </a:rPr>
              <a:t>eje</a:t>
            </a:r>
            <a:r>
              <a:rPr sz="1400" b="1" spc="-95" dirty="0">
                <a:latin typeface="KoPub돋움체 Medium" panose="00000600000000000000" pitchFamily="2" charset="-127"/>
                <a:ea typeface="KoPub돋움체 Medium" panose="00000600000000000000" pitchFamily="2" charset="-127"/>
                <a:cs typeface="Noto Sans KR"/>
              </a:rPr>
              <a:t>c</a:t>
            </a:r>
            <a:r>
              <a:rPr sz="1400" b="1" spc="-80" dirty="0">
                <a:latin typeface="KoPub돋움체 Medium" panose="00000600000000000000" pitchFamily="2" charset="-127"/>
                <a:ea typeface="KoPub돋움체 Medium" panose="00000600000000000000" pitchFamily="2" charset="-127"/>
                <a:cs typeface="Noto Sans KR"/>
              </a:rPr>
              <a:t>t</a:t>
            </a:r>
            <a:r>
              <a:rPr sz="1400" b="1" spc="-70" dirty="0">
                <a:latin typeface="KoPub돋움체 Medium" panose="00000600000000000000" pitchFamily="2" charset="-127"/>
                <a:ea typeface="KoPub돋움체 Medium" panose="00000600000000000000" pitchFamily="2" charset="-127"/>
                <a:cs typeface="Noto Sans KR"/>
              </a:rPr>
              <a:t>ed)</a:t>
            </a:r>
            <a:r>
              <a:rPr sz="1400" b="1" spc="25" dirty="0">
                <a:latin typeface="KoPub돋움체 Medium" panose="00000600000000000000" pitchFamily="2" charset="-127"/>
                <a:ea typeface="KoPub돋움체 Medium" panose="00000600000000000000" pitchFamily="2" charset="-127"/>
                <a:cs typeface="Noto Sans KR"/>
              </a:rPr>
              <a:t> </a:t>
            </a:r>
            <a:r>
              <a:rPr sz="1400" b="1" spc="-85" dirty="0" err="1">
                <a:latin typeface="KoPub돋움체 Medium" panose="00000600000000000000" pitchFamily="2" charset="-127"/>
                <a:ea typeface="KoPub돋움체 Medium" panose="00000600000000000000" pitchFamily="2" charset="-127"/>
                <a:cs typeface="맑은 고딕"/>
              </a:rPr>
              <a:t>사유</a:t>
            </a:r>
            <a:r>
              <a:rPr sz="1400" b="1" spc="-80" dirty="0">
                <a:latin typeface="KoPub돋움체 Medium" panose="00000600000000000000" pitchFamily="2" charset="-127"/>
                <a:ea typeface="KoPub돋움체 Medium" panose="00000600000000000000" pitchFamily="2" charset="-127"/>
                <a:cs typeface="맑은 고딕"/>
              </a:rPr>
              <a:t> </a:t>
            </a:r>
            <a:r>
              <a:rPr sz="1400" b="1" spc="-85" dirty="0">
                <a:latin typeface="KoPub돋움체 Medium" panose="00000600000000000000" pitchFamily="2" charset="-127"/>
                <a:ea typeface="KoPub돋움체 Medium" panose="00000600000000000000" pitchFamily="2" charset="-127"/>
                <a:cs typeface="맑은 고딕"/>
              </a:rPr>
              <a:t>분석</a:t>
            </a:r>
            <a:endParaRPr sz="1400" dirty="0">
              <a:latin typeface="KoPub돋움체 Medium" panose="00000600000000000000" pitchFamily="2" charset="-127"/>
              <a:ea typeface="KoPub돋움체 Medium" panose="00000600000000000000" pitchFamily="2" charset="-127"/>
              <a:cs typeface="맑은 고딕"/>
            </a:endParaRPr>
          </a:p>
        </p:txBody>
      </p:sp>
      <p:sp>
        <p:nvSpPr>
          <p:cNvPr id="148" name="object 33">
            <a:extLst>
              <a:ext uri="{FF2B5EF4-FFF2-40B4-BE49-F238E27FC236}">
                <a16:creationId xmlns:a16="http://schemas.microsoft.com/office/drawing/2014/main" id="{A1E532BA-50B3-40A2-B310-079E71648A6C}"/>
              </a:ext>
            </a:extLst>
          </p:cNvPr>
          <p:cNvSpPr/>
          <p:nvPr/>
        </p:nvSpPr>
        <p:spPr>
          <a:xfrm>
            <a:off x="10340987" y="3052455"/>
            <a:ext cx="964321" cy="243045"/>
          </a:xfrm>
          <a:custGeom>
            <a:avLst/>
            <a:gdLst/>
            <a:ahLst/>
            <a:cxnLst/>
            <a:rect l="l" t="t" r="r" b="b"/>
            <a:pathLst>
              <a:path w="709929" h="218439">
                <a:moveTo>
                  <a:pt x="607661" y="218360"/>
                </a:moveTo>
                <a:lnTo>
                  <a:pt x="102011" y="218360"/>
                </a:lnTo>
                <a:lnTo>
                  <a:pt x="94912" y="217661"/>
                </a:lnTo>
                <a:lnTo>
                  <a:pt x="54483" y="203943"/>
                </a:lnTo>
                <a:lnTo>
                  <a:pt x="22382" y="175798"/>
                </a:lnTo>
                <a:lnTo>
                  <a:pt x="3496" y="137511"/>
                </a:lnTo>
                <a:lnTo>
                  <a:pt x="0" y="116349"/>
                </a:lnTo>
                <a:lnTo>
                  <a:pt x="0" y="109180"/>
                </a:lnTo>
                <a:lnTo>
                  <a:pt x="0" y="102011"/>
                </a:lnTo>
                <a:lnTo>
                  <a:pt x="11053" y="60775"/>
                </a:lnTo>
                <a:lnTo>
                  <a:pt x="37048" y="26908"/>
                </a:lnTo>
                <a:lnTo>
                  <a:pt x="74020" y="5567"/>
                </a:lnTo>
                <a:lnTo>
                  <a:pt x="102011" y="0"/>
                </a:lnTo>
                <a:lnTo>
                  <a:pt x="607661" y="0"/>
                </a:lnTo>
                <a:lnTo>
                  <a:pt x="648895" y="11054"/>
                </a:lnTo>
                <a:lnTo>
                  <a:pt x="682763" y="37047"/>
                </a:lnTo>
                <a:lnTo>
                  <a:pt x="704103" y="74021"/>
                </a:lnTo>
                <a:lnTo>
                  <a:pt x="709672" y="102011"/>
                </a:lnTo>
                <a:lnTo>
                  <a:pt x="709672" y="116349"/>
                </a:lnTo>
                <a:lnTo>
                  <a:pt x="698617" y="157584"/>
                </a:lnTo>
                <a:lnTo>
                  <a:pt x="672623" y="191451"/>
                </a:lnTo>
                <a:lnTo>
                  <a:pt x="635650" y="212792"/>
                </a:lnTo>
                <a:lnTo>
                  <a:pt x="614761" y="217661"/>
                </a:lnTo>
                <a:lnTo>
                  <a:pt x="607661" y="218360"/>
                </a:lnTo>
                <a:close/>
              </a:path>
            </a:pathLst>
          </a:custGeom>
          <a:solidFill>
            <a:srgbClr val="F2F4F5"/>
          </a:solidFill>
        </p:spPr>
        <p:txBody>
          <a:bodyPr wrap="square" lIns="0" tIns="0" rIns="0" bIns="0" rtlCol="0"/>
          <a:lstStyle/>
          <a:p>
            <a:endParaRPr sz="280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149" name="object 34">
            <a:extLst>
              <a:ext uri="{FF2B5EF4-FFF2-40B4-BE49-F238E27FC236}">
                <a16:creationId xmlns:a16="http://schemas.microsoft.com/office/drawing/2014/main" id="{27FE276F-D5CD-4E58-A1D7-979B241BA2E4}"/>
              </a:ext>
            </a:extLst>
          </p:cNvPr>
          <p:cNvSpPr txBox="1"/>
          <p:nvPr/>
        </p:nvSpPr>
        <p:spPr>
          <a:xfrm>
            <a:off x="10483761" y="3094289"/>
            <a:ext cx="821547" cy="175689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050" b="1" spc="-25" dirty="0">
                <a:solidFill>
                  <a:srgbClr val="4A5462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Noto Sans KR"/>
              </a:rPr>
              <a:t>Total</a:t>
            </a:r>
            <a:r>
              <a:rPr sz="1050" b="1" spc="5" dirty="0">
                <a:solidFill>
                  <a:srgbClr val="4A5462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Noto Sans KR"/>
              </a:rPr>
              <a:t> </a:t>
            </a:r>
            <a:r>
              <a:rPr lang="en-US" sz="1050" b="1" spc="5" dirty="0">
                <a:solidFill>
                  <a:srgbClr val="4A5462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Noto Sans KR"/>
              </a:rPr>
              <a:t>35</a:t>
            </a:r>
            <a:r>
              <a:rPr sz="1050" b="1" spc="-20" dirty="0">
                <a:solidFill>
                  <a:srgbClr val="4A5462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맑은 고딕"/>
              </a:rPr>
              <a:t>건</a:t>
            </a:r>
            <a:endParaRPr sz="1050" dirty="0">
              <a:latin typeface="KoPub돋움체 Medium" panose="00000600000000000000" pitchFamily="2" charset="-127"/>
              <a:ea typeface="KoPub돋움체 Medium" panose="00000600000000000000" pitchFamily="2" charset="-127"/>
              <a:cs typeface="맑은 고딕"/>
            </a:endParaRPr>
          </a:p>
        </p:txBody>
      </p:sp>
      <p:grpSp>
        <p:nvGrpSpPr>
          <p:cNvPr id="150" name="object 35">
            <a:extLst>
              <a:ext uri="{FF2B5EF4-FFF2-40B4-BE49-F238E27FC236}">
                <a16:creationId xmlns:a16="http://schemas.microsoft.com/office/drawing/2014/main" id="{0363B1F7-E72E-4AD5-817B-FA2832030E68}"/>
              </a:ext>
            </a:extLst>
          </p:cNvPr>
          <p:cNvGrpSpPr/>
          <p:nvPr/>
        </p:nvGrpSpPr>
        <p:grpSpPr>
          <a:xfrm>
            <a:off x="7131922" y="3538190"/>
            <a:ext cx="2889434" cy="374650"/>
            <a:chOff x="4994314" y="2241411"/>
            <a:chExt cx="2889434" cy="374650"/>
          </a:xfrm>
        </p:grpSpPr>
        <p:sp>
          <p:nvSpPr>
            <p:cNvPr id="151" name="object 36">
              <a:extLst>
                <a:ext uri="{FF2B5EF4-FFF2-40B4-BE49-F238E27FC236}">
                  <a16:creationId xmlns:a16="http://schemas.microsoft.com/office/drawing/2014/main" id="{7258BA29-4BD7-4914-93B5-EBA6B3581467}"/>
                </a:ext>
              </a:extLst>
            </p:cNvPr>
            <p:cNvSpPr/>
            <p:nvPr/>
          </p:nvSpPr>
          <p:spPr>
            <a:xfrm>
              <a:off x="4994314" y="2241411"/>
              <a:ext cx="374650" cy="374650"/>
            </a:xfrm>
            <a:custGeom>
              <a:avLst/>
              <a:gdLst/>
              <a:ahLst/>
              <a:cxnLst/>
              <a:rect l="l" t="t" r="r" b="b"/>
              <a:pathLst>
                <a:path w="374650" h="374650">
                  <a:moveTo>
                    <a:pt x="301466" y="374332"/>
                  </a:moveTo>
                  <a:lnTo>
                    <a:pt x="72865" y="374332"/>
                  </a:lnTo>
                  <a:lnTo>
                    <a:pt x="67793" y="373832"/>
                  </a:lnTo>
                  <a:lnTo>
                    <a:pt x="30400" y="358344"/>
                  </a:lnTo>
                  <a:lnTo>
                    <a:pt x="3976" y="321459"/>
                  </a:lnTo>
                  <a:lnTo>
                    <a:pt x="0" y="301467"/>
                  </a:lnTo>
                  <a:lnTo>
                    <a:pt x="0" y="296346"/>
                  </a:lnTo>
                  <a:lnTo>
                    <a:pt x="0" y="72865"/>
                  </a:lnTo>
                  <a:lnTo>
                    <a:pt x="15987" y="30401"/>
                  </a:lnTo>
                  <a:lnTo>
                    <a:pt x="52872" y="3976"/>
                  </a:lnTo>
                  <a:lnTo>
                    <a:pt x="72865" y="0"/>
                  </a:lnTo>
                  <a:lnTo>
                    <a:pt x="301466" y="0"/>
                  </a:lnTo>
                  <a:lnTo>
                    <a:pt x="343930" y="15987"/>
                  </a:lnTo>
                  <a:lnTo>
                    <a:pt x="370355" y="52872"/>
                  </a:lnTo>
                  <a:lnTo>
                    <a:pt x="374332" y="72865"/>
                  </a:lnTo>
                  <a:lnTo>
                    <a:pt x="374332" y="301467"/>
                  </a:lnTo>
                  <a:lnTo>
                    <a:pt x="358344" y="343930"/>
                  </a:lnTo>
                  <a:lnTo>
                    <a:pt x="321458" y="370355"/>
                  </a:lnTo>
                  <a:lnTo>
                    <a:pt x="306538" y="373832"/>
                  </a:lnTo>
                  <a:lnTo>
                    <a:pt x="301466" y="374332"/>
                  </a:lnTo>
                  <a:close/>
                </a:path>
              </a:pathLst>
            </a:custGeom>
            <a:solidFill>
              <a:srgbClr val="F2F4F5"/>
            </a:solidFill>
          </p:spPr>
          <p:txBody>
            <a:bodyPr wrap="square" lIns="0" tIns="0" rIns="0" bIns="0" rtlCol="0"/>
            <a:lstStyle/>
            <a:p>
              <a:endParaRPr sz="320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pic>
          <p:nvPicPr>
            <p:cNvPr id="152" name="object 37">
              <a:extLst>
                <a:ext uri="{FF2B5EF4-FFF2-40B4-BE49-F238E27FC236}">
                  <a16:creationId xmlns:a16="http://schemas.microsoft.com/office/drawing/2014/main" id="{9A1CD7DD-12BD-42C3-BFE8-523CB9CB5CAD}"/>
                </a:ext>
              </a:extLst>
            </p:cNvPr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122991" y="2346642"/>
              <a:ext cx="117474" cy="158749"/>
            </a:xfrm>
            <a:prstGeom prst="rect">
              <a:avLst/>
            </a:prstGeom>
          </p:spPr>
        </p:pic>
        <p:sp>
          <p:nvSpPr>
            <p:cNvPr id="153" name="object 38">
              <a:extLst>
                <a:ext uri="{FF2B5EF4-FFF2-40B4-BE49-F238E27FC236}">
                  <a16:creationId xmlns:a16="http://schemas.microsoft.com/office/drawing/2014/main" id="{9B243592-07F4-47B8-BBCE-B66E7055FE26}"/>
                </a:ext>
              </a:extLst>
            </p:cNvPr>
            <p:cNvSpPr/>
            <p:nvPr/>
          </p:nvSpPr>
          <p:spPr>
            <a:xfrm>
              <a:off x="5478391" y="2257007"/>
              <a:ext cx="2405357" cy="267563"/>
            </a:xfrm>
            <a:custGeom>
              <a:avLst/>
              <a:gdLst/>
              <a:ahLst/>
              <a:cxnLst/>
              <a:rect l="l" t="t" r="r" b="b"/>
              <a:pathLst>
                <a:path w="608329" h="156210">
                  <a:moveTo>
                    <a:pt x="581232" y="155971"/>
                  </a:moveTo>
                  <a:lnTo>
                    <a:pt x="27057" y="155971"/>
                  </a:lnTo>
                  <a:lnTo>
                    <a:pt x="23077" y="155180"/>
                  </a:lnTo>
                  <a:lnTo>
                    <a:pt x="0" y="128914"/>
                  </a:lnTo>
                  <a:lnTo>
                    <a:pt x="0" y="124777"/>
                  </a:lnTo>
                  <a:lnTo>
                    <a:pt x="0" y="27057"/>
                  </a:lnTo>
                  <a:lnTo>
                    <a:pt x="27057" y="0"/>
                  </a:lnTo>
                  <a:lnTo>
                    <a:pt x="581232" y="0"/>
                  </a:lnTo>
                  <a:lnTo>
                    <a:pt x="608290" y="27057"/>
                  </a:lnTo>
                  <a:lnTo>
                    <a:pt x="608290" y="128914"/>
                  </a:lnTo>
                  <a:lnTo>
                    <a:pt x="585211" y="155180"/>
                  </a:lnTo>
                  <a:lnTo>
                    <a:pt x="581232" y="155971"/>
                  </a:lnTo>
                  <a:close/>
                </a:path>
              </a:pathLst>
            </a:custGeom>
            <a:solidFill>
              <a:srgbClr val="E4E7EB"/>
            </a:solidFill>
          </p:spPr>
          <p:txBody>
            <a:bodyPr wrap="square" lIns="0" tIns="0" rIns="0" bIns="0" rtlCol="0"/>
            <a:lstStyle/>
            <a:p>
              <a:endParaRPr sz="320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</p:grpSp>
      <p:sp>
        <p:nvSpPr>
          <p:cNvPr id="154" name="object 39">
            <a:extLst>
              <a:ext uri="{FF2B5EF4-FFF2-40B4-BE49-F238E27FC236}">
                <a16:creationId xmlns:a16="http://schemas.microsoft.com/office/drawing/2014/main" id="{56982C19-B27C-4F87-9362-87914E33B8D5}"/>
              </a:ext>
            </a:extLst>
          </p:cNvPr>
          <p:cNvSpPr txBox="1"/>
          <p:nvPr/>
        </p:nvSpPr>
        <p:spPr>
          <a:xfrm>
            <a:off x="7651359" y="3590932"/>
            <a:ext cx="2000641" cy="201337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ko-KR" altLang="en-US" sz="1200" b="1" spc="-50" dirty="0">
                <a:solidFill>
                  <a:srgbClr val="1F2937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맑은 고딕"/>
              </a:rPr>
              <a:t>결함 오판</a:t>
            </a:r>
            <a:endParaRPr sz="1200" dirty="0">
              <a:latin typeface="KoPub돋움체 Medium" panose="00000600000000000000" pitchFamily="2" charset="-127"/>
              <a:ea typeface="KoPub돋움체 Medium" panose="00000600000000000000" pitchFamily="2" charset="-127"/>
              <a:cs typeface="맑은 고딕"/>
            </a:endParaRPr>
          </a:p>
        </p:txBody>
      </p:sp>
      <p:sp>
        <p:nvSpPr>
          <p:cNvPr id="166" name="object 51">
            <a:extLst>
              <a:ext uri="{FF2B5EF4-FFF2-40B4-BE49-F238E27FC236}">
                <a16:creationId xmlns:a16="http://schemas.microsoft.com/office/drawing/2014/main" id="{FED8F06C-38B0-4868-8AE6-C769D053B808}"/>
              </a:ext>
            </a:extLst>
          </p:cNvPr>
          <p:cNvSpPr/>
          <p:nvPr/>
        </p:nvSpPr>
        <p:spPr>
          <a:xfrm>
            <a:off x="7133858" y="4835014"/>
            <a:ext cx="374650" cy="374650"/>
          </a:xfrm>
          <a:custGeom>
            <a:avLst/>
            <a:gdLst/>
            <a:ahLst/>
            <a:cxnLst/>
            <a:rect l="l" t="t" r="r" b="b"/>
            <a:pathLst>
              <a:path w="374650" h="374650">
                <a:moveTo>
                  <a:pt x="301466" y="374332"/>
                </a:moveTo>
                <a:lnTo>
                  <a:pt x="72865" y="374332"/>
                </a:lnTo>
                <a:lnTo>
                  <a:pt x="67793" y="373832"/>
                </a:lnTo>
                <a:lnTo>
                  <a:pt x="30400" y="358344"/>
                </a:lnTo>
                <a:lnTo>
                  <a:pt x="3976" y="321458"/>
                </a:lnTo>
                <a:lnTo>
                  <a:pt x="0" y="301466"/>
                </a:lnTo>
                <a:lnTo>
                  <a:pt x="0" y="296346"/>
                </a:lnTo>
                <a:lnTo>
                  <a:pt x="0" y="72864"/>
                </a:lnTo>
                <a:lnTo>
                  <a:pt x="15987" y="30400"/>
                </a:lnTo>
                <a:lnTo>
                  <a:pt x="52872" y="3976"/>
                </a:lnTo>
                <a:lnTo>
                  <a:pt x="72865" y="0"/>
                </a:lnTo>
                <a:lnTo>
                  <a:pt x="301466" y="0"/>
                </a:lnTo>
                <a:lnTo>
                  <a:pt x="343930" y="15987"/>
                </a:lnTo>
                <a:lnTo>
                  <a:pt x="370355" y="52872"/>
                </a:lnTo>
                <a:lnTo>
                  <a:pt x="374332" y="72864"/>
                </a:lnTo>
                <a:lnTo>
                  <a:pt x="374332" y="301466"/>
                </a:lnTo>
                <a:lnTo>
                  <a:pt x="358344" y="343929"/>
                </a:lnTo>
                <a:lnTo>
                  <a:pt x="321458" y="370355"/>
                </a:lnTo>
                <a:lnTo>
                  <a:pt x="306538" y="373832"/>
                </a:lnTo>
                <a:lnTo>
                  <a:pt x="301466" y="374332"/>
                </a:lnTo>
                <a:close/>
              </a:path>
            </a:pathLst>
          </a:custGeom>
          <a:solidFill>
            <a:srgbClr val="F2F4F5"/>
          </a:solidFill>
        </p:spPr>
        <p:txBody>
          <a:bodyPr wrap="square" lIns="0" tIns="0" rIns="0" bIns="0" rtlCol="0"/>
          <a:lstStyle/>
          <a:p>
            <a:endParaRPr sz="320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pic>
        <p:nvPicPr>
          <p:cNvPr id="167" name="object 52">
            <a:extLst>
              <a:ext uri="{FF2B5EF4-FFF2-40B4-BE49-F238E27FC236}">
                <a16:creationId xmlns:a16="http://schemas.microsoft.com/office/drawing/2014/main" id="{A1D32145-9B89-4335-887C-C23A1CDAB6CB}"/>
              </a:ext>
            </a:extLst>
          </p:cNvPr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7243038" y="4940246"/>
            <a:ext cx="155574" cy="158749"/>
          </a:xfrm>
          <a:prstGeom prst="rect">
            <a:avLst/>
          </a:prstGeom>
        </p:spPr>
      </p:pic>
      <p:sp>
        <p:nvSpPr>
          <p:cNvPr id="171" name="object 56">
            <a:extLst>
              <a:ext uri="{FF2B5EF4-FFF2-40B4-BE49-F238E27FC236}">
                <a16:creationId xmlns:a16="http://schemas.microsoft.com/office/drawing/2014/main" id="{BF0E00FE-BA1C-40F0-AD6B-EBAC462F6FD5}"/>
              </a:ext>
            </a:extLst>
          </p:cNvPr>
          <p:cNvSpPr txBox="1"/>
          <p:nvPr/>
        </p:nvSpPr>
        <p:spPr>
          <a:xfrm>
            <a:off x="7689918" y="3858495"/>
            <a:ext cx="4370739" cy="21698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30800"/>
              </a:lnSpc>
              <a:spcBef>
                <a:spcPts val="95"/>
              </a:spcBef>
            </a:pPr>
            <a:r>
              <a:rPr sz="1100" spc="-60" dirty="0">
                <a:latin typeface="KoPub돋움체 Medium" panose="00000600000000000000" pitchFamily="2" charset="-127"/>
                <a:ea typeface="KoPub돋움체 Medium" panose="00000600000000000000" pitchFamily="2" charset="-127"/>
                <a:cs typeface="Arial Unicode MS"/>
              </a:rPr>
              <a:t>테스터의 로직 </a:t>
            </a:r>
            <a:r>
              <a:rPr sz="1100" spc="-60" dirty="0" err="1">
                <a:latin typeface="KoPub돋움체 Medium" panose="00000600000000000000" pitchFamily="2" charset="-127"/>
                <a:ea typeface="KoPub돋움체 Medium" panose="00000600000000000000" pitchFamily="2" charset="-127"/>
                <a:cs typeface="Arial Unicode MS"/>
              </a:rPr>
              <a:t>이해</a:t>
            </a:r>
            <a:r>
              <a:rPr sz="1100" spc="-60" dirty="0">
                <a:latin typeface="KoPub돋움체 Medium" panose="00000600000000000000" pitchFamily="2" charset="-127"/>
                <a:ea typeface="KoPub돋움체 Medium" panose="00000600000000000000" pitchFamily="2" charset="-127"/>
                <a:cs typeface="Arial Unicode MS"/>
              </a:rPr>
              <a:t> </a:t>
            </a:r>
            <a:r>
              <a:rPr sz="1100" spc="-60" dirty="0" err="1">
                <a:latin typeface="KoPub돋움체 Medium" panose="00000600000000000000" pitchFamily="2" charset="-127"/>
                <a:ea typeface="KoPub돋움체 Medium" panose="00000600000000000000" pitchFamily="2" charset="-127"/>
                <a:cs typeface="Arial Unicode MS"/>
              </a:rPr>
              <a:t>부족</a:t>
            </a:r>
            <a:r>
              <a:rPr lang="ko-KR" altLang="en-US" sz="1100" spc="-60" dirty="0" err="1">
                <a:latin typeface="KoPub돋움체 Medium" panose="00000600000000000000" pitchFamily="2" charset="-127"/>
                <a:ea typeface="KoPub돋움체 Medium" panose="00000600000000000000" pitchFamily="2" charset="-127"/>
                <a:cs typeface="Arial Unicode MS"/>
              </a:rPr>
              <a:t>으로</a:t>
            </a:r>
            <a:r>
              <a:rPr lang="ko-KR" altLang="en-US" sz="1100" spc="-60" dirty="0">
                <a:latin typeface="KoPub돋움체 Medium" panose="00000600000000000000" pitchFamily="2" charset="-127"/>
                <a:ea typeface="KoPub돋움체 Medium" panose="00000600000000000000" pitchFamily="2" charset="-127"/>
                <a:cs typeface="Arial Unicode MS"/>
              </a:rPr>
              <a:t>  </a:t>
            </a:r>
            <a:r>
              <a:rPr sz="1100" spc="-60" dirty="0" err="1">
                <a:latin typeface="KoPub돋움체 Medium" panose="00000600000000000000" pitchFamily="2" charset="-127"/>
                <a:ea typeface="KoPub돋움체 Medium" panose="00000600000000000000" pitchFamily="2" charset="-127"/>
                <a:cs typeface="Arial Unicode MS"/>
              </a:rPr>
              <a:t>정상</a:t>
            </a:r>
            <a:r>
              <a:rPr sz="1100" dirty="0">
                <a:latin typeface="KoPub돋움체 Medium" panose="00000600000000000000" pitchFamily="2" charset="-127"/>
                <a:ea typeface="KoPub돋움체 Medium" panose="00000600000000000000" pitchFamily="2" charset="-127"/>
                <a:cs typeface="Arial Unicode MS"/>
              </a:rPr>
              <a:t> </a:t>
            </a:r>
            <a:r>
              <a:rPr sz="1100" spc="-50" dirty="0">
                <a:latin typeface="KoPub돋움체 Medium" panose="00000600000000000000" pitchFamily="2" charset="-127"/>
                <a:ea typeface="KoPub돋움체 Medium" panose="00000600000000000000" pitchFamily="2" charset="-127"/>
                <a:cs typeface="Arial Unicode MS"/>
              </a:rPr>
              <a:t>기능을  결함으로</a:t>
            </a:r>
            <a:r>
              <a:rPr sz="1100" dirty="0">
                <a:latin typeface="KoPub돋움체 Medium" panose="00000600000000000000" pitchFamily="2" charset="-127"/>
                <a:ea typeface="KoPub돋움체 Medium" panose="00000600000000000000" pitchFamily="2" charset="-127"/>
                <a:cs typeface="Arial Unicode MS"/>
              </a:rPr>
              <a:t> </a:t>
            </a:r>
            <a:r>
              <a:rPr sz="1100" spc="-60" dirty="0" err="1">
                <a:latin typeface="KoPub돋움체 Medium" panose="00000600000000000000" pitchFamily="2" charset="-127"/>
                <a:ea typeface="KoPub돋움체 Medium" panose="00000600000000000000" pitchFamily="2" charset="-127"/>
                <a:cs typeface="Arial Unicode MS"/>
              </a:rPr>
              <a:t>오판한</a:t>
            </a:r>
            <a:r>
              <a:rPr sz="1100" dirty="0">
                <a:latin typeface="KoPub돋움체 Medium" panose="00000600000000000000" pitchFamily="2" charset="-127"/>
                <a:ea typeface="KoPub돋움체 Medium" panose="00000600000000000000" pitchFamily="2" charset="-127"/>
                <a:cs typeface="Arial Unicode MS"/>
              </a:rPr>
              <a:t> </a:t>
            </a:r>
            <a:r>
              <a:rPr sz="1100" spc="-60" dirty="0" err="1">
                <a:latin typeface="KoPub돋움체 Medium" panose="00000600000000000000" pitchFamily="2" charset="-127"/>
                <a:ea typeface="KoPub돋움체 Medium" panose="00000600000000000000" pitchFamily="2" charset="-127"/>
                <a:cs typeface="Arial Unicode MS"/>
              </a:rPr>
              <a:t>사례</a:t>
            </a:r>
            <a:endParaRPr sz="1200" dirty="0">
              <a:latin typeface="KoPub돋움체 Medium" panose="00000600000000000000" pitchFamily="2" charset="-127"/>
              <a:ea typeface="KoPub돋움체 Medium" panose="00000600000000000000" pitchFamily="2" charset="-127"/>
              <a:cs typeface="Noto Sans KR"/>
            </a:endParaRPr>
          </a:p>
        </p:txBody>
      </p:sp>
      <p:sp>
        <p:nvSpPr>
          <p:cNvPr id="132" name="object 38">
            <a:extLst>
              <a:ext uri="{FF2B5EF4-FFF2-40B4-BE49-F238E27FC236}">
                <a16:creationId xmlns:a16="http://schemas.microsoft.com/office/drawing/2014/main" id="{2FE7A133-5424-4D22-8FDC-52CABE14A3FA}"/>
              </a:ext>
            </a:extLst>
          </p:cNvPr>
          <p:cNvSpPr/>
          <p:nvPr/>
        </p:nvSpPr>
        <p:spPr>
          <a:xfrm>
            <a:off x="7601524" y="4855521"/>
            <a:ext cx="2372227" cy="267563"/>
          </a:xfrm>
          <a:custGeom>
            <a:avLst/>
            <a:gdLst/>
            <a:ahLst/>
            <a:cxnLst/>
            <a:rect l="l" t="t" r="r" b="b"/>
            <a:pathLst>
              <a:path w="608329" h="156210">
                <a:moveTo>
                  <a:pt x="581232" y="155971"/>
                </a:moveTo>
                <a:lnTo>
                  <a:pt x="27057" y="155971"/>
                </a:lnTo>
                <a:lnTo>
                  <a:pt x="23077" y="155180"/>
                </a:lnTo>
                <a:lnTo>
                  <a:pt x="0" y="128914"/>
                </a:lnTo>
                <a:lnTo>
                  <a:pt x="0" y="124777"/>
                </a:lnTo>
                <a:lnTo>
                  <a:pt x="0" y="27057"/>
                </a:lnTo>
                <a:lnTo>
                  <a:pt x="27057" y="0"/>
                </a:lnTo>
                <a:lnTo>
                  <a:pt x="581232" y="0"/>
                </a:lnTo>
                <a:lnTo>
                  <a:pt x="608290" y="27057"/>
                </a:lnTo>
                <a:lnTo>
                  <a:pt x="608290" y="128914"/>
                </a:lnTo>
                <a:lnTo>
                  <a:pt x="585211" y="155180"/>
                </a:lnTo>
                <a:lnTo>
                  <a:pt x="581232" y="155971"/>
                </a:lnTo>
                <a:close/>
              </a:path>
            </a:pathLst>
          </a:custGeom>
          <a:solidFill>
            <a:srgbClr val="E4E7EB"/>
          </a:solidFill>
        </p:spPr>
        <p:txBody>
          <a:bodyPr wrap="square" lIns="0" tIns="0" rIns="0" bIns="0" rtlCol="0"/>
          <a:lstStyle/>
          <a:p>
            <a:endParaRPr sz="320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131" name="object 39">
            <a:extLst>
              <a:ext uri="{FF2B5EF4-FFF2-40B4-BE49-F238E27FC236}">
                <a16:creationId xmlns:a16="http://schemas.microsoft.com/office/drawing/2014/main" id="{05D54838-F72E-42CA-92D7-A441D33DC6EF}"/>
              </a:ext>
            </a:extLst>
          </p:cNvPr>
          <p:cNvSpPr txBox="1"/>
          <p:nvPr/>
        </p:nvSpPr>
        <p:spPr>
          <a:xfrm>
            <a:off x="7656475" y="4885603"/>
            <a:ext cx="2000641" cy="201337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ko-KR" altLang="en-US" sz="1200" b="1" spc="-50" dirty="0">
                <a:solidFill>
                  <a:srgbClr val="1F2937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맑은 고딕"/>
              </a:rPr>
              <a:t>환경  설정 미흡</a:t>
            </a:r>
            <a:endParaRPr sz="1200" dirty="0">
              <a:latin typeface="KoPub돋움체 Medium" panose="00000600000000000000" pitchFamily="2" charset="-127"/>
              <a:ea typeface="KoPub돋움체 Medium" panose="00000600000000000000" pitchFamily="2" charset="-127"/>
              <a:cs typeface="맑은 고딕"/>
            </a:endParaRPr>
          </a:p>
        </p:txBody>
      </p:sp>
      <p:sp>
        <p:nvSpPr>
          <p:cNvPr id="134" name="object 56">
            <a:extLst>
              <a:ext uri="{FF2B5EF4-FFF2-40B4-BE49-F238E27FC236}">
                <a16:creationId xmlns:a16="http://schemas.microsoft.com/office/drawing/2014/main" id="{DE742B17-A101-4D1A-91FD-3781843E75D1}"/>
              </a:ext>
            </a:extLst>
          </p:cNvPr>
          <p:cNvSpPr txBox="1"/>
          <p:nvPr/>
        </p:nvSpPr>
        <p:spPr>
          <a:xfrm>
            <a:off x="7668945" y="5145720"/>
            <a:ext cx="4370739" cy="22717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30800"/>
              </a:lnSpc>
              <a:spcBef>
                <a:spcPts val="95"/>
              </a:spcBef>
            </a:pPr>
            <a:r>
              <a:rPr lang="ko-KR" altLang="en-US" sz="1200" dirty="0">
                <a:latin typeface="KoPub돋움체 Medium" panose="00000600000000000000" pitchFamily="2" charset="-127"/>
                <a:ea typeface="KoPub돋움체 Medium" panose="00000600000000000000" pitchFamily="2" charset="-127"/>
                <a:cs typeface="Noto Sans KR"/>
              </a:rPr>
              <a:t>표준 화면 해상도</a:t>
            </a:r>
            <a:r>
              <a:rPr lang="en-US" altLang="ko-KR" sz="1200" dirty="0">
                <a:latin typeface="KoPub돋움체 Medium" panose="00000600000000000000" pitchFamily="2" charset="-127"/>
                <a:ea typeface="KoPub돋움체 Medium" panose="00000600000000000000" pitchFamily="2" charset="-127"/>
                <a:cs typeface="Noto Sans KR"/>
              </a:rPr>
              <a:t>(1920*1080) </a:t>
            </a:r>
            <a:r>
              <a:rPr lang="ko-KR" altLang="en-US" sz="1200" dirty="0" err="1">
                <a:latin typeface="KoPub돋움체 Medium" panose="00000600000000000000" pitchFamily="2" charset="-127"/>
                <a:ea typeface="KoPub돋움체 Medium" panose="00000600000000000000" pitchFamily="2" charset="-127"/>
                <a:cs typeface="Noto Sans KR"/>
              </a:rPr>
              <a:t>미설정</a:t>
            </a:r>
            <a:r>
              <a:rPr lang="ko-KR" altLang="en-US" sz="1200" dirty="0">
                <a:latin typeface="KoPub돋움체 Medium" panose="00000600000000000000" pitchFamily="2" charset="-127"/>
                <a:ea typeface="KoPub돋움체 Medium" panose="00000600000000000000" pitchFamily="2" charset="-127"/>
                <a:cs typeface="Noto Sans KR"/>
              </a:rPr>
              <a:t> </a:t>
            </a:r>
            <a:endParaRPr sz="1200" dirty="0">
              <a:latin typeface="KoPub돋움체 Medium" panose="00000600000000000000" pitchFamily="2" charset="-127"/>
              <a:ea typeface="KoPub돋움체 Medium" panose="00000600000000000000" pitchFamily="2" charset="-127"/>
              <a:cs typeface="Noto Sans KR"/>
            </a:endParaRP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8AF46F9D-C4D6-472A-868B-81C95A717523}"/>
              </a:ext>
            </a:extLst>
          </p:cNvPr>
          <p:cNvSpPr txBox="1"/>
          <p:nvPr/>
        </p:nvSpPr>
        <p:spPr>
          <a:xfrm>
            <a:off x="7615999" y="5432464"/>
            <a:ext cx="3689309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>
                <a:solidFill>
                  <a:schemeClr val="bg2">
                    <a:lumMod val="50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[ </a:t>
            </a:r>
            <a:r>
              <a:rPr lang="ko-KR" altLang="en-US" sz="1100" dirty="0">
                <a:solidFill>
                  <a:schemeClr val="bg2">
                    <a:lumMod val="50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DEF-0</a:t>
            </a:r>
            <a:r>
              <a:rPr lang="en-US" altLang="ko-KR" sz="1100" dirty="0">
                <a:solidFill>
                  <a:schemeClr val="bg2">
                    <a:lumMod val="50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4516]</a:t>
            </a:r>
          </a:p>
          <a:p>
            <a:r>
              <a:rPr lang="en-US" altLang="ko-KR" sz="1100" dirty="0" err="1">
                <a:solidFill>
                  <a:schemeClr val="bg2">
                    <a:lumMod val="50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CodeShere</a:t>
            </a:r>
            <a:r>
              <a:rPr lang="en-US" altLang="ko-KR" sz="1100" dirty="0">
                <a:solidFill>
                  <a:schemeClr val="bg2">
                    <a:lumMod val="50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Check </a:t>
            </a:r>
            <a:r>
              <a:rPr lang="ko-KR" altLang="en-US" sz="1100" dirty="0">
                <a:solidFill>
                  <a:schemeClr val="bg2">
                    <a:lumMod val="50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아이콘 </a:t>
            </a:r>
            <a:r>
              <a:rPr lang="ko-KR" altLang="en-US" sz="1100" dirty="0" err="1">
                <a:solidFill>
                  <a:schemeClr val="bg2">
                    <a:lumMod val="50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짤림</a:t>
            </a:r>
            <a:r>
              <a:rPr lang="ko-KR" altLang="en-US" sz="1100" dirty="0">
                <a:solidFill>
                  <a:schemeClr val="bg2">
                    <a:lumMod val="50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10EA1305-A476-4FBB-8512-A90906A112F8}"/>
              </a:ext>
            </a:extLst>
          </p:cNvPr>
          <p:cNvSpPr txBox="1"/>
          <p:nvPr/>
        </p:nvSpPr>
        <p:spPr>
          <a:xfrm>
            <a:off x="7599588" y="4053394"/>
            <a:ext cx="4592412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>
                <a:solidFill>
                  <a:schemeClr val="bg2">
                    <a:lumMod val="50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[ </a:t>
            </a:r>
            <a:r>
              <a:rPr lang="ko-KR" altLang="en-US" sz="1100" dirty="0">
                <a:solidFill>
                  <a:schemeClr val="bg2">
                    <a:lumMod val="50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DEF-0</a:t>
            </a:r>
            <a:r>
              <a:rPr lang="en-US" altLang="ko-KR" sz="1100" dirty="0">
                <a:solidFill>
                  <a:schemeClr val="bg2">
                    <a:lumMod val="50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4529</a:t>
            </a:r>
            <a:r>
              <a:rPr lang="ko-KR" altLang="en-US" sz="1100" dirty="0">
                <a:solidFill>
                  <a:schemeClr val="bg2">
                    <a:lumMod val="50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en-US" altLang="ko-KR" sz="1100" dirty="0">
                <a:solidFill>
                  <a:schemeClr val="bg2">
                    <a:lumMod val="50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]</a:t>
            </a:r>
          </a:p>
          <a:p>
            <a:r>
              <a:rPr lang="ko-KR" altLang="en-US" sz="1100" dirty="0">
                <a:solidFill>
                  <a:schemeClr val="bg2">
                    <a:lumMod val="50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테스트 결과서 </a:t>
            </a:r>
            <a:r>
              <a:rPr lang="en-US" altLang="ko-KR" sz="1100" dirty="0">
                <a:solidFill>
                  <a:schemeClr val="bg2">
                    <a:lumMod val="50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Create Flight Shere</a:t>
            </a:r>
            <a:r>
              <a:rPr lang="ko-KR" altLang="en-US" sz="1100" dirty="0">
                <a:solidFill>
                  <a:schemeClr val="bg2">
                    <a:lumMod val="50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는 시스템 메뉴에는 보이지 않음</a:t>
            </a:r>
            <a:endParaRPr lang="en-US" altLang="ko-KR" sz="1100" dirty="0">
              <a:solidFill>
                <a:schemeClr val="bg2">
                  <a:lumMod val="50000"/>
                </a:schemeClr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r>
              <a:rPr lang="en-US" altLang="ko-KR" sz="1100" dirty="0">
                <a:solidFill>
                  <a:schemeClr val="bg2">
                    <a:lumMod val="50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⟹ </a:t>
            </a:r>
            <a:r>
              <a:rPr lang="ko-KR" altLang="en-US" sz="1100" dirty="0">
                <a:solidFill>
                  <a:schemeClr val="bg2">
                    <a:lumMod val="50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현황 </a:t>
            </a:r>
            <a:r>
              <a:rPr lang="en-US" altLang="ko-KR" sz="1100" dirty="0">
                <a:solidFill>
                  <a:schemeClr val="bg2">
                    <a:lumMod val="50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: </a:t>
            </a:r>
            <a:r>
              <a:rPr lang="ko-KR" altLang="en-US" sz="1100" dirty="0">
                <a:solidFill>
                  <a:schemeClr val="bg2">
                    <a:lumMod val="50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조회 목록에서 </a:t>
            </a:r>
            <a:r>
              <a:rPr lang="en-US" altLang="ko-KR" sz="1100" dirty="0">
                <a:solidFill>
                  <a:schemeClr val="bg2">
                    <a:lumMod val="50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ROW </a:t>
            </a:r>
            <a:r>
              <a:rPr lang="ko-KR" altLang="en-US" sz="1100" dirty="0">
                <a:solidFill>
                  <a:schemeClr val="bg2">
                    <a:lumMod val="50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클릭 시 표출되는 기능임</a:t>
            </a:r>
          </a:p>
        </p:txBody>
      </p:sp>
      <p:sp>
        <p:nvSpPr>
          <p:cNvPr id="137" name="Rectangle 2">
            <a:extLst>
              <a:ext uri="{FF2B5EF4-FFF2-40B4-BE49-F238E27FC236}">
                <a16:creationId xmlns:a16="http://schemas.microsoft.com/office/drawing/2014/main" id="{CCA6574E-23B6-4E45-92FD-5E845D436B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892" y="91161"/>
            <a:ext cx="5652516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indent="-354013" defTabSz="957743">
              <a:defRPr sz="2200" spc="-11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9pPr>
          </a:lstStyle>
          <a:p>
            <a:pPr lvl="0" latinLnBrk="0">
              <a:defRPr/>
            </a:pPr>
            <a:r>
              <a:rPr kumimoji="0" lang="ko-KR" altLang="en-US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  <a:r>
              <a:rPr kumimoji="0" lang="en-US" altLang="ko-KR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III - 1.</a:t>
            </a:r>
            <a:r>
              <a:rPr kumimoji="0" lang="ko-KR" altLang="en-US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  <a:r>
              <a:rPr lang="ko-KR" altLang="en-US" sz="2000" b="1" dirty="0">
                <a:solidFill>
                  <a:prstClr val="white"/>
                </a:solidFill>
              </a:rPr>
              <a:t>유효 결함 </a:t>
            </a:r>
            <a:r>
              <a:rPr kumimoji="0" lang="ko-KR" altLang="en-US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현황 </a:t>
            </a:r>
            <a:r>
              <a:rPr kumimoji="0" lang="en-US" altLang="ko-KR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  <a:r>
              <a:rPr kumimoji="0" lang="ko-KR" altLang="en-US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분석</a:t>
            </a:r>
            <a:endParaRPr kumimoji="0" lang="en-US" altLang="ko-KR" sz="2000" b="1" i="0" u="none" strike="noStrike" kern="1200" cap="none" spc="-11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329510543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865D4D-E35F-ED69-AF91-3AAAE63254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55F781C7-76FB-9EA3-1E74-480C668CBB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892" y="91161"/>
            <a:ext cx="5652516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indent="-354013" defTabSz="957743">
              <a:defRPr sz="2200" spc="-11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9pPr>
          </a:lstStyle>
          <a:p>
            <a:pPr lvl="0" latinLnBrk="0">
              <a:defRPr/>
            </a:pPr>
            <a:r>
              <a:rPr kumimoji="0" lang="ko-KR" altLang="en-US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  <a:r>
              <a:rPr kumimoji="0" lang="en-US" altLang="ko-KR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III - </a:t>
            </a:r>
            <a:r>
              <a:rPr lang="en-US" altLang="ko-KR" sz="2000" b="1" dirty="0">
                <a:solidFill>
                  <a:prstClr val="white"/>
                </a:solidFill>
              </a:rPr>
              <a:t>2</a:t>
            </a:r>
            <a:r>
              <a:rPr kumimoji="0" lang="en-US" altLang="ko-KR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.</a:t>
            </a:r>
            <a:r>
              <a:rPr kumimoji="0" lang="ko-KR" altLang="en-US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 정량적 결함 분석    </a:t>
            </a:r>
            <a:r>
              <a:rPr kumimoji="0" lang="en-US" altLang="ko-KR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1/2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A47A53C9-920F-D333-9073-00196F95C7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101" y="944563"/>
            <a:ext cx="10290242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28600" marR="0" lvl="0" indent="-228600" algn="l" defTabSz="914400" rtl="0" eaLnBrk="0" fontAlgn="base" latinLnBrk="0" hangingPunct="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Tx/>
              <a:buSzTx/>
              <a:buFontTx/>
              <a:buAutoNum type="arabicParenR"/>
              <a:tabLst/>
            </a:pPr>
            <a:r>
              <a:rPr kumimoji="0" lang="ko-KR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심각도</a:t>
            </a:r>
            <a:r>
              <a:rPr kumimoji="0" lang="en-US" altLang="ko-K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(Severity) </a:t>
            </a:r>
            <a:r>
              <a:rPr kumimoji="0" lang="ko-KR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별 분포  </a:t>
            </a:r>
            <a:endParaRPr lang="en-US" altLang="ko-KR" sz="1200" b="1" dirty="0"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BAA0B7F0-5B87-0DB9-9365-ADCBDF9C86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1479402"/>
              </p:ext>
            </p:extLst>
          </p:nvPr>
        </p:nvGraphicFramePr>
        <p:xfrm>
          <a:off x="766763" y="1341438"/>
          <a:ext cx="8162633" cy="5089599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642160">
                  <a:extLst>
                    <a:ext uri="{9D8B030D-6E8A-4147-A177-3AD203B41FA5}">
                      <a16:colId xmlns:a16="http://schemas.microsoft.com/office/drawing/2014/main" val="3775561322"/>
                    </a:ext>
                  </a:extLst>
                </a:gridCol>
                <a:gridCol w="531845">
                  <a:extLst>
                    <a:ext uri="{9D8B030D-6E8A-4147-A177-3AD203B41FA5}">
                      <a16:colId xmlns:a16="http://schemas.microsoft.com/office/drawing/2014/main" val="3207915394"/>
                    </a:ext>
                  </a:extLst>
                </a:gridCol>
                <a:gridCol w="597160">
                  <a:extLst>
                    <a:ext uri="{9D8B030D-6E8A-4147-A177-3AD203B41FA5}">
                      <a16:colId xmlns:a16="http://schemas.microsoft.com/office/drawing/2014/main" val="1761355692"/>
                    </a:ext>
                  </a:extLst>
                </a:gridCol>
                <a:gridCol w="6391468">
                  <a:extLst>
                    <a:ext uri="{9D8B030D-6E8A-4147-A177-3AD203B41FA5}">
                      <a16:colId xmlns:a16="http://schemas.microsoft.com/office/drawing/2014/main" val="80658915"/>
                    </a:ext>
                  </a:extLst>
                </a:gridCol>
              </a:tblGrid>
              <a:tr h="332079"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ko-KR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구분</a:t>
                      </a:r>
                      <a:endParaRPr lang="ko-KR" sz="1200" b="1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ko-KR" sz="1200" b="1" kern="10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건수</a:t>
                      </a:r>
                      <a:endParaRPr lang="ko-KR" sz="1200" b="1" kern="10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ko-KR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비중</a:t>
                      </a:r>
                      <a:endParaRPr lang="ko-KR" sz="1200" b="1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ko-KR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현상</a:t>
                      </a:r>
                      <a:endParaRPr lang="ko-KR" sz="1200" b="1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6091826"/>
                  </a:ext>
                </a:extLst>
              </a:tr>
              <a:tr h="1350264"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Critical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3</a:t>
                      </a: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건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3.2%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spcAft>
                          <a:spcPts val="6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[ </a:t>
                      </a: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현상 </a:t>
                      </a: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]</a:t>
                      </a: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</a:t>
                      </a:r>
                      <a:endParaRPr lang="en-US" alt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  <a:p>
                      <a:pPr marL="0" indent="0" latinLnBrk="1">
                        <a:spcAft>
                          <a:spcPts val="6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DEF-04655 : </a:t>
                      </a: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기준일자를 제외한 다른 항목으로 검색이 불가능합니다</a:t>
                      </a:r>
                      <a:endParaRPr lang="en-US" alt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  <a:p>
                      <a:pPr marL="0" indent="0" latinLnBrk="1">
                        <a:spcAft>
                          <a:spcPts val="6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DEF-04461 : </a:t>
                      </a: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메뉴 접근 시 </a:t>
                      </a: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'-1 error : </a:t>
                      </a: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데이터 예외사항입니다</a:t>
                      </a: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. </a:t>
                      </a: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입력하신 데이터를 확인해 주세요</a:t>
                      </a: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.' </a:t>
                      </a: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라는 </a:t>
                      </a: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alert</a:t>
                      </a: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이 표출되어 조회가 불가능합니다</a:t>
                      </a: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. </a:t>
                      </a:r>
                    </a:p>
                    <a:p>
                      <a:pPr marL="0" indent="0" latinLnBrk="1">
                        <a:spcAft>
                          <a:spcPts val="6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[ </a:t>
                      </a: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주요</a:t>
                      </a: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</a:t>
                      </a: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업무영역 </a:t>
                      </a: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]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  <a:p>
                      <a:pPr marL="171450" indent="-171450" latinLnBrk="1">
                        <a:spcAft>
                          <a:spcPts val="6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공항운영</a:t>
                      </a: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(GO), </a:t>
                      </a: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모바일</a:t>
                      </a: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(MES)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144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98369559"/>
                  </a:ext>
                </a:extLst>
              </a:tr>
              <a:tr h="1082759"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Major</a:t>
                      </a:r>
                      <a:endParaRPr lang="ko-KR" sz="1200" kern="10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32</a:t>
                      </a: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건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34.4%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spcAft>
                          <a:spcPts val="6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[ </a:t>
                      </a: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현상 </a:t>
                      </a: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]</a:t>
                      </a:r>
                    </a:p>
                    <a:p>
                      <a:pPr marL="0" indent="0" latinLnBrk="1">
                        <a:spcAft>
                          <a:spcPts val="6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DEF-04503 : </a:t>
                      </a: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엑셀 다운로드 버튼 </a:t>
                      </a:r>
                      <a:r>
                        <a:rPr lang="ko-KR" altLang="en-US" sz="1200" kern="100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클릭시</a:t>
                      </a: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아무 작동이 안됨</a:t>
                      </a:r>
                      <a:endParaRPr lang="en-US" alt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  <a:p>
                      <a:pPr marL="0" indent="0" latinLnBrk="1">
                        <a:spcAft>
                          <a:spcPts val="6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DEF-04587 : '+', '-' </a:t>
                      </a: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버튼이 보이지 않습니다</a:t>
                      </a: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(</a:t>
                      </a: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표출 선행조건이 있는 것인지 모르겠습니다</a:t>
                      </a: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).</a:t>
                      </a:r>
                    </a:p>
                    <a:p>
                      <a:pPr marL="0" indent="0" latinLnBrk="1">
                        <a:spcAft>
                          <a:spcPts val="6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DEF-04742 : </a:t>
                      </a: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터미널을 바꾸고 검색해도 차트 모양이 변하지 않음</a:t>
                      </a: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. </a:t>
                      </a:r>
                    </a:p>
                    <a:p>
                      <a:pPr marL="0" indent="0" latinLnBrk="1">
                        <a:spcAft>
                          <a:spcPts val="6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[ </a:t>
                      </a: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주요 업무영역 </a:t>
                      </a: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]</a:t>
                      </a:r>
                    </a:p>
                    <a:p>
                      <a:pPr marL="171450" indent="-171450" latinLnBrk="1">
                        <a:spcAft>
                          <a:spcPts val="6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공항운영</a:t>
                      </a: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(GO), </a:t>
                      </a: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예측관리</a:t>
                      </a: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(PM), </a:t>
                      </a: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자원배정</a:t>
                      </a: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(RS)</a:t>
                      </a:r>
                      <a:endParaRPr lang="ko-KR" alt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144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4011604"/>
                  </a:ext>
                </a:extLst>
              </a:tr>
              <a:tr h="1626056"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Minor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58</a:t>
                      </a: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건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62.4%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spcAft>
                          <a:spcPts val="6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[ </a:t>
                      </a: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현상 </a:t>
                      </a: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]</a:t>
                      </a:r>
                    </a:p>
                    <a:p>
                      <a:pPr marL="0" indent="0" latinLnBrk="1">
                        <a:spcAft>
                          <a:spcPts val="6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DEF-04696</a:t>
                      </a: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</a:t>
                      </a: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:</a:t>
                      </a: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</a:t>
                      </a: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contract end date  </a:t>
                      </a: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날짜 크기가 다름 </a:t>
                      </a:r>
                      <a:endParaRPr lang="en-US" alt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  <a:p>
                      <a:pPr marL="0" indent="0" latinLnBrk="1">
                        <a:spcAft>
                          <a:spcPts val="6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DEF-04528 : STATUS LIST BOX </a:t>
                      </a: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상단 전체 표기 </a:t>
                      </a:r>
                      <a:endParaRPr lang="en-US" alt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  <a:p>
                      <a:pPr marL="0" indent="0" latinLnBrk="1">
                        <a:spcAft>
                          <a:spcPts val="6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DEF-04444 : </a:t>
                      </a: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메세지가 부정확함</a:t>
                      </a: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. NAME </a:t>
                      </a: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혹은 </a:t>
                      </a:r>
                      <a:r>
                        <a:rPr lang="en-US" altLang="ko-KR" sz="1200" kern="100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vALUE</a:t>
                      </a: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를 입력하지 않으면 서버오류라고 </a:t>
                      </a:r>
                      <a:r>
                        <a:rPr lang="ko-KR" altLang="en-US" sz="1200" kern="100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메세지</a:t>
                      </a: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처리 됨 </a:t>
                      </a: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--&gt; </a:t>
                      </a: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필수항목 오류로 표기 </a:t>
                      </a:r>
                      <a:endParaRPr lang="en-US" alt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  <a:p>
                      <a:pPr marL="0" indent="0" latinLnBrk="1">
                        <a:spcAft>
                          <a:spcPts val="6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[ </a:t>
                      </a: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주요 업무영역 </a:t>
                      </a: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]</a:t>
                      </a:r>
                    </a:p>
                    <a:p>
                      <a:pPr marL="171450" indent="-171450" latinLnBrk="1">
                        <a:spcAft>
                          <a:spcPts val="6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공항운영</a:t>
                      </a: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(GO), </a:t>
                      </a: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공항통계</a:t>
                      </a: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(AS), </a:t>
                      </a: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자원배정</a:t>
                      </a: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(RS)</a:t>
                      </a:r>
                      <a:endParaRPr lang="ko-KR" alt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144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5721588"/>
                  </a:ext>
                </a:extLst>
              </a:tr>
            </a:tbl>
          </a:graphicData>
        </a:graphic>
      </p:graphicFrame>
      <p:graphicFrame>
        <p:nvGraphicFramePr>
          <p:cNvPr id="2" name="차트 1">
            <a:extLst>
              <a:ext uri="{FF2B5EF4-FFF2-40B4-BE49-F238E27FC236}">
                <a16:creationId xmlns:a16="http://schemas.microsoft.com/office/drawing/2014/main" id="{55F6397B-0AB4-E547-5B8A-628AEE43B58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42811270"/>
              </p:ext>
            </p:extLst>
          </p:nvPr>
        </p:nvGraphicFramePr>
        <p:xfrm>
          <a:off x="8903112" y="1537398"/>
          <a:ext cx="2953943" cy="475287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358083052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69CD25-C31C-C671-775F-F1F7D36B1B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4C98EA11-2724-5350-AEF3-2AE974A9D5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892" y="91161"/>
            <a:ext cx="5652516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indent="-354013" defTabSz="957743">
              <a:defRPr sz="2200" spc="-11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9pPr>
          </a:lstStyle>
          <a:p>
            <a:pPr lvl="0" latinLnBrk="0">
              <a:defRPr/>
            </a:pPr>
            <a:r>
              <a:rPr kumimoji="0" lang="ko-KR" altLang="en-US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  <a:r>
              <a:rPr kumimoji="0" lang="en-US" altLang="ko-KR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III - 2.</a:t>
            </a:r>
            <a:r>
              <a:rPr kumimoji="0" lang="ko-KR" altLang="en-US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 정량적 결함 분석    </a:t>
            </a:r>
            <a:r>
              <a:rPr lang="en-US" altLang="ko-KR" sz="2000" b="1" dirty="0">
                <a:solidFill>
                  <a:prstClr val="white"/>
                </a:solidFill>
              </a:rPr>
              <a:t>2</a:t>
            </a:r>
            <a:r>
              <a:rPr kumimoji="0" lang="en-US" altLang="ko-KR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/2</a:t>
            </a: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21FF9E13-03EB-040E-EA70-BE5B8DF335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8738" y="913493"/>
            <a:ext cx="10290242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Tx/>
              <a:buSzTx/>
              <a:buFontTx/>
              <a:buNone/>
              <a:tabLst/>
            </a:pPr>
            <a:r>
              <a:rPr kumimoji="0" lang="en-US" altLang="ko-K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2) </a:t>
            </a:r>
            <a:r>
              <a:rPr kumimoji="0" lang="ko-KR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결함 주요 유형</a:t>
            </a:r>
            <a:r>
              <a:rPr kumimoji="0" lang="en-US" altLang="ko-K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(Defect Type) </a:t>
            </a:r>
            <a:r>
              <a:rPr kumimoji="0" lang="ko-KR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별 분포</a:t>
            </a:r>
            <a:endParaRPr kumimoji="0" lang="en-US" altLang="ko-K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B40F0F5E-8AC5-36D9-79AC-C47E068B42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8169150"/>
              </p:ext>
            </p:extLst>
          </p:nvPr>
        </p:nvGraphicFramePr>
        <p:xfrm>
          <a:off x="766763" y="1358838"/>
          <a:ext cx="7341539" cy="5447769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754127">
                  <a:extLst>
                    <a:ext uri="{9D8B030D-6E8A-4147-A177-3AD203B41FA5}">
                      <a16:colId xmlns:a16="http://schemas.microsoft.com/office/drawing/2014/main" val="392611826"/>
                    </a:ext>
                  </a:extLst>
                </a:gridCol>
                <a:gridCol w="541175">
                  <a:extLst>
                    <a:ext uri="{9D8B030D-6E8A-4147-A177-3AD203B41FA5}">
                      <a16:colId xmlns:a16="http://schemas.microsoft.com/office/drawing/2014/main" val="3656340524"/>
                    </a:ext>
                  </a:extLst>
                </a:gridCol>
                <a:gridCol w="578498">
                  <a:extLst>
                    <a:ext uri="{9D8B030D-6E8A-4147-A177-3AD203B41FA5}">
                      <a16:colId xmlns:a16="http://schemas.microsoft.com/office/drawing/2014/main" val="826301422"/>
                    </a:ext>
                  </a:extLst>
                </a:gridCol>
                <a:gridCol w="5467739">
                  <a:extLst>
                    <a:ext uri="{9D8B030D-6E8A-4147-A177-3AD203B41FA5}">
                      <a16:colId xmlns:a16="http://schemas.microsoft.com/office/drawing/2014/main" val="595994797"/>
                    </a:ext>
                  </a:extLst>
                </a:gridCol>
              </a:tblGrid>
              <a:tr h="325116"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ko-KR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결함 유형</a:t>
                      </a:r>
                      <a:endParaRPr lang="ko-KR" sz="1200" b="1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ko-KR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건수</a:t>
                      </a:r>
                      <a:endParaRPr lang="ko-KR" sz="1200" b="1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ko-KR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비중</a:t>
                      </a:r>
                      <a:endParaRPr lang="ko-KR" sz="1200" b="1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ko-KR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주요 분석 내용</a:t>
                      </a:r>
                      <a:endParaRPr lang="ko-KR" sz="1200" b="1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1363542"/>
                  </a:ext>
                </a:extLst>
              </a:tr>
              <a:tr h="1110065"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기능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41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건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44.1%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44000" indent="-171450" latinLnBrk="1">
                        <a:lnSpc>
                          <a:spcPts val="1400"/>
                        </a:lnSpc>
                        <a:spcAft>
                          <a:spcPts val="6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DEF-04457 : </a:t>
                      </a: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삭제 시 </a:t>
                      </a: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'-1 error : </a:t>
                      </a: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시스템 장애로 인해 서비스가 중단되었습니다</a:t>
                      </a: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.' </a:t>
                      </a: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라는 </a:t>
                      </a: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alert</a:t>
                      </a: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이 표출됩니다</a:t>
                      </a: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.</a:t>
                      </a:r>
                    </a:p>
                    <a:p>
                      <a:pPr marL="144000" indent="-171450" latinLnBrk="1">
                        <a:lnSpc>
                          <a:spcPts val="1400"/>
                        </a:lnSpc>
                        <a:spcAft>
                          <a:spcPts val="6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DEF-04587 : '+', '-' </a:t>
                      </a: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버튼이 보이지 않습니다</a:t>
                      </a: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(</a:t>
                      </a: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표출 선행조건이 있는 것인지 모르겠습니다</a:t>
                      </a: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).</a:t>
                      </a:r>
                    </a:p>
                    <a:p>
                      <a:pPr marL="144000" indent="-171450" latinLnBrk="1">
                        <a:lnSpc>
                          <a:spcPts val="1400"/>
                        </a:lnSpc>
                        <a:spcAft>
                          <a:spcPts val="6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DEF-04741 : </a:t>
                      </a: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터미널을 바꾸고 검색해도 차트 모양이 변하지 않음</a:t>
                      </a: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.</a:t>
                      </a:r>
                    </a:p>
                    <a:p>
                      <a:pPr marL="144000" indent="-171450" latinLnBrk="1">
                        <a:lnSpc>
                          <a:spcPts val="1400"/>
                        </a:lnSpc>
                        <a:spcAft>
                          <a:spcPts val="6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DEF-04445 : '</a:t>
                      </a: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수치가 부적합합니다</a:t>
                      </a: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' </a:t>
                      </a: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라는 에러가 발생합니다</a:t>
                      </a: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.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74920379"/>
                  </a:ext>
                </a:extLst>
              </a:tr>
              <a:tr h="1110065"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공통</a:t>
                      </a: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/UI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33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건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35.5%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44000" indent="-171450" latinLnBrk="1">
                        <a:lnSpc>
                          <a:spcPts val="1400"/>
                        </a:lnSpc>
                        <a:spcAft>
                          <a:spcPts val="6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DEF-04440 : </a:t>
                      </a: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화면의 첫 째 필드에 </a:t>
                      </a:r>
                      <a:r>
                        <a:rPr lang="ko-KR" altLang="en-US" sz="1200" kern="100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커셔가</a:t>
                      </a: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</a:t>
                      </a: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Set </a:t>
                      </a:r>
                      <a:r>
                        <a:rPr lang="en-US" altLang="ko-KR" sz="1200" kern="100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focusc</a:t>
                      </a: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</a:t>
                      </a: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확인 </a:t>
                      </a:r>
                    </a:p>
                    <a:p>
                      <a:pPr marL="144000" indent="-171450" latinLnBrk="1">
                        <a:lnSpc>
                          <a:spcPts val="1400"/>
                        </a:lnSpc>
                        <a:spcAft>
                          <a:spcPts val="6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DEF-04528 : STATUS LIST BOX </a:t>
                      </a: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상단 전체 표기 </a:t>
                      </a:r>
                    </a:p>
                    <a:p>
                      <a:pPr marL="144000" indent="-171450" latinLnBrk="1">
                        <a:lnSpc>
                          <a:spcPts val="1400"/>
                        </a:lnSpc>
                        <a:spcAft>
                          <a:spcPts val="6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DEF-04464 : '</a:t>
                      </a: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선택적 개인정보 수집 이용내역</a:t>
                      </a: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' </a:t>
                      </a: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이 </a:t>
                      </a: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'</a:t>
                      </a: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필수</a:t>
                      </a: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'</a:t>
                      </a: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가 아닌 </a:t>
                      </a: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'</a:t>
                      </a: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선택</a:t>
                      </a: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' </a:t>
                      </a: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항목으로 동작하지만 같은 </a:t>
                      </a: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'[</a:t>
                      </a: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필수</a:t>
                      </a: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]' section </a:t>
                      </a: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하에 존재하여 </a:t>
                      </a: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'</a:t>
                      </a: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필수</a:t>
                      </a: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'</a:t>
                      </a: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로 느껴집니다</a:t>
                      </a: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. </a:t>
                      </a: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선택 항목이라면 </a:t>
                      </a: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section</a:t>
                      </a: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을 분리하거나</a:t>
                      </a: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, (</a:t>
                      </a: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선택</a:t>
                      </a: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) </a:t>
                      </a: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등으로 명확히 분리하면 좋을 것 같습니다</a:t>
                      </a: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.</a:t>
                      </a: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05312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데이터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건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6.5%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44000" indent="-171450" latinLnBrk="1">
                        <a:lnSpc>
                          <a:spcPts val="1400"/>
                        </a:lnSpc>
                        <a:spcAft>
                          <a:spcPts val="6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DEF-04638 : </a:t>
                      </a: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데이터가 존재하지 않아 확인이 불가능합니다</a:t>
                      </a: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.</a:t>
                      </a:r>
                    </a:p>
                    <a:p>
                      <a:pPr marL="144000" indent="-171450" latinLnBrk="1">
                        <a:lnSpc>
                          <a:spcPts val="1400"/>
                        </a:lnSpc>
                        <a:spcAft>
                          <a:spcPts val="6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DEF-04661 : </a:t>
                      </a: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데이터가 존재하지 않아 확인이 어렵습니다</a:t>
                      </a: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.</a:t>
                      </a:r>
                    </a:p>
                    <a:p>
                      <a:pPr marL="144000" indent="-171450" latinLnBrk="1">
                        <a:lnSpc>
                          <a:spcPts val="1400"/>
                        </a:lnSpc>
                        <a:spcAft>
                          <a:spcPts val="6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DEF-04781 : 1.2</a:t>
                      </a: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조회테스트 직행</a:t>
                      </a: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(</a:t>
                      </a: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조건에 맞는 데이터 부재</a:t>
                      </a: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_</a:t>
                      </a: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코멘트 있음</a:t>
                      </a: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)</a:t>
                      </a: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22168569"/>
                  </a:ext>
                </a:extLst>
              </a:tr>
              <a:tr h="967508"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문서화</a:t>
                      </a: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기타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건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14.0%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44000" indent="-171450" latinLnBrk="1">
                        <a:lnSpc>
                          <a:spcPts val="1400"/>
                        </a:lnSpc>
                        <a:spcAft>
                          <a:spcPts val="6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DEF-04539	: </a:t>
                      </a: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단위시험시나리오의 시험데이터와 검색 컴포넌트의 입력 가능 항목이 서로 상이합니다</a:t>
                      </a: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.</a:t>
                      </a:r>
                    </a:p>
                    <a:p>
                      <a:pPr marL="144000" indent="-171450" latinLnBrk="1">
                        <a:lnSpc>
                          <a:spcPts val="1400"/>
                        </a:lnSpc>
                        <a:spcAft>
                          <a:spcPts val="6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DEF-04527	: </a:t>
                      </a:r>
                      <a:r>
                        <a:rPr lang="ko-KR" altLang="en-US" sz="1200" kern="100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단위테스트결과서상에는</a:t>
                      </a: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조회 시작 일자 및 종료 일자가 존재하나 실제론 단일 날짜 조회만 가능합니다</a:t>
                      </a: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(</a:t>
                      </a:r>
                      <a:r>
                        <a:rPr lang="ko-KR" altLang="en-US" sz="1200" kern="100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증적과</a:t>
                      </a: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상이</a:t>
                      </a: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).</a:t>
                      </a:r>
                    </a:p>
                    <a:p>
                      <a:pPr marL="144000" indent="-171450" latinLnBrk="1">
                        <a:lnSpc>
                          <a:spcPts val="1400"/>
                        </a:lnSpc>
                        <a:spcAft>
                          <a:spcPts val="6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DEF-04504	: </a:t>
                      </a: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단위테스트 결과서 확인 필요 </a:t>
                      </a: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(</a:t>
                      </a: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시나리오</a:t>
                      </a: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ID : GO12505 </a:t>
                      </a: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중복으로 보임</a:t>
                      </a: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) </a:t>
                      </a: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.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44109000"/>
                  </a:ext>
                </a:extLst>
              </a:tr>
              <a:tr h="302409"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ko-KR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합계</a:t>
                      </a:r>
                      <a:endParaRPr lang="ko-KR" sz="1200" b="1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en-US" altLang="ko-KR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93</a:t>
                      </a:r>
                      <a:r>
                        <a:rPr lang="ko-KR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건</a:t>
                      </a:r>
                      <a:endParaRPr lang="ko-KR" sz="1200" b="1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100%</a:t>
                      </a:r>
                      <a:endParaRPr lang="ko-KR" sz="1200" b="1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98512262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cx1="http://schemas.microsoft.com/office/drawing/2015/9/8/chartex" Requires="cx1">
          <p:graphicFrame>
            <p:nvGraphicFramePr>
              <p:cNvPr id="6" name="차트 5">
                <a:extLst>
                  <a:ext uri="{FF2B5EF4-FFF2-40B4-BE49-F238E27FC236}">
                    <a16:creationId xmlns:a16="http://schemas.microsoft.com/office/drawing/2014/main" id="{FE141655-1569-4B27-8AFC-36260A1575C3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3443744529"/>
                  </p:ext>
                </p:extLst>
              </p:nvPr>
            </p:nvGraphicFramePr>
            <p:xfrm>
              <a:off x="8229600" y="1193799"/>
              <a:ext cx="3718830" cy="5259387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6" name="차트 5">
                <a:extLst>
                  <a:ext uri="{FF2B5EF4-FFF2-40B4-BE49-F238E27FC236}">
                    <a16:creationId xmlns:a16="http://schemas.microsoft.com/office/drawing/2014/main" id="{FE141655-1569-4B27-8AFC-36260A1575C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229600" y="1193799"/>
                <a:ext cx="3718830" cy="525938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cx1="http://schemas.microsoft.com/office/drawing/2015/9/8/chartex" Requires="cx1">
          <p:graphicFrame>
            <p:nvGraphicFramePr>
              <p:cNvPr id="2" name="차트 1">
                <a:extLst>
                  <a:ext uri="{FF2B5EF4-FFF2-40B4-BE49-F238E27FC236}">
                    <a16:creationId xmlns:a16="http://schemas.microsoft.com/office/drawing/2014/main" id="{A179E6E9-533E-863C-5381-A62CD8BD0AFA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636559671"/>
                  </p:ext>
                </p:extLst>
              </p:nvPr>
            </p:nvGraphicFramePr>
            <p:xfrm>
              <a:off x="8309148" y="1139358"/>
              <a:ext cx="3447423" cy="5313828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4"/>
              </a:graphicData>
            </a:graphic>
          </p:graphicFrame>
        </mc:Choice>
        <mc:Fallback>
          <p:pic>
            <p:nvPicPr>
              <p:cNvPr id="2" name="차트 1">
                <a:extLst>
                  <a:ext uri="{FF2B5EF4-FFF2-40B4-BE49-F238E27FC236}">
                    <a16:creationId xmlns:a16="http://schemas.microsoft.com/office/drawing/2014/main" id="{A179E6E9-533E-863C-5381-A62CD8BD0AFA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309148" y="1139358"/>
                <a:ext cx="3447423" cy="5313828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31211469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6C8F2477-8D5C-0C44-F68C-5E35E5096A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차트 1">
            <a:extLst>
              <a:ext uri="{FF2B5EF4-FFF2-40B4-BE49-F238E27FC236}">
                <a16:creationId xmlns:a16="http://schemas.microsoft.com/office/drawing/2014/main" id="{1FF68759-3E76-63EB-CD1D-FD9B513CC48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24921553"/>
              </p:ext>
            </p:extLst>
          </p:nvPr>
        </p:nvGraphicFramePr>
        <p:xfrm>
          <a:off x="6864572" y="1336384"/>
          <a:ext cx="4395954" cy="35308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Rectangle 2">
            <a:extLst>
              <a:ext uri="{FF2B5EF4-FFF2-40B4-BE49-F238E27FC236}">
                <a16:creationId xmlns:a16="http://schemas.microsoft.com/office/drawing/2014/main" id="{67E9F424-D81D-B996-3BAC-2ABEA552BF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892" y="91161"/>
            <a:ext cx="5652516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indent="-354013" defTabSz="957743">
              <a:defRPr sz="2200" spc="-11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9pPr>
          </a:lstStyle>
          <a:p>
            <a:pPr latinLnBrk="0">
              <a:defRPr/>
            </a:pPr>
            <a:r>
              <a:rPr kumimoji="0" lang="ko-KR" altLang="en-US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  <a:r>
              <a:rPr kumimoji="0" lang="en-US" altLang="ko-KR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III – 3. </a:t>
            </a:r>
            <a:r>
              <a:rPr lang="ko-KR" altLang="ko-KR" sz="20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결함 원인 분석</a:t>
            </a:r>
            <a:r>
              <a:rPr lang="en-US" altLang="ko-KR" sz="20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– </a:t>
            </a:r>
            <a:r>
              <a:rPr lang="ko-KR" altLang="en-US" sz="20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결함 주요 원인</a:t>
            </a:r>
            <a:endParaRPr kumimoji="0" lang="en-US" altLang="ko-KR" sz="2000" b="1" i="0" u="none" strike="noStrike" kern="1200" cap="none" spc="-11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46" name="Rectangle 1">
            <a:extLst>
              <a:ext uri="{FF2B5EF4-FFF2-40B4-BE49-F238E27FC236}">
                <a16:creationId xmlns:a16="http://schemas.microsoft.com/office/drawing/2014/main" id="{2BEC96C2-E6E3-4F45-BFF1-60B5D2F37D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7577" y="887791"/>
            <a:ext cx="7248170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Tx/>
              <a:buSzTx/>
              <a:buFontTx/>
              <a:buNone/>
              <a:tabLst/>
            </a:pPr>
            <a:r>
              <a:rPr kumimoji="0" lang="ko-KR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식별 태그</a:t>
            </a:r>
            <a:r>
              <a:rPr kumimoji="0" lang="en-US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([S], [C], [X]) </a:t>
            </a:r>
            <a:r>
              <a:rPr kumimoji="0" lang="ko-KR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및 결함 내용을 기반으로 분석 </a:t>
            </a:r>
            <a:r>
              <a:rPr lang="ko-KR" altLang="en-US" sz="1400" b="1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결과를 </a:t>
            </a:r>
            <a:r>
              <a:rPr lang="en-US" altLang="ko-KR" sz="1400" b="1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1</a:t>
            </a:r>
            <a:r>
              <a:rPr lang="ko-KR" altLang="en-US" sz="1400" b="1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차 테스트와 비교</a:t>
            </a:r>
            <a:endParaRPr kumimoji="0" lang="en-US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3F19DA92-DFD1-405C-A111-B44E840493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229725"/>
              </p:ext>
            </p:extLst>
          </p:nvPr>
        </p:nvGraphicFramePr>
        <p:xfrm>
          <a:off x="766763" y="1359478"/>
          <a:ext cx="5951277" cy="4937432"/>
        </p:xfrm>
        <a:graphic>
          <a:graphicData uri="http://schemas.openxmlformats.org/drawingml/2006/table">
            <a:tbl>
              <a:tblPr/>
              <a:tblGrid>
                <a:gridCol w="434788">
                  <a:extLst>
                    <a:ext uri="{9D8B030D-6E8A-4147-A177-3AD203B41FA5}">
                      <a16:colId xmlns:a16="http://schemas.microsoft.com/office/drawing/2014/main" val="2708785272"/>
                    </a:ext>
                  </a:extLst>
                </a:gridCol>
                <a:gridCol w="627732">
                  <a:extLst>
                    <a:ext uri="{9D8B030D-6E8A-4147-A177-3AD203B41FA5}">
                      <a16:colId xmlns:a16="http://schemas.microsoft.com/office/drawing/2014/main" val="2057820993"/>
                    </a:ext>
                  </a:extLst>
                </a:gridCol>
                <a:gridCol w="3314397">
                  <a:extLst>
                    <a:ext uri="{9D8B030D-6E8A-4147-A177-3AD203B41FA5}">
                      <a16:colId xmlns:a16="http://schemas.microsoft.com/office/drawing/2014/main" val="28137482"/>
                    </a:ext>
                  </a:extLst>
                </a:gridCol>
                <a:gridCol w="542686">
                  <a:extLst>
                    <a:ext uri="{9D8B030D-6E8A-4147-A177-3AD203B41FA5}">
                      <a16:colId xmlns:a16="http://schemas.microsoft.com/office/drawing/2014/main" val="1528279867"/>
                    </a:ext>
                  </a:extLst>
                </a:gridCol>
                <a:gridCol w="515837">
                  <a:extLst>
                    <a:ext uri="{9D8B030D-6E8A-4147-A177-3AD203B41FA5}">
                      <a16:colId xmlns:a16="http://schemas.microsoft.com/office/drawing/2014/main" val="3034272683"/>
                    </a:ext>
                  </a:extLst>
                </a:gridCol>
                <a:gridCol w="515837">
                  <a:extLst>
                    <a:ext uri="{9D8B030D-6E8A-4147-A177-3AD203B41FA5}">
                      <a16:colId xmlns:a16="http://schemas.microsoft.com/office/drawing/2014/main" val="2586602072"/>
                    </a:ext>
                  </a:extLst>
                </a:gridCol>
              </a:tblGrid>
              <a:tr h="374720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결함 유형 구분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설명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차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2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차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/>
                          <a:ea typeface="맑은 고딕" panose="020B0503020000020004" pitchFamily="50" charset="-127"/>
                        </a:rPr>
                        <a:t>3</a:t>
                      </a: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/>
                          <a:ea typeface="맑은 고딕" panose="020B0503020000020004" pitchFamily="50" charset="-127"/>
                        </a:rPr>
                        <a:t>차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176600"/>
                  </a:ext>
                </a:extLst>
              </a:tr>
              <a:tr h="409688"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환경적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  <a:p>
                      <a:pPr algn="ctr" fontAlgn="ctr"/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이슈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환경미비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화면 로딩 불가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2</a:t>
                      </a: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</a:t>
                      </a: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19475438"/>
                  </a:ext>
                </a:extLst>
              </a:tr>
              <a:tr h="352553"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스키마 권한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결과서 쿼리에 스키마명 보완</a:t>
                      </a: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, </a:t>
                      </a: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스키마 권한 필요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34</a:t>
                      </a: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</a:t>
                      </a: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11648353"/>
                  </a:ext>
                </a:extLst>
              </a:tr>
              <a:tr h="409688"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프로세스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프로시저 호출 오류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18</a:t>
                      </a: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14</a:t>
                      </a: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13753651"/>
                  </a:ext>
                </a:extLst>
              </a:tr>
              <a:tr h="409688"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문서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테스트 결과서 내 </a:t>
                      </a:r>
                      <a:r>
                        <a:rPr lang="ko-KR" alt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증적이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 미흡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32</a:t>
                      </a: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4</a:t>
                      </a: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00576271"/>
                  </a:ext>
                </a:extLst>
              </a:tr>
              <a:tr h="409688"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기능적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  <a:p>
                      <a:pPr algn="ctr" fontAlgn="ctr"/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이슈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rgbClr val="FF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기능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b="1" i="0" u="none" strike="noStrike" dirty="0">
                          <a:solidFill>
                            <a:srgbClr val="FF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시나리오 내 테스트 케이스 비정상 동작</a:t>
                      </a:r>
                      <a:endParaRPr lang="en-US" altLang="ko-KR" sz="1200" b="1" i="0" u="none" strike="noStrike" dirty="0">
                        <a:solidFill>
                          <a:srgbClr val="FF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1" i="0" u="none" strike="noStrike" dirty="0">
                          <a:solidFill>
                            <a:srgbClr val="FF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99</a:t>
                      </a: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1" i="0" u="none" strike="noStrike" dirty="0">
                          <a:solidFill>
                            <a:srgbClr val="FF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87</a:t>
                      </a: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34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65044250"/>
                  </a:ext>
                </a:extLst>
              </a:tr>
              <a:tr h="409688"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값검증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테스트 결과 값 오류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9</a:t>
                      </a: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6</a:t>
                      </a: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41769233"/>
                  </a:ext>
                </a:extLst>
              </a:tr>
              <a:tr h="409688"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화면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구현 화면의 비정상 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3</a:t>
                      </a: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8</a:t>
                      </a: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93859351"/>
                  </a:ext>
                </a:extLst>
              </a:tr>
              <a:tr h="409688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기능적 이슈</a:t>
                      </a:r>
                    </a:p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데이터누락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테스트를 위한 </a:t>
                      </a:r>
                      <a:r>
                        <a:rPr lang="ko-KR" alt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테이터가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 불충분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26</a:t>
                      </a: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2</a:t>
                      </a: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99003454"/>
                  </a:ext>
                </a:extLst>
              </a:tr>
              <a:tr h="409688"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권한누락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테스트를 위한 요구 권한 누락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6</a:t>
                      </a: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</a:t>
                      </a: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63224878"/>
                  </a:ext>
                </a:extLst>
              </a:tr>
              <a:tr h="409688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기타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rgbClr val="FF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공통화면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b="1" i="0" u="none" strike="noStrike" dirty="0">
                          <a:solidFill>
                            <a:srgbClr val="FF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공통 체크리스트의 구현 불충분</a:t>
                      </a:r>
                      <a:endParaRPr lang="en-US" altLang="ko-KR" sz="1200" b="1" i="0" u="none" strike="noStrike" dirty="0">
                        <a:solidFill>
                          <a:srgbClr val="FF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1" i="0" u="none" strike="noStrike" dirty="0">
                          <a:solidFill>
                            <a:srgbClr val="FF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9</a:t>
                      </a: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1" i="0" u="none" strike="noStrike" dirty="0">
                          <a:solidFill>
                            <a:srgbClr val="FF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39</a:t>
                      </a: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33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2664874"/>
                  </a:ext>
                </a:extLst>
              </a:tr>
              <a:tr h="409688"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결함아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  <a:p>
                      <a:pPr algn="ctr" fontAlgn="ctr"/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님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결함이 아님 →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 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테스터 </a:t>
                      </a:r>
                      <a:r>
                        <a:rPr lang="ko-KR" alt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오기입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 또는 로직 이해 부족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7</a:t>
                      </a: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97</a:t>
                      </a: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6808097"/>
                  </a:ext>
                </a:extLst>
              </a:tr>
            </a:tbl>
          </a:graphicData>
        </a:graphic>
      </p:graphicFrame>
      <p:grpSp>
        <p:nvGrpSpPr>
          <p:cNvPr id="8" name="그룹 7">
            <a:extLst>
              <a:ext uri="{FF2B5EF4-FFF2-40B4-BE49-F238E27FC236}">
                <a16:creationId xmlns:a16="http://schemas.microsoft.com/office/drawing/2014/main" id="{A047E390-6182-4411-A8F3-738AC0C7F20E}"/>
              </a:ext>
            </a:extLst>
          </p:cNvPr>
          <p:cNvGrpSpPr/>
          <p:nvPr/>
        </p:nvGrpSpPr>
        <p:grpSpPr>
          <a:xfrm>
            <a:off x="7167973" y="1418599"/>
            <a:ext cx="669470" cy="429729"/>
            <a:chOff x="8057762" y="2133600"/>
            <a:chExt cx="669470" cy="429729"/>
          </a:xfrm>
        </p:grpSpPr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31C811F3-96E5-42D2-A6D9-803EBA494B7B}"/>
                </a:ext>
              </a:extLst>
            </p:cNvPr>
            <p:cNvCxnSpPr/>
            <p:nvPr/>
          </p:nvCxnSpPr>
          <p:spPr>
            <a:xfrm>
              <a:off x="8224933" y="2563329"/>
              <a:ext cx="457200" cy="0"/>
            </a:xfrm>
            <a:prstGeom prst="line">
              <a:avLst/>
            </a:prstGeom>
            <a:ln w="412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CB365E80-5636-4A32-9BE0-EA1696308DEE}"/>
                </a:ext>
              </a:extLst>
            </p:cNvPr>
            <p:cNvSpPr txBox="1"/>
            <p:nvPr/>
          </p:nvSpPr>
          <p:spPr>
            <a:xfrm>
              <a:off x="8057762" y="2133600"/>
              <a:ext cx="66947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800" b="0" i="0" u="none" strike="noStrike" dirty="0">
                  <a:solidFill>
                    <a:srgbClr val="000000"/>
                  </a:solidFill>
                  <a:effectLst/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1</a:t>
              </a:r>
              <a:r>
                <a:rPr lang="ko-KR" altLang="en-US" sz="1800" b="0" i="0" u="none" strike="noStrike" dirty="0">
                  <a:solidFill>
                    <a:srgbClr val="000000"/>
                  </a:solidFill>
                  <a:effectLst/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차</a:t>
              </a:r>
            </a:p>
          </p:txBody>
        </p:sp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01CF252D-28CE-41F7-B86A-12293932121C}"/>
              </a:ext>
            </a:extLst>
          </p:cNvPr>
          <p:cNvGrpSpPr/>
          <p:nvPr/>
        </p:nvGrpSpPr>
        <p:grpSpPr>
          <a:xfrm>
            <a:off x="8048317" y="1418599"/>
            <a:ext cx="669470" cy="429729"/>
            <a:chOff x="10318881" y="2133600"/>
            <a:chExt cx="669470" cy="429729"/>
          </a:xfrm>
        </p:grpSpPr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B2443664-E923-469C-87A9-9597502C3DA9}"/>
                </a:ext>
              </a:extLst>
            </p:cNvPr>
            <p:cNvCxnSpPr/>
            <p:nvPr/>
          </p:nvCxnSpPr>
          <p:spPr>
            <a:xfrm>
              <a:off x="10411408" y="2563329"/>
              <a:ext cx="457200" cy="0"/>
            </a:xfrm>
            <a:prstGeom prst="line">
              <a:avLst/>
            </a:prstGeom>
            <a:ln w="41275">
              <a:solidFill>
                <a:srgbClr val="ED7D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D87CDE9F-5656-4853-9FAA-3B1EAD63F52F}"/>
                </a:ext>
              </a:extLst>
            </p:cNvPr>
            <p:cNvSpPr txBox="1"/>
            <p:nvPr/>
          </p:nvSpPr>
          <p:spPr>
            <a:xfrm>
              <a:off x="10318881" y="2133600"/>
              <a:ext cx="66947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800" b="0" i="0" u="none" strike="noStrike" dirty="0">
                  <a:solidFill>
                    <a:srgbClr val="000000"/>
                  </a:solidFill>
                  <a:effectLst/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2</a:t>
              </a:r>
              <a:r>
                <a:rPr lang="ko-KR" altLang="en-US" sz="1800" b="0" i="0" u="none" strike="noStrike" dirty="0">
                  <a:solidFill>
                    <a:srgbClr val="000000"/>
                  </a:solidFill>
                  <a:effectLst/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차</a:t>
              </a:r>
            </a:p>
          </p:txBody>
        </p:sp>
      </p:grpSp>
      <p:sp>
        <p:nvSpPr>
          <p:cNvPr id="22" name="Rectangle 1">
            <a:extLst>
              <a:ext uri="{FF2B5EF4-FFF2-40B4-BE49-F238E27FC236}">
                <a16:creationId xmlns:a16="http://schemas.microsoft.com/office/drawing/2014/main" id="{CEE1BAEF-10B3-4478-BDAD-10A4F26B29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9477" y="5057330"/>
            <a:ext cx="4607326" cy="11490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Tx/>
              <a:buSzTx/>
              <a:buFontTx/>
              <a:buNone/>
              <a:tabLst/>
            </a:pPr>
            <a:r>
              <a:rPr kumimoji="0" lang="ko-KR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환경적 이슈로 발생하는 결함은 </a:t>
            </a:r>
            <a:r>
              <a:rPr kumimoji="0" lang="ko-KR" altLang="en-US" sz="1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감소</a:t>
            </a:r>
            <a:endParaRPr kumimoji="0" lang="en-US" altLang="ko-KR" sz="14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Tx/>
              <a:buSzTx/>
              <a:buFontTx/>
              <a:buNone/>
              <a:tabLst/>
            </a:pPr>
            <a:r>
              <a:rPr kumimoji="0" lang="ko-KR" altLang="en-US" sz="1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기능 테스트 수행에 집중</a:t>
            </a:r>
            <a:r>
              <a:rPr kumimoji="0" lang="ko-KR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하며</a:t>
            </a:r>
            <a:r>
              <a:rPr kumimoji="0" lang="en-US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, </a:t>
            </a:r>
            <a:r>
              <a:rPr kumimoji="0" lang="ko-KR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기능 결함을 도출 함</a:t>
            </a:r>
            <a:endParaRPr lang="en-US" altLang="ko-KR" sz="1400" b="1" dirty="0"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Tx/>
              <a:buSzTx/>
              <a:buFontTx/>
              <a:buNone/>
              <a:tabLst/>
            </a:pPr>
            <a:r>
              <a:rPr lang="ko-KR" altLang="en-US" sz="1400" b="1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기능 난이도가 높아 업무에 대한 판단이 필요한 기능이 다수</a:t>
            </a:r>
            <a:endParaRPr kumimoji="0" lang="en-US" altLang="ko-KR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25" name="타원 24">
            <a:extLst>
              <a:ext uri="{FF2B5EF4-FFF2-40B4-BE49-F238E27FC236}">
                <a16:creationId xmlns:a16="http://schemas.microsoft.com/office/drawing/2014/main" id="{47A88592-D48D-4727-89C7-3CD2C21CD700}"/>
              </a:ext>
            </a:extLst>
          </p:cNvPr>
          <p:cNvSpPr/>
          <p:nvPr/>
        </p:nvSpPr>
        <p:spPr>
          <a:xfrm rot="2576893">
            <a:off x="7094024" y="4058815"/>
            <a:ext cx="317241" cy="755779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/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47A88592-D48D-4727-89C7-3CD2C21CD700}"/>
              </a:ext>
            </a:extLst>
          </p:cNvPr>
          <p:cNvSpPr/>
          <p:nvPr/>
        </p:nvSpPr>
        <p:spPr>
          <a:xfrm rot="2576893">
            <a:off x="7499510" y="4104688"/>
            <a:ext cx="317241" cy="755779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/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47A88592-D48D-4727-89C7-3CD2C21CD700}"/>
              </a:ext>
            </a:extLst>
          </p:cNvPr>
          <p:cNvSpPr/>
          <p:nvPr/>
        </p:nvSpPr>
        <p:spPr>
          <a:xfrm rot="2576893">
            <a:off x="8466678" y="4058816"/>
            <a:ext cx="317241" cy="755779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/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47A88592-D48D-4727-89C7-3CD2C21CD700}"/>
              </a:ext>
            </a:extLst>
          </p:cNvPr>
          <p:cNvSpPr/>
          <p:nvPr/>
        </p:nvSpPr>
        <p:spPr>
          <a:xfrm rot="2576893">
            <a:off x="10160260" y="4058815"/>
            <a:ext cx="317241" cy="755779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/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47A88592-D48D-4727-89C7-3CD2C21CD700}"/>
              </a:ext>
            </a:extLst>
          </p:cNvPr>
          <p:cNvSpPr/>
          <p:nvPr/>
        </p:nvSpPr>
        <p:spPr>
          <a:xfrm rot="2576893">
            <a:off x="10667054" y="4058816"/>
            <a:ext cx="317241" cy="755779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2612C87B-28C8-7344-D962-6F173E15D0D9}"/>
              </a:ext>
            </a:extLst>
          </p:cNvPr>
          <p:cNvGrpSpPr/>
          <p:nvPr/>
        </p:nvGrpSpPr>
        <p:grpSpPr>
          <a:xfrm>
            <a:off x="8988444" y="1418599"/>
            <a:ext cx="669470" cy="429729"/>
            <a:chOff x="8057762" y="2133600"/>
            <a:chExt cx="669470" cy="429729"/>
          </a:xfrm>
        </p:grpSpPr>
        <p:cxnSp>
          <p:nvCxnSpPr>
            <p:cNvPr id="5" name="직선 연결선 4">
              <a:extLst>
                <a:ext uri="{FF2B5EF4-FFF2-40B4-BE49-F238E27FC236}">
                  <a16:creationId xmlns:a16="http://schemas.microsoft.com/office/drawing/2014/main" id="{92EB2CFB-7786-B87F-D03B-57F902D8FA0E}"/>
                </a:ext>
              </a:extLst>
            </p:cNvPr>
            <p:cNvCxnSpPr/>
            <p:nvPr/>
          </p:nvCxnSpPr>
          <p:spPr>
            <a:xfrm>
              <a:off x="8224933" y="2563329"/>
              <a:ext cx="457200" cy="0"/>
            </a:xfrm>
            <a:prstGeom prst="line">
              <a:avLst/>
            </a:prstGeom>
            <a:ln w="41275">
              <a:solidFill>
                <a:schemeClr val="bg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D81A0186-C813-8238-95E1-F3AB1D382F44}"/>
                </a:ext>
              </a:extLst>
            </p:cNvPr>
            <p:cNvSpPr txBox="1"/>
            <p:nvPr/>
          </p:nvSpPr>
          <p:spPr>
            <a:xfrm>
              <a:off x="8057762" y="2133600"/>
              <a:ext cx="66947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800" b="0" i="0" u="none" strike="noStrike" dirty="0">
                  <a:solidFill>
                    <a:srgbClr val="000000"/>
                  </a:solidFill>
                  <a:effectLst/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3</a:t>
              </a:r>
              <a:r>
                <a:rPr lang="ko-KR" altLang="en-US" sz="1800" b="0" i="0" u="none" strike="noStrike" dirty="0">
                  <a:solidFill>
                    <a:srgbClr val="000000"/>
                  </a:solidFill>
                  <a:effectLst/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차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13515446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5DE482-5851-A864-A45F-7CC49DBC2C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03F6EE3A-3142-5E8F-D284-D4DE910A9A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1207001"/>
              </p:ext>
            </p:extLst>
          </p:nvPr>
        </p:nvGraphicFramePr>
        <p:xfrm>
          <a:off x="766763" y="1309687"/>
          <a:ext cx="10621964" cy="5066243"/>
        </p:xfrm>
        <a:graphic>
          <a:graphicData uri="http://schemas.openxmlformats.org/drawingml/2006/table">
            <a:tbl>
              <a:tblPr/>
              <a:tblGrid>
                <a:gridCol w="2113823">
                  <a:extLst>
                    <a:ext uri="{9D8B030D-6E8A-4147-A177-3AD203B41FA5}">
                      <a16:colId xmlns:a16="http://schemas.microsoft.com/office/drawing/2014/main" val="1359844644"/>
                    </a:ext>
                  </a:extLst>
                </a:gridCol>
                <a:gridCol w="1109757">
                  <a:extLst>
                    <a:ext uri="{9D8B030D-6E8A-4147-A177-3AD203B41FA5}">
                      <a16:colId xmlns:a16="http://schemas.microsoft.com/office/drawing/2014/main" val="679649607"/>
                    </a:ext>
                  </a:extLst>
                </a:gridCol>
                <a:gridCol w="981418">
                  <a:extLst>
                    <a:ext uri="{9D8B030D-6E8A-4147-A177-3AD203B41FA5}">
                      <a16:colId xmlns:a16="http://schemas.microsoft.com/office/drawing/2014/main" val="1297571530"/>
                    </a:ext>
                  </a:extLst>
                </a:gridCol>
                <a:gridCol w="981418">
                  <a:extLst>
                    <a:ext uri="{9D8B030D-6E8A-4147-A177-3AD203B41FA5}">
                      <a16:colId xmlns:a16="http://schemas.microsoft.com/office/drawing/2014/main" val="827359040"/>
                    </a:ext>
                  </a:extLst>
                </a:gridCol>
                <a:gridCol w="981418">
                  <a:extLst>
                    <a:ext uri="{9D8B030D-6E8A-4147-A177-3AD203B41FA5}">
                      <a16:colId xmlns:a16="http://schemas.microsoft.com/office/drawing/2014/main" val="2572687085"/>
                    </a:ext>
                  </a:extLst>
                </a:gridCol>
                <a:gridCol w="566204">
                  <a:extLst>
                    <a:ext uri="{9D8B030D-6E8A-4147-A177-3AD203B41FA5}">
                      <a16:colId xmlns:a16="http://schemas.microsoft.com/office/drawing/2014/main" val="1404768842"/>
                    </a:ext>
                  </a:extLst>
                </a:gridCol>
                <a:gridCol w="566204">
                  <a:extLst>
                    <a:ext uri="{9D8B030D-6E8A-4147-A177-3AD203B41FA5}">
                      <a16:colId xmlns:a16="http://schemas.microsoft.com/office/drawing/2014/main" val="1257955430"/>
                    </a:ext>
                  </a:extLst>
                </a:gridCol>
                <a:gridCol w="1170152">
                  <a:extLst>
                    <a:ext uri="{9D8B030D-6E8A-4147-A177-3AD203B41FA5}">
                      <a16:colId xmlns:a16="http://schemas.microsoft.com/office/drawing/2014/main" val="2988995056"/>
                    </a:ext>
                  </a:extLst>
                </a:gridCol>
                <a:gridCol w="1170152">
                  <a:extLst>
                    <a:ext uri="{9D8B030D-6E8A-4147-A177-3AD203B41FA5}">
                      <a16:colId xmlns:a16="http://schemas.microsoft.com/office/drawing/2014/main" val="924226134"/>
                    </a:ext>
                  </a:extLst>
                </a:gridCol>
                <a:gridCol w="981418">
                  <a:extLst>
                    <a:ext uri="{9D8B030D-6E8A-4147-A177-3AD203B41FA5}">
                      <a16:colId xmlns:a16="http://schemas.microsoft.com/office/drawing/2014/main" val="2422488209"/>
                    </a:ext>
                  </a:extLst>
                </a:gridCol>
              </a:tblGrid>
              <a:tr h="453173"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업무영역</a:t>
                      </a:r>
                    </a:p>
                  </a:txBody>
                  <a:tcPr marL="4990" marR="4990" marT="49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총 대상</a:t>
                      </a:r>
                    </a:p>
                  </a:txBody>
                  <a:tcPr marL="4990" marR="4990" marT="49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2020603020101020101"/>
                          <a:ea typeface="맑은 고딕" panose="020B0503020000020004" pitchFamily="50" charset="-127"/>
                        </a:rPr>
                        <a:t>프로세스</a:t>
                      </a:r>
                    </a:p>
                  </a:txBody>
                  <a:tcPr marL="4990" marR="4990" marT="49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2020603020101020101"/>
                          <a:ea typeface="맑은 고딕" panose="020B0503020000020004" pitchFamily="50" charset="-127"/>
                        </a:rPr>
                        <a:t>문서</a:t>
                      </a:r>
                    </a:p>
                  </a:txBody>
                  <a:tcPr marL="4990" marR="4990" marT="49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2020603020101020101"/>
                          <a:ea typeface="맑은 고딕" panose="020B0503020000020004" pitchFamily="50" charset="-127"/>
                        </a:rPr>
                        <a:t>기능</a:t>
                      </a:r>
                    </a:p>
                  </a:txBody>
                  <a:tcPr marL="4990" marR="4990" marT="49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2020603020101020101"/>
                          <a:ea typeface="맑은 고딕" panose="020B0503020000020004" pitchFamily="50" charset="-127"/>
                        </a:rPr>
                        <a:t>화면</a:t>
                      </a:r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2020603020101020101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2020603020101020101"/>
                          <a:ea typeface="맑은 고딕" panose="020B0503020000020004" pitchFamily="50" charset="-127"/>
                        </a:rPr>
                        <a:t>공통</a:t>
                      </a:r>
                    </a:p>
                  </a:txBody>
                  <a:tcPr marL="4990" marR="4990" marT="49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/>
                          <a:ea typeface="맑은 고딕" panose="020B0503020000020004" pitchFamily="50" charset="-127"/>
                        </a:rPr>
                        <a:t>데이터누락</a:t>
                      </a:r>
                    </a:p>
                  </a:txBody>
                  <a:tcPr marL="4990" marR="4990" marT="49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2020603020101020101"/>
                          <a:ea typeface="맑은 고딕" panose="020B0503020000020004" pitchFamily="50" charset="-127"/>
                        </a:rPr>
                        <a:t>기타</a:t>
                      </a:r>
                    </a:p>
                  </a:txBody>
                  <a:tcPr marL="4990" marR="4990" marT="49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2020603020101020101"/>
                          <a:ea typeface="맑은 고딕" panose="020B0503020000020004" pitchFamily="50" charset="-127"/>
                        </a:rPr>
                        <a:t>계</a:t>
                      </a:r>
                    </a:p>
                  </a:txBody>
                  <a:tcPr marL="4990" marR="4990" marT="49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3873676"/>
                  </a:ext>
                </a:extLst>
              </a:tr>
              <a:tr h="261446">
                <a:tc rowSpan="5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공항운영관리</a:t>
                      </a:r>
                      <a:br>
                        <a:rPr lang="ko-KR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AOMS</a:t>
                      </a:r>
                    </a:p>
                  </a:txBody>
                  <a:tcPr marL="4990" marR="4990" marT="49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예측관리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PM)</a:t>
                      </a:r>
                    </a:p>
                  </a:txBody>
                  <a:tcPr marL="4990" marR="4990" marT="49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29</a:t>
                      </a:r>
                    </a:p>
                  </a:txBody>
                  <a:tcPr marL="4990" marR="4990" marT="49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 </a:t>
                      </a:r>
                    </a:p>
                  </a:txBody>
                  <a:tcPr marL="4990" marR="4990" marT="49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 </a:t>
                      </a:r>
                    </a:p>
                  </a:txBody>
                  <a:tcPr marL="4990" marR="4990" marT="49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 </a:t>
                      </a:r>
                    </a:p>
                  </a:txBody>
                  <a:tcPr marL="4990" marR="4990" marT="49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 </a:t>
                      </a:r>
                    </a:p>
                  </a:txBody>
                  <a:tcPr marL="4990" marR="4990" marT="49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 </a:t>
                      </a:r>
                    </a:p>
                  </a:txBody>
                  <a:tcPr marL="4990" marR="4990" marT="49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 </a:t>
                      </a:r>
                    </a:p>
                  </a:txBody>
                  <a:tcPr marL="4990" marR="4990" marT="49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 </a:t>
                      </a:r>
                    </a:p>
                  </a:txBody>
                  <a:tcPr marL="4990" marR="4990" marT="49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2993399"/>
                  </a:ext>
                </a:extLst>
              </a:tr>
              <a:tr h="26144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항공보안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FS)</a:t>
                      </a:r>
                    </a:p>
                  </a:txBody>
                  <a:tcPr marL="4990" marR="4990" marT="49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4990" marR="4990" marT="49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 </a:t>
                      </a:r>
                    </a:p>
                  </a:txBody>
                  <a:tcPr marL="4990" marR="4990" marT="49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 </a:t>
                      </a:r>
                    </a:p>
                  </a:txBody>
                  <a:tcPr marL="4990" marR="4990" marT="49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 </a:t>
                      </a:r>
                    </a:p>
                  </a:txBody>
                  <a:tcPr marL="4990" marR="4990" marT="49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 </a:t>
                      </a:r>
                    </a:p>
                  </a:txBody>
                  <a:tcPr marL="4990" marR="4990" marT="49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 </a:t>
                      </a:r>
                    </a:p>
                  </a:txBody>
                  <a:tcPr marL="4990" marR="4990" marT="49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 </a:t>
                      </a:r>
                    </a:p>
                  </a:txBody>
                  <a:tcPr marL="4990" marR="4990" marT="49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 </a:t>
                      </a:r>
                    </a:p>
                  </a:txBody>
                  <a:tcPr marL="4990" marR="4990" marT="49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6407045"/>
                  </a:ext>
                </a:extLst>
              </a:tr>
              <a:tr h="26144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공항운영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GO)</a:t>
                      </a:r>
                    </a:p>
                  </a:txBody>
                  <a:tcPr marL="4990" marR="4990" marT="49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28</a:t>
                      </a:r>
                    </a:p>
                  </a:txBody>
                  <a:tcPr marL="4990" marR="4990" marT="49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 </a:t>
                      </a:r>
                    </a:p>
                  </a:txBody>
                  <a:tcPr marL="4990" marR="4990" marT="49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 </a:t>
                      </a:r>
                    </a:p>
                  </a:txBody>
                  <a:tcPr marL="4990" marR="4990" marT="49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 </a:t>
                      </a:r>
                    </a:p>
                  </a:txBody>
                  <a:tcPr marL="4990" marR="4990" marT="49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 </a:t>
                      </a:r>
                    </a:p>
                  </a:txBody>
                  <a:tcPr marL="4990" marR="4990" marT="49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 </a:t>
                      </a:r>
                    </a:p>
                  </a:txBody>
                  <a:tcPr marL="4990" marR="4990" marT="49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 </a:t>
                      </a:r>
                    </a:p>
                  </a:txBody>
                  <a:tcPr marL="4990" marR="4990" marT="49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21 </a:t>
                      </a:r>
                    </a:p>
                  </a:txBody>
                  <a:tcPr marL="4990" marR="4990" marT="49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7972546"/>
                  </a:ext>
                </a:extLst>
              </a:tr>
              <a:tr h="26144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항공통계포털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(AS)</a:t>
                      </a:r>
                    </a:p>
                  </a:txBody>
                  <a:tcPr marL="4990" marR="4990" marT="49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121</a:t>
                      </a:r>
                    </a:p>
                  </a:txBody>
                  <a:tcPr marL="4990" marR="4990" marT="49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 </a:t>
                      </a:r>
                    </a:p>
                  </a:txBody>
                  <a:tcPr marL="4990" marR="4990" marT="49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 </a:t>
                      </a:r>
                    </a:p>
                  </a:txBody>
                  <a:tcPr marL="4990" marR="4990" marT="49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 </a:t>
                      </a:r>
                    </a:p>
                  </a:txBody>
                  <a:tcPr marL="4990" marR="4990" marT="49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 </a:t>
                      </a:r>
                    </a:p>
                  </a:txBody>
                  <a:tcPr marL="4990" marR="4990" marT="49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 </a:t>
                      </a:r>
                    </a:p>
                  </a:txBody>
                  <a:tcPr marL="4990" marR="4990" marT="49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 </a:t>
                      </a:r>
                    </a:p>
                  </a:txBody>
                  <a:tcPr marL="4990" marR="4990" marT="49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18 </a:t>
                      </a:r>
                    </a:p>
                  </a:txBody>
                  <a:tcPr marL="4990" marR="4990" marT="49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2365904"/>
                  </a:ext>
                </a:extLst>
              </a:tr>
              <a:tr h="26144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공통관리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AOMS-CA)</a:t>
                      </a:r>
                    </a:p>
                  </a:txBody>
                  <a:tcPr marL="4990" marR="4990" marT="49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</a:p>
                  </a:txBody>
                  <a:tcPr marL="4990" marR="4990" marT="49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 </a:t>
                      </a:r>
                    </a:p>
                  </a:txBody>
                  <a:tcPr marL="4990" marR="4990" marT="49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 </a:t>
                      </a:r>
                    </a:p>
                  </a:txBody>
                  <a:tcPr marL="4990" marR="4990" marT="49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 </a:t>
                      </a:r>
                    </a:p>
                  </a:txBody>
                  <a:tcPr marL="4990" marR="4990" marT="49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 </a:t>
                      </a:r>
                    </a:p>
                  </a:txBody>
                  <a:tcPr marL="4990" marR="4990" marT="49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 </a:t>
                      </a:r>
                    </a:p>
                  </a:txBody>
                  <a:tcPr marL="4990" marR="4990" marT="49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 </a:t>
                      </a:r>
                    </a:p>
                  </a:txBody>
                  <a:tcPr marL="4990" marR="4990" marT="49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 </a:t>
                      </a:r>
                    </a:p>
                  </a:txBody>
                  <a:tcPr marL="4990" marR="4990" marT="49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030211"/>
                  </a:ext>
                </a:extLst>
              </a:tr>
              <a:tr h="261446">
                <a:tc rowSpan="6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운항정보관리</a:t>
                      </a:r>
                      <a:br>
                        <a:rPr lang="ko-KR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FIMS</a:t>
                      </a:r>
                    </a:p>
                  </a:txBody>
                  <a:tcPr marL="4990" marR="4990" marT="49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A-CDM(CM)</a:t>
                      </a:r>
                    </a:p>
                  </a:txBody>
                  <a:tcPr marL="4990" marR="4990" marT="49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36</a:t>
                      </a:r>
                    </a:p>
                  </a:txBody>
                  <a:tcPr marL="4990" marR="4990" marT="49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 </a:t>
                      </a:r>
                    </a:p>
                  </a:txBody>
                  <a:tcPr marL="4990" marR="4990" marT="49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 </a:t>
                      </a:r>
                    </a:p>
                  </a:txBody>
                  <a:tcPr marL="4990" marR="4990" marT="49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 </a:t>
                      </a:r>
                    </a:p>
                  </a:txBody>
                  <a:tcPr marL="4990" marR="4990" marT="49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 </a:t>
                      </a:r>
                    </a:p>
                  </a:txBody>
                  <a:tcPr marL="4990" marR="4990" marT="49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 </a:t>
                      </a:r>
                    </a:p>
                  </a:txBody>
                  <a:tcPr marL="4990" marR="4990" marT="49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 </a:t>
                      </a:r>
                    </a:p>
                  </a:txBody>
                  <a:tcPr marL="4990" marR="4990" marT="49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 </a:t>
                      </a:r>
                    </a:p>
                  </a:txBody>
                  <a:tcPr marL="4990" marR="4990" marT="49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4120245"/>
                  </a:ext>
                </a:extLst>
              </a:tr>
              <a:tr h="26144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공통관리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FIMS-CA)</a:t>
                      </a:r>
                    </a:p>
                  </a:txBody>
                  <a:tcPr marL="4990" marR="4990" marT="49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</a:t>
                      </a:r>
                    </a:p>
                  </a:txBody>
                  <a:tcPr marL="4990" marR="4990" marT="49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 </a:t>
                      </a:r>
                    </a:p>
                  </a:txBody>
                  <a:tcPr marL="4990" marR="4990" marT="49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 </a:t>
                      </a:r>
                    </a:p>
                  </a:txBody>
                  <a:tcPr marL="4990" marR="4990" marT="49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 </a:t>
                      </a:r>
                    </a:p>
                  </a:txBody>
                  <a:tcPr marL="4990" marR="4990" marT="49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 </a:t>
                      </a:r>
                    </a:p>
                  </a:txBody>
                  <a:tcPr marL="4990" marR="4990" marT="49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 </a:t>
                      </a:r>
                    </a:p>
                  </a:txBody>
                  <a:tcPr marL="4990" marR="4990" marT="49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 </a:t>
                      </a:r>
                    </a:p>
                  </a:txBody>
                  <a:tcPr marL="4990" marR="4990" marT="49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 </a:t>
                      </a:r>
                    </a:p>
                  </a:txBody>
                  <a:tcPr marL="4990" marR="4990" marT="49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652259"/>
                  </a:ext>
                </a:extLst>
              </a:tr>
              <a:tr h="26144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비상계획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CP)</a:t>
                      </a:r>
                    </a:p>
                  </a:txBody>
                  <a:tcPr marL="4990" marR="4990" marT="49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</a:t>
                      </a:r>
                    </a:p>
                  </a:txBody>
                  <a:tcPr marL="4990" marR="4990" marT="49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 </a:t>
                      </a:r>
                    </a:p>
                  </a:txBody>
                  <a:tcPr marL="4990" marR="4990" marT="49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 </a:t>
                      </a:r>
                    </a:p>
                  </a:txBody>
                  <a:tcPr marL="4990" marR="4990" marT="49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 </a:t>
                      </a:r>
                    </a:p>
                  </a:txBody>
                  <a:tcPr marL="4990" marR="4990" marT="49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 </a:t>
                      </a:r>
                    </a:p>
                  </a:txBody>
                  <a:tcPr marL="4990" marR="4990" marT="49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 </a:t>
                      </a:r>
                    </a:p>
                  </a:txBody>
                  <a:tcPr marL="4990" marR="4990" marT="49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 </a:t>
                      </a:r>
                    </a:p>
                  </a:txBody>
                  <a:tcPr marL="4990" marR="4990" marT="49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 </a:t>
                      </a:r>
                    </a:p>
                  </a:txBody>
                  <a:tcPr marL="4990" marR="4990" marT="49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8847927"/>
                  </a:ext>
                </a:extLst>
              </a:tr>
              <a:tr h="26144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운항계획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FP)</a:t>
                      </a:r>
                    </a:p>
                  </a:txBody>
                  <a:tcPr marL="4990" marR="4990" marT="49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68</a:t>
                      </a:r>
                    </a:p>
                  </a:txBody>
                  <a:tcPr marL="4990" marR="4990" marT="49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 </a:t>
                      </a:r>
                    </a:p>
                  </a:txBody>
                  <a:tcPr marL="4990" marR="4990" marT="49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 </a:t>
                      </a:r>
                    </a:p>
                  </a:txBody>
                  <a:tcPr marL="4990" marR="4990" marT="49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 </a:t>
                      </a:r>
                    </a:p>
                  </a:txBody>
                  <a:tcPr marL="4990" marR="4990" marT="49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 </a:t>
                      </a:r>
                    </a:p>
                  </a:txBody>
                  <a:tcPr marL="4990" marR="4990" marT="49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 </a:t>
                      </a:r>
                    </a:p>
                  </a:txBody>
                  <a:tcPr marL="4990" marR="4990" marT="49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 </a:t>
                      </a:r>
                    </a:p>
                  </a:txBody>
                  <a:tcPr marL="4990" marR="4990" marT="49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 </a:t>
                      </a:r>
                    </a:p>
                  </a:txBody>
                  <a:tcPr marL="4990" marR="4990" marT="49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962926"/>
                  </a:ext>
                </a:extLst>
              </a:tr>
              <a:tr h="26144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자원배정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RS)</a:t>
                      </a:r>
                    </a:p>
                  </a:txBody>
                  <a:tcPr marL="4990" marR="4990" marT="49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30</a:t>
                      </a:r>
                    </a:p>
                  </a:txBody>
                  <a:tcPr marL="4990" marR="4990" marT="49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 </a:t>
                      </a:r>
                    </a:p>
                  </a:txBody>
                  <a:tcPr marL="4990" marR="4990" marT="49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 </a:t>
                      </a:r>
                    </a:p>
                  </a:txBody>
                  <a:tcPr marL="4990" marR="4990" marT="49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 </a:t>
                      </a:r>
                    </a:p>
                  </a:txBody>
                  <a:tcPr marL="4990" marR="4990" marT="49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 </a:t>
                      </a:r>
                    </a:p>
                  </a:txBody>
                  <a:tcPr marL="4990" marR="4990" marT="49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 </a:t>
                      </a:r>
                    </a:p>
                  </a:txBody>
                  <a:tcPr marL="4990" marR="4990" marT="49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 </a:t>
                      </a:r>
                    </a:p>
                  </a:txBody>
                  <a:tcPr marL="4990" marR="4990" marT="49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 </a:t>
                      </a:r>
                    </a:p>
                  </a:txBody>
                  <a:tcPr marL="4990" marR="4990" marT="49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9326290"/>
                  </a:ext>
                </a:extLst>
              </a:tr>
              <a:tr h="26144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항공기관제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AC)</a:t>
                      </a:r>
                    </a:p>
                  </a:txBody>
                  <a:tcPr marL="4990" marR="4990" marT="49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</a:t>
                      </a:r>
                    </a:p>
                  </a:txBody>
                  <a:tcPr marL="4990" marR="4990" marT="49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 </a:t>
                      </a:r>
                    </a:p>
                  </a:txBody>
                  <a:tcPr marL="4990" marR="4990" marT="49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 </a:t>
                      </a:r>
                    </a:p>
                  </a:txBody>
                  <a:tcPr marL="4990" marR="4990" marT="49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 </a:t>
                      </a:r>
                    </a:p>
                  </a:txBody>
                  <a:tcPr marL="4990" marR="4990" marT="49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 </a:t>
                      </a:r>
                    </a:p>
                  </a:txBody>
                  <a:tcPr marL="4990" marR="4990" marT="49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 </a:t>
                      </a:r>
                    </a:p>
                  </a:txBody>
                  <a:tcPr marL="4990" marR="4990" marT="49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 </a:t>
                      </a:r>
                    </a:p>
                  </a:txBody>
                  <a:tcPr marL="4990" marR="4990" marT="49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 </a:t>
                      </a:r>
                    </a:p>
                  </a:txBody>
                  <a:tcPr marL="4990" marR="4990" marT="49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6645747"/>
                  </a:ext>
                </a:extLst>
              </a:tr>
              <a:tr h="261446">
                <a:tc rowSpan="6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상용</a:t>
                      </a:r>
                    </a:p>
                  </a:txBody>
                  <a:tcPr marL="4990" marR="4990" marT="49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자원배정차트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(RC)</a:t>
                      </a:r>
                    </a:p>
                  </a:txBody>
                  <a:tcPr marL="4990" marR="4990" marT="49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4990" marR="4990" marT="49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 </a:t>
                      </a:r>
                    </a:p>
                  </a:txBody>
                  <a:tcPr marL="4990" marR="4990" marT="49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 </a:t>
                      </a:r>
                    </a:p>
                  </a:txBody>
                  <a:tcPr marL="4990" marR="4990" marT="49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 </a:t>
                      </a:r>
                    </a:p>
                  </a:txBody>
                  <a:tcPr marL="4990" marR="4990" marT="49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 </a:t>
                      </a:r>
                    </a:p>
                  </a:txBody>
                  <a:tcPr marL="4990" marR="4990" marT="49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 </a:t>
                      </a:r>
                    </a:p>
                  </a:txBody>
                  <a:tcPr marL="4990" marR="4990" marT="49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 </a:t>
                      </a:r>
                    </a:p>
                  </a:txBody>
                  <a:tcPr marL="4990" marR="4990" marT="49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 </a:t>
                      </a:r>
                    </a:p>
                  </a:txBody>
                  <a:tcPr marL="4990" marR="4990" marT="49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6053838"/>
                  </a:ext>
                </a:extLst>
              </a:tr>
              <a:tr h="26144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SLOT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관리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SLOT)</a:t>
                      </a:r>
                    </a:p>
                  </a:txBody>
                  <a:tcPr marL="4990" marR="4990" marT="49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</a:p>
                  </a:txBody>
                  <a:tcPr marL="4990" marR="4990" marT="49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 </a:t>
                      </a:r>
                    </a:p>
                  </a:txBody>
                  <a:tcPr marL="4990" marR="4990" marT="49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 </a:t>
                      </a:r>
                    </a:p>
                  </a:txBody>
                  <a:tcPr marL="4990" marR="4990" marT="49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 </a:t>
                      </a:r>
                    </a:p>
                  </a:txBody>
                  <a:tcPr marL="4990" marR="4990" marT="49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 </a:t>
                      </a:r>
                    </a:p>
                  </a:txBody>
                  <a:tcPr marL="4990" marR="4990" marT="49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 </a:t>
                      </a:r>
                    </a:p>
                  </a:txBody>
                  <a:tcPr marL="4990" marR="4990" marT="49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 </a:t>
                      </a:r>
                    </a:p>
                  </a:txBody>
                  <a:tcPr marL="4990" marR="4990" marT="49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 </a:t>
                      </a:r>
                    </a:p>
                  </a:txBody>
                  <a:tcPr marL="4990" marR="4990" marT="49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8519576"/>
                  </a:ext>
                </a:extLst>
              </a:tr>
              <a:tr h="26144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모바일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MES)</a:t>
                      </a:r>
                    </a:p>
                  </a:txBody>
                  <a:tcPr marL="4990" marR="4990" marT="49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21</a:t>
                      </a:r>
                    </a:p>
                  </a:txBody>
                  <a:tcPr marL="4990" marR="4990" marT="49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 </a:t>
                      </a:r>
                    </a:p>
                  </a:txBody>
                  <a:tcPr marL="4990" marR="4990" marT="49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 </a:t>
                      </a:r>
                    </a:p>
                  </a:txBody>
                  <a:tcPr marL="4990" marR="4990" marT="49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 </a:t>
                      </a:r>
                    </a:p>
                  </a:txBody>
                  <a:tcPr marL="4990" marR="4990" marT="49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 </a:t>
                      </a:r>
                    </a:p>
                  </a:txBody>
                  <a:tcPr marL="4990" marR="4990" marT="49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 </a:t>
                      </a:r>
                    </a:p>
                  </a:txBody>
                  <a:tcPr marL="4990" marR="4990" marT="49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 </a:t>
                      </a:r>
                    </a:p>
                  </a:txBody>
                  <a:tcPr marL="4990" marR="4990" marT="49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 </a:t>
                      </a:r>
                    </a:p>
                  </a:txBody>
                  <a:tcPr marL="4990" marR="4990" marT="49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4227785"/>
                  </a:ext>
                </a:extLst>
              </a:tr>
              <a:tr h="26144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모바일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WES)</a:t>
                      </a:r>
                    </a:p>
                  </a:txBody>
                  <a:tcPr marL="4990" marR="4990" marT="49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44</a:t>
                      </a:r>
                    </a:p>
                  </a:txBody>
                  <a:tcPr marL="4990" marR="4990" marT="49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 </a:t>
                      </a:r>
                    </a:p>
                  </a:txBody>
                  <a:tcPr marL="4990" marR="4990" marT="49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 </a:t>
                      </a:r>
                    </a:p>
                  </a:txBody>
                  <a:tcPr marL="4990" marR="4990" marT="49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 </a:t>
                      </a:r>
                    </a:p>
                  </a:txBody>
                  <a:tcPr marL="4990" marR="4990" marT="49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 </a:t>
                      </a:r>
                    </a:p>
                  </a:txBody>
                  <a:tcPr marL="4990" marR="4990" marT="49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 </a:t>
                      </a:r>
                    </a:p>
                  </a:txBody>
                  <a:tcPr marL="4990" marR="4990" marT="49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 </a:t>
                      </a:r>
                    </a:p>
                  </a:txBody>
                  <a:tcPr marL="4990" marR="4990" marT="49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 </a:t>
                      </a:r>
                    </a:p>
                  </a:txBody>
                  <a:tcPr marL="4990" marR="4990" marT="49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4638127"/>
                  </a:ext>
                </a:extLst>
              </a:tr>
              <a:tr h="26144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자원배정엔진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(RE)</a:t>
                      </a:r>
                    </a:p>
                  </a:txBody>
                  <a:tcPr marL="4990" marR="4990" marT="49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4990" marR="4990" marT="49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 </a:t>
                      </a:r>
                    </a:p>
                  </a:txBody>
                  <a:tcPr marL="4990" marR="4990" marT="49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 </a:t>
                      </a:r>
                    </a:p>
                  </a:txBody>
                  <a:tcPr marL="4990" marR="4990" marT="49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 </a:t>
                      </a:r>
                    </a:p>
                  </a:txBody>
                  <a:tcPr marL="4990" marR="4990" marT="49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 </a:t>
                      </a:r>
                    </a:p>
                  </a:txBody>
                  <a:tcPr marL="4990" marR="4990" marT="49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 </a:t>
                      </a:r>
                    </a:p>
                  </a:txBody>
                  <a:tcPr marL="4990" marR="4990" marT="49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 </a:t>
                      </a:r>
                    </a:p>
                  </a:txBody>
                  <a:tcPr marL="4990" marR="4990" marT="49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 </a:t>
                      </a:r>
                    </a:p>
                  </a:txBody>
                  <a:tcPr marL="4990" marR="4990" marT="49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8656979"/>
                  </a:ext>
                </a:extLst>
              </a:tr>
              <a:tr h="26144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푸시</a:t>
                      </a: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SW(PUSH)</a:t>
                      </a:r>
                    </a:p>
                  </a:txBody>
                  <a:tcPr marL="4990" marR="4990" marT="49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4990" marR="4990" marT="49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 </a:t>
                      </a:r>
                    </a:p>
                  </a:txBody>
                  <a:tcPr marL="4990" marR="4990" marT="49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 </a:t>
                      </a:r>
                    </a:p>
                  </a:txBody>
                  <a:tcPr marL="4990" marR="4990" marT="49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 </a:t>
                      </a:r>
                    </a:p>
                  </a:txBody>
                  <a:tcPr marL="4990" marR="4990" marT="49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 </a:t>
                      </a:r>
                    </a:p>
                  </a:txBody>
                  <a:tcPr marL="4990" marR="4990" marT="49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 </a:t>
                      </a:r>
                    </a:p>
                  </a:txBody>
                  <a:tcPr marL="4990" marR="4990" marT="49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 </a:t>
                      </a:r>
                    </a:p>
                  </a:txBody>
                  <a:tcPr marL="4990" marR="4990" marT="49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 </a:t>
                      </a:r>
                    </a:p>
                  </a:txBody>
                  <a:tcPr marL="4990" marR="4990" marT="49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0378012"/>
                  </a:ext>
                </a:extLst>
              </a:tr>
              <a:tr h="168488"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계</a:t>
                      </a:r>
                    </a:p>
                  </a:txBody>
                  <a:tcPr marL="4990" marR="4990" marT="49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440</a:t>
                      </a:r>
                    </a:p>
                  </a:txBody>
                  <a:tcPr marL="4990" marR="4990" marT="49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</a:p>
                  </a:txBody>
                  <a:tcPr marL="4990" marR="4990" marT="49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</a:t>
                      </a:r>
                    </a:p>
                  </a:txBody>
                  <a:tcPr marL="4990" marR="4990" marT="49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34</a:t>
                      </a:r>
                    </a:p>
                  </a:txBody>
                  <a:tcPr marL="4990" marR="4990" marT="49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33</a:t>
                      </a:r>
                    </a:p>
                  </a:txBody>
                  <a:tcPr marL="4990" marR="4990" marT="49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</a:p>
                  </a:txBody>
                  <a:tcPr marL="4990" marR="4990" marT="49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4990" marR="4990" marT="49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93</a:t>
                      </a:r>
                    </a:p>
                  </a:txBody>
                  <a:tcPr marL="4990" marR="4990" marT="49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7543518"/>
                  </a:ext>
                </a:extLst>
              </a:tr>
            </a:tbl>
          </a:graphicData>
        </a:graphic>
      </p:graphicFrame>
      <p:sp>
        <p:nvSpPr>
          <p:cNvPr id="6" name="Rectangle 2">
            <a:extLst>
              <a:ext uri="{FF2B5EF4-FFF2-40B4-BE49-F238E27FC236}">
                <a16:creationId xmlns:a16="http://schemas.microsoft.com/office/drawing/2014/main" id="{6D521385-3946-482F-BE99-15F3865566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892" y="91161"/>
            <a:ext cx="5652516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indent="-354013" defTabSz="957743">
              <a:defRPr sz="2200" spc="-11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9pPr>
          </a:lstStyle>
          <a:p>
            <a:pPr latinLnBrk="0">
              <a:defRPr/>
            </a:pPr>
            <a:r>
              <a:rPr kumimoji="0" lang="ko-KR" altLang="en-US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  <a:r>
              <a:rPr kumimoji="0" lang="en-US" altLang="ko-KR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III – 3. </a:t>
            </a:r>
            <a:r>
              <a:rPr lang="ko-KR" altLang="ko-KR" sz="20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결함 원인 분석</a:t>
            </a:r>
            <a:r>
              <a:rPr lang="en-US" altLang="ko-KR" sz="20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– </a:t>
            </a:r>
            <a:r>
              <a:rPr lang="ko-KR" altLang="en-US" sz="20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업무영역별 결함 유형</a:t>
            </a:r>
            <a:endParaRPr kumimoji="0" lang="en-US" altLang="ko-KR" sz="2000" b="1" i="0" u="none" strike="noStrike" kern="1200" cap="none" spc="-11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EDC026D-05B3-41EC-B260-EF0FA821A463}"/>
              </a:ext>
            </a:extLst>
          </p:cNvPr>
          <p:cNvSpPr/>
          <p:nvPr/>
        </p:nvSpPr>
        <p:spPr>
          <a:xfrm>
            <a:off x="6419279" y="1250302"/>
            <a:ext cx="737301" cy="5131853"/>
          </a:xfrm>
          <a:prstGeom prst="rect">
            <a:avLst/>
          </a:prstGeom>
          <a:noFill/>
          <a:ln w="412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0547829-8CDA-4E81-8EEE-2DA36F83FAAA}"/>
              </a:ext>
            </a:extLst>
          </p:cNvPr>
          <p:cNvSpPr/>
          <p:nvPr/>
        </p:nvSpPr>
        <p:spPr>
          <a:xfrm>
            <a:off x="10163965" y="1244082"/>
            <a:ext cx="930133" cy="5131853"/>
          </a:xfrm>
          <a:prstGeom prst="rect">
            <a:avLst/>
          </a:prstGeom>
          <a:noFill/>
          <a:ln w="412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3175896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5DE482-5851-A864-A45F-7CC49DBC2C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object 5">
            <a:extLst>
              <a:ext uri="{FF2B5EF4-FFF2-40B4-BE49-F238E27FC236}">
                <a16:creationId xmlns:a16="http://schemas.microsoft.com/office/drawing/2014/main" id="{7226E383-FD44-4302-A4B5-15C2BBE239C6}"/>
              </a:ext>
            </a:extLst>
          </p:cNvPr>
          <p:cNvGrpSpPr/>
          <p:nvPr/>
        </p:nvGrpSpPr>
        <p:grpSpPr>
          <a:xfrm>
            <a:off x="463965" y="766503"/>
            <a:ext cx="8587568" cy="582027"/>
            <a:chOff x="833764" y="5138588"/>
            <a:chExt cx="2386254" cy="788035"/>
          </a:xfrm>
          <a:solidFill>
            <a:srgbClr val="FDE1DF"/>
          </a:solidFill>
        </p:grpSpPr>
        <p:sp>
          <p:nvSpPr>
            <p:cNvPr id="10" name="object 7">
              <a:extLst>
                <a:ext uri="{FF2B5EF4-FFF2-40B4-BE49-F238E27FC236}">
                  <a16:creationId xmlns:a16="http://schemas.microsoft.com/office/drawing/2014/main" id="{D9A1252A-2616-4C2F-B675-FED43C4C1BE1}"/>
                </a:ext>
              </a:extLst>
            </p:cNvPr>
            <p:cNvSpPr/>
            <p:nvPr/>
          </p:nvSpPr>
          <p:spPr>
            <a:xfrm>
              <a:off x="833764" y="5152438"/>
              <a:ext cx="2386254" cy="766534"/>
            </a:xfrm>
            <a:custGeom>
              <a:avLst/>
              <a:gdLst/>
              <a:ahLst/>
              <a:cxnLst/>
              <a:rect l="l" t="t" r="r" b="b"/>
              <a:pathLst>
                <a:path w="9038590" h="788035">
                  <a:moveTo>
                    <a:pt x="8983920" y="787657"/>
                  </a:moveTo>
                  <a:lnTo>
                    <a:pt x="54648" y="787657"/>
                  </a:lnTo>
                  <a:lnTo>
                    <a:pt x="50845" y="787283"/>
                  </a:lnTo>
                  <a:lnTo>
                    <a:pt x="14415" y="767811"/>
                  </a:lnTo>
                  <a:lnTo>
                    <a:pt x="0" y="733008"/>
                  </a:lnTo>
                  <a:lnTo>
                    <a:pt x="0" y="729168"/>
                  </a:lnTo>
                  <a:lnTo>
                    <a:pt x="0" y="54648"/>
                  </a:lnTo>
                  <a:lnTo>
                    <a:pt x="19846" y="14414"/>
                  </a:lnTo>
                  <a:lnTo>
                    <a:pt x="54648" y="0"/>
                  </a:lnTo>
                  <a:lnTo>
                    <a:pt x="8983920" y="0"/>
                  </a:lnTo>
                  <a:lnTo>
                    <a:pt x="9024153" y="19846"/>
                  </a:lnTo>
                  <a:lnTo>
                    <a:pt x="9038569" y="54648"/>
                  </a:lnTo>
                  <a:lnTo>
                    <a:pt x="9038569" y="733008"/>
                  </a:lnTo>
                  <a:lnTo>
                    <a:pt x="9018722" y="773242"/>
                  </a:lnTo>
                  <a:lnTo>
                    <a:pt x="8987723" y="787283"/>
                  </a:lnTo>
                  <a:lnTo>
                    <a:pt x="8983920" y="787657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11" name="object 8">
              <a:extLst>
                <a:ext uri="{FF2B5EF4-FFF2-40B4-BE49-F238E27FC236}">
                  <a16:creationId xmlns:a16="http://schemas.microsoft.com/office/drawing/2014/main" id="{CD8EC6A9-F836-4E3E-A396-0CB84DF764B9}"/>
                </a:ext>
              </a:extLst>
            </p:cNvPr>
            <p:cNvSpPr/>
            <p:nvPr/>
          </p:nvSpPr>
          <p:spPr>
            <a:xfrm>
              <a:off x="833764" y="5138588"/>
              <a:ext cx="2386254" cy="788035"/>
            </a:xfrm>
            <a:custGeom>
              <a:avLst/>
              <a:gdLst/>
              <a:ahLst/>
              <a:cxnLst/>
              <a:rect l="l" t="t" r="r" b="b"/>
              <a:pathLst>
                <a:path w="9038590" h="788035">
                  <a:moveTo>
                    <a:pt x="0" y="729168"/>
                  </a:moveTo>
                  <a:lnTo>
                    <a:pt x="0" y="58489"/>
                  </a:lnTo>
                  <a:lnTo>
                    <a:pt x="0" y="54648"/>
                  </a:lnTo>
                  <a:lnTo>
                    <a:pt x="374" y="50845"/>
                  </a:lnTo>
                  <a:lnTo>
                    <a:pt x="17131" y="17130"/>
                  </a:lnTo>
                  <a:lnTo>
                    <a:pt x="19846" y="14414"/>
                  </a:lnTo>
                  <a:lnTo>
                    <a:pt x="22801" y="11990"/>
                  </a:lnTo>
                  <a:lnTo>
                    <a:pt x="25994" y="9856"/>
                  </a:lnTo>
                  <a:lnTo>
                    <a:pt x="29187" y="7722"/>
                  </a:lnTo>
                  <a:lnTo>
                    <a:pt x="47078" y="1123"/>
                  </a:lnTo>
                  <a:lnTo>
                    <a:pt x="50845" y="374"/>
                  </a:lnTo>
                  <a:lnTo>
                    <a:pt x="54648" y="0"/>
                  </a:lnTo>
                  <a:lnTo>
                    <a:pt x="58489" y="0"/>
                  </a:lnTo>
                  <a:lnTo>
                    <a:pt x="8980080" y="0"/>
                  </a:lnTo>
                  <a:lnTo>
                    <a:pt x="8983920" y="0"/>
                  </a:lnTo>
                  <a:lnTo>
                    <a:pt x="8987723" y="374"/>
                  </a:lnTo>
                  <a:lnTo>
                    <a:pt x="8991490" y="1123"/>
                  </a:lnTo>
                  <a:lnTo>
                    <a:pt x="8995257" y="1872"/>
                  </a:lnTo>
                  <a:lnTo>
                    <a:pt x="9012574" y="9857"/>
                  </a:lnTo>
                  <a:lnTo>
                    <a:pt x="9015768" y="11990"/>
                  </a:lnTo>
                  <a:lnTo>
                    <a:pt x="9028710" y="25993"/>
                  </a:lnTo>
                  <a:lnTo>
                    <a:pt x="9030844" y="29187"/>
                  </a:lnTo>
                  <a:lnTo>
                    <a:pt x="9038569" y="58489"/>
                  </a:lnTo>
                  <a:lnTo>
                    <a:pt x="9038569" y="729168"/>
                  </a:lnTo>
                  <a:lnTo>
                    <a:pt x="9038569" y="733008"/>
                  </a:lnTo>
                  <a:lnTo>
                    <a:pt x="9038193" y="736812"/>
                  </a:lnTo>
                  <a:lnTo>
                    <a:pt x="9037444" y="740578"/>
                  </a:lnTo>
                  <a:lnTo>
                    <a:pt x="9036695" y="744345"/>
                  </a:lnTo>
                  <a:lnTo>
                    <a:pt x="9028710" y="761662"/>
                  </a:lnTo>
                  <a:lnTo>
                    <a:pt x="9026576" y="764856"/>
                  </a:lnTo>
                  <a:lnTo>
                    <a:pt x="9012574" y="777800"/>
                  </a:lnTo>
                  <a:lnTo>
                    <a:pt x="9009381" y="779934"/>
                  </a:lnTo>
                  <a:lnTo>
                    <a:pt x="8991490" y="786533"/>
                  </a:lnTo>
                  <a:lnTo>
                    <a:pt x="8987723" y="787283"/>
                  </a:lnTo>
                  <a:lnTo>
                    <a:pt x="8983920" y="787657"/>
                  </a:lnTo>
                  <a:lnTo>
                    <a:pt x="8980080" y="787657"/>
                  </a:lnTo>
                  <a:lnTo>
                    <a:pt x="58489" y="787657"/>
                  </a:lnTo>
                  <a:lnTo>
                    <a:pt x="54648" y="787657"/>
                  </a:lnTo>
                  <a:lnTo>
                    <a:pt x="50845" y="787283"/>
                  </a:lnTo>
                  <a:lnTo>
                    <a:pt x="17131" y="770526"/>
                  </a:lnTo>
                  <a:lnTo>
                    <a:pt x="14415" y="767811"/>
                  </a:lnTo>
                  <a:lnTo>
                    <a:pt x="1123" y="740578"/>
                  </a:lnTo>
                  <a:lnTo>
                    <a:pt x="374" y="736812"/>
                  </a:lnTo>
                  <a:lnTo>
                    <a:pt x="0" y="733008"/>
                  </a:lnTo>
                  <a:lnTo>
                    <a:pt x="0" y="729168"/>
                  </a:lnTo>
                  <a:close/>
                </a:path>
              </a:pathLst>
            </a:custGeom>
            <a:grpFill/>
            <a:ln w="7798">
              <a:solidFill>
                <a:srgbClr val="DAE9FE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711F3544-C21E-4169-82F9-E22EAAC049F2}"/>
              </a:ext>
            </a:extLst>
          </p:cNvPr>
          <p:cNvSpPr txBox="1"/>
          <p:nvPr/>
        </p:nvSpPr>
        <p:spPr>
          <a:xfrm>
            <a:off x="583466" y="790674"/>
            <a:ext cx="92477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lang="en-US" altLang="ko-KR" sz="1400" b="1" spc="-25" dirty="0">
                <a:solidFill>
                  <a:srgbClr val="FF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맑은 고딕"/>
              </a:rPr>
              <a:t>Critical</a:t>
            </a:r>
            <a:endParaRPr lang="ko-KR" altLang="en-US" sz="1400" dirty="0">
              <a:solidFill>
                <a:srgbClr val="FF0000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  <a:cs typeface="Noto Sans KR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486B358-03B0-45E5-A019-D42057979D30}"/>
              </a:ext>
            </a:extLst>
          </p:cNvPr>
          <p:cNvSpPr txBox="1"/>
          <p:nvPr/>
        </p:nvSpPr>
        <p:spPr>
          <a:xfrm>
            <a:off x="1045855" y="1094614"/>
            <a:ext cx="4338712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DEF-03527 : </a:t>
            </a:r>
            <a:r>
              <a:rPr lang="en-US" altLang="ko-KR" sz="105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STY</a:t>
            </a:r>
            <a:r>
              <a:rPr lang="ko-KR" altLang="en-US" sz="105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가 </a:t>
            </a:r>
            <a:r>
              <a:rPr lang="en-US" altLang="ko-KR" sz="105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NEW</a:t>
            </a:r>
            <a:r>
              <a:rPr lang="ko-KR" altLang="en-US" sz="105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이지만</a:t>
            </a:r>
            <a:r>
              <a:rPr lang="en-US" altLang="ko-KR" sz="105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, 5) via </a:t>
            </a:r>
            <a:r>
              <a:rPr lang="ko-KR" altLang="en-US" sz="105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입력 불가능</a:t>
            </a:r>
            <a:endParaRPr lang="ko-KR" altLang="en-US" sz="1050" b="1" dirty="0"/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813B6076-364F-4960-926D-767DF9996C6B}"/>
              </a:ext>
            </a:extLst>
          </p:cNvPr>
          <p:cNvGrpSpPr/>
          <p:nvPr/>
        </p:nvGrpSpPr>
        <p:grpSpPr>
          <a:xfrm>
            <a:off x="766762" y="1642872"/>
            <a:ext cx="10621963" cy="4810316"/>
            <a:chOff x="766762" y="1642872"/>
            <a:chExt cx="10621963" cy="4810316"/>
          </a:xfrm>
        </p:grpSpPr>
        <p:pic>
          <p:nvPicPr>
            <p:cNvPr id="20" name="그림 19">
              <a:extLst>
                <a:ext uri="{FF2B5EF4-FFF2-40B4-BE49-F238E27FC236}">
                  <a16:creationId xmlns:a16="http://schemas.microsoft.com/office/drawing/2014/main" id="{E21F2684-F367-42B6-B604-12086177689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6762" y="1642872"/>
              <a:ext cx="8426175" cy="3823058"/>
            </a:xfrm>
            <a:prstGeom prst="rect">
              <a:avLst/>
            </a:prstGeom>
          </p:spPr>
        </p:pic>
        <p:pic>
          <p:nvPicPr>
            <p:cNvPr id="22" name="그림 21">
              <a:extLst>
                <a:ext uri="{FF2B5EF4-FFF2-40B4-BE49-F238E27FC236}">
                  <a16:creationId xmlns:a16="http://schemas.microsoft.com/office/drawing/2014/main" id="{CBAC7F38-60B8-4BA0-B7B4-B942DACC697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14976" y="2442603"/>
              <a:ext cx="8773749" cy="4010585"/>
            </a:xfrm>
            <a:prstGeom prst="rect">
              <a:avLst/>
            </a:prstGeom>
          </p:spPr>
        </p:pic>
      </p:grp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E22BB8BD-8E71-4CCB-8930-A604D69B901F}"/>
              </a:ext>
            </a:extLst>
          </p:cNvPr>
          <p:cNvSpPr/>
          <p:nvPr/>
        </p:nvSpPr>
        <p:spPr>
          <a:xfrm>
            <a:off x="2723463" y="5444426"/>
            <a:ext cx="983496" cy="626646"/>
          </a:xfrm>
          <a:prstGeom prst="rect">
            <a:avLst/>
          </a:prstGeom>
          <a:noFill/>
          <a:ln w="412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Rectangle 2">
            <a:extLst>
              <a:ext uri="{FF2B5EF4-FFF2-40B4-BE49-F238E27FC236}">
                <a16:creationId xmlns:a16="http://schemas.microsoft.com/office/drawing/2014/main" id="{27A2E670-439A-4C60-A00D-6D5E994B8A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892" y="91161"/>
            <a:ext cx="5652516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indent="-354013" defTabSz="957743">
              <a:defRPr sz="2200" spc="-11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9pPr>
          </a:lstStyle>
          <a:p>
            <a:pPr latinLnBrk="0">
              <a:defRPr/>
            </a:pPr>
            <a:r>
              <a:rPr kumimoji="0" lang="ko-KR" altLang="en-US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  <a:r>
              <a:rPr kumimoji="0" lang="en-US" altLang="ko-KR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III – 4. </a:t>
            </a:r>
            <a:r>
              <a:rPr lang="ko-KR" altLang="ko-KR" sz="20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결함 </a:t>
            </a:r>
            <a:r>
              <a:rPr lang="ko-KR" altLang="en-US" sz="20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사례 </a:t>
            </a:r>
            <a:r>
              <a:rPr lang="en-US" altLang="ko-KR" sz="20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( </a:t>
            </a:r>
            <a:r>
              <a:rPr lang="ko-KR" altLang="en-US" sz="20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심각도 </a:t>
            </a:r>
            <a:r>
              <a:rPr lang="en-US" altLang="ko-KR" sz="20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)    1/8</a:t>
            </a:r>
            <a:endParaRPr kumimoji="0" lang="en-US" altLang="ko-KR" sz="2000" b="1" i="0" u="none" strike="noStrike" kern="1200" cap="none" spc="-11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694202198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5DE482-5851-A864-A45F-7CC49DBC2C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object 5">
            <a:extLst>
              <a:ext uri="{FF2B5EF4-FFF2-40B4-BE49-F238E27FC236}">
                <a16:creationId xmlns:a16="http://schemas.microsoft.com/office/drawing/2014/main" id="{2FF46634-341D-454B-A3FD-FFE8D415789B}"/>
              </a:ext>
            </a:extLst>
          </p:cNvPr>
          <p:cNvGrpSpPr/>
          <p:nvPr/>
        </p:nvGrpSpPr>
        <p:grpSpPr>
          <a:xfrm>
            <a:off x="463965" y="766503"/>
            <a:ext cx="8587568" cy="582027"/>
            <a:chOff x="833764" y="5138588"/>
            <a:chExt cx="2386254" cy="788035"/>
          </a:xfrm>
          <a:solidFill>
            <a:srgbClr val="FDE1DF"/>
          </a:solidFill>
        </p:grpSpPr>
        <p:sp>
          <p:nvSpPr>
            <p:cNvPr id="24" name="object 7">
              <a:extLst>
                <a:ext uri="{FF2B5EF4-FFF2-40B4-BE49-F238E27FC236}">
                  <a16:creationId xmlns:a16="http://schemas.microsoft.com/office/drawing/2014/main" id="{DE6BCFE1-1E72-4D16-A6FE-209C83481B30}"/>
                </a:ext>
              </a:extLst>
            </p:cNvPr>
            <p:cNvSpPr/>
            <p:nvPr/>
          </p:nvSpPr>
          <p:spPr>
            <a:xfrm>
              <a:off x="833764" y="5152438"/>
              <a:ext cx="2386254" cy="766534"/>
            </a:xfrm>
            <a:custGeom>
              <a:avLst/>
              <a:gdLst/>
              <a:ahLst/>
              <a:cxnLst/>
              <a:rect l="l" t="t" r="r" b="b"/>
              <a:pathLst>
                <a:path w="9038590" h="788035">
                  <a:moveTo>
                    <a:pt x="8983920" y="787657"/>
                  </a:moveTo>
                  <a:lnTo>
                    <a:pt x="54648" y="787657"/>
                  </a:lnTo>
                  <a:lnTo>
                    <a:pt x="50845" y="787283"/>
                  </a:lnTo>
                  <a:lnTo>
                    <a:pt x="14415" y="767811"/>
                  </a:lnTo>
                  <a:lnTo>
                    <a:pt x="0" y="733008"/>
                  </a:lnTo>
                  <a:lnTo>
                    <a:pt x="0" y="729168"/>
                  </a:lnTo>
                  <a:lnTo>
                    <a:pt x="0" y="54648"/>
                  </a:lnTo>
                  <a:lnTo>
                    <a:pt x="19846" y="14414"/>
                  </a:lnTo>
                  <a:lnTo>
                    <a:pt x="54648" y="0"/>
                  </a:lnTo>
                  <a:lnTo>
                    <a:pt x="8983920" y="0"/>
                  </a:lnTo>
                  <a:lnTo>
                    <a:pt x="9024153" y="19846"/>
                  </a:lnTo>
                  <a:lnTo>
                    <a:pt x="9038569" y="54648"/>
                  </a:lnTo>
                  <a:lnTo>
                    <a:pt x="9038569" y="733008"/>
                  </a:lnTo>
                  <a:lnTo>
                    <a:pt x="9018722" y="773242"/>
                  </a:lnTo>
                  <a:lnTo>
                    <a:pt x="8987723" y="787283"/>
                  </a:lnTo>
                  <a:lnTo>
                    <a:pt x="8983920" y="787657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25" name="object 8">
              <a:extLst>
                <a:ext uri="{FF2B5EF4-FFF2-40B4-BE49-F238E27FC236}">
                  <a16:creationId xmlns:a16="http://schemas.microsoft.com/office/drawing/2014/main" id="{09720FC5-DD06-46D6-BA74-171AD1365BF1}"/>
                </a:ext>
              </a:extLst>
            </p:cNvPr>
            <p:cNvSpPr/>
            <p:nvPr/>
          </p:nvSpPr>
          <p:spPr>
            <a:xfrm>
              <a:off x="833764" y="5138588"/>
              <a:ext cx="2386254" cy="788035"/>
            </a:xfrm>
            <a:custGeom>
              <a:avLst/>
              <a:gdLst/>
              <a:ahLst/>
              <a:cxnLst/>
              <a:rect l="l" t="t" r="r" b="b"/>
              <a:pathLst>
                <a:path w="9038590" h="788035">
                  <a:moveTo>
                    <a:pt x="0" y="729168"/>
                  </a:moveTo>
                  <a:lnTo>
                    <a:pt x="0" y="58489"/>
                  </a:lnTo>
                  <a:lnTo>
                    <a:pt x="0" y="54648"/>
                  </a:lnTo>
                  <a:lnTo>
                    <a:pt x="374" y="50845"/>
                  </a:lnTo>
                  <a:lnTo>
                    <a:pt x="17131" y="17130"/>
                  </a:lnTo>
                  <a:lnTo>
                    <a:pt x="19846" y="14414"/>
                  </a:lnTo>
                  <a:lnTo>
                    <a:pt x="22801" y="11990"/>
                  </a:lnTo>
                  <a:lnTo>
                    <a:pt x="25994" y="9856"/>
                  </a:lnTo>
                  <a:lnTo>
                    <a:pt x="29187" y="7722"/>
                  </a:lnTo>
                  <a:lnTo>
                    <a:pt x="47078" y="1123"/>
                  </a:lnTo>
                  <a:lnTo>
                    <a:pt x="50845" y="374"/>
                  </a:lnTo>
                  <a:lnTo>
                    <a:pt x="54648" y="0"/>
                  </a:lnTo>
                  <a:lnTo>
                    <a:pt x="58489" y="0"/>
                  </a:lnTo>
                  <a:lnTo>
                    <a:pt x="8980080" y="0"/>
                  </a:lnTo>
                  <a:lnTo>
                    <a:pt x="8983920" y="0"/>
                  </a:lnTo>
                  <a:lnTo>
                    <a:pt x="8987723" y="374"/>
                  </a:lnTo>
                  <a:lnTo>
                    <a:pt x="8991490" y="1123"/>
                  </a:lnTo>
                  <a:lnTo>
                    <a:pt x="8995257" y="1872"/>
                  </a:lnTo>
                  <a:lnTo>
                    <a:pt x="9012574" y="9857"/>
                  </a:lnTo>
                  <a:lnTo>
                    <a:pt x="9015768" y="11990"/>
                  </a:lnTo>
                  <a:lnTo>
                    <a:pt x="9028710" y="25993"/>
                  </a:lnTo>
                  <a:lnTo>
                    <a:pt x="9030844" y="29187"/>
                  </a:lnTo>
                  <a:lnTo>
                    <a:pt x="9038569" y="58489"/>
                  </a:lnTo>
                  <a:lnTo>
                    <a:pt x="9038569" y="729168"/>
                  </a:lnTo>
                  <a:lnTo>
                    <a:pt x="9038569" y="733008"/>
                  </a:lnTo>
                  <a:lnTo>
                    <a:pt x="9038193" y="736812"/>
                  </a:lnTo>
                  <a:lnTo>
                    <a:pt x="9037444" y="740578"/>
                  </a:lnTo>
                  <a:lnTo>
                    <a:pt x="9036695" y="744345"/>
                  </a:lnTo>
                  <a:lnTo>
                    <a:pt x="9028710" y="761662"/>
                  </a:lnTo>
                  <a:lnTo>
                    <a:pt x="9026576" y="764856"/>
                  </a:lnTo>
                  <a:lnTo>
                    <a:pt x="9012574" y="777800"/>
                  </a:lnTo>
                  <a:lnTo>
                    <a:pt x="9009381" y="779934"/>
                  </a:lnTo>
                  <a:lnTo>
                    <a:pt x="8991490" y="786533"/>
                  </a:lnTo>
                  <a:lnTo>
                    <a:pt x="8987723" y="787283"/>
                  </a:lnTo>
                  <a:lnTo>
                    <a:pt x="8983920" y="787657"/>
                  </a:lnTo>
                  <a:lnTo>
                    <a:pt x="8980080" y="787657"/>
                  </a:lnTo>
                  <a:lnTo>
                    <a:pt x="58489" y="787657"/>
                  </a:lnTo>
                  <a:lnTo>
                    <a:pt x="54648" y="787657"/>
                  </a:lnTo>
                  <a:lnTo>
                    <a:pt x="50845" y="787283"/>
                  </a:lnTo>
                  <a:lnTo>
                    <a:pt x="17131" y="770526"/>
                  </a:lnTo>
                  <a:lnTo>
                    <a:pt x="14415" y="767811"/>
                  </a:lnTo>
                  <a:lnTo>
                    <a:pt x="1123" y="740578"/>
                  </a:lnTo>
                  <a:lnTo>
                    <a:pt x="374" y="736812"/>
                  </a:lnTo>
                  <a:lnTo>
                    <a:pt x="0" y="733008"/>
                  </a:lnTo>
                  <a:lnTo>
                    <a:pt x="0" y="729168"/>
                  </a:lnTo>
                  <a:close/>
                </a:path>
              </a:pathLst>
            </a:custGeom>
            <a:grpFill/>
            <a:ln w="7798">
              <a:solidFill>
                <a:srgbClr val="DAE9FE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DEB5859F-2F9F-459D-944E-74E486983527}"/>
              </a:ext>
            </a:extLst>
          </p:cNvPr>
          <p:cNvSpPr txBox="1"/>
          <p:nvPr/>
        </p:nvSpPr>
        <p:spPr>
          <a:xfrm>
            <a:off x="583466" y="790674"/>
            <a:ext cx="92477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lang="en-US" altLang="ko-KR" sz="1400" b="1" spc="-25" dirty="0">
                <a:solidFill>
                  <a:srgbClr val="FF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맑은 고딕"/>
              </a:rPr>
              <a:t>Critical</a:t>
            </a:r>
            <a:endParaRPr lang="ko-KR" altLang="en-US" sz="1400" dirty="0">
              <a:solidFill>
                <a:srgbClr val="FF0000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  <a:cs typeface="Noto Sans KR"/>
            </a:endParaRP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190EF771-CA76-4066-AC0B-B6A3E5CCD0C4}"/>
              </a:ext>
            </a:extLst>
          </p:cNvPr>
          <p:cNvGrpSpPr/>
          <p:nvPr/>
        </p:nvGrpSpPr>
        <p:grpSpPr>
          <a:xfrm>
            <a:off x="783001" y="1642872"/>
            <a:ext cx="10605450" cy="4810318"/>
            <a:chOff x="783001" y="1642872"/>
            <a:chExt cx="10605450" cy="4810318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0EFC5CB4-E8B0-4E11-B431-2BC957E0CED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83001" y="1642872"/>
              <a:ext cx="9328297" cy="4055025"/>
            </a:xfrm>
            <a:prstGeom prst="rect">
              <a:avLst/>
            </a:prstGeom>
          </p:spPr>
        </p:pic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AEF2E234-70C0-4813-8E95-75B0F4A72EA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90859" y="2575974"/>
              <a:ext cx="8897592" cy="3877216"/>
            </a:xfrm>
            <a:prstGeom prst="rect">
              <a:avLst/>
            </a:prstGeom>
          </p:spPr>
        </p:pic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2486B358-03B0-45E5-A019-D42057979D30}"/>
              </a:ext>
            </a:extLst>
          </p:cNvPr>
          <p:cNvSpPr txBox="1"/>
          <p:nvPr/>
        </p:nvSpPr>
        <p:spPr>
          <a:xfrm>
            <a:off x="1045855" y="1094614"/>
            <a:ext cx="4338712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latinLnBrk="1"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altLang="ko-KR" sz="105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DEF-03605</a:t>
            </a:r>
            <a:r>
              <a:rPr lang="en-US" altLang="ko-KR" sz="105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: </a:t>
            </a:r>
            <a:r>
              <a:rPr lang="ko-KR" altLang="en-US" sz="105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날짜 포맷에 맞지 않는 형식이 저장됨</a:t>
            </a:r>
            <a:endParaRPr lang="en-US" altLang="ko-KR" sz="1050" kern="100" dirty="0"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E86CBDB8-AAF5-4C1A-B37D-1C9BF9AAE892}"/>
              </a:ext>
            </a:extLst>
          </p:cNvPr>
          <p:cNvSpPr/>
          <p:nvPr/>
        </p:nvSpPr>
        <p:spPr>
          <a:xfrm>
            <a:off x="7266223" y="4751488"/>
            <a:ext cx="920847" cy="370472"/>
          </a:xfrm>
          <a:prstGeom prst="rect">
            <a:avLst/>
          </a:prstGeom>
          <a:noFill/>
          <a:ln w="412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Rectangle 2">
            <a:extLst>
              <a:ext uri="{FF2B5EF4-FFF2-40B4-BE49-F238E27FC236}">
                <a16:creationId xmlns:a16="http://schemas.microsoft.com/office/drawing/2014/main" id="{C530066C-09AE-4E71-B64F-48F31AC7A5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892" y="91161"/>
            <a:ext cx="5652516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indent="-354013" defTabSz="957743">
              <a:defRPr sz="2200" spc="-11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9pPr>
          </a:lstStyle>
          <a:p>
            <a:pPr latinLnBrk="0">
              <a:defRPr/>
            </a:pPr>
            <a:r>
              <a:rPr kumimoji="0" lang="ko-KR" altLang="en-US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  <a:r>
              <a:rPr kumimoji="0" lang="en-US" altLang="ko-KR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III – 4. </a:t>
            </a:r>
            <a:r>
              <a:rPr lang="ko-KR" altLang="ko-KR" sz="20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결함 </a:t>
            </a:r>
            <a:r>
              <a:rPr lang="ko-KR" altLang="en-US" sz="20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사례 </a:t>
            </a:r>
            <a:r>
              <a:rPr lang="en-US" altLang="ko-KR" sz="20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( </a:t>
            </a:r>
            <a:r>
              <a:rPr lang="ko-KR" altLang="en-US" sz="20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심각도 </a:t>
            </a:r>
            <a:r>
              <a:rPr lang="en-US" altLang="ko-KR" sz="20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)    2/8</a:t>
            </a:r>
            <a:endParaRPr kumimoji="0" lang="en-US" altLang="ko-KR" sz="2000" b="1" i="0" u="none" strike="noStrike" kern="1200" cap="none" spc="-11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794639003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5DE482-5851-A864-A45F-7CC49DBC2C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직사각형 30">
            <a:extLst>
              <a:ext uri="{FF2B5EF4-FFF2-40B4-BE49-F238E27FC236}">
                <a16:creationId xmlns:a16="http://schemas.microsoft.com/office/drawing/2014/main" id="{0CF0CCE1-6F90-443D-B6C5-C1ED5A0AC485}"/>
              </a:ext>
            </a:extLst>
          </p:cNvPr>
          <p:cNvSpPr/>
          <p:nvPr/>
        </p:nvSpPr>
        <p:spPr>
          <a:xfrm>
            <a:off x="787321" y="1179278"/>
            <a:ext cx="10940714" cy="5273910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9" name="object 5">
            <a:extLst>
              <a:ext uri="{FF2B5EF4-FFF2-40B4-BE49-F238E27FC236}">
                <a16:creationId xmlns:a16="http://schemas.microsoft.com/office/drawing/2014/main" id="{7226E383-FD44-4302-A4B5-15C2BBE239C6}"/>
              </a:ext>
            </a:extLst>
          </p:cNvPr>
          <p:cNvGrpSpPr/>
          <p:nvPr/>
        </p:nvGrpSpPr>
        <p:grpSpPr>
          <a:xfrm>
            <a:off x="463965" y="766503"/>
            <a:ext cx="8587568" cy="704399"/>
            <a:chOff x="833764" y="5138588"/>
            <a:chExt cx="2386254" cy="788035"/>
          </a:xfrm>
        </p:grpSpPr>
        <p:sp>
          <p:nvSpPr>
            <p:cNvPr id="10" name="object 7">
              <a:extLst>
                <a:ext uri="{FF2B5EF4-FFF2-40B4-BE49-F238E27FC236}">
                  <a16:creationId xmlns:a16="http://schemas.microsoft.com/office/drawing/2014/main" id="{D9A1252A-2616-4C2F-B675-FED43C4C1BE1}"/>
                </a:ext>
              </a:extLst>
            </p:cNvPr>
            <p:cNvSpPr/>
            <p:nvPr/>
          </p:nvSpPr>
          <p:spPr>
            <a:xfrm>
              <a:off x="833764" y="5152438"/>
              <a:ext cx="2386254" cy="766534"/>
            </a:xfrm>
            <a:custGeom>
              <a:avLst/>
              <a:gdLst/>
              <a:ahLst/>
              <a:cxnLst/>
              <a:rect l="l" t="t" r="r" b="b"/>
              <a:pathLst>
                <a:path w="9038590" h="788035">
                  <a:moveTo>
                    <a:pt x="8983920" y="787657"/>
                  </a:moveTo>
                  <a:lnTo>
                    <a:pt x="54648" y="787657"/>
                  </a:lnTo>
                  <a:lnTo>
                    <a:pt x="50845" y="787283"/>
                  </a:lnTo>
                  <a:lnTo>
                    <a:pt x="14415" y="767811"/>
                  </a:lnTo>
                  <a:lnTo>
                    <a:pt x="0" y="733008"/>
                  </a:lnTo>
                  <a:lnTo>
                    <a:pt x="0" y="729168"/>
                  </a:lnTo>
                  <a:lnTo>
                    <a:pt x="0" y="54648"/>
                  </a:lnTo>
                  <a:lnTo>
                    <a:pt x="19846" y="14414"/>
                  </a:lnTo>
                  <a:lnTo>
                    <a:pt x="54648" y="0"/>
                  </a:lnTo>
                  <a:lnTo>
                    <a:pt x="8983920" y="0"/>
                  </a:lnTo>
                  <a:lnTo>
                    <a:pt x="9024153" y="19846"/>
                  </a:lnTo>
                  <a:lnTo>
                    <a:pt x="9038569" y="54648"/>
                  </a:lnTo>
                  <a:lnTo>
                    <a:pt x="9038569" y="733008"/>
                  </a:lnTo>
                  <a:lnTo>
                    <a:pt x="9018722" y="773242"/>
                  </a:lnTo>
                  <a:lnTo>
                    <a:pt x="8987723" y="787283"/>
                  </a:lnTo>
                  <a:lnTo>
                    <a:pt x="8983920" y="787657"/>
                  </a:lnTo>
                  <a:close/>
                </a:path>
              </a:pathLst>
            </a:custGeom>
            <a:solidFill>
              <a:srgbClr val="EFF5FF"/>
            </a:solidFill>
          </p:spPr>
          <p:txBody>
            <a:bodyPr wrap="square" lIns="0" tIns="0" rIns="0" bIns="0" rtlCol="0"/>
            <a:lstStyle/>
            <a:p>
              <a:endParaRPr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11" name="object 8">
              <a:extLst>
                <a:ext uri="{FF2B5EF4-FFF2-40B4-BE49-F238E27FC236}">
                  <a16:creationId xmlns:a16="http://schemas.microsoft.com/office/drawing/2014/main" id="{CD8EC6A9-F836-4E3E-A396-0CB84DF764B9}"/>
                </a:ext>
              </a:extLst>
            </p:cNvPr>
            <p:cNvSpPr/>
            <p:nvPr/>
          </p:nvSpPr>
          <p:spPr>
            <a:xfrm>
              <a:off x="833764" y="5138588"/>
              <a:ext cx="2386254" cy="788035"/>
            </a:xfrm>
            <a:custGeom>
              <a:avLst/>
              <a:gdLst/>
              <a:ahLst/>
              <a:cxnLst/>
              <a:rect l="l" t="t" r="r" b="b"/>
              <a:pathLst>
                <a:path w="9038590" h="788035">
                  <a:moveTo>
                    <a:pt x="0" y="729168"/>
                  </a:moveTo>
                  <a:lnTo>
                    <a:pt x="0" y="58489"/>
                  </a:lnTo>
                  <a:lnTo>
                    <a:pt x="0" y="54648"/>
                  </a:lnTo>
                  <a:lnTo>
                    <a:pt x="374" y="50845"/>
                  </a:lnTo>
                  <a:lnTo>
                    <a:pt x="17131" y="17130"/>
                  </a:lnTo>
                  <a:lnTo>
                    <a:pt x="19846" y="14414"/>
                  </a:lnTo>
                  <a:lnTo>
                    <a:pt x="22801" y="11990"/>
                  </a:lnTo>
                  <a:lnTo>
                    <a:pt x="25994" y="9856"/>
                  </a:lnTo>
                  <a:lnTo>
                    <a:pt x="29187" y="7722"/>
                  </a:lnTo>
                  <a:lnTo>
                    <a:pt x="47078" y="1123"/>
                  </a:lnTo>
                  <a:lnTo>
                    <a:pt x="50845" y="374"/>
                  </a:lnTo>
                  <a:lnTo>
                    <a:pt x="54648" y="0"/>
                  </a:lnTo>
                  <a:lnTo>
                    <a:pt x="58489" y="0"/>
                  </a:lnTo>
                  <a:lnTo>
                    <a:pt x="8980080" y="0"/>
                  </a:lnTo>
                  <a:lnTo>
                    <a:pt x="8983920" y="0"/>
                  </a:lnTo>
                  <a:lnTo>
                    <a:pt x="8987723" y="374"/>
                  </a:lnTo>
                  <a:lnTo>
                    <a:pt x="8991490" y="1123"/>
                  </a:lnTo>
                  <a:lnTo>
                    <a:pt x="8995257" y="1872"/>
                  </a:lnTo>
                  <a:lnTo>
                    <a:pt x="9012574" y="9857"/>
                  </a:lnTo>
                  <a:lnTo>
                    <a:pt x="9015768" y="11990"/>
                  </a:lnTo>
                  <a:lnTo>
                    <a:pt x="9028710" y="25993"/>
                  </a:lnTo>
                  <a:lnTo>
                    <a:pt x="9030844" y="29187"/>
                  </a:lnTo>
                  <a:lnTo>
                    <a:pt x="9038569" y="58489"/>
                  </a:lnTo>
                  <a:lnTo>
                    <a:pt x="9038569" y="729168"/>
                  </a:lnTo>
                  <a:lnTo>
                    <a:pt x="9038569" y="733008"/>
                  </a:lnTo>
                  <a:lnTo>
                    <a:pt x="9038193" y="736812"/>
                  </a:lnTo>
                  <a:lnTo>
                    <a:pt x="9037444" y="740578"/>
                  </a:lnTo>
                  <a:lnTo>
                    <a:pt x="9036695" y="744345"/>
                  </a:lnTo>
                  <a:lnTo>
                    <a:pt x="9028710" y="761662"/>
                  </a:lnTo>
                  <a:lnTo>
                    <a:pt x="9026576" y="764856"/>
                  </a:lnTo>
                  <a:lnTo>
                    <a:pt x="9012574" y="777800"/>
                  </a:lnTo>
                  <a:lnTo>
                    <a:pt x="9009381" y="779934"/>
                  </a:lnTo>
                  <a:lnTo>
                    <a:pt x="8991490" y="786533"/>
                  </a:lnTo>
                  <a:lnTo>
                    <a:pt x="8987723" y="787283"/>
                  </a:lnTo>
                  <a:lnTo>
                    <a:pt x="8983920" y="787657"/>
                  </a:lnTo>
                  <a:lnTo>
                    <a:pt x="8980080" y="787657"/>
                  </a:lnTo>
                  <a:lnTo>
                    <a:pt x="58489" y="787657"/>
                  </a:lnTo>
                  <a:lnTo>
                    <a:pt x="54648" y="787657"/>
                  </a:lnTo>
                  <a:lnTo>
                    <a:pt x="50845" y="787283"/>
                  </a:lnTo>
                  <a:lnTo>
                    <a:pt x="17131" y="770526"/>
                  </a:lnTo>
                  <a:lnTo>
                    <a:pt x="14415" y="767811"/>
                  </a:lnTo>
                  <a:lnTo>
                    <a:pt x="1123" y="740578"/>
                  </a:lnTo>
                  <a:lnTo>
                    <a:pt x="374" y="736812"/>
                  </a:lnTo>
                  <a:lnTo>
                    <a:pt x="0" y="733008"/>
                  </a:lnTo>
                  <a:lnTo>
                    <a:pt x="0" y="729168"/>
                  </a:lnTo>
                  <a:close/>
                </a:path>
              </a:pathLst>
            </a:custGeom>
            <a:ln w="7798">
              <a:solidFill>
                <a:srgbClr val="DAE9FE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711F3544-C21E-4169-82F9-E22EAAC049F2}"/>
              </a:ext>
            </a:extLst>
          </p:cNvPr>
          <p:cNvSpPr txBox="1"/>
          <p:nvPr/>
        </p:nvSpPr>
        <p:spPr>
          <a:xfrm>
            <a:off x="583466" y="825192"/>
            <a:ext cx="92477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lang="en-US" altLang="ko-KR" sz="1400" b="1" spc="-25" dirty="0">
                <a:solidFill>
                  <a:srgbClr val="1D40A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맑은 고딕"/>
              </a:rPr>
              <a:t>Major</a:t>
            </a:r>
            <a:r>
              <a:rPr lang="ko-KR" altLang="en-US" sz="1400" b="1" spc="-25" dirty="0">
                <a:solidFill>
                  <a:srgbClr val="1D40A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맑은 고딕"/>
              </a:rPr>
              <a:t> </a:t>
            </a:r>
            <a:endParaRPr lang="ko-KR" altLang="en-US" sz="1400" dirty="0">
              <a:latin typeface="KoPub돋움체 Medium" panose="00000600000000000000" pitchFamily="2" charset="-127"/>
              <a:ea typeface="KoPub돋움체 Medium" panose="00000600000000000000" pitchFamily="2" charset="-127"/>
              <a:cs typeface="Noto Sans KR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486B358-03B0-45E5-A019-D42057979D30}"/>
              </a:ext>
            </a:extLst>
          </p:cNvPr>
          <p:cNvSpPr txBox="1"/>
          <p:nvPr/>
        </p:nvSpPr>
        <p:spPr>
          <a:xfrm>
            <a:off x="1045855" y="1094614"/>
            <a:ext cx="873609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latinLnBrk="1"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altLang="ko-KR" sz="105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DEF-03506</a:t>
            </a:r>
            <a:r>
              <a:rPr lang="en-US" altLang="ko-KR" sz="105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 : TYS </a:t>
            </a:r>
            <a:r>
              <a:rPr lang="ko-KR" altLang="en-US" sz="105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값이 </a:t>
            </a:r>
            <a:r>
              <a:rPr lang="en-US" altLang="ko-KR" sz="1050" kern="100" dirty="0" err="1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readonly</a:t>
            </a:r>
            <a:r>
              <a:rPr lang="ko-KR" altLang="en-US" sz="105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가 아니라</a:t>
            </a:r>
            <a:r>
              <a:rPr lang="en-US" altLang="ko-KR" sz="105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, reg</a:t>
            </a:r>
            <a:r>
              <a:rPr lang="ko-KR" altLang="en-US" sz="105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랑 상관없이 </a:t>
            </a:r>
            <a:r>
              <a:rPr lang="en-US" altLang="ko-KR" sz="105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TYS </a:t>
            </a:r>
            <a:r>
              <a:rPr lang="ko-KR" altLang="en-US" sz="105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값을 변경하고 </a:t>
            </a:r>
            <a:r>
              <a:rPr lang="en-US" altLang="ko-KR" sz="105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submit </a:t>
            </a:r>
            <a:r>
              <a:rPr lang="ko-KR" altLang="en-US" sz="105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시 서버오류가 발생</a:t>
            </a:r>
            <a:r>
              <a:rPr lang="en-US" altLang="ko-KR" sz="105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. </a:t>
            </a:r>
            <a:r>
              <a:rPr lang="ko-KR" altLang="ko-KR" sz="105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필수 버튼</a:t>
            </a:r>
            <a:r>
              <a:rPr lang="en-US" altLang="ko-KR" sz="105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(</a:t>
            </a:r>
            <a:r>
              <a:rPr lang="ko-KR" altLang="ko-KR" sz="105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저장</a:t>
            </a:r>
            <a:r>
              <a:rPr lang="en-US" altLang="ko-KR" sz="105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/</a:t>
            </a:r>
            <a:r>
              <a:rPr lang="ko-KR" altLang="ko-KR" sz="105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조회</a:t>
            </a:r>
            <a:r>
              <a:rPr lang="en-US" altLang="ko-KR" sz="105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) </a:t>
            </a:r>
            <a:r>
              <a:rPr lang="ko-KR" altLang="ko-KR" sz="105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비활성화</a:t>
            </a:r>
            <a:endParaRPr lang="en-US" altLang="ko-KR" sz="1050" kern="100" dirty="0"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FD6A2F77-E4F2-4628-850C-4628B8362679}"/>
              </a:ext>
            </a:extLst>
          </p:cNvPr>
          <p:cNvGrpSpPr/>
          <p:nvPr/>
        </p:nvGrpSpPr>
        <p:grpSpPr>
          <a:xfrm>
            <a:off x="1045855" y="1724003"/>
            <a:ext cx="10501552" cy="4600016"/>
            <a:chOff x="770374" y="1786633"/>
            <a:chExt cx="10501552" cy="4600016"/>
          </a:xfrm>
        </p:grpSpPr>
        <p:pic>
          <p:nvPicPr>
            <p:cNvPr id="26" name="그림 25">
              <a:extLst>
                <a:ext uri="{FF2B5EF4-FFF2-40B4-BE49-F238E27FC236}">
                  <a16:creationId xmlns:a16="http://schemas.microsoft.com/office/drawing/2014/main" id="{C58C12F3-C3C4-4196-AF75-15C1AA4D863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374" y="1786633"/>
              <a:ext cx="7416696" cy="4055676"/>
            </a:xfrm>
            <a:prstGeom prst="rect">
              <a:avLst/>
            </a:prstGeom>
          </p:spPr>
        </p:pic>
        <p:pic>
          <p:nvPicPr>
            <p:cNvPr id="27" name="그림 26">
              <a:extLst>
                <a:ext uri="{FF2B5EF4-FFF2-40B4-BE49-F238E27FC236}">
                  <a16:creationId xmlns:a16="http://schemas.microsoft.com/office/drawing/2014/main" id="{0B75B4DC-F7CC-48BD-B525-E0694B0B025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36229" y="1861643"/>
              <a:ext cx="8935697" cy="4525006"/>
            </a:xfrm>
            <a:prstGeom prst="rect">
              <a:avLst/>
            </a:prstGeom>
          </p:spPr>
        </p:pic>
      </p:grp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2F5AC265-714A-483E-9B80-D951E8C149DB}"/>
              </a:ext>
            </a:extLst>
          </p:cNvPr>
          <p:cNvSpPr/>
          <p:nvPr/>
        </p:nvSpPr>
        <p:spPr>
          <a:xfrm>
            <a:off x="9294760" y="2565400"/>
            <a:ext cx="1157340" cy="424380"/>
          </a:xfrm>
          <a:prstGeom prst="rect">
            <a:avLst/>
          </a:prstGeom>
          <a:noFill/>
          <a:ln w="412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Rectangle 2">
            <a:extLst>
              <a:ext uri="{FF2B5EF4-FFF2-40B4-BE49-F238E27FC236}">
                <a16:creationId xmlns:a16="http://schemas.microsoft.com/office/drawing/2014/main" id="{C88582D9-21B4-4E8A-8A6C-5B8BA02122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892" y="91161"/>
            <a:ext cx="5652516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indent="-354013" defTabSz="957743">
              <a:defRPr sz="2200" spc="-11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9pPr>
          </a:lstStyle>
          <a:p>
            <a:pPr latinLnBrk="0">
              <a:defRPr/>
            </a:pPr>
            <a:r>
              <a:rPr kumimoji="0" lang="ko-KR" altLang="en-US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  <a:r>
              <a:rPr kumimoji="0" lang="en-US" altLang="ko-KR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III – 4. </a:t>
            </a:r>
            <a:r>
              <a:rPr lang="ko-KR" altLang="ko-KR" sz="20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결함 </a:t>
            </a:r>
            <a:r>
              <a:rPr lang="ko-KR" altLang="en-US" sz="20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사례 </a:t>
            </a:r>
            <a:r>
              <a:rPr lang="en-US" altLang="ko-KR" sz="20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( </a:t>
            </a:r>
            <a:r>
              <a:rPr lang="ko-KR" altLang="en-US" sz="20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심각도 </a:t>
            </a:r>
            <a:r>
              <a:rPr lang="en-US" altLang="ko-KR" sz="20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)    3/8</a:t>
            </a:r>
            <a:endParaRPr kumimoji="0" lang="en-US" altLang="ko-KR" sz="2000" b="1" i="0" u="none" strike="noStrike" kern="1200" cap="none" spc="-11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453551159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5DE482-5851-A864-A45F-7CC49DBC2C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직사각형 21">
            <a:extLst>
              <a:ext uri="{FF2B5EF4-FFF2-40B4-BE49-F238E27FC236}">
                <a16:creationId xmlns:a16="http://schemas.microsoft.com/office/drawing/2014/main" id="{85CD9FF1-9FDB-4C3B-A543-25790D07BE6C}"/>
              </a:ext>
            </a:extLst>
          </p:cNvPr>
          <p:cNvSpPr/>
          <p:nvPr/>
        </p:nvSpPr>
        <p:spPr>
          <a:xfrm>
            <a:off x="777047" y="1179278"/>
            <a:ext cx="10601404" cy="5273910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3AFBA21D-738B-462B-84EF-398C0A419C9C}"/>
              </a:ext>
            </a:extLst>
          </p:cNvPr>
          <p:cNvGrpSpPr/>
          <p:nvPr/>
        </p:nvGrpSpPr>
        <p:grpSpPr>
          <a:xfrm>
            <a:off x="993049" y="1799013"/>
            <a:ext cx="10205901" cy="4493295"/>
            <a:chOff x="766763" y="1393303"/>
            <a:chExt cx="10611687" cy="5024586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89B4C964-B479-4155-B198-A64845218E1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6763" y="1796719"/>
              <a:ext cx="9225000" cy="4621170"/>
            </a:xfrm>
            <a:prstGeom prst="rect">
              <a:avLst/>
            </a:prstGeom>
          </p:spPr>
        </p:pic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72F37955-B514-4642-A74C-75D284D0AB1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90882" y="1393303"/>
              <a:ext cx="8587568" cy="4844701"/>
            </a:xfrm>
            <a:prstGeom prst="rect">
              <a:avLst/>
            </a:prstGeom>
          </p:spPr>
        </p:pic>
      </p:grpSp>
      <p:grpSp>
        <p:nvGrpSpPr>
          <p:cNvPr id="9" name="object 5">
            <a:extLst>
              <a:ext uri="{FF2B5EF4-FFF2-40B4-BE49-F238E27FC236}">
                <a16:creationId xmlns:a16="http://schemas.microsoft.com/office/drawing/2014/main" id="{7226E383-FD44-4302-A4B5-15C2BBE239C6}"/>
              </a:ext>
            </a:extLst>
          </p:cNvPr>
          <p:cNvGrpSpPr/>
          <p:nvPr/>
        </p:nvGrpSpPr>
        <p:grpSpPr>
          <a:xfrm>
            <a:off x="463965" y="766503"/>
            <a:ext cx="8587568" cy="704399"/>
            <a:chOff x="833764" y="5138588"/>
            <a:chExt cx="2386254" cy="788035"/>
          </a:xfrm>
        </p:grpSpPr>
        <p:sp>
          <p:nvSpPr>
            <p:cNvPr id="10" name="object 7">
              <a:extLst>
                <a:ext uri="{FF2B5EF4-FFF2-40B4-BE49-F238E27FC236}">
                  <a16:creationId xmlns:a16="http://schemas.microsoft.com/office/drawing/2014/main" id="{D9A1252A-2616-4C2F-B675-FED43C4C1BE1}"/>
                </a:ext>
              </a:extLst>
            </p:cNvPr>
            <p:cNvSpPr/>
            <p:nvPr/>
          </p:nvSpPr>
          <p:spPr>
            <a:xfrm>
              <a:off x="833764" y="5152438"/>
              <a:ext cx="2386254" cy="766534"/>
            </a:xfrm>
            <a:custGeom>
              <a:avLst/>
              <a:gdLst/>
              <a:ahLst/>
              <a:cxnLst/>
              <a:rect l="l" t="t" r="r" b="b"/>
              <a:pathLst>
                <a:path w="9038590" h="788035">
                  <a:moveTo>
                    <a:pt x="8983920" y="787657"/>
                  </a:moveTo>
                  <a:lnTo>
                    <a:pt x="54648" y="787657"/>
                  </a:lnTo>
                  <a:lnTo>
                    <a:pt x="50845" y="787283"/>
                  </a:lnTo>
                  <a:lnTo>
                    <a:pt x="14415" y="767811"/>
                  </a:lnTo>
                  <a:lnTo>
                    <a:pt x="0" y="733008"/>
                  </a:lnTo>
                  <a:lnTo>
                    <a:pt x="0" y="729168"/>
                  </a:lnTo>
                  <a:lnTo>
                    <a:pt x="0" y="54648"/>
                  </a:lnTo>
                  <a:lnTo>
                    <a:pt x="19846" y="14414"/>
                  </a:lnTo>
                  <a:lnTo>
                    <a:pt x="54648" y="0"/>
                  </a:lnTo>
                  <a:lnTo>
                    <a:pt x="8983920" y="0"/>
                  </a:lnTo>
                  <a:lnTo>
                    <a:pt x="9024153" y="19846"/>
                  </a:lnTo>
                  <a:lnTo>
                    <a:pt x="9038569" y="54648"/>
                  </a:lnTo>
                  <a:lnTo>
                    <a:pt x="9038569" y="733008"/>
                  </a:lnTo>
                  <a:lnTo>
                    <a:pt x="9018722" y="773242"/>
                  </a:lnTo>
                  <a:lnTo>
                    <a:pt x="8987723" y="787283"/>
                  </a:lnTo>
                  <a:lnTo>
                    <a:pt x="8983920" y="787657"/>
                  </a:lnTo>
                  <a:close/>
                </a:path>
              </a:pathLst>
            </a:custGeom>
            <a:solidFill>
              <a:srgbClr val="EFF5FF"/>
            </a:solidFill>
          </p:spPr>
          <p:txBody>
            <a:bodyPr wrap="square" lIns="0" tIns="0" rIns="0" bIns="0" rtlCol="0"/>
            <a:lstStyle/>
            <a:p>
              <a:endParaRPr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11" name="object 8">
              <a:extLst>
                <a:ext uri="{FF2B5EF4-FFF2-40B4-BE49-F238E27FC236}">
                  <a16:creationId xmlns:a16="http://schemas.microsoft.com/office/drawing/2014/main" id="{CD8EC6A9-F836-4E3E-A396-0CB84DF764B9}"/>
                </a:ext>
              </a:extLst>
            </p:cNvPr>
            <p:cNvSpPr/>
            <p:nvPr/>
          </p:nvSpPr>
          <p:spPr>
            <a:xfrm>
              <a:off x="833764" y="5138588"/>
              <a:ext cx="2386254" cy="788035"/>
            </a:xfrm>
            <a:custGeom>
              <a:avLst/>
              <a:gdLst/>
              <a:ahLst/>
              <a:cxnLst/>
              <a:rect l="l" t="t" r="r" b="b"/>
              <a:pathLst>
                <a:path w="9038590" h="788035">
                  <a:moveTo>
                    <a:pt x="0" y="729168"/>
                  </a:moveTo>
                  <a:lnTo>
                    <a:pt x="0" y="58489"/>
                  </a:lnTo>
                  <a:lnTo>
                    <a:pt x="0" y="54648"/>
                  </a:lnTo>
                  <a:lnTo>
                    <a:pt x="374" y="50845"/>
                  </a:lnTo>
                  <a:lnTo>
                    <a:pt x="17131" y="17130"/>
                  </a:lnTo>
                  <a:lnTo>
                    <a:pt x="19846" y="14414"/>
                  </a:lnTo>
                  <a:lnTo>
                    <a:pt x="22801" y="11990"/>
                  </a:lnTo>
                  <a:lnTo>
                    <a:pt x="25994" y="9856"/>
                  </a:lnTo>
                  <a:lnTo>
                    <a:pt x="29187" y="7722"/>
                  </a:lnTo>
                  <a:lnTo>
                    <a:pt x="47078" y="1123"/>
                  </a:lnTo>
                  <a:lnTo>
                    <a:pt x="50845" y="374"/>
                  </a:lnTo>
                  <a:lnTo>
                    <a:pt x="54648" y="0"/>
                  </a:lnTo>
                  <a:lnTo>
                    <a:pt x="58489" y="0"/>
                  </a:lnTo>
                  <a:lnTo>
                    <a:pt x="8980080" y="0"/>
                  </a:lnTo>
                  <a:lnTo>
                    <a:pt x="8983920" y="0"/>
                  </a:lnTo>
                  <a:lnTo>
                    <a:pt x="8987723" y="374"/>
                  </a:lnTo>
                  <a:lnTo>
                    <a:pt x="8991490" y="1123"/>
                  </a:lnTo>
                  <a:lnTo>
                    <a:pt x="8995257" y="1872"/>
                  </a:lnTo>
                  <a:lnTo>
                    <a:pt x="9012574" y="9857"/>
                  </a:lnTo>
                  <a:lnTo>
                    <a:pt x="9015768" y="11990"/>
                  </a:lnTo>
                  <a:lnTo>
                    <a:pt x="9028710" y="25993"/>
                  </a:lnTo>
                  <a:lnTo>
                    <a:pt x="9030844" y="29187"/>
                  </a:lnTo>
                  <a:lnTo>
                    <a:pt x="9038569" y="58489"/>
                  </a:lnTo>
                  <a:lnTo>
                    <a:pt x="9038569" y="729168"/>
                  </a:lnTo>
                  <a:lnTo>
                    <a:pt x="9038569" y="733008"/>
                  </a:lnTo>
                  <a:lnTo>
                    <a:pt x="9038193" y="736812"/>
                  </a:lnTo>
                  <a:lnTo>
                    <a:pt x="9037444" y="740578"/>
                  </a:lnTo>
                  <a:lnTo>
                    <a:pt x="9036695" y="744345"/>
                  </a:lnTo>
                  <a:lnTo>
                    <a:pt x="9028710" y="761662"/>
                  </a:lnTo>
                  <a:lnTo>
                    <a:pt x="9026576" y="764856"/>
                  </a:lnTo>
                  <a:lnTo>
                    <a:pt x="9012574" y="777800"/>
                  </a:lnTo>
                  <a:lnTo>
                    <a:pt x="9009381" y="779934"/>
                  </a:lnTo>
                  <a:lnTo>
                    <a:pt x="8991490" y="786533"/>
                  </a:lnTo>
                  <a:lnTo>
                    <a:pt x="8987723" y="787283"/>
                  </a:lnTo>
                  <a:lnTo>
                    <a:pt x="8983920" y="787657"/>
                  </a:lnTo>
                  <a:lnTo>
                    <a:pt x="8980080" y="787657"/>
                  </a:lnTo>
                  <a:lnTo>
                    <a:pt x="58489" y="787657"/>
                  </a:lnTo>
                  <a:lnTo>
                    <a:pt x="54648" y="787657"/>
                  </a:lnTo>
                  <a:lnTo>
                    <a:pt x="50845" y="787283"/>
                  </a:lnTo>
                  <a:lnTo>
                    <a:pt x="17131" y="770526"/>
                  </a:lnTo>
                  <a:lnTo>
                    <a:pt x="14415" y="767811"/>
                  </a:lnTo>
                  <a:lnTo>
                    <a:pt x="1123" y="740578"/>
                  </a:lnTo>
                  <a:lnTo>
                    <a:pt x="374" y="736812"/>
                  </a:lnTo>
                  <a:lnTo>
                    <a:pt x="0" y="733008"/>
                  </a:lnTo>
                  <a:lnTo>
                    <a:pt x="0" y="729168"/>
                  </a:lnTo>
                  <a:close/>
                </a:path>
              </a:pathLst>
            </a:custGeom>
            <a:ln w="7798">
              <a:solidFill>
                <a:srgbClr val="DAE9FE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711F3544-C21E-4169-82F9-E22EAAC049F2}"/>
              </a:ext>
            </a:extLst>
          </p:cNvPr>
          <p:cNvSpPr txBox="1"/>
          <p:nvPr/>
        </p:nvSpPr>
        <p:spPr>
          <a:xfrm>
            <a:off x="583466" y="825192"/>
            <a:ext cx="92477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lang="en-US" altLang="ko-KR" sz="1400" b="1" spc="-25" dirty="0">
                <a:solidFill>
                  <a:srgbClr val="1D40A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맑은 고딕"/>
              </a:rPr>
              <a:t>Major</a:t>
            </a:r>
            <a:r>
              <a:rPr lang="ko-KR" altLang="en-US" sz="1400" b="1" spc="-25" dirty="0">
                <a:solidFill>
                  <a:srgbClr val="1D40A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맑은 고딕"/>
              </a:rPr>
              <a:t> </a:t>
            </a:r>
            <a:endParaRPr lang="ko-KR" altLang="en-US" sz="1400" dirty="0">
              <a:latin typeface="KoPub돋움체 Medium" panose="00000600000000000000" pitchFamily="2" charset="-127"/>
              <a:ea typeface="KoPub돋움체 Medium" panose="00000600000000000000" pitchFamily="2" charset="-127"/>
              <a:cs typeface="Noto Sans KR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486B358-03B0-45E5-A019-D42057979D30}"/>
              </a:ext>
            </a:extLst>
          </p:cNvPr>
          <p:cNvSpPr txBox="1"/>
          <p:nvPr/>
        </p:nvSpPr>
        <p:spPr>
          <a:xfrm>
            <a:off x="1045855" y="1094614"/>
            <a:ext cx="873609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latinLnBrk="1"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altLang="ko-KR" sz="105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DEF-03760</a:t>
            </a:r>
            <a:r>
              <a:rPr lang="en-US" altLang="ko-KR" sz="105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: excel Upload</a:t>
            </a:r>
            <a:r>
              <a:rPr lang="ko-KR" altLang="en-US" sz="105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시 </a:t>
            </a:r>
            <a:r>
              <a:rPr lang="en-US" altLang="ko-KR" sz="105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check </a:t>
            </a:r>
            <a:r>
              <a:rPr lang="ko-KR" altLang="en-US" sz="105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없이 그대로 저장됨 </a:t>
            </a:r>
            <a:endParaRPr lang="en-US" altLang="ko-KR" sz="1050" kern="100" dirty="0"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23" name="Rectangle 2">
            <a:extLst>
              <a:ext uri="{FF2B5EF4-FFF2-40B4-BE49-F238E27FC236}">
                <a16:creationId xmlns:a16="http://schemas.microsoft.com/office/drawing/2014/main" id="{05359ABF-E709-4056-B628-1B19B54D95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892" y="91161"/>
            <a:ext cx="5652516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indent="-354013" defTabSz="957743">
              <a:defRPr sz="2200" spc="-11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9pPr>
          </a:lstStyle>
          <a:p>
            <a:pPr latinLnBrk="0">
              <a:defRPr/>
            </a:pPr>
            <a:r>
              <a:rPr kumimoji="0" lang="ko-KR" altLang="en-US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  <a:r>
              <a:rPr kumimoji="0" lang="en-US" altLang="ko-KR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III – 4. </a:t>
            </a:r>
            <a:r>
              <a:rPr lang="ko-KR" altLang="ko-KR" sz="20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결함 </a:t>
            </a:r>
            <a:r>
              <a:rPr lang="ko-KR" altLang="en-US" sz="20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사례 </a:t>
            </a:r>
            <a:r>
              <a:rPr lang="en-US" altLang="ko-KR" sz="20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( </a:t>
            </a:r>
            <a:r>
              <a:rPr lang="ko-KR" altLang="en-US" sz="20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심각도 </a:t>
            </a:r>
            <a:r>
              <a:rPr lang="en-US" altLang="ko-KR" sz="20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)    4/8</a:t>
            </a:r>
            <a:endParaRPr kumimoji="0" lang="en-US" altLang="ko-KR" sz="2000" b="1" i="0" u="none" strike="noStrike" kern="1200" cap="none" spc="-11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329910761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5DE482-5851-A864-A45F-7CC49DBC2C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object 5">
            <a:extLst>
              <a:ext uri="{FF2B5EF4-FFF2-40B4-BE49-F238E27FC236}">
                <a16:creationId xmlns:a16="http://schemas.microsoft.com/office/drawing/2014/main" id="{7226E383-FD44-4302-A4B5-15C2BBE239C6}"/>
              </a:ext>
            </a:extLst>
          </p:cNvPr>
          <p:cNvGrpSpPr/>
          <p:nvPr/>
        </p:nvGrpSpPr>
        <p:grpSpPr>
          <a:xfrm>
            <a:off x="463965" y="766503"/>
            <a:ext cx="8587568" cy="704399"/>
            <a:chOff x="833764" y="5138588"/>
            <a:chExt cx="2386254" cy="788035"/>
          </a:xfrm>
        </p:grpSpPr>
        <p:sp>
          <p:nvSpPr>
            <p:cNvPr id="10" name="object 7">
              <a:extLst>
                <a:ext uri="{FF2B5EF4-FFF2-40B4-BE49-F238E27FC236}">
                  <a16:creationId xmlns:a16="http://schemas.microsoft.com/office/drawing/2014/main" id="{D9A1252A-2616-4C2F-B675-FED43C4C1BE1}"/>
                </a:ext>
              </a:extLst>
            </p:cNvPr>
            <p:cNvSpPr/>
            <p:nvPr/>
          </p:nvSpPr>
          <p:spPr>
            <a:xfrm>
              <a:off x="833764" y="5152438"/>
              <a:ext cx="2386254" cy="766534"/>
            </a:xfrm>
            <a:custGeom>
              <a:avLst/>
              <a:gdLst/>
              <a:ahLst/>
              <a:cxnLst/>
              <a:rect l="l" t="t" r="r" b="b"/>
              <a:pathLst>
                <a:path w="9038590" h="788035">
                  <a:moveTo>
                    <a:pt x="8983920" y="787657"/>
                  </a:moveTo>
                  <a:lnTo>
                    <a:pt x="54648" y="787657"/>
                  </a:lnTo>
                  <a:lnTo>
                    <a:pt x="50845" y="787283"/>
                  </a:lnTo>
                  <a:lnTo>
                    <a:pt x="14415" y="767811"/>
                  </a:lnTo>
                  <a:lnTo>
                    <a:pt x="0" y="733008"/>
                  </a:lnTo>
                  <a:lnTo>
                    <a:pt x="0" y="729168"/>
                  </a:lnTo>
                  <a:lnTo>
                    <a:pt x="0" y="54648"/>
                  </a:lnTo>
                  <a:lnTo>
                    <a:pt x="19846" y="14414"/>
                  </a:lnTo>
                  <a:lnTo>
                    <a:pt x="54648" y="0"/>
                  </a:lnTo>
                  <a:lnTo>
                    <a:pt x="8983920" y="0"/>
                  </a:lnTo>
                  <a:lnTo>
                    <a:pt x="9024153" y="19846"/>
                  </a:lnTo>
                  <a:lnTo>
                    <a:pt x="9038569" y="54648"/>
                  </a:lnTo>
                  <a:lnTo>
                    <a:pt x="9038569" y="733008"/>
                  </a:lnTo>
                  <a:lnTo>
                    <a:pt x="9018722" y="773242"/>
                  </a:lnTo>
                  <a:lnTo>
                    <a:pt x="8987723" y="787283"/>
                  </a:lnTo>
                  <a:lnTo>
                    <a:pt x="8983920" y="787657"/>
                  </a:lnTo>
                  <a:close/>
                </a:path>
              </a:pathLst>
            </a:custGeom>
            <a:solidFill>
              <a:srgbClr val="EFF5FF"/>
            </a:solidFill>
          </p:spPr>
          <p:txBody>
            <a:bodyPr wrap="square" lIns="0" tIns="0" rIns="0" bIns="0" rtlCol="0"/>
            <a:lstStyle/>
            <a:p>
              <a:endParaRPr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11" name="object 8">
              <a:extLst>
                <a:ext uri="{FF2B5EF4-FFF2-40B4-BE49-F238E27FC236}">
                  <a16:creationId xmlns:a16="http://schemas.microsoft.com/office/drawing/2014/main" id="{CD8EC6A9-F836-4E3E-A396-0CB84DF764B9}"/>
                </a:ext>
              </a:extLst>
            </p:cNvPr>
            <p:cNvSpPr/>
            <p:nvPr/>
          </p:nvSpPr>
          <p:spPr>
            <a:xfrm>
              <a:off x="833764" y="5138588"/>
              <a:ext cx="2386254" cy="788035"/>
            </a:xfrm>
            <a:custGeom>
              <a:avLst/>
              <a:gdLst/>
              <a:ahLst/>
              <a:cxnLst/>
              <a:rect l="l" t="t" r="r" b="b"/>
              <a:pathLst>
                <a:path w="9038590" h="788035">
                  <a:moveTo>
                    <a:pt x="0" y="729168"/>
                  </a:moveTo>
                  <a:lnTo>
                    <a:pt x="0" y="58489"/>
                  </a:lnTo>
                  <a:lnTo>
                    <a:pt x="0" y="54648"/>
                  </a:lnTo>
                  <a:lnTo>
                    <a:pt x="374" y="50845"/>
                  </a:lnTo>
                  <a:lnTo>
                    <a:pt x="17131" y="17130"/>
                  </a:lnTo>
                  <a:lnTo>
                    <a:pt x="19846" y="14414"/>
                  </a:lnTo>
                  <a:lnTo>
                    <a:pt x="22801" y="11990"/>
                  </a:lnTo>
                  <a:lnTo>
                    <a:pt x="25994" y="9856"/>
                  </a:lnTo>
                  <a:lnTo>
                    <a:pt x="29187" y="7722"/>
                  </a:lnTo>
                  <a:lnTo>
                    <a:pt x="47078" y="1123"/>
                  </a:lnTo>
                  <a:lnTo>
                    <a:pt x="50845" y="374"/>
                  </a:lnTo>
                  <a:lnTo>
                    <a:pt x="54648" y="0"/>
                  </a:lnTo>
                  <a:lnTo>
                    <a:pt x="58489" y="0"/>
                  </a:lnTo>
                  <a:lnTo>
                    <a:pt x="8980080" y="0"/>
                  </a:lnTo>
                  <a:lnTo>
                    <a:pt x="8983920" y="0"/>
                  </a:lnTo>
                  <a:lnTo>
                    <a:pt x="8987723" y="374"/>
                  </a:lnTo>
                  <a:lnTo>
                    <a:pt x="8991490" y="1123"/>
                  </a:lnTo>
                  <a:lnTo>
                    <a:pt x="8995257" y="1872"/>
                  </a:lnTo>
                  <a:lnTo>
                    <a:pt x="9012574" y="9857"/>
                  </a:lnTo>
                  <a:lnTo>
                    <a:pt x="9015768" y="11990"/>
                  </a:lnTo>
                  <a:lnTo>
                    <a:pt x="9028710" y="25993"/>
                  </a:lnTo>
                  <a:lnTo>
                    <a:pt x="9030844" y="29187"/>
                  </a:lnTo>
                  <a:lnTo>
                    <a:pt x="9038569" y="58489"/>
                  </a:lnTo>
                  <a:lnTo>
                    <a:pt x="9038569" y="729168"/>
                  </a:lnTo>
                  <a:lnTo>
                    <a:pt x="9038569" y="733008"/>
                  </a:lnTo>
                  <a:lnTo>
                    <a:pt x="9038193" y="736812"/>
                  </a:lnTo>
                  <a:lnTo>
                    <a:pt x="9037444" y="740578"/>
                  </a:lnTo>
                  <a:lnTo>
                    <a:pt x="9036695" y="744345"/>
                  </a:lnTo>
                  <a:lnTo>
                    <a:pt x="9028710" y="761662"/>
                  </a:lnTo>
                  <a:lnTo>
                    <a:pt x="9026576" y="764856"/>
                  </a:lnTo>
                  <a:lnTo>
                    <a:pt x="9012574" y="777800"/>
                  </a:lnTo>
                  <a:lnTo>
                    <a:pt x="9009381" y="779934"/>
                  </a:lnTo>
                  <a:lnTo>
                    <a:pt x="8991490" y="786533"/>
                  </a:lnTo>
                  <a:lnTo>
                    <a:pt x="8987723" y="787283"/>
                  </a:lnTo>
                  <a:lnTo>
                    <a:pt x="8983920" y="787657"/>
                  </a:lnTo>
                  <a:lnTo>
                    <a:pt x="8980080" y="787657"/>
                  </a:lnTo>
                  <a:lnTo>
                    <a:pt x="58489" y="787657"/>
                  </a:lnTo>
                  <a:lnTo>
                    <a:pt x="54648" y="787657"/>
                  </a:lnTo>
                  <a:lnTo>
                    <a:pt x="50845" y="787283"/>
                  </a:lnTo>
                  <a:lnTo>
                    <a:pt x="17131" y="770526"/>
                  </a:lnTo>
                  <a:lnTo>
                    <a:pt x="14415" y="767811"/>
                  </a:lnTo>
                  <a:lnTo>
                    <a:pt x="1123" y="740578"/>
                  </a:lnTo>
                  <a:lnTo>
                    <a:pt x="374" y="736812"/>
                  </a:lnTo>
                  <a:lnTo>
                    <a:pt x="0" y="733008"/>
                  </a:lnTo>
                  <a:lnTo>
                    <a:pt x="0" y="729168"/>
                  </a:lnTo>
                  <a:close/>
                </a:path>
              </a:pathLst>
            </a:custGeom>
            <a:ln w="7798">
              <a:solidFill>
                <a:srgbClr val="DAE9FE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711F3544-C21E-4169-82F9-E22EAAC049F2}"/>
              </a:ext>
            </a:extLst>
          </p:cNvPr>
          <p:cNvSpPr txBox="1"/>
          <p:nvPr/>
        </p:nvSpPr>
        <p:spPr>
          <a:xfrm>
            <a:off x="583466" y="825192"/>
            <a:ext cx="92477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lang="en-US" altLang="ko-KR" sz="1400" b="1" spc="-25" dirty="0">
                <a:solidFill>
                  <a:srgbClr val="1D40A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맑은 고딕"/>
              </a:rPr>
              <a:t>Major</a:t>
            </a:r>
            <a:r>
              <a:rPr lang="ko-KR" altLang="en-US" sz="1400" b="1" spc="-25" dirty="0">
                <a:solidFill>
                  <a:srgbClr val="1D40A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맑은 고딕"/>
              </a:rPr>
              <a:t> </a:t>
            </a:r>
            <a:endParaRPr lang="ko-KR" altLang="en-US" sz="1400" dirty="0">
              <a:latin typeface="KoPub돋움체 Medium" panose="00000600000000000000" pitchFamily="2" charset="-127"/>
              <a:ea typeface="KoPub돋움체 Medium" panose="00000600000000000000" pitchFamily="2" charset="-127"/>
              <a:cs typeface="Noto Sans KR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486B358-03B0-45E5-A019-D42057979D30}"/>
              </a:ext>
            </a:extLst>
          </p:cNvPr>
          <p:cNvSpPr txBox="1"/>
          <p:nvPr/>
        </p:nvSpPr>
        <p:spPr>
          <a:xfrm>
            <a:off x="1045855" y="1094614"/>
            <a:ext cx="873609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ko-KR" sz="105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DEF-03446</a:t>
            </a:r>
            <a:r>
              <a:rPr lang="en-US" altLang="ko-KR" sz="105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: </a:t>
            </a:r>
            <a:r>
              <a:rPr lang="ko-KR" altLang="en-US" sz="105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선택한 라디오와 전체 값을 비교했을 때 헤더도 다르고</a:t>
            </a:r>
            <a:r>
              <a:rPr lang="en-US" altLang="ko-KR" sz="105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, </a:t>
            </a:r>
            <a:r>
              <a:rPr lang="ko-KR" altLang="en-US" sz="1050" kern="100" dirty="0" err="1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숫자값도</a:t>
            </a:r>
            <a:r>
              <a:rPr lang="ko-KR" altLang="en-US" sz="105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다름</a:t>
            </a:r>
            <a:endParaRPr lang="ko-KR" altLang="ko-KR" sz="1050" kern="100" dirty="0"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627255E7-06DA-41EB-A57F-DFC6ABA2B279}"/>
              </a:ext>
            </a:extLst>
          </p:cNvPr>
          <p:cNvGrpSpPr/>
          <p:nvPr/>
        </p:nvGrpSpPr>
        <p:grpSpPr>
          <a:xfrm>
            <a:off x="766763" y="1733485"/>
            <a:ext cx="10619815" cy="4771483"/>
            <a:chOff x="291341" y="1712096"/>
            <a:chExt cx="10619815" cy="4771483"/>
          </a:xfrm>
        </p:grpSpPr>
        <p:pic>
          <p:nvPicPr>
            <p:cNvPr id="17" name="그림 16">
              <a:extLst>
                <a:ext uri="{FF2B5EF4-FFF2-40B4-BE49-F238E27FC236}">
                  <a16:creationId xmlns:a16="http://schemas.microsoft.com/office/drawing/2014/main" id="{C8E27027-665A-4C8C-9312-CA9B9E28415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1341" y="1712096"/>
              <a:ext cx="8717431" cy="4267564"/>
            </a:xfrm>
            <a:prstGeom prst="rect">
              <a:avLst/>
            </a:prstGeom>
          </p:spPr>
        </p:pic>
        <p:pic>
          <p:nvPicPr>
            <p:cNvPr id="19" name="그림 18">
              <a:extLst>
                <a:ext uri="{FF2B5EF4-FFF2-40B4-BE49-F238E27FC236}">
                  <a16:creationId xmlns:a16="http://schemas.microsoft.com/office/drawing/2014/main" id="{272E6E60-611A-4950-AF45-074461A03F0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00136" y="2660991"/>
              <a:ext cx="9011020" cy="3822588"/>
            </a:xfrm>
            <a:prstGeom prst="rect">
              <a:avLst/>
            </a:prstGeom>
          </p:spPr>
        </p:pic>
      </p:grpSp>
      <p:sp>
        <p:nvSpPr>
          <p:cNvPr id="22" name="Rectangle 2">
            <a:extLst>
              <a:ext uri="{FF2B5EF4-FFF2-40B4-BE49-F238E27FC236}">
                <a16:creationId xmlns:a16="http://schemas.microsoft.com/office/drawing/2014/main" id="{2D687CD3-302A-406C-93D0-E8313E0F51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892" y="91161"/>
            <a:ext cx="5652516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indent="-354013" defTabSz="957743">
              <a:defRPr sz="2200" spc="-11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9pPr>
          </a:lstStyle>
          <a:p>
            <a:pPr latinLnBrk="0">
              <a:defRPr/>
            </a:pPr>
            <a:r>
              <a:rPr kumimoji="0" lang="ko-KR" altLang="en-US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  <a:r>
              <a:rPr kumimoji="0" lang="en-US" altLang="ko-KR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III – 4. </a:t>
            </a:r>
            <a:r>
              <a:rPr lang="ko-KR" altLang="ko-KR" sz="20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결함 </a:t>
            </a:r>
            <a:r>
              <a:rPr lang="ko-KR" altLang="en-US" sz="20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사례 </a:t>
            </a:r>
            <a:r>
              <a:rPr lang="en-US" altLang="ko-KR" sz="20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( </a:t>
            </a:r>
            <a:r>
              <a:rPr lang="ko-KR" altLang="en-US" sz="20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심각도 </a:t>
            </a:r>
            <a:r>
              <a:rPr lang="en-US" altLang="ko-KR" sz="20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)    5/8</a:t>
            </a:r>
            <a:endParaRPr kumimoji="0" lang="en-US" altLang="ko-KR" sz="2000" b="1" i="0" u="none" strike="noStrike" kern="1200" cap="none" spc="-11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580704176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5DE482-5851-A864-A45F-7CC49DBC2C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object 5">
            <a:extLst>
              <a:ext uri="{FF2B5EF4-FFF2-40B4-BE49-F238E27FC236}">
                <a16:creationId xmlns:a16="http://schemas.microsoft.com/office/drawing/2014/main" id="{7226E383-FD44-4302-A4B5-15C2BBE239C6}"/>
              </a:ext>
            </a:extLst>
          </p:cNvPr>
          <p:cNvGrpSpPr/>
          <p:nvPr/>
        </p:nvGrpSpPr>
        <p:grpSpPr>
          <a:xfrm>
            <a:off x="463965" y="766503"/>
            <a:ext cx="8587568" cy="704399"/>
            <a:chOff x="833764" y="5138588"/>
            <a:chExt cx="2386254" cy="788035"/>
          </a:xfrm>
        </p:grpSpPr>
        <p:sp>
          <p:nvSpPr>
            <p:cNvPr id="10" name="object 7">
              <a:extLst>
                <a:ext uri="{FF2B5EF4-FFF2-40B4-BE49-F238E27FC236}">
                  <a16:creationId xmlns:a16="http://schemas.microsoft.com/office/drawing/2014/main" id="{D9A1252A-2616-4C2F-B675-FED43C4C1BE1}"/>
                </a:ext>
              </a:extLst>
            </p:cNvPr>
            <p:cNvSpPr/>
            <p:nvPr/>
          </p:nvSpPr>
          <p:spPr>
            <a:xfrm>
              <a:off x="833764" y="5152438"/>
              <a:ext cx="2386254" cy="766534"/>
            </a:xfrm>
            <a:custGeom>
              <a:avLst/>
              <a:gdLst/>
              <a:ahLst/>
              <a:cxnLst/>
              <a:rect l="l" t="t" r="r" b="b"/>
              <a:pathLst>
                <a:path w="9038590" h="788035">
                  <a:moveTo>
                    <a:pt x="8983920" y="787657"/>
                  </a:moveTo>
                  <a:lnTo>
                    <a:pt x="54648" y="787657"/>
                  </a:lnTo>
                  <a:lnTo>
                    <a:pt x="50845" y="787283"/>
                  </a:lnTo>
                  <a:lnTo>
                    <a:pt x="14415" y="767811"/>
                  </a:lnTo>
                  <a:lnTo>
                    <a:pt x="0" y="733008"/>
                  </a:lnTo>
                  <a:lnTo>
                    <a:pt x="0" y="729168"/>
                  </a:lnTo>
                  <a:lnTo>
                    <a:pt x="0" y="54648"/>
                  </a:lnTo>
                  <a:lnTo>
                    <a:pt x="19846" y="14414"/>
                  </a:lnTo>
                  <a:lnTo>
                    <a:pt x="54648" y="0"/>
                  </a:lnTo>
                  <a:lnTo>
                    <a:pt x="8983920" y="0"/>
                  </a:lnTo>
                  <a:lnTo>
                    <a:pt x="9024153" y="19846"/>
                  </a:lnTo>
                  <a:lnTo>
                    <a:pt x="9038569" y="54648"/>
                  </a:lnTo>
                  <a:lnTo>
                    <a:pt x="9038569" y="733008"/>
                  </a:lnTo>
                  <a:lnTo>
                    <a:pt x="9018722" y="773242"/>
                  </a:lnTo>
                  <a:lnTo>
                    <a:pt x="8987723" y="787283"/>
                  </a:lnTo>
                  <a:lnTo>
                    <a:pt x="8983920" y="787657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11" name="object 8">
              <a:extLst>
                <a:ext uri="{FF2B5EF4-FFF2-40B4-BE49-F238E27FC236}">
                  <a16:creationId xmlns:a16="http://schemas.microsoft.com/office/drawing/2014/main" id="{CD8EC6A9-F836-4E3E-A396-0CB84DF764B9}"/>
                </a:ext>
              </a:extLst>
            </p:cNvPr>
            <p:cNvSpPr/>
            <p:nvPr/>
          </p:nvSpPr>
          <p:spPr>
            <a:xfrm>
              <a:off x="833764" y="5138588"/>
              <a:ext cx="2386254" cy="788035"/>
            </a:xfrm>
            <a:custGeom>
              <a:avLst/>
              <a:gdLst/>
              <a:ahLst/>
              <a:cxnLst/>
              <a:rect l="l" t="t" r="r" b="b"/>
              <a:pathLst>
                <a:path w="9038590" h="788035">
                  <a:moveTo>
                    <a:pt x="0" y="729168"/>
                  </a:moveTo>
                  <a:lnTo>
                    <a:pt x="0" y="58489"/>
                  </a:lnTo>
                  <a:lnTo>
                    <a:pt x="0" y="54648"/>
                  </a:lnTo>
                  <a:lnTo>
                    <a:pt x="374" y="50845"/>
                  </a:lnTo>
                  <a:lnTo>
                    <a:pt x="17131" y="17130"/>
                  </a:lnTo>
                  <a:lnTo>
                    <a:pt x="19846" y="14414"/>
                  </a:lnTo>
                  <a:lnTo>
                    <a:pt x="22801" y="11990"/>
                  </a:lnTo>
                  <a:lnTo>
                    <a:pt x="25994" y="9856"/>
                  </a:lnTo>
                  <a:lnTo>
                    <a:pt x="29187" y="7722"/>
                  </a:lnTo>
                  <a:lnTo>
                    <a:pt x="47078" y="1123"/>
                  </a:lnTo>
                  <a:lnTo>
                    <a:pt x="50845" y="374"/>
                  </a:lnTo>
                  <a:lnTo>
                    <a:pt x="54648" y="0"/>
                  </a:lnTo>
                  <a:lnTo>
                    <a:pt x="58489" y="0"/>
                  </a:lnTo>
                  <a:lnTo>
                    <a:pt x="8980080" y="0"/>
                  </a:lnTo>
                  <a:lnTo>
                    <a:pt x="8983920" y="0"/>
                  </a:lnTo>
                  <a:lnTo>
                    <a:pt x="8987723" y="374"/>
                  </a:lnTo>
                  <a:lnTo>
                    <a:pt x="8991490" y="1123"/>
                  </a:lnTo>
                  <a:lnTo>
                    <a:pt x="8995257" y="1872"/>
                  </a:lnTo>
                  <a:lnTo>
                    <a:pt x="9012574" y="9857"/>
                  </a:lnTo>
                  <a:lnTo>
                    <a:pt x="9015768" y="11990"/>
                  </a:lnTo>
                  <a:lnTo>
                    <a:pt x="9028710" y="25993"/>
                  </a:lnTo>
                  <a:lnTo>
                    <a:pt x="9030844" y="29187"/>
                  </a:lnTo>
                  <a:lnTo>
                    <a:pt x="9038569" y="58489"/>
                  </a:lnTo>
                  <a:lnTo>
                    <a:pt x="9038569" y="729168"/>
                  </a:lnTo>
                  <a:lnTo>
                    <a:pt x="9038569" y="733008"/>
                  </a:lnTo>
                  <a:lnTo>
                    <a:pt x="9038193" y="736812"/>
                  </a:lnTo>
                  <a:lnTo>
                    <a:pt x="9037444" y="740578"/>
                  </a:lnTo>
                  <a:lnTo>
                    <a:pt x="9036695" y="744345"/>
                  </a:lnTo>
                  <a:lnTo>
                    <a:pt x="9028710" y="761662"/>
                  </a:lnTo>
                  <a:lnTo>
                    <a:pt x="9026576" y="764856"/>
                  </a:lnTo>
                  <a:lnTo>
                    <a:pt x="9012574" y="777800"/>
                  </a:lnTo>
                  <a:lnTo>
                    <a:pt x="9009381" y="779934"/>
                  </a:lnTo>
                  <a:lnTo>
                    <a:pt x="8991490" y="786533"/>
                  </a:lnTo>
                  <a:lnTo>
                    <a:pt x="8987723" y="787283"/>
                  </a:lnTo>
                  <a:lnTo>
                    <a:pt x="8983920" y="787657"/>
                  </a:lnTo>
                  <a:lnTo>
                    <a:pt x="8980080" y="787657"/>
                  </a:lnTo>
                  <a:lnTo>
                    <a:pt x="58489" y="787657"/>
                  </a:lnTo>
                  <a:lnTo>
                    <a:pt x="54648" y="787657"/>
                  </a:lnTo>
                  <a:lnTo>
                    <a:pt x="50845" y="787283"/>
                  </a:lnTo>
                  <a:lnTo>
                    <a:pt x="17131" y="770526"/>
                  </a:lnTo>
                  <a:lnTo>
                    <a:pt x="14415" y="767811"/>
                  </a:lnTo>
                  <a:lnTo>
                    <a:pt x="1123" y="740578"/>
                  </a:lnTo>
                  <a:lnTo>
                    <a:pt x="374" y="736812"/>
                  </a:lnTo>
                  <a:lnTo>
                    <a:pt x="0" y="733008"/>
                  </a:lnTo>
                  <a:lnTo>
                    <a:pt x="0" y="729168"/>
                  </a:lnTo>
                  <a:close/>
                </a:path>
              </a:pathLst>
            </a:custGeom>
            <a:ln w="7798">
              <a:solidFill>
                <a:schemeClr val="bg1">
                  <a:lumMod val="75000"/>
                </a:schemeClr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711F3544-C21E-4169-82F9-E22EAAC049F2}"/>
              </a:ext>
            </a:extLst>
          </p:cNvPr>
          <p:cNvSpPr txBox="1"/>
          <p:nvPr/>
        </p:nvSpPr>
        <p:spPr>
          <a:xfrm>
            <a:off x="583466" y="825192"/>
            <a:ext cx="92477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lang="en-US" altLang="ko-KR" sz="1400" b="1" dirty="0">
                <a:solidFill>
                  <a:schemeClr val="bg2">
                    <a:lumMod val="50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Noto Sans KR"/>
              </a:rPr>
              <a:t>Minor</a:t>
            </a:r>
            <a:endParaRPr lang="ko-KR" altLang="en-US" sz="1400" b="1" dirty="0">
              <a:solidFill>
                <a:schemeClr val="bg2">
                  <a:lumMod val="50000"/>
                </a:schemeClr>
              </a:solidFill>
              <a:latin typeface="KoPub돋움체 Medium" panose="00000600000000000000" pitchFamily="2" charset="-127"/>
              <a:ea typeface="KoPub돋움체 Medium" panose="00000600000000000000" pitchFamily="2" charset="-127"/>
              <a:cs typeface="Noto Sans KR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486B358-03B0-45E5-A019-D42057979D30}"/>
              </a:ext>
            </a:extLst>
          </p:cNvPr>
          <p:cNvSpPr txBox="1"/>
          <p:nvPr/>
        </p:nvSpPr>
        <p:spPr>
          <a:xfrm>
            <a:off x="1045855" y="1094614"/>
            <a:ext cx="873609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ko-KR" sz="105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DEF-03401</a:t>
            </a:r>
            <a:r>
              <a:rPr lang="en-US" altLang="ko-KR" sz="105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: </a:t>
            </a:r>
            <a:r>
              <a:rPr lang="ko-KR" altLang="en-US" sz="1050" kern="100" dirty="0" err="1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영문단어수정필요</a:t>
            </a:r>
            <a:r>
              <a:rPr lang="ko-KR" altLang="en-US" sz="105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  </a:t>
            </a:r>
            <a:r>
              <a:rPr lang="en-US" altLang="ko-KR" sz="1050" kern="100" dirty="0" err="1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Defination</a:t>
            </a:r>
            <a:r>
              <a:rPr lang="en-US" altLang="ko-KR" sz="105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-&gt;Definition</a:t>
            </a:r>
            <a:endParaRPr lang="ko-KR" altLang="ko-KR" sz="1050" kern="100" dirty="0"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B109F89-CCDA-4B49-8C6F-BD79D86C82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344" y="1664261"/>
            <a:ext cx="9344953" cy="4788927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3420535E-23A4-407E-B399-F54F589EAB4E}"/>
              </a:ext>
            </a:extLst>
          </p:cNvPr>
          <p:cNvSpPr/>
          <p:nvPr/>
        </p:nvSpPr>
        <p:spPr>
          <a:xfrm>
            <a:off x="6096000" y="5193739"/>
            <a:ext cx="1750828" cy="696698"/>
          </a:xfrm>
          <a:prstGeom prst="rect">
            <a:avLst/>
          </a:prstGeom>
          <a:noFill/>
          <a:ln w="412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C7BF876E-26C4-493C-A99B-E09215EA6F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892" y="91161"/>
            <a:ext cx="5652516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indent="-354013" defTabSz="957743">
              <a:defRPr sz="2200" spc="-11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9pPr>
          </a:lstStyle>
          <a:p>
            <a:pPr latinLnBrk="0">
              <a:defRPr/>
            </a:pPr>
            <a:r>
              <a:rPr kumimoji="0" lang="ko-KR" altLang="en-US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  <a:r>
              <a:rPr kumimoji="0" lang="en-US" altLang="ko-KR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III – 4. </a:t>
            </a:r>
            <a:r>
              <a:rPr lang="ko-KR" altLang="ko-KR" sz="20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결함 </a:t>
            </a:r>
            <a:r>
              <a:rPr lang="ko-KR" altLang="en-US" sz="20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사례 </a:t>
            </a:r>
            <a:r>
              <a:rPr lang="en-US" altLang="ko-KR" sz="20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( </a:t>
            </a:r>
            <a:r>
              <a:rPr lang="ko-KR" altLang="en-US" sz="20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심각도 </a:t>
            </a:r>
            <a:r>
              <a:rPr lang="en-US" altLang="ko-KR" sz="20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)    6/8</a:t>
            </a:r>
            <a:endParaRPr kumimoji="0" lang="en-US" altLang="ko-KR" sz="2000" b="1" i="0" u="none" strike="noStrike" kern="1200" cap="none" spc="-11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942714594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5DE482-5851-A864-A45F-7CC49DBC2C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67FD9A5D-BD15-4420-B960-A30D25DCA7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763" y="1733485"/>
            <a:ext cx="9766784" cy="4719703"/>
          </a:xfrm>
          <a:prstGeom prst="rect">
            <a:avLst/>
          </a:prstGeom>
        </p:spPr>
      </p:pic>
      <p:grpSp>
        <p:nvGrpSpPr>
          <p:cNvPr id="9" name="object 5">
            <a:extLst>
              <a:ext uri="{FF2B5EF4-FFF2-40B4-BE49-F238E27FC236}">
                <a16:creationId xmlns:a16="http://schemas.microsoft.com/office/drawing/2014/main" id="{7226E383-FD44-4302-A4B5-15C2BBE239C6}"/>
              </a:ext>
            </a:extLst>
          </p:cNvPr>
          <p:cNvGrpSpPr/>
          <p:nvPr/>
        </p:nvGrpSpPr>
        <p:grpSpPr>
          <a:xfrm>
            <a:off x="463965" y="766503"/>
            <a:ext cx="8587568" cy="704399"/>
            <a:chOff x="833764" y="5138588"/>
            <a:chExt cx="2386254" cy="788035"/>
          </a:xfrm>
        </p:grpSpPr>
        <p:sp>
          <p:nvSpPr>
            <p:cNvPr id="10" name="object 7">
              <a:extLst>
                <a:ext uri="{FF2B5EF4-FFF2-40B4-BE49-F238E27FC236}">
                  <a16:creationId xmlns:a16="http://schemas.microsoft.com/office/drawing/2014/main" id="{D9A1252A-2616-4C2F-B675-FED43C4C1BE1}"/>
                </a:ext>
              </a:extLst>
            </p:cNvPr>
            <p:cNvSpPr/>
            <p:nvPr/>
          </p:nvSpPr>
          <p:spPr>
            <a:xfrm>
              <a:off x="833764" y="5152438"/>
              <a:ext cx="2386254" cy="766534"/>
            </a:xfrm>
            <a:custGeom>
              <a:avLst/>
              <a:gdLst/>
              <a:ahLst/>
              <a:cxnLst/>
              <a:rect l="l" t="t" r="r" b="b"/>
              <a:pathLst>
                <a:path w="9038590" h="788035">
                  <a:moveTo>
                    <a:pt x="8983920" y="787657"/>
                  </a:moveTo>
                  <a:lnTo>
                    <a:pt x="54648" y="787657"/>
                  </a:lnTo>
                  <a:lnTo>
                    <a:pt x="50845" y="787283"/>
                  </a:lnTo>
                  <a:lnTo>
                    <a:pt x="14415" y="767811"/>
                  </a:lnTo>
                  <a:lnTo>
                    <a:pt x="0" y="733008"/>
                  </a:lnTo>
                  <a:lnTo>
                    <a:pt x="0" y="729168"/>
                  </a:lnTo>
                  <a:lnTo>
                    <a:pt x="0" y="54648"/>
                  </a:lnTo>
                  <a:lnTo>
                    <a:pt x="19846" y="14414"/>
                  </a:lnTo>
                  <a:lnTo>
                    <a:pt x="54648" y="0"/>
                  </a:lnTo>
                  <a:lnTo>
                    <a:pt x="8983920" y="0"/>
                  </a:lnTo>
                  <a:lnTo>
                    <a:pt x="9024153" y="19846"/>
                  </a:lnTo>
                  <a:lnTo>
                    <a:pt x="9038569" y="54648"/>
                  </a:lnTo>
                  <a:lnTo>
                    <a:pt x="9038569" y="733008"/>
                  </a:lnTo>
                  <a:lnTo>
                    <a:pt x="9018722" y="773242"/>
                  </a:lnTo>
                  <a:lnTo>
                    <a:pt x="8987723" y="787283"/>
                  </a:lnTo>
                  <a:lnTo>
                    <a:pt x="8983920" y="787657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11" name="object 8">
              <a:extLst>
                <a:ext uri="{FF2B5EF4-FFF2-40B4-BE49-F238E27FC236}">
                  <a16:creationId xmlns:a16="http://schemas.microsoft.com/office/drawing/2014/main" id="{CD8EC6A9-F836-4E3E-A396-0CB84DF764B9}"/>
                </a:ext>
              </a:extLst>
            </p:cNvPr>
            <p:cNvSpPr/>
            <p:nvPr/>
          </p:nvSpPr>
          <p:spPr>
            <a:xfrm>
              <a:off x="833764" y="5138588"/>
              <a:ext cx="2386254" cy="788035"/>
            </a:xfrm>
            <a:custGeom>
              <a:avLst/>
              <a:gdLst/>
              <a:ahLst/>
              <a:cxnLst/>
              <a:rect l="l" t="t" r="r" b="b"/>
              <a:pathLst>
                <a:path w="9038590" h="788035">
                  <a:moveTo>
                    <a:pt x="0" y="729168"/>
                  </a:moveTo>
                  <a:lnTo>
                    <a:pt x="0" y="58489"/>
                  </a:lnTo>
                  <a:lnTo>
                    <a:pt x="0" y="54648"/>
                  </a:lnTo>
                  <a:lnTo>
                    <a:pt x="374" y="50845"/>
                  </a:lnTo>
                  <a:lnTo>
                    <a:pt x="17131" y="17130"/>
                  </a:lnTo>
                  <a:lnTo>
                    <a:pt x="19846" y="14414"/>
                  </a:lnTo>
                  <a:lnTo>
                    <a:pt x="22801" y="11990"/>
                  </a:lnTo>
                  <a:lnTo>
                    <a:pt x="25994" y="9856"/>
                  </a:lnTo>
                  <a:lnTo>
                    <a:pt x="29187" y="7722"/>
                  </a:lnTo>
                  <a:lnTo>
                    <a:pt x="47078" y="1123"/>
                  </a:lnTo>
                  <a:lnTo>
                    <a:pt x="50845" y="374"/>
                  </a:lnTo>
                  <a:lnTo>
                    <a:pt x="54648" y="0"/>
                  </a:lnTo>
                  <a:lnTo>
                    <a:pt x="58489" y="0"/>
                  </a:lnTo>
                  <a:lnTo>
                    <a:pt x="8980080" y="0"/>
                  </a:lnTo>
                  <a:lnTo>
                    <a:pt x="8983920" y="0"/>
                  </a:lnTo>
                  <a:lnTo>
                    <a:pt x="8987723" y="374"/>
                  </a:lnTo>
                  <a:lnTo>
                    <a:pt x="8991490" y="1123"/>
                  </a:lnTo>
                  <a:lnTo>
                    <a:pt x="8995257" y="1872"/>
                  </a:lnTo>
                  <a:lnTo>
                    <a:pt x="9012574" y="9857"/>
                  </a:lnTo>
                  <a:lnTo>
                    <a:pt x="9015768" y="11990"/>
                  </a:lnTo>
                  <a:lnTo>
                    <a:pt x="9028710" y="25993"/>
                  </a:lnTo>
                  <a:lnTo>
                    <a:pt x="9030844" y="29187"/>
                  </a:lnTo>
                  <a:lnTo>
                    <a:pt x="9038569" y="58489"/>
                  </a:lnTo>
                  <a:lnTo>
                    <a:pt x="9038569" y="729168"/>
                  </a:lnTo>
                  <a:lnTo>
                    <a:pt x="9038569" y="733008"/>
                  </a:lnTo>
                  <a:lnTo>
                    <a:pt x="9038193" y="736812"/>
                  </a:lnTo>
                  <a:lnTo>
                    <a:pt x="9037444" y="740578"/>
                  </a:lnTo>
                  <a:lnTo>
                    <a:pt x="9036695" y="744345"/>
                  </a:lnTo>
                  <a:lnTo>
                    <a:pt x="9028710" y="761662"/>
                  </a:lnTo>
                  <a:lnTo>
                    <a:pt x="9026576" y="764856"/>
                  </a:lnTo>
                  <a:lnTo>
                    <a:pt x="9012574" y="777800"/>
                  </a:lnTo>
                  <a:lnTo>
                    <a:pt x="9009381" y="779934"/>
                  </a:lnTo>
                  <a:lnTo>
                    <a:pt x="8991490" y="786533"/>
                  </a:lnTo>
                  <a:lnTo>
                    <a:pt x="8987723" y="787283"/>
                  </a:lnTo>
                  <a:lnTo>
                    <a:pt x="8983920" y="787657"/>
                  </a:lnTo>
                  <a:lnTo>
                    <a:pt x="8980080" y="787657"/>
                  </a:lnTo>
                  <a:lnTo>
                    <a:pt x="58489" y="787657"/>
                  </a:lnTo>
                  <a:lnTo>
                    <a:pt x="54648" y="787657"/>
                  </a:lnTo>
                  <a:lnTo>
                    <a:pt x="50845" y="787283"/>
                  </a:lnTo>
                  <a:lnTo>
                    <a:pt x="17131" y="770526"/>
                  </a:lnTo>
                  <a:lnTo>
                    <a:pt x="14415" y="767811"/>
                  </a:lnTo>
                  <a:lnTo>
                    <a:pt x="1123" y="740578"/>
                  </a:lnTo>
                  <a:lnTo>
                    <a:pt x="374" y="736812"/>
                  </a:lnTo>
                  <a:lnTo>
                    <a:pt x="0" y="733008"/>
                  </a:lnTo>
                  <a:lnTo>
                    <a:pt x="0" y="729168"/>
                  </a:lnTo>
                  <a:close/>
                </a:path>
              </a:pathLst>
            </a:custGeom>
            <a:ln w="7798">
              <a:solidFill>
                <a:schemeClr val="bg1">
                  <a:lumMod val="75000"/>
                </a:schemeClr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711F3544-C21E-4169-82F9-E22EAAC049F2}"/>
              </a:ext>
            </a:extLst>
          </p:cNvPr>
          <p:cNvSpPr txBox="1"/>
          <p:nvPr/>
        </p:nvSpPr>
        <p:spPr>
          <a:xfrm>
            <a:off x="583466" y="825192"/>
            <a:ext cx="92477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lang="en-US" altLang="ko-KR" sz="1400" b="1" dirty="0">
                <a:solidFill>
                  <a:schemeClr val="bg2">
                    <a:lumMod val="50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Noto Sans KR"/>
              </a:rPr>
              <a:t>Minor</a:t>
            </a:r>
            <a:endParaRPr lang="ko-KR" altLang="en-US" sz="1400" b="1" dirty="0">
              <a:solidFill>
                <a:schemeClr val="bg2">
                  <a:lumMod val="50000"/>
                </a:schemeClr>
              </a:solidFill>
              <a:latin typeface="KoPub돋움체 Medium" panose="00000600000000000000" pitchFamily="2" charset="-127"/>
              <a:ea typeface="KoPub돋움체 Medium" panose="00000600000000000000" pitchFamily="2" charset="-127"/>
              <a:cs typeface="Noto Sans KR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486B358-03B0-45E5-A019-D42057979D30}"/>
              </a:ext>
            </a:extLst>
          </p:cNvPr>
          <p:cNvSpPr txBox="1"/>
          <p:nvPr/>
        </p:nvSpPr>
        <p:spPr>
          <a:xfrm>
            <a:off x="1045855" y="1094614"/>
            <a:ext cx="873609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ko-KR" sz="105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DEF-03721</a:t>
            </a:r>
            <a:r>
              <a:rPr lang="en-US" altLang="ko-KR" sz="105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: </a:t>
            </a:r>
            <a:r>
              <a:rPr lang="ko-KR" altLang="en-US" sz="105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오후 </a:t>
            </a:r>
            <a:r>
              <a:rPr lang="en-US" altLang="ko-KR" sz="105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2</a:t>
            </a:r>
            <a:r>
              <a:rPr lang="ko-KR" altLang="en-US" sz="105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시 </a:t>
            </a:r>
            <a:r>
              <a:rPr lang="en-US" altLang="ko-KR" sz="105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-&gt;  14</a:t>
            </a:r>
            <a:r>
              <a:rPr lang="ko-KR" altLang="en-US" sz="105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시로 표시되면 </a:t>
            </a:r>
            <a:r>
              <a:rPr lang="ko-KR" altLang="en-US" sz="1050" kern="100" dirty="0" err="1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좋을것같습니다</a:t>
            </a:r>
            <a:r>
              <a:rPr lang="en-US" altLang="ko-KR" sz="105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, (</a:t>
            </a:r>
            <a:r>
              <a:rPr lang="ko-KR" altLang="en-US" sz="105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출국장 페이지 동일</a:t>
            </a:r>
            <a:r>
              <a:rPr lang="en-US" altLang="ko-KR" sz="105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)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420535E-23A4-407E-B399-F54F589EAB4E}"/>
              </a:ext>
            </a:extLst>
          </p:cNvPr>
          <p:cNvSpPr/>
          <p:nvPr/>
        </p:nvSpPr>
        <p:spPr>
          <a:xfrm>
            <a:off x="6468139" y="5491450"/>
            <a:ext cx="3654055" cy="1051477"/>
          </a:xfrm>
          <a:prstGeom prst="rect">
            <a:avLst/>
          </a:prstGeom>
          <a:noFill/>
          <a:ln w="412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9D28CD56-20A5-4D80-98EE-8D2943FE79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892" y="91161"/>
            <a:ext cx="5652516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indent="-354013" defTabSz="957743">
              <a:defRPr sz="2200" spc="-11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9pPr>
          </a:lstStyle>
          <a:p>
            <a:pPr latinLnBrk="0">
              <a:defRPr/>
            </a:pPr>
            <a:r>
              <a:rPr kumimoji="0" lang="ko-KR" altLang="en-US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  <a:r>
              <a:rPr kumimoji="0" lang="en-US" altLang="ko-KR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III – 4. </a:t>
            </a:r>
            <a:r>
              <a:rPr lang="ko-KR" altLang="ko-KR" sz="20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결함 </a:t>
            </a:r>
            <a:r>
              <a:rPr lang="ko-KR" altLang="en-US" sz="20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사례 </a:t>
            </a:r>
            <a:r>
              <a:rPr lang="en-US" altLang="ko-KR" sz="20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( </a:t>
            </a:r>
            <a:r>
              <a:rPr lang="ko-KR" altLang="en-US" sz="20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심각도 </a:t>
            </a:r>
            <a:r>
              <a:rPr lang="en-US" altLang="ko-KR" sz="20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)    7/8</a:t>
            </a:r>
            <a:endParaRPr kumimoji="0" lang="en-US" altLang="ko-KR" sz="2000" b="1" i="0" u="none" strike="noStrike" kern="1200" cap="none" spc="-11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015372059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5DE482-5851-A864-A45F-7CC49DBC2C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object 5">
            <a:extLst>
              <a:ext uri="{FF2B5EF4-FFF2-40B4-BE49-F238E27FC236}">
                <a16:creationId xmlns:a16="http://schemas.microsoft.com/office/drawing/2014/main" id="{7226E383-FD44-4302-A4B5-15C2BBE239C6}"/>
              </a:ext>
            </a:extLst>
          </p:cNvPr>
          <p:cNvGrpSpPr/>
          <p:nvPr/>
        </p:nvGrpSpPr>
        <p:grpSpPr>
          <a:xfrm>
            <a:off x="463965" y="766503"/>
            <a:ext cx="8587568" cy="704399"/>
            <a:chOff x="833764" y="5138588"/>
            <a:chExt cx="2386254" cy="788035"/>
          </a:xfrm>
        </p:grpSpPr>
        <p:sp>
          <p:nvSpPr>
            <p:cNvPr id="10" name="object 7">
              <a:extLst>
                <a:ext uri="{FF2B5EF4-FFF2-40B4-BE49-F238E27FC236}">
                  <a16:creationId xmlns:a16="http://schemas.microsoft.com/office/drawing/2014/main" id="{D9A1252A-2616-4C2F-B675-FED43C4C1BE1}"/>
                </a:ext>
              </a:extLst>
            </p:cNvPr>
            <p:cNvSpPr/>
            <p:nvPr/>
          </p:nvSpPr>
          <p:spPr>
            <a:xfrm>
              <a:off x="833764" y="5152438"/>
              <a:ext cx="2386254" cy="766534"/>
            </a:xfrm>
            <a:custGeom>
              <a:avLst/>
              <a:gdLst/>
              <a:ahLst/>
              <a:cxnLst/>
              <a:rect l="l" t="t" r="r" b="b"/>
              <a:pathLst>
                <a:path w="9038590" h="788035">
                  <a:moveTo>
                    <a:pt x="8983920" y="787657"/>
                  </a:moveTo>
                  <a:lnTo>
                    <a:pt x="54648" y="787657"/>
                  </a:lnTo>
                  <a:lnTo>
                    <a:pt x="50845" y="787283"/>
                  </a:lnTo>
                  <a:lnTo>
                    <a:pt x="14415" y="767811"/>
                  </a:lnTo>
                  <a:lnTo>
                    <a:pt x="0" y="733008"/>
                  </a:lnTo>
                  <a:lnTo>
                    <a:pt x="0" y="729168"/>
                  </a:lnTo>
                  <a:lnTo>
                    <a:pt x="0" y="54648"/>
                  </a:lnTo>
                  <a:lnTo>
                    <a:pt x="19846" y="14414"/>
                  </a:lnTo>
                  <a:lnTo>
                    <a:pt x="54648" y="0"/>
                  </a:lnTo>
                  <a:lnTo>
                    <a:pt x="8983920" y="0"/>
                  </a:lnTo>
                  <a:lnTo>
                    <a:pt x="9024153" y="19846"/>
                  </a:lnTo>
                  <a:lnTo>
                    <a:pt x="9038569" y="54648"/>
                  </a:lnTo>
                  <a:lnTo>
                    <a:pt x="9038569" y="733008"/>
                  </a:lnTo>
                  <a:lnTo>
                    <a:pt x="9018722" y="773242"/>
                  </a:lnTo>
                  <a:lnTo>
                    <a:pt x="8987723" y="787283"/>
                  </a:lnTo>
                  <a:lnTo>
                    <a:pt x="8983920" y="787657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11" name="object 8">
              <a:extLst>
                <a:ext uri="{FF2B5EF4-FFF2-40B4-BE49-F238E27FC236}">
                  <a16:creationId xmlns:a16="http://schemas.microsoft.com/office/drawing/2014/main" id="{CD8EC6A9-F836-4E3E-A396-0CB84DF764B9}"/>
                </a:ext>
              </a:extLst>
            </p:cNvPr>
            <p:cNvSpPr/>
            <p:nvPr/>
          </p:nvSpPr>
          <p:spPr>
            <a:xfrm>
              <a:off x="833764" y="5138588"/>
              <a:ext cx="2386254" cy="788035"/>
            </a:xfrm>
            <a:custGeom>
              <a:avLst/>
              <a:gdLst/>
              <a:ahLst/>
              <a:cxnLst/>
              <a:rect l="l" t="t" r="r" b="b"/>
              <a:pathLst>
                <a:path w="9038590" h="788035">
                  <a:moveTo>
                    <a:pt x="0" y="729168"/>
                  </a:moveTo>
                  <a:lnTo>
                    <a:pt x="0" y="58489"/>
                  </a:lnTo>
                  <a:lnTo>
                    <a:pt x="0" y="54648"/>
                  </a:lnTo>
                  <a:lnTo>
                    <a:pt x="374" y="50845"/>
                  </a:lnTo>
                  <a:lnTo>
                    <a:pt x="17131" y="17130"/>
                  </a:lnTo>
                  <a:lnTo>
                    <a:pt x="19846" y="14414"/>
                  </a:lnTo>
                  <a:lnTo>
                    <a:pt x="22801" y="11990"/>
                  </a:lnTo>
                  <a:lnTo>
                    <a:pt x="25994" y="9856"/>
                  </a:lnTo>
                  <a:lnTo>
                    <a:pt x="29187" y="7722"/>
                  </a:lnTo>
                  <a:lnTo>
                    <a:pt x="47078" y="1123"/>
                  </a:lnTo>
                  <a:lnTo>
                    <a:pt x="50845" y="374"/>
                  </a:lnTo>
                  <a:lnTo>
                    <a:pt x="54648" y="0"/>
                  </a:lnTo>
                  <a:lnTo>
                    <a:pt x="58489" y="0"/>
                  </a:lnTo>
                  <a:lnTo>
                    <a:pt x="8980080" y="0"/>
                  </a:lnTo>
                  <a:lnTo>
                    <a:pt x="8983920" y="0"/>
                  </a:lnTo>
                  <a:lnTo>
                    <a:pt x="8987723" y="374"/>
                  </a:lnTo>
                  <a:lnTo>
                    <a:pt x="8991490" y="1123"/>
                  </a:lnTo>
                  <a:lnTo>
                    <a:pt x="8995257" y="1872"/>
                  </a:lnTo>
                  <a:lnTo>
                    <a:pt x="9012574" y="9857"/>
                  </a:lnTo>
                  <a:lnTo>
                    <a:pt x="9015768" y="11990"/>
                  </a:lnTo>
                  <a:lnTo>
                    <a:pt x="9028710" y="25993"/>
                  </a:lnTo>
                  <a:lnTo>
                    <a:pt x="9030844" y="29187"/>
                  </a:lnTo>
                  <a:lnTo>
                    <a:pt x="9038569" y="58489"/>
                  </a:lnTo>
                  <a:lnTo>
                    <a:pt x="9038569" y="729168"/>
                  </a:lnTo>
                  <a:lnTo>
                    <a:pt x="9038569" y="733008"/>
                  </a:lnTo>
                  <a:lnTo>
                    <a:pt x="9038193" y="736812"/>
                  </a:lnTo>
                  <a:lnTo>
                    <a:pt x="9037444" y="740578"/>
                  </a:lnTo>
                  <a:lnTo>
                    <a:pt x="9036695" y="744345"/>
                  </a:lnTo>
                  <a:lnTo>
                    <a:pt x="9028710" y="761662"/>
                  </a:lnTo>
                  <a:lnTo>
                    <a:pt x="9026576" y="764856"/>
                  </a:lnTo>
                  <a:lnTo>
                    <a:pt x="9012574" y="777800"/>
                  </a:lnTo>
                  <a:lnTo>
                    <a:pt x="9009381" y="779934"/>
                  </a:lnTo>
                  <a:lnTo>
                    <a:pt x="8991490" y="786533"/>
                  </a:lnTo>
                  <a:lnTo>
                    <a:pt x="8987723" y="787283"/>
                  </a:lnTo>
                  <a:lnTo>
                    <a:pt x="8983920" y="787657"/>
                  </a:lnTo>
                  <a:lnTo>
                    <a:pt x="8980080" y="787657"/>
                  </a:lnTo>
                  <a:lnTo>
                    <a:pt x="58489" y="787657"/>
                  </a:lnTo>
                  <a:lnTo>
                    <a:pt x="54648" y="787657"/>
                  </a:lnTo>
                  <a:lnTo>
                    <a:pt x="50845" y="787283"/>
                  </a:lnTo>
                  <a:lnTo>
                    <a:pt x="17131" y="770526"/>
                  </a:lnTo>
                  <a:lnTo>
                    <a:pt x="14415" y="767811"/>
                  </a:lnTo>
                  <a:lnTo>
                    <a:pt x="1123" y="740578"/>
                  </a:lnTo>
                  <a:lnTo>
                    <a:pt x="374" y="736812"/>
                  </a:lnTo>
                  <a:lnTo>
                    <a:pt x="0" y="733008"/>
                  </a:lnTo>
                  <a:lnTo>
                    <a:pt x="0" y="729168"/>
                  </a:lnTo>
                  <a:close/>
                </a:path>
              </a:pathLst>
            </a:custGeom>
            <a:ln w="7798">
              <a:solidFill>
                <a:schemeClr val="bg1">
                  <a:lumMod val="75000"/>
                </a:schemeClr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711F3544-C21E-4169-82F9-E22EAAC049F2}"/>
              </a:ext>
            </a:extLst>
          </p:cNvPr>
          <p:cNvSpPr txBox="1"/>
          <p:nvPr/>
        </p:nvSpPr>
        <p:spPr>
          <a:xfrm>
            <a:off x="583466" y="825192"/>
            <a:ext cx="92477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lang="en-US" altLang="ko-KR" sz="1400" b="1" dirty="0">
                <a:solidFill>
                  <a:schemeClr val="bg2">
                    <a:lumMod val="50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Noto Sans KR"/>
              </a:rPr>
              <a:t>Minor</a:t>
            </a:r>
            <a:endParaRPr lang="ko-KR" altLang="en-US" sz="1400" b="1" dirty="0">
              <a:solidFill>
                <a:schemeClr val="bg2">
                  <a:lumMod val="50000"/>
                </a:schemeClr>
              </a:solidFill>
              <a:latin typeface="KoPub돋움체 Medium" panose="00000600000000000000" pitchFamily="2" charset="-127"/>
              <a:ea typeface="KoPub돋움체 Medium" panose="00000600000000000000" pitchFamily="2" charset="-127"/>
              <a:cs typeface="Noto Sans KR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486B358-03B0-45E5-A019-D42057979D30}"/>
              </a:ext>
            </a:extLst>
          </p:cNvPr>
          <p:cNvSpPr txBox="1"/>
          <p:nvPr/>
        </p:nvSpPr>
        <p:spPr>
          <a:xfrm>
            <a:off x="1045855" y="1094614"/>
            <a:ext cx="873609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ko-KR" sz="105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DEF-03455 </a:t>
            </a:r>
            <a:r>
              <a:rPr lang="en-US" altLang="ko-KR" sz="105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: Set focus</a:t>
            </a:r>
            <a:r>
              <a:rPr lang="ko-KR" altLang="en-US" sz="105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가  첫 화면에 위치하지 않음</a:t>
            </a:r>
            <a:endParaRPr lang="ko-KR" altLang="ko-KR" sz="1050" kern="100" dirty="0"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8627B1F-FEF3-4AD5-85A1-080DCA3B24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763" y="1868417"/>
            <a:ext cx="9425573" cy="4205798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9971EAEC-E774-4944-A712-D3052ABEAC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4163" y="1875256"/>
            <a:ext cx="8038252" cy="4643980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1E627C36-E318-4E61-B4CB-76B563F99C51}"/>
              </a:ext>
            </a:extLst>
          </p:cNvPr>
          <p:cNvSpPr/>
          <p:nvPr/>
        </p:nvSpPr>
        <p:spPr>
          <a:xfrm>
            <a:off x="3586876" y="3551274"/>
            <a:ext cx="1048919" cy="435936"/>
          </a:xfrm>
          <a:prstGeom prst="rect">
            <a:avLst/>
          </a:prstGeom>
          <a:noFill/>
          <a:ln w="412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Rectangle 2">
            <a:extLst>
              <a:ext uri="{FF2B5EF4-FFF2-40B4-BE49-F238E27FC236}">
                <a16:creationId xmlns:a16="http://schemas.microsoft.com/office/drawing/2014/main" id="{891EFC2A-386E-478E-B209-1E96238ADD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892" y="91161"/>
            <a:ext cx="5652516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indent="-354013" defTabSz="957743">
              <a:defRPr sz="2200" spc="-11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9pPr>
          </a:lstStyle>
          <a:p>
            <a:pPr latinLnBrk="0">
              <a:defRPr/>
            </a:pPr>
            <a:r>
              <a:rPr kumimoji="0" lang="ko-KR" altLang="en-US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  <a:r>
              <a:rPr kumimoji="0" lang="en-US" altLang="ko-KR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III – 4. </a:t>
            </a:r>
            <a:r>
              <a:rPr lang="ko-KR" altLang="ko-KR" sz="20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결함 </a:t>
            </a:r>
            <a:r>
              <a:rPr lang="ko-KR" altLang="en-US" sz="20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사례 </a:t>
            </a:r>
            <a:r>
              <a:rPr lang="en-US" altLang="ko-KR" sz="20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( </a:t>
            </a:r>
            <a:r>
              <a:rPr lang="ko-KR" altLang="en-US" sz="20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심각도 </a:t>
            </a:r>
            <a:r>
              <a:rPr lang="en-US" altLang="ko-KR" sz="20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)    8/8</a:t>
            </a:r>
            <a:endParaRPr kumimoji="0" lang="en-US" altLang="ko-KR" sz="2000" b="1" i="0" u="none" strike="noStrike" kern="1200" cap="none" spc="-11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759435688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69CD25-C31C-C671-775F-F1F7D36B1B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DEEFB788-EB00-4C09-A1E3-BEC6ADF29347}"/>
              </a:ext>
            </a:extLst>
          </p:cNvPr>
          <p:cNvSpPr/>
          <p:nvPr/>
        </p:nvSpPr>
        <p:spPr>
          <a:xfrm>
            <a:off x="787321" y="1179278"/>
            <a:ext cx="10940714" cy="5273910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1" name="object 5">
            <a:extLst>
              <a:ext uri="{FF2B5EF4-FFF2-40B4-BE49-F238E27FC236}">
                <a16:creationId xmlns:a16="http://schemas.microsoft.com/office/drawing/2014/main" id="{B0BC8524-1161-4881-BD28-24AB213A1F05}"/>
              </a:ext>
            </a:extLst>
          </p:cNvPr>
          <p:cNvGrpSpPr/>
          <p:nvPr/>
        </p:nvGrpSpPr>
        <p:grpSpPr>
          <a:xfrm>
            <a:off x="463965" y="766503"/>
            <a:ext cx="8587568" cy="704399"/>
            <a:chOff x="833764" y="5138588"/>
            <a:chExt cx="2386254" cy="788035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12" name="object 7">
              <a:extLst>
                <a:ext uri="{FF2B5EF4-FFF2-40B4-BE49-F238E27FC236}">
                  <a16:creationId xmlns:a16="http://schemas.microsoft.com/office/drawing/2014/main" id="{9B03F133-6D33-48CD-AA9D-0841C84F17EE}"/>
                </a:ext>
              </a:extLst>
            </p:cNvPr>
            <p:cNvSpPr/>
            <p:nvPr/>
          </p:nvSpPr>
          <p:spPr>
            <a:xfrm>
              <a:off x="833764" y="5152438"/>
              <a:ext cx="2386254" cy="766534"/>
            </a:xfrm>
            <a:custGeom>
              <a:avLst/>
              <a:gdLst/>
              <a:ahLst/>
              <a:cxnLst/>
              <a:rect l="l" t="t" r="r" b="b"/>
              <a:pathLst>
                <a:path w="9038590" h="788035">
                  <a:moveTo>
                    <a:pt x="8983920" y="787657"/>
                  </a:moveTo>
                  <a:lnTo>
                    <a:pt x="54648" y="787657"/>
                  </a:lnTo>
                  <a:lnTo>
                    <a:pt x="50845" y="787283"/>
                  </a:lnTo>
                  <a:lnTo>
                    <a:pt x="14415" y="767811"/>
                  </a:lnTo>
                  <a:lnTo>
                    <a:pt x="0" y="733008"/>
                  </a:lnTo>
                  <a:lnTo>
                    <a:pt x="0" y="729168"/>
                  </a:lnTo>
                  <a:lnTo>
                    <a:pt x="0" y="54648"/>
                  </a:lnTo>
                  <a:lnTo>
                    <a:pt x="19846" y="14414"/>
                  </a:lnTo>
                  <a:lnTo>
                    <a:pt x="54648" y="0"/>
                  </a:lnTo>
                  <a:lnTo>
                    <a:pt x="8983920" y="0"/>
                  </a:lnTo>
                  <a:lnTo>
                    <a:pt x="9024153" y="19846"/>
                  </a:lnTo>
                  <a:lnTo>
                    <a:pt x="9038569" y="54648"/>
                  </a:lnTo>
                  <a:lnTo>
                    <a:pt x="9038569" y="733008"/>
                  </a:lnTo>
                  <a:lnTo>
                    <a:pt x="9018722" y="773242"/>
                  </a:lnTo>
                  <a:lnTo>
                    <a:pt x="8987723" y="787283"/>
                  </a:lnTo>
                  <a:lnTo>
                    <a:pt x="8983920" y="787657"/>
                  </a:lnTo>
                  <a:close/>
                </a:path>
              </a:pathLst>
            </a:custGeom>
            <a:grpFill/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13" name="object 8">
              <a:extLst>
                <a:ext uri="{FF2B5EF4-FFF2-40B4-BE49-F238E27FC236}">
                  <a16:creationId xmlns:a16="http://schemas.microsoft.com/office/drawing/2014/main" id="{7FBEF369-9C9F-4244-8149-4F4EACD555F4}"/>
                </a:ext>
              </a:extLst>
            </p:cNvPr>
            <p:cNvSpPr/>
            <p:nvPr/>
          </p:nvSpPr>
          <p:spPr>
            <a:xfrm>
              <a:off x="833764" y="5138588"/>
              <a:ext cx="2386254" cy="788035"/>
            </a:xfrm>
            <a:custGeom>
              <a:avLst/>
              <a:gdLst/>
              <a:ahLst/>
              <a:cxnLst/>
              <a:rect l="l" t="t" r="r" b="b"/>
              <a:pathLst>
                <a:path w="9038590" h="788035">
                  <a:moveTo>
                    <a:pt x="0" y="729168"/>
                  </a:moveTo>
                  <a:lnTo>
                    <a:pt x="0" y="58489"/>
                  </a:lnTo>
                  <a:lnTo>
                    <a:pt x="0" y="54648"/>
                  </a:lnTo>
                  <a:lnTo>
                    <a:pt x="374" y="50845"/>
                  </a:lnTo>
                  <a:lnTo>
                    <a:pt x="17131" y="17130"/>
                  </a:lnTo>
                  <a:lnTo>
                    <a:pt x="19846" y="14414"/>
                  </a:lnTo>
                  <a:lnTo>
                    <a:pt x="22801" y="11990"/>
                  </a:lnTo>
                  <a:lnTo>
                    <a:pt x="25994" y="9856"/>
                  </a:lnTo>
                  <a:lnTo>
                    <a:pt x="29187" y="7722"/>
                  </a:lnTo>
                  <a:lnTo>
                    <a:pt x="47078" y="1123"/>
                  </a:lnTo>
                  <a:lnTo>
                    <a:pt x="50845" y="374"/>
                  </a:lnTo>
                  <a:lnTo>
                    <a:pt x="54648" y="0"/>
                  </a:lnTo>
                  <a:lnTo>
                    <a:pt x="58489" y="0"/>
                  </a:lnTo>
                  <a:lnTo>
                    <a:pt x="8980080" y="0"/>
                  </a:lnTo>
                  <a:lnTo>
                    <a:pt x="8983920" y="0"/>
                  </a:lnTo>
                  <a:lnTo>
                    <a:pt x="8987723" y="374"/>
                  </a:lnTo>
                  <a:lnTo>
                    <a:pt x="8991490" y="1123"/>
                  </a:lnTo>
                  <a:lnTo>
                    <a:pt x="8995257" y="1872"/>
                  </a:lnTo>
                  <a:lnTo>
                    <a:pt x="9012574" y="9857"/>
                  </a:lnTo>
                  <a:lnTo>
                    <a:pt x="9015768" y="11990"/>
                  </a:lnTo>
                  <a:lnTo>
                    <a:pt x="9028710" y="25993"/>
                  </a:lnTo>
                  <a:lnTo>
                    <a:pt x="9030844" y="29187"/>
                  </a:lnTo>
                  <a:lnTo>
                    <a:pt x="9038569" y="58489"/>
                  </a:lnTo>
                  <a:lnTo>
                    <a:pt x="9038569" y="729168"/>
                  </a:lnTo>
                  <a:lnTo>
                    <a:pt x="9038569" y="733008"/>
                  </a:lnTo>
                  <a:lnTo>
                    <a:pt x="9038193" y="736812"/>
                  </a:lnTo>
                  <a:lnTo>
                    <a:pt x="9037444" y="740578"/>
                  </a:lnTo>
                  <a:lnTo>
                    <a:pt x="9036695" y="744345"/>
                  </a:lnTo>
                  <a:lnTo>
                    <a:pt x="9028710" y="761662"/>
                  </a:lnTo>
                  <a:lnTo>
                    <a:pt x="9026576" y="764856"/>
                  </a:lnTo>
                  <a:lnTo>
                    <a:pt x="9012574" y="777800"/>
                  </a:lnTo>
                  <a:lnTo>
                    <a:pt x="9009381" y="779934"/>
                  </a:lnTo>
                  <a:lnTo>
                    <a:pt x="8991490" y="786533"/>
                  </a:lnTo>
                  <a:lnTo>
                    <a:pt x="8987723" y="787283"/>
                  </a:lnTo>
                  <a:lnTo>
                    <a:pt x="8983920" y="787657"/>
                  </a:lnTo>
                  <a:lnTo>
                    <a:pt x="8980080" y="787657"/>
                  </a:lnTo>
                  <a:lnTo>
                    <a:pt x="58489" y="787657"/>
                  </a:lnTo>
                  <a:lnTo>
                    <a:pt x="54648" y="787657"/>
                  </a:lnTo>
                  <a:lnTo>
                    <a:pt x="50845" y="787283"/>
                  </a:lnTo>
                  <a:lnTo>
                    <a:pt x="17131" y="770526"/>
                  </a:lnTo>
                  <a:lnTo>
                    <a:pt x="14415" y="767811"/>
                  </a:lnTo>
                  <a:lnTo>
                    <a:pt x="1123" y="740578"/>
                  </a:lnTo>
                  <a:lnTo>
                    <a:pt x="374" y="736812"/>
                  </a:lnTo>
                  <a:lnTo>
                    <a:pt x="0" y="733008"/>
                  </a:lnTo>
                  <a:lnTo>
                    <a:pt x="0" y="729168"/>
                  </a:lnTo>
                  <a:close/>
                </a:path>
              </a:pathLst>
            </a:custGeom>
            <a:grpFill/>
            <a:ln w="7798">
              <a:solidFill>
                <a:schemeClr val="accent1">
                  <a:lumMod val="40000"/>
                  <a:lumOff val="60000"/>
                </a:schemeClr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AAEB79FF-1177-470D-A509-8D98C55ABBC0}"/>
              </a:ext>
            </a:extLst>
          </p:cNvPr>
          <p:cNvSpPr txBox="1"/>
          <p:nvPr/>
        </p:nvSpPr>
        <p:spPr>
          <a:xfrm>
            <a:off x="583466" y="825192"/>
            <a:ext cx="92477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lang="ko-KR" altLang="en-US" sz="1400" b="1" dirty="0">
                <a:solidFill>
                  <a:schemeClr val="bg2">
                    <a:lumMod val="50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Noto Sans KR"/>
              </a:rPr>
              <a:t>기능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1AE9BCC-3164-4B18-B54D-E4CE37A77068}"/>
              </a:ext>
            </a:extLst>
          </p:cNvPr>
          <p:cNvSpPr txBox="1"/>
          <p:nvPr/>
        </p:nvSpPr>
        <p:spPr>
          <a:xfrm>
            <a:off x="1045855" y="1094614"/>
            <a:ext cx="873609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ko-KR" sz="105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DEF-03582 </a:t>
            </a:r>
            <a:r>
              <a:rPr lang="en-US" altLang="ko-KR" sz="105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: </a:t>
            </a:r>
            <a:r>
              <a:rPr lang="ko-KR" altLang="en-US" sz="105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최대 조회기간이 </a:t>
            </a:r>
            <a:r>
              <a:rPr lang="en-US" altLang="ko-KR" sz="105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2</a:t>
            </a:r>
            <a:r>
              <a:rPr lang="ko-KR" altLang="en-US" sz="105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일을 초과 </a:t>
            </a:r>
            <a:r>
              <a:rPr lang="ko-KR" altLang="en-US" sz="1050" kern="100" dirty="0" err="1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할수</a:t>
            </a:r>
            <a:r>
              <a:rPr lang="ko-KR" altLang="en-US" sz="105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없는데 </a:t>
            </a:r>
            <a:r>
              <a:rPr lang="en-US" altLang="ko-KR" sz="105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Timestamp</a:t>
            </a:r>
            <a:r>
              <a:rPr lang="ko-KR" altLang="en-US" sz="105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에 값을 넣지 않으면 전체 </a:t>
            </a:r>
            <a:r>
              <a:rPr lang="en-US" altLang="ko-KR" sz="105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Data</a:t>
            </a:r>
            <a:r>
              <a:rPr lang="ko-KR" altLang="en-US" sz="105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를 다 가져 옴</a:t>
            </a:r>
            <a:endParaRPr lang="ko-KR" altLang="ko-KR" sz="1050" kern="100" dirty="0"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F419355-92DE-4F81-AE48-0FD41F5FF7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314" y="1903009"/>
            <a:ext cx="9126633" cy="4257964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46EE1EDB-495F-48BF-9802-53E9FB593C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2592" y="2283526"/>
            <a:ext cx="9650172" cy="3915321"/>
          </a:xfrm>
          <a:prstGeom prst="rect">
            <a:avLst/>
          </a:prstGeom>
        </p:spPr>
      </p:pic>
      <p:sp>
        <p:nvSpPr>
          <p:cNvPr id="24" name="Rectangle 2">
            <a:extLst>
              <a:ext uri="{FF2B5EF4-FFF2-40B4-BE49-F238E27FC236}">
                <a16:creationId xmlns:a16="http://schemas.microsoft.com/office/drawing/2014/main" id="{5A80DDDA-22B0-4735-9627-68554F7BC5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892" y="91161"/>
            <a:ext cx="5652516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indent="-354013" defTabSz="957743">
              <a:defRPr sz="2200" spc="-11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9pPr>
          </a:lstStyle>
          <a:p>
            <a:pPr latinLnBrk="0">
              <a:defRPr/>
            </a:pPr>
            <a:r>
              <a:rPr kumimoji="0" lang="ko-KR" altLang="en-US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  <a:r>
              <a:rPr kumimoji="0" lang="en-US" altLang="ko-KR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III – 5. </a:t>
            </a:r>
            <a:r>
              <a:rPr lang="ko-KR" altLang="ko-KR" sz="20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결함 </a:t>
            </a:r>
            <a:r>
              <a:rPr lang="ko-KR" altLang="en-US" sz="20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사례 </a:t>
            </a:r>
            <a:r>
              <a:rPr lang="en-US" altLang="ko-KR" sz="20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( </a:t>
            </a:r>
            <a:r>
              <a:rPr lang="ko-KR" altLang="en-US" sz="20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유형별  </a:t>
            </a:r>
            <a:r>
              <a:rPr lang="en-US" altLang="ko-KR" sz="20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)    1/11</a:t>
            </a:r>
            <a:endParaRPr kumimoji="0" lang="en-US" altLang="ko-KR" sz="2000" b="1" i="0" u="none" strike="noStrike" kern="1200" cap="none" spc="-11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452138314"/>
      </p:ext>
    </p:ext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69CD25-C31C-C671-775F-F1F7D36B1B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DEEFB788-EB00-4C09-A1E3-BEC6ADF29347}"/>
              </a:ext>
            </a:extLst>
          </p:cNvPr>
          <p:cNvSpPr/>
          <p:nvPr/>
        </p:nvSpPr>
        <p:spPr>
          <a:xfrm>
            <a:off x="787321" y="1179278"/>
            <a:ext cx="10940714" cy="5273910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6" name="object 5">
            <a:extLst>
              <a:ext uri="{FF2B5EF4-FFF2-40B4-BE49-F238E27FC236}">
                <a16:creationId xmlns:a16="http://schemas.microsoft.com/office/drawing/2014/main" id="{C4EF7903-FC91-489F-A3A1-9E56F9B34E3F}"/>
              </a:ext>
            </a:extLst>
          </p:cNvPr>
          <p:cNvGrpSpPr/>
          <p:nvPr/>
        </p:nvGrpSpPr>
        <p:grpSpPr>
          <a:xfrm>
            <a:off x="463965" y="766503"/>
            <a:ext cx="8587568" cy="704399"/>
            <a:chOff x="833764" y="5138588"/>
            <a:chExt cx="2386254" cy="788035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17" name="object 7">
              <a:extLst>
                <a:ext uri="{FF2B5EF4-FFF2-40B4-BE49-F238E27FC236}">
                  <a16:creationId xmlns:a16="http://schemas.microsoft.com/office/drawing/2014/main" id="{7C90B3BE-C87F-4533-8D1F-A43369B5D01A}"/>
                </a:ext>
              </a:extLst>
            </p:cNvPr>
            <p:cNvSpPr/>
            <p:nvPr/>
          </p:nvSpPr>
          <p:spPr>
            <a:xfrm>
              <a:off x="833764" y="5152438"/>
              <a:ext cx="2386254" cy="766534"/>
            </a:xfrm>
            <a:custGeom>
              <a:avLst/>
              <a:gdLst/>
              <a:ahLst/>
              <a:cxnLst/>
              <a:rect l="l" t="t" r="r" b="b"/>
              <a:pathLst>
                <a:path w="9038590" h="788035">
                  <a:moveTo>
                    <a:pt x="8983920" y="787657"/>
                  </a:moveTo>
                  <a:lnTo>
                    <a:pt x="54648" y="787657"/>
                  </a:lnTo>
                  <a:lnTo>
                    <a:pt x="50845" y="787283"/>
                  </a:lnTo>
                  <a:lnTo>
                    <a:pt x="14415" y="767811"/>
                  </a:lnTo>
                  <a:lnTo>
                    <a:pt x="0" y="733008"/>
                  </a:lnTo>
                  <a:lnTo>
                    <a:pt x="0" y="729168"/>
                  </a:lnTo>
                  <a:lnTo>
                    <a:pt x="0" y="54648"/>
                  </a:lnTo>
                  <a:lnTo>
                    <a:pt x="19846" y="14414"/>
                  </a:lnTo>
                  <a:lnTo>
                    <a:pt x="54648" y="0"/>
                  </a:lnTo>
                  <a:lnTo>
                    <a:pt x="8983920" y="0"/>
                  </a:lnTo>
                  <a:lnTo>
                    <a:pt x="9024153" y="19846"/>
                  </a:lnTo>
                  <a:lnTo>
                    <a:pt x="9038569" y="54648"/>
                  </a:lnTo>
                  <a:lnTo>
                    <a:pt x="9038569" y="733008"/>
                  </a:lnTo>
                  <a:lnTo>
                    <a:pt x="9018722" y="773242"/>
                  </a:lnTo>
                  <a:lnTo>
                    <a:pt x="8987723" y="787283"/>
                  </a:lnTo>
                  <a:lnTo>
                    <a:pt x="8983920" y="787657"/>
                  </a:lnTo>
                  <a:close/>
                </a:path>
              </a:pathLst>
            </a:custGeom>
            <a:grpFill/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18" name="object 8">
              <a:extLst>
                <a:ext uri="{FF2B5EF4-FFF2-40B4-BE49-F238E27FC236}">
                  <a16:creationId xmlns:a16="http://schemas.microsoft.com/office/drawing/2014/main" id="{0EDE018F-6003-42EE-9BEF-5BF4A271B488}"/>
                </a:ext>
              </a:extLst>
            </p:cNvPr>
            <p:cNvSpPr/>
            <p:nvPr/>
          </p:nvSpPr>
          <p:spPr>
            <a:xfrm>
              <a:off x="833764" y="5138588"/>
              <a:ext cx="2386254" cy="788035"/>
            </a:xfrm>
            <a:custGeom>
              <a:avLst/>
              <a:gdLst/>
              <a:ahLst/>
              <a:cxnLst/>
              <a:rect l="l" t="t" r="r" b="b"/>
              <a:pathLst>
                <a:path w="9038590" h="788035">
                  <a:moveTo>
                    <a:pt x="0" y="729168"/>
                  </a:moveTo>
                  <a:lnTo>
                    <a:pt x="0" y="58489"/>
                  </a:lnTo>
                  <a:lnTo>
                    <a:pt x="0" y="54648"/>
                  </a:lnTo>
                  <a:lnTo>
                    <a:pt x="374" y="50845"/>
                  </a:lnTo>
                  <a:lnTo>
                    <a:pt x="17131" y="17130"/>
                  </a:lnTo>
                  <a:lnTo>
                    <a:pt x="19846" y="14414"/>
                  </a:lnTo>
                  <a:lnTo>
                    <a:pt x="22801" y="11990"/>
                  </a:lnTo>
                  <a:lnTo>
                    <a:pt x="25994" y="9856"/>
                  </a:lnTo>
                  <a:lnTo>
                    <a:pt x="29187" y="7722"/>
                  </a:lnTo>
                  <a:lnTo>
                    <a:pt x="47078" y="1123"/>
                  </a:lnTo>
                  <a:lnTo>
                    <a:pt x="50845" y="374"/>
                  </a:lnTo>
                  <a:lnTo>
                    <a:pt x="54648" y="0"/>
                  </a:lnTo>
                  <a:lnTo>
                    <a:pt x="58489" y="0"/>
                  </a:lnTo>
                  <a:lnTo>
                    <a:pt x="8980080" y="0"/>
                  </a:lnTo>
                  <a:lnTo>
                    <a:pt x="8983920" y="0"/>
                  </a:lnTo>
                  <a:lnTo>
                    <a:pt x="8987723" y="374"/>
                  </a:lnTo>
                  <a:lnTo>
                    <a:pt x="8991490" y="1123"/>
                  </a:lnTo>
                  <a:lnTo>
                    <a:pt x="8995257" y="1872"/>
                  </a:lnTo>
                  <a:lnTo>
                    <a:pt x="9012574" y="9857"/>
                  </a:lnTo>
                  <a:lnTo>
                    <a:pt x="9015768" y="11990"/>
                  </a:lnTo>
                  <a:lnTo>
                    <a:pt x="9028710" y="25993"/>
                  </a:lnTo>
                  <a:lnTo>
                    <a:pt x="9030844" y="29187"/>
                  </a:lnTo>
                  <a:lnTo>
                    <a:pt x="9038569" y="58489"/>
                  </a:lnTo>
                  <a:lnTo>
                    <a:pt x="9038569" y="729168"/>
                  </a:lnTo>
                  <a:lnTo>
                    <a:pt x="9038569" y="733008"/>
                  </a:lnTo>
                  <a:lnTo>
                    <a:pt x="9038193" y="736812"/>
                  </a:lnTo>
                  <a:lnTo>
                    <a:pt x="9037444" y="740578"/>
                  </a:lnTo>
                  <a:lnTo>
                    <a:pt x="9036695" y="744345"/>
                  </a:lnTo>
                  <a:lnTo>
                    <a:pt x="9028710" y="761662"/>
                  </a:lnTo>
                  <a:lnTo>
                    <a:pt x="9026576" y="764856"/>
                  </a:lnTo>
                  <a:lnTo>
                    <a:pt x="9012574" y="777800"/>
                  </a:lnTo>
                  <a:lnTo>
                    <a:pt x="9009381" y="779934"/>
                  </a:lnTo>
                  <a:lnTo>
                    <a:pt x="8991490" y="786533"/>
                  </a:lnTo>
                  <a:lnTo>
                    <a:pt x="8987723" y="787283"/>
                  </a:lnTo>
                  <a:lnTo>
                    <a:pt x="8983920" y="787657"/>
                  </a:lnTo>
                  <a:lnTo>
                    <a:pt x="8980080" y="787657"/>
                  </a:lnTo>
                  <a:lnTo>
                    <a:pt x="58489" y="787657"/>
                  </a:lnTo>
                  <a:lnTo>
                    <a:pt x="54648" y="787657"/>
                  </a:lnTo>
                  <a:lnTo>
                    <a:pt x="50845" y="787283"/>
                  </a:lnTo>
                  <a:lnTo>
                    <a:pt x="17131" y="770526"/>
                  </a:lnTo>
                  <a:lnTo>
                    <a:pt x="14415" y="767811"/>
                  </a:lnTo>
                  <a:lnTo>
                    <a:pt x="1123" y="740578"/>
                  </a:lnTo>
                  <a:lnTo>
                    <a:pt x="374" y="736812"/>
                  </a:lnTo>
                  <a:lnTo>
                    <a:pt x="0" y="733008"/>
                  </a:lnTo>
                  <a:lnTo>
                    <a:pt x="0" y="729168"/>
                  </a:lnTo>
                  <a:close/>
                </a:path>
              </a:pathLst>
            </a:custGeom>
            <a:grpFill/>
            <a:ln w="7798">
              <a:solidFill>
                <a:schemeClr val="accent1">
                  <a:lumMod val="40000"/>
                  <a:lumOff val="60000"/>
                </a:schemeClr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</p:grpSp>
      <p:pic>
        <p:nvPicPr>
          <p:cNvPr id="6" name="그림 5">
            <a:extLst>
              <a:ext uri="{FF2B5EF4-FFF2-40B4-BE49-F238E27FC236}">
                <a16:creationId xmlns:a16="http://schemas.microsoft.com/office/drawing/2014/main" id="{44859AC3-F50E-4C42-BBC3-D09C89EB01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855" y="1882332"/>
            <a:ext cx="10056836" cy="437790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AAEB79FF-1177-470D-A509-8D98C55ABBC0}"/>
              </a:ext>
            </a:extLst>
          </p:cNvPr>
          <p:cNvSpPr txBox="1"/>
          <p:nvPr/>
        </p:nvSpPr>
        <p:spPr>
          <a:xfrm>
            <a:off x="583466" y="825192"/>
            <a:ext cx="92477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lang="ko-KR" altLang="en-US" sz="1400" b="1" dirty="0">
                <a:solidFill>
                  <a:schemeClr val="bg2">
                    <a:lumMod val="50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Noto Sans KR"/>
              </a:rPr>
              <a:t>기능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1AE9BCC-3164-4B18-B54D-E4CE37A77068}"/>
              </a:ext>
            </a:extLst>
          </p:cNvPr>
          <p:cNvSpPr txBox="1"/>
          <p:nvPr/>
        </p:nvSpPr>
        <p:spPr>
          <a:xfrm>
            <a:off x="1045855" y="1094614"/>
            <a:ext cx="8736098" cy="5103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ko-KR" sz="105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DEF-03403 </a:t>
            </a:r>
            <a:r>
              <a:rPr lang="en-US" altLang="ko-KR" sz="105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: </a:t>
            </a:r>
            <a:r>
              <a:rPr lang="ko-KR" altLang="en-US" sz="105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조회에서 주기장이 필수항목으로 </a:t>
            </a:r>
            <a:r>
              <a:rPr lang="ko-KR" altLang="en-US" sz="1050" kern="100" dirty="0" err="1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푯되여</a:t>
            </a:r>
            <a:r>
              <a:rPr lang="ko-KR" altLang="en-US" sz="105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있으나 </a:t>
            </a:r>
            <a:r>
              <a:rPr lang="ko-KR" altLang="en-US" sz="1050" kern="100" dirty="0" err="1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입력없이도</a:t>
            </a:r>
            <a:r>
              <a:rPr lang="ko-KR" altLang="en-US" sz="105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조회됨</a:t>
            </a:r>
            <a:endParaRPr lang="en-US" altLang="ko-KR" sz="1050" kern="100" dirty="0"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  <a:p>
            <a:pPr>
              <a:spcAft>
                <a:spcPts val="600"/>
              </a:spcAft>
            </a:pPr>
            <a:endParaRPr lang="ko-KR" altLang="ko-KR" sz="1050" kern="100" dirty="0"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19" name="Rectangle 2">
            <a:extLst>
              <a:ext uri="{FF2B5EF4-FFF2-40B4-BE49-F238E27FC236}">
                <a16:creationId xmlns:a16="http://schemas.microsoft.com/office/drawing/2014/main" id="{C5A01C60-0BC3-413A-9AFE-3186CD4DB7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892" y="91161"/>
            <a:ext cx="5652516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indent="-354013" defTabSz="957743">
              <a:defRPr sz="2200" spc="-11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9pPr>
          </a:lstStyle>
          <a:p>
            <a:pPr latinLnBrk="0">
              <a:defRPr/>
            </a:pPr>
            <a:r>
              <a:rPr kumimoji="0" lang="ko-KR" altLang="en-US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  <a:r>
              <a:rPr kumimoji="0" lang="en-US" altLang="ko-KR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III – 5. </a:t>
            </a:r>
            <a:r>
              <a:rPr lang="ko-KR" altLang="ko-KR" sz="20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결함 </a:t>
            </a:r>
            <a:r>
              <a:rPr lang="ko-KR" altLang="en-US" sz="20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사례 </a:t>
            </a:r>
            <a:r>
              <a:rPr lang="en-US" altLang="ko-KR" sz="20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( </a:t>
            </a:r>
            <a:r>
              <a:rPr lang="ko-KR" altLang="en-US" sz="20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유형별  </a:t>
            </a:r>
            <a:r>
              <a:rPr lang="en-US" altLang="ko-KR" sz="20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)    2/11</a:t>
            </a:r>
            <a:endParaRPr kumimoji="0" lang="en-US" altLang="ko-KR" sz="2000" b="1" i="0" u="none" strike="noStrike" kern="1200" cap="none" spc="-11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821370077"/>
      </p:ext>
    </p:ext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69CD25-C31C-C671-775F-F1F7D36B1B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DEEFB788-EB00-4C09-A1E3-BEC6ADF29347}"/>
              </a:ext>
            </a:extLst>
          </p:cNvPr>
          <p:cNvSpPr/>
          <p:nvPr/>
        </p:nvSpPr>
        <p:spPr>
          <a:xfrm>
            <a:off x="787321" y="1179278"/>
            <a:ext cx="10940714" cy="5273910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6" name="object 5">
            <a:extLst>
              <a:ext uri="{FF2B5EF4-FFF2-40B4-BE49-F238E27FC236}">
                <a16:creationId xmlns:a16="http://schemas.microsoft.com/office/drawing/2014/main" id="{B6839716-ECC4-47C8-BFB6-B0CE9FA546FE}"/>
              </a:ext>
            </a:extLst>
          </p:cNvPr>
          <p:cNvGrpSpPr/>
          <p:nvPr/>
        </p:nvGrpSpPr>
        <p:grpSpPr>
          <a:xfrm>
            <a:off x="463965" y="766503"/>
            <a:ext cx="8587568" cy="704399"/>
            <a:chOff x="833764" y="5138588"/>
            <a:chExt cx="2386254" cy="788035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17" name="object 7">
              <a:extLst>
                <a:ext uri="{FF2B5EF4-FFF2-40B4-BE49-F238E27FC236}">
                  <a16:creationId xmlns:a16="http://schemas.microsoft.com/office/drawing/2014/main" id="{2B068138-8668-4006-B843-7525989BC389}"/>
                </a:ext>
              </a:extLst>
            </p:cNvPr>
            <p:cNvSpPr/>
            <p:nvPr/>
          </p:nvSpPr>
          <p:spPr>
            <a:xfrm>
              <a:off x="833764" y="5152438"/>
              <a:ext cx="2386254" cy="766534"/>
            </a:xfrm>
            <a:custGeom>
              <a:avLst/>
              <a:gdLst/>
              <a:ahLst/>
              <a:cxnLst/>
              <a:rect l="l" t="t" r="r" b="b"/>
              <a:pathLst>
                <a:path w="9038590" h="788035">
                  <a:moveTo>
                    <a:pt x="8983920" y="787657"/>
                  </a:moveTo>
                  <a:lnTo>
                    <a:pt x="54648" y="787657"/>
                  </a:lnTo>
                  <a:lnTo>
                    <a:pt x="50845" y="787283"/>
                  </a:lnTo>
                  <a:lnTo>
                    <a:pt x="14415" y="767811"/>
                  </a:lnTo>
                  <a:lnTo>
                    <a:pt x="0" y="733008"/>
                  </a:lnTo>
                  <a:lnTo>
                    <a:pt x="0" y="729168"/>
                  </a:lnTo>
                  <a:lnTo>
                    <a:pt x="0" y="54648"/>
                  </a:lnTo>
                  <a:lnTo>
                    <a:pt x="19846" y="14414"/>
                  </a:lnTo>
                  <a:lnTo>
                    <a:pt x="54648" y="0"/>
                  </a:lnTo>
                  <a:lnTo>
                    <a:pt x="8983920" y="0"/>
                  </a:lnTo>
                  <a:lnTo>
                    <a:pt x="9024153" y="19846"/>
                  </a:lnTo>
                  <a:lnTo>
                    <a:pt x="9038569" y="54648"/>
                  </a:lnTo>
                  <a:lnTo>
                    <a:pt x="9038569" y="733008"/>
                  </a:lnTo>
                  <a:lnTo>
                    <a:pt x="9018722" y="773242"/>
                  </a:lnTo>
                  <a:lnTo>
                    <a:pt x="8987723" y="787283"/>
                  </a:lnTo>
                  <a:lnTo>
                    <a:pt x="8983920" y="787657"/>
                  </a:lnTo>
                  <a:close/>
                </a:path>
              </a:pathLst>
            </a:custGeom>
            <a:grpFill/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18" name="object 8">
              <a:extLst>
                <a:ext uri="{FF2B5EF4-FFF2-40B4-BE49-F238E27FC236}">
                  <a16:creationId xmlns:a16="http://schemas.microsoft.com/office/drawing/2014/main" id="{D38763DE-61DA-4FFE-9B4F-2D7E1DADBF4D}"/>
                </a:ext>
              </a:extLst>
            </p:cNvPr>
            <p:cNvSpPr/>
            <p:nvPr/>
          </p:nvSpPr>
          <p:spPr>
            <a:xfrm>
              <a:off x="833764" y="5138588"/>
              <a:ext cx="2386254" cy="788035"/>
            </a:xfrm>
            <a:custGeom>
              <a:avLst/>
              <a:gdLst/>
              <a:ahLst/>
              <a:cxnLst/>
              <a:rect l="l" t="t" r="r" b="b"/>
              <a:pathLst>
                <a:path w="9038590" h="788035">
                  <a:moveTo>
                    <a:pt x="0" y="729168"/>
                  </a:moveTo>
                  <a:lnTo>
                    <a:pt x="0" y="58489"/>
                  </a:lnTo>
                  <a:lnTo>
                    <a:pt x="0" y="54648"/>
                  </a:lnTo>
                  <a:lnTo>
                    <a:pt x="374" y="50845"/>
                  </a:lnTo>
                  <a:lnTo>
                    <a:pt x="17131" y="17130"/>
                  </a:lnTo>
                  <a:lnTo>
                    <a:pt x="19846" y="14414"/>
                  </a:lnTo>
                  <a:lnTo>
                    <a:pt x="22801" y="11990"/>
                  </a:lnTo>
                  <a:lnTo>
                    <a:pt x="25994" y="9856"/>
                  </a:lnTo>
                  <a:lnTo>
                    <a:pt x="29187" y="7722"/>
                  </a:lnTo>
                  <a:lnTo>
                    <a:pt x="47078" y="1123"/>
                  </a:lnTo>
                  <a:lnTo>
                    <a:pt x="50845" y="374"/>
                  </a:lnTo>
                  <a:lnTo>
                    <a:pt x="54648" y="0"/>
                  </a:lnTo>
                  <a:lnTo>
                    <a:pt x="58489" y="0"/>
                  </a:lnTo>
                  <a:lnTo>
                    <a:pt x="8980080" y="0"/>
                  </a:lnTo>
                  <a:lnTo>
                    <a:pt x="8983920" y="0"/>
                  </a:lnTo>
                  <a:lnTo>
                    <a:pt x="8987723" y="374"/>
                  </a:lnTo>
                  <a:lnTo>
                    <a:pt x="8991490" y="1123"/>
                  </a:lnTo>
                  <a:lnTo>
                    <a:pt x="8995257" y="1872"/>
                  </a:lnTo>
                  <a:lnTo>
                    <a:pt x="9012574" y="9857"/>
                  </a:lnTo>
                  <a:lnTo>
                    <a:pt x="9015768" y="11990"/>
                  </a:lnTo>
                  <a:lnTo>
                    <a:pt x="9028710" y="25993"/>
                  </a:lnTo>
                  <a:lnTo>
                    <a:pt x="9030844" y="29187"/>
                  </a:lnTo>
                  <a:lnTo>
                    <a:pt x="9038569" y="58489"/>
                  </a:lnTo>
                  <a:lnTo>
                    <a:pt x="9038569" y="729168"/>
                  </a:lnTo>
                  <a:lnTo>
                    <a:pt x="9038569" y="733008"/>
                  </a:lnTo>
                  <a:lnTo>
                    <a:pt x="9038193" y="736812"/>
                  </a:lnTo>
                  <a:lnTo>
                    <a:pt x="9037444" y="740578"/>
                  </a:lnTo>
                  <a:lnTo>
                    <a:pt x="9036695" y="744345"/>
                  </a:lnTo>
                  <a:lnTo>
                    <a:pt x="9028710" y="761662"/>
                  </a:lnTo>
                  <a:lnTo>
                    <a:pt x="9026576" y="764856"/>
                  </a:lnTo>
                  <a:lnTo>
                    <a:pt x="9012574" y="777800"/>
                  </a:lnTo>
                  <a:lnTo>
                    <a:pt x="9009381" y="779934"/>
                  </a:lnTo>
                  <a:lnTo>
                    <a:pt x="8991490" y="786533"/>
                  </a:lnTo>
                  <a:lnTo>
                    <a:pt x="8987723" y="787283"/>
                  </a:lnTo>
                  <a:lnTo>
                    <a:pt x="8983920" y="787657"/>
                  </a:lnTo>
                  <a:lnTo>
                    <a:pt x="8980080" y="787657"/>
                  </a:lnTo>
                  <a:lnTo>
                    <a:pt x="58489" y="787657"/>
                  </a:lnTo>
                  <a:lnTo>
                    <a:pt x="54648" y="787657"/>
                  </a:lnTo>
                  <a:lnTo>
                    <a:pt x="50845" y="787283"/>
                  </a:lnTo>
                  <a:lnTo>
                    <a:pt x="17131" y="770526"/>
                  </a:lnTo>
                  <a:lnTo>
                    <a:pt x="14415" y="767811"/>
                  </a:lnTo>
                  <a:lnTo>
                    <a:pt x="1123" y="740578"/>
                  </a:lnTo>
                  <a:lnTo>
                    <a:pt x="374" y="736812"/>
                  </a:lnTo>
                  <a:lnTo>
                    <a:pt x="0" y="733008"/>
                  </a:lnTo>
                  <a:lnTo>
                    <a:pt x="0" y="729168"/>
                  </a:lnTo>
                  <a:close/>
                </a:path>
              </a:pathLst>
            </a:custGeom>
            <a:grpFill/>
            <a:ln w="7798">
              <a:solidFill>
                <a:schemeClr val="accent1">
                  <a:lumMod val="40000"/>
                  <a:lumOff val="60000"/>
                </a:schemeClr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AAEB79FF-1177-470D-A509-8D98C55ABBC0}"/>
              </a:ext>
            </a:extLst>
          </p:cNvPr>
          <p:cNvSpPr txBox="1"/>
          <p:nvPr/>
        </p:nvSpPr>
        <p:spPr>
          <a:xfrm>
            <a:off x="583466" y="825192"/>
            <a:ext cx="92477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lang="ko-KR" altLang="en-US" sz="1400" b="1" dirty="0">
                <a:solidFill>
                  <a:schemeClr val="bg2">
                    <a:lumMod val="50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Noto Sans KR"/>
              </a:rPr>
              <a:t>기능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1AE9BCC-3164-4B18-B54D-E4CE37A77068}"/>
              </a:ext>
            </a:extLst>
          </p:cNvPr>
          <p:cNvSpPr txBox="1"/>
          <p:nvPr/>
        </p:nvSpPr>
        <p:spPr>
          <a:xfrm>
            <a:off x="1045855" y="1094614"/>
            <a:ext cx="8736098" cy="5103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ko-KR" sz="105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DEF-03454 </a:t>
            </a:r>
            <a:r>
              <a:rPr lang="en-US" altLang="ko-KR" sz="105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: </a:t>
            </a:r>
            <a:r>
              <a:rPr lang="ko-KR" altLang="en-US" sz="1050" kern="100" dirty="0" err="1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행추가</a:t>
            </a:r>
            <a:r>
              <a:rPr lang="ko-KR" altLang="en-US" sz="105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</a:t>
            </a:r>
            <a:r>
              <a:rPr lang="ko-KR" altLang="en-US" sz="1050" kern="100" dirty="0" err="1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저장시</a:t>
            </a:r>
            <a:r>
              <a:rPr lang="ko-KR" altLang="en-US" sz="105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오류 발생</a:t>
            </a:r>
            <a:endParaRPr lang="en-US" altLang="ko-KR" sz="1050" kern="100" dirty="0"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  <a:p>
            <a:pPr>
              <a:spcAft>
                <a:spcPts val="600"/>
              </a:spcAft>
            </a:pPr>
            <a:endParaRPr lang="ko-KR" altLang="ko-KR" sz="1050" kern="100" dirty="0"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DBC2B6A-C585-45C0-A874-94A97D6584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1760" y="1816146"/>
            <a:ext cx="9075794" cy="4057116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72E852FD-4622-42DA-9E5E-42D83794D4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7808" y="2565400"/>
            <a:ext cx="9075795" cy="3707141"/>
          </a:xfrm>
          <a:prstGeom prst="rect">
            <a:avLst/>
          </a:prstGeom>
        </p:spPr>
      </p:pic>
      <p:sp>
        <p:nvSpPr>
          <p:cNvPr id="19" name="Rectangle 2">
            <a:extLst>
              <a:ext uri="{FF2B5EF4-FFF2-40B4-BE49-F238E27FC236}">
                <a16:creationId xmlns:a16="http://schemas.microsoft.com/office/drawing/2014/main" id="{2EA759CC-BFDB-487E-A9F6-E41299DD74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892" y="91161"/>
            <a:ext cx="5652516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indent="-354013" defTabSz="957743">
              <a:defRPr sz="2200" spc="-11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9pPr>
          </a:lstStyle>
          <a:p>
            <a:pPr latinLnBrk="0">
              <a:defRPr/>
            </a:pPr>
            <a:r>
              <a:rPr kumimoji="0" lang="ko-KR" altLang="en-US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  <a:r>
              <a:rPr kumimoji="0" lang="en-US" altLang="ko-KR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III – 5. </a:t>
            </a:r>
            <a:r>
              <a:rPr lang="ko-KR" altLang="ko-KR" sz="20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결함 </a:t>
            </a:r>
            <a:r>
              <a:rPr lang="ko-KR" altLang="en-US" sz="20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사례 </a:t>
            </a:r>
            <a:r>
              <a:rPr lang="en-US" altLang="ko-KR" sz="20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( </a:t>
            </a:r>
            <a:r>
              <a:rPr lang="ko-KR" altLang="en-US" sz="20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유형별  </a:t>
            </a:r>
            <a:r>
              <a:rPr lang="en-US" altLang="ko-KR" sz="20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)    3/11</a:t>
            </a:r>
            <a:endParaRPr kumimoji="0" lang="en-US" altLang="ko-KR" sz="2000" b="1" i="0" u="none" strike="noStrike" kern="1200" cap="none" spc="-11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921807517"/>
      </p:ext>
    </p:extLst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69CD25-C31C-C671-775F-F1F7D36B1B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DEEFB788-EB00-4C09-A1E3-BEC6ADF29347}"/>
              </a:ext>
            </a:extLst>
          </p:cNvPr>
          <p:cNvSpPr/>
          <p:nvPr/>
        </p:nvSpPr>
        <p:spPr>
          <a:xfrm>
            <a:off x="787321" y="1179278"/>
            <a:ext cx="10940714" cy="5273910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1" name="object 5">
            <a:extLst>
              <a:ext uri="{FF2B5EF4-FFF2-40B4-BE49-F238E27FC236}">
                <a16:creationId xmlns:a16="http://schemas.microsoft.com/office/drawing/2014/main" id="{B0BC8524-1161-4881-BD28-24AB213A1F05}"/>
              </a:ext>
            </a:extLst>
          </p:cNvPr>
          <p:cNvGrpSpPr/>
          <p:nvPr/>
        </p:nvGrpSpPr>
        <p:grpSpPr>
          <a:xfrm>
            <a:off x="463965" y="766503"/>
            <a:ext cx="8587568" cy="704399"/>
            <a:chOff x="833764" y="5138588"/>
            <a:chExt cx="2386254" cy="788035"/>
          </a:xfrm>
        </p:grpSpPr>
        <p:sp>
          <p:nvSpPr>
            <p:cNvPr id="12" name="object 7">
              <a:extLst>
                <a:ext uri="{FF2B5EF4-FFF2-40B4-BE49-F238E27FC236}">
                  <a16:creationId xmlns:a16="http://schemas.microsoft.com/office/drawing/2014/main" id="{9B03F133-6D33-48CD-AA9D-0841C84F17EE}"/>
                </a:ext>
              </a:extLst>
            </p:cNvPr>
            <p:cNvSpPr/>
            <p:nvPr/>
          </p:nvSpPr>
          <p:spPr>
            <a:xfrm>
              <a:off x="833764" y="5152438"/>
              <a:ext cx="2386254" cy="766534"/>
            </a:xfrm>
            <a:custGeom>
              <a:avLst/>
              <a:gdLst/>
              <a:ahLst/>
              <a:cxnLst/>
              <a:rect l="l" t="t" r="r" b="b"/>
              <a:pathLst>
                <a:path w="9038590" h="788035">
                  <a:moveTo>
                    <a:pt x="8983920" y="787657"/>
                  </a:moveTo>
                  <a:lnTo>
                    <a:pt x="54648" y="787657"/>
                  </a:lnTo>
                  <a:lnTo>
                    <a:pt x="50845" y="787283"/>
                  </a:lnTo>
                  <a:lnTo>
                    <a:pt x="14415" y="767811"/>
                  </a:lnTo>
                  <a:lnTo>
                    <a:pt x="0" y="733008"/>
                  </a:lnTo>
                  <a:lnTo>
                    <a:pt x="0" y="729168"/>
                  </a:lnTo>
                  <a:lnTo>
                    <a:pt x="0" y="54648"/>
                  </a:lnTo>
                  <a:lnTo>
                    <a:pt x="19846" y="14414"/>
                  </a:lnTo>
                  <a:lnTo>
                    <a:pt x="54648" y="0"/>
                  </a:lnTo>
                  <a:lnTo>
                    <a:pt x="8983920" y="0"/>
                  </a:lnTo>
                  <a:lnTo>
                    <a:pt x="9024153" y="19846"/>
                  </a:lnTo>
                  <a:lnTo>
                    <a:pt x="9038569" y="54648"/>
                  </a:lnTo>
                  <a:lnTo>
                    <a:pt x="9038569" y="733008"/>
                  </a:lnTo>
                  <a:lnTo>
                    <a:pt x="9018722" y="773242"/>
                  </a:lnTo>
                  <a:lnTo>
                    <a:pt x="8987723" y="787283"/>
                  </a:lnTo>
                  <a:lnTo>
                    <a:pt x="8983920" y="787657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13" name="object 8">
              <a:extLst>
                <a:ext uri="{FF2B5EF4-FFF2-40B4-BE49-F238E27FC236}">
                  <a16:creationId xmlns:a16="http://schemas.microsoft.com/office/drawing/2014/main" id="{7FBEF369-9C9F-4244-8149-4F4EACD555F4}"/>
                </a:ext>
              </a:extLst>
            </p:cNvPr>
            <p:cNvSpPr/>
            <p:nvPr/>
          </p:nvSpPr>
          <p:spPr>
            <a:xfrm>
              <a:off x="833764" y="5138588"/>
              <a:ext cx="2386254" cy="788035"/>
            </a:xfrm>
            <a:custGeom>
              <a:avLst/>
              <a:gdLst/>
              <a:ahLst/>
              <a:cxnLst/>
              <a:rect l="l" t="t" r="r" b="b"/>
              <a:pathLst>
                <a:path w="9038590" h="788035">
                  <a:moveTo>
                    <a:pt x="0" y="729168"/>
                  </a:moveTo>
                  <a:lnTo>
                    <a:pt x="0" y="58489"/>
                  </a:lnTo>
                  <a:lnTo>
                    <a:pt x="0" y="54648"/>
                  </a:lnTo>
                  <a:lnTo>
                    <a:pt x="374" y="50845"/>
                  </a:lnTo>
                  <a:lnTo>
                    <a:pt x="17131" y="17130"/>
                  </a:lnTo>
                  <a:lnTo>
                    <a:pt x="19846" y="14414"/>
                  </a:lnTo>
                  <a:lnTo>
                    <a:pt x="22801" y="11990"/>
                  </a:lnTo>
                  <a:lnTo>
                    <a:pt x="25994" y="9856"/>
                  </a:lnTo>
                  <a:lnTo>
                    <a:pt x="29187" y="7722"/>
                  </a:lnTo>
                  <a:lnTo>
                    <a:pt x="47078" y="1123"/>
                  </a:lnTo>
                  <a:lnTo>
                    <a:pt x="50845" y="374"/>
                  </a:lnTo>
                  <a:lnTo>
                    <a:pt x="54648" y="0"/>
                  </a:lnTo>
                  <a:lnTo>
                    <a:pt x="58489" y="0"/>
                  </a:lnTo>
                  <a:lnTo>
                    <a:pt x="8980080" y="0"/>
                  </a:lnTo>
                  <a:lnTo>
                    <a:pt x="8983920" y="0"/>
                  </a:lnTo>
                  <a:lnTo>
                    <a:pt x="8987723" y="374"/>
                  </a:lnTo>
                  <a:lnTo>
                    <a:pt x="8991490" y="1123"/>
                  </a:lnTo>
                  <a:lnTo>
                    <a:pt x="8995257" y="1872"/>
                  </a:lnTo>
                  <a:lnTo>
                    <a:pt x="9012574" y="9857"/>
                  </a:lnTo>
                  <a:lnTo>
                    <a:pt x="9015768" y="11990"/>
                  </a:lnTo>
                  <a:lnTo>
                    <a:pt x="9028710" y="25993"/>
                  </a:lnTo>
                  <a:lnTo>
                    <a:pt x="9030844" y="29187"/>
                  </a:lnTo>
                  <a:lnTo>
                    <a:pt x="9038569" y="58489"/>
                  </a:lnTo>
                  <a:lnTo>
                    <a:pt x="9038569" y="729168"/>
                  </a:lnTo>
                  <a:lnTo>
                    <a:pt x="9038569" y="733008"/>
                  </a:lnTo>
                  <a:lnTo>
                    <a:pt x="9038193" y="736812"/>
                  </a:lnTo>
                  <a:lnTo>
                    <a:pt x="9037444" y="740578"/>
                  </a:lnTo>
                  <a:lnTo>
                    <a:pt x="9036695" y="744345"/>
                  </a:lnTo>
                  <a:lnTo>
                    <a:pt x="9028710" y="761662"/>
                  </a:lnTo>
                  <a:lnTo>
                    <a:pt x="9026576" y="764856"/>
                  </a:lnTo>
                  <a:lnTo>
                    <a:pt x="9012574" y="777800"/>
                  </a:lnTo>
                  <a:lnTo>
                    <a:pt x="9009381" y="779934"/>
                  </a:lnTo>
                  <a:lnTo>
                    <a:pt x="8991490" y="786533"/>
                  </a:lnTo>
                  <a:lnTo>
                    <a:pt x="8987723" y="787283"/>
                  </a:lnTo>
                  <a:lnTo>
                    <a:pt x="8983920" y="787657"/>
                  </a:lnTo>
                  <a:lnTo>
                    <a:pt x="8980080" y="787657"/>
                  </a:lnTo>
                  <a:lnTo>
                    <a:pt x="58489" y="787657"/>
                  </a:lnTo>
                  <a:lnTo>
                    <a:pt x="54648" y="787657"/>
                  </a:lnTo>
                  <a:lnTo>
                    <a:pt x="50845" y="787283"/>
                  </a:lnTo>
                  <a:lnTo>
                    <a:pt x="17131" y="770526"/>
                  </a:lnTo>
                  <a:lnTo>
                    <a:pt x="14415" y="767811"/>
                  </a:lnTo>
                  <a:lnTo>
                    <a:pt x="1123" y="740578"/>
                  </a:lnTo>
                  <a:lnTo>
                    <a:pt x="374" y="736812"/>
                  </a:lnTo>
                  <a:lnTo>
                    <a:pt x="0" y="733008"/>
                  </a:lnTo>
                  <a:lnTo>
                    <a:pt x="0" y="729168"/>
                  </a:lnTo>
                  <a:close/>
                </a:path>
              </a:pathLst>
            </a:custGeom>
            <a:ln w="7798">
              <a:solidFill>
                <a:schemeClr val="bg1">
                  <a:lumMod val="75000"/>
                </a:schemeClr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AAEB79FF-1177-470D-A509-8D98C55ABBC0}"/>
              </a:ext>
            </a:extLst>
          </p:cNvPr>
          <p:cNvSpPr txBox="1"/>
          <p:nvPr/>
        </p:nvSpPr>
        <p:spPr>
          <a:xfrm>
            <a:off x="583466" y="825192"/>
            <a:ext cx="92477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lang="en-US" altLang="ko-KR" sz="1400" b="1" dirty="0">
                <a:solidFill>
                  <a:schemeClr val="bg2">
                    <a:lumMod val="50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Noto Sans KR"/>
              </a:rPr>
              <a:t>UI</a:t>
            </a:r>
            <a:endParaRPr lang="ko-KR" altLang="en-US" sz="1400" b="1" dirty="0">
              <a:solidFill>
                <a:schemeClr val="bg2">
                  <a:lumMod val="50000"/>
                </a:schemeClr>
              </a:solidFill>
              <a:latin typeface="KoPub돋움체 Medium" panose="00000600000000000000" pitchFamily="2" charset="-127"/>
              <a:ea typeface="KoPub돋움체 Medium" panose="00000600000000000000" pitchFamily="2" charset="-127"/>
              <a:cs typeface="Noto Sans KR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1AE9BCC-3164-4B18-B54D-E4CE37A77068}"/>
              </a:ext>
            </a:extLst>
          </p:cNvPr>
          <p:cNvSpPr txBox="1"/>
          <p:nvPr/>
        </p:nvSpPr>
        <p:spPr>
          <a:xfrm>
            <a:off x="1045855" y="1094614"/>
            <a:ext cx="8736098" cy="5103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ko-KR" sz="105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DEF-03412 </a:t>
            </a:r>
            <a:r>
              <a:rPr lang="en-US" altLang="ko-KR" sz="105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: </a:t>
            </a:r>
            <a:r>
              <a:rPr lang="ko-KR" altLang="en-US" sz="105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테이블 초기 선택 </a:t>
            </a:r>
            <a:r>
              <a:rPr lang="en-US" altLang="ko-KR" sz="105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row</a:t>
            </a:r>
            <a:r>
              <a:rPr lang="ko-KR" altLang="en-US" sz="105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가 마지막 행으로 되어있음</a:t>
            </a:r>
            <a:endParaRPr lang="en-US" altLang="ko-KR" sz="1050" kern="100" dirty="0"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  <a:p>
            <a:pPr>
              <a:spcAft>
                <a:spcPts val="600"/>
              </a:spcAft>
            </a:pPr>
            <a:endParaRPr lang="ko-KR" altLang="ko-KR" sz="1050" kern="100" dirty="0"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030AE3B-7F18-4BE1-AABA-04B7A29E05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6743" y="1586547"/>
            <a:ext cx="8934263" cy="4092414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0543DC92-2938-48C9-9F19-39B8FCAF3B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4410" y="2268467"/>
            <a:ext cx="9480651" cy="4089157"/>
          </a:xfrm>
          <a:prstGeom prst="rect">
            <a:avLst/>
          </a:prstGeom>
        </p:spPr>
      </p:pic>
      <p:sp>
        <p:nvSpPr>
          <p:cNvPr id="16" name="Rectangle 2">
            <a:extLst>
              <a:ext uri="{FF2B5EF4-FFF2-40B4-BE49-F238E27FC236}">
                <a16:creationId xmlns:a16="http://schemas.microsoft.com/office/drawing/2014/main" id="{31BC5C3C-7DB0-43AD-B4A1-2A9D1F92CC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892" y="91161"/>
            <a:ext cx="5652516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indent="-354013" defTabSz="957743">
              <a:defRPr sz="2200" spc="-11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9pPr>
          </a:lstStyle>
          <a:p>
            <a:pPr latinLnBrk="0">
              <a:defRPr/>
            </a:pPr>
            <a:r>
              <a:rPr kumimoji="0" lang="ko-KR" altLang="en-US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  <a:r>
              <a:rPr kumimoji="0" lang="en-US" altLang="ko-KR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III – 5. </a:t>
            </a:r>
            <a:r>
              <a:rPr lang="ko-KR" altLang="ko-KR" sz="20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결함 </a:t>
            </a:r>
            <a:r>
              <a:rPr lang="ko-KR" altLang="en-US" sz="20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사례 </a:t>
            </a:r>
            <a:r>
              <a:rPr lang="en-US" altLang="ko-KR" sz="20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( </a:t>
            </a:r>
            <a:r>
              <a:rPr lang="ko-KR" altLang="en-US" sz="20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유형별  </a:t>
            </a:r>
            <a:r>
              <a:rPr lang="en-US" altLang="ko-KR" sz="20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)    4/11</a:t>
            </a:r>
            <a:endParaRPr kumimoji="0" lang="en-US" altLang="ko-KR" sz="2000" b="1" i="0" u="none" strike="noStrike" kern="1200" cap="none" spc="-11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446349694"/>
      </p:ext>
    </p:extLst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69CD25-C31C-C671-775F-F1F7D36B1B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DEEFB788-EB00-4C09-A1E3-BEC6ADF29347}"/>
              </a:ext>
            </a:extLst>
          </p:cNvPr>
          <p:cNvSpPr/>
          <p:nvPr/>
        </p:nvSpPr>
        <p:spPr>
          <a:xfrm>
            <a:off x="787321" y="1179278"/>
            <a:ext cx="10940714" cy="5273910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1" name="object 5">
            <a:extLst>
              <a:ext uri="{FF2B5EF4-FFF2-40B4-BE49-F238E27FC236}">
                <a16:creationId xmlns:a16="http://schemas.microsoft.com/office/drawing/2014/main" id="{B0BC8524-1161-4881-BD28-24AB213A1F05}"/>
              </a:ext>
            </a:extLst>
          </p:cNvPr>
          <p:cNvGrpSpPr/>
          <p:nvPr/>
        </p:nvGrpSpPr>
        <p:grpSpPr>
          <a:xfrm>
            <a:off x="463965" y="766503"/>
            <a:ext cx="8587568" cy="704399"/>
            <a:chOff x="833764" y="5138588"/>
            <a:chExt cx="2386254" cy="788035"/>
          </a:xfrm>
        </p:grpSpPr>
        <p:sp>
          <p:nvSpPr>
            <p:cNvPr id="12" name="object 7">
              <a:extLst>
                <a:ext uri="{FF2B5EF4-FFF2-40B4-BE49-F238E27FC236}">
                  <a16:creationId xmlns:a16="http://schemas.microsoft.com/office/drawing/2014/main" id="{9B03F133-6D33-48CD-AA9D-0841C84F17EE}"/>
                </a:ext>
              </a:extLst>
            </p:cNvPr>
            <p:cNvSpPr/>
            <p:nvPr/>
          </p:nvSpPr>
          <p:spPr>
            <a:xfrm>
              <a:off x="833764" y="5152438"/>
              <a:ext cx="2386254" cy="766534"/>
            </a:xfrm>
            <a:custGeom>
              <a:avLst/>
              <a:gdLst/>
              <a:ahLst/>
              <a:cxnLst/>
              <a:rect l="l" t="t" r="r" b="b"/>
              <a:pathLst>
                <a:path w="9038590" h="788035">
                  <a:moveTo>
                    <a:pt x="8983920" y="787657"/>
                  </a:moveTo>
                  <a:lnTo>
                    <a:pt x="54648" y="787657"/>
                  </a:lnTo>
                  <a:lnTo>
                    <a:pt x="50845" y="787283"/>
                  </a:lnTo>
                  <a:lnTo>
                    <a:pt x="14415" y="767811"/>
                  </a:lnTo>
                  <a:lnTo>
                    <a:pt x="0" y="733008"/>
                  </a:lnTo>
                  <a:lnTo>
                    <a:pt x="0" y="729168"/>
                  </a:lnTo>
                  <a:lnTo>
                    <a:pt x="0" y="54648"/>
                  </a:lnTo>
                  <a:lnTo>
                    <a:pt x="19846" y="14414"/>
                  </a:lnTo>
                  <a:lnTo>
                    <a:pt x="54648" y="0"/>
                  </a:lnTo>
                  <a:lnTo>
                    <a:pt x="8983920" y="0"/>
                  </a:lnTo>
                  <a:lnTo>
                    <a:pt x="9024153" y="19846"/>
                  </a:lnTo>
                  <a:lnTo>
                    <a:pt x="9038569" y="54648"/>
                  </a:lnTo>
                  <a:lnTo>
                    <a:pt x="9038569" y="733008"/>
                  </a:lnTo>
                  <a:lnTo>
                    <a:pt x="9018722" y="773242"/>
                  </a:lnTo>
                  <a:lnTo>
                    <a:pt x="8987723" y="787283"/>
                  </a:lnTo>
                  <a:lnTo>
                    <a:pt x="8983920" y="787657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13" name="object 8">
              <a:extLst>
                <a:ext uri="{FF2B5EF4-FFF2-40B4-BE49-F238E27FC236}">
                  <a16:creationId xmlns:a16="http://schemas.microsoft.com/office/drawing/2014/main" id="{7FBEF369-9C9F-4244-8149-4F4EACD555F4}"/>
                </a:ext>
              </a:extLst>
            </p:cNvPr>
            <p:cNvSpPr/>
            <p:nvPr/>
          </p:nvSpPr>
          <p:spPr>
            <a:xfrm>
              <a:off x="833764" y="5138588"/>
              <a:ext cx="2386254" cy="788035"/>
            </a:xfrm>
            <a:custGeom>
              <a:avLst/>
              <a:gdLst/>
              <a:ahLst/>
              <a:cxnLst/>
              <a:rect l="l" t="t" r="r" b="b"/>
              <a:pathLst>
                <a:path w="9038590" h="788035">
                  <a:moveTo>
                    <a:pt x="0" y="729168"/>
                  </a:moveTo>
                  <a:lnTo>
                    <a:pt x="0" y="58489"/>
                  </a:lnTo>
                  <a:lnTo>
                    <a:pt x="0" y="54648"/>
                  </a:lnTo>
                  <a:lnTo>
                    <a:pt x="374" y="50845"/>
                  </a:lnTo>
                  <a:lnTo>
                    <a:pt x="17131" y="17130"/>
                  </a:lnTo>
                  <a:lnTo>
                    <a:pt x="19846" y="14414"/>
                  </a:lnTo>
                  <a:lnTo>
                    <a:pt x="22801" y="11990"/>
                  </a:lnTo>
                  <a:lnTo>
                    <a:pt x="25994" y="9856"/>
                  </a:lnTo>
                  <a:lnTo>
                    <a:pt x="29187" y="7722"/>
                  </a:lnTo>
                  <a:lnTo>
                    <a:pt x="47078" y="1123"/>
                  </a:lnTo>
                  <a:lnTo>
                    <a:pt x="50845" y="374"/>
                  </a:lnTo>
                  <a:lnTo>
                    <a:pt x="54648" y="0"/>
                  </a:lnTo>
                  <a:lnTo>
                    <a:pt x="58489" y="0"/>
                  </a:lnTo>
                  <a:lnTo>
                    <a:pt x="8980080" y="0"/>
                  </a:lnTo>
                  <a:lnTo>
                    <a:pt x="8983920" y="0"/>
                  </a:lnTo>
                  <a:lnTo>
                    <a:pt x="8987723" y="374"/>
                  </a:lnTo>
                  <a:lnTo>
                    <a:pt x="8991490" y="1123"/>
                  </a:lnTo>
                  <a:lnTo>
                    <a:pt x="8995257" y="1872"/>
                  </a:lnTo>
                  <a:lnTo>
                    <a:pt x="9012574" y="9857"/>
                  </a:lnTo>
                  <a:lnTo>
                    <a:pt x="9015768" y="11990"/>
                  </a:lnTo>
                  <a:lnTo>
                    <a:pt x="9028710" y="25993"/>
                  </a:lnTo>
                  <a:lnTo>
                    <a:pt x="9030844" y="29187"/>
                  </a:lnTo>
                  <a:lnTo>
                    <a:pt x="9038569" y="58489"/>
                  </a:lnTo>
                  <a:lnTo>
                    <a:pt x="9038569" y="729168"/>
                  </a:lnTo>
                  <a:lnTo>
                    <a:pt x="9038569" y="733008"/>
                  </a:lnTo>
                  <a:lnTo>
                    <a:pt x="9038193" y="736812"/>
                  </a:lnTo>
                  <a:lnTo>
                    <a:pt x="9037444" y="740578"/>
                  </a:lnTo>
                  <a:lnTo>
                    <a:pt x="9036695" y="744345"/>
                  </a:lnTo>
                  <a:lnTo>
                    <a:pt x="9028710" y="761662"/>
                  </a:lnTo>
                  <a:lnTo>
                    <a:pt x="9026576" y="764856"/>
                  </a:lnTo>
                  <a:lnTo>
                    <a:pt x="9012574" y="777800"/>
                  </a:lnTo>
                  <a:lnTo>
                    <a:pt x="9009381" y="779934"/>
                  </a:lnTo>
                  <a:lnTo>
                    <a:pt x="8991490" y="786533"/>
                  </a:lnTo>
                  <a:lnTo>
                    <a:pt x="8987723" y="787283"/>
                  </a:lnTo>
                  <a:lnTo>
                    <a:pt x="8983920" y="787657"/>
                  </a:lnTo>
                  <a:lnTo>
                    <a:pt x="8980080" y="787657"/>
                  </a:lnTo>
                  <a:lnTo>
                    <a:pt x="58489" y="787657"/>
                  </a:lnTo>
                  <a:lnTo>
                    <a:pt x="54648" y="787657"/>
                  </a:lnTo>
                  <a:lnTo>
                    <a:pt x="50845" y="787283"/>
                  </a:lnTo>
                  <a:lnTo>
                    <a:pt x="17131" y="770526"/>
                  </a:lnTo>
                  <a:lnTo>
                    <a:pt x="14415" y="767811"/>
                  </a:lnTo>
                  <a:lnTo>
                    <a:pt x="1123" y="740578"/>
                  </a:lnTo>
                  <a:lnTo>
                    <a:pt x="374" y="736812"/>
                  </a:lnTo>
                  <a:lnTo>
                    <a:pt x="0" y="733008"/>
                  </a:lnTo>
                  <a:lnTo>
                    <a:pt x="0" y="729168"/>
                  </a:lnTo>
                  <a:close/>
                </a:path>
              </a:pathLst>
            </a:custGeom>
            <a:ln w="7798">
              <a:solidFill>
                <a:schemeClr val="bg1">
                  <a:lumMod val="75000"/>
                </a:schemeClr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AAEB79FF-1177-470D-A509-8D98C55ABBC0}"/>
              </a:ext>
            </a:extLst>
          </p:cNvPr>
          <p:cNvSpPr txBox="1"/>
          <p:nvPr/>
        </p:nvSpPr>
        <p:spPr>
          <a:xfrm>
            <a:off x="583466" y="825192"/>
            <a:ext cx="92477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lang="en-US" altLang="ko-KR" sz="1400" b="1" dirty="0">
                <a:solidFill>
                  <a:schemeClr val="bg2">
                    <a:lumMod val="50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Noto Sans KR"/>
              </a:rPr>
              <a:t>UI</a:t>
            </a:r>
            <a:endParaRPr lang="ko-KR" altLang="en-US" sz="1400" b="1" dirty="0">
              <a:solidFill>
                <a:schemeClr val="bg2">
                  <a:lumMod val="50000"/>
                </a:schemeClr>
              </a:solidFill>
              <a:latin typeface="KoPub돋움체 Medium" panose="00000600000000000000" pitchFamily="2" charset="-127"/>
              <a:ea typeface="KoPub돋움체 Medium" panose="00000600000000000000" pitchFamily="2" charset="-127"/>
              <a:cs typeface="Noto Sans KR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1AE9BCC-3164-4B18-B54D-E4CE37A77068}"/>
              </a:ext>
            </a:extLst>
          </p:cNvPr>
          <p:cNvSpPr txBox="1"/>
          <p:nvPr/>
        </p:nvSpPr>
        <p:spPr>
          <a:xfrm>
            <a:off x="1045855" y="1094614"/>
            <a:ext cx="8736098" cy="5103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ko-KR" sz="105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DEF-03381 </a:t>
            </a:r>
            <a:r>
              <a:rPr lang="en-US" altLang="ko-KR" sz="105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: 1920*1080, </a:t>
            </a:r>
            <a:r>
              <a:rPr lang="ko-KR" altLang="en-US" sz="105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크롬 </a:t>
            </a:r>
            <a:r>
              <a:rPr lang="en-US" altLang="ko-KR" sz="105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100% </a:t>
            </a:r>
            <a:r>
              <a:rPr lang="ko-KR" altLang="en-US" sz="105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배율</a:t>
            </a:r>
            <a:r>
              <a:rPr lang="en-US" altLang="ko-KR" sz="105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. </a:t>
            </a:r>
            <a:r>
              <a:rPr lang="ko-KR" altLang="en-US" sz="105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최초 </a:t>
            </a:r>
            <a:r>
              <a:rPr lang="ko-KR" altLang="en-US" sz="1050" kern="100" dirty="0" err="1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조회시</a:t>
            </a:r>
            <a:r>
              <a:rPr lang="ko-KR" altLang="en-US" sz="105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그래프 이미지 사이즈가 맞지 않음 </a:t>
            </a:r>
            <a:r>
              <a:rPr lang="en-US" altLang="ko-KR" sz="105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(</a:t>
            </a:r>
            <a:r>
              <a:rPr lang="ko-KR" altLang="en-US" sz="105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스크롤바도 안보임</a:t>
            </a:r>
            <a:r>
              <a:rPr lang="en-US" altLang="ko-KR" sz="105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)</a:t>
            </a:r>
          </a:p>
          <a:p>
            <a:pPr>
              <a:spcAft>
                <a:spcPts val="600"/>
              </a:spcAft>
            </a:pPr>
            <a:endParaRPr lang="ko-KR" altLang="ko-KR" sz="1050" kern="100" dirty="0"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B5E56E9-937A-40B4-8154-667BBDA957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855" y="1733485"/>
            <a:ext cx="9443098" cy="4668198"/>
          </a:xfrm>
          <a:prstGeom prst="rect">
            <a:avLst/>
          </a:prstGeom>
        </p:spPr>
      </p:pic>
      <p:sp>
        <p:nvSpPr>
          <p:cNvPr id="16" name="Rectangle 2">
            <a:extLst>
              <a:ext uri="{FF2B5EF4-FFF2-40B4-BE49-F238E27FC236}">
                <a16:creationId xmlns:a16="http://schemas.microsoft.com/office/drawing/2014/main" id="{581E1BF2-E4D8-4784-8B42-D9F03456FC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892" y="91161"/>
            <a:ext cx="5652516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indent="-354013" defTabSz="957743">
              <a:defRPr sz="2200" spc="-11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9pPr>
          </a:lstStyle>
          <a:p>
            <a:pPr latinLnBrk="0">
              <a:defRPr/>
            </a:pPr>
            <a:r>
              <a:rPr kumimoji="0" lang="ko-KR" altLang="en-US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  <a:r>
              <a:rPr kumimoji="0" lang="en-US" altLang="ko-KR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III – 5. </a:t>
            </a:r>
            <a:r>
              <a:rPr lang="ko-KR" altLang="ko-KR" sz="20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결함 </a:t>
            </a:r>
            <a:r>
              <a:rPr lang="ko-KR" altLang="en-US" sz="20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사례 </a:t>
            </a:r>
            <a:r>
              <a:rPr lang="en-US" altLang="ko-KR" sz="20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( </a:t>
            </a:r>
            <a:r>
              <a:rPr lang="ko-KR" altLang="en-US" sz="20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유형별  </a:t>
            </a:r>
            <a:r>
              <a:rPr lang="en-US" altLang="ko-KR" sz="20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)    5/11</a:t>
            </a:r>
            <a:endParaRPr kumimoji="0" lang="en-US" altLang="ko-KR" sz="2000" b="1" i="0" u="none" strike="noStrike" kern="1200" cap="none" spc="-11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4283389346"/>
      </p:ext>
    </p:extLst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69CD25-C31C-C671-775F-F1F7D36B1B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DEEFB788-EB00-4C09-A1E3-BEC6ADF29347}"/>
              </a:ext>
            </a:extLst>
          </p:cNvPr>
          <p:cNvSpPr/>
          <p:nvPr/>
        </p:nvSpPr>
        <p:spPr>
          <a:xfrm>
            <a:off x="787321" y="1179278"/>
            <a:ext cx="10940714" cy="5273910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1" name="object 5">
            <a:extLst>
              <a:ext uri="{FF2B5EF4-FFF2-40B4-BE49-F238E27FC236}">
                <a16:creationId xmlns:a16="http://schemas.microsoft.com/office/drawing/2014/main" id="{B0BC8524-1161-4881-BD28-24AB213A1F05}"/>
              </a:ext>
            </a:extLst>
          </p:cNvPr>
          <p:cNvGrpSpPr/>
          <p:nvPr/>
        </p:nvGrpSpPr>
        <p:grpSpPr>
          <a:xfrm>
            <a:off x="463965" y="766503"/>
            <a:ext cx="8587568" cy="704399"/>
            <a:chOff x="833764" y="5138588"/>
            <a:chExt cx="2386254" cy="788035"/>
          </a:xfrm>
        </p:grpSpPr>
        <p:sp>
          <p:nvSpPr>
            <p:cNvPr id="12" name="object 7">
              <a:extLst>
                <a:ext uri="{FF2B5EF4-FFF2-40B4-BE49-F238E27FC236}">
                  <a16:creationId xmlns:a16="http://schemas.microsoft.com/office/drawing/2014/main" id="{9B03F133-6D33-48CD-AA9D-0841C84F17EE}"/>
                </a:ext>
              </a:extLst>
            </p:cNvPr>
            <p:cNvSpPr/>
            <p:nvPr/>
          </p:nvSpPr>
          <p:spPr>
            <a:xfrm>
              <a:off x="833764" y="5152438"/>
              <a:ext cx="2386254" cy="766534"/>
            </a:xfrm>
            <a:custGeom>
              <a:avLst/>
              <a:gdLst/>
              <a:ahLst/>
              <a:cxnLst/>
              <a:rect l="l" t="t" r="r" b="b"/>
              <a:pathLst>
                <a:path w="9038590" h="788035">
                  <a:moveTo>
                    <a:pt x="8983920" y="787657"/>
                  </a:moveTo>
                  <a:lnTo>
                    <a:pt x="54648" y="787657"/>
                  </a:lnTo>
                  <a:lnTo>
                    <a:pt x="50845" y="787283"/>
                  </a:lnTo>
                  <a:lnTo>
                    <a:pt x="14415" y="767811"/>
                  </a:lnTo>
                  <a:lnTo>
                    <a:pt x="0" y="733008"/>
                  </a:lnTo>
                  <a:lnTo>
                    <a:pt x="0" y="729168"/>
                  </a:lnTo>
                  <a:lnTo>
                    <a:pt x="0" y="54648"/>
                  </a:lnTo>
                  <a:lnTo>
                    <a:pt x="19846" y="14414"/>
                  </a:lnTo>
                  <a:lnTo>
                    <a:pt x="54648" y="0"/>
                  </a:lnTo>
                  <a:lnTo>
                    <a:pt x="8983920" y="0"/>
                  </a:lnTo>
                  <a:lnTo>
                    <a:pt x="9024153" y="19846"/>
                  </a:lnTo>
                  <a:lnTo>
                    <a:pt x="9038569" y="54648"/>
                  </a:lnTo>
                  <a:lnTo>
                    <a:pt x="9038569" y="733008"/>
                  </a:lnTo>
                  <a:lnTo>
                    <a:pt x="9018722" y="773242"/>
                  </a:lnTo>
                  <a:lnTo>
                    <a:pt x="8987723" y="787283"/>
                  </a:lnTo>
                  <a:lnTo>
                    <a:pt x="8983920" y="787657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13" name="object 8">
              <a:extLst>
                <a:ext uri="{FF2B5EF4-FFF2-40B4-BE49-F238E27FC236}">
                  <a16:creationId xmlns:a16="http://schemas.microsoft.com/office/drawing/2014/main" id="{7FBEF369-9C9F-4244-8149-4F4EACD555F4}"/>
                </a:ext>
              </a:extLst>
            </p:cNvPr>
            <p:cNvSpPr/>
            <p:nvPr/>
          </p:nvSpPr>
          <p:spPr>
            <a:xfrm>
              <a:off x="833764" y="5138588"/>
              <a:ext cx="2386254" cy="788035"/>
            </a:xfrm>
            <a:custGeom>
              <a:avLst/>
              <a:gdLst/>
              <a:ahLst/>
              <a:cxnLst/>
              <a:rect l="l" t="t" r="r" b="b"/>
              <a:pathLst>
                <a:path w="9038590" h="788035">
                  <a:moveTo>
                    <a:pt x="0" y="729168"/>
                  </a:moveTo>
                  <a:lnTo>
                    <a:pt x="0" y="58489"/>
                  </a:lnTo>
                  <a:lnTo>
                    <a:pt x="0" y="54648"/>
                  </a:lnTo>
                  <a:lnTo>
                    <a:pt x="374" y="50845"/>
                  </a:lnTo>
                  <a:lnTo>
                    <a:pt x="17131" y="17130"/>
                  </a:lnTo>
                  <a:lnTo>
                    <a:pt x="19846" y="14414"/>
                  </a:lnTo>
                  <a:lnTo>
                    <a:pt x="22801" y="11990"/>
                  </a:lnTo>
                  <a:lnTo>
                    <a:pt x="25994" y="9856"/>
                  </a:lnTo>
                  <a:lnTo>
                    <a:pt x="29187" y="7722"/>
                  </a:lnTo>
                  <a:lnTo>
                    <a:pt x="47078" y="1123"/>
                  </a:lnTo>
                  <a:lnTo>
                    <a:pt x="50845" y="374"/>
                  </a:lnTo>
                  <a:lnTo>
                    <a:pt x="54648" y="0"/>
                  </a:lnTo>
                  <a:lnTo>
                    <a:pt x="58489" y="0"/>
                  </a:lnTo>
                  <a:lnTo>
                    <a:pt x="8980080" y="0"/>
                  </a:lnTo>
                  <a:lnTo>
                    <a:pt x="8983920" y="0"/>
                  </a:lnTo>
                  <a:lnTo>
                    <a:pt x="8987723" y="374"/>
                  </a:lnTo>
                  <a:lnTo>
                    <a:pt x="8991490" y="1123"/>
                  </a:lnTo>
                  <a:lnTo>
                    <a:pt x="8995257" y="1872"/>
                  </a:lnTo>
                  <a:lnTo>
                    <a:pt x="9012574" y="9857"/>
                  </a:lnTo>
                  <a:lnTo>
                    <a:pt x="9015768" y="11990"/>
                  </a:lnTo>
                  <a:lnTo>
                    <a:pt x="9028710" y="25993"/>
                  </a:lnTo>
                  <a:lnTo>
                    <a:pt x="9030844" y="29187"/>
                  </a:lnTo>
                  <a:lnTo>
                    <a:pt x="9038569" y="58489"/>
                  </a:lnTo>
                  <a:lnTo>
                    <a:pt x="9038569" y="729168"/>
                  </a:lnTo>
                  <a:lnTo>
                    <a:pt x="9038569" y="733008"/>
                  </a:lnTo>
                  <a:lnTo>
                    <a:pt x="9038193" y="736812"/>
                  </a:lnTo>
                  <a:lnTo>
                    <a:pt x="9037444" y="740578"/>
                  </a:lnTo>
                  <a:lnTo>
                    <a:pt x="9036695" y="744345"/>
                  </a:lnTo>
                  <a:lnTo>
                    <a:pt x="9028710" y="761662"/>
                  </a:lnTo>
                  <a:lnTo>
                    <a:pt x="9026576" y="764856"/>
                  </a:lnTo>
                  <a:lnTo>
                    <a:pt x="9012574" y="777800"/>
                  </a:lnTo>
                  <a:lnTo>
                    <a:pt x="9009381" y="779934"/>
                  </a:lnTo>
                  <a:lnTo>
                    <a:pt x="8991490" y="786533"/>
                  </a:lnTo>
                  <a:lnTo>
                    <a:pt x="8987723" y="787283"/>
                  </a:lnTo>
                  <a:lnTo>
                    <a:pt x="8983920" y="787657"/>
                  </a:lnTo>
                  <a:lnTo>
                    <a:pt x="8980080" y="787657"/>
                  </a:lnTo>
                  <a:lnTo>
                    <a:pt x="58489" y="787657"/>
                  </a:lnTo>
                  <a:lnTo>
                    <a:pt x="54648" y="787657"/>
                  </a:lnTo>
                  <a:lnTo>
                    <a:pt x="50845" y="787283"/>
                  </a:lnTo>
                  <a:lnTo>
                    <a:pt x="17131" y="770526"/>
                  </a:lnTo>
                  <a:lnTo>
                    <a:pt x="14415" y="767811"/>
                  </a:lnTo>
                  <a:lnTo>
                    <a:pt x="1123" y="740578"/>
                  </a:lnTo>
                  <a:lnTo>
                    <a:pt x="374" y="736812"/>
                  </a:lnTo>
                  <a:lnTo>
                    <a:pt x="0" y="733008"/>
                  </a:lnTo>
                  <a:lnTo>
                    <a:pt x="0" y="729168"/>
                  </a:lnTo>
                  <a:close/>
                </a:path>
              </a:pathLst>
            </a:custGeom>
            <a:ln w="7798">
              <a:solidFill>
                <a:schemeClr val="bg1">
                  <a:lumMod val="75000"/>
                </a:schemeClr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AAEB79FF-1177-470D-A509-8D98C55ABBC0}"/>
              </a:ext>
            </a:extLst>
          </p:cNvPr>
          <p:cNvSpPr txBox="1"/>
          <p:nvPr/>
        </p:nvSpPr>
        <p:spPr>
          <a:xfrm>
            <a:off x="583466" y="825192"/>
            <a:ext cx="92477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lang="en-US" altLang="ko-KR" sz="1400" b="1" dirty="0">
                <a:solidFill>
                  <a:schemeClr val="bg2">
                    <a:lumMod val="50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Noto Sans KR"/>
              </a:rPr>
              <a:t>UI</a:t>
            </a:r>
            <a:endParaRPr lang="ko-KR" altLang="en-US" sz="1400" b="1" dirty="0">
              <a:solidFill>
                <a:schemeClr val="bg2">
                  <a:lumMod val="50000"/>
                </a:schemeClr>
              </a:solidFill>
              <a:latin typeface="KoPub돋움체 Medium" panose="00000600000000000000" pitchFamily="2" charset="-127"/>
              <a:ea typeface="KoPub돋움체 Medium" panose="00000600000000000000" pitchFamily="2" charset="-127"/>
              <a:cs typeface="Noto Sans KR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1AE9BCC-3164-4B18-B54D-E4CE37A77068}"/>
              </a:ext>
            </a:extLst>
          </p:cNvPr>
          <p:cNvSpPr txBox="1"/>
          <p:nvPr/>
        </p:nvSpPr>
        <p:spPr>
          <a:xfrm>
            <a:off x="1045855" y="1094614"/>
            <a:ext cx="873609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ko-KR" sz="105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DEF-03759 </a:t>
            </a:r>
            <a:r>
              <a:rPr lang="en-US" altLang="ko-KR" sz="105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: </a:t>
            </a:r>
            <a:r>
              <a:rPr lang="ko-KR" altLang="en-US" sz="105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검색 조건 </a:t>
            </a:r>
            <a:r>
              <a:rPr lang="en-US" altLang="ko-KR" sz="105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UI </a:t>
            </a:r>
            <a:r>
              <a:rPr lang="ko-KR" altLang="en-US" sz="105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없음</a:t>
            </a:r>
            <a:endParaRPr lang="ko-KR" altLang="ko-KR" sz="1050" kern="100" dirty="0"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8555440-9337-4ECA-9873-7FBCB610BB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855" y="1765244"/>
            <a:ext cx="10193173" cy="4286848"/>
          </a:xfrm>
          <a:prstGeom prst="rect">
            <a:avLst/>
          </a:prstGeom>
        </p:spPr>
      </p:pic>
      <p:sp>
        <p:nvSpPr>
          <p:cNvPr id="16" name="Rectangle 2">
            <a:extLst>
              <a:ext uri="{FF2B5EF4-FFF2-40B4-BE49-F238E27FC236}">
                <a16:creationId xmlns:a16="http://schemas.microsoft.com/office/drawing/2014/main" id="{F12C10F2-91E1-4ADC-B8A3-A973512506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892" y="91161"/>
            <a:ext cx="5652516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indent="-354013" defTabSz="957743">
              <a:defRPr sz="2200" spc="-11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9pPr>
          </a:lstStyle>
          <a:p>
            <a:pPr latinLnBrk="0">
              <a:defRPr/>
            </a:pPr>
            <a:r>
              <a:rPr kumimoji="0" lang="ko-KR" altLang="en-US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  <a:r>
              <a:rPr kumimoji="0" lang="en-US" altLang="ko-KR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III – 5. </a:t>
            </a:r>
            <a:r>
              <a:rPr lang="ko-KR" altLang="ko-KR" sz="20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결함 </a:t>
            </a:r>
            <a:r>
              <a:rPr lang="ko-KR" altLang="en-US" sz="20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사례 </a:t>
            </a:r>
            <a:r>
              <a:rPr lang="en-US" altLang="ko-KR" sz="20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( </a:t>
            </a:r>
            <a:r>
              <a:rPr lang="ko-KR" altLang="en-US" sz="20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유형별  </a:t>
            </a:r>
            <a:r>
              <a:rPr lang="en-US" altLang="ko-KR" sz="20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)    6/11</a:t>
            </a:r>
            <a:endParaRPr kumimoji="0" lang="en-US" altLang="ko-KR" sz="2000" b="1" i="0" u="none" strike="noStrike" kern="1200" cap="none" spc="-11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848604609"/>
      </p:ext>
    </p:extLst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69CD25-C31C-C671-775F-F1F7D36B1B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DEEFB788-EB00-4C09-A1E3-BEC6ADF29347}"/>
              </a:ext>
            </a:extLst>
          </p:cNvPr>
          <p:cNvSpPr/>
          <p:nvPr/>
        </p:nvSpPr>
        <p:spPr>
          <a:xfrm>
            <a:off x="787321" y="1179278"/>
            <a:ext cx="10940714" cy="5273910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1" name="object 5">
            <a:extLst>
              <a:ext uri="{FF2B5EF4-FFF2-40B4-BE49-F238E27FC236}">
                <a16:creationId xmlns:a16="http://schemas.microsoft.com/office/drawing/2014/main" id="{B0BC8524-1161-4881-BD28-24AB213A1F05}"/>
              </a:ext>
            </a:extLst>
          </p:cNvPr>
          <p:cNvGrpSpPr/>
          <p:nvPr/>
        </p:nvGrpSpPr>
        <p:grpSpPr>
          <a:xfrm>
            <a:off x="463965" y="766503"/>
            <a:ext cx="8587568" cy="704399"/>
            <a:chOff x="833764" y="5138588"/>
            <a:chExt cx="2386254" cy="788035"/>
          </a:xfrm>
          <a:solidFill>
            <a:srgbClr val="FDE9E7"/>
          </a:solidFill>
        </p:grpSpPr>
        <p:sp>
          <p:nvSpPr>
            <p:cNvPr id="12" name="object 7">
              <a:extLst>
                <a:ext uri="{FF2B5EF4-FFF2-40B4-BE49-F238E27FC236}">
                  <a16:creationId xmlns:a16="http://schemas.microsoft.com/office/drawing/2014/main" id="{9B03F133-6D33-48CD-AA9D-0841C84F17EE}"/>
                </a:ext>
              </a:extLst>
            </p:cNvPr>
            <p:cNvSpPr/>
            <p:nvPr/>
          </p:nvSpPr>
          <p:spPr>
            <a:xfrm>
              <a:off x="833764" y="5152438"/>
              <a:ext cx="2386254" cy="766534"/>
            </a:xfrm>
            <a:custGeom>
              <a:avLst/>
              <a:gdLst/>
              <a:ahLst/>
              <a:cxnLst/>
              <a:rect l="l" t="t" r="r" b="b"/>
              <a:pathLst>
                <a:path w="9038590" h="788035">
                  <a:moveTo>
                    <a:pt x="8983920" y="787657"/>
                  </a:moveTo>
                  <a:lnTo>
                    <a:pt x="54648" y="787657"/>
                  </a:lnTo>
                  <a:lnTo>
                    <a:pt x="50845" y="787283"/>
                  </a:lnTo>
                  <a:lnTo>
                    <a:pt x="14415" y="767811"/>
                  </a:lnTo>
                  <a:lnTo>
                    <a:pt x="0" y="733008"/>
                  </a:lnTo>
                  <a:lnTo>
                    <a:pt x="0" y="729168"/>
                  </a:lnTo>
                  <a:lnTo>
                    <a:pt x="0" y="54648"/>
                  </a:lnTo>
                  <a:lnTo>
                    <a:pt x="19846" y="14414"/>
                  </a:lnTo>
                  <a:lnTo>
                    <a:pt x="54648" y="0"/>
                  </a:lnTo>
                  <a:lnTo>
                    <a:pt x="8983920" y="0"/>
                  </a:lnTo>
                  <a:lnTo>
                    <a:pt x="9024153" y="19846"/>
                  </a:lnTo>
                  <a:lnTo>
                    <a:pt x="9038569" y="54648"/>
                  </a:lnTo>
                  <a:lnTo>
                    <a:pt x="9038569" y="733008"/>
                  </a:lnTo>
                  <a:lnTo>
                    <a:pt x="9018722" y="773242"/>
                  </a:lnTo>
                  <a:lnTo>
                    <a:pt x="8987723" y="787283"/>
                  </a:lnTo>
                  <a:lnTo>
                    <a:pt x="8983920" y="787657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13" name="object 8">
              <a:extLst>
                <a:ext uri="{FF2B5EF4-FFF2-40B4-BE49-F238E27FC236}">
                  <a16:creationId xmlns:a16="http://schemas.microsoft.com/office/drawing/2014/main" id="{7FBEF369-9C9F-4244-8149-4F4EACD555F4}"/>
                </a:ext>
              </a:extLst>
            </p:cNvPr>
            <p:cNvSpPr/>
            <p:nvPr/>
          </p:nvSpPr>
          <p:spPr>
            <a:xfrm>
              <a:off x="833764" y="5138588"/>
              <a:ext cx="2386254" cy="788035"/>
            </a:xfrm>
            <a:custGeom>
              <a:avLst/>
              <a:gdLst/>
              <a:ahLst/>
              <a:cxnLst/>
              <a:rect l="l" t="t" r="r" b="b"/>
              <a:pathLst>
                <a:path w="9038590" h="788035">
                  <a:moveTo>
                    <a:pt x="0" y="729168"/>
                  </a:moveTo>
                  <a:lnTo>
                    <a:pt x="0" y="58489"/>
                  </a:lnTo>
                  <a:lnTo>
                    <a:pt x="0" y="54648"/>
                  </a:lnTo>
                  <a:lnTo>
                    <a:pt x="374" y="50845"/>
                  </a:lnTo>
                  <a:lnTo>
                    <a:pt x="17131" y="17130"/>
                  </a:lnTo>
                  <a:lnTo>
                    <a:pt x="19846" y="14414"/>
                  </a:lnTo>
                  <a:lnTo>
                    <a:pt x="22801" y="11990"/>
                  </a:lnTo>
                  <a:lnTo>
                    <a:pt x="25994" y="9856"/>
                  </a:lnTo>
                  <a:lnTo>
                    <a:pt x="29187" y="7722"/>
                  </a:lnTo>
                  <a:lnTo>
                    <a:pt x="47078" y="1123"/>
                  </a:lnTo>
                  <a:lnTo>
                    <a:pt x="50845" y="374"/>
                  </a:lnTo>
                  <a:lnTo>
                    <a:pt x="54648" y="0"/>
                  </a:lnTo>
                  <a:lnTo>
                    <a:pt x="58489" y="0"/>
                  </a:lnTo>
                  <a:lnTo>
                    <a:pt x="8980080" y="0"/>
                  </a:lnTo>
                  <a:lnTo>
                    <a:pt x="8983920" y="0"/>
                  </a:lnTo>
                  <a:lnTo>
                    <a:pt x="8987723" y="374"/>
                  </a:lnTo>
                  <a:lnTo>
                    <a:pt x="8991490" y="1123"/>
                  </a:lnTo>
                  <a:lnTo>
                    <a:pt x="8995257" y="1872"/>
                  </a:lnTo>
                  <a:lnTo>
                    <a:pt x="9012574" y="9857"/>
                  </a:lnTo>
                  <a:lnTo>
                    <a:pt x="9015768" y="11990"/>
                  </a:lnTo>
                  <a:lnTo>
                    <a:pt x="9028710" y="25993"/>
                  </a:lnTo>
                  <a:lnTo>
                    <a:pt x="9030844" y="29187"/>
                  </a:lnTo>
                  <a:lnTo>
                    <a:pt x="9038569" y="58489"/>
                  </a:lnTo>
                  <a:lnTo>
                    <a:pt x="9038569" y="729168"/>
                  </a:lnTo>
                  <a:lnTo>
                    <a:pt x="9038569" y="733008"/>
                  </a:lnTo>
                  <a:lnTo>
                    <a:pt x="9038193" y="736812"/>
                  </a:lnTo>
                  <a:lnTo>
                    <a:pt x="9037444" y="740578"/>
                  </a:lnTo>
                  <a:lnTo>
                    <a:pt x="9036695" y="744345"/>
                  </a:lnTo>
                  <a:lnTo>
                    <a:pt x="9028710" y="761662"/>
                  </a:lnTo>
                  <a:lnTo>
                    <a:pt x="9026576" y="764856"/>
                  </a:lnTo>
                  <a:lnTo>
                    <a:pt x="9012574" y="777800"/>
                  </a:lnTo>
                  <a:lnTo>
                    <a:pt x="9009381" y="779934"/>
                  </a:lnTo>
                  <a:lnTo>
                    <a:pt x="8991490" y="786533"/>
                  </a:lnTo>
                  <a:lnTo>
                    <a:pt x="8987723" y="787283"/>
                  </a:lnTo>
                  <a:lnTo>
                    <a:pt x="8983920" y="787657"/>
                  </a:lnTo>
                  <a:lnTo>
                    <a:pt x="8980080" y="787657"/>
                  </a:lnTo>
                  <a:lnTo>
                    <a:pt x="58489" y="787657"/>
                  </a:lnTo>
                  <a:lnTo>
                    <a:pt x="54648" y="787657"/>
                  </a:lnTo>
                  <a:lnTo>
                    <a:pt x="50845" y="787283"/>
                  </a:lnTo>
                  <a:lnTo>
                    <a:pt x="17131" y="770526"/>
                  </a:lnTo>
                  <a:lnTo>
                    <a:pt x="14415" y="767811"/>
                  </a:lnTo>
                  <a:lnTo>
                    <a:pt x="1123" y="740578"/>
                  </a:lnTo>
                  <a:lnTo>
                    <a:pt x="374" y="736812"/>
                  </a:lnTo>
                  <a:lnTo>
                    <a:pt x="0" y="733008"/>
                  </a:lnTo>
                  <a:lnTo>
                    <a:pt x="0" y="729168"/>
                  </a:lnTo>
                  <a:close/>
                </a:path>
              </a:pathLst>
            </a:custGeom>
            <a:grpFill/>
            <a:ln w="7798">
              <a:solidFill>
                <a:schemeClr val="bg1">
                  <a:lumMod val="75000"/>
                </a:schemeClr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AAEB79FF-1177-470D-A509-8D98C55ABBC0}"/>
              </a:ext>
            </a:extLst>
          </p:cNvPr>
          <p:cNvSpPr txBox="1"/>
          <p:nvPr/>
        </p:nvSpPr>
        <p:spPr>
          <a:xfrm>
            <a:off x="583466" y="825192"/>
            <a:ext cx="92477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lang="ko-KR" altLang="en-US" sz="1400" b="1" dirty="0">
                <a:solidFill>
                  <a:schemeClr val="bg2">
                    <a:lumMod val="50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Noto Sans KR"/>
              </a:rPr>
              <a:t>데이터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1AE9BCC-3164-4B18-B54D-E4CE37A77068}"/>
              </a:ext>
            </a:extLst>
          </p:cNvPr>
          <p:cNvSpPr txBox="1"/>
          <p:nvPr/>
        </p:nvSpPr>
        <p:spPr>
          <a:xfrm>
            <a:off x="1045855" y="1094614"/>
            <a:ext cx="873609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ko-KR" sz="105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DEF-03671 </a:t>
            </a:r>
            <a:r>
              <a:rPr lang="en-US" altLang="ko-KR" sz="105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: </a:t>
            </a:r>
            <a:r>
              <a:rPr lang="ko-KR" altLang="en-US" sz="105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테스트 결과서의 </a:t>
            </a:r>
            <a:r>
              <a:rPr lang="en-US" altLang="ko-KR" sz="105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3515 </a:t>
            </a:r>
            <a:r>
              <a:rPr lang="ko-KR" altLang="en-US" sz="1050" kern="100" dirty="0" err="1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기대결과값과</a:t>
            </a:r>
            <a:r>
              <a:rPr lang="ko-KR" altLang="en-US" sz="105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다르게 나옴</a:t>
            </a:r>
            <a:r>
              <a:rPr lang="en-US" altLang="ko-KR" sz="105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, 45-&gt; 90</a:t>
            </a:r>
            <a:endParaRPr lang="ko-KR" altLang="ko-KR" sz="1050" kern="100" dirty="0"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E574F20-20C9-4DD3-909A-B4405C55F4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763" y="1658625"/>
            <a:ext cx="10212225" cy="4715533"/>
          </a:xfrm>
          <a:prstGeom prst="rect">
            <a:avLst/>
          </a:prstGeom>
        </p:spPr>
      </p:pic>
      <p:sp>
        <p:nvSpPr>
          <p:cNvPr id="16" name="Rectangle 2">
            <a:extLst>
              <a:ext uri="{FF2B5EF4-FFF2-40B4-BE49-F238E27FC236}">
                <a16:creationId xmlns:a16="http://schemas.microsoft.com/office/drawing/2014/main" id="{3CCA8F01-282E-4BEB-8457-11DB91BD74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892" y="91161"/>
            <a:ext cx="5652516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indent="-354013" defTabSz="957743">
              <a:defRPr sz="2200" spc="-11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9pPr>
          </a:lstStyle>
          <a:p>
            <a:pPr latinLnBrk="0">
              <a:defRPr/>
            </a:pPr>
            <a:r>
              <a:rPr kumimoji="0" lang="ko-KR" altLang="en-US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  <a:r>
              <a:rPr kumimoji="0" lang="en-US" altLang="ko-KR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III – 5. </a:t>
            </a:r>
            <a:r>
              <a:rPr lang="ko-KR" altLang="ko-KR" sz="20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결함 </a:t>
            </a:r>
            <a:r>
              <a:rPr lang="ko-KR" altLang="en-US" sz="20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사례 </a:t>
            </a:r>
            <a:r>
              <a:rPr lang="en-US" altLang="ko-KR" sz="20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( </a:t>
            </a:r>
            <a:r>
              <a:rPr lang="ko-KR" altLang="en-US" sz="20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유형별  </a:t>
            </a:r>
            <a:r>
              <a:rPr lang="en-US" altLang="ko-KR" sz="20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)    7/11</a:t>
            </a:r>
            <a:endParaRPr kumimoji="0" lang="en-US" altLang="ko-KR" sz="2000" b="1" i="0" u="none" strike="noStrike" kern="1200" cap="none" spc="-11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922528738"/>
      </p:ext>
    </p:extLst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69CD25-C31C-C671-775F-F1F7D36B1B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DEEFB788-EB00-4C09-A1E3-BEC6ADF29347}"/>
              </a:ext>
            </a:extLst>
          </p:cNvPr>
          <p:cNvSpPr/>
          <p:nvPr/>
        </p:nvSpPr>
        <p:spPr>
          <a:xfrm>
            <a:off x="787321" y="1179278"/>
            <a:ext cx="10940714" cy="5273910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1" name="object 5">
            <a:extLst>
              <a:ext uri="{FF2B5EF4-FFF2-40B4-BE49-F238E27FC236}">
                <a16:creationId xmlns:a16="http://schemas.microsoft.com/office/drawing/2014/main" id="{B0BC8524-1161-4881-BD28-24AB213A1F05}"/>
              </a:ext>
            </a:extLst>
          </p:cNvPr>
          <p:cNvGrpSpPr/>
          <p:nvPr/>
        </p:nvGrpSpPr>
        <p:grpSpPr>
          <a:xfrm>
            <a:off x="463965" y="766503"/>
            <a:ext cx="8587568" cy="704399"/>
            <a:chOff x="833764" y="5138588"/>
            <a:chExt cx="2386254" cy="788035"/>
          </a:xfrm>
          <a:solidFill>
            <a:srgbClr val="FDE9E7"/>
          </a:solidFill>
        </p:grpSpPr>
        <p:sp>
          <p:nvSpPr>
            <p:cNvPr id="12" name="object 7">
              <a:extLst>
                <a:ext uri="{FF2B5EF4-FFF2-40B4-BE49-F238E27FC236}">
                  <a16:creationId xmlns:a16="http://schemas.microsoft.com/office/drawing/2014/main" id="{9B03F133-6D33-48CD-AA9D-0841C84F17EE}"/>
                </a:ext>
              </a:extLst>
            </p:cNvPr>
            <p:cNvSpPr/>
            <p:nvPr/>
          </p:nvSpPr>
          <p:spPr>
            <a:xfrm>
              <a:off x="833764" y="5152438"/>
              <a:ext cx="2386254" cy="766534"/>
            </a:xfrm>
            <a:custGeom>
              <a:avLst/>
              <a:gdLst/>
              <a:ahLst/>
              <a:cxnLst/>
              <a:rect l="l" t="t" r="r" b="b"/>
              <a:pathLst>
                <a:path w="9038590" h="788035">
                  <a:moveTo>
                    <a:pt x="8983920" y="787657"/>
                  </a:moveTo>
                  <a:lnTo>
                    <a:pt x="54648" y="787657"/>
                  </a:lnTo>
                  <a:lnTo>
                    <a:pt x="50845" y="787283"/>
                  </a:lnTo>
                  <a:lnTo>
                    <a:pt x="14415" y="767811"/>
                  </a:lnTo>
                  <a:lnTo>
                    <a:pt x="0" y="733008"/>
                  </a:lnTo>
                  <a:lnTo>
                    <a:pt x="0" y="729168"/>
                  </a:lnTo>
                  <a:lnTo>
                    <a:pt x="0" y="54648"/>
                  </a:lnTo>
                  <a:lnTo>
                    <a:pt x="19846" y="14414"/>
                  </a:lnTo>
                  <a:lnTo>
                    <a:pt x="54648" y="0"/>
                  </a:lnTo>
                  <a:lnTo>
                    <a:pt x="8983920" y="0"/>
                  </a:lnTo>
                  <a:lnTo>
                    <a:pt x="9024153" y="19846"/>
                  </a:lnTo>
                  <a:lnTo>
                    <a:pt x="9038569" y="54648"/>
                  </a:lnTo>
                  <a:lnTo>
                    <a:pt x="9038569" y="733008"/>
                  </a:lnTo>
                  <a:lnTo>
                    <a:pt x="9018722" y="773242"/>
                  </a:lnTo>
                  <a:lnTo>
                    <a:pt x="8987723" y="787283"/>
                  </a:lnTo>
                  <a:lnTo>
                    <a:pt x="8983920" y="787657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13" name="object 8">
              <a:extLst>
                <a:ext uri="{FF2B5EF4-FFF2-40B4-BE49-F238E27FC236}">
                  <a16:creationId xmlns:a16="http://schemas.microsoft.com/office/drawing/2014/main" id="{7FBEF369-9C9F-4244-8149-4F4EACD555F4}"/>
                </a:ext>
              </a:extLst>
            </p:cNvPr>
            <p:cNvSpPr/>
            <p:nvPr/>
          </p:nvSpPr>
          <p:spPr>
            <a:xfrm>
              <a:off x="833764" y="5138588"/>
              <a:ext cx="2386254" cy="788035"/>
            </a:xfrm>
            <a:custGeom>
              <a:avLst/>
              <a:gdLst/>
              <a:ahLst/>
              <a:cxnLst/>
              <a:rect l="l" t="t" r="r" b="b"/>
              <a:pathLst>
                <a:path w="9038590" h="788035">
                  <a:moveTo>
                    <a:pt x="0" y="729168"/>
                  </a:moveTo>
                  <a:lnTo>
                    <a:pt x="0" y="58489"/>
                  </a:lnTo>
                  <a:lnTo>
                    <a:pt x="0" y="54648"/>
                  </a:lnTo>
                  <a:lnTo>
                    <a:pt x="374" y="50845"/>
                  </a:lnTo>
                  <a:lnTo>
                    <a:pt x="17131" y="17130"/>
                  </a:lnTo>
                  <a:lnTo>
                    <a:pt x="19846" y="14414"/>
                  </a:lnTo>
                  <a:lnTo>
                    <a:pt x="22801" y="11990"/>
                  </a:lnTo>
                  <a:lnTo>
                    <a:pt x="25994" y="9856"/>
                  </a:lnTo>
                  <a:lnTo>
                    <a:pt x="29187" y="7722"/>
                  </a:lnTo>
                  <a:lnTo>
                    <a:pt x="47078" y="1123"/>
                  </a:lnTo>
                  <a:lnTo>
                    <a:pt x="50845" y="374"/>
                  </a:lnTo>
                  <a:lnTo>
                    <a:pt x="54648" y="0"/>
                  </a:lnTo>
                  <a:lnTo>
                    <a:pt x="58489" y="0"/>
                  </a:lnTo>
                  <a:lnTo>
                    <a:pt x="8980080" y="0"/>
                  </a:lnTo>
                  <a:lnTo>
                    <a:pt x="8983920" y="0"/>
                  </a:lnTo>
                  <a:lnTo>
                    <a:pt x="8987723" y="374"/>
                  </a:lnTo>
                  <a:lnTo>
                    <a:pt x="8991490" y="1123"/>
                  </a:lnTo>
                  <a:lnTo>
                    <a:pt x="8995257" y="1872"/>
                  </a:lnTo>
                  <a:lnTo>
                    <a:pt x="9012574" y="9857"/>
                  </a:lnTo>
                  <a:lnTo>
                    <a:pt x="9015768" y="11990"/>
                  </a:lnTo>
                  <a:lnTo>
                    <a:pt x="9028710" y="25993"/>
                  </a:lnTo>
                  <a:lnTo>
                    <a:pt x="9030844" y="29187"/>
                  </a:lnTo>
                  <a:lnTo>
                    <a:pt x="9038569" y="58489"/>
                  </a:lnTo>
                  <a:lnTo>
                    <a:pt x="9038569" y="729168"/>
                  </a:lnTo>
                  <a:lnTo>
                    <a:pt x="9038569" y="733008"/>
                  </a:lnTo>
                  <a:lnTo>
                    <a:pt x="9038193" y="736812"/>
                  </a:lnTo>
                  <a:lnTo>
                    <a:pt x="9037444" y="740578"/>
                  </a:lnTo>
                  <a:lnTo>
                    <a:pt x="9036695" y="744345"/>
                  </a:lnTo>
                  <a:lnTo>
                    <a:pt x="9028710" y="761662"/>
                  </a:lnTo>
                  <a:lnTo>
                    <a:pt x="9026576" y="764856"/>
                  </a:lnTo>
                  <a:lnTo>
                    <a:pt x="9012574" y="777800"/>
                  </a:lnTo>
                  <a:lnTo>
                    <a:pt x="9009381" y="779934"/>
                  </a:lnTo>
                  <a:lnTo>
                    <a:pt x="8991490" y="786533"/>
                  </a:lnTo>
                  <a:lnTo>
                    <a:pt x="8987723" y="787283"/>
                  </a:lnTo>
                  <a:lnTo>
                    <a:pt x="8983920" y="787657"/>
                  </a:lnTo>
                  <a:lnTo>
                    <a:pt x="8980080" y="787657"/>
                  </a:lnTo>
                  <a:lnTo>
                    <a:pt x="58489" y="787657"/>
                  </a:lnTo>
                  <a:lnTo>
                    <a:pt x="54648" y="787657"/>
                  </a:lnTo>
                  <a:lnTo>
                    <a:pt x="50845" y="787283"/>
                  </a:lnTo>
                  <a:lnTo>
                    <a:pt x="17131" y="770526"/>
                  </a:lnTo>
                  <a:lnTo>
                    <a:pt x="14415" y="767811"/>
                  </a:lnTo>
                  <a:lnTo>
                    <a:pt x="1123" y="740578"/>
                  </a:lnTo>
                  <a:lnTo>
                    <a:pt x="374" y="736812"/>
                  </a:lnTo>
                  <a:lnTo>
                    <a:pt x="0" y="733008"/>
                  </a:lnTo>
                  <a:lnTo>
                    <a:pt x="0" y="729168"/>
                  </a:lnTo>
                  <a:close/>
                </a:path>
              </a:pathLst>
            </a:custGeom>
            <a:grpFill/>
            <a:ln w="7798">
              <a:solidFill>
                <a:schemeClr val="bg1">
                  <a:lumMod val="75000"/>
                </a:schemeClr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AAEB79FF-1177-470D-A509-8D98C55ABBC0}"/>
              </a:ext>
            </a:extLst>
          </p:cNvPr>
          <p:cNvSpPr txBox="1"/>
          <p:nvPr/>
        </p:nvSpPr>
        <p:spPr>
          <a:xfrm>
            <a:off x="583466" y="825192"/>
            <a:ext cx="92477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lang="ko-KR" altLang="en-US" sz="1400" b="1" dirty="0">
                <a:solidFill>
                  <a:schemeClr val="bg2">
                    <a:lumMod val="50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Noto Sans KR"/>
              </a:rPr>
              <a:t>데이터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1AE9BCC-3164-4B18-B54D-E4CE37A77068}"/>
              </a:ext>
            </a:extLst>
          </p:cNvPr>
          <p:cNvSpPr txBox="1"/>
          <p:nvPr/>
        </p:nvSpPr>
        <p:spPr>
          <a:xfrm>
            <a:off x="1045855" y="1094614"/>
            <a:ext cx="873609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ko-KR" sz="105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DEF-03515 </a:t>
            </a:r>
            <a:r>
              <a:rPr lang="en-US" altLang="ko-KR" sz="105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: DECLARE</a:t>
            </a:r>
            <a:r>
              <a:rPr lang="ko-KR" altLang="en-US" sz="105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문 </a:t>
            </a:r>
            <a:r>
              <a:rPr lang="ko-KR" altLang="en-US" sz="1050" kern="100" dirty="0" err="1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실행시</a:t>
            </a:r>
            <a:r>
              <a:rPr lang="ko-KR" altLang="en-US" sz="105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계속 실행되고 종료가 안됨</a:t>
            </a:r>
            <a:endParaRPr lang="ko-KR" altLang="ko-KR" sz="1050" kern="100" dirty="0"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B74D655-C2B2-4F1E-8C43-5492DE72F3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5040" y="1517211"/>
            <a:ext cx="10072736" cy="4515364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B2BDB288-5D9F-4D09-A079-49C7EB15E3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0191" y="2266396"/>
            <a:ext cx="9764488" cy="4029637"/>
          </a:xfrm>
          <a:prstGeom prst="rect">
            <a:avLst/>
          </a:prstGeom>
        </p:spPr>
      </p:pic>
      <p:sp>
        <p:nvSpPr>
          <p:cNvPr id="16" name="직사각형 15">
            <a:extLst>
              <a:ext uri="{FF2B5EF4-FFF2-40B4-BE49-F238E27FC236}">
                <a16:creationId xmlns:a16="http://schemas.microsoft.com/office/drawing/2014/main" id="{4056F89C-6A24-4A6F-A679-329041189FA1}"/>
              </a:ext>
            </a:extLst>
          </p:cNvPr>
          <p:cNvSpPr/>
          <p:nvPr/>
        </p:nvSpPr>
        <p:spPr>
          <a:xfrm>
            <a:off x="6096000" y="5460753"/>
            <a:ext cx="2399414" cy="919943"/>
          </a:xfrm>
          <a:prstGeom prst="rect">
            <a:avLst/>
          </a:prstGeom>
          <a:noFill/>
          <a:ln w="412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CEA26EE5-B901-4E18-B022-5D9ABEF728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892" y="91161"/>
            <a:ext cx="5652516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indent="-354013" defTabSz="957743">
              <a:defRPr sz="2200" spc="-11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9pPr>
          </a:lstStyle>
          <a:p>
            <a:pPr latinLnBrk="0">
              <a:defRPr/>
            </a:pPr>
            <a:r>
              <a:rPr kumimoji="0" lang="ko-KR" altLang="en-US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  <a:r>
              <a:rPr kumimoji="0" lang="en-US" altLang="ko-KR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III – 5. </a:t>
            </a:r>
            <a:r>
              <a:rPr lang="ko-KR" altLang="ko-KR" sz="20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결함 </a:t>
            </a:r>
            <a:r>
              <a:rPr lang="ko-KR" altLang="en-US" sz="20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사례 </a:t>
            </a:r>
            <a:r>
              <a:rPr lang="en-US" altLang="ko-KR" sz="20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( </a:t>
            </a:r>
            <a:r>
              <a:rPr lang="ko-KR" altLang="en-US" sz="20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유형별  </a:t>
            </a:r>
            <a:r>
              <a:rPr lang="en-US" altLang="ko-KR" sz="20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)    8/11</a:t>
            </a:r>
            <a:endParaRPr kumimoji="0" lang="en-US" altLang="ko-KR" sz="2000" b="1" i="0" u="none" strike="noStrike" kern="1200" cap="none" spc="-11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131846795"/>
      </p:ext>
    </p:extLst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69CD25-C31C-C671-775F-F1F7D36B1B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DEEFB788-EB00-4C09-A1E3-BEC6ADF29347}"/>
              </a:ext>
            </a:extLst>
          </p:cNvPr>
          <p:cNvSpPr/>
          <p:nvPr/>
        </p:nvSpPr>
        <p:spPr>
          <a:xfrm>
            <a:off x="787321" y="1179278"/>
            <a:ext cx="10940714" cy="5273910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1" name="object 5">
            <a:extLst>
              <a:ext uri="{FF2B5EF4-FFF2-40B4-BE49-F238E27FC236}">
                <a16:creationId xmlns:a16="http://schemas.microsoft.com/office/drawing/2014/main" id="{B0BC8524-1161-4881-BD28-24AB213A1F05}"/>
              </a:ext>
            </a:extLst>
          </p:cNvPr>
          <p:cNvGrpSpPr/>
          <p:nvPr/>
        </p:nvGrpSpPr>
        <p:grpSpPr>
          <a:xfrm>
            <a:off x="463965" y="766503"/>
            <a:ext cx="8587568" cy="704399"/>
            <a:chOff x="833764" y="5138588"/>
            <a:chExt cx="2386254" cy="788035"/>
          </a:xfrm>
          <a:solidFill>
            <a:srgbClr val="FDE9E7"/>
          </a:solidFill>
        </p:grpSpPr>
        <p:sp>
          <p:nvSpPr>
            <p:cNvPr id="12" name="object 7">
              <a:extLst>
                <a:ext uri="{FF2B5EF4-FFF2-40B4-BE49-F238E27FC236}">
                  <a16:creationId xmlns:a16="http://schemas.microsoft.com/office/drawing/2014/main" id="{9B03F133-6D33-48CD-AA9D-0841C84F17EE}"/>
                </a:ext>
              </a:extLst>
            </p:cNvPr>
            <p:cNvSpPr/>
            <p:nvPr/>
          </p:nvSpPr>
          <p:spPr>
            <a:xfrm>
              <a:off x="833764" y="5152438"/>
              <a:ext cx="2386254" cy="766534"/>
            </a:xfrm>
            <a:custGeom>
              <a:avLst/>
              <a:gdLst/>
              <a:ahLst/>
              <a:cxnLst/>
              <a:rect l="l" t="t" r="r" b="b"/>
              <a:pathLst>
                <a:path w="9038590" h="788035">
                  <a:moveTo>
                    <a:pt x="8983920" y="787657"/>
                  </a:moveTo>
                  <a:lnTo>
                    <a:pt x="54648" y="787657"/>
                  </a:lnTo>
                  <a:lnTo>
                    <a:pt x="50845" y="787283"/>
                  </a:lnTo>
                  <a:lnTo>
                    <a:pt x="14415" y="767811"/>
                  </a:lnTo>
                  <a:lnTo>
                    <a:pt x="0" y="733008"/>
                  </a:lnTo>
                  <a:lnTo>
                    <a:pt x="0" y="729168"/>
                  </a:lnTo>
                  <a:lnTo>
                    <a:pt x="0" y="54648"/>
                  </a:lnTo>
                  <a:lnTo>
                    <a:pt x="19846" y="14414"/>
                  </a:lnTo>
                  <a:lnTo>
                    <a:pt x="54648" y="0"/>
                  </a:lnTo>
                  <a:lnTo>
                    <a:pt x="8983920" y="0"/>
                  </a:lnTo>
                  <a:lnTo>
                    <a:pt x="9024153" y="19846"/>
                  </a:lnTo>
                  <a:lnTo>
                    <a:pt x="9038569" y="54648"/>
                  </a:lnTo>
                  <a:lnTo>
                    <a:pt x="9038569" y="733008"/>
                  </a:lnTo>
                  <a:lnTo>
                    <a:pt x="9018722" y="773242"/>
                  </a:lnTo>
                  <a:lnTo>
                    <a:pt x="8987723" y="787283"/>
                  </a:lnTo>
                  <a:lnTo>
                    <a:pt x="8983920" y="787657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13" name="object 8">
              <a:extLst>
                <a:ext uri="{FF2B5EF4-FFF2-40B4-BE49-F238E27FC236}">
                  <a16:creationId xmlns:a16="http://schemas.microsoft.com/office/drawing/2014/main" id="{7FBEF369-9C9F-4244-8149-4F4EACD555F4}"/>
                </a:ext>
              </a:extLst>
            </p:cNvPr>
            <p:cNvSpPr/>
            <p:nvPr/>
          </p:nvSpPr>
          <p:spPr>
            <a:xfrm>
              <a:off x="833764" y="5138588"/>
              <a:ext cx="2386254" cy="788035"/>
            </a:xfrm>
            <a:custGeom>
              <a:avLst/>
              <a:gdLst/>
              <a:ahLst/>
              <a:cxnLst/>
              <a:rect l="l" t="t" r="r" b="b"/>
              <a:pathLst>
                <a:path w="9038590" h="788035">
                  <a:moveTo>
                    <a:pt x="0" y="729168"/>
                  </a:moveTo>
                  <a:lnTo>
                    <a:pt x="0" y="58489"/>
                  </a:lnTo>
                  <a:lnTo>
                    <a:pt x="0" y="54648"/>
                  </a:lnTo>
                  <a:lnTo>
                    <a:pt x="374" y="50845"/>
                  </a:lnTo>
                  <a:lnTo>
                    <a:pt x="17131" y="17130"/>
                  </a:lnTo>
                  <a:lnTo>
                    <a:pt x="19846" y="14414"/>
                  </a:lnTo>
                  <a:lnTo>
                    <a:pt x="22801" y="11990"/>
                  </a:lnTo>
                  <a:lnTo>
                    <a:pt x="25994" y="9856"/>
                  </a:lnTo>
                  <a:lnTo>
                    <a:pt x="29187" y="7722"/>
                  </a:lnTo>
                  <a:lnTo>
                    <a:pt x="47078" y="1123"/>
                  </a:lnTo>
                  <a:lnTo>
                    <a:pt x="50845" y="374"/>
                  </a:lnTo>
                  <a:lnTo>
                    <a:pt x="54648" y="0"/>
                  </a:lnTo>
                  <a:lnTo>
                    <a:pt x="58489" y="0"/>
                  </a:lnTo>
                  <a:lnTo>
                    <a:pt x="8980080" y="0"/>
                  </a:lnTo>
                  <a:lnTo>
                    <a:pt x="8983920" y="0"/>
                  </a:lnTo>
                  <a:lnTo>
                    <a:pt x="8987723" y="374"/>
                  </a:lnTo>
                  <a:lnTo>
                    <a:pt x="8991490" y="1123"/>
                  </a:lnTo>
                  <a:lnTo>
                    <a:pt x="8995257" y="1872"/>
                  </a:lnTo>
                  <a:lnTo>
                    <a:pt x="9012574" y="9857"/>
                  </a:lnTo>
                  <a:lnTo>
                    <a:pt x="9015768" y="11990"/>
                  </a:lnTo>
                  <a:lnTo>
                    <a:pt x="9028710" y="25993"/>
                  </a:lnTo>
                  <a:lnTo>
                    <a:pt x="9030844" y="29187"/>
                  </a:lnTo>
                  <a:lnTo>
                    <a:pt x="9038569" y="58489"/>
                  </a:lnTo>
                  <a:lnTo>
                    <a:pt x="9038569" y="729168"/>
                  </a:lnTo>
                  <a:lnTo>
                    <a:pt x="9038569" y="733008"/>
                  </a:lnTo>
                  <a:lnTo>
                    <a:pt x="9038193" y="736812"/>
                  </a:lnTo>
                  <a:lnTo>
                    <a:pt x="9037444" y="740578"/>
                  </a:lnTo>
                  <a:lnTo>
                    <a:pt x="9036695" y="744345"/>
                  </a:lnTo>
                  <a:lnTo>
                    <a:pt x="9028710" y="761662"/>
                  </a:lnTo>
                  <a:lnTo>
                    <a:pt x="9026576" y="764856"/>
                  </a:lnTo>
                  <a:lnTo>
                    <a:pt x="9012574" y="777800"/>
                  </a:lnTo>
                  <a:lnTo>
                    <a:pt x="9009381" y="779934"/>
                  </a:lnTo>
                  <a:lnTo>
                    <a:pt x="8991490" y="786533"/>
                  </a:lnTo>
                  <a:lnTo>
                    <a:pt x="8987723" y="787283"/>
                  </a:lnTo>
                  <a:lnTo>
                    <a:pt x="8983920" y="787657"/>
                  </a:lnTo>
                  <a:lnTo>
                    <a:pt x="8980080" y="787657"/>
                  </a:lnTo>
                  <a:lnTo>
                    <a:pt x="58489" y="787657"/>
                  </a:lnTo>
                  <a:lnTo>
                    <a:pt x="54648" y="787657"/>
                  </a:lnTo>
                  <a:lnTo>
                    <a:pt x="50845" y="787283"/>
                  </a:lnTo>
                  <a:lnTo>
                    <a:pt x="17131" y="770526"/>
                  </a:lnTo>
                  <a:lnTo>
                    <a:pt x="14415" y="767811"/>
                  </a:lnTo>
                  <a:lnTo>
                    <a:pt x="1123" y="740578"/>
                  </a:lnTo>
                  <a:lnTo>
                    <a:pt x="374" y="736812"/>
                  </a:lnTo>
                  <a:lnTo>
                    <a:pt x="0" y="733008"/>
                  </a:lnTo>
                  <a:lnTo>
                    <a:pt x="0" y="729168"/>
                  </a:lnTo>
                  <a:close/>
                </a:path>
              </a:pathLst>
            </a:custGeom>
            <a:grpFill/>
            <a:ln w="7798">
              <a:solidFill>
                <a:schemeClr val="bg1">
                  <a:lumMod val="75000"/>
                </a:schemeClr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AAEB79FF-1177-470D-A509-8D98C55ABBC0}"/>
              </a:ext>
            </a:extLst>
          </p:cNvPr>
          <p:cNvSpPr txBox="1"/>
          <p:nvPr/>
        </p:nvSpPr>
        <p:spPr>
          <a:xfrm>
            <a:off x="583466" y="825192"/>
            <a:ext cx="92477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lang="ko-KR" altLang="en-US" sz="1400" b="1" dirty="0">
                <a:solidFill>
                  <a:schemeClr val="bg2">
                    <a:lumMod val="50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Noto Sans KR"/>
              </a:rPr>
              <a:t>데이터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1AE9BCC-3164-4B18-B54D-E4CE37A77068}"/>
              </a:ext>
            </a:extLst>
          </p:cNvPr>
          <p:cNvSpPr txBox="1"/>
          <p:nvPr/>
        </p:nvSpPr>
        <p:spPr>
          <a:xfrm>
            <a:off x="1045855" y="1094614"/>
            <a:ext cx="873609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ko-KR" sz="105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DEF-03423 </a:t>
            </a:r>
            <a:r>
              <a:rPr lang="en-US" altLang="ko-KR" sz="105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: </a:t>
            </a:r>
            <a:r>
              <a:rPr lang="ko-KR" altLang="en-US" sz="105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조회 시 오류 발생 기준일자 </a:t>
            </a:r>
            <a:r>
              <a:rPr lang="en-US" altLang="ko-KR" sz="105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2025-10-01, 2025-10-02</a:t>
            </a:r>
            <a:r>
              <a:rPr lang="ko-KR" altLang="en-US" sz="105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로 조회 시 오류 발생</a:t>
            </a:r>
            <a:r>
              <a:rPr lang="en-US" altLang="ko-KR" sz="105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, </a:t>
            </a:r>
            <a:r>
              <a:rPr lang="ko-KR" altLang="en-US" sz="1050" kern="100" dirty="0" err="1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그외</a:t>
            </a:r>
            <a:r>
              <a:rPr lang="ko-KR" altLang="en-US" sz="105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몇개 일자 </a:t>
            </a:r>
            <a:r>
              <a:rPr lang="ko-KR" altLang="en-US" sz="1050" kern="100" dirty="0" err="1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조회시</a:t>
            </a:r>
            <a:r>
              <a:rPr lang="ko-KR" altLang="en-US" sz="105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정상 조회됨</a:t>
            </a:r>
            <a:endParaRPr lang="ko-KR" altLang="ko-KR" sz="1050" kern="100" dirty="0"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18A7E50-9E0A-47BF-BF18-A1169C63CE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5957" y="1687093"/>
            <a:ext cx="9853872" cy="4587948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27246229-FB43-42E7-951C-D36EECA287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5462" y="2017691"/>
            <a:ext cx="8923003" cy="4346423"/>
          </a:xfrm>
          <a:prstGeom prst="rect">
            <a:avLst/>
          </a:prstGeom>
        </p:spPr>
      </p:pic>
      <p:sp>
        <p:nvSpPr>
          <p:cNvPr id="17" name="직사각형 16">
            <a:extLst>
              <a:ext uri="{FF2B5EF4-FFF2-40B4-BE49-F238E27FC236}">
                <a16:creationId xmlns:a16="http://schemas.microsoft.com/office/drawing/2014/main" id="{9BCFA1A1-7E83-4E26-BD41-A1A3D426C0BE}"/>
              </a:ext>
            </a:extLst>
          </p:cNvPr>
          <p:cNvSpPr/>
          <p:nvPr/>
        </p:nvSpPr>
        <p:spPr>
          <a:xfrm>
            <a:off x="3696585" y="4401876"/>
            <a:ext cx="7241879" cy="2046902"/>
          </a:xfrm>
          <a:prstGeom prst="rect">
            <a:avLst/>
          </a:prstGeom>
          <a:noFill/>
          <a:ln w="412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A7AB27E9-C7FA-42E1-87B5-A809DF699D39}"/>
              </a:ext>
            </a:extLst>
          </p:cNvPr>
          <p:cNvSpPr/>
          <p:nvPr/>
        </p:nvSpPr>
        <p:spPr>
          <a:xfrm>
            <a:off x="2185576" y="2276533"/>
            <a:ext cx="1907953" cy="299500"/>
          </a:xfrm>
          <a:prstGeom prst="rect">
            <a:avLst/>
          </a:prstGeom>
          <a:noFill/>
          <a:ln w="412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Rectangle 2">
            <a:extLst>
              <a:ext uri="{FF2B5EF4-FFF2-40B4-BE49-F238E27FC236}">
                <a16:creationId xmlns:a16="http://schemas.microsoft.com/office/drawing/2014/main" id="{6F022E7A-5706-472D-B4BD-3B1680C6A1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892" y="91161"/>
            <a:ext cx="5652516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indent="-354013" defTabSz="957743">
              <a:defRPr sz="2200" spc="-11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9pPr>
          </a:lstStyle>
          <a:p>
            <a:pPr latinLnBrk="0">
              <a:defRPr/>
            </a:pPr>
            <a:r>
              <a:rPr kumimoji="0" lang="ko-KR" altLang="en-US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  <a:r>
              <a:rPr kumimoji="0" lang="en-US" altLang="ko-KR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III – 5. </a:t>
            </a:r>
            <a:r>
              <a:rPr lang="ko-KR" altLang="ko-KR" sz="20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결함 </a:t>
            </a:r>
            <a:r>
              <a:rPr lang="ko-KR" altLang="en-US" sz="20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사례 </a:t>
            </a:r>
            <a:r>
              <a:rPr lang="en-US" altLang="ko-KR" sz="20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( </a:t>
            </a:r>
            <a:r>
              <a:rPr lang="ko-KR" altLang="en-US" sz="20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유형별  </a:t>
            </a:r>
            <a:r>
              <a:rPr lang="en-US" altLang="ko-KR" sz="20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)    9/11</a:t>
            </a:r>
            <a:endParaRPr kumimoji="0" lang="en-US" altLang="ko-KR" sz="2000" b="1" i="0" u="none" strike="noStrike" kern="1200" cap="none" spc="-11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108834404"/>
      </p:ext>
    </p:extLst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69CD25-C31C-C671-775F-F1F7D36B1B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8D3569D1-D944-48D0-8B5A-ED7C17D226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855" y="2118242"/>
            <a:ext cx="9154341" cy="4046547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DEEFB788-EB00-4C09-A1E3-BEC6ADF29347}"/>
              </a:ext>
            </a:extLst>
          </p:cNvPr>
          <p:cNvSpPr/>
          <p:nvPr/>
        </p:nvSpPr>
        <p:spPr>
          <a:xfrm>
            <a:off x="787321" y="1179278"/>
            <a:ext cx="10940714" cy="5273910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1" name="object 5">
            <a:extLst>
              <a:ext uri="{FF2B5EF4-FFF2-40B4-BE49-F238E27FC236}">
                <a16:creationId xmlns:a16="http://schemas.microsoft.com/office/drawing/2014/main" id="{B0BC8524-1161-4881-BD28-24AB213A1F05}"/>
              </a:ext>
            </a:extLst>
          </p:cNvPr>
          <p:cNvGrpSpPr/>
          <p:nvPr/>
        </p:nvGrpSpPr>
        <p:grpSpPr>
          <a:xfrm>
            <a:off x="463965" y="766503"/>
            <a:ext cx="8587568" cy="916180"/>
            <a:chOff x="833764" y="5138588"/>
            <a:chExt cx="2386254" cy="788035"/>
          </a:xfrm>
          <a:solidFill>
            <a:srgbClr val="FDE9E7"/>
          </a:solidFill>
        </p:grpSpPr>
        <p:sp>
          <p:nvSpPr>
            <p:cNvPr id="12" name="object 7">
              <a:extLst>
                <a:ext uri="{FF2B5EF4-FFF2-40B4-BE49-F238E27FC236}">
                  <a16:creationId xmlns:a16="http://schemas.microsoft.com/office/drawing/2014/main" id="{9B03F133-6D33-48CD-AA9D-0841C84F17EE}"/>
                </a:ext>
              </a:extLst>
            </p:cNvPr>
            <p:cNvSpPr/>
            <p:nvPr/>
          </p:nvSpPr>
          <p:spPr>
            <a:xfrm>
              <a:off x="833764" y="5152438"/>
              <a:ext cx="2386254" cy="766534"/>
            </a:xfrm>
            <a:custGeom>
              <a:avLst/>
              <a:gdLst/>
              <a:ahLst/>
              <a:cxnLst/>
              <a:rect l="l" t="t" r="r" b="b"/>
              <a:pathLst>
                <a:path w="9038590" h="788035">
                  <a:moveTo>
                    <a:pt x="8983920" y="787657"/>
                  </a:moveTo>
                  <a:lnTo>
                    <a:pt x="54648" y="787657"/>
                  </a:lnTo>
                  <a:lnTo>
                    <a:pt x="50845" y="787283"/>
                  </a:lnTo>
                  <a:lnTo>
                    <a:pt x="14415" y="767811"/>
                  </a:lnTo>
                  <a:lnTo>
                    <a:pt x="0" y="733008"/>
                  </a:lnTo>
                  <a:lnTo>
                    <a:pt x="0" y="729168"/>
                  </a:lnTo>
                  <a:lnTo>
                    <a:pt x="0" y="54648"/>
                  </a:lnTo>
                  <a:lnTo>
                    <a:pt x="19846" y="14414"/>
                  </a:lnTo>
                  <a:lnTo>
                    <a:pt x="54648" y="0"/>
                  </a:lnTo>
                  <a:lnTo>
                    <a:pt x="8983920" y="0"/>
                  </a:lnTo>
                  <a:lnTo>
                    <a:pt x="9024153" y="19846"/>
                  </a:lnTo>
                  <a:lnTo>
                    <a:pt x="9038569" y="54648"/>
                  </a:lnTo>
                  <a:lnTo>
                    <a:pt x="9038569" y="733008"/>
                  </a:lnTo>
                  <a:lnTo>
                    <a:pt x="9018722" y="773242"/>
                  </a:lnTo>
                  <a:lnTo>
                    <a:pt x="8987723" y="787283"/>
                  </a:lnTo>
                  <a:lnTo>
                    <a:pt x="8983920" y="787657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13" name="object 8">
              <a:extLst>
                <a:ext uri="{FF2B5EF4-FFF2-40B4-BE49-F238E27FC236}">
                  <a16:creationId xmlns:a16="http://schemas.microsoft.com/office/drawing/2014/main" id="{7FBEF369-9C9F-4244-8149-4F4EACD555F4}"/>
                </a:ext>
              </a:extLst>
            </p:cNvPr>
            <p:cNvSpPr/>
            <p:nvPr/>
          </p:nvSpPr>
          <p:spPr>
            <a:xfrm>
              <a:off x="833764" y="5138588"/>
              <a:ext cx="2386254" cy="788035"/>
            </a:xfrm>
            <a:custGeom>
              <a:avLst/>
              <a:gdLst/>
              <a:ahLst/>
              <a:cxnLst/>
              <a:rect l="l" t="t" r="r" b="b"/>
              <a:pathLst>
                <a:path w="9038590" h="788035">
                  <a:moveTo>
                    <a:pt x="0" y="729168"/>
                  </a:moveTo>
                  <a:lnTo>
                    <a:pt x="0" y="58489"/>
                  </a:lnTo>
                  <a:lnTo>
                    <a:pt x="0" y="54648"/>
                  </a:lnTo>
                  <a:lnTo>
                    <a:pt x="374" y="50845"/>
                  </a:lnTo>
                  <a:lnTo>
                    <a:pt x="17131" y="17130"/>
                  </a:lnTo>
                  <a:lnTo>
                    <a:pt x="19846" y="14414"/>
                  </a:lnTo>
                  <a:lnTo>
                    <a:pt x="22801" y="11990"/>
                  </a:lnTo>
                  <a:lnTo>
                    <a:pt x="25994" y="9856"/>
                  </a:lnTo>
                  <a:lnTo>
                    <a:pt x="29187" y="7722"/>
                  </a:lnTo>
                  <a:lnTo>
                    <a:pt x="47078" y="1123"/>
                  </a:lnTo>
                  <a:lnTo>
                    <a:pt x="50845" y="374"/>
                  </a:lnTo>
                  <a:lnTo>
                    <a:pt x="54648" y="0"/>
                  </a:lnTo>
                  <a:lnTo>
                    <a:pt x="58489" y="0"/>
                  </a:lnTo>
                  <a:lnTo>
                    <a:pt x="8980080" y="0"/>
                  </a:lnTo>
                  <a:lnTo>
                    <a:pt x="8983920" y="0"/>
                  </a:lnTo>
                  <a:lnTo>
                    <a:pt x="8987723" y="374"/>
                  </a:lnTo>
                  <a:lnTo>
                    <a:pt x="8991490" y="1123"/>
                  </a:lnTo>
                  <a:lnTo>
                    <a:pt x="8995257" y="1872"/>
                  </a:lnTo>
                  <a:lnTo>
                    <a:pt x="9012574" y="9857"/>
                  </a:lnTo>
                  <a:lnTo>
                    <a:pt x="9015768" y="11990"/>
                  </a:lnTo>
                  <a:lnTo>
                    <a:pt x="9028710" y="25993"/>
                  </a:lnTo>
                  <a:lnTo>
                    <a:pt x="9030844" y="29187"/>
                  </a:lnTo>
                  <a:lnTo>
                    <a:pt x="9038569" y="58489"/>
                  </a:lnTo>
                  <a:lnTo>
                    <a:pt x="9038569" y="729168"/>
                  </a:lnTo>
                  <a:lnTo>
                    <a:pt x="9038569" y="733008"/>
                  </a:lnTo>
                  <a:lnTo>
                    <a:pt x="9038193" y="736812"/>
                  </a:lnTo>
                  <a:lnTo>
                    <a:pt x="9037444" y="740578"/>
                  </a:lnTo>
                  <a:lnTo>
                    <a:pt x="9036695" y="744345"/>
                  </a:lnTo>
                  <a:lnTo>
                    <a:pt x="9028710" y="761662"/>
                  </a:lnTo>
                  <a:lnTo>
                    <a:pt x="9026576" y="764856"/>
                  </a:lnTo>
                  <a:lnTo>
                    <a:pt x="9012574" y="777800"/>
                  </a:lnTo>
                  <a:lnTo>
                    <a:pt x="9009381" y="779934"/>
                  </a:lnTo>
                  <a:lnTo>
                    <a:pt x="8991490" y="786533"/>
                  </a:lnTo>
                  <a:lnTo>
                    <a:pt x="8987723" y="787283"/>
                  </a:lnTo>
                  <a:lnTo>
                    <a:pt x="8983920" y="787657"/>
                  </a:lnTo>
                  <a:lnTo>
                    <a:pt x="8980080" y="787657"/>
                  </a:lnTo>
                  <a:lnTo>
                    <a:pt x="58489" y="787657"/>
                  </a:lnTo>
                  <a:lnTo>
                    <a:pt x="54648" y="787657"/>
                  </a:lnTo>
                  <a:lnTo>
                    <a:pt x="50845" y="787283"/>
                  </a:lnTo>
                  <a:lnTo>
                    <a:pt x="17131" y="770526"/>
                  </a:lnTo>
                  <a:lnTo>
                    <a:pt x="14415" y="767811"/>
                  </a:lnTo>
                  <a:lnTo>
                    <a:pt x="1123" y="740578"/>
                  </a:lnTo>
                  <a:lnTo>
                    <a:pt x="374" y="736812"/>
                  </a:lnTo>
                  <a:lnTo>
                    <a:pt x="0" y="733008"/>
                  </a:lnTo>
                  <a:lnTo>
                    <a:pt x="0" y="729168"/>
                  </a:lnTo>
                  <a:close/>
                </a:path>
              </a:pathLst>
            </a:custGeom>
            <a:solidFill>
              <a:srgbClr val="F1F8EC"/>
            </a:solidFill>
            <a:ln w="7798">
              <a:solidFill>
                <a:schemeClr val="bg1">
                  <a:lumMod val="75000"/>
                </a:schemeClr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AAEB79FF-1177-470D-A509-8D98C55ABBC0}"/>
              </a:ext>
            </a:extLst>
          </p:cNvPr>
          <p:cNvSpPr txBox="1"/>
          <p:nvPr/>
        </p:nvSpPr>
        <p:spPr>
          <a:xfrm>
            <a:off x="583466" y="825192"/>
            <a:ext cx="92477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lang="ko-KR" altLang="en-US" sz="1400" b="1" dirty="0">
                <a:solidFill>
                  <a:schemeClr val="bg2">
                    <a:lumMod val="50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Noto Sans KR"/>
              </a:rPr>
              <a:t>표준</a:t>
            </a:r>
            <a:r>
              <a:rPr lang="en-US" altLang="ko-KR" sz="1400" b="1" dirty="0">
                <a:solidFill>
                  <a:schemeClr val="bg2">
                    <a:lumMod val="50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Noto Sans KR"/>
              </a:rPr>
              <a:t>/</a:t>
            </a:r>
            <a:r>
              <a:rPr lang="ko-KR" altLang="en-US" sz="1400" b="1" dirty="0">
                <a:solidFill>
                  <a:schemeClr val="bg2">
                    <a:lumMod val="50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Noto Sans KR"/>
              </a:rPr>
              <a:t>기타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1AE9BCC-3164-4B18-B54D-E4CE37A77068}"/>
              </a:ext>
            </a:extLst>
          </p:cNvPr>
          <p:cNvSpPr txBox="1"/>
          <p:nvPr/>
        </p:nvSpPr>
        <p:spPr>
          <a:xfrm>
            <a:off x="1045855" y="1094614"/>
            <a:ext cx="7013624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ko-KR" sz="105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DEF-03677 </a:t>
            </a:r>
            <a:r>
              <a:rPr lang="en-US" altLang="ko-KR" sz="105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: </a:t>
            </a:r>
            <a:r>
              <a:rPr lang="ko-KR" altLang="en-US" sz="105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실행결과 행 </a:t>
            </a:r>
            <a:r>
              <a:rPr lang="ko-KR" altLang="en-US" sz="1050" kern="100" dirty="0" err="1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선택할때</a:t>
            </a:r>
            <a:r>
              <a:rPr lang="en-US" altLang="ko-KR" sz="105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, Stand </a:t>
            </a:r>
            <a:r>
              <a:rPr lang="ko-KR" altLang="en-US" sz="105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값이 </a:t>
            </a:r>
            <a:r>
              <a:rPr lang="en-US" altLang="ko-KR" sz="105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0</a:t>
            </a:r>
            <a:r>
              <a:rPr lang="ko-KR" altLang="en-US" sz="105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일 경우</a:t>
            </a:r>
            <a:r>
              <a:rPr lang="en-US" altLang="ko-KR" sz="105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, </a:t>
            </a:r>
          </a:p>
          <a:p>
            <a:pPr>
              <a:spcAft>
                <a:spcPts val="600"/>
              </a:spcAft>
            </a:pPr>
            <a:r>
              <a:rPr lang="en-US" altLang="ko-KR" sz="105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‘</a:t>
            </a:r>
            <a:r>
              <a:rPr lang="ko-KR" altLang="en-US" sz="105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검색 결과가 없습니다</a:t>
            </a:r>
            <a:r>
              <a:rPr lang="en-US" altLang="ko-KR" sz="105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‘ </a:t>
            </a:r>
            <a:r>
              <a:rPr lang="ko-KR" altLang="en-US" sz="105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대신 개수가 </a:t>
            </a:r>
            <a:r>
              <a:rPr lang="en-US" altLang="ko-KR" sz="105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0</a:t>
            </a:r>
            <a:r>
              <a:rPr lang="ko-KR" altLang="en-US" sz="105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이라는 의미의 문구를 명시적으로 </a:t>
            </a:r>
            <a:r>
              <a:rPr lang="ko-KR" altLang="en-US" sz="1050" kern="100" dirty="0" err="1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보여주는게</a:t>
            </a:r>
            <a:r>
              <a:rPr lang="ko-KR" altLang="en-US" sz="105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적절할 것 같음</a:t>
            </a:r>
            <a:r>
              <a:rPr lang="en-US" altLang="ko-KR" sz="105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.</a:t>
            </a:r>
            <a:endParaRPr lang="ko-KR" altLang="ko-KR" sz="1050" kern="100" dirty="0"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311CD71-560A-4DD6-A228-356D9F25891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4" r="16222"/>
          <a:stretch/>
        </p:blipFill>
        <p:spPr>
          <a:xfrm>
            <a:off x="4774019" y="3253563"/>
            <a:ext cx="6614706" cy="2995890"/>
          </a:xfrm>
          <a:prstGeom prst="rect">
            <a:avLst/>
          </a:prstGeom>
        </p:spPr>
      </p:pic>
      <p:sp>
        <p:nvSpPr>
          <p:cNvPr id="19" name="Rectangle 2">
            <a:extLst>
              <a:ext uri="{FF2B5EF4-FFF2-40B4-BE49-F238E27FC236}">
                <a16:creationId xmlns:a16="http://schemas.microsoft.com/office/drawing/2014/main" id="{4CF2FF32-9004-4ACE-9779-D4EBD8EC2E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892" y="91161"/>
            <a:ext cx="5652516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indent="-354013" defTabSz="957743">
              <a:defRPr sz="2200" spc="-11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9pPr>
          </a:lstStyle>
          <a:p>
            <a:pPr latinLnBrk="0">
              <a:defRPr/>
            </a:pPr>
            <a:r>
              <a:rPr kumimoji="0" lang="ko-KR" altLang="en-US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  <a:r>
              <a:rPr kumimoji="0" lang="en-US" altLang="ko-KR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III – 5. </a:t>
            </a:r>
            <a:r>
              <a:rPr lang="ko-KR" altLang="ko-KR" sz="20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결함 </a:t>
            </a:r>
            <a:r>
              <a:rPr lang="ko-KR" altLang="en-US" sz="20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사례 </a:t>
            </a:r>
            <a:r>
              <a:rPr lang="en-US" altLang="ko-KR" sz="20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( </a:t>
            </a:r>
            <a:r>
              <a:rPr lang="ko-KR" altLang="en-US" sz="20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유형별  </a:t>
            </a:r>
            <a:r>
              <a:rPr lang="en-US" altLang="ko-KR" sz="20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)    10/11</a:t>
            </a:r>
            <a:endParaRPr kumimoji="0" lang="en-US" altLang="ko-KR" sz="2000" b="1" i="0" u="none" strike="noStrike" kern="1200" cap="none" spc="-11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738274617"/>
      </p:ext>
    </p:extLst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69CD25-C31C-C671-775F-F1F7D36B1B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>
            <a:extLst>
              <a:ext uri="{FF2B5EF4-FFF2-40B4-BE49-F238E27FC236}">
                <a16:creationId xmlns:a16="http://schemas.microsoft.com/office/drawing/2014/main" id="{7DEF0B9E-7DCA-438F-8E6F-B826E03BD0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892" y="91161"/>
            <a:ext cx="5652516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indent="-354013" defTabSz="957743">
              <a:defRPr sz="2200" spc="-11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9pPr>
          </a:lstStyle>
          <a:p>
            <a:pPr latinLnBrk="0">
              <a:defRPr/>
            </a:pPr>
            <a:r>
              <a:rPr kumimoji="0" lang="ko-KR" altLang="en-US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  <a:r>
              <a:rPr kumimoji="0" lang="en-US" altLang="ko-KR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III – 5. </a:t>
            </a:r>
            <a:r>
              <a:rPr lang="ko-KR" altLang="ko-KR" sz="20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결함 </a:t>
            </a:r>
            <a:r>
              <a:rPr lang="ko-KR" altLang="en-US" sz="20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사례 </a:t>
            </a:r>
            <a:r>
              <a:rPr lang="en-US" altLang="ko-KR" sz="20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( </a:t>
            </a:r>
            <a:r>
              <a:rPr lang="ko-KR" altLang="en-US" sz="20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유형별  </a:t>
            </a:r>
            <a:r>
              <a:rPr lang="en-US" altLang="ko-KR" sz="20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)    11/11</a:t>
            </a:r>
            <a:endParaRPr kumimoji="0" lang="en-US" altLang="ko-KR" sz="2000" b="1" i="0" u="none" strike="noStrike" kern="1200" cap="none" spc="-11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EEFB788-EB00-4C09-A1E3-BEC6ADF29347}"/>
              </a:ext>
            </a:extLst>
          </p:cNvPr>
          <p:cNvSpPr/>
          <p:nvPr/>
        </p:nvSpPr>
        <p:spPr>
          <a:xfrm>
            <a:off x="787321" y="1179278"/>
            <a:ext cx="10940714" cy="5273910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1" name="object 5">
            <a:extLst>
              <a:ext uri="{FF2B5EF4-FFF2-40B4-BE49-F238E27FC236}">
                <a16:creationId xmlns:a16="http://schemas.microsoft.com/office/drawing/2014/main" id="{B0BC8524-1161-4881-BD28-24AB213A1F05}"/>
              </a:ext>
            </a:extLst>
          </p:cNvPr>
          <p:cNvGrpSpPr/>
          <p:nvPr/>
        </p:nvGrpSpPr>
        <p:grpSpPr>
          <a:xfrm>
            <a:off x="463965" y="766503"/>
            <a:ext cx="8587568" cy="779988"/>
            <a:chOff x="833764" y="5138588"/>
            <a:chExt cx="2386254" cy="788035"/>
          </a:xfrm>
          <a:solidFill>
            <a:srgbClr val="FDE9E7"/>
          </a:solidFill>
        </p:grpSpPr>
        <p:sp>
          <p:nvSpPr>
            <p:cNvPr id="12" name="object 7">
              <a:extLst>
                <a:ext uri="{FF2B5EF4-FFF2-40B4-BE49-F238E27FC236}">
                  <a16:creationId xmlns:a16="http://schemas.microsoft.com/office/drawing/2014/main" id="{9B03F133-6D33-48CD-AA9D-0841C84F17EE}"/>
                </a:ext>
              </a:extLst>
            </p:cNvPr>
            <p:cNvSpPr/>
            <p:nvPr/>
          </p:nvSpPr>
          <p:spPr>
            <a:xfrm>
              <a:off x="833764" y="5152438"/>
              <a:ext cx="2386254" cy="766534"/>
            </a:xfrm>
            <a:custGeom>
              <a:avLst/>
              <a:gdLst/>
              <a:ahLst/>
              <a:cxnLst/>
              <a:rect l="l" t="t" r="r" b="b"/>
              <a:pathLst>
                <a:path w="9038590" h="788035">
                  <a:moveTo>
                    <a:pt x="8983920" y="787657"/>
                  </a:moveTo>
                  <a:lnTo>
                    <a:pt x="54648" y="787657"/>
                  </a:lnTo>
                  <a:lnTo>
                    <a:pt x="50845" y="787283"/>
                  </a:lnTo>
                  <a:lnTo>
                    <a:pt x="14415" y="767811"/>
                  </a:lnTo>
                  <a:lnTo>
                    <a:pt x="0" y="733008"/>
                  </a:lnTo>
                  <a:lnTo>
                    <a:pt x="0" y="729168"/>
                  </a:lnTo>
                  <a:lnTo>
                    <a:pt x="0" y="54648"/>
                  </a:lnTo>
                  <a:lnTo>
                    <a:pt x="19846" y="14414"/>
                  </a:lnTo>
                  <a:lnTo>
                    <a:pt x="54648" y="0"/>
                  </a:lnTo>
                  <a:lnTo>
                    <a:pt x="8983920" y="0"/>
                  </a:lnTo>
                  <a:lnTo>
                    <a:pt x="9024153" y="19846"/>
                  </a:lnTo>
                  <a:lnTo>
                    <a:pt x="9038569" y="54648"/>
                  </a:lnTo>
                  <a:lnTo>
                    <a:pt x="9038569" y="733008"/>
                  </a:lnTo>
                  <a:lnTo>
                    <a:pt x="9018722" y="773242"/>
                  </a:lnTo>
                  <a:lnTo>
                    <a:pt x="8987723" y="787283"/>
                  </a:lnTo>
                  <a:lnTo>
                    <a:pt x="8983920" y="787657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13" name="object 8">
              <a:extLst>
                <a:ext uri="{FF2B5EF4-FFF2-40B4-BE49-F238E27FC236}">
                  <a16:creationId xmlns:a16="http://schemas.microsoft.com/office/drawing/2014/main" id="{7FBEF369-9C9F-4244-8149-4F4EACD555F4}"/>
                </a:ext>
              </a:extLst>
            </p:cNvPr>
            <p:cNvSpPr/>
            <p:nvPr/>
          </p:nvSpPr>
          <p:spPr>
            <a:xfrm>
              <a:off x="833764" y="5138588"/>
              <a:ext cx="2386254" cy="788035"/>
            </a:xfrm>
            <a:custGeom>
              <a:avLst/>
              <a:gdLst/>
              <a:ahLst/>
              <a:cxnLst/>
              <a:rect l="l" t="t" r="r" b="b"/>
              <a:pathLst>
                <a:path w="9038590" h="788035">
                  <a:moveTo>
                    <a:pt x="0" y="729168"/>
                  </a:moveTo>
                  <a:lnTo>
                    <a:pt x="0" y="58489"/>
                  </a:lnTo>
                  <a:lnTo>
                    <a:pt x="0" y="54648"/>
                  </a:lnTo>
                  <a:lnTo>
                    <a:pt x="374" y="50845"/>
                  </a:lnTo>
                  <a:lnTo>
                    <a:pt x="17131" y="17130"/>
                  </a:lnTo>
                  <a:lnTo>
                    <a:pt x="19846" y="14414"/>
                  </a:lnTo>
                  <a:lnTo>
                    <a:pt x="22801" y="11990"/>
                  </a:lnTo>
                  <a:lnTo>
                    <a:pt x="25994" y="9856"/>
                  </a:lnTo>
                  <a:lnTo>
                    <a:pt x="29187" y="7722"/>
                  </a:lnTo>
                  <a:lnTo>
                    <a:pt x="47078" y="1123"/>
                  </a:lnTo>
                  <a:lnTo>
                    <a:pt x="50845" y="374"/>
                  </a:lnTo>
                  <a:lnTo>
                    <a:pt x="54648" y="0"/>
                  </a:lnTo>
                  <a:lnTo>
                    <a:pt x="58489" y="0"/>
                  </a:lnTo>
                  <a:lnTo>
                    <a:pt x="8980080" y="0"/>
                  </a:lnTo>
                  <a:lnTo>
                    <a:pt x="8983920" y="0"/>
                  </a:lnTo>
                  <a:lnTo>
                    <a:pt x="8987723" y="374"/>
                  </a:lnTo>
                  <a:lnTo>
                    <a:pt x="8991490" y="1123"/>
                  </a:lnTo>
                  <a:lnTo>
                    <a:pt x="8995257" y="1872"/>
                  </a:lnTo>
                  <a:lnTo>
                    <a:pt x="9012574" y="9857"/>
                  </a:lnTo>
                  <a:lnTo>
                    <a:pt x="9015768" y="11990"/>
                  </a:lnTo>
                  <a:lnTo>
                    <a:pt x="9028710" y="25993"/>
                  </a:lnTo>
                  <a:lnTo>
                    <a:pt x="9030844" y="29187"/>
                  </a:lnTo>
                  <a:lnTo>
                    <a:pt x="9038569" y="58489"/>
                  </a:lnTo>
                  <a:lnTo>
                    <a:pt x="9038569" y="729168"/>
                  </a:lnTo>
                  <a:lnTo>
                    <a:pt x="9038569" y="733008"/>
                  </a:lnTo>
                  <a:lnTo>
                    <a:pt x="9038193" y="736812"/>
                  </a:lnTo>
                  <a:lnTo>
                    <a:pt x="9037444" y="740578"/>
                  </a:lnTo>
                  <a:lnTo>
                    <a:pt x="9036695" y="744345"/>
                  </a:lnTo>
                  <a:lnTo>
                    <a:pt x="9028710" y="761662"/>
                  </a:lnTo>
                  <a:lnTo>
                    <a:pt x="9026576" y="764856"/>
                  </a:lnTo>
                  <a:lnTo>
                    <a:pt x="9012574" y="777800"/>
                  </a:lnTo>
                  <a:lnTo>
                    <a:pt x="9009381" y="779934"/>
                  </a:lnTo>
                  <a:lnTo>
                    <a:pt x="8991490" y="786533"/>
                  </a:lnTo>
                  <a:lnTo>
                    <a:pt x="8987723" y="787283"/>
                  </a:lnTo>
                  <a:lnTo>
                    <a:pt x="8983920" y="787657"/>
                  </a:lnTo>
                  <a:lnTo>
                    <a:pt x="8980080" y="787657"/>
                  </a:lnTo>
                  <a:lnTo>
                    <a:pt x="58489" y="787657"/>
                  </a:lnTo>
                  <a:lnTo>
                    <a:pt x="54648" y="787657"/>
                  </a:lnTo>
                  <a:lnTo>
                    <a:pt x="50845" y="787283"/>
                  </a:lnTo>
                  <a:lnTo>
                    <a:pt x="17131" y="770526"/>
                  </a:lnTo>
                  <a:lnTo>
                    <a:pt x="14415" y="767811"/>
                  </a:lnTo>
                  <a:lnTo>
                    <a:pt x="1123" y="740578"/>
                  </a:lnTo>
                  <a:lnTo>
                    <a:pt x="374" y="736812"/>
                  </a:lnTo>
                  <a:lnTo>
                    <a:pt x="0" y="733008"/>
                  </a:lnTo>
                  <a:lnTo>
                    <a:pt x="0" y="729168"/>
                  </a:lnTo>
                  <a:close/>
                </a:path>
              </a:pathLst>
            </a:custGeom>
            <a:solidFill>
              <a:srgbClr val="F1F8EC"/>
            </a:solidFill>
            <a:ln w="7798">
              <a:solidFill>
                <a:schemeClr val="bg1">
                  <a:lumMod val="75000"/>
                </a:schemeClr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AAEB79FF-1177-470D-A509-8D98C55ABBC0}"/>
              </a:ext>
            </a:extLst>
          </p:cNvPr>
          <p:cNvSpPr txBox="1"/>
          <p:nvPr/>
        </p:nvSpPr>
        <p:spPr>
          <a:xfrm>
            <a:off x="583466" y="825192"/>
            <a:ext cx="92477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lang="ko-KR" altLang="en-US" sz="1400" b="1" dirty="0">
                <a:solidFill>
                  <a:schemeClr val="bg2">
                    <a:lumMod val="50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Noto Sans KR"/>
              </a:rPr>
              <a:t>표준</a:t>
            </a:r>
            <a:r>
              <a:rPr lang="en-US" altLang="ko-KR" sz="1400" b="1" dirty="0">
                <a:solidFill>
                  <a:schemeClr val="bg2">
                    <a:lumMod val="50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Noto Sans KR"/>
              </a:rPr>
              <a:t>/</a:t>
            </a:r>
            <a:r>
              <a:rPr lang="ko-KR" altLang="en-US" sz="1400" b="1" dirty="0">
                <a:solidFill>
                  <a:schemeClr val="bg2">
                    <a:lumMod val="50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Noto Sans KR"/>
              </a:rPr>
              <a:t>기타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1AE9BCC-3164-4B18-B54D-E4CE37A77068}"/>
              </a:ext>
            </a:extLst>
          </p:cNvPr>
          <p:cNvSpPr txBox="1"/>
          <p:nvPr/>
        </p:nvSpPr>
        <p:spPr>
          <a:xfrm>
            <a:off x="1045855" y="1094614"/>
            <a:ext cx="7013624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ko-KR" sz="105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DEF-03461 </a:t>
            </a:r>
            <a:r>
              <a:rPr lang="en-US" altLang="ko-KR" sz="105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: </a:t>
            </a:r>
            <a:r>
              <a:rPr lang="en-US" altLang="ko-KR" sz="1050" kern="100" dirty="0" err="1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order_number</a:t>
            </a:r>
            <a:r>
              <a:rPr lang="ko-KR" altLang="en-US" sz="105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가 </a:t>
            </a:r>
            <a:r>
              <a:rPr lang="en-US" altLang="ko-KR" sz="105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1</a:t>
            </a:r>
            <a:r>
              <a:rPr lang="ko-KR" altLang="en-US" sz="105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부터 시작하지 않고 지정한 페이지당 출력할 숫자 </a:t>
            </a:r>
            <a:r>
              <a:rPr lang="en-US" altLang="ko-KR" sz="105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+ 1</a:t>
            </a:r>
            <a:r>
              <a:rPr lang="ko-KR" altLang="en-US" sz="105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부터 시작</a:t>
            </a:r>
            <a:r>
              <a:rPr lang="en-US" altLang="ko-KR" sz="105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. </a:t>
            </a:r>
            <a:r>
              <a:rPr lang="ko-KR" altLang="en-US" sz="105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프린트 결과는 정상</a:t>
            </a:r>
            <a:r>
              <a:rPr lang="en-US" altLang="ko-KR" sz="105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.</a:t>
            </a:r>
            <a:endParaRPr lang="ko-KR" altLang="ko-KR" sz="1050" kern="100" dirty="0"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E396A2D-66A5-45F5-B901-DDB92DB349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940" y="2053056"/>
            <a:ext cx="9612066" cy="4185028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7BC17495-6F77-4145-BB4D-96AF9328F5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4350" y="2333590"/>
            <a:ext cx="9612066" cy="3905795"/>
          </a:xfrm>
          <a:prstGeom prst="rect">
            <a:avLst/>
          </a:prstGeom>
        </p:spPr>
      </p:pic>
      <p:sp>
        <p:nvSpPr>
          <p:cNvPr id="16" name="직사각형 15">
            <a:extLst>
              <a:ext uri="{FF2B5EF4-FFF2-40B4-BE49-F238E27FC236}">
                <a16:creationId xmlns:a16="http://schemas.microsoft.com/office/drawing/2014/main" id="{D63CC21F-5690-4F23-9A64-69F5E21F0DE1}"/>
              </a:ext>
            </a:extLst>
          </p:cNvPr>
          <p:cNvSpPr/>
          <p:nvPr/>
        </p:nvSpPr>
        <p:spPr>
          <a:xfrm>
            <a:off x="1894350" y="2350964"/>
            <a:ext cx="859483" cy="3905794"/>
          </a:xfrm>
          <a:prstGeom prst="rect">
            <a:avLst/>
          </a:prstGeom>
          <a:noFill/>
          <a:ln w="412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1065226"/>
      </p:ext>
    </p:extLst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72DA79-DE9B-B9C9-F504-6B0F6DB3BE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2E3CA194-DF72-6361-C55A-C995979F81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892" y="91161"/>
            <a:ext cx="5652516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indent="-354013" defTabSz="957743">
              <a:defRPr sz="2200" spc="-11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9pPr>
          </a:lstStyle>
          <a:p>
            <a:pPr latinLnBrk="0">
              <a:defRPr/>
            </a:pPr>
            <a:r>
              <a:rPr kumimoji="0" lang="ko-KR" altLang="en-US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  <a:r>
              <a:rPr kumimoji="0" lang="en-US" altLang="ko-KR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III – </a:t>
            </a:r>
            <a:r>
              <a:rPr lang="en-US" altLang="ko-KR" sz="2000" b="1" dirty="0">
                <a:solidFill>
                  <a:prstClr val="white"/>
                </a:solidFill>
              </a:rPr>
              <a:t>6</a:t>
            </a:r>
            <a:r>
              <a:rPr kumimoji="0" lang="en-US" altLang="ko-KR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. </a:t>
            </a:r>
            <a:r>
              <a:rPr lang="ko-KR" altLang="ko-KR" sz="20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재발 방지</a:t>
            </a:r>
            <a:r>
              <a:rPr lang="en-US" altLang="ko-KR" sz="20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</a:t>
            </a:r>
            <a:r>
              <a:rPr lang="ko-KR" altLang="en-US" sz="20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방안</a:t>
            </a:r>
            <a:endParaRPr lang="ko-KR" altLang="ko-KR" sz="2000" kern="100" dirty="0"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  <a:p>
            <a:pPr lvl="0" latinLnBrk="0">
              <a:defRPr/>
            </a:pPr>
            <a:endParaRPr kumimoji="0" lang="en-US" altLang="ko-KR" sz="2000" b="1" i="0" u="none" strike="noStrike" kern="1200" cap="none" spc="-11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ACEAFF03-9E06-0ACC-8B93-4C954D210D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6657127"/>
              </p:ext>
            </p:extLst>
          </p:nvPr>
        </p:nvGraphicFramePr>
        <p:xfrm>
          <a:off x="766763" y="1184703"/>
          <a:ext cx="10884131" cy="4974988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2179806">
                  <a:extLst>
                    <a:ext uri="{9D8B030D-6E8A-4147-A177-3AD203B41FA5}">
                      <a16:colId xmlns:a16="http://schemas.microsoft.com/office/drawing/2014/main" val="2274574519"/>
                    </a:ext>
                  </a:extLst>
                </a:gridCol>
                <a:gridCol w="3193601">
                  <a:extLst>
                    <a:ext uri="{9D8B030D-6E8A-4147-A177-3AD203B41FA5}">
                      <a16:colId xmlns:a16="http://schemas.microsoft.com/office/drawing/2014/main" val="3501454989"/>
                    </a:ext>
                  </a:extLst>
                </a:gridCol>
                <a:gridCol w="926849">
                  <a:extLst>
                    <a:ext uri="{9D8B030D-6E8A-4147-A177-3AD203B41FA5}">
                      <a16:colId xmlns:a16="http://schemas.microsoft.com/office/drawing/2014/main" val="3157739317"/>
                    </a:ext>
                  </a:extLst>
                </a:gridCol>
                <a:gridCol w="2246602">
                  <a:extLst>
                    <a:ext uri="{9D8B030D-6E8A-4147-A177-3AD203B41FA5}">
                      <a16:colId xmlns:a16="http://schemas.microsoft.com/office/drawing/2014/main" val="43782860"/>
                    </a:ext>
                  </a:extLst>
                </a:gridCol>
                <a:gridCol w="2337273">
                  <a:extLst>
                    <a:ext uri="{9D8B030D-6E8A-4147-A177-3AD203B41FA5}">
                      <a16:colId xmlns:a16="http://schemas.microsoft.com/office/drawing/2014/main" val="3697340516"/>
                    </a:ext>
                  </a:extLst>
                </a:gridCol>
              </a:tblGrid>
              <a:tr h="404934"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ko-KR" altLang="en-US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결함 내용</a:t>
                      </a:r>
                      <a:endParaRPr lang="ko-KR" sz="1200" b="1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ko-KR" altLang="en-US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재발방지 방안</a:t>
                      </a:r>
                      <a:endParaRPr lang="ko-KR" sz="1200" b="1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ko-KR" altLang="en-US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이행 여부</a:t>
                      </a:r>
                      <a:endParaRPr lang="ko-KR" sz="1200" b="1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ko-KR" altLang="en-US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수행 결과 </a:t>
                      </a:r>
                      <a:r>
                        <a:rPr lang="en-US" altLang="ko-KR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( 2</a:t>
                      </a:r>
                      <a:r>
                        <a:rPr lang="ko-KR" altLang="en-US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차 테스트 </a:t>
                      </a:r>
                      <a:r>
                        <a:rPr lang="en-US" altLang="ko-KR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)</a:t>
                      </a:r>
                      <a:endParaRPr lang="ko-KR" sz="1200" b="1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ko-KR" altLang="en-US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후속</a:t>
                      </a:r>
                      <a:r>
                        <a:rPr lang="en-US" altLang="ko-KR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ko-KR" altLang="en-US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계획</a:t>
                      </a:r>
                      <a:r>
                        <a:rPr lang="en-US" altLang="ko-KR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 </a:t>
                      </a:r>
                      <a:endParaRPr lang="ko-KR" sz="1200" b="1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5229965"/>
                  </a:ext>
                </a:extLst>
              </a:tr>
              <a:tr h="1006458"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환경 및 배포 오류 </a:t>
                      </a:r>
                      <a:endParaRPr lang="en-US" alt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스키마 누락</a:t>
                      </a: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, DB </a:t>
                      </a: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오브젝트 </a:t>
                      </a:r>
                      <a:r>
                        <a:rPr lang="ko-KR" altLang="en-US" sz="1200" kern="100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미존재</a:t>
                      </a: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)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indent="-228600" latinLnBrk="1">
                        <a:spcAft>
                          <a:spcPts val="800"/>
                        </a:spcAft>
                        <a:buAutoNum type="arabicPeriod"/>
                      </a:pPr>
                      <a:r>
                        <a:rPr lang="ko-KR" altLang="ko-KR" sz="1200" b="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배포 </a:t>
                      </a:r>
                      <a:r>
                        <a:rPr lang="ko-KR" altLang="en-US" sz="1200" b="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프로세스</a:t>
                      </a:r>
                      <a:r>
                        <a:rPr lang="en-US" altLang="ko-KR" sz="1200" b="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(CI/CD) </a:t>
                      </a:r>
                      <a:r>
                        <a:rPr lang="ko-KR" altLang="ko-KR" sz="1200" b="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점검</a:t>
                      </a:r>
                    </a:p>
                    <a:p>
                      <a:pPr latinLnBrk="1">
                        <a:spcAft>
                          <a:spcPts val="800"/>
                        </a:spcAft>
                        <a:buNone/>
                      </a:pPr>
                      <a:r>
                        <a:rPr lang="en-US" altLang="ko-KR" sz="1200" b="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2. </a:t>
                      </a:r>
                      <a:r>
                        <a:rPr lang="ko-KR" altLang="ko-KR" sz="1200" b="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스키마 </a:t>
                      </a:r>
                      <a:r>
                        <a:rPr lang="ko-KR" altLang="en-US" sz="1200" b="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권한 임의 </a:t>
                      </a:r>
                      <a:r>
                        <a:rPr lang="ko-KR" altLang="ko-KR" sz="1200" b="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사용 금지 가이드</a:t>
                      </a:r>
                      <a:r>
                        <a:rPr lang="en-US" altLang="ko-KR" sz="1200" b="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  </a:t>
                      </a:r>
                      <a:endParaRPr lang="ko-KR" altLang="ko-KR" sz="1200" b="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이행</a:t>
                      </a:r>
                      <a:endParaRPr lang="en-US" alt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이행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유사 결함 없음</a:t>
                      </a:r>
                      <a:endParaRPr lang="en-US" alt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유사 결함 없음</a:t>
                      </a:r>
                      <a:endParaRPr lang="ko-KR" sz="1200" b="1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ko-KR" altLang="en-US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테스트 수행 시 체크리스트 지속 점검</a:t>
                      </a:r>
                      <a:endParaRPr lang="ko-KR" sz="1200" b="1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1206888"/>
                  </a:ext>
                </a:extLst>
              </a:tr>
              <a:tr h="1102602"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테스트 데이터 미흡 </a:t>
                      </a:r>
                      <a:endParaRPr lang="en-US" alt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(</a:t>
                      </a: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조건 충족 데이터 없음</a:t>
                      </a: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) </a:t>
                      </a: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indent="-228600" latinLnBrk="1">
                        <a:spcAft>
                          <a:spcPts val="800"/>
                        </a:spcAft>
                        <a:buAutoNum type="arabicPeriod"/>
                      </a:pPr>
                      <a:r>
                        <a:rPr lang="ko-KR" altLang="ko-KR" sz="1200" b="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단위 테스트 시나리오</a:t>
                      </a:r>
                    </a:p>
                    <a:p>
                      <a:pPr latinLnBrk="1">
                        <a:spcAft>
                          <a:spcPts val="800"/>
                        </a:spcAft>
                        <a:buNone/>
                      </a:pPr>
                      <a:r>
                        <a:rPr lang="en-US" altLang="ko-KR" sz="1200" b="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2. </a:t>
                      </a:r>
                      <a:r>
                        <a:rPr lang="ko-KR" altLang="ko-KR" sz="1200" b="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샘플 데이터셋</a:t>
                      </a:r>
                      <a:r>
                        <a:rPr lang="en-US" altLang="ko-KR" sz="1200" b="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(Golden Record) </a:t>
                      </a:r>
                      <a:r>
                        <a:rPr lang="ko-KR" altLang="ko-KR" sz="1200" b="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구축</a:t>
                      </a:r>
                      <a:endParaRPr lang="ko-KR" sz="1200" b="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보완 필요</a:t>
                      </a:r>
                      <a:endParaRPr lang="en-US" alt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이행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유사 결함 발생</a:t>
                      </a: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단</a:t>
                      </a: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발생 빈도 낮음</a:t>
                      </a: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)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유사 결함 발생</a:t>
                      </a: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단</a:t>
                      </a: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발생 빈도 낮음</a:t>
                      </a: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지속 보완 수행</a:t>
                      </a:r>
                      <a:endParaRPr lang="en-US" alt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테스트 데이터  </a:t>
                      </a:r>
                      <a:r>
                        <a:rPr lang="ko-KR" altLang="en-US" sz="1200" kern="100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재이관</a:t>
                      </a: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 </a:t>
                      </a:r>
                      <a:endParaRPr lang="en-US" alt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34503240"/>
                  </a:ext>
                </a:extLst>
              </a:tr>
              <a:tr h="1895940"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기능 및 로직 오류</a:t>
                      </a:r>
                      <a:endParaRPr lang="en-US" alt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(</a:t>
                      </a: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리포트 불일치</a:t>
                      </a: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,</a:t>
                      </a: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기능 오작동</a:t>
                      </a: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)</a:t>
                      </a: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indent="-228600" latinLnBrk="1">
                        <a:spcAft>
                          <a:spcPts val="800"/>
                        </a:spcAft>
                        <a:buAutoNum type="arabicPeriod"/>
                      </a:pPr>
                      <a:r>
                        <a:rPr lang="ko-KR" altLang="ko-KR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코드 리뷰</a:t>
                      </a:r>
                      <a:r>
                        <a:rPr lang="en-US" altLang="ko-KR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(Peer Review) </a:t>
                      </a:r>
                    </a:p>
                    <a:p>
                      <a:pPr marL="228600" indent="-228600" latinLnBrk="1">
                        <a:spcAft>
                          <a:spcPts val="800"/>
                        </a:spcAft>
                        <a:buAutoNum type="arabicPeriod"/>
                      </a:pPr>
                      <a:r>
                        <a:rPr lang="ko-KR" altLang="en-US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산출물 기반 기능 구현 </a:t>
                      </a:r>
                      <a:endParaRPr lang="en-US" altLang="ko-KR" sz="1200" b="1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  <a:p>
                      <a:pPr marL="0" indent="0" latinLnBrk="1">
                        <a:spcAft>
                          <a:spcPts val="800"/>
                        </a:spcAft>
                        <a:buNone/>
                      </a:pPr>
                      <a:r>
                        <a:rPr lang="en-US" altLang="ko-KR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3. </a:t>
                      </a:r>
                      <a:r>
                        <a:rPr lang="ko-KR" altLang="en-US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쿼리 </a:t>
                      </a:r>
                      <a:r>
                        <a:rPr lang="en-US" altLang="ko-KR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Tunning</a:t>
                      </a:r>
                    </a:p>
                    <a:p>
                      <a:pPr latinLnBrk="1">
                        <a:spcAft>
                          <a:spcPts val="800"/>
                        </a:spcAft>
                        <a:buNone/>
                      </a:pPr>
                      <a:r>
                        <a:rPr lang="en-US" altLang="ko-KR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   -</a:t>
                      </a: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 DA</a:t>
                      </a: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 지원을 통한 </a:t>
                      </a: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Query Tunning </a:t>
                      </a: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수행</a:t>
                      </a: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 .</a:t>
                      </a:r>
                      <a:endParaRPr lang="ko-KR" alt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보완 필요</a:t>
                      </a:r>
                      <a:endParaRPr lang="en-US" alt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보완 필요</a:t>
                      </a:r>
                      <a:endParaRPr lang="en-US" alt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보완 필요</a:t>
                      </a:r>
                      <a:endParaRPr lang="en-US" alt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결함 발생</a:t>
                      </a:r>
                      <a:endParaRPr lang="en-US" altLang="ko-KR" sz="1200" b="1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결함 발생</a:t>
                      </a:r>
                      <a:endParaRPr lang="en-US" altLang="ko-KR" sz="1200" b="1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결함 발생</a:t>
                      </a:r>
                      <a:endParaRPr lang="en-US" altLang="ko-KR" sz="1200" b="1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ko-KR" sz="1200" b="1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강화된  활동 수행</a:t>
                      </a:r>
                      <a:endParaRPr lang="ko-KR" altLang="ko-KR" sz="1200" b="1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52675127"/>
                  </a:ext>
                </a:extLst>
              </a:tr>
              <a:tr h="565054"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공통 </a:t>
                      </a: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Checklist</a:t>
                      </a: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indent="-228600" latinLnBrk="1">
                        <a:spcAft>
                          <a:spcPts val="800"/>
                        </a:spcAft>
                        <a:buAutoNum type="arabicPeriod"/>
                      </a:pPr>
                      <a:r>
                        <a:rPr lang="ko-KR" altLang="en-US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공통 개발 가이드 반복 교육  </a:t>
                      </a:r>
                      <a:r>
                        <a:rPr lang="en-US" altLang="ko-KR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( </a:t>
                      </a:r>
                      <a:r>
                        <a:rPr lang="ko-KR" altLang="en-US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월간 </a:t>
                      </a:r>
                      <a:r>
                        <a:rPr lang="en-US" altLang="ko-KR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)</a:t>
                      </a:r>
                      <a:endParaRPr lang="ko-KR" alt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보완필요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ko-KR" altLang="en-US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결함 발생</a:t>
                      </a:r>
                      <a:endParaRPr lang="ko-KR" sz="1200" b="1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“</a:t>
                      </a:r>
                      <a:r>
                        <a:rPr lang="ko-KR" altLang="en-US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공통항목</a:t>
                      </a:r>
                      <a:r>
                        <a:rPr lang="en-US" altLang="ko-KR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ko-KR" altLang="en-US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집중</a:t>
                      </a:r>
                      <a:r>
                        <a:rPr lang="en-US" altLang="ko-KR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ko-KR" altLang="en-US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점검</a:t>
                      </a:r>
                      <a:r>
                        <a:rPr lang="en-US" altLang="ko-KR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”</a:t>
                      </a:r>
                      <a:r>
                        <a:rPr lang="ko-KR" altLang="en-US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으로</a:t>
                      </a:r>
                      <a:r>
                        <a:rPr lang="en-US" altLang="ko-KR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ko-KR" altLang="en-US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사전</a:t>
                      </a:r>
                      <a:r>
                        <a:rPr lang="en-US" altLang="ko-KR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ko-KR" altLang="en-US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조치</a:t>
                      </a:r>
                      <a:endParaRPr lang="ko-KR" altLang="ko-KR" sz="1200" b="1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13822724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87C26F8-2BC4-47C6-ABF7-80570A2E09FF}"/>
              </a:ext>
            </a:extLst>
          </p:cNvPr>
          <p:cNvSpPr txBox="1"/>
          <p:nvPr/>
        </p:nvSpPr>
        <p:spPr>
          <a:xfrm>
            <a:off x="773105" y="772411"/>
            <a:ext cx="1122683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>
              <a:spcAft>
                <a:spcPts val="800"/>
              </a:spcAft>
              <a:buNone/>
            </a:pP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1</a:t>
            </a:r>
            <a:r>
              <a:rPr lang="ko-KR" altLang="en-US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차 테스트 수행 시 도출된 결함에 대한 재발 방지 계획안과 비교하여 이행을 점검</a:t>
            </a:r>
            <a:r>
              <a:rPr lang="ko-KR" altLang="en-US" sz="1200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함</a:t>
            </a:r>
            <a:endParaRPr lang="ko-KR" altLang="ko-KR" sz="1200" kern="100" dirty="0"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FA302C8-2788-479C-B008-CEE5F5E43E3A}"/>
              </a:ext>
            </a:extLst>
          </p:cNvPr>
          <p:cNvSpPr/>
          <p:nvPr/>
        </p:nvSpPr>
        <p:spPr>
          <a:xfrm>
            <a:off x="766763" y="3672196"/>
            <a:ext cx="10884131" cy="248749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0064564"/>
      </p:ext>
    </p:extLst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F1BFF0E4-5473-42BF-B13C-5CD6DC6DBC7A}"/>
              </a:ext>
            </a:extLst>
          </p:cNvPr>
          <p:cNvPicPr>
            <a:picLocks noChangeAspect="1" noChangeArrowheads="1"/>
            <a:extLst>
              <a:ext uri="{84589F7E-364E-4C9E-8A38-B11213B215E9}">
                <a14:cameraTool xmlns:a14="http://schemas.microsoft.com/office/drawing/2010/main" cellRange="$A$1:$J$6"/>
              </a:ext>
            </a:extLst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123407" y="718256"/>
            <a:ext cx="7497092" cy="991448"/>
          </a:xfrm>
          <a:prstGeom prst="rect">
            <a:avLst/>
          </a:prstGeom>
          <a:solidFill>
            <a:srgbClr xmlns:mc="http://schemas.openxmlformats.org/markup-compatibility/2006" xmlns:a14="http://schemas.microsoft.com/office/drawing/2010/main" val="FFFFFF" mc:Ignorable="a14" a14:legacySpreadsheetColorIndex="9"/>
          </a:solidFill>
          <a:ln w="9525">
            <a:solidFill>
              <a:srgbClr xmlns:mc="http://schemas.openxmlformats.org/markup-compatibility/2006" xmlns:a14="http://schemas.microsoft.com/office/drawing/2010/main" val="000000" mc:Ignorable="a14" a14:legacySpreadsheetColorIndex="64"/>
            </a:solidFill>
            <a:miter lim="800000"/>
            <a:headEnd/>
            <a:tailEnd/>
          </a:ln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B4928CD0-D245-44F7-A576-661221427FE6}"/>
              </a:ext>
            </a:extLst>
          </p:cNvPr>
          <p:cNvPicPr>
            <a:picLocks noChangeAspect="1" noChangeArrowheads="1"/>
            <a:extLst>
              <a:ext uri="{84589F7E-364E-4C9E-8A38-B11213B215E9}">
                <a14:cameraTool xmlns:a14="http://schemas.microsoft.com/office/drawing/2010/main" cellRange="$A$10:$K$28"/>
              </a:ext>
            </a:extLst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71500" y="1955853"/>
            <a:ext cx="11048999" cy="4497388"/>
          </a:xfrm>
          <a:prstGeom prst="rect">
            <a:avLst/>
          </a:prstGeom>
          <a:solidFill>
            <a:srgbClr xmlns:mc="http://schemas.openxmlformats.org/markup-compatibility/2006" xmlns:a14="http://schemas.microsoft.com/office/drawing/2010/main" val="FFFFFF" mc:Ignorable="a14" a14:legacySpreadsheetColorIndex="9"/>
          </a:solidFill>
          <a:ln w="9525">
            <a:solidFill>
              <a:srgbClr xmlns:mc="http://schemas.openxmlformats.org/markup-compatibility/2006" xmlns:a14="http://schemas.microsoft.com/office/drawing/2010/main" val="000000" mc:Ignorable="a14" a14:legacySpreadsheetColorIndex="64"/>
            </a:solidFill>
            <a:miter lim="800000"/>
            <a:headEnd/>
            <a:tailEnd/>
          </a:ln>
        </p:spPr>
      </p:pic>
      <p:sp>
        <p:nvSpPr>
          <p:cNvPr id="4" name="Rectangle 2">
            <a:extLst>
              <a:ext uri="{FF2B5EF4-FFF2-40B4-BE49-F238E27FC236}">
                <a16:creationId xmlns:a16="http://schemas.microsoft.com/office/drawing/2014/main" id="{D9EE138E-93E0-4595-9A33-8B13ED47E0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892" y="91161"/>
            <a:ext cx="5652516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indent="-354013" defTabSz="957743">
              <a:defRPr sz="2200" spc="-11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9pPr>
          </a:lstStyle>
          <a:p>
            <a:pPr>
              <a:spcAft>
                <a:spcPts val="800"/>
              </a:spcAft>
            </a:pPr>
            <a:r>
              <a:rPr kumimoji="0" lang="ko-KR" altLang="en-US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  <a:r>
              <a:rPr lang="en-US" altLang="ko-KR" sz="2000" b="1" dirty="0">
                <a:solidFill>
                  <a:prstClr val="white"/>
                </a:solidFill>
              </a:rPr>
              <a:t>※  </a:t>
            </a:r>
            <a:r>
              <a:rPr kumimoji="0" lang="ko-KR" altLang="en-US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참고  </a:t>
            </a:r>
            <a:r>
              <a:rPr kumimoji="0" lang="en-US" altLang="ko-KR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)  </a:t>
            </a:r>
            <a:r>
              <a:rPr kumimoji="0" lang="ko-KR" altLang="en-US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테스트 사전 점검결과 </a:t>
            </a:r>
            <a:r>
              <a:rPr kumimoji="0" lang="en-US" altLang="ko-KR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( </a:t>
            </a:r>
            <a:r>
              <a:rPr kumimoji="0" lang="ko-KR" altLang="en-US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작성일 </a:t>
            </a:r>
            <a:r>
              <a:rPr kumimoji="0" lang="en-US" altLang="ko-KR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: 2026.01.15)</a:t>
            </a:r>
            <a:r>
              <a:rPr kumimoji="0" lang="ko-KR" altLang="en-US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  <a:endParaRPr lang="ko-KR" altLang="ko-KR" sz="2000" kern="100" dirty="0"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5" name="Text Box 56" descr="엠보싱 작은상자(Gray_Ver)">
            <a:extLst>
              <a:ext uri="{FF2B5EF4-FFF2-40B4-BE49-F238E27FC236}">
                <a16:creationId xmlns:a16="http://schemas.microsoft.com/office/drawing/2014/main" id="{F15B961C-FDD2-4E1F-AA13-11187DF87C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87794" y="1739392"/>
            <a:ext cx="1289805" cy="15708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marL="0" marR="0" lvl="0" indent="0" algn="r" defTabSz="914400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  <a:cs typeface="+mn-cs"/>
              </a:rPr>
              <a:t>점검일 </a:t>
            </a:r>
            <a:r>
              <a:rPr kumimoji="1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  <a:cs typeface="+mn-cs"/>
              </a:rPr>
              <a:t>: 2026.01.15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1ADEA7B-5A0E-478B-9634-E6516CB551B1}"/>
              </a:ext>
            </a:extLst>
          </p:cNvPr>
          <p:cNvSpPr txBox="1"/>
          <p:nvPr/>
        </p:nvSpPr>
        <p:spPr>
          <a:xfrm>
            <a:off x="0" y="1079828"/>
            <a:ext cx="428541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marR="0" lvl="1" indent="-28575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  <a:defRPr/>
            </a:pPr>
            <a:r>
              <a:rPr kumimoji="0" lang="ko-KR" altLang="en-US" sz="11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테스트관리자가 아닌 </a:t>
            </a:r>
            <a:r>
              <a:rPr kumimoji="0" lang="en-US" altLang="ko-KR" sz="11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PL</a:t>
            </a:r>
            <a:r>
              <a:rPr kumimoji="0" lang="ko-KR" altLang="en-US" sz="11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이 직접 사전점검 결과 기록</a:t>
            </a:r>
            <a:endParaRPr lang="en-US" altLang="ko-KR" sz="1100" b="1" kern="100" dirty="0"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5451963"/>
      </p:ext>
    </p:extLst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">
            <a:extLst>
              <a:ext uri="{FF2B5EF4-FFF2-40B4-BE49-F238E27FC236}">
                <a16:creationId xmlns:a16="http://schemas.microsoft.com/office/drawing/2014/main" id="{C9ED3EB1-9AB1-4FBA-E43B-912930EB48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891" y="91161"/>
            <a:ext cx="7500417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indent="-354013" defTabSz="957743">
              <a:defRPr sz="2200" spc="-11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9pPr>
          </a:lstStyle>
          <a:p>
            <a:pPr lvl="0" latinLnBrk="0">
              <a:defRPr/>
            </a:pPr>
            <a:r>
              <a:rPr lang="en-US" altLang="ko-KR" sz="2000" b="1" dirty="0">
                <a:solidFill>
                  <a:prstClr val="white"/>
                </a:solidFill>
              </a:rPr>
              <a:t>※  </a:t>
            </a:r>
            <a:r>
              <a:rPr kumimoji="0" lang="ko-KR" altLang="en-US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참고  </a:t>
            </a:r>
            <a:r>
              <a:rPr kumimoji="0" lang="en-US" altLang="ko-KR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) </a:t>
            </a:r>
            <a:r>
              <a:rPr kumimoji="0" lang="ko-KR" altLang="en-US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테스트 수행 중</a:t>
            </a:r>
            <a:r>
              <a:rPr kumimoji="0" lang="en-US" altLang="ko-KR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  <a:r>
              <a:rPr kumimoji="0" lang="ko-KR" altLang="en-US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테스터 </a:t>
            </a:r>
            <a:r>
              <a:rPr kumimoji="0" lang="en-US" altLang="ko-KR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Daily Review  :  </a:t>
            </a:r>
            <a:r>
              <a:rPr kumimoji="0" lang="ko-KR" altLang="en-US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문제점  </a:t>
            </a:r>
            <a:r>
              <a:rPr kumimoji="0" lang="en-US" altLang="ko-KR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/ </a:t>
            </a:r>
            <a:r>
              <a:rPr kumimoji="0" lang="ko-KR" altLang="en-US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개선점</a:t>
            </a:r>
            <a:endParaRPr kumimoji="0" lang="en-US" altLang="ko-KR" sz="2000" b="1" i="0" u="none" strike="noStrike" kern="1200" cap="none" spc="-11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13" name="TextBox 27"/>
          <p:cNvSpPr txBox="1">
            <a:spLocks noChangeArrowheads="1"/>
          </p:cNvSpPr>
          <p:nvPr/>
        </p:nvSpPr>
        <p:spPr bwMode="auto">
          <a:xfrm>
            <a:off x="766762" y="1218362"/>
            <a:ext cx="9394379" cy="29552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latinLnBrk="0">
              <a:lnSpc>
                <a:spcPct val="120000"/>
              </a:lnSpc>
              <a:spcBef>
                <a:spcPct val="30000"/>
              </a:spcBef>
              <a:buFont typeface="Wingdings" pitchFamily="2" charset="2"/>
              <a:buAutoNum type="arabicPeriod"/>
            </a:pPr>
            <a:r>
              <a:rPr lang="ko-KR" altLang="en-US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공통 기능이 </a:t>
            </a:r>
            <a:r>
              <a:rPr lang="ko-KR" altLang="en-US" sz="1600" b="1" dirty="0" err="1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모듈별</a:t>
            </a:r>
            <a:r>
              <a:rPr lang="ko-KR" altLang="en-US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동일하지 않음  </a:t>
            </a:r>
            <a:r>
              <a:rPr lang="en-US" altLang="ko-KR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: </a:t>
            </a:r>
            <a:r>
              <a:rPr lang="ko-KR" altLang="en-US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사용자 요청에 의한 것인지 판단이 쉽지 않음</a:t>
            </a:r>
            <a:endParaRPr lang="en-US" altLang="ko-KR" sz="1600" b="1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latinLnBrk="0">
              <a:lnSpc>
                <a:spcPct val="120000"/>
              </a:lnSpc>
              <a:spcBef>
                <a:spcPct val="30000"/>
              </a:spcBef>
            </a:pPr>
            <a:r>
              <a:rPr lang="en-US" altLang="ko-KR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     </a:t>
            </a:r>
          </a:p>
          <a:p>
            <a:pPr latinLnBrk="0">
              <a:lnSpc>
                <a:spcPct val="120000"/>
              </a:lnSpc>
              <a:spcBef>
                <a:spcPct val="30000"/>
              </a:spcBef>
            </a:pPr>
            <a:endParaRPr lang="en-US" altLang="ko-KR" sz="1600" b="1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marL="342900" indent="-342900" latinLnBrk="0">
              <a:lnSpc>
                <a:spcPct val="120000"/>
              </a:lnSpc>
              <a:spcBef>
                <a:spcPct val="30000"/>
              </a:spcBef>
              <a:buAutoNum type="arabicPeriod" startAt="2"/>
            </a:pPr>
            <a:r>
              <a:rPr lang="ko-KR" altLang="en-US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업무 전문가가 아님에 따라 일부 기능의 경우</a:t>
            </a:r>
            <a:r>
              <a:rPr lang="en-US" altLang="ko-KR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, </a:t>
            </a:r>
            <a:r>
              <a:rPr lang="ko-KR" altLang="en-US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결과 </a:t>
            </a:r>
            <a:r>
              <a:rPr lang="en-US" altLang="ko-KR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( </a:t>
            </a:r>
            <a:r>
              <a:rPr lang="ko-KR" altLang="en-US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결과 값 등 </a:t>
            </a:r>
            <a:r>
              <a:rPr lang="en-US" altLang="ko-KR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) </a:t>
            </a:r>
            <a:r>
              <a:rPr lang="ko-KR" altLang="en-US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에 대한 검증이 제한 됨</a:t>
            </a:r>
            <a:r>
              <a:rPr lang="en-US" altLang="ko-KR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.</a:t>
            </a:r>
          </a:p>
          <a:p>
            <a:pPr latinLnBrk="0">
              <a:lnSpc>
                <a:spcPct val="120000"/>
              </a:lnSpc>
              <a:spcBef>
                <a:spcPct val="30000"/>
              </a:spcBef>
            </a:pPr>
            <a:endParaRPr lang="en-US" altLang="ko-KR" sz="1600" b="1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latinLnBrk="0">
              <a:lnSpc>
                <a:spcPct val="120000"/>
              </a:lnSpc>
              <a:spcBef>
                <a:spcPct val="30000"/>
              </a:spcBef>
            </a:pPr>
            <a:endParaRPr lang="en-US" altLang="ko-KR" sz="1600" b="1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latinLnBrk="0">
              <a:lnSpc>
                <a:spcPct val="120000"/>
              </a:lnSpc>
              <a:spcBef>
                <a:spcPct val="30000"/>
              </a:spcBef>
            </a:pPr>
            <a:r>
              <a:rPr lang="en-US" altLang="ko-KR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3.   UI</a:t>
            </a:r>
            <a:r>
              <a:rPr lang="ko-KR" altLang="en-US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의 경우</a:t>
            </a:r>
            <a:r>
              <a:rPr lang="en-US" altLang="ko-KR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, </a:t>
            </a:r>
            <a:r>
              <a:rPr lang="ko-KR" altLang="en-US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실무자의</a:t>
            </a:r>
            <a:r>
              <a:rPr lang="en-US" altLang="ko-KR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altLang="en-US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사용성 </a:t>
            </a:r>
            <a:r>
              <a:rPr lang="en-US" altLang="ko-KR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/ </a:t>
            </a:r>
            <a:r>
              <a:rPr lang="ko-KR" altLang="en-US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사용 편이성을 테스터가 임의 판단이 어려움</a:t>
            </a:r>
            <a:endParaRPr lang="en-US" altLang="ko-KR" sz="1600" b="1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latinLnBrk="0">
              <a:lnSpc>
                <a:spcPct val="120000"/>
              </a:lnSpc>
              <a:spcBef>
                <a:spcPct val="30000"/>
              </a:spcBef>
            </a:pPr>
            <a:r>
              <a:rPr lang="ko-KR" altLang="en-US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endParaRPr lang="en-US" altLang="ko-KR" sz="1600" b="1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72436523"/>
      </p:ext>
    </p:extLst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1C1BCBBA-FE7F-4E5B-A886-0ACDADA6F667}"/>
              </a:ext>
            </a:extLst>
          </p:cNvPr>
          <p:cNvSpPr/>
          <p:nvPr/>
        </p:nvSpPr>
        <p:spPr bwMode="gray">
          <a:xfrm>
            <a:off x="4351543" y="2847396"/>
            <a:ext cx="5256584" cy="1295483"/>
          </a:xfrm>
          <a:prstGeom prst="rect">
            <a:avLst/>
          </a:prstGeom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CCFFFF">
                      <a:alpha val="50000"/>
                    </a:srgbClr>
                  </a:outerShdw>
                </a:effectLst>
              </a14:hiddenEffects>
            </a:ext>
          </a:extLst>
        </p:spPr>
        <p:txBody>
          <a:bodyPr wrap="square" lIns="0" tIns="0" rIns="0" bIns="0" anchor="ctr" anchorCtr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/>
          <a:p>
            <a:pPr defTabSz="685800" fontAlgn="base" latinLnBrk="0">
              <a:lnSpc>
                <a:spcPct val="110000"/>
              </a:lnSpc>
              <a:defRPr/>
            </a:pPr>
            <a:r>
              <a:rPr lang="en-US" altLang="ko-KR" sz="8000" spc="-30" dirty="0">
                <a:ln>
                  <a:solidFill>
                    <a:srgbClr val="9933FF">
                      <a:alpha val="0"/>
                    </a:srgb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E O D</a:t>
            </a:r>
            <a:endParaRPr lang="en-US" altLang="ko-KR" sz="9600" spc="-30" dirty="0">
              <a:ln>
                <a:solidFill>
                  <a:srgbClr val="9933FF">
                    <a:alpha val="0"/>
                  </a:srgbClr>
                </a:solidFill>
              </a:ln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76618886"/>
      </p:ext>
    </p:extLst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82D60D2-4AD0-4BBF-E3A5-A453ACFE30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9A500C81-9AAD-AE9B-2CCE-1B1DDC16AD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892" y="91161"/>
            <a:ext cx="5652516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indent="-354013" defTabSz="957743">
              <a:defRPr sz="2200" spc="-11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9pPr>
          </a:lstStyle>
          <a:p>
            <a:pPr>
              <a:spcAft>
                <a:spcPts val="800"/>
              </a:spcAft>
            </a:pPr>
            <a:r>
              <a:rPr kumimoji="0" lang="ko-KR" altLang="en-US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  <a:r>
              <a:rPr kumimoji="0" lang="en-US" altLang="ko-KR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II – </a:t>
            </a:r>
            <a:r>
              <a:rPr lang="en-US" altLang="ko-KR" sz="2000" b="1" dirty="0">
                <a:solidFill>
                  <a:prstClr val="white"/>
                </a:solidFill>
              </a:rPr>
              <a:t>6</a:t>
            </a:r>
            <a:r>
              <a:rPr kumimoji="0" lang="en-US" altLang="ko-KR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. </a:t>
            </a:r>
            <a:r>
              <a:rPr lang="ko-KR" altLang="en-US" sz="20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결론</a:t>
            </a:r>
            <a:endParaRPr lang="ko-KR" altLang="ko-KR" sz="2000" kern="100" dirty="0"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BC39D4-6662-9BC3-195E-83633088059A}"/>
              </a:ext>
            </a:extLst>
          </p:cNvPr>
          <p:cNvSpPr txBox="1"/>
          <p:nvPr/>
        </p:nvSpPr>
        <p:spPr>
          <a:xfrm>
            <a:off x="517148" y="845219"/>
            <a:ext cx="10768519" cy="34368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>
              <a:spcAft>
                <a:spcPts val="800"/>
              </a:spcAft>
              <a:buNone/>
            </a:pP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전체 결함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245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건 중 약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48.1%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가 </a:t>
            </a:r>
            <a:r>
              <a:rPr lang="ko-KR" altLang="en-US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단위 기능 자체의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오류가 아닌 </a:t>
            </a:r>
            <a:r>
              <a:rPr lang="ko-KR" altLang="en-US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테스트 환경 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(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데이터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, </a:t>
            </a:r>
            <a:r>
              <a:rPr lang="ko-KR" altLang="en-US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권한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, </a:t>
            </a:r>
            <a:r>
              <a:rPr lang="ko-KR" altLang="en-US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문서 등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) 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에서 기인했습니다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.</a:t>
            </a:r>
            <a:endParaRPr lang="ko-KR" altLang="ko-KR" sz="1200" kern="100" dirty="0"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  <a:p>
            <a:pPr latinLnBrk="1">
              <a:spcAft>
                <a:spcPts val="800"/>
              </a:spcAft>
              <a:buNone/>
            </a:pP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따라서 현재의 </a:t>
            </a:r>
            <a:r>
              <a:rPr lang="ko-KR" altLang="en-US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시나리오별 </a:t>
            </a:r>
            <a:r>
              <a:rPr lang="ko-KR" altLang="ko-KR" sz="1200" kern="100" dirty="0" err="1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결함률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(32.1%)</a:t>
            </a:r>
            <a:r>
              <a:rPr lang="ko-KR" altLang="en-US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이 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기능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/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품질의 심각한 저하</a:t>
            </a:r>
            <a:r>
              <a:rPr lang="ko-KR" altLang="en-US" sz="1200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로 판단할 만큼의 수준은 아닙니다</a:t>
            </a:r>
            <a:r>
              <a:rPr lang="en-US" altLang="ko-KR" sz="1200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.</a:t>
            </a:r>
          </a:p>
          <a:p>
            <a:pPr latinLnBrk="1">
              <a:spcAft>
                <a:spcPts val="800"/>
              </a:spcAft>
              <a:buNone/>
            </a:pPr>
            <a:r>
              <a:rPr lang="ko-KR" altLang="en-US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이외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, DB 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오브젝트 현행화 및 기초 데이터 셋업이 선행된다면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, 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결함 건수는 </a:t>
            </a:r>
            <a:r>
              <a:rPr lang="en-US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100</a:t>
            </a:r>
            <a:r>
              <a:rPr lang="ko-KR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건 이하</a:t>
            </a:r>
            <a:r>
              <a:rPr lang="en-US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(</a:t>
            </a:r>
            <a:r>
              <a:rPr lang="ko-KR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약</a:t>
            </a:r>
            <a:r>
              <a:rPr lang="en-US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15% </a:t>
            </a:r>
            <a:r>
              <a:rPr lang="ko-KR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수준</a:t>
            </a:r>
            <a:r>
              <a:rPr lang="en-US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)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로 급격히 감소할 것으로 예상됩니다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.</a:t>
            </a:r>
            <a:endParaRPr lang="ko-KR" altLang="ko-KR" sz="1200" kern="100" dirty="0"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  <a:p>
            <a:pPr latinLnBrk="1">
              <a:spcAft>
                <a:spcPts val="800"/>
              </a:spcAft>
              <a:buNone/>
            </a:pPr>
            <a:endParaRPr lang="en-US" altLang="ko-KR" sz="1200" b="1" kern="100" dirty="0"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  <a:p>
            <a:pPr latinLnBrk="1">
              <a:spcAft>
                <a:spcPts val="800"/>
              </a:spcAft>
              <a:buNone/>
            </a:pPr>
            <a:r>
              <a:rPr lang="ko-KR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테스터 및</a:t>
            </a:r>
            <a:r>
              <a:rPr lang="en-US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PL </a:t>
            </a:r>
            <a:r>
              <a:rPr lang="ko-KR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가이드</a:t>
            </a:r>
            <a:r>
              <a:rPr lang="en-US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(Process) </a:t>
            </a:r>
            <a:r>
              <a:rPr lang="ko-KR" altLang="en-US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보완</a:t>
            </a:r>
            <a:endParaRPr lang="ko-KR" altLang="ko-KR" sz="1200" kern="100" dirty="0"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  <a:p>
            <a:pPr marL="342900" lvl="0" indent="-342900" latinLnBrk="1"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ko-KR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결함 리포팅 기준 </a:t>
            </a:r>
            <a:r>
              <a:rPr lang="ko-KR" altLang="en-US" sz="12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보완</a:t>
            </a:r>
            <a:r>
              <a:rPr lang="en-US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:</a:t>
            </a:r>
            <a:endParaRPr lang="ko-KR" altLang="ko-KR" sz="1200" kern="100" dirty="0"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  <a:p>
            <a:pPr marL="742950" lvl="1" indent="-285750" latinLnBrk="1"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환경 문제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(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쿼리 오류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)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와 기능 오류를 명확히 구분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. </a:t>
            </a:r>
            <a:endParaRPr lang="ko-KR" altLang="ko-KR" sz="1200" kern="100" dirty="0"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  <a:p>
            <a:pPr marL="342900" lvl="0" indent="-342900" latinLnBrk="1"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ko-KR" altLang="en-US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테스트 수행 전 사전 </a:t>
            </a:r>
            <a:r>
              <a:rPr lang="ko-KR" altLang="en-US" sz="12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점검 기록</a:t>
            </a:r>
            <a:endParaRPr lang="en-US" altLang="ko-KR" sz="1200" b="1" kern="100" dirty="0"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  <a:p>
            <a:pPr marL="742950" marR="0" lvl="1" indent="-28575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  <a:defRPr/>
            </a:pPr>
            <a:r>
              <a:rPr kumimoji="0" lang="ko-KR" altLang="en-US" sz="12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기존 사전 점검을 테스트관리자가 아닌 </a:t>
            </a:r>
            <a:r>
              <a:rPr kumimoji="0" lang="en-US" altLang="ko-KR" sz="12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PL</a:t>
            </a:r>
            <a:r>
              <a:rPr kumimoji="0" lang="ko-KR" altLang="en-US" sz="12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이 직접 기록 </a:t>
            </a:r>
            <a:endParaRPr kumimoji="0" lang="en-US" altLang="ko-KR" sz="12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  <a:p>
            <a:pPr marR="0" lvl="1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ts val="1000"/>
              <a:tabLst>
                <a:tab pos="914400" algn="l"/>
              </a:tabLst>
              <a:defRPr/>
            </a:pPr>
            <a:r>
              <a:rPr lang="en-US" altLang="ko-KR" sz="1200" kern="100" dirty="0">
                <a:solidFill>
                  <a:prstClr val="black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   </a:t>
            </a:r>
            <a:r>
              <a:rPr kumimoji="0" lang="ko-KR" altLang="en-US" sz="12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→  테스트 환경 준비 철저</a:t>
            </a:r>
            <a:endParaRPr lang="en-US" altLang="ko-KR" sz="1200" b="1" kern="100" dirty="0"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  <a:p>
            <a:pPr marL="342900" lvl="0" indent="-342900" latinLnBrk="1"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ko-KR" altLang="en-US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개발 절차 재교육</a:t>
            </a:r>
            <a:endParaRPr lang="ko-KR" altLang="ko-KR" sz="1200" b="1" kern="100" dirty="0"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  <a:p>
            <a:pPr marL="742950" lvl="1" indent="-285750"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ko-KR" altLang="en-US" sz="1200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개발 프로세스 준수 </a:t>
            </a:r>
            <a:r>
              <a:rPr lang="en-US" altLang="ko-KR" sz="1200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: DB </a:t>
            </a:r>
            <a:r>
              <a:rPr lang="ko-KR" altLang="en-US" sz="1200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권한 등의 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문제는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PL 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차원에서 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DA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요청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.</a:t>
            </a:r>
            <a:endParaRPr lang="ko-KR" altLang="ko-KR" sz="1200" kern="100" dirty="0"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9EB9BA0-80B2-4FCF-B899-0ED9357D8268}"/>
              </a:ext>
            </a:extLst>
          </p:cNvPr>
          <p:cNvPicPr>
            <a:picLocks noChangeAspect="1" noChangeArrowheads="1"/>
            <a:extLst>
              <a:ext uri="{84589F7E-364E-4C9E-8A38-B11213B215E9}">
                <a14:cameraTool xmlns:a14="http://schemas.microsoft.com/office/drawing/2010/main" cellRange="$A$1:$C$19"/>
              </a:ext>
            </a:extLst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829570" y="2133600"/>
            <a:ext cx="3985282" cy="4319588"/>
          </a:xfrm>
          <a:prstGeom prst="rect">
            <a:avLst/>
          </a:prstGeom>
          <a:solidFill>
            <a:srgbClr xmlns:mc="http://schemas.openxmlformats.org/markup-compatibility/2006" xmlns:a14="http://schemas.microsoft.com/office/drawing/2010/main" val="FFFFFF" mc:Ignorable="a14" a14:legacySpreadsheetColorIndex="9"/>
          </a:solidFill>
          <a:ln w="9525">
            <a:solidFill>
              <a:srgbClr xmlns:mc="http://schemas.openxmlformats.org/markup-compatibility/2006" xmlns:a14="http://schemas.microsoft.com/office/drawing/2010/main" val="000000" mc:Ignorable="a14" a14:legacySpreadsheetColorIndex="64"/>
            </a:solidFill>
            <a:miter lim="800000"/>
            <a:headEnd/>
            <a:tailEnd/>
          </a:ln>
        </p:spPr>
      </p:pic>
      <p:sp>
        <p:nvSpPr>
          <p:cNvPr id="3" name="화살표: 오른쪽 2">
            <a:extLst>
              <a:ext uri="{FF2B5EF4-FFF2-40B4-BE49-F238E27FC236}">
                <a16:creationId xmlns:a16="http://schemas.microsoft.com/office/drawing/2014/main" id="{CF9B1B73-C18B-4062-9533-9666EE19E999}"/>
              </a:ext>
            </a:extLst>
          </p:cNvPr>
          <p:cNvSpPr/>
          <p:nvPr/>
        </p:nvSpPr>
        <p:spPr>
          <a:xfrm>
            <a:off x="5236389" y="3144285"/>
            <a:ext cx="1330036" cy="120073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759DBC6-6372-4BCE-B935-21C40496C08D}"/>
              </a:ext>
            </a:extLst>
          </p:cNvPr>
          <p:cNvSpPr/>
          <p:nvPr/>
        </p:nvSpPr>
        <p:spPr>
          <a:xfrm>
            <a:off x="6829571" y="3001818"/>
            <a:ext cx="3985281" cy="115454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978DB96-C211-42ED-A25B-7F30C6869D60}"/>
              </a:ext>
            </a:extLst>
          </p:cNvPr>
          <p:cNvSpPr txBox="1"/>
          <p:nvPr/>
        </p:nvSpPr>
        <p:spPr>
          <a:xfrm>
            <a:off x="8063145" y="1797580"/>
            <a:ext cx="322252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 kern="100" dirty="0">
                <a:solidFill>
                  <a:prstClr val="black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[</a:t>
            </a:r>
            <a:r>
              <a:rPr lang="ko-KR" altLang="en-US" sz="1200" b="1" kern="100" dirty="0">
                <a:solidFill>
                  <a:prstClr val="black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</a:t>
            </a:r>
            <a:r>
              <a:rPr kumimoji="0" lang="ko-KR" altLang="en-US" sz="12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테스트 </a:t>
            </a:r>
            <a:r>
              <a:rPr lang="ko-KR" altLang="en-US" sz="1200" b="1" kern="100" dirty="0">
                <a:solidFill>
                  <a:prstClr val="black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준비 </a:t>
            </a:r>
            <a:r>
              <a:rPr lang="en-US" altLang="ko-KR" sz="1200" b="1" kern="100" dirty="0">
                <a:solidFill>
                  <a:prstClr val="black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CHECK LIST ] </a:t>
            </a:r>
            <a:endParaRPr lang="ko-KR" alt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3838945675"/>
      </p:ext>
    </p:extLst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6772DA79-DE9B-B9C9-F504-6B0F6DB3BE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2E3CA194-DF72-6361-C55A-C995979F81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892" y="91161"/>
            <a:ext cx="5652516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indent="-354013" defTabSz="957743">
              <a:defRPr sz="2200" spc="-11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9pPr>
          </a:lstStyle>
          <a:p>
            <a:pPr latinLnBrk="0">
              <a:defRPr/>
            </a:pPr>
            <a:r>
              <a:rPr kumimoji="0" lang="ko-KR" altLang="en-US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  <a:r>
              <a:rPr kumimoji="0" lang="en-US" altLang="ko-KR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II – 5. </a:t>
            </a:r>
            <a:r>
              <a:rPr lang="ko-KR" altLang="ko-KR" sz="20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결함 </a:t>
            </a:r>
            <a:r>
              <a:rPr lang="ko-KR" altLang="ko-KR" sz="2000" b="1" kern="100" dirty="0" err="1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원인별</a:t>
            </a:r>
            <a:r>
              <a:rPr lang="ko-KR" altLang="ko-KR" sz="20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조치 계획 및 재발 방지 방안</a:t>
            </a:r>
            <a:endParaRPr lang="ko-KR" altLang="ko-KR" sz="2000" kern="100" dirty="0"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  <a:p>
            <a:pPr lvl="0" latinLnBrk="0">
              <a:defRPr/>
            </a:pPr>
            <a:endParaRPr kumimoji="0" lang="en-US" altLang="ko-KR" sz="2000" b="1" i="0" u="none" strike="noStrike" kern="1200" cap="none" spc="-11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D1CF66D-F2CB-798D-9029-B0C18E3BE217}"/>
              </a:ext>
            </a:extLst>
          </p:cNvPr>
          <p:cNvSpPr txBox="1"/>
          <p:nvPr/>
        </p:nvSpPr>
        <p:spPr>
          <a:xfrm>
            <a:off x="597613" y="772411"/>
            <a:ext cx="11226833" cy="16106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>
              <a:spcAft>
                <a:spcPts val="800"/>
              </a:spcAft>
              <a:buNone/>
            </a:pP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분석 결과 도출된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3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대 핵심 원인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(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환경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, 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데이터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, 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기능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)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에 대한 단기 조치와 장기적 예</a:t>
            </a:r>
            <a:r>
              <a:rPr lang="ko-KR" altLang="en-US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방을 위한 계획안으로 상세 내용은 </a:t>
            </a:r>
            <a:r>
              <a:rPr lang="ko-KR" altLang="en-US" sz="1200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담당자와 충분한 협의 필요</a:t>
            </a:r>
            <a:endParaRPr lang="en-US" altLang="ko-KR" sz="1200" kern="100" dirty="0"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  <a:p>
            <a:pPr latinLnBrk="1">
              <a:spcAft>
                <a:spcPts val="800"/>
              </a:spcAft>
              <a:buNone/>
            </a:pPr>
            <a:endParaRPr lang="ko-KR" altLang="ko-KR" sz="1200" kern="100" dirty="0"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  <a:p>
            <a:pPr marL="228600" indent="-228600" latinLnBrk="1">
              <a:buAutoNum type="arabicParenR"/>
            </a:pPr>
            <a:r>
              <a:rPr lang="ko-KR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환경 및 배포 오류</a:t>
            </a:r>
            <a:r>
              <a:rPr lang="en-US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(</a:t>
            </a:r>
            <a:r>
              <a:rPr lang="ko-KR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스키마 누락</a:t>
            </a:r>
            <a:r>
              <a:rPr lang="en-US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, DB </a:t>
            </a:r>
            <a:r>
              <a:rPr lang="ko-KR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오브젝트 </a:t>
            </a:r>
            <a:r>
              <a:rPr lang="ko-KR" altLang="ko-KR" sz="1200" b="1" kern="100" dirty="0" err="1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미존재</a:t>
            </a:r>
            <a:r>
              <a:rPr lang="en-US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) </a:t>
            </a:r>
          </a:p>
          <a:p>
            <a:pPr latinLnBrk="1">
              <a:spcAft>
                <a:spcPts val="800"/>
              </a:spcAft>
            </a:pPr>
            <a:endParaRPr lang="ko-KR" altLang="ko-KR" sz="1200" kern="100" dirty="0"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  <a:p>
            <a:pPr marL="342900" lvl="0" indent="-342900" latinLnBrk="1"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ko-KR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현상</a:t>
            </a:r>
            <a:r>
              <a:rPr lang="en-US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: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Schema Name Missing, Table Not Found, View Not Found 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에러 발생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.</a:t>
            </a:r>
            <a:endParaRPr lang="ko-KR" altLang="ko-KR" sz="1200" kern="100" dirty="0"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  <a:p>
            <a:pPr marL="342900" lvl="0" indent="-342900" latinLnBrk="1"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ko-KR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원인</a:t>
            </a:r>
            <a:r>
              <a:rPr lang="en-US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: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</a:t>
            </a:r>
            <a:r>
              <a:rPr lang="ko-KR" altLang="en-US" sz="1200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테스트 계정과 개발 계정간 권한 불일치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.</a:t>
            </a:r>
            <a:endParaRPr lang="ko-KR" altLang="ko-KR" sz="1200" kern="100" dirty="0"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ACEAFF03-9E06-0ACC-8B93-4C954D210D24}"/>
              </a:ext>
            </a:extLst>
          </p:cNvPr>
          <p:cNvGraphicFramePr>
            <a:graphicFrameLocks noGrp="1"/>
          </p:cNvGraphicFramePr>
          <p:nvPr/>
        </p:nvGraphicFramePr>
        <p:xfrm>
          <a:off x="774603" y="2553347"/>
          <a:ext cx="10613833" cy="3405630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1109615">
                  <a:extLst>
                    <a:ext uri="{9D8B030D-6E8A-4147-A177-3AD203B41FA5}">
                      <a16:colId xmlns:a16="http://schemas.microsoft.com/office/drawing/2014/main" val="2274574519"/>
                    </a:ext>
                  </a:extLst>
                </a:gridCol>
                <a:gridCol w="8562109">
                  <a:extLst>
                    <a:ext uri="{9D8B030D-6E8A-4147-A177-3AD203B41FA5}">
                      <a16:colId xmlns:a16="http://schemas.microsoft.com/office/drawing/2014/main" val="3501454989"/>
                    </a:ext>
                  </a:extLst>
                </a:gridCol>
                <a:gridCol w="942109">
                  <a:extLst>
                    <a:ext uri="{9D8B030D-6E8A-4147-A177-3AD203B41FA5}">
                      <a16:colId xmlns:a16="http://schemas.microsoft.com/office/drawing/2014/main" val="3157739317"/>
                    </a:ext>
                  </a:extLst>
                </a:gridCol>
              </a:tblGrid>
              <a:tr h="411526"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ko-KR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구분</a:t>
                      </a:r>
                      <a:endParaRPr lang="ko-KR" sz="1200" b="1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ko-KR" altLang="en-US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계획</a:t>
                      </a:r>
                      <a:r>
                        <a:rPr lang="ko-KR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안</a:t>
                      </a:r>
                      <a:r>
                        <a:rPr lang="en-US" altLang="ko-KR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(</a:t>
                      </a:r>
                      <a:r>
                        <a:rPr lang="ko-KR" altLang="en-US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안</a:t>
                      </a:r>
                      <a:r>
                        <a:rPr lang="en-US" altLang="ko-KR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)</a:t>
                      </a:r>
                      <a:endParaRPr lang="ko-KR" sz="1200" b="1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ko-KR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담당자</a:t>
                      </a:r>
                      <a:endParaRPr lang="ko-KR" sz="1200" b="1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5229965"/>
                  </a:ext>
                </a:extLst>
              </a:tr>
              <a:tr h="1558534"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조치</a:t>
                      </a: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</a:t>
                      </a: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계획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(Action Plan)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indent="-228600" latinLnBrk="1">
                        <a:spcAft>
                          <a:spcPts val="800"/>
                        </a:spcAft>
                        <a:buAutoNum type="arabicPeriod"/>
                      </a:pPr>
                      <a:r>
                        <a:rPr lang="en-US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DB </a:t>
                      </a:r>
                      <a:r>
                        <a:rPr lang="ko-KR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오브젝트 전수 동기화</a:t>
                      </a:r>
                      <a:endParaRPr lang="en-US" altLang="ko-KR" sz="1200" b="1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  <a:p>
                      <a:pPr marL="0" indent="0" latinLnBrk="1">
                        <a:spcAft>
                          <a:spcPts val="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    - </a:t>
                      </a: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개발계의 최신</a:t>
                      </a: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DDL(Table, View, Proc, Func)</a:t>
                      </a: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을 테스트계에 강제 적용</a:t>
                      </a: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.</a:t>
                      </a:r>
                    </a:p>
                    <a:p>
                      <a:pPr marL="0" indent="0" latinLnBrk="1">
                        <a:spcAft>
                          <a:spcPts val="0"/>
                        </a:spcAft>
                        <a:buNone/>
                      </a:pP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  <a:p>
                      <a:pPr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2. </a:t>
                      </a:r>
                      <a:r>
                        <a:rPr lang="ko-KR" altLang="en-US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권한 부여</a:t>
                      </a:r>
                      <a:endParaRPr lang="en-US" altLang="ko-KR" sz="1200" b="1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  <a:p>
                      <a:pPr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    - TEST </a:t>
                      </a: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계정 내 </a:t>
                      </a: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스키마</a:t>
                      </a: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별 </a:t>
                      </a: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권한</a:t>
                      </a: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(Grant) </a:t>
                      </a: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부여</a:t>
                      </a: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.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DA / DBA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1206888"/>
                  </a:ext>
                </a:extLst>
              </a:tr>
              <a:tr h="1435570"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재발 방지</a:t>
                      </a:r>
                    </a:p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(Prevention)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indent="-228600" latinLnBrk="1">
                        <a:spcAft>
                          <a:spcPts val="800"/>
                        </a:spcAft>
                        <a:buAutoNum type="arabicPeriod"/>
                      </a:pPr>
                      <a:r>
                        <a:rPr lang="ko-KR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배포 </a:t>
                      </a:r>
                      <a:r>
                        <a:rPr lang="ko-KR" altLang="en-US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프로세스</a:t>
                      </a:r>
                      <a:r>
                        <a:rPr lang="en-US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(CI/CD) </a:t>
                      </a:r>
                      <a:r>
                        <a:rPr lang="ko-KR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점검</a:t>
                      </a:r>
                      <a:endParaRPr lang="en-US" altLang="ko-KR" sz="1200" b="1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  <a:p>
                      <a:pPr marL="0" indent="0" latinLnBrk="1">
                        <a:spcAft>
                          <a:spcPts val="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    - </a:t>
                      </a: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소스 배포 시 관련</a:t>
                      </a: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DB </a:t>
                      </a: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스크립트가 함께 배포되는지 파이프라인 점검</a:t>
                      </a: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.</a:t>
                      </a:r>
                    </a:p>
                    <a:p>
                      <a:pPr marL="0" indent="0" latinLnBrk="1">
                        <a:spcAft>
                          <a:spcPts val="0"/>
                        </a:spcAft>
                        <a:buNone/>
                      </a:pP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  <a:p>
                      <a:pPr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2. </a:t>
                      </a:r>
                      <a:r>
                        <a:rPr lang="ko-KR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스키마 </a:t>
                      </a:r>
                      <a:r>
                        <a:rPr lang="ko-KR" altLang="en-US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권한 임의 </a:t>
                      </a:r>
                      <a:r>
                        <a:rPr lang="ko-KR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사용 금지 가이드</a:t>
                      </a:r>
                      <a:endParaRPr lang="en-US" altLang="ko-KR" sz="1200" b="1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  <a:p>
                      <a:pPr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    - </a:t>
                      </a: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쿼리 작성 시</a:t>
                      </a: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</a:t>
                      </a:r>
                      <a:r>
                        <a:rPr lang="en-US" sz="1200" kern="100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ESOWN.Table</a:t>
                      </a: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</a:t>
                      </a: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대신</a:t>
                      </a: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Table </a:t>
                      </a: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만 쓰도록 코딩 표준</a:t>
                      </a: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(Coding Standard) </a:t>
                      </a: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재교육 및 검수</a:t>
                      </a: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.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PL / AA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345032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6926658"/>
      </p:ext>
    </p:extLst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99FB4505-67A9-4236-4DF3-73953F3742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0FD9FCBC-F6F8-283B-69F4-D0511E2341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4612109"/>
              </p:ext>
            </p:extLst>
          </p:nvPr>
        </p:nvGraphicFramePr>
        <p:xfrm>
          <a:off x="768069" y="2136195"/>
          <a:ext cx="10618917" cy="3321632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1093630">
                  <a:extLst>
                    <a:ext uri="{9D8B030D-6E8A-4147-A177-3AD203B41FA5}">
                      <a16:colId xmlns:a16="http://schemas.microsoft.com/office/drawing/2014/main" val="2274574519"/>
                    </a:ext>
                  </a:extLst>
                </a:gridCol>
                <a:gridCol w="8599469">
                  <a:extLst>
                    <a:ext uri="{9D8B030D-6E8A-4147-A177-3AD203B41FA5}">
                      <a16:colId xmlns:a16="http://schemas.microsoft.com/office/drawing/2014/main" val="3501454989"/>
                    </a:ext>
                  </a:extLst>
                </a:gridCol>
                <a:gridCol w="925818">
                  <a:extLst>
                    <a:ext uri="{9D8B030D-6E8A-4147-A177-3AD203B41FA5}">
                      <a16:colId xmlns:a16="http://schemas.microsoft.com/office/drawing/2014/main" val="3157739317"/>
                    </a:ext>
                  </a:extLst>
                </a:gridCol>
              </a:tblGrid>
              <a:tr h="452420"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ko-KR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구분</a:t>
                      </a:r>
                      <a:endParaRPr lang="ko-KR" sz="1200" b="1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ko-KR" altLang="en-US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계획</a:t>
                      </a:r>
                      <a:r>
                        <a:rPr lang="ko-KR" altLang="ko-KR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안</a:t>
                      </a:r>
                      <a:r>
                        <a:rPr lang="en-US" altLang="ko-KR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(</a:t>
                      </a:r>
                      <a:r>
                        <a:rPr lang="ko-KR" altLang="en-US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안</a:t>
                      </a:r>
                      <a:r>
                        <a:rPr lang="en-US" altLang="ko-KR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)</a:t>
                      </a:r>
                      <a:endParaRPr lang="ko-KR" altLang="ko-KR" sz="1200" b="1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ko-KR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담당자</a:t>
                      </a:r>
                      <a:endParaRPr lang="ko-KR" sz="1200" b="1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5229965"/>
                  </a:ext>
                </a:extLst>
              </a:tr>
              <a:tr h="1434606"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즉시 조치</a:t>
                      </a:r>
                    </a:p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(Action Plan)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indent="-228600" latinLnBrk="1">
                        <a:spcAft>
                          <a:spcPts val="800"/>
                        </a:spcAft>
                        <a:buAutoNum type="arabicPeriod"/>
                      </a:pPr>
                      <a:r>
                        <a:rPr lang="ko-KR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데이터 생성 스크립트 첨부</a:t>
                      </a: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 </a:t>
                      </a:r>
                    </a:p>
                    <a:p>
                      <a:pPr marL="0" indent="0" latinLnBrk="1">
                        <a:spcAft>
                          <a:spcPts val="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      -  '</a:t>
                      </a: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데이터 없음</a:t>
                      </a: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'</a:t>
                      </a: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으로 반려된 결함 조치 시</a:t>
                      </a: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개발자는 반드시 </a:t>
                      </a:r>
                      <a:r>
                        <a:rPr lang="en-US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INSERT </a:t>
                      </a:r>
                      <a:r>
                        <a:rPr lang="ko-KR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구문</a:t>
                      </a: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이나 데이터 생성 가이드를 결함 조치 내역에 첨부</a:t>
                      </a: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.</a:t>
                      </a:r>
                    </a:p>
                    <a:p>
                      <a:pPr marL="0" indent="0" latinLnBrk="1">
                        <a:spcAft>
                          <a:spcPts val="0"/>
                        </a:spcAft>
                        <a:buNone/>
                      </a:pP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  <a:p>
                      <a:pPr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2. </a:t>
                      </a:r>
                      <a:r>
                        <a:rPr lang="ko-KR" sz="1200" b="1" kern="100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상태값</a:t>
                      </a:r>
                      <a:r>
                        <a:rPr lang="ko-KR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 강제 변경</a:t>
                      </a:r>
                      <a:endParaRPr lang="en-US" altLang="ko-KR" sz="1200" b="1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  <a:p>
                      <a:pPr latinLnBrk="1">
                        <a:spcAft>
                          <a:spcPts val="800"/>
                        </a:spcAft>
                        <a:buNone/>
                      </a:pPr>
                      <a:r>
                        <a:rPr lang="en-US" altLang="ko-KR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      -  </a:t>
                      </a: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테스터에게</a:t>
                      </a: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 DB </a:t>
                      </a: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직접 수정 권한이 없다면</a:t>
                      </a: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개발자가</a:t>
                      </a: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 DEAL_STAT = 'N' </a:t>
                      </a: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등으로 데이터를 임의 세팅 후 인계</a:t>
                      </a: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.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개발자</a:t>
                      </a:r>
                    </a:p>
                  </a:txBody>
                  <a:tcPr marL="9525" marR="9525" marT="9525" marB="9525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1206888"/>
                  </a:ext>
                </a:extLst>
              </a:tr>
              <a:tr h="1434606"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재발 방지</a:t>
                      </a:r>
                    </a:p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(Prevention)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indent="-228600" latinLnBrk="1">
                        <a:spcAft>
                          <a:spcPts val="800"/>
                        </a:spcAft>
                        <a:buAutoNum type="arabicPeriod"/>
                      </a:pPr>
                      <a:r>
                        <a:rPr lang="ko-KR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단위 테스트 시나리오 보완</a:t>
                      </a:r>
                      <a:endParaRPr lang="en-US" altLang="ko-KR" sz="1200" b="1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  <a:p>
                      <a:pPr marL="0" indent="0" latinLnBrk="1">
                        <a:spcAft>
                          <a:spcPts val="0"/>
                        </a:spcAft>
                        <a:buNone/>
                      </a:pPr>
                      <a:r>
                        <a:rPr lang="en-US" altLang="ko-KR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        </a:t>
                      </a: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시나리오의</a:t>
                      </a: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 [Pre-condition] </a:t>
                      </a: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항목에</a:t>
                      </a: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  "</a:t>
                      </a: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필요한 테스트 데이터 조건</a:t>
                      </a: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"</a:t>
                      </a: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을 명시화</a:t>
                      </a: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.</a:t>
                      </a:r>
                    </a:p>
                    <a:p>
                      <a:pPr marL="0" indent="0" latinLnBrk="1">
                        <a:spcAft>
                          <a:spcPts val="0"/>
                        </a:spcAft>
                        <a:buNone/>
                      </a:pP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  <a:p>
                      <a:pPr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2. </a:t>
                      </a:r>
                      <a:r>
                        <a:rPr lang="ko-KR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공통 샘플 데이터셋</a:t>
                      </a:r>
                      <a:r>
                        <a:rPr lang="en-US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(Golden Record) </a:t>
                      </a:r>
                      <a:r>
                        <a:rPr lang="ko-KR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구축</a:t>
                      </a:r>
                      <a:endParaRPr lang="en-US" altLang="ko-KR" sz="1200" b="1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  <a:p>
                      <a:pPr latinLnBrk="1">
                        <a:spcAft>
                          <a:spcPts val="800"/>
                        </a:spcAft>
                        <a:buNone/>
                      </a:pPr>
                      <a:r>
                        <a:rPr lang="en-US" altLang="ko-KR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       </a:t>
                      </a: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자주 쓰는 케이스별 표준 데이터를 만들어 </a:t>
                      </a: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사용 </a:t>
                      </a:r>
                      <a:r>
                        <a:rPr lang="ko-KR" altLang="en-US" sz="1200" kern="100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할수</a:t>
                      </a: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 있는 </a:t>
                      </a: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Script</a:t>
                      </a: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등을 관리하여 수시 </a:t>
                      </a: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Test Record </a:t>
                      </a: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생성 할 수 있도록 </a:t>
                      </a: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사용</a:t>
                      </a: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.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테스트</a:t>
                      </a: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 PL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34503240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0114396C-BB35-78B6-2900-4D1A8C62CE6B}"/>
              </a:ext>
            </a:extLst>
          </p:cNvPr>
          <p:cNvSpPr txBox="1"/>
          <p:nvPr/>
        </p:nvSpPr>
        <p:spPr>
          <a:xfrm>
            <a:off x="703102" y="900554"/>
            <a:ext cx="10711592" cy="10361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 latinLnBrk="1">
              <a:buAutoNum type="arabicParenR" startAt="2"/>
            </a:pPr>
            <a:r>
              <a:rPr lang="ko-KR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테스트 데이터 미흡</a:t>
            </a:r>
            <a:r>
              <a:rPr lang="en-US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(</a:t>
            </a:r>
            <a:r>
              <a:rPr lang="ko-KR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조건 충족 데이터 없음</a:t>
            </a:r>
            <a:r>
              <a:rPr lang="en-US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) </a:t>
            </a:r>
          </a:p>
          <a:p>
            <a:pPr marL="228600" indent="-228600" latinLnBrk="1">
              <a:spcAft>
                <a:spcPts val="800"/>
              </a:spcAft>
              <a:buAutoNum type="arabicParenR" startAt="2"/>
            </a:pPr>
            <a:endParaRPr lang="ko-KR" altLang="ko-KR" sz="1200" kern="100" dirty="0"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  <a:p>
            <a:pPr marL="342900" lvl="0" indent="-342900" latinLnBrk="1"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ko-KR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현상</a:t>
            </a:r>
            <a:r>
              <a:rPr lang="en-US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: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"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조건에 맞는 데이터 없음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", "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버튼 비활성화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", "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조회 결과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0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건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".</a:t>
            </a:r>
            <a:endParaRPr lang="ko-KR" altLang="ko-KR" sz="1200" kern="100" dirty="0"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  <a:p>
            <a:pPr marL="342900" lvl="0" indent="-342900" latinLnBrk="1"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ko-KR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원인</a:t>
            </a:r>
            <a:r>
              <a:rPr lang="en-US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: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개발자가 기능 구현 시 사용한 초기 데이터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(Initial Data)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가 테스트계에 이관되지 않음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.</a:t>
            </a:r>
            <a:endParaRPr lang="ko-KR" altLang="ko-KR" sz="1200" kern="100" dirty="0"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15C16C8E-8C5C-445B-9CAD-2BE8221E8D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892" y="91161"/>
            <a:ext cx="5652516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indent="-354013" defTabSz="957743">
              <a:defRPr sz="2200" spc="-11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9pPr>
          </a:lstStyle>
          <a:p>
            <a:pPr latinLnBrk="0">
              <a:defRPr/>
            </a:pPr>
            <a:r>
              <a:rPr kumimoji="0" lang="ko-KR" altLang="en-US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  <a:r>
              <a:rPr kumimoji="0" lang="en-US" altLang="ko-KR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II – 5. </a:t>
            </a:r>
            <a:r>
              <a:rPr lang="ko-KR" altLang="ko-KR" sz="20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결함 </a:t>
            </a:r>
            <a:r>
              <a:rPr lang="ko-KR" altLang="ko-KR" sz="2000" b="1" kern="100" dirty="0" err="1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원인별</a:t>
            </a:r>
            <a:r>
              <a:rPr lang="ko-KR" altLang="ko-KR" sz="20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조치 계획 및 재발 방지 방안</a:t>
            </a:r>
            <a:endParaRPr lang="ko-KR" altLang="ko-KR" sz="2000" kern="100" dirty="0"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  <a:p>
            <a:pPr lvl="0" latinLnBrk="0">
              <a:defRPr/>
            </a:pPr>
            <a:endParaRPr kumimoji="0" lang="en-US" altLang="ko-KR" sz="2000" b="1" i="0" u="none" strike="noStrike" kern="1200" cap="none" spc="-11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086863720"/>
      </p:ext>
    </p:extLst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6C8F2477-8D5C-0C44-F68C-5E35E5096A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67E9F424-D81D-B996-3BAC-2ABEA552BF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892" y="91161"/>
            <a:ext cx="5652516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indent="-354013" defTabSz="957743">
              <a:defRPr sz="2200" spc="-11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9pPr>
          </a:lstStyle>
          <a:p>
            <a:pPr latinLnBrk="0">
              <a:defRPr/>
            </a:pPr>
            <a:r>
              <a:rPr kumimoji="0" lang="ko-KR" altLang="en-US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  <a:r>
              <a:rPr kumimoji="0" lang="en-US" altLang="ko-KR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II – 4. </a:t>
            </a:r>
            <a:r>
              <a:rPr lang="ko-KR" altLang="ko-KR" sz="20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결함 </a:t>
            </a:r>
            <a:r>
              <a:rPr lang="ko-KR" altLang="en-US" sz="20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원인 </a:t>
            </a:r>
            <a:r>
              <a:rPr lang="ko-KR" altLang="ko-KR" sz="20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분석</a:t>
            </a:r>
            <a:r>
              <a:rPr lang="en-US" altLang="ko-KR" sz="20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– </a:t>
            </a:r>
            <a:r>
              <a:rPr lang="ko-KR" altLang="en-US" sz="20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결함 유형별</a:t>
            </a:r>
            <a:endParaRPr kumimoji="0" lang="en-US" altLang="ko-KR" sz="2000" b="1" i="0" u="none" strike="noStrike" kern="1200" cap="none" spc="-11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CB0FA4-253E-4D9E-9208-2FB103B22E45}"/>
              </a:ext>
            </a:extLst>
          </p:cNvPr>
          <p:cNvSpPr/>
          <p:nvPr/>
        </p:nvSpPr>
        <p:spPr>
          <a:xfrm>
            <a:off x="772191" y="951809"/>
            <a:ext cx="2881300" cy="74178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9DF25C5-76B6-4CD1-8A07-4C02AB6EDE3F}"/>
              </a:ext>
            </a:extLst>
          </p:cNvPr>
          <p:cNvSpPr/>
          <p:nvPr/>
        </p:nvSpPr>
        <p:spPr>
          <a:xfrm>
            <a:off x="772190" y="2586500"/>
            <a:ext cx="2881300" cy="271342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D39E8A3-A221-4DE6-902F-557E2C57EC9A}"/>
              </a:ext>
            </a:extLst>
          </p:cNvPr>
          <p:cNvSpPr/>
          <p:nvPr/>
        </p:nvSpPr>
        <p:spPr>
          <a:xfrm>
            <a:off x="3717601" y="951809"/>
            <a:ext cx="5374582" cy="74178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0CBA773-86FD-46EF-8111-3C815CF1667F}"/>
              </a:ext>
            </a:extLst>
          </p:cNvPr>
          <p:cNvSpPr/>
          <p:nvPr/>
        </p:nvSpPr>
        <p:spPr>
          <a:xfrm>
            <a:off x="3717601" y="2586501"/>
            <a:ext cx="2599362" cy="271342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14898B2-B906-4D7E-AAAD-ABD739AC8A22}"/>
              </a:ext>
            </a:extLst>
          </p:cNvPr>
          <p:cNvSpPr/>
          <p:nvPr/>
        </p:nvSpPr>
        <p:spPr>
          <a:xfrm>
            <a:off x="6348470" y="2586500"/>
            <a:ext cx="2743713" cy="271342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298BAF1-16A1-4310-9D82-5CCFEBBDA009}"/>
              </a:ext>
            </a:extLst>
          </p:cNvPr>
          <p:cNvSpPr/>
          <p:nvPr/>
        </p:nvSpPr>
        <p:spPr>
          <a:xfrm>
            <a:off x="9142205" y="951809"/>
            <a:ext cx="2423828" cy="74178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A84AB4C-A1C3-44F2-9550-6B692ABD3968}"/>
              </a:ext>
            </a:extLst>
          </p:cNvPr>
          <p:cNvSpPr/>
          <p:nvPr/>
        </p:nvSpPr>
        <p:spPr>
          <a:xfrm>
            <a:off x="9142204" y="2586501"/>
            <a:ext cx="2423827" cy="271342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Rectangle 1">
            <a:extLst>
              <a:ext uri="{FF2B5EF4-FFF2-40B4-BE49-F238E27FC236}">
                <a16:creationId xmlns:a16="http://schemas.microsoft.com/office/drawing/2014/main" id="{238AAAD0-8376-4BDE-BF59-6B36CCAA83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51093" y="1364046"/>
            <a:ext cx="789471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Tx/>
              <a:buSzTx/>
              <a:buFontTx/>
              <a:buNone/>
              <a:tabLst/>
            </a:pPr>
            <a:r>
              <a:rPr lang="en-US" altLang="ko-KR" sz="1200" b="1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35.1 </a:t>
            </a:r>
            <a:r>
              <a:rPr kumimoji="0" lang="en-US" altLang="ko-K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%</a:t>
            </a:r>
            <a:endParaRPr kumimoji="0" lang="en-US" altLang="ko-K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20" name="Rectangle 1">
            <a:extLst>
              <a:ext uri="{FF2B5EF4-FFF2-40B4-BE49-F238E27FC236}">
                <a16:creationId xmlns:a16="http://schemas.microsoft.com/office/drawing/2014/main" id="{67AC2A04-1CCD-4F50-B452-86F74B25D0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92774" y="1364046"/>
            <a:ext cx="96011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Tx/>
              <a:buSzTx/>
              <a:buFontTx/>
              <a:buNone/>
              <a:tabLst/>
            </a:pPr>
            <a:r>
              <a:rPr kumimoji="0" lang="en-US" altLang="ko-K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58.4 %</a:t>
            </a:r>
            <a:endParaRPr kumimoji="0" lang="en-US" altLang="ko-K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21" name="Rectangle 1">
            <a:extLst>
              <a:ext uri="{FF2B5EF4-FFF2-40B4-BE49-F238E27FC236}">
                <a16:creationId xmlns:a16="http://schemas.microsoft.com/office/drawing/2014/main" id="{C71FAC8C-03D8-4E8D-9360-AE120FD17F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71867" y="1364046"/>
            <a:ext cx="810549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Tx/>
              <a:buSzTx/>
              <a:buFontTx/>
              <a:buNone/>
              <a:tabLst/>
            </a:pPr>
            <a:r>
              <a:rPr lang="en-US" altLang="ko-KR" sz="1200" b="1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6.5 </a:t>
            </a:r>
            <a:r>
              <a:rPr kumimoji="0" lang="en-US" altLang="ko-K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%</a:t>
            </a:r>
            <a:endParaRPr kumimoji="0" lang="en-US" altLang="ko-K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2F51C79-F089-4BB9-AD8C-A5FABE907FA4}"/>
              </a:ext>
            </a:extLst>
          </p:cNvPr>
          <p:cNvSpPr txBox="1"/>
          <p:nvPr/>
        </p:nvSpPr>
        <p:spPr>
          <a:xfrm>
            <a:off x="672905" y="973277"/>
            <a:ext cx="308375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400" b="1" kern="100" dirty="0"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Times New Roman" panose="02020603050405020304" pitchFamily="18" charset="0"/>
              </a:rPr>
              <a:t>환경적 </a:t>
            </a:r>
            <a:r>
              <a:rPr lang="en-US" altLang="ko-KR" sz="1400" b="1" kern="100" dirty="0"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Times New Roman" panose="02020603050405020304" pitchFamily="18" charset="0"/>
              </a:rPr>
              <a:t>Issue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E73475C-044F-488A-B9A3-1D9427906773}"/>
              </a:ext>
            </a:extLst>
          </p:cNvPr>
          <p:cNvSpPr txBox="1"/>
          <p:nvPr/>
        </p:nvSpPr>
        <p:spPr>
          <a:xfrm>
            <a:off x="5009599" y="992905"/>
            <a:ext cx="28114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400" b="1" kern="100" dirty="0">
                <a:latin typeface="KoPub돋움체 Medium" panose="00000600000000000000" pitchFamily="2" charset="-127"/>
                <a:ea typeface="KoPub돋움체 Medium" panose="00000600000000000000" pitchFamily="2" charset="-127"/>
                <a:cs typeface="Times New Roman" panose="02020603050405020304" pitchFamily="18" charset="0"/>
              </a:rPr>
              <a:t>시나리오 기반 기능 결함</a:t>
            </a:r>
            <a:endParaRPr lang="en-US" altLang="ko-KR" sz="1400" b="1" kern="100" dirty="0">
              <a:effectLst/>
              <a:latin typeface="KoPub돋움체 Medium" panose="00000600000000000000" pitchFamily="2" charset="-127"/>
              <a:ea typeface="KoPub돋움체 Medium" panose="00000600000000000000" pitchFamily="2" charset="-127"/>
              <a:cs typeface="Times New Roman" panose="02020603050405020304" pitchFamily="18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891A3A3-DC16-40FD-B9DE-9A1965E8AEEE}"/>
              </a:ext>
            </a:extLst>
          </p:cNvPr>
          <p:cNvSpPr txBox="1"/>
          <p:nvPr/>
        </p:nvSpPr>
        <p:spPr>
          <a:xfrm>
            <a:off x="9640621" y="991397"/>
            <a:ext cx="140318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4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기타</a:t>
            </a:r>
            <a:endParaRPr lang="en-US" altLang="ko-KR" sz="1400" b="1" kern="100" dirty="0">
              <a:effectLst/>
              <a:latin typeface="KoPub돋움체 Medium" panose="00000600000000000000" pitchFamily="2" charset="-127"/>
              <a:ea typeface="KoPub돋움체 Medium" panose="00000600000000000000" pitchFamily="2" charset="-127"/>
              <a:cs typeface="Times New Roman" panose="02020603050405020304" pitchFamily="18" charset="0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606AF213-2824-432F-9155-F813D2D59837}"/>
              </a:ext>
            </a:extLst>
          </p:cNvPr>
          <p:cNvSpPr/>
          <p:nvPr/>
        </p:nvSpPr>
        <p:spPr>
          <a:xfrm>
            <a:off x="772190" y="1711194"/>
            <a:ext cx="2881300" cy="80857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lvl="0" indent="-342900" latinLnBrk="1"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ko-KR" altLang="ko-KR" sz="1800" kern="10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개발</a:t>
            </a:r>
            <a:r>
              <a:rPr lang="en-US" altLang="ko-KR" sz="1800" kern="10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/</a:t>
            </a:r>
            <a:r>
              <a:rPr lang="ko-KR" altLang="ko-KR" sz="1800" kern="10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테스트</a:t>
            </a:r>
            <a:r>
              <a:rPr lang="en-US" altLang="ko-KR" sz="1800" kern="10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DB </a:t>
            </a:r>
            <a:r>
              <a:rPr lang="ko-KR" altLang="ko-KR" sz="1800" kern="10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환경 불일치</a:t>
            </a:r>
            <a:r>
              <a:rPr lang="en-US" altLang="ko-KR" sz="1800" kern="10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(Environment Mismatch)</a:t>
            </a:r>
            <a:endParaRPr lang="ko-KR" altLang="ko-KR" sz="1800" kern="100" dirty="0"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C2CAAE75-8A74-4964-9E68-8A1D0F3368BA}"/>
              </a:ext>
            </a:extLst>
          </p:cNvPr>
          <p:cNvSpPr/>
          <p:nvPr/>
        </p:nvSpPr>
        <p:spPr>
          <a:xfrm>
            <a:off x="3717601" y="1711194"/>
            <a:ext cx="2599362" cy="80857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1CEE817D-0F77-4A68-837B-7F7F4D35D9BF}"/>
              </a:ext>
            </a:extLst>
          </p:cNvPr>
          <p:cNvSpPr/>
          <p:nvPr/>
        </p:nvSpPr>
        <p:spPr>
          <a:xfrm>
            <a:off x="6348470" y="1711194"/>
            <a:ext cx="2743713" cy="80857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DF7D4D8E-BB1F-49E5-A5D2-1140041927DE}"/>
              </a:ext>
            </a:extLst>
          </p:cNvPr>
          <p:cNvSpPr/>
          <p:nvPr/>
        </p:nvSpPr>
        <p:spPr>
          <a:xfrm>
            <a:off x="9142204" y="1711194"/>
            <a:ext cx="2423827" cy="80857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7C64D22-A0D8-4A36-A030-DB601147F5EC}"/>
              </a:ext>
            </a:extLst>
          </p:cNvPr>
          <p:cNvSpPr txBox="1"/>
          <p:nvPr/>
        </p:nvSpPr>
        <p:spPr>
          <a:xfrm>
            <a:off x="319521" y="1805829"/>
            <a:ext cx="601209" cy="5642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latinLnBrk="1"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ko-KR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주요</a:t>
            </a:r>
            <a:endParaRPr lang="en-US" altLang="ko-KR" sz="1200" b="1" kern="100" dirty="0"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  <a:p>
            <a:pPr lvl="0" latinLnBrk="1"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ko-KR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원인</a:t>
            </a:r>
            <a:endParaRPr lang="ko-KR" altLang="ko-KR" sz="1200" kern="100" dirty="0"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B8A82F7-6697-4CF4-89AF-39877E57C4E4}"/>
              </a:ext>
            </a:extLst>
          </p:cNvPr>
          <p:cNvSpPr txBox="1"/>
          <p:nvPr/>
        </p:nvSpPr>
        <p:spPr>
          <a:xfrm>
            <a:off x="1005474" y="1839527"/>
            <a:ext cx="2431748" cy="5642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 latinLnBrk="1"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ko-KR" altLang="en-US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개발 ↔ 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테스트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환경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: </a:t>
            </a:r>
            <a:r>
              <a:rPr lang="ko-KR" altLang="en-US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권한 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불일치</a:t>
            </a:r>
            <a:endParaRPr lang="en-US" altLang="ko-KR" sz="1200" kern="100" dirty="0"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  <a:p>
            <a:pPr lvl="0" algn="ctr" latinLnBrk="1"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(Environment Mismatch)</a:t>
            </a:r>
            <a:endParaRPr lang="ko-KR" altLang="ko-KR" sz="1200" kern="100" dirty="0"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06D63F6-9FFF-4E60-A855-B6ABB9F4CEA7}"/>
              </a:ext>
            </a:extLst>
          </p:cNvPr>
          <p:cNvSpPr txBox="1"/>
          <p:nvPr/>
        </p:nvSpPr>
        <p:spPr>
          <a:xfrm>
            <a:off x="319521" y="2864743"/>
            <a:ext cx="775372" cy="5642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latinLnBrk="1"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ko-KR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현상</a:t>
            </a:r>
            <a:endParaRPr lang="en-US" altLang="ko-KR" sz="1200" b="1" kern="100" dirty="0"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  <a:p>
            <a:pPr lvl="0" latinLnBrk="1"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ko-KR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상세</a:t>
            </a:r>
            <a:endParaRPr lang="en-US" altLang="ko-KR" sz="1200" kern="100" dirty="0"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579F490-E5BC-47B4-9FB5-A745F22CA7B5}"/>
              </a:ext>
            </a:extLst>
          </p:cNvPr>
          <p:cNvSpPr txBox="1"/>
          <p:nvPr/>
        </p:nvSpPr>
        <p:spPr>
          <a:xfrm>
            <a:off x="828749" y="2632663"/>
            <a:ext cx="2811122" cy="2104028"/>
          </a:xfrm>
          <a:prstGeom prst="rect">
            <a:avLst/>
          </a:prstGeom>
          <a:noFill/>
        </p:spPr>
        <p:txBody>
          <a:bodyPr wrap="square" lIns="72000" tIns="36000" rIns="72000" bIns="36000">
            <a:spAutoFit/>
          </a:bodyPr>
          <a:lstStyle/>
          <a:p>
            <a:pPr marL="0" lvl="1" indent="-285750" latinLnBrk="1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Schema Name Missing</a:t>
            </a:r>
          </a:p>
          <a:p>
            <a:pPr marL="0" lvl="1" latinLnBrk="1">
              <a:buSzPts val="1000"/>
              <a:tabLst>
                <a:tab pos="914400" algn="l"/>
              </a:tabLst>
            </a:pP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     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쿼리문에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ESOWN.TABLE 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처럼 스키마를 명시하지 않아 실행 불가하거나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, 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반대로 로컬 스키마가 하드코딩 되어 권한 오류 발생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(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예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: UT-ES-SP8 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등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WES 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모듈 다수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).</a:t>
            </a:r>
          </a:p>
          <a:p>
            <a:pPr marL="0" lvl="1" latinLnBrk="1">
              <a:buSzPts val="1000"/>
              <a:tabLst>
                <a:tab pos="914400" algn="l"/>
              </a:tabLst>
            </a:pPr>
            <a:endParaRPr lang="en-US" altLang="ko-KR" sz="1200" kern="100" dirty="0"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  <a:p>
            <a:pPr marL="0" lvl="1" indent="-285750" latinLnBrk="1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Object Not Found</a:t>
            </a:r>
          </a:p>
          <a:p>
            <a:pPr marL="0" lvl="1" latinLnBrk="1">
              <a:buSzPts val="1000"/>
              <a:tabLst>
                <a:tab pos="914400" algn="l"/>
              </a:tabLst>
            </a:pPr>
            <a:r>
              <a:rPr lang="en-US" altLang="ko-KR" sz="1200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    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테이블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, 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뷰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, 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프로시저가 테스트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DB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에 배포되지 않았거나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Synonym 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설정이 누락됨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(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예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: UT-FP-SP188).</a:t>
            </a:r>
          </a:p>
          <a:p>
            <a:pPr marL="0" lvl="1" latinLnBrk="1">
              <a:buSzPts val="1000"/>
              <a:tabLst>
                <a:tab pos="914400" algn="l"/>
              </a:tabLst>
            </a:pPr>
            <a:endParaRPr lang="en-US" altLang="ko-KR" sz="1200" kern="100" dirty="0"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EE044E2-023C-4822-A36C-5624A32FCC56}"/>
              </a:ext>
            </a:extLst>
          </p:cNvPr>
          <p:cNvSpPr txBox="1"/>
          <p:nvPr/>
        </p:nvSpPr>
        <p:spPr>
          <a:xfrm>
            <a:off x="3947733" y="1850839"/>
            <a:ext cx="2123732" cy="5642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 latinLnBrk="1"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ko-KR" altLang="en-US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테스트 데이터 준비 미흡</a:t>
            </a:r>
            <a:endParaRPr lang="en-US" altLang="ko-KR" sz="1200" kern="100" dirty="0"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  <a:p>
            <a:pPr lvl="0" algn="ctr" latinLnBrk="1"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ko-KR" altLang="en-US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(Test Data)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578E51C-5925-4881-8F61-ABE00F1052B3}"/>
              </a:ext>
            </a:extLst>
          </p:cNvPr>
          <p:cNvSpPr txBox="1"/>
          <p:nvPr/>
        </p:nvSpPr>
        <p:spPr>
          <a:xfrm>
            <a:off x="3745850" y="2653211"/>
            <a:ext cx="2599362" cy="1365365"/>
          </a:xfrm>
          <a:prstGeom prst="rect">
            <a:avLst/>
          </a:prstGeom>
          <a:noFill/>
        </p:spPr>
        <p:txBody>
          <a:bodyPr wrap="square" lIns="72000" tIns="36000" rIns="72000" bIns="36000">
            <a:spAutoFit/>
          </a:bodyPr>
          <a:lstStyle/>
          <a:p>
            <a:pPr marL="0" lvl="1" indent="-285750" latinLnBrk="1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ko-KR" altLang="en-US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테스트를 수행할 기초 데이터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(Pre-condition)</a:t>
            </a:r>
            <a:r>
              <a:rPr lang="ko-KR" altLang="en-US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가 없어 조회가 안되거나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, </a:t>
            </a:r>
            <a:r>
              <a:rPr lang="ko-KR" altLang="en-US" sz="1200" kern="100" dirty="0" err="1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조호</a:t>
            </a:r>
            <a:r>
              <a:rPr lang="ko-KR" altLang="en-US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결과가 빈 값임</a:t>
            </a:r>
            <a:endParaRPr lang="en-US" altLang="ko-KR" sz="1200" kern="100" dirty="0"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  <a:p>
            <a:pPr marL="0" lvl="1" indent="-285750" latinLnBrk="1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endParaRPr lang="en-US" altLang="ko-KR" sz="1200" kern="100" dirty="0"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  <a:p>
            <a:pPr marL="0" lvl="1" indent="-285750" latinLnBrk="1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ko-KR" altLang="en-US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버튼이 비활성화됨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. </a:t>
            </a:r>
          </a:p>
          <a:p>
            <a:pPr marL="0" lvl="1" latinLnBrk="1">
              <a:buSzPts val="1000"/>
              <a:tabLst>
                <a:tab pos="914400" algn="l"/>
              </a:tabLst>
            </a:pPr>
            <a:r>
              <a:rPr lang="en-US" altLang="ko-KR" sz="1200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     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(</a:t>
            </a:r>
            <a:r>
              <a:rPr lang="ko-KR" altLang="en-US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예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: "</a:t>
            </a:r>
            <a:r>
              <a:rPr lang="ko-KR" altLang="en-US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조건에 맞는 데이터 없음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", "DEAL_STAT </a:t>
            </a:r>
            <a:r>
              <a:rPr lang="ko-KR" altLang="en-US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값 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N</a:t>
            </a:r>
            <a:r>
              <a:rPr lang="ko-KR" altLang="en-US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인 데이터 필요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")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D3A8317-2B34-4A66-B344-988C4A24D2EA}"/>
              </a:ext>
            </a:extLst>
          </p:cNvPr>
          <p:cNvSpPr txBox="1"/>
          <p:nvPr/>
        </p:nvSpPr>
        <p:spPr>
          <a:xfrm>
            <a:off x="6681057" y="1841603"/>
            <a:ext cx="2123732" cy="5642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 latinLnBrk="1"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ko-KR" altLang="en-US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로직 및 데이터 정합성 오류</a:t>
            </a:r>
            <a:endParaRPr lang="en-US" altLang="ko-KR" sz="1200" kern="100" dirty="0"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  <a:p>
            <a:pPr lvl="0" algn="ctr" latinLnBrk="1"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(Logic)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BCAC608-7419-48C5-864B-911CA21597AE}"/>
              </a:ext>
            </a:extLst>
          </p:cNvPr>
          <p:cNvSpPr txBox="1"/>
          <p:nvPr/>
        </p:nvSpPr>
        <p:spPr>
          <a:xfrm>
            <a:off x="6396144" y="2653211"/>
            <a:ext cx="2639645" cy="2288694"/>
          </a:xfrm>
          <a:prstGeom prst="rect">
            <a:avLst/>
          </a:prstGeom>
          <a:noFill/>
        </p:spPr>
        <p:txBody>
          <a:bodyPr wrap="square" lIns="72000" tIns="36000" rIns="72000" bIns="36000">
            <a:spAutoFit/>
          </a:bodyPr>
          <a:lstStyle/>
          <a:p>
            <a:pPr marL="0" lvl="1" indent="-285750" latinLnBrk="1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ko-KR" altLang="en-US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리포트 집계</a:t>
            </a:r>
            <a:endParaRPr lang="en-US" altLang="ko-KR" sz="1200" kern="100" dirty="0"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  <a:p>
            <a:pPr marL="0" lvl="1" latinLnBrk="1">
              <a:buSzPts val="1000"/>
              <a:tabLst>
                <a:tab pos="914400" algn="l"/>
              </a:tabLst>
            </a:pPr>
            <a:r>
              <a:rPr lang="en-US" altLang="ko-KR" sz="1200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     </a:t>
            </a:r>
            <a:r>
              <a:rPr lang="ko-KR" altLang="en-US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전체 합계와 상세 합계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(T1+T2)</a:t>
            </a:r>
            <a:r>
              <a:rPr lang="ko-KR" altLang="en-US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가 일치하지 않음 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(GO </a:t>
            </a:r>
            <a:r>
              <a:rPr lang="ko-KR" altLang="en-US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모듈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)</a:t>
            </a:r>
          </a:p>
          <a:p>
            <a:pPr marL="0" lvl="1" latinLnBrk="1">
              <a:buSzPts val="1000"/>
              <a:tabLst>
                <a:tab pos="914400" algn="l"/>
              </a:tabLst>
            </a:pPr>
            <a:endParaRPr lang="en-US" altLang="ko-KR" sz="1200" kern="100" dirty="0"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  <a:p>
            <a:pPr marL="0" lvl="1" indent="-285750" latinLnBrk="1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ko-KR" altLang="en-US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조회 범위</a:t>
            </a:r>
            <a:endParaRPr lang="en-US" altLang="ko-KR" sz="1200" kern="100" dirty="0"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  <a:p>
            <a:pPr marL="0" lvl="1" latinLnBrk="1">
              <a:buSzPts val="1000"/>
              <a:tabLst>
                <a:tab pos="914400" algn="l"/>
              </a:tabLst>
            </a:pPr>
            <a:r>
              <a:rPr lang="en-US" altLang="ko-KR" sz="1200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     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</a:t>
            </a:r>
            <a:r>
              <a:rPr lang="ko-KR" altLang="en-US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미래 날짜 데이터가 실적에 포함되거나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, 1900</a:t>
            </a:r>
            <a:r>
              <a:rPr lang="ko-KR" altLang="en-US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년 데이터가 조회되는 등 필터링 로직 부재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.</a:t>
            </a:r>
          </a:p>
          <a:p>
            <a:pPr marL="0" lvl="1" latinLnBrk="1">
              <a:buSzPts val="1000"/>
              <a:tabLst>
                <a:tab pos="914400" algn="l"/>
              </a:tabLst>
            </a:pPr>
            <a:endParaRPr lang="en-US" altLang="ko-KR" sz="1200" kern="100" dirty="0"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  <a:p>
            <a:pPr marL="0" lvl="1" indent="-285750" latinLnBrk="1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ko-KR" altLang="en-US" sz="1200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기능 누락</a:t>
            </a:r>
            <a:endParaRPr lang="en-US" altLang="ko-KR" sz="1200" kern="100" dirty="0"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  <a:p>
            <a:pPr marL="0" lvl="1" latinLnBrk="1">
              <a:buSzPts val="1000"/>
              <a:tabLst>
                <a:tab pos="914400" algn="l"/>
              </a:tabLst>
            </a:pPr>
            <a:r>
              <a:rPr lang="en-US" altLang="ko-KR" sz="1200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    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</a:t>
            </a:r>
            <a:r>
              <a:rPr lang="ko-KR" altLang="en-US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엑셀로 다운로드시  </a:t>
            </a:r>
            <a:r>
              <a:rPr lang="ko-KR" altLang="en-US" sz="1200" kern="100" dirty="0" err="1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채번번호</a:t>
            </a:r>
            <a:r>
              <a:rPr lang="ko-KR" altLang="en-US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보이지 않음  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(FS </a:t>
            </a:r>
            <a:r>
              <a:rPr lang="ko-KR" altLang="en-US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모듈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12B2C52-C30D-49FF-873E-447CC4130651}"/>
              </a:ext>
            </a:extLst>
          </p:cNvPr>
          <p:cNvSpPr txBox="1"/>
          <p:nvPr/>
        </p:nvSpPr>
        <p:spPr>
          <a:xfrm>
            <a:off x="9220699" y="1821055"/>
            <a:ext cx="2059940" cy="5642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lvl="0" indent="-171450" latinLnBrk="1">
              <a:spcAft>
                <a:spcPts val="800"/>
              </a:spcAft>
              <a:buSzPts val="1000"/>
              <a:buFont typeface="Wingdings" panose="05000000000000000000" pitchFamily="2" charset="2"/>
              <a:buChar char="ü"/>
              <a:tabLst>
                <a:tab pos="457200" algn="l"/>
              </a:tabLst>
            </a:pPr>
            <a:r>
              <a:rPr lang="ko-KR" altLang="en-US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</a:t>
            </a:r>
            <a:r>
              <a:rPr lang="ko-KR" altLang="en-US" sz="1200" kern="100" dirty="0" err="1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공통체크리스트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</a:t>
            </a:r>
            <a:r>
              <a:rPr lang="ko-KR" altLang="ko-KR" sz="1200" kern="100" dirty="0" err="1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미준수</a:t>
            </a:r>
            <a:endParaRPr lang="en-US" altLang="ko-KR" sz="1200" kern="100" dirty="0"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  <a:p>
            <a:pPr marL="171450" lvl="0" indent="-171450" latinLnBrk="1">
              <a:spcAft>
                <a:spcPts val="800"/>
              </a:spcAft>
              <a:buSzPts val="1000"/>
              <a:buFont typeface="Wingdings" panose="05000000000000000000" pitchFamily="2" charset="2"/>
              <a:buChar char="ü"/>
              <a:tabLst>
                <a:tab pos="457200" algn="l"/>
              </a:tabLst>
            </a:pPr>
            <a:r>
              <a:rPr lang="en-US" altLang="ko-KR" sz="1200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</a:t>
            </a:r>
            <a:r>
              <a:rPr lang="ko-KR" altLang="en-US" sz="1200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결함 </a:t>
            </a:r>
            <a:r>
              <a:rPr lang="ko-KR" altLang="en-US" sz="1200" kern="100" dirty="0" err="1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오기입</a:t>
            </a:r>
            <a:endParaRPr lang="en-US" altLang="ko-KR" sz="1200" kern="100" dirty="0"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A0DAD3A-F446-4790-BF69-7BDFA07C554E}"/>
              </a:ext>
            </a:extLst>
          </p:cNvPr>
          <p:cNvSpPr txBox="1"/>
          <p:nvPr/>
        </p:nvSpPr>
        <p:spPr>
          <a:xfrm>
            <a:off x="9169913" y="2641902"/>
            <a:ext cx="2396118" cy="2658026"/>
          </a:xfrm>
          <a:prstGeom prst="rect">
            <a:avLst/>
          </a:prstGeom>
          <a:noFill/>
        </p:spPr>
        <p:txBody>
          <a:bodyPr wrap="square" lIns="72000" tIns="36000" rIns="72000" bIns="36000">
            <a:spAutoFit/>
          </a:bodyPr>
          <a:lstStyle/>
          <a:p>
            <a:pPr marL="0" lvl="1" indent="-285750" latinLnBrk="1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필수 </a:t>
            </a:r>
            <a:r>
              <a:rPr lang="ko-KR" altLang="ko-KR" sz="1200" kern="100" dirty="0" err="1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입력값의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라벨 색상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(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파란색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/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주황색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) </a:t>
            </a:r>
            <a:r>
              <a:rPr lang="ko-KR" altLang="ko-KR" sz="1200" kern="100" dirty="0" err="1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오표기</a:t>
            </a:r>
            <a:endParaRPr lang="en-US" altLang="ko-KR" sz="1200" kern="100" dirty="0"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  <a:p>
            <a:pPr marL="0" lvl="1" indent="-285750" latinLnBrk="1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endParaRPr lang="en-US" altLang="ko-KR" sz="1200" kern="100" dirty="0"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  <a:p>
            <a:pPr marL="0" lvl="1" indent="-285750" latinLnBrk="1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해상도에 따른 버튼 </a:t>
            </a:r>
            <a:r>
              <a:rPr lang="ko-KR" altLang="ko-KR" sz="1200" kern="100" dirty="0" err="1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짤림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(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노트북 화면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)</a:t>
            </a:r>
          </a:p>
          <a:p>
            <a:pPr marL="0" lvl="1" indent="-285750" latinLnBrk="1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endParaRPr lang="en-US" altLang="ko-KR" sz="1200" kern="100" dirty="0"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  <a:p>
            <a:pPr marL="0" lvl="1" indent="-285750" latinLnBrk="1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특수문자 입력 제한 미비</a:t>
            </a:r>
            <a:endParaRPr lang="en-US" altLang="ko-KR" sz="1200" kern="100" dirty="0"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  <a:p>
            <a:pPr marL="0" lvl="1" indent="-285750" latinLnBrk="1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endParaRPr lang="en-US" altLang="ko-KR" sz="1200" kern="100" dirty="0"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  <a:p>
            <a:pPr marL="0" lvl="1" indent="-285750" latinLnBrk="1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ko-KR" altLang="en-US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테스트결과서 상 데이터 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INSERT </a:t>
            </a:r>
            <a:r>
              <a:rPr lang="ko-KR" altLang="en-US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후 확인하는 테이블이 달라서 조회 불가 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(</a:t>
            </a:r>
            <a:r>
              <a:rPr lang="ko-KR" altLang="en-US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쿼리 업데이트 필요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) </a:t>
            </a:r>
          </a:p>
          <a:p>
            <a:pPr marL="0" lvl="1" latinLnBrk="1">
              <a:buSzPts val="1000"/>
              <a:tabLst>
                <a:tab pos="914400" algn="l"/>
              </a:tabLst>
            </a:pPr>
            <a:r>
              <a:rPr lang="en-US" altLang="ko-KR" sz="1200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→ </a:t>
            </a:r>
            <a:r>
              <a:rPr lang="ko-KR" altLang="en-US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확인 결과 순서 맞는 것으로 확인되었습니다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. (</a:t>
            </a:r>
            <a:r>
              <a:rPr lang="ko-KR" altLang="en-US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해당 내용 무시해도 됩니다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.)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C8D5C916-681B-4A72-B09E-0E5A8705E474}"/>
              </a:ext>
            </a:extLst>
          </p:cNvPr>
          <p:cNvSpPr/>
          <p:nvPr/>
        </p:nvSpPr>
        <p:spPr>
          <a:xfrm>
            <a:off x="772190" y="5340419"/>
            <a:ext cx="2881300" cy="111276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E2DCB66-E03E-44F4-9161-7623424439F6}"/>
              </a:ext>
            </a:extLst>
          </p:cNvPr>
          <p:cNvSpPr txBox="1"/>
          <p:nvPr/>
        </p:nvSpPr>
        <p:spPr>
          <a:xfrm>
            <a:off x="828749" y="5410290"/>
            <a:ext cx="2811122" cy="5642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>
              <a:spcAft>
                <a:spcPts val="800"/>
              </a:spcAft>
              <a:buNone/>
            </a:pPr>
            <a:r>
              <a:rPr lang="ko-KR" altLang="en-US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</a:t>
            </a:r>
            <a:r>
              <a:rPr lang="ko-KR" altLang="en-US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권한 부여</a:t>
            </a:r>
            <a:endParaRPr lang="en-US" altLang="ko-KR" sz="1200" b="1" kern="100" dirty="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  <a:p>
            <a:pPr latinLnBrk="1">
              <a:spcAft>
                <a:spcPts val="800"/>
              </a:spcAft>
              <a:buNone/>
            </a:pPr>
            <a:r>
              <a:rPr lang="en-US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 - 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TEST </a:t>
            </a:r>
            <a:r>
              <a:rPr lang="ko-KR" altLang="en-US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계정 내 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스키마</a:t>
            </a:r>
            <a:r>
              <a:rPr lang="ko-KR" altLang="en-US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별 </a:t>
            </a:r>
            <a:r>
              <a:rPr lang="en-US" altLang="ko-KR" sz="1200" kern="1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Grant </a:t>
            </a:r>
            <a:r>
              <a:rPr lang="ko-KR" altLang="en-US" sz="1200" kern="1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진행</a:t>
            </a:r>
            <a:endParaRPr lang="ko-KR" altLang="ko-KR" sz="1200" kern="100" dirty="0"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F963FD5A-E0D6-42F2-8E7C-EEA25C5F5E3B}"/>
              </a:ext>
            </a:extLst>
          </p:cNvPr>
          <p:cNvSpPr/>
          <p:nvPr/>
        </p:nvSpPr>
        <p:spPr>
          <a:xfrm>
            <a:off x="3717601" y="5340419"/>
            <a:ext cx="2599362" cy="111276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79774A0D-2E04-4229-B3D8-4A69252CDD2C}"/>
              </a:ext>
            </a:extLst>
          </p:cNvPr>
          <p:cNvSpPr/>
          <p:nvPr/>
        </p:nvSpPr>
        <p:spPr>
          <a:xfrm>
            <a:off x="6345211" y="5340418"/>
            <a:ext cx="2743713" cy="111276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5733EB40-9431-460F-AF04-861C126CC982}"/>
              </a:ext>
            </a:extLst>
          </p:cNvPr>
          <p:cNvSpPr/>
          <p:nvPr/>
        </p:nvSpPr>
        <p:spPr>
          <a:xfrm>
            <a:off x="9142204" y="5334705"/>
            <a:ext cx="2423827" cy="111276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98E8521-ACF7-48CF-A4D1-0E303C0AA70C}"/>
              </a:ext>
            </a:extLst>
          </p:cNvPr>
          <p:cNvSpPr txBox="1"/>
          <p:nvPr/>
        </p:nvSpPr>
        <p:spPr>
          <a:xfrm>
            <a:off x="9220699" y="5453802"/>
            <a:ext cx="20599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latinLnBrk="1"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자가 점검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체크리스트 </a:t>
            </a:r>
            <a:r>
              <a:rPr lang="ko-KR" altLang="en-US" sz="1200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재</a:t>
            </a:r>
            <a:r>
              <a:rPr lang="ko-KR" altLang="en-US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점검</a:t>
            </a:r>
            <a:endParaRPr lang="en-US" altLang="ko-KR" sz="1200" kern="100" dirty="0"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5E1BC37-3EA4-489B-B897-D444DC8E8A75}"/>
              </a:ext>
            </a:extLst>
          </p:cNvPr>
          <p:cNvSpPr txBox="1"/>
          <p:nvPr/>
        </p:nvSpPr>
        <p:spPr>
          <a:xfrm>
            <a:off x="303516" y="5507753"/>
            <a:ext cx="77537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latinLnBrk="1"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ko-KR" altLang="en-US" sz="12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조치</a:t>
            </a:r>
            <a:endParaRPr lang="en-US" altLang="ko-KR" sz="1200" kern="100" dirty="0"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11A9193-F203-400F-AA37-9C545E054301}"/>
              </a:ext>
            </a:extLst>
          </p:cNvPr>
          <p:cNvSpPr txBox="1"/>
          <p:nvPr/>
        </p:nvSpPr>
        <p:spPr>
          <a:xfrm>
            <a:off x="3679620" y="5410290"/>
            <a:ext cx="2665591" cy="9335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>
              <a:spcAft>
                <a:spcPts val="800"/>
              </a:spcAft>
              <a:buNone/>
            </a:pPr>
            <a:r>
              <a:rPr lang="ko-KR" altLang="en-US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</a:t>
            </a:r>
            <a:r>
              <a:rPr lang="ko-KR" altLang="ko-KR" sz="1200" b="1" kern="100" dirty="0" err="1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상태값</a:t>
            </a:r>
            <a:r>
              <a:rPr lang="ko-KR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강제 변경</a:t>
            </a:r>
            <a:endParaRPr lang="en-US" altLang="ko-KR" sz="1200" b="1" kern="100" dirty="0"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  <a:p>
            <a:pPr latinLnBrk="1">
              <a:spcAft>
                <a:spcPts val="800"/>
              </a:spcAft>
              <a:buNone/>
            </a:pPr>
            <a:r>
              <a:rPr lang="en-US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 -  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테스터에게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DB 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직접 수정 권한이 없다면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, 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개발자가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DEAL_STAT = 'N' 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등으로 데이터를 임의 세팅 후 인계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.</a:t>
            </a:r>
            <a:endParaRPr lang="ko-KR" altLang="ko-KR" sz="1200" kern="100" dirty="0"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DFD5922-A4D7-4E3D-B201-81275D41C420}"/>
              </a:ext>
            </a:extLst>
          </p:cNvPr>
          <p:cNvSpPr txBox="1"/>
          <p:nvPr/>
        </p:nvSpPr>
        <p:spPr>
          <a:xfrm>
            <a:off x="6332669" y="5432317"/>
            <a:ext cx="2665591" cy="5642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>
              <a:spcAft>
                <a:spcPts val="800"/>
              </a:spcAft>
              <a:buNone/>
            </a:pPr>
            <a:r>
              <a:rPr lang="ko-KR" altLang="en-US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</a:t>
            </a:r>
            <a:r>
              <a:rPr lang="ko-KR" altLang="en-US" sz="12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오류 수정</a:t>
            </a:r>
            <a:endParaRPr lang="en-US" altLang="ko-KR" sz="1200" b="1" kern="100" dirty="0"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  <a:p>
            <a:pPr latinLnBrk="1">
              <a:spcAft>
                <a:spcPts val="800"/>
              </a:spcAft>
              <a:buNone/>
            </a:pPr>
            <a:r>
              <a:rPr lang="en-US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 -  </a:t>
            </a:r>
            <a:r>
              <a:rPr lang="ko-KR" altLang="en-US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오류 내용 확인 후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, </a:t>
            </a:r>
            <a:r>
              <a:rPr lang="ko-KR" altLang="en-US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기능 수정</a:t>
            </a:r>
            <a:endParaRPr lang="ko-KR" altLang="ko-KR" sz="1200" kern="100" dirty="0"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0729650"/>
      </p:ext>
    </p:extLst>
  </p:cSld>
  <p:clrMapOvr>
    <a:masterClrMapping/>
  </p:clrMapOvr>
  <p:transition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DE47A45A-1EA9-7CA6-DE63-3536DECEF3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E6F95743-AB46-F43F-E5D3-A8D452DBEA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4086674"/>
              </p:ext>
            </p:extLst>
          </p:nvPr>
        </p:nvGraphicFramePr>
        <p:xfrm>
          <a:off x="766763" y="2133600"/>
          <a:ext cx="10618917" cy="3685873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1088441">
                  <a:extLst>
                    <a:ext uri="{9D8B030D-6E8A-4147-A177-3AD203B41FA5}">
                      <a16:colId xmlns:a16="http://schemas.microsoft.com/office/drawing/2014/main" val="2274574519"/>
                    </a:ext>
                  </a:extLst>
                </a:gridCol>
                <a:gridCol w="8589818">
                  <a:extLst>
                    <a:ext uri="{9D8B030D-6E8A-4147-A177-3AD203B41FA5}">
                      <a16:colId xmlns:a16="http://schemas.microsoft.com/office/drawing/2014/main" val="3501454989"/>
                    </a:ext>
                  </a:extLst>
                </a:gridCol>
                <a:gridCol w="940658">
                  <a:extLst>
                    <a:ext uri="{9D8B030D-6E8A-4147-A177-3AD203B41FA5}">
                      <a16:colId xmlns:a16="http://schemas.microsoft.com/office/drawing/2014/main" val="3157739317"/>
                    </a:ext>
                  </a:extLst>
                </a:gridCol>
              </a:tblGrid>
              <a:tr h="445835"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구분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ko-KR" altLang="en-US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계획</a:t>
                      </a:r>
                      <a:r>
                        <a:rPr lang="ko-KR" altLang="ko-KR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안</a:t>
                      </a:r>
                      <a:r>
                        <a:rPr lang="en-US" altLang="ko-KR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(</a:t>
                      </a:r>
                      <a:r>
                        <a:rPr lang="ko-KR" altLang="en-US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안</a:t>
                      </a:r>
                      <a:r>
                        <a:rPr lang="en-US" altLang="ko-KR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)</a:t>
                      </a:r>
                      <a:endParaRPr lang="ko-KR" altLang="ko-KR" sz="1200" b="1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담당자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5229965"/>
                  </a:ext>
                </a:extLst>
              </a:tr>
              <a:tr h="1299838"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즉시 조치</a:t>
                      </a:r>
                    </a:p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(Action Plan)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spcAft>
                          <a:spcPts val="800"/>
                        </a:spcAft>
                        <a:buNone/>
                      </a:pPr>
                      <a:r>
                        <a:rPr lang="en-US" altLang="ko-KR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1.  </a:t>
                      </a:r>
                      <a:r>
                        <a:rPr lang="ko-KR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로그</a:t>
                      </a:r>
                      <a:r>
                        <a:rPr lang="en-US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(Log) </a:t>
                      </a:r>
                      <a:r>
                        <a:rPr lang="ko-KR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분석</a:t>
                      </a:r>
                      <a:endParaRPr lang="en-US" altLang="ko-KR" sz="1200" b="1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  <a:p>
                      <a:pPr marL="0" indent="0" latinLnBrk="1">
                        <a:spcAft>
                          <a:spcPts val="0"/>
                        </a:spcAft>
                        <a:buNone/>
                      </a:pPr>
                      <a:r>
                        <a:rPr lang="en-US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    -</a:t>
                      </a: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 500 Error </a:t>
                      </a: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발생 시 웹서버</a:t>
                      </a: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/WAS </a:t>
                      </a: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로그를 확인하여 정확한 에러 라인 추적</a:t>
                      </a: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.</a:t>
                      </a:r>
                    </a:p>
                    <a:p>
                      <a:pPr marL="0" indent="0" latinLnBrk="1">
                        <a:spcAft>
                          <a:spcPts val="0"/>
                        </a:spcAft>
                        <a:buNone/>
                      </a:pP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  <a:p>
                      <a:pPr latinLnBrk="1">
                        <a:spcAft>
                          <a:spcPts val="800"/>
                        </a:spcAft>
                        <a:buNone/>
                      </a:pPr>
                      <a:r>
                        <a:rPr lang="en-US" altLang="ko-KR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2.</a:t>
                      </a:r>
                      <a:r>
                        <a:rPr lang="ko-KR" altLang="en-US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쿼</a:t>
                      </a:r>
                      <a:r>
                        <a:rPr lang="ko-KR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리 검증</a:t>
                      </a:r>
                      <a:r>
                        <a:rPr lang="en-US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ko-KR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리포트</a:t>
                      </a:r>
                      <a:r>
                        <a:rPr lang="en-US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)</a:t>
                      </a:r>
                    </a:p>
                    <a:p>
                      <a:pPr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    -</a:t>
                      </a: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 GO </a:t>
                      </a: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모듈 등 리포트는 화면 결과와</a:t>
                      </a: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 DB </a:t>
                      </a: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직접 쿼리 결과를 교차 검증</a:t>
                      </a: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(Cross Check).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개발자</a:t>
                      </a: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1206888"/>
                  </a:ext>
                </a:extLst>
              </a:tr>
              <a:tr h="1940200"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재발 방지</a:t>
                      </a:r>
                    </a:p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(Prevention)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indent="-228600" latinLnBrk="1">
                        <a:spcAft>
                          <a:spcPts val="800"/>
                        </a:spcAft>
                        <a:buAutoNum type="arabicPeriod"/>
                      </a:pPr>
                      <a:r>
                        <a:rPr lang="ko-KR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코드 리뷰</a:t>
                      </a:r>
                      <a:r>
                        <a:rPr lang="en-US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(Peer Review)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    -</a:t>
                      </a: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ko-KR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복잡한 쿼리나 로직은 배포 </a:t>
                      </a: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전 </a:t>
                      </a:r>
                      <a:r>
                        <a:rPr lang="ko-KR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코드 리뷰 수행</a:t>
                      </a: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.</a:t>
                      </a:r>
                      <a:endParaRPr lang="en-US" altLang="ko-KR" sz="1200" b="1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2. </a:t>
                      </a:r>
                      <a:r>
                        <a:rPr lang="ko-KR" altLang="en-US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산출물 기반 기능 구현 </a:t>
                      </a:r>
                      <a:endParaRPr lang="en-US" altLang="ko-KR" sz="1200" b="1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  <a:p>
                      <a:pPr marL="0" indent="0" latinLnBrk="1">
                        <a:spcAft>
                          <a:spcPts val="800"/>
                        </a:spcAft>
                        <a:buNone/>
                      </a:pPr>
                      <a:r>
                        <a:rPr lang="en-US" altLang="ko-KR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     -</a:t>
                      </a: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요구사항 정의서</a:t>
                      </a: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, UI/UX </a:t>
                      </a: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설계서</a:t>
                      </a: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등 기능 구현을 위한 사전 설계서 분석 강화</a:t>
                      </a:r>
                      <a:endParaRPr lang="en-US" alt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  <a:p>
                      <a:pPr marL="0" indent="0" latinLnBrk="1">
                        <a:spcAft>
                          <a:spcPts val="800"/>
                        </a:spcAft>
                        <a:buNone/>
                      </a:pPr>
                      <a:r>
                        <a:rPr lang="en-US" altLang="ko-KR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3. </a:t>
                      </a:r>
                      <a:r>
                        <a:rPr lang="ko-KR" altLang="en-US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쿼리 </a:t>
                      </a:r>
                      <a:r>
                        <a:rPr lang="en-US" altLang="ko-KR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Tunning</a:t>
                      </a:r>
                    </a:p>
                    <a:p>
                      <a:pPr latinLnBrk="1">
                        <a:spcAft>
                          <a:spcPts val="800"/>
                        </a:spcAft>
                        <a:buNone/>
                      </a:pPr>
                      <a:r>
                        <a:rPr lang="en-US" altLang="ko-KR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   -</a:t>
                      </a: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 DA</a:t>
                      </a: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 지원을 통한 </a:t>
                      </a: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Query Tunning </a:t>
                      </a: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수행</a:t>
                      </a: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 .</a:t>
                      </a:r>
                      <a:endParaRPr lang="ko-KR" alt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DA/PL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34503240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E745DFB6-8D5E-DDBA-8A3A-B14C4A665F69}"/>
              </a:ext>
            </a:extLst>
          </p:cNvPr>
          <p:cNvSpPr txBox="1"/>
          <p:nvPr/>
        </p:nvSpPr>
        <p:spPr>
          <a:xfrm>
            <a:off x="702330" y="891836"/>
            <a:ext cx="10712363" cy="10361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>
              <a:buNone/>
            </a:pPr>
            <a:r>
              <a:rPr lang="en-US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3) </a:t>
            </a:r>
            <a:r>
              <a:rPr lang="ko-KR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기능 및 로직 오류</a:t>
            </a:r>
            <a:r>
              <a:rPr lang="en-US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(</a:t>
            </a:r>
            <a:r>
              <a:rPr lang="ko-KR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리포트 불일치</a:t>
            </a:r>
            <a:r>
              <a:rPr lang="en-US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, </a:t>
            </a:r>
            <a:r>
              <a:rPr lang="ko-KR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기능 오작동</a:t>
            </a:r>
            <a:r>
              <a:rPr lang="en-US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) </a:t>
            </a:r>
          </a:p>
          <a:p>
            <a:pPr latinLnBrk="1">
              <a:spcAft>
                <a:spcPts val="800"/>
              </a:spcAft>
              <a:buNone/>
            </a:pPr>
            <a:endParaRPr lang="ko-KR" altLang="ko-KR" sz="1200" kern="100" dirty="0"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  <a:p>
            <a:pPr marL="342900" lvl="0" indent="-342900" latinLnBrk="1"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ko-KR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현상</a:t>
            </a:r>
            <a:r>
              <a:rPr lang="en-US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: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리포트 합계 틀림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, 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저장 시 오류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, 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검색 필터 </a:t>
            </a:r>
            <a:r>
              <a:rPr lang="ko-KR" altLang="ko-KR" sz="1200" kern="100" dirty="0" err="1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미동작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.</a:t>
            </a:r>
            <a:endParaRPr lang="ko-KR" altLang="ko-KR" sz="1200" kern="100" dirty="0"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  <a:p>
            <a:pPr marL="342900" lvl="0" indent="-342900" latinLnBrk="1"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ko-KR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원인</a:t>
            </a:r>
            <a:r>
              <a:rPr lang="en-US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: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비즈니스 로직 구현 미스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, </a:t>
            </a:r>
            <a:r>
              <a:rPr lang="ko-KR" altLang="ko-KR" sz="1200" kern="100" dirty="0" err="1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경계값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처리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(Boundary Value) 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미흡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.</a:t>
            </a:r>
            <a:endParaRPr lang="ko-KR" altLang="ko-KR" sz="1200" kern="100" dirty="0"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D5B13E8-885F-4961-956E-5365EFE9E0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892" y="91161"/>
            <a:ext cx="5652516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indent="-354013" defTabSz="957743">
              <a:defRPr sz="2200" spc="-11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9pPr>
          </a:lstStyle>
          <a:p>
            <a:pPr latinLnBrk="0">
              <a:defRPr/>
            </a:pPr>
            <a:r>
              <a:rPr kumimoji="0" lang="ko-KR" altLang="en-US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  <a:r>
              <a:rPr kumimoji="0" lang="en-US" altLang="ko-KR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II – 5. </a:t>
            </a:r>
            <a:r>
              <a:rPr lang="ko-KR" altLang="ko-KR" sz="20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결함 </a:t>
            </a:r>
            <a:r>
              <a:rPr lang="ko-KR" altLang="ko-KR" sz="2000" b="1" kern="100" dirty="0" err="1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원인별</a:t>
            </a:r>
            <a:r>
              <a:rPr lang="ko-KR" altLang="ko-KR" sz="20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조치 계획 및 재발 방지 방안</a:t>
            </a:r>
            <a:endParaRPr lang="ko-KR" altLang="ko-KR" sz="2000" kern="100" dirty="0"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  <a:p>
            <a:pPr lvl="0" latinLnBrk="0">
              <a:defRPr/>
            </a:pPr>
            <a:endParaRPr kumimoji="0" lang="en-US" altLang="ko-KR" sz="2000" b="1" i="0" u="none" strike="noStrike" kern="1200" cap="none" spc="-11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581107251"/>
      </p:ext>
    </p:extLst>
  </p:cSld>
  <p:clrMapOvr>
    <a:masterClrMapping/>
  </p:clrMapOvr>
  <p:transition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0C7289C-8A2D-90DD-552C-C8C5D438F0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F1F899CE-774F-E450-7FCB-182BF12BDD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8191582"/>
              </p:ext>
            </p:extLst>
          </p:nvPr>
        </p:nvGraphicFramePr>
        <p:xfrm>
          <a:off x="768069" y="2138166"/>
          <a:ext cx="10618917" cy="3345380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1158991">
                  <a:extLst>
                    <a:ext uri="{9D8B030D-6E8A-4147-A177-3AD203B41FA5}">
                      <a16:colId xmlns:a16="http://schemas.microsoft.com/office/drawing/2014/main" val="2274574519"/>
                    </a:ext>
                  </a:extLst>
                </a:gridCol>
                <a:gridCol w="8500795">
                  <a:extLst>
                    <a:ext uri="{9D8B030D-6E8A-4147-A177-3AD203B41FA5}">
                      <a16:colId xmlns:a16="http://schemas.microsoft.com/office/drawing/2014/main" val="3501454989"/>
                    </a:ext>
                  </a:extLst>
                </a:gridCol>
                <a:gridCol w="959131">
                  <a:extLst>
                    <a:ext uri="{9D8B030D-6E8A-4147-A177-3AD203B41FA5}">
                      <a16:colId xmlns:a16="http://schemas.microsoft.com/office/drawing/2014/main" val="3157739317"/>
                    </a:ext>
                  </a:extLst>
                </a:gridCol>
              </a:tblGrid>
              <a:tr h="457252"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ko-KR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구분</a:t>
                      </a:r>
                      <a:endParaRPr lang="ko-KR" sz="1200" b="1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ko-KR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실행 방안</a:t>
                      </a:r>
                      <a:endParaRPr lang="ko-KR" sz="1200" b="1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ko-KR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담당자</a:t>
                      </a:r>
                      <a:endParaRPr lang="ko-KR" sz="1200" b="1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5229965"/>
                  </a:ext>
                </a:extLst>
              </a:tr>
              <a:tr h="1444064"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즉시 조치</a:t>
                      </a:r>
                    </a:p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(Action Plan)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indent="-228600" latinLnBrk="1">
                        <a:spcAft>
                          <a:spcPts val="800"/>
                        </a:spcAft>
                        <a:buAutoNum type="arabicPeriod"/>
                      </a:pPr>
                      <a:r>
                        <a:rPr lang="ko-KR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공통</a:t>
                      </a:r>
                      <a:r>
                        <a:rPr lang="en-US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 CSS/Layout </a:t>
                      </a:r>
                      <a:r>
                        <a:rPr lang="ko-KR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수정</a:t>
                      </a:r>
                      <a:endParaRPr lang="en-US" altLang="ko-KR" sz="1200" b="1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  <a:p>
                      <a:pPr marL="0" indent="0" latinLnBrk="1">
                        <a:spcAft>
                          <a:spcPts val="0"/>
                        </a:spcAft>
                        <a:buNone/>
                      </a:pPr>
                      <a:r>
                        <a:rPr lang="en-US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   -</a:t>
                      </a: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개별 화면 수정이 아닌</a:t>
                      </a: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공통 스타일시트 수정을 통해 일괄 반영</a:t>
                      </a: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.</a:t>
                      </a:r>
                      <a:b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</a:b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  <a:p>
                      <a:pPr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2. </a:t>
                      </a:r>
                      <a:r>
                        <a:rPr lang="ko-KR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해상도별 점검</a:t>
                      </a:r>
                      <a:endParaRPr lang="en-US" altLang="ko-KR" sz="1200" b="1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  <a:p>
                      <a:pPr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   -</a:t>
                      </a: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노트북</a:t>
                      </a: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(1366</a:t>
                      </a:r>
                      <a:r>
                        <a:rPr lang="en-US" sz="1200" i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768) </a:t>
                      </a:r>
                      <a:r>
                        <a:rPr lang="ko-KR" sz="1200" i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및 모니터</a:t>
                      </a:r>
                      <a:r>
                        <a:rPr lang="en-US" sz="1200" i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(1920</a:t>
                      </a: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1080) </a:t>
                      </a: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해상도별</a:t>
                      </a: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 UI </a:t>
                      </a: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점검</a:t>
                      </a: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.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UI</a:t>
                      </a: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개발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1206888"/>
                  </a:ext>
                </a:extLst>
              </a:tr>
              <a:tr h="1444064"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재발 방지</a:t>
                      </a:r>
                    </a:p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(Prevention)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indent="-228600" latinLnBrk="1">
                        <a:spcAft>
                          <a:spcPts val="800"/>
                        </a:spcAft>
                        <a:buAutoNum type="arabicPeriod"/>
                      </a:pPr>
                      <a:r>
                        <a:rPr lang="en-US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UI </a:t>
                      </a:r>
                      <a:r>
                        <a:rPr lang="ko-KR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표준 체크리스트 </a:t>
                      </a:r>
                      <a:r>
                        <a:rPr lang="ko-KR" altLang="en-US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재점검</a:t>
                      </a:r>
                      <a:endParaRPr lang="en-US" altLang="ko-KR" sz="1200" b="1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  <a:p>
                      <a:pPr marL="0" indent="0" latinLnBrk="1">
                        <a:spcAft>
                          <a:spcPts val="0"/>
                        </a:spcAft>
                        <a:buNone/>
                      </a:pPr>
                      <a:r>
                        <a:rPr lang="en-US" altLang="ko-KR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   - </a:t>
                      </a: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개발 화면 완료 시 자가 점검</a:t>
                      </a: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체크리스트 </a:t>
                      </a: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수행 점검</a:t>
                      </a: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.</a:t>
                      </a:r>
                      <a:b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</a:b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  <a:p>
                      <a:pPr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2. </a:t>
                      </a:r>
                      <a:r>
                        <a:rPr lang="ko-KR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반응형</a:t>
                      </a:r>
                      <a:r>
                        <a:rPr lang="en-US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ko-KR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적응형 테스트</a:t>
                      </a:r>
                      <a:endParaRPr lang="en-US" altLang="ko-KR" sz="1200" b="1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  <a:p>
                      <a:pPr latinLnBrk="1">
                        <a:spcAft>
                          <a:spcPts val="800"/>
                        </a:spcAft>
                        <a:buNone/>
                      </a:pPr>
                      <a:r>
                        <a:rPr lang="en-US" altLang="ko-KR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   - </a:t>
                      </a: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주요 해상도 브라우저 </a:t>
                      </a: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기본</a:t>
                      </a: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 테스트 수행</a:t>
                      </a: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.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PL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34503240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0DF8F40C-2A1B-CE68-47B0-C39F490508C5}"/>
              </a:ext>
            </a:extLst>
          </p:cNvPr>
          <p:cNvSpPr txBox="1"/>
          <p:nvPr/>
        </p:nvSpPr>
        <p:spPr>
          <a:xfrm>
            <a:off x="703413" y="904222"/>
            <a:ext cx="10618916" cy="10361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 latinLnBrk="1">
              <a:buAutoNum type="arabicParenR" startAt="4"/>
            </a:pPr>
            <a:r>
              <a:rPr lang="en-US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UI </a:t>
            </a:r>
            <a:r>
              <a:rPr lang="ko-KR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및 표준 위반</a:t>
            </a:r>
            <a:r>
              <a:rPr lang="en-US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(</a:t>
            </a:r>
            <a:r>
              <a:rPr lang="ko-KR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해상도</a:t>
            </a:r>
            <a:r>
              <a:rPr lang="en-US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, </a:t>
            </a:r>
            <a:r>
              <a:rPr lang="ko-KR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색상 등</a:t>
            </a:r>
            <a:r>
              <a:rPr lang="en-US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)</a:t>
            </a:r>
          </a:p>
          <a:p>
            <a:pPr latinLnBrk="1">
              <a:spcAft>
                <a:spcPts val="800"/>
              </a:spcAft>
            </a:pPr>
            <a:endParaRPr lang="ko-KR" altLang="ko-KR" sz="1200" kern="100" dirty="0"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  <a:p>
            <a:pPr marL="342900" lvl="0" indent="-342900" latinLnBrk="1"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ko-KR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현상</a:t>
            </a:r>
            <a:r>
              <a:rPr lang="en-US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: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노트북에서 버튼 </a:t>
            </a:r>
            <a:r>
              <a:rPr lang="ko-KR" altLang="ko-KR" sz="1200" kern="100" dirty="0" err="1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짤림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, </a:t>
            </a:r>
            <a:r>
              <a:rPr lang="ko-KR" altLang="ko-KR" sz="1200" kern="100" dirty="0" err="1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필수값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색상 오류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.</a:t>
            </a:r>
            <a:endParaRPr lang="ko-KR" altLang="ko-KR" sz="1200" kern="100" dirty="0"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  <a:p>
            <a:pPr marL="342900" lvl="0" indent="-342900" latinLnBrk="1"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ko-KR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원인</a:t>
            </a:r>
            <a:r>
              <a:rPr lang="en-US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: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공통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UI 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표준 가이드 </a:t>
            </a:r>
            <a:r>
              <a:rPr lang="ko-KR" altLang="ko-KR" sz="1200" kern="100" dirty="0" err="1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미준수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및 다양한 해상도 테스트 부족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.</a:t>
            </a:r>
            <a:endParaRPr lang="ko-KR" altLang="ko-KR" sz="1200" kern="100" dirty="0"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D65A08BC-266B-4AC6-B945-E38B5AD150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892" y="91161"/>
            <a:ext cx="5652516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indent="-354013" defTabSz="957743">
              <a:defRPr sz="2200" spc="-11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9pPr>
          </a:lstStyle>
          <a:p>
            <a:pPr latinLnBrk="0">
              <a:defRPr/>
            </a:pPr>
            <a:r>
              <a:rPr kumimoji="0" lang="ko-KR" altLang="en-US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  <a:r>
              <a:rPr kumimoji="0" lang="en-US" altLang="ko-KR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II – 5. </a:t>
            </a:r>
            <a:r>
              <a:rPr lang="ko-KR" altLang="ko-KR" sz="20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결함 </a:t>
            </a:r>
            <a:r>
              <a:rPr lang="ko-KR" altLang="ko-KR" sz="2000" b="1" kern="100" dirty="0" err="1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원인별</a:t>
            </a:r>
            <a:r>
              <a:rPr lang="ko-KR" altLang="ko-KR" sz="20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조치 계획 및 재발 방지 방안</a:t>
            </a:r>
            <a:endParaRPr lang="ko-KR" altLang="ko-KR" sz="2000" kern="100" dirty="0"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  <a:p>
            <a:pPr lvl="0" latinLnBrk="0">
              <a:defRPr/>
            </a:pPr>
            <a:endParaRPr kumimoji="0" lang="en-US" altLang="ko-KR" sz="2000" b="1" i="0" u="none" strike="noStrike" kern="1200" cap="none" spc="-11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4239030307"/>
      </p:ext>
    </p:extLst>
  </p:cSld>
  <p:clrMapOvr>
    <a:masterClrMapping/>
  </p:clrMapOvr>
  <p:transition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4F08B8A4-402F-EB3A-76AE-6F2B0E8DB8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892" y="91161"/>
            <a:ext cx="5652516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indent="-354013" defTabSz="957743">
              <a:defRPr sz="2200" spc="-11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9pPr>
          </a:lstStyle>
          <a:p>
            <a:pPr lvl="0" latinLnBrk="0">
              <a:defRPr/>
            </a:pPr>
            <a:r>
              <a:rPr kumimoji="0" lang="ko-KR" altLang="en-US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  <a:r>
              <a:rPr kumimoji="0" lang="en-US" altLang="ko-KR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II - 1.</a:t>
            </a:r>
            <a:r>
              <a:rPr kumimoji="0" lang="ko-KR" altLang="en-US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  <a:r>
              <a:rPr lang="ko-KR" altLang="en-US" sz="2000" b="1" dirty="0">
                <a:solidFill>
                  <a:prstClr val="white"/>
                </a:solidFill>
              </a:rPr>
              <a:t>현황</a:t>
            </a:r>
            <a:endParaRPr kumimoji="0" lang="en-US" altLang="ko-KR" sz="2000" b="1" i="0" u="none" strike="noStrike" kern="1200" cap="none" spc="-11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5" name="TextBox 27">
            <a:extLst>
              <a:ext uri="{FF2B5EF4-FFF2-40B4-BE49-F238E27FC236}">
                <a16:creationId xmlns:a16="http://schemas.microsoft.com/office/drawing/2014/main" id="{F07B896A-493F-8469-C258-3750629EC2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9352" y="692696"/>
            <a:ext cx="10567198" cy="3699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latinLnBrk="0">
              <a:lnSpc>
                <a:spcPct val="120000"/>
              </a:lnSpc>
              <a:spcBef>
                <a:spcPct val="30000"/>
              </a:spcBef>
              <a:buFont typeface="Wingdings" pitchFamily="2" charset="2"/>
              <a:buNone/>
            </a:pPr>
            <a:r>
              <a:rPr lang="ko-KR" altLang="en-US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결함 현황 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527116F-117C-9D87-4797-D50F2C08CFAB}"/>
              </a:ext>
            </a:extLst>
          </p:cNvPr>
          <p:cNvSpPr/>
          <p:nvPr/>
        </p:nvSpPr>
        <p:spPr>
          <a:xfrm>
            <a:off x="399352" y="1244695"/>
            <a:ext cx="7341935" cy="11490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defTabSz="457200" latinLnBrk="0">
              <a:spcBef>
                <a:spcPts val="800"/>
              </a:spcBef>
              <a:spcAft>
                <a:spcPts val="800"/>
              </a:spcAft>
              <a:buFontTx/>
              <a:buChar char="-"/>
            </a:pPr>
            <a:r>
              <a:rPr kumimoji="1" lang="ko-KR" altLang="en-US" sz="14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식별 결함   </a:t>
            </a:r>
            <a:r>
              <a:rPr kumimoji="1" lang="en-US" altLang="ko-KR" sz="14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: </a:t>
            </a:r>
            <a:r>
              <a:rPr kumimoji="1" lang="ko-KR" altLang="en-US" sz="14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 </a:t>
            </a:r>
            <a:r>
              <a:rPr kumimoji="1" lang="en-US" altLang="ko-KR" sz="14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245</a:t>
            </a:r>
            <a:r>
              <a:rPr kumimoji="1" lang="ko-KR" altLang="en-US" sz="14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건 </a:t>
            </a:r>
            <a:r>
              <a:rPr kumimoji="1" lang="en-US" altLang="ko-KR" sz="14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( </a:t>
            </a:r>
            <a:r>
              <a:rPr kumimoji="1" lang="en-US" altLang="ko-KR" sz="1400" kern="0" spc="-30" dirty="0">
                <a:ln>
                  <a:solidFill>
                    <a:prstClr val="white">
                      <a:alpha val="0"/>
                    </a:prst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  <a:cs typeface="Segoe UI" panose="020B0502040204020203" pitchFamily="34" charset="0"/>
              </a:rPr>
              <a:t> </a:t>
            </a:r>
            <a:r>
              <a:rPr kumimoji="1" lang="ko-KR" altLang="en-US" sz="1400" kern="0" spc="-30" dirty="0">
                <a:ln>
                  <a:solidFill>
                    <a:prstClr val="white">
                      <a:alpha val="0"/>
                    </a:prst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  <a:cs typeface="Segoe UI" panose="020B0502040204020203" pitchFamily="34" charset="0"/>
              </a:rPr>
              <a:t>결함 기각 </a:t>
            </a:r>
            <a:r>
              <a:rPr kumimoji="1" lang="en-US" altLang="ko-KR" sz="1400" kern="0" spc="-30" dirty="0">
                <a:ln>
                  <a:solidFill>
                    <a:prstClr val="white">
                      <a:alpha val="0"/>
                    </a:prst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  <a:cs typeface="Segoe UI" panose="020B0502040204020203" pitchFamily="34" charset="0"/>
              </a:rPr>
              <a:t>21</a:t>
            </a:r>
            <a:r>
              <a:rPr kumimoji="1" lang="ko-KR" altLang="en-US" sz="1400" kern="0" spc="-30" dirty="0">
                <a:ln>
                  <a:solidFill>
                    <a:prstClr val="white">
                      <a:alpha val="0"/>
                    </a:prst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  <a:cs typeface="Segoe UI" panose="020B0502040204020203" pitchFamily="34" charset="0"/>
              </a:rPr>
              <a:t>건 포함 </a:t>
            </a:r>
            <a:r>
              <a:rPr kumimoji="1" lang="en-US" altLang="ko-KR" sz="1400" kern="0" spc="-30" dirty="0">
                <a:ln>
                  <a:solidFill>
                    <a:prstClr val="white">
                      <a:alpha val="0"/>
                    </a:prst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  <a:cs typeface="Segoe UI" panose="020B0502040204020203" pitchFamily="34" charset="0"/>
              </a:rPr>
              <a:t>) </a:t>
            </a:r>
          </a:p>
          <a:p>
            <a:pPr marL="285750" indent="-285750" defTabSz="457200" latinLnBrk="0">
              <a:spcBef>
                <a:spcPts val="800"/>
              </a:spcBef>
              <a:spcAft>
                <a:spcPts val="800"/>
              </a:spcAft>
              <a:buFontTx/>
              <a:buChar char="-"/>
            </a:pPr>
            <a:r>
              <a:rPr kumimoji="1" lang="ko-KR" altLang="en-US" sz="1400" kern="0" spc="-30" dirty="0">
                <a:ln>
                  <a:solidFill>
                    <a:prstClr val="white">
                      <a:alpha val="0"/>
                    </a:prst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  <a:cs typeface="Segoe UI" panose="020B0502040204020203" pitchFamily="34" charset="0"/>
              </a:rPr>
              <a:t>결함 </a:t>
            </a:r>
            <a:r>
              <a:rPr kumimoji="1" lang="ko-KR" altLang="en-US" sz="1400" kern="0" spc="-30" dirty="0" err="1">
                <a:ln>
                  <a:solidFill>
                    <a:prstClr val="white">
                      <a:alpha val="0"/>
                    </a:prst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  <a:cs typeface="Segoe UI" panose="020B0502040204020203" pitchFamily="34" charset="0"/>
              </a:rPr>
              <a:t>발생율</a:t>
            </a:r>
            <a:r>
              <a:rPr kumimoji="1" lang="ko-KR" altLang="en-US" sz="1400" kern="0" spc="-30" dirty="0">
                <a:ln>
                  <a:solidFill>
                    <a:prstClr val="white">
                      <a:alpha val="0"/>
                    </a:prst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  <a:cs typeface="Segoe UI" panose="020B0502040204020203" pitchFamily="34" charset="0"/>
              </a:rPr>
              <a:t> </a:t>
            </a:r>
            <a:r>
              <a:rPr kumimoji="1" lang="en-US" altLang="ko-KR" sz="1400" kern="0" spc="-30" dirty="0">
                <a:ln>
                  <a:solidFill>
                    <a:prstClr val="white">
                      <a:alpha val="0"/>
                    </a:prst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  <a:cs typeface="Segoe UI" panose="020B0502040204020203" pitchFamily="34" charset="0"/>
              </a:rPr>
              <a:t>:  32.1% ( </a:t>
            </a:r>
            <a:r>
              <a:rPr kumimoji="1" lang="ko-KR" altLang="en-US" sz="1400" kern="0" spc="-30" dirty="0">
                <a:ln>
                  <a:solidFill>
                    <a:prstClr val="white">
                      <a:alpha val="0"/>
                    </a:prst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  <a:cs typeface="Segoe UI" panose="020B0502040204020203" pitchFamily="34" charset="0"/>
              </a:rPr>
              <a:t>테스트 대상 시나리오 기준 </a:t>
            </a:r>
            <a:r>
              <a:rPr kumimoji="1" lang="en-US" altLang="ko-KR" sz="1400" kern="0" spc="-30" dirty="0">
                <a:ln>
                  <a:solidFill>
                    <a:prstClr val="white">
                      <a:alpha val="0"/>
                    </a:prst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  <a:cs typeface="Segoe UI" panose="020B0502040204020203" pitchFamily="34" charset="0"/>
              </a:rPr>
              <a:t>, 224</a:t>
            </a:r>
            <a:r>
              <a:rPr kumimoji="1" lang="ko-KR" altLang="en-US" sz="1400" kern="0" spc="-30" dirty="0">
                <a:ln>
                  <a:solidFill>
                    <a:prstClr val="white">
                      <a:alpha val="0"/>
                    </a:prst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  <a:cs typeface="Segoe UI" panose="020B0502040204020203" pitchFamily="34" charset="0"/>
              </a:rPr>
              <a:t>개 </a:t>
            </a:r>
            <a:r>
              <a:rPr kumimoji="1" lang="en-US" altLang="ko-KR" sz="1400" kern="0" spc="-30" dirty="0">
                <a:ln>
                  <a:solidFill>
                    <a:prstClr val="white">
                      <a:alpha val="0"/>
                    </a:prst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  <a:cs typeface="Segoe UI" panose="020B0502040204020203" pitchFamily="34" charset="0"/>
              </a:rPr>
              <a:t>/ 698</a:t>
            </a:r>
            <a:r>
              <a:rPr kumimoji="1" lang="ko-KR" altLang="en-US" sz="1400" kern="0" spc="-30" dirty="0">
                <a:ln>
                  <a:solidFill>
                    <a:prstClr val="white">
                      <a:alpha val="0"/>
                    </a:prst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  <a:cs typeface="Segoe UI" panose="020B0502040204020203" pitchFamily="34" charset="0"/>
              </a:rPr>
              <a:t>개 </a:t>
            </a:r>
            <a:r>
              <a:rPr kumimoji="1" lang="en-US" altLang="ko-KR" sz="1400" kern="0" spc="-30" dirty="0">
                <a:ln>
                  <a:solidFill>
                    <a:prstClr val="white">
                      <a:alpha val="0"/>
                    </a:prst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  <a:cs typeface="Segoe UI" panose="020B0502040204020203" pitchFamily="34" charset="0"/>
              </a:rPr>
              <a:t>)</a:t>
            </a:r>
          </a:p>
          <a:p>
            <a:pPr marL="285750" indent="-285750" defTabSz="457200" latinLnBrk="0">
              <a:spcBef>
                <a:spcPts val="800"/>
              </a:spcBef>
              <a:spcAft>
                <a:spcPts val="800"/>
              </a:spcAft>
              <a:buFontTx/>
              <a:buChar char="-"/>
            </a:pPr>
            <a:r>
              <a:rPr kumimoji="1" lang="ko-KR" altLang="en-US" sz="1400" kern="0" spc="-30" dirty="0">
                <a:ln>
                  <a:solidFill>
                    <a:prstClr val="white">
                      <a:alpha val="0"/>
                    </a:prst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  <a:cs typeface="Segoe UI" panose="020B0502040204020203" pitchFamily="34" charset="0"/>
              </a:rPr>
              <a:t>핵심 요약 </a:t>
            </a:r>
            <a:endParaRPr kumimoji="1" lang="en-US" altLang="ko-KR" sz="1400" kern="0" spc="-30" dirty="0">
              <a:ln>
                <a:solidFill>
                  <a:prstClr val="white">
                    <a:alpha val="0"/>
                  </a:prstClr>
                </a:solidFill>
              </a:ln>
              <a:latin typeface="KoPub돋움체 Light" panose="02020603020101020101" pitchFamily="18" charset="-127"/>
              <a:ea typeface="KoPub돋움체 Light" panose="02020603020101020101" pitchFamily="18" charset="-127"/>
              <a:cs typeface="Segoe UI" panose="020B0502040204020203" pitchFamily="34" charset="0"/>
            </a:endParaRPr>
          </a:p>
        </p:txBody>
      </p:sp>
      <p:sp>
        <p:nvSpPr>
          <p:cNvPr id="7" name="TextBox 27">
            <a:extLst>
              <a:ext uri="{FF2B5EF4-FFF2-40B4-BE49-F238E27FC236}">
                <a16:creationId xmlns:a16="http://schemas.microsoft.com/office/drawing/2014/main" id="{55E603D5-6CE3-B285-EEC2-278FA61B29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8133" y="2575818"/>
            <a:ext cx="9007295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742950" lvl="1" indent="-285750">
              <a:spcBef>
                <a:spcPts val="600"/>
              </a:spcBef>
              <a:spcAft>
                <a:spcPts val="6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ko-KR" altLang="ko-KR" sz="1200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결함의 약</a:t>
            </a:r>
            <a:r>
              <a:rPr lang="en-US" altLang="ko-KR" sz="1200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**36%**</a:t>
            </a:r>
            <a:r>
              <a:rPr lang="ko-KR" altLang="ko-KR" sz="1200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가 테스트 데이터 부재 및 정합성 문제로 확인됨</a:t>
            </a:r>
            <a:r>
              <a:rPr lang="en-US" altLang="ko-KR" sz="1200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.</a:t>
            </a:r>
            <a:endParaRPr lang="ko-KR" altLang="ko-KR" sz="1200" kern="100" dirty="0"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ko-KR" altLang="ko-KR" sz="1200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기능 오류</a:t>
            </a:r>
            <a:r>
              <a:rPr lang="en-US" altLang="ko-KR" sz="1200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(31%) </a:t>
            </a:r>
            <a:r>
              <a:rPr lang="ko-KR" altLang="ko-KR" sz="1200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못지않게 </a:t>
            </a:r>
            <a:r>
              <a:rPr lang="en-US" altLang="ko-KR" sz="12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DB </a:t>
            </a:r>
            <a:r>
              <a:rPr lang="ko-KR" altLang="ko-KR" sz="12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스키마</a:t>
            </a:r>
            <a:r>
              <a:rPr lang="en-US" altLang="ko-KR" sz="12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/</a:t>
            </a:r>
            <a:r>
              <a:rPr lang="ko-KR" altLang="ko-KR" sz="12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권한 등 환경적 요인에 의한 문서화</a:t>
            </a:r>
            <a:r>
              <a:rPr lang="en-US" altLang="ko-KR" sz="12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/</a:t>
            </a:r>
            <a:r>
              <a:rPr lang="ko-KR" altLang="ko-KR" sz="12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표준 결함</a:t>
            </a:r>
            <a:r>
              <a:rPr lang="en-US" altLang="ko-KR" sz="12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(22%)</a:t>
            </a:r>
            <a:r>
              <a:rPr lang="en-US" altLang="ko-KR" sz="1200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</a:t>
            </a:r>
            <a:r>
              <a:rPr lang="ko-KR" altLang="ko-KR" sz="1200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비중이 높음</a:t>
            </a:r>
            <a:r>
              <a:rPr lang="en-US" altLang="ko-KR" sz="1200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.</a:t>
            </a:r>
            <a:endParaRPr lang="ko-KR" altLang="ko-KR" sz="1200" kern="100" dirty="0"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ko-KR" altLang="ko-KR" sz="1200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이는 개발 기능의 문제보다 </a:t>
            </a:r>
            <a:r>
              <a:rPr lang="ko-KR" altLang="ko-KR" sz="12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테스트 환경</a:t>
            </a:r>
            <a:r>
              <a:rPr lang="en-US" altLang="ko-KR" sz="12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(DB, </a:t>
            </a:r>
            <a:r>
              <a:rPr lang="ko-KR" altLang="ko-KR" sz="12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데이터</a:t>
            </a:r>
            <a:r>
              <a:rPr lang="en-US" altLang="ko-KR" sz="12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)</a:t>
            </a:r>
            <a:r>
              <a:rPr lang="ko-KR" altLang="ko-KR" sz="12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의 준비 상태 미흡</a:t>
            </a:r>
            <a:r>
              <a:rPr lang="ko-KR" altLang="ko-KR" sz="1200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이 결함 수치를 높이는 주요 원인임</a:t>
            </a:r>
            <a:r>
              <a:rPr lang="en-US" altLang="ko-KR" sz="1200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.</a:t>
            </a:r>
            <a:endParaRPr lang="ko-KR" altLang="ko-KR" sz="1200" kern="100" dirty="0"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1312060"/>
      </p:ext>
    </p:extLst>
  </p:cSld>
  <p:clrMapOvr>
    <a:masterClrMapping/>
  </p:clrMapOvr>
  <p:transition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75DE482-5851-A864-A45F-7CC49DBC2C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1">
            <a:extLst>
              <a:ext uri="{FF2B5EF4-FFF2-40B4-BE49-F238E27FC236}">
                <a16:creationId xmlns:a16="http://schemas.microsoft.com/office/drawing/2014/main" id="{F643B4E6-A1CD-BFED-23B1-07D6B34555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999" y="876165"/>
            <a:ext cx="1029024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latinLnBrk="0" hangingPunct="0">
              <a:spcBef>
                <a:spcPts val="800"/>
              </a:spcBef>
              <a:spcAft>
                <a:spcPts val="800"/>
              </a:spcAft>
            </a:pPr>
            <a:r>
              <a:rPr lang="ko-KR" altLang="en-US" sz="1400" b="1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업무 영역별 주요 결함</a:t>
            </a:r>
            <a:endParaRPr lang="en-US" altLang="ko-KR" sz="1400" dirty="0"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5B7B7229-E3BA-3F49-C91A-B403B75B848D}"/>
              </a:ext>
            </a:extLst>
          </p:cNvPr>
          <p:cNvGraphicFramePr>
            <a:graphicFrameLocks noGrp="1"/>
          </p:cNvGraphicFramePr>
          <p:nvPr/>
        </p:nvGraphicFramePr>
        <p:xfrm>
          <a:off x="902425" y="1326688"/>
          <a:ext cx="10444844" cy="4409213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580754">
                  <a:extLst>
                    <a:ext uri="{9D8B030D-6E8A-4147-A177-3AD203B41FA5}">
                      <a16:colId xmlns:a16="http://schemas.microsoft.com/office/drawing/2014/main" val="1306198890"/>
                    </a:ext>
                  </a:extLst>
                </a:gridCol>
                <a:gridCol w="982930">
                  <a:extLst>
                    <a:ext uri="{9D8B030D-6E8A-4147-A177-3AD203B41FA5}">
                      <a16:colId xmlns:a16="http://schemas.microsoft.com/office/drawing/2014/main" val="3592351258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4038827903"/>
                    </a:ext>
                  </a:extLst>
                </a:gridCol>
                <a:gridCol w="710733">
                  <a:extLst>
                    <a:ext uri="{9D8B030D-6E8A-4147-A177-3AD203B41FA5}">
                      <a16:colId xmlns:a16="http://schemas.microsoft.com/office/drawing/2014/main" val="3209586441"/>
                    </a:ext>
                  </a:extLst>
                </a:gridCol>
                <a:gridCol w="951352">
                  <a:extLst>
                    <a:ext uri="{9D8B030D-6E8A-4147-A177-3AD203B41FA5}">
                      <a16:colId xmlns:a16="http://schemas.microsoft.com/office/drawing/2014/main" val="176146514"/>
                    </a:ext>
                  </a:extLst>
                </a:gridCol>
                <a:gridCol w="951352">
                  <a:extLst>
                    <a:ext uri="{9D8B030D-6E8A-4147-A177-3AD203B41FA5}">
                      <a16:colId xmlns:a16="http://schemas.microsoft.com/office/drawing/2014/main" val="3717851300"/>
                    </a:ext>
                  </a:extLst>
                </a:gridCol>
                <a:gridCol w="888238">
                  <a:extLst>
                    <a:ext uri="{9D8B030D-6E8A-4147-A177-3AD203B41FA5}">
                      <a16:colId xmlns:a16="http://schemas.microsoft.com/office/drawing/2014/main" val="1752925775"/>
                    </a:ext>
                  </a:extLst>
                </a:gridCol>
                <a:gridCol w="1103578">
                  <a:extLst>
                    <a:ext uri="{9D8B030D-6E8A-4147-A177-3AD203B41FA5}">
                      <a16:colId xmlns:a16="http://schemas.microsoft.com/office/drawing/2014/main" val="435457311"/>
                    </a:ext>
                  </a:extLst>
                </a:gridCol>
                <a:gridCol w="862241">
                  <a:extLst>
                    <a:ext uri="{9D8B030D-6E8A-4147-A177-3AD203B41FA5}">
                      <a16:colId xmlns:a16="http://schemas.microsoft.com/office/drawing/2014/main" val="688251982"/>
                    </a:ext>
                  </a:extLst>
                </a:gridCol>
                <a:gridCol w="2499266">
                  <a:extLst>
                    <a:ext uri="{9D8B030D-6E8A-4147-A177-3AD203B41FA5}">
                      <a16:colId xmlns:a16="http://schemas.microsoft.com/office/drawing/2014/main" val="77354026"/>
                    </a:ext>
                  </a:extLst>
                </a:gridCol>
              </a:tblGrid>
              <a:tr h="379739">
                <a:tc gridSpan="2"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ko-KR" sz="1200" b="1" kern="100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모듈명</a:t>
                      </a:r>
                      <a:endParaRPr lang="ko-KR" sz="1200" b="1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ko-KR" altLang="en-US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대상 시나리오</a:t>
                      </a:r>
                      <a:endParaRPr lang="ko-KR" sz="1200" b="1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ko-KR" altLang="en-US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결</a:t>
                      </a:r>
                      <a:r>
                        <a:rPr lang="ko-KR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함</a:t>
                      </a:r>
                      <a:endParaRPr lang="ko-KR" sz="1200" b="1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ko-KR" altLang="en-US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결함</a:t>
                      </a:r>
                      <a:endParaRPr lang="ko-KR" sz="1200" b="1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ko-KR" altLang="en-US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개선</a:t>
                      </a:r>
                      <a:r>
                        <a:rPr lang="en-US" altLang="ko-KR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/</a:t>
                      </a:r>
                      <a:r>
                        <a:rPr lang="ko-KR" altLang="en-US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변경</a:t>
                      </a:r>
                      <a:endParaRPr lang="ko-KR" sz="1200" b="1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ko-KR" altLang="en-US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개선</a:t>
                      </a:r>
                      <a:r>
                        <a:rPr lang="en-US" altLang="ko-KR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/</a:t>
                      </a:r>
                      <a:r>
                        <a:rPr lang="ko-KR" altLang="en-US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변경</a:t>
                      </a:r>
                      <a:endParaRPr lang="ko-KR" sz="1200" b="1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ko-KR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재테스트</a:t>
                      </a:r>
                      <a:r>
                        <a:rPr lang="en-US" altLang="ko-KR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</a:t>
                      </a:r>
                      <a:r>
                        <a:rPr lang="ko-KR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완료</a:t>
                      </a:r>
                      <a:endParaRPr lang="ko-KR" sz="1200" b="1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ko-KR" altLang="en-US" sz="1200" b="1" kern="100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조치율</a:t>
                      </a:r>
                      <a:r>
                        <a:rPr lang="en-US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(%)</a:t>
                      </a:r>
                      <a:endParaRPr lang="ko-KR" sz="1200" b="1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ko-KR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비고</a:t>
                      </a:r>
                      <a:r>
                        <a:rPr lang="en-US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(</a:t>
                      </a:r>
                      <a:r>
                        <a:rPr lang="ko-KR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주요 이슈</a:t>
                      </a:r>
                      <a:r>
                        <a:rPr lang="en-US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)</a:t>
                      </a:r>
                      <a:endParaRPr lang="ko-KR" sz="1200" b="1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0301074"/>
                  </a:ext>
                </a:extLst>
              </a:tr>
              <a:tr h="379739">
                <a:tc>
                  <a:txBody>
                    <a:bodyPr/>
                    <a:lstStyle/>
                    <a:p>
                      <a:pPr latinLnBrk="1">
                        <a:spcAft>
                          <a:spcPts val="800"/>
                        </a:spcAft>
                        <a:buNone/>
                      </a:pP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공항운영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800"/>
                        </a:spcAft>
                        <a:buNone/>
                      </a:pP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모바일</a:t>
                      </a: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(WES)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>
                        <a:spcAft>
                          <a:spcPts val="800"/>
                        </a:spcAft>
                        <a:buNone/>
                      </a:pP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194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74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52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24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24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-</a:t>
                      </a:r>
                      <a:endParaRPr lang="ko-KR" sz="1200" kern="10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0%</a:t>
                      </a:r>
                      <a:endParaRPr lang="ko-KR" sz="1200" kern="10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800"/>
                        </a:spcAft>
                        <a:buNone/>
                      </a:pP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스키마 누락</a:t>
                      </a: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, </a:t>
                      </a: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데이터 부재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20484647"/>
                  </a:ext>
                </a:extLst>
              </a:tr>
              <a:tr h="379739">
                <a:tc>
                  <a:txBody>
                    <a:bodyPr/>
                    <a:lstStyle/>
                    <a:p>
                      <a:pPr latinLnBrk="1">
                        <a:spcAft>
                          <a:spcPts val="800"/>
                        </a:spcAft>
                        <a:buNone/>
                      </a:pP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800"/>
                        </a:spcAft>
                        <a:buNone/>
                      </a:pP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공항운영</a:t>
                      </a: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(GO)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>
                        <a:spcAft>
                          <a:spcPts val="800"/>
                        </a:spcAft>
                        <a:buNone/>
                      </a:pP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120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46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18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27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27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-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0%</a:t>
                      </a:r>
                      <a:endParaRPr lang="ko-KR" sz="1200" kern="10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800"/>
                        </a:spcAft>
                        <a:buNone/>
                      </a:pP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리포트 합계 불일치</a:t>
                      </a: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(</a:t>
                      </a: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정합성</a:t>
                      </a: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)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59883549"/>
                  </a:ext>
                </a:extLst>
              </a:tr>
              <a:tr h="379739">
                <a:tc>
                  <a:txBody>
                    <a:bodyPr/>
                    <a:lstStyle/>
                    <a:p>
                      <a:pPr latinLnBrk="1">
                        <a:spcAft>
                          <a:spcPts val="800"/>
                        </a:spcAft>
                        <a:buNone/>
                      </a:pP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800"/>
                        </a:spcAft>
                        <a:buNone/>
                      </a:pPr>
                      <a:r>
                        <a:rPr lang="ko-KR" sz="1200" kern="10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운항계획</a:t>
                      </a:r>
                      <a:r>
                        <a:rPr lang="en-US" sz="1200" kern="10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(FP)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>
                        <a:spcAft>
                          <a:spcPts val="800"/>
                        </a:spcAft>
                        <a:buNone/>
                      </a:pP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67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22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20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18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18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-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0%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800"/>
                        </a:spcAft>
                        <a:buNone/>
                      </a:pP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서버 오류</a:t>
                      </a: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(500), </a:t>
                      </a: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테이블 </a:t>
                      </a:r>
                      <a:r>
                        <a:rPr lang="ko-KR" sz="1200" kern="100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미존재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55698740"/>
                  </a:ext>
                </a:extLst>
              </a:tr>
              <a:tr h="379739">
                <a:tc>
                  <a:txBody>
                    <a:bodyPr/>
                    <a:lstStyle/>
                    <a:p>
                      <a:pPr latinLnBrk="1">
                        <a:spcAft>
                          <a:spcPts val="800"/>
                        </a:spcAft>
                        <a:buNone/>
                      </a:pP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800"/>
                        </a:spcAft>
                        <a:buNone/>
                      </a:pP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항공보안</a:t>
                      </a: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(FS)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>
                        <a:spcAft>
                          <a:spcPts val="800"/>
                        </a:spcAft>
                        <a:buNone/>
                      </a:pP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40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16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5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17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17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-</a:t>
                      </a:r>
                      <a:endParaRPr lang="ko-KR" sz="1200" kern="10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0%</a:t>
                      </a:r>
                      <a:endParaRPr lang="ko-KR" sz="1200" kern="10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800"/>
                        </a:spcAft>
                        <a:buNone/>
                      </a:pP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화면 로딩 불가</a:t>
                      </a: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(Critical)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07584023"/>
                  </a:ext>
                </a:extLst>
              </a:tr>
              <a:tr h="379739">
                <a:tc>
                  <a:txBody>
                    <a:bodyPr/>
                    <a:lstStyle/>
                    <a:p>
                      <a:pPr latinLnBrk="1">
                        <a:spcAft>
                          <a:spcPts val="800"/>
                        </a:spcAft>
                        <a:buNone/>
                      </a:pP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800"/>
                        </a:spcAft>
                        <a:buNone/>
                      </a:pPr>
                      <a:r>
                        <a:rPr lang="ko-KR" sz="1200" kern="100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통계포털</a:t>
                      </a: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(AS)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>
                        <a:spcAft>
                          <a:spcPts val="800"/>
                        </a:spcAft>
                        <a:buNone/>
                      </a:pP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19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16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3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9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9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-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0%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800"/>
                        </a:spcAft>
                        <a:buNone/>
                      </a:pP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초기화 버튼 </a:t>
                      </a:r>
                      <a:r>
                        <a:rPr lang="ko-KR" sz="1200" kern="100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미동작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4557674"/>
                  </a:ext>
                </a:extLst>
              </a:tr>
              <a:tr h="379739">
                <a:tc>
                  <a:txBody>
                    <a:bodyPr/>
                    <a:lstStyle/>
                    <a:p>
                      <a:pPr latinLnBrk="1">
                        <a:spcAft>
                          <a:spcPts val="800"/>
                        </a:spcAft>
                        <a:buNone/>
                      </a:pP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800"/>
                        </a:spcAft>
                        <a:buNone/>
                      </a:pP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공통관리</a:t>
                      </a: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(CA)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>
                        <a:spcAft>
                          <a:spcPts val="800"/>
                        </a:spcAft>
                        <a:buNone/>
                      </a:pP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54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15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10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5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5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-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0%</a:t>
                      </a:r>
                      <a:endParaRPr lang="ko-KR" sz="1200" kern="10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800"/>
                        </a:spcAft>
                        <a:buNone/>
                      </a:pPr>
                      <a:r>
                        <a:rPr lang="ko-KR" sz="1200" kern="10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권한 설정</a:t>
                      </a:r>
                      <a:r>
                        <a:rPr lang="en-US" sz="1200" kern="10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, </a:t>
                      </a:r>
                      <a:r>
                        <a:rPr lang="ko-KR" sz="1200" kern="10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공통 코드 부재</a:t>
                      </a:r>
                      <a:endParaRPr lang="ko-KR" sz="1200" kern="10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71275337"/>
                  </a:ext>
                </a:extLst>
              </a:tr>
              <a:tr h="379739">
                <a:tc>
                  <a:txBody>
                    <a:bodyPr/>
                    <a:lstStyle/>
                    <a:p>
                      <a:pPr latinLnBrk="1">
                        <a:spcAft>
                          <a:spcPts val="800"/>
                        </a:spcAft>
                        <a:buNone/>
                      </a:pP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800"/>
                        </a:spcAft>
                        <a:buNone/>
                      </a:pP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예측관리</a:t>
                      </a: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(PM)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>
                        <a:spcAft>
                          <a:spcPts val="800"/>
                        </a:spcAft>
                        <a:buNone/>
                      </a:pP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46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15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5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5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5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-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0%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800"/>
                        </a:spcAft>
                        <a:buNone/>
                      </a:pP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프로시저 실행 불가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61281112"/>
                  </a:ext>
                </a:extLst>
              </a:tr>
              <a:tr h="379739">
                <a:tc>
                  <a:txBody>
                    <a:bodyPr/>
                    <a:lstStyle/>
                    <a:p>
                      <a:pPr latinLnBrk="1">
                        <a:spcAft>
                          <a:spcPts val="800"/>
                        </a:spcAft>
                        <a:buNone/>
                      </a:pP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800"/>
                        </a:spcAft>
                        <a:buNone/>
                      </a:pP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자원배정</a:t>
                      </a: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(RS)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>
                        <a:spcAft>
                          <a:spcPts val="800"/>
                        </a:spcAft>
                        <a:buNone/>
                      </a:pP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30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10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4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8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8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-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0%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-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56068547"/>
                  </a:ext>
                </a:extLst>
              </a:tr>
              <a:tr h="379739">
                <a:tc>
                  <a:txBody>
                    <a:bodyPr/>
                    <a:lstStyle/>
                    <a:p>
                      <a:pPr latinLnBrk="1">
                        <a:spcAft>
                          <a:spcPts val="800"/>
                        </a:spcAft>
                        <a:buNone/>
                      </a:pP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800"/>
                        </a:spcAft>
                        <a:buNone/>
                      </a:pP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기타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>
                        <a:spcAft>
                          <a:spcPts val="800"/>
                        </a:spcAft>
                        <a:buNone/>
                      </a:pP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128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15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8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7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7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-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0%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-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76468358"/>
                  </a:ext>
                </a:extLst>
              </a:tr>
              <a:tr h="379739">
                <a:tc gridSpan="2"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ko-KR" altLang="en-US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합계</a:t>
                      </a:r>
                      <a:endParaRPr lang="ko-KR" sz="1200" b="1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latinLnBrk="1">
                        <a:spcAft>
                          <a:spcPts val="800"/>
                        </a:spcAft>
                        <a:buNone/>
                      </a:pPr>
                      <a:r>
                        <a:rPr lang="en-US" altLang="ko-KR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698</a:t>
                      </a:r>
                      <a:endParaRPr lang="ko-KR" sz="1200" b="1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245</a:t>
                      </a:r>
                      <a:endParaRPr lang="ko-KR" sz="1200" b="1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125</a:t>
                      </a:r>
                      <a:endParaRPr lang="ko-KR" sz="1200" b="1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120</a:t>
                      </a:r>
                      <a:endParaRPr lang="ko-KR" sz="1200" b="1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120</a:t>
                      </a:r>
                      <a:endParaRPr lang="ko-KR" sz="1200" b="1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0</a:t>
                      </a:r>
                      <a:endParaRPr lang="ko-KR" sz="1200" b="1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0%</a:t>
                      </a:r>
                      <a:endParaRPr lang="ko-KR" sz="1200" b="1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800"/>
                        </a:spcAft>
                        <a:buNone/>
                      </a:pPr>
                      <a:r>
                        <a:rPr lang="ko-KR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환경 조치 선행 필수</a:t>
                      </a:r>
                      <a:endParaRPr lang="ko-KR" sz="1200" b="1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24790032"/>
                  </a:ext>
                </a:extLst>
              </a:tr>
            </a:tbl>
          </a:graphicData>
        </a:graphic>
      </p:graphicFrame>
      <p:sp>
        <p:nvSpPr>
          <p:cNvPr id="5" name="타원 4">
            <a:extLst>
              <a:ext uri="{FF2B5EF4-FFF2-40B4-BE49-F238E27FC236}">
                <a16:creationId xmlns:a16="http://schemas.microsoft.com/office/drawing/2014/main" id="{DBA94552-94FD-4365-3FA3-7945180CF7E5}"/>
              </a:ext>
            </a:extLst>
          </p:cNvPr>
          <p:cNvSpPr/>
          <p:nvPr/>
        </p:nvSpPr>
        <p:spPr>
          <a:xfrm>
            <a:off x="10452101" y="1"/>
            <a:ext cx="1491008" cy="1514764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b="1" dirty="0">
                <a:solidFill>
                  <a:schemeClr val="tx1"/>
                </a:solidFill>
              </a:rPr>
              <a:t>조치 완료</a:t>
            </a:r>
            <a:endParaRPr lang="en-US" altLang="ko-KR" sz="240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2400" b="1" dirty="0">
                <a:solidFill>
                  <a:schemeClr val="tx1"/>
                </a:solidFill>
              </a:rPr>
              <a:t>현행화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6D521385-3946-482F-BE99-15F3865566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892" y="91161"/>
            <a:ext cx="5652516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indent="-354013" defTabSz="957743">
              <a:defRPr sz="2200" spc="-11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9pPr>
          </a:lstStyle>
          <a:p>
            <a:pPr latinLnBrk="0">
              <a:defRPr/>
            </a:pPr>
            <a:r>
              <a:rPr kumimoji="0" lang="ko-KR" altLang="en-US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  <a:r>
              <a:rPr kumimoji="0" lang="en-US" altLang="ko-KR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II – 4. </a:t>
            </a:r>
            <a:r>
              <a:rPr lang="ko-KR" altLang="ko-KR" sz="20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결함 원인 상세 분석</a:t>
            </a:r>
            <a:endParaRPr kumimoji="0" lang="en-US" altLang="ko-KR" sz="2000" b="1" i="0" u="none" strike="noStrike" kern="1200" cap="none" spc="-11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565382742"/>
      </p:ext>
    </p:extLst>
  </p:cSld>
  <p:clrMapOvr>
    <a:masterClrMapping/>
  </p:clrMapOvr>
  <p:transition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3B06D4AA-BBFC-4BB0-B4C5-2F4120FAED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8412452"/>
              </p:ext>
            </p:extLst>
          </p:nvPr>
        </p:nvGraphicFramePr>
        <p:xfrm>
          <a:off x="1035699" y="1856980"/>
          <a:ext cx="10098800" cy="4114607"/>
        </p:xfrm>
        <a:graphic>
          <a:graphicData uri="http://schemas.openxmlformats.org/drawingml/2006/table">
            <a:tbl>
              <a:tblPr/>
              <a:tblGrid>
                <a:gridCol w="2147729">
                  <a:extLst>
                    <a:ext uri="{9D8B030D-6E8A-4147-A177-3AD203B41FA5}">
                      <a16:colId xmlns:a16="http://schemas.microsoft.com/office/drawing/2014/main" val="2016690265"/>
                    </a:ext>
                  </a:extLst>
                </a:gridCol>
                <a:gridCol w="894887">
                  <a:extLst>
                    <a:ext uri="{9D8B030D-6E8A-4147-A177-3AD203B41FA5}">
                      <a16:colId xmlns:a16="http://schemas.microsoft.com/office/drawing/2014/main" val="3152254766"/>
                    </a:ext>
                  </a:extLst>
                </a:gridCol>
                <a:gridCol w="894887">
                  <a:extLst>
                    <a:ext uri="{9D8B030D-6E8A-4147-A177-3AD203B41FA5}">
                      <a16:colId xmlns:a16="http://schemas.microsoft.com/office/drawing/2014/main" val="1152330996"/>
                    </a:ext>
                  </a:extLst>
                </a:gridCol>
                <a:gridCol w="894887">
                  <a:extLst>
                    <a:ext uri="{9D8B030D-6E8A-4147-A177-3AD203B41FA5}">
                      <a16:colId xmlns:a16="http://schemas.microsoft.com/office/drawing/2014/main" val="3174761079"/>
                    </a:ext>
                  </a:extLst>
                </a:gridCol>
                <a:gridCol w="894887">
                  <a:extLst>
                    <a:ext uri="{9D8B030D-6E8A-4147-A177-3AD203B41FA5}">
                      <a16:colId xmlns:a16="http://schemas.microsoft.com/office/drawing/2014/main" val="1542610492"/>
                    </a:ext>
                  </a:extLst>
                </a:gridCol>
                <a:gridCol w="894887">
                  <a:extLst>
                    <a:ext uri="{9D8B030D-6E8A-4147-A177-3AD203B41FA5}">
                      <a16:colId xmlns:a16="http://schemas.microsoft.com/office/drawing/2014/main" val="247778219"/>
                    </a:ext>
                  </a:extLst>
                </a:gridCol>
                <a:gridCol w="894887">
                  <a:extLst>
                    <a:ext uri="{9D8B030D-6E8A-4147-A177-3AD203B41FA5}">
                      <a16:colId xmlns:a16="http://schemas.microsoft.com/office/drawing/2014/main" val="1981458207"/>
                    </a:ext>
                  </a:extLst>
                </a:gridCol>
                <a:gridCol w="894887">
                  <a:extLst>
                    <a:ext uri="{9D8B030D-6E8A-4147-A177-3AD203B41FA5}">
                      <a16:colId xmlns:a16="http://schemas.microsoft.com/office/drawing/2014/main" val="3016559347"/>
                    </a:ext>
                  </a:extLst>
                </a:gridCol>
                <a:gridCol w="894887">
                  <a:extLst>
                    <a:ext uri="{9D8B030D-6E8A-4147-A177-3AD203B41FA5}">
                      <a16:colId xmlns:a16="http://schemas.microsoft.com/office/drawing/2014/main" val="3992459896"/>
                    </a:ext>
                  </a:extLst>
                </a:gridCol>
                <a:gridCol w="791975">
                  <a:extLst>
                    <a:ext uri="{9D8B030D-6E8A-4147-A177-3AD203B41FA5}">
                      <a16:colId xmlns:a16="http://schemas.microsoft.com/office/drawing/2014/main" val="4270341195"/>
                    </a:ext>
                  </a:extLst>
                </a:gridCol>
              </a:tblGrid>
              <a:tr h="406742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업무영역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기능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프로세스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UI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표준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인터페이스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데이터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문서화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총합계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7340609"/>
                  </a:ext>
                </a:extLst>
              </a:tr>
              <a:tr h="247191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예측관리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PM)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72182909"/>
                  </a:ext>
                </a:extLst>
              </a:tr>
              <a:tr h="247191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항공보안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FS)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38794079"/>
                  </a:ext>
                </a:extLst>
              </a:tr>
              <a:tr h="247191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공항운영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GO)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85707833"/>
                  </a:ext>
                </a:extLst>
              </a:tr>
              <a:tr h="247191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항공통계포털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(AS)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04980407"/>
                  </a:ext>
                </a:extLst>
              </a:tr>
              <a:tr h="247191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A-CDM(CM)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66965088"/>
                  </a:ext>
                </a:extLst>
              </a:tr>
              <a:tr h="247191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SLOT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관리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SLOT)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9510739"/>
                  </a:ext>
                </a:extLst>
              </a:tr>
              <a:tr h="247191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공통관리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AOMS-CA)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89718084"/>
                  </a:ext>
                </a:extLst>
              </a:tr>
              <a:tr h="247191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모바일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MES)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0661074"/>
                  </a:ext>
                </a:extLst>
              </a:tr>
              <a:tr h="247191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모바일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WES)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82819253"/>
                  </a:ext>
                </a:extLst>
              </a:tr>
              <a:tr h="247191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자원배정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RS)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30230588"/>
                  </a:ext>
                </a:extLst>
              </a:tr>
              <a:tr h="247191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운항계획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FP)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9370180"/>
                  </a:ext>
                </a:extLst>
              </a:tr>
              <a:tr h="247191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공통관리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FIMS-CA)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27805130"/>
                  </a:ext>
                </a:extLst>
              </a:tr>
              <a:tr h="247191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자원배정차트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(RC)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26566724"/>
                  </a:ext>
                </a:extLst>
              </a:tr>
              <a:tr h="247191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항공기관제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AC)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28648596"/>
                  </a:ext>
                </a:extLst>
              </a:tr>
              <a:tr h="247191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총합계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240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4687403"/>
                  </a:ext>
                </a:extLst>
              </a:tr>
            </a:tbl>
          </a:graphicData>
        </a:graphic>
      </p:graphicFrame>
      <p:sp>
        <p:nvSpPr>
          <p:cNvPr id="6" name="직사각형 5">
            <a:extLst>
              <a:ext uri="{FF2B5EF4-FFF2-40B4-BE49-F238E27FC236}">
                <a16:creationId xmlns:a16="http://schemas.microsoft.com/office/drawing/2014/main" id="{945E5835-C84A-46FA-A742-D74E0DCFE780}"/>
              </a:ext>
            </a:extLst>
          </p:cNvPr>
          <p:cNvSpPr/>
          <p:nvPr/>
        </p:nvSpPr>
        <p:spPr>
          <a:xfrm>
            <a:off x="7665096" y="1838506"/>
            <a:ext cx="1777484" cy="413308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B80FED9-A85C-4DEE-875B-32A6A35EC525}"/>
              </a:ext>
            </a:extLst>
          </p:cNvPr>
          <p:cNvSpPr/>
          <p:nvPr/>
        </p:nvSpPr>
        <p:spPr>
          <a:xfrm>
            <a:off x="4076027" y="1838506"/>
            <a:ext cx="884643" cy="413308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8" name="TextBox 27">
            <a:extLst>
              <a:ext uri="{FF2B5EF4-FFF2-40B4-BE49-F238E27FC236}">
                <a16:creationId xmlns:a16="http://schemas.microsoft.com/office/drawing/2014/main" id="{9AFEAA47-C982-4F39-8D4F-7E1A5AAFE2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809" y="1073479"/>
            <a:ext cx="10567198" cy="3699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latinLnBrk="0">
              <a:lnSpc>
                <a:spcPct val="120000"/>
              </a:lnSpc>
              <a:spcBef>
                <a:spcPct val="30000"/>
              </a:spcBef>
              <a:buFont typeface="Wingdings" pitchFamily="2" charset="2"/>
              <a:buNone/>
            </a:pPr>
            <a:r>
              <a:rPr lang="ko-KR" altLang="en-US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기능</a:t>
            </a:r>
            <a:r>
              <a:rPr lang="en-US" altLang="ko-KR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altLang="en-US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오류</a:t>
            </a:r>
            <a:r>
              <a:rPr lang="en-US" altLang="ko-KR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, </a:t>
            </a:r>
            <a:r>
              <a:rPr lang="ko-KR" altLang="en-US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데이터</a:t>
            </a:r>
            <a:r>
              <a:rPr lang="en-US" altLang="ko-KR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, </a:t>
            </a:r>
            <a:r>
              <a:rPr lang="ko-KR" altLang="en-US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문서</a:t>
            </a:r>
            <a:r>
              <a:rPr lang="en-US" altLang="ko-KR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(</a:t>
            </a:r>
            <a:r>
              <a:rPr lang="ko-KR" altLang="en-US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테스트 결과서</a:t>
            </a:r>
            <a:r>
              <a:rPr lang="en-US" altLang="ko-KR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)  </a:t>
            </a:r>
            <a:r>
              <a:rPr lang="ko-KR" altLang="en-US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등의 결함 처리</a:t>
            </a:r>
            <a:r>
              <a:rPr lang="en-US" altLang="ko-KR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, </a:t>
            </a:r>
            <a:r>
              <a:rPr lang="ko-KR" altLang="en-US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개선 진행 필요함</a:t>
            </a: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B11B556E-178D-4A6A-9C1E-84457C91B3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892" y="91161"/>
            <a:ext cx="5652516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indent="-354013" defTabSz="957743">
              <a:defRPr sz="2200" spc="-11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9pPr>
          </a:lstStyle>
          <a:p>
            <a:pPr lvl="0" latinLnBrk="0">
              <a:defRPr/>
            </a:pPr>
            <a:r>
              <a:rPr kumimoji="0" lang="ko-KR" altLang="en-US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  <a:r>
              <a:rPr lang="en-US" altLang="ko-KR" sz="2000" b="1" dirty="0">
                <a:solidFill>
                  <a:prstClr val="white"/>
                </a:solidFill>
              </a:rPr>
              <a:t>3</a:t>
            </a:r>
            <a:r>
              <a:rPr kumimoji="0" lang="en-US" altLang="ko-KR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.</a:t>
            </a:r>
            <a:r>
              <a:rPr kumimoji="0" lang="ko-KR" altLang="en-US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  <a:r>
              <a:rPr lang="ko-KR" altLang="en-US" sz="2000" b="1" dirty="0">
                <a:solidFill>
                  <a:prstClr val="white"/>
                </a:solidFill>
              </a:rPr>
              <a:t>테스트 결과</a:t>
            </a:r>
            <a:endParaRPr kumimoji="0" lang="en-US" altLang="ko-KR" sz="2000" b="1" i="0" u="none" strike="noStrike" kern="1200" cap="none" spc="-11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346566111"/>
      </p:ext>
    </p:extLst>
  </p:cSld>
  <p:clrMapOvr>
    <a:masterClrMapping/>
  </p:clrMapOvr>
  <p:transition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">
            <a:extLst>
              <a:ext uri="{FF2B5EF4-FFF2-40B4-BE49-F238E27FC236}">
                <a16:creationId xmlns:a16="http://schemas.microsoft.com/office/drawing/2014/main" id="{C9ED3EB1-9AB1-4FBA-E43B-912930EB48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892" y="91161"/>
            <a:ext cx="5652516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indent="-354013" defTabSz="957743">
              <a:defRPr sz="2200" spc="-11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9pPr>
          </a:lstStyle>
          <a:p>
            <a:pPr lvl="0" latinLnBrk="0">
              <a:defRPr/>
            </a:pPr>
            <a:r>
              <a:rPr kumimoji="0" lang="ko-KR" altLang="en-US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  <a:r>
              <a:rPr lang="en-US" altLang="ko-KR" sz="2000" b="1" noProof="0" dirty="0">
                <a:solidFill>
                  <a:prstClr val="white"/>
                </a:solidFill>
              </a:rPr>
              <a:t>5</a:t>
            </a:r>
            <a:r>
              <a:rPr kumimoji="0" lang="en-US" altLang="ko-KR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.</a:t>
            </a:r>
            <a:r>
              <a:rPr kumimoji="0" lang="ko-KR" altLang="en-US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 종합평가</a:t>
            </a:r>
            <a:endParaRPr kumimoji="0" lang="en-US" altLang="ko-KR" sz="2000" b="1" i="0" u="none" strike="noStrike" kern="1200" cap="none" spc="-11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graphicFrame>
        <p:nvGraphicFramePr>
          <p:cNvPr id="11" name="표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2768131"/>
              </p:ext>
            </p:extLst>
          </p:nvPr>
        </p:nvGraphicFramePr>
        <p:xfrm>
          <a:off x="324463" y="1340678"/>
          <a:ext cx="10881601" cy="4910292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2184310">
                  <a:extLst>
                    <a:ext uri="{9D8B030D-6E8A-4147-A177-3AD203B41FA5}">
                      <a16:colId xmlns:a16="http://schemas.microsoft.com/office/drawing/2014/main" val="4234438739"/>
                    </a:ext>
                  </a:extLst>
                </a:gridCol>
                <a:gridCol w="8697291">
                  <a:extLst>
                    <a:ext uri="{9D8B030D-6E8A-4147-A177-3AD203B41FA5}">
                      <a16:colId xmlns:a16="http://schemas.microsoft.com/office/drawing/2014/main" val="2323507257"/>
                    </a:ext>
                  </a:extLst>
                </a:gridCol>
              </a:tblGrid>
              <a:tr h="48071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검증 구분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내용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5793833"/>
                  </a:ext>
                </a:extLst>
              </a:tr>
              <a:tr h="110174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프로시저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AutoNum type="arabicPeriod"/>
                        <a:tabLst/>
                        <a:defRPr/>
                      </a:pPr>
                      <a:r>
                        <a:rPr lang="ko-KR" altLang="en-US" sz="135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단위테스트시 </a:t>
                      </a:r>
                      <a:r>
                        <a:rPr lang="ko-KR" altLang="en-US" sz="1350" dirty="0" err="1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실행전</a:t>
                      </a:r>
                      <a:r>
                        <a:rPr lang="ko-KR" altLang="en-US" sz="135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 쿼리</a:t>
                      </a:r>
                      <a:r>
                        <a:rPr lang="en-US" altLang="ko-KR" sz="135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, </a:t>
                      </a:r>
                      <a:r>
                        <a:rPr lang="ko-KR" altLang="en-US" sz="1350" dirty="0" err="1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실행후</a:t>
                      </a:r>
                      <a:r>
                        <a:rPr lang="ko-KR" altLang="en-US" sz="135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 확인 쿼리 제공</a:t>
                      </a:r>
                      <a:r>
                        <a:rPr lang="ko-KR" altLang="en-US" sz="1350" baseline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 필요</a:t>
                      </a:r>
                      <a:r>
                        <a:rPr lang="en-US" altLang="ko-KR" sz="1350" baseline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.</a:t>
                      </a:r>
                    </a:p>
                    <a:p>
                      <a:pPr marL="342900" marR="0" lvl="0" indent="-3429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AutoNum type="arabicPeriod"/>
                        <a:tabLst/>
                        <a:defRPr/>
                      </a:pPr>
                      <a:r>
                        <a:rPr lang="ko-KR" altLang="en-US" sz="1350" baseline="0" dirty="0" err="1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파라미터가</a:t>
                      </a:r>
                      <a:r>
                        <a:rPr lang="ko-KR" altLang="en-US" sz="1350" baseline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 있는 경우</a:t>
                      </a:r>
                      <a:r>
                        <a:rPr lang="en-US" altLang="ko-KR" sz="1350" baseline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, </a:t>
                      </a:r>
                      <a:r>
                        <a:rPr lang="ko-KR" altLang="en-US" sz="1350" baseline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상세하게 </a:t>
                      </a:r>
                      <a:r>
                        <a:rPr lang="ko-KR" altLang="en-US" sz="1350" baseline="0" dirty="0" err="1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파라미터</a:t>
                      </a:r>
                      <a:r>
                        <a:rPr lang="ko-KR" altLang="en-US" sz="1350" baseline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 설정 또는 테스트 방법 가이드 필요</a:t>
                      </a:r>
                      <a:endParaRPr lang="en-US" altLang="ko-KR" sz="1350" baseline="0" dirty="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  <a:p>
                      <a:pPr marL="342900" marR="0" lvl="0" indent="-3429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AutoNum type="arabicPeriod"/>
                        <a:tabLst/>
                        <a:defRPr/>
                      </a:pPr>
                      <a:r>
                        <a:rPr lang="ko-KR" altLang="en-US" sz="1350" baseline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프로시저 실행 권한이 </a:t>
                      </a:r>
                      <a:r>
                        <a:rPr lang="ko-KR" altLang="en-US" sz="1350" baseline="0" dirty="0" err="1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유저별로</a:t>
                      </a:r>
                      <a:r>
                        <a:rPr lang="ko-KR" altLang="en-US" sz="1350" baseline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 부여되어 있어</a:t>
                      </a:r>
                      <a:r>
                        <a:rPr lang="en-US" altLang="ko-KR" sz="1350" baseline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, 3</a:t>
                      </a:r>
                      <a:r>
                        <a:rPr lang="ko-KR" altLang="en-US" sz="1350" baseline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자 테스터가 수행할 수 있도록 </a:t>
                      </a:r>
                      <a:br>
                        <a:rPr lang="en-US" altLang="ko-KR" sz="1350" baseline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</a:br>
                      <a:r>
                        <a:rPr lang="ko-KR" altLang="en-US" sz="1350" baseline="0" dirty="0" err="1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모듈별</a:t>
                      </a:r>
                      <a:r>
                        <a:rPr lang="ko-KR" altLang="en-US" sz="1350" baseline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 유저 목록 또는 권한이 있는 하나의 계정 제공 필요</a:t>
                      </a:r>
                      <a:endParaRPr lang="en-US" altLang="ko-KR" sz="1350" baseline="0" dirty="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  <a:p>
                      <a:pPr marL="342900" marR="0" lvl="0" indent="-3429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AutoNum type="arabicPeriod"/>
                        <a:tabLst/>
                        <a:defRPr/>
                      </a:pPr>
                      <a:r>
                        <a:rPr lang="ko-KR" altLang="en-US" sz="1350" baseline="0" dirty="0" err="1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프로시져</a:t>
                      </a:r>
                      <a:r>
                        <a:rPr lang="ko-KR" altLang="en-US" sz="1350" baseline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 내 오브젝트 권한 부여</a:t>
                      </a:r>
                      <a:endParaRPr lang="en-US" altLang="ko-KR" sz="1350" dirty="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3819825"/>
                  </a:ext>
                </a:extLst>
              </a:tr>
              <a:tr h="110174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배치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AutoNum type="arabicPeriod"/>
                        <a:tabLst/>
                        <a:defRPr/>
                      </a:pPr>
                      <a:r>
                        <a:rPr lang="ko-KR" altLang="en-US" sz="135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배치 검증 방법에 대해 상세한 가이드 제공 </a:t>
                      </a:r>
                      <a:endParaRPr lang="en-US" altLang="ko-KR" sz="1350" dirty="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  <a:p>
                      <a:pPr marL="342900" marR="0" lvl="0" indent="-3429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AutoNum type="arabicPeriod"/>
                        <a:tabLst/>
                        <a:defRPr/>
                      </a:pPr>
                      <a:r>
                        <a:rPr lang="ko-KR" altLang="en-US" sz="135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필요</a:t>
                      </a:r>
                      <a:endParaRPr lang="en-US" altLang="ko-KR" sz="1350" dirty="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35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   - </a:t>
                      </a:r>
                      <a:r>
                        <a:rPr lang="ko-KR" altLang="en-US" sz="135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단계별 시나리오 상세화</a:t>
                      </a:r>
                      <a:br>
                        <a:rPr lang="en-US" altLang="ko-KR" sz="135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</a:br>
                      <a:r>
                        <a:rPr lang="en-US" altLang="ko-KR" sz="1350" baseline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   - </a:t>
                      </a:r>
                      <a:r>
                        <a:rPr lang="ko-KR" altLang="en-US" sz="1350" baseline="0" dirty="0" err="1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스텝별</a:t>
                      </a:r>
                      <a:r>
                        <a:rPr lang="ko-KR" altLang="en-US" sz="1350" baseline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 실행 스크립트 제시 및 </a:t>
                      </a:r>
                      <a:r>
                        <a:rPr lang="ko-KR" altLang="en-US" sz="135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검증 쿼리 제공</a:t>
                      </a:r>
                      <a:endParaRPr lang="en-US" altLang="ko-KR" sz="1350" dirty="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35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   - </a:t>
                      </a:r>
                      <a:r>
                        <a:rPr lang="en-US" altLang="ko-KR" sz="1350" dirty="0" err="1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cron</a:t>
                      </a:r>
                      <a:r>
                        <a:rPr lang="en-US" altLang="ko-KR" sz="135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 tab</a:t>
                      </a:r>
                      <a:r>
                        <a:rPr lang="en-US" altLang="ko-KR" sz="1350" baseline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 </a:t>
                      </a:r>
                      <a:r>
                        <a:rPr lang="ko-KR" altLang="en-US" sz="1350" baseline="0" dirty="0" err="1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스케쥴</a:t>
                      </a:r>
                      <a:r>
                        <a:rPr lang="ko-KR" altLang="en-US" sz="1350" baseline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 등록 확인 등의 테스트케이스는 </a:t>
                      </a:r>
                      <a:r>
                        <a:rPr lang="en-US" altLang="ko-KR" sz="1350" baseline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3</a:t>
                      </a:r>
                      <a:r>
                        <a:rPr lang="ko-KR" altLang="en-US" sz="1350" baseline="0" dirty="0" err="1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자테스트가</a:t>
                      </a:r>
                      <a:r>
                        <a:rPr lang="ko-KR" altLang="en-US" sz="1350" baseline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 확인 어려움</a:t>
                      </a:r>
                      <a:endParaRPr lang="en-US" altLang="ko-KR" sz="1350" dirty="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89963935"/>
                  </a:ext>
                </a:extLst>
              </a:tr>
              <a:tr h="132273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온라인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35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1. </a:t>
                      </a:r>
                      <a:r>
                        <a:rPr lang="ko-KR" altLang="en-US" sz="135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화면 경로를 확인할 수 있도록 증빙 이미지에 경로</a:t>
                      </a:r>
                      <a:r>
                        <a:rPr lang="ko-KR" altLang="en-US" sz="1350" baseline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 포함 필요</a:t>
                      </a:r>
                      <a:br>
                        <a:rPr lang="en-US" altLang="ko-KR" sz="1350" baseline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</a:br>
                      <a:r>
                        <a:rPr lang="en-US" altLang="ko-KR" sz="1350" baseline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   - </a:t>
                      </a:r>
                      <a:r>
                        <a:rPr lang="ko-KR" altLang="en-US" sz="1350" baseline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특히 팝업과 탭 화면의 경우는 해당 화면만 </a:t>
                      </a:r>
                      <a:r>
                        <a:rPr lang="ko-KR" altLang="en-US" sz="1350" baseline="0" dirty="0" err="1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캡춰하여</a:t>
                      </a:r>
                      <a:r>
                        <a:rPr lang="ko-KR" altLang="en-US" sz="1350" baseline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 파악이 어려움</a:t>
                      </a:r>
                      <a:endParaRPr lang="en-US" altLang="ko-KR" sz="1350" baseline="0" dirty="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350" baseline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2. </a:t>
                      </a:r>
                      <a:r>
                        <a:rPr lang="ko-KR" altLang="en-US" sz="1350" baseline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테스트 데이터 확보가 어려운 화면의 경우는 테스트 데이터 확보에 대한 가이드 제시 필요</a:t>
                      </a:r>
                      <a:endParaRPr lang="en-US" altLang="ko-KR" sz="1350" baseline="0" dirty="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350" baseline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3. </a:t>
                      </a:r>
                      <a:r>
                        <a:rPr lang="ko-KR" altLang="en-US" sz="1350" baseline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복잡한 화면 검증이 필요한 경우는 상세하게 시나리오 또는 검증 이미지에 설명 기술 필요</a:t>
                      </a:r>
                      <a:endParaRPr lang="en-US" altLang="ko-KR" sz="1350" baseline="0" dirty="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350" baseline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4. </a:t>
                      </a:r>
                      <a:r>
                        <a:rPr lang="ko-KR" altLang="en-US" sz="1350" baseline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요청 권한과 승인 권한이 필요한 화면에 대해서는 시나리오에 해당 사항을 기재 필요</a:t>
                      </a:r>
                      <a:endParaRPr lang="en-US" altLang="ko-KR" sz="1350" dirty="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1505710"/>
                  </a:ext>
                </a:extLst>
              </a:tr>
              <a:tr h="86656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단위테스트결과서 </a:t>
                      </a:r>
                      <a:endParaRPr lang="en-US" altLang="ko-KR" sz="1400" dirty="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  <a:p>
                      <a:pPr latinLnBrk="1"/>
                      <a:r>
                        <a:rPr lang="en-US" altLang="ko-KR" sz="140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/ </a:t>
                      </a:r>
                      <a:r>
                        <a:rPr lang="ko-KR" altLang="en-US" sz="140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스크립트 제공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35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3</a:t>
                      </a:r>
                      <a:r>
                        <a:rPr lang="ko-KR" altLang="en-US" sz="135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자 </a:t>
                      </a:r>
                      <a:r>
                        <a:rPr lang="ko-KR" altLang="en-US" sz="1350" dirty="0" err="1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테스트시</a:t>
                      </a:r>
                      <a:r>
                        <a:rPr lang="ko-KR" altLang="en-US" sz="135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 대상에 대해 단위테스트결과서와 스크립트가 제공되는데</a:t>
                      </a:r>
                      <a:r>
                        <a:rPr lang="en-US" altLang="ko-KR" sz="135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, </a:t>
                      </a:r>
                      <a:r>
                        <a:rPr lang="ko-KR" altLang="en-US" sz="135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미흡한 부분이 발생되어 </a:t>
                      </a:r>
                      <a:r>
                        <a:rPr lang="ko-KR" altLang="en-US" sz="1350" dirty="0" err="1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진행시</a:t>
                      </a:r>
                      <a:r>
                        <a:rPr lang="ko-KR" altLang="en-US" sz="135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 어려움 발생</a:t>
                      </a:r>
                      <a:endParaRPr lang="en-US" altLang="ko-KR" sz="1350" dirty="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1193108"/>
                  </a:ext>
                </a:extLst>
              </a:tr>
            </a:tbl>
          </a:graphicData>
        </a:graphic>
      </p:graphicFrame>
      <p:sp>
        <p:nvSpPr>
          <p:cNvPr id="13" name="TextBox 27"/>
          <p:cNvSpPr txBox="1">
            <a:spLocks noChangeArrowheads="1"/>
          </p:cNvSpPr>
          <p:nvPr/>
        </p:nvSpPr>
        <p:spPr bwMode="auto">
          <a:xfrm>
            <a:off x="399352" y="692696"/>
            <a:ext cx="10567198" cy="3877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latinLnBrk="0">
              <a:lnSpc>
                <a:spcPct val="120000"/>
              </a:lnSpc>
              <a:spcBef>
                <a:spcPct val="30000"/>
              </a:spcBef>
              <a:buFont typeface="Wingdings" pitchFamily="2" charset="2"/>
              <a:buNone/>
            </a:pPr>
            <a:r>
              <a:rPr lang="en-US" altLang="ko-KR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3</a:t>
            </a:r>
            <a:r>
              <a:rPr lang="ko-KR" altLang="en-US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자 </a:t>
            </a:r>
            <a:r>
              <a:rPr lang="ko-KR" altLang="en-US" sz="1600" b="1" dirty="0" err="1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테스트시</a:t>
            </a:r>
            <a:r>
              <a:rPr lang="ko-KR" altLang="en-US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필요 사항</a:t>
            </a:r>
          </a:p>
        </p:txBody>
      </p:sp>
    </p:spTree>
    <p:extLst>
      <p:ext uri="{BB962C8B-B14F-4D97-AF65-F5344CB8AC3E}">
        <p14:creationId xmlns:p14="http://schemas.microsoft.com/office/powerpoint/2010/main" val="1046487434"/>
      </p:ext>
    </p:extLst>
  </p:cSld>
  <p:clrMapOvr>
    <a:masterClrMapping/>
  </p:clrMapOvr>
  <p:transition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">
            <a:extLst>
              <a:ext uri="{FF2B5EF4-FFF2-40B4-BE49-F238E27FC236}">
                <a16:creationId xmlns:a16="http://schemas.microsoft.com/office/drawing/2014/main" id="{C9ED3EB1-9AB1-4FBA-E43B-912930EB48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892" y="91161"/>
            <a:ext cx="5652516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indent="-354013" defTabSz="957743">
              <a:defRPr sz="2200" spc="-11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9pPr>
          </a:lstStyle>
          <a:p>
            <a:pPr lvl="0" latinLnBrk="0">
              <a:defRPr/>
            </a:pPr>
            <a:r>
              <a:rPr kumimoji="0" lang="ko-KR" altLang="en-US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  <a:r>
              <a:rPr lang="en-US" altLang="ko-KR" sz="2000" b="1" dirty="0">
                <a:solidFill>
                  <a:prstClr val="white"/>
                </a:solidFill>
              </a:rPr>
              <a:t>6</a:t>
            </a:r>
            <a:r>
              <a:rPr kumimoji="0" lang="en-US" altLang="ko-KR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.</a:t>
            </a:r>
            <a:r>
              <a:rPr kumimoji="0" lang="ko-KR" altLang="en-US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 후속조치 계획</a:t>
            </a:r>
            <a:endParaRPr kumimoji="0" lang="en-US" altLang="ko-KR" sz="2000" b="1" i="0" u="none" strike="noStrike" kern="1200" cap="none" spc="-11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graphicFrame>
        <p:nvGraphicFramePr>
          <p:cNvPr id="11" name="표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3928243"/>
              </p:ext>
            </p:extLst>
          </p:nvPr>
        </p:nvGraphicFramePr>
        <p:xfrm>
          <a:off x="324464" y="1340678"/>
          <a:ext cx="11536219" cy="2424012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3130459">
                  <a:extLst>
                    <a:ext uri="{9D8B030D-6E8A-4147-A177-3AD203B41FA5}">
                      <a16:colId xmlns:a16="http://schemas.microsoft.com/office/drawing/2014/main" val="4234438739"/>
                    </a:ext>
                  </a:extLst>
                </a:gridCol>
                <a:gridCol w="4782051">
                  <a:extLst>
                    <a:ext uri="{9D8B030D-6E8A-4147-A177-3AD203B41FA5}">
                      <a16:colId xmlns:a16="http://schemas.microsoft.com/office/drawing/2014/main" val="2323507257"/>
                    </a:ext>
                  </a:extLst>
                </a:gridCol>
                <a:gridCol w="3623709">
                  <a:extLst>
                    <a:ext uri="{9D8B030D-6E8A-4147-A177-3AD203B41FA5}">
                      <a16:colId xmlns:a16="http://schemas.microsoft.com/office/drawing/2014/main" val="3191043330"/>
                    </a:ext>
                  </a:extLst>
                </a:gridCol>
              </a:tblGrid>
              <a:tr h="40708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구분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내용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참고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5793833"/>
                  </a:ext>
                </a:extLst>
              </a:tr>
              <a:tr h="108393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테스트 </a:t>
                      </a:r>
                      <a:r>
                        <a:rPr lang="ko-KR" altLang="en-US" sz="1400" dirty="0" err="1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결함조치</a:t>
                      </a:r>
                      <a:endParaRPr lang="ko-KR" altLang="en-US" sz="1400" dirty="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개발자</a:t>
                      </a:r>
                      <a:r>
                        <a:rPr lang="en-US" altLang="ko-KR" sz="140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/PL</a:t>
                      </a:r>
                      <a:r>
                        <a:rPr lang="en-US" altLang="ko-KR" sz="1400" baseline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 </a:t>
                      </a:r>
                      <a:r>
                        <a:rPr lang="ko-KR" altLang="en-US" sz="1400" baseline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테스트 결함 조치</a:t>
                      </a:r>
                      <a:r>
                        <a:rPr lang="en-US" altLang="ko-KR" sz="1400" baseline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, </a:t>
                      </a:r>
                      <a:r>
                        <a:rPr lang="ko-KR" altLang="en-US" sz="1400" baseline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확인</a:t>
                      </a:r>
                      <a:endParaRPr lang="en-US" altLang="ko-KR" sz="1400" baseline="0" dirty="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baseline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해당 결함 처리 내역은 공사 테스트 일정</a:t>
                      </a:r>
                      <a:r>
                        <a:rPr lang="en-US" altLang="ko-KR" sz="1400" baseline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(8/4~)</a:t>
                      </a:r>
                      <a:r>
                        <a:rPr lang="ko-KR" altLang="en-US" sz="1400" baseline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 이전에 확인 처리</a:t>
                      </a:r>
                      <a:endParaRPr lang="en-US" altLang="ko-KR" sz="1400" dirty="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40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결함의</a:t>
                      </a:r>
                      <a:r>
                        <a:rPr lang="en-US" altLang="ko-KR" sz="1400" baseline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 </a:t>
                      </a:r>
                      <a:r>
                        <a:rPr lang="ko-KR" altLang="en-US" sz="1400" baseline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근본 원인 파악</a:t>
                      </a:r>
                      <a:r>
                        <a:rPr lang="en-US" altLang="ko-KR" sz="1400" baseline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, </a:t>
                      </a:r>
                      <a:r>
                        <a:rPr lang="ko-KR" altLang="en-US" sz="1400" baseline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대응 처리</a:t>
                      </a:r>
                      <a:endParaRPr lang="en-US" altLang="ko-KR" sz="1400" baseline="0" dirty="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40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결함 처리 확인</a:t>
                      </a:r>
                      <a:r>
                        <a:rPr lang="en-US" altLang="ko-KR" sz="1400" baseline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 </a:t>
                      </a:r>
                      <a:r>
                        <a:rPr lang="ko-KR" altLang="en-US" sz="1400" baseline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과정은 </a:t>
                      </a:r>
                      <a:r>
                        <a:rPr lang="en-US" altLang="ko-KR" sz="1400" baseline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TMS </a:t>
                      </a:r>
                      <a:r>
                        <a:rPr lang="ko-KR" altLang="en-US" sz="1400" baseline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활용</a:t>
                      </a:r>
                      <a:r>
                        <a:rPr lang="en-US" altLang="ko-KR" sz="1400" baseline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, </a:t>
                      </a:r>
                      <a:r>
                        <a:rPr lang="ko-KR" altLang="en-US" sz="1400" baseline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집계</a:t>
                      </a:r>
                      <a:endParaRPr lang="en-US" altLang="ko-KR" sz="1400" baseline="0" dirty="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400" baseline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집계 내역은 주간 공정내 첨부 예정</a:t>
                      </a:r>
                      <a:endParaRPr lang="ko-KR" altLang="en-US" sz="1400" dirty="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7432683"/>
                  </a:ext>
                </a:extLst>
              </a:tr>
              <a:tr h="9330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테스트 개선방향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40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개발팀의 빠른 결함 조치 대응과 테스터의 재확인</a:t>
                      </a:r>
                      <a:r>
                        <a:rPr lang="ko-KR" altLang="en-US" sz="1400" baseline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 절차가 빠르게 진행될 수 있는 방안 내부 논의</a:t>
                      </a:r>
                      <a:endParaRPr lang="en-US" altLang="ko-KR" sz="1400" dirty="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40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개발 일정과 결함 </a:t>
                      </a:r>
                      <a:r>
                        <a:rPr lang="ko-KR" altLang="en-US" sz="1400" dirty="0" err="1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대응일정</a:t>
                      </a:r>
                      <a:r>
                        <a:rPr lang="ko-KR" altLang="en-US" sz="140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 조정</a:t>
                      </a:r>
                      <a:endParaRPr lang="en-US" altLang="ko-KR" sz="1400" dirty="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3819825"/>
                  </a:ext>
                </a:extLst>
              </a:tr>
            </a:tbl>
          </a:graphicData>
        </a:graphic>
      </p:graphicFrame>
      <p:sp>
        <p:nvSpPr>
          <p:cNvPr id="13" name="TextBox 27"/>
          <p:cNvSpPr txBox="1">
            <a:spLocks noChangeArrowheads="1"/>
          </p:cNvSpPr>
          <p:nvPr/>
        </p:nvSpPr>
        <p:spPr bwMode="auto">
          <a:xfrm>
            <a:off x="399352" y="692696"/>
            <a:ext cx="10567198" cy="3877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latinLnBrk="0">
              <a:lnSpc>
                <a:spcPct val="120000"/>
              </a:lnSpc>
              <a:spcBef>
                <a:spcPct val="30000"/>
              </a:spcBef>
              <a:buFont typeface="Wingdings" pitchFamily="2" charset="2"/>
              <a:buNone/>
            </a:pPr>
            <a:r>
              <a:rPr lang="ko-KR" altLang="en-US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테스트 </a:t>
            </a:r>
            <a:r>
              <a:rPr lang="ko-KR" altLang="en-US" sz="1600" b="1" dirty="0" err="1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결함조치</a:t>
            </a:r>
            <a:r>
              <a:rPr lang="en-US" altLang="ko-KR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, </a:t>
            </a:r>
            <a:r>
              <a:rPr lang="ko-KR" altLang="en-US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테스트 개선방향에 대한 논의 진행</a:t>
            </a:r>
          </a:p>
        </p:txBody>
      </p:sp>
    </p:spTree>
    <p:extLst>
      <p:ext uri="{BB962C8B-B14F-4D97-AF65-F5344CB8AC3E}">
        <p14:creationId xmlns:p14="http://schemas.microsoft.com/office/powerpoint/2010/main" val="1198806665"/>
      </p:ext>
    </p:extLst>
  </p:cSld>
  <p:clrMapOvr>
    <a:masterClrMapping/>
  </p:clrMapOvr>
  <p:transition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6C8F2477-8D5C-0C44-F68C-5E35E5096A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67E9F424-D81D-B996-3BAC-2ABEA552BF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892" y="91161"/>
            <a:ext cx="5652516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indent="-354013" defTabSz="957743">
              <a:defRPr sz="2200" spc="-11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9pPr>
          </a:lstStyle>
          <a:p>
            <a:pPr latinLnBrk="0">
              <a:defRPr/>
            </a:pPr>
            <a:r>
              <a:rPr kumimoji="0" lang="ko-KR" altLang="en-US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  <a:r>
              <a:rPr kumimoji="0" lang="en-US" altLang="ko-KR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II – 4. </a:t>
            </a:r>
            <a:r>
              <a:rPr lang="ko-KR" altLang="ko-KR" sz="20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결함 원인 상세 분석</a:t>
            </a:r>
            <a:endParaRPr kumimoji="0" lang="en-US" altLang="ko-KR" sz="2000" b="1" i="0" u="none" strike="noStrike" kern="1200" cap="none" spc="-11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D16A98F-5316-1139-F95D-2533972228DB}"/>
              </a:ext>
            </a:extLst>
          </p:cNvPr>
          <p:cNvSpPr txBox="1"/>
          <p:nvPr/>
        </p:nvSpPr>
        <p:spPr>
          <a:xfrm>
            <a:off x="632298" y="849127"/>
            <a:ext cx="11371634" cy="58169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>
              <a:spcAft>
                <a:spcPts val="800"/>
              </a:spcAft>
              <a:buNone/>
            </a:pP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식별 태그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([S], [C], [X]) 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및 에러 메시지를 기반으로 분석한 근본 원인입니다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.</a:t>
            </a:r>
            <a:endParaRPr lang="ko-KR" altLang="ko-KR" sz="1200" kern="100" dirty="0"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  <a:p>
            <a:pPr latinLnBrk="1">
              <a:spcAft>
                <a:spcPts val="800"/>
              </a:spcAft>
              <a:buNone/>
            </a:pPr>
            <a:r>
              <a:rPr lang="en-US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1) [X] </a:t>
            </a:r>
            <a:r>
              <a:rPr lang="ko-KR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유형</a:t>
            </a:r>
            <a:r>
              <a:rPr lang="en-US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: </a:t>
            </a:r>
            <a:r>
              <a:rPr lang="ko-KR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시나리오 외</a:t>
            </a:r>
            <a:r>
              <a:rPr lang="en-US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/</a:t>
            </a:r>
            <a:r>
              <a:rPr lang="ko-KR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환경적 요인</a:t>
            </a:r>
            <a:r>
              <a:rPr lang="en-US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(Blocking Issue) - </a:t>
            </a:r>
            <a:r>
              <a:rPr lang="ko-KR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약</a:t>
            </a:r>
            <a:r>
              <a:rPr lang="en-US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30%</a:t>
            </a:r>
            <a:endParaRPr lang="ko-KR" altLang="ko-KR" sz="1200" kern="100" dirty="0"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  <a:p>
            <a:pPr marL="342900" lvl="0" indent="-342900" latinLnBrk="1"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ko-KR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주요 원인</a:t>
            </a:r>
            <a:r>
              <a:rPr lang="en-US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: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개발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/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테스트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DB 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환경 불일치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(Environment Mismatch)</a:t>
            </a:r>
            <a:endParaRPr lang="ko-KR" altLang="ko-KR" sz="1200" kern="100" dirty="0"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  <a:p>
            <a:pPr marL="342900" lvl="0" indent="-342900" latinLnBrk="1"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ko-KR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현상 상세</a:t>
            </a:r>
            <a:r>
              <a:rPr lang="en-US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:</a:t>
            </a:r>
            <a:endParaRPr lang="ko-KR" altLang="ko-KR" sz="1200" kern="100" dirty="0"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  <a:p>
            <a:pPr marL="742950" lvl="1" indent="-285750" latinLnBrk="1"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Schema Name Missing: 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쿼리문에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ESOWN.TABLE 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처럼 스키마를 명시하지 않아 실행 불가하거나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, 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반대로 로컬 스키마가 하드코딩 되어 권한 오류 발생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(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예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: UT-ES-SP8 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등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WES 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모듈 다수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).</a:t>
            </a:r>
            <a:endParaRPr lang="ko-KR" altLang="ko-KR" sz="1200" kern="100" dirty="0"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  <a:p>
            <a:pPr marL="742950" lvl="1" indent="-285750" latinLnBrk="1"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Object Not Found: 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테이블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, 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뷰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, 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프로시저가 테스트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DB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에 배포되지 않았거나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Synonym 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설정이 누락됨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(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예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: UT-FP-SP188).</a:t>
            </a:r>
            <a:endParaRPr lang="ko-KR" altLang="ko-KR" sz="1200" kern="100" dirty="0"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  <a:p>
            <a:pPr marL="742950" lvl="1" indent="-285750" latinLnBrk="1"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ko-KR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대응 필요</a:t>
            </a:r>
            <a:r>
              <a:rPr lang="en-US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: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이는 기능 </a:t>
            </a:r>
            <a:r>
              <a:rPr lang="ko-KR" altLang="ko-KR" sz="1200" kern="100" dirty="0" err="1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오류라기보다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</a:t>
            </a:r>
            <a:r>
              <a:rPr lang="ko-KR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관리 및 배포 프로세스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의 문제입니다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.</a:t>
            </a:r>
          </a:p>
          <a:p>
            <a:pPr marL="742950" lvl="1" indent="-285750" latinLnBrk="1"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endParaRPr lang="ko-KR" altLang="ko-KR" sz="1200" kern="100" dirty="0"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  <a:p>
            <a:pPr latinLnBrk="1">
              <a:spcAft>
                <a:spcPts val="800"/>
              </a:spcAft>
              <a:buNone/>
            </a:pPr>
            <a:r>
              <a:rPr lang="en-US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2</a:t>
            </a:r>
            <a:r>
              <a:rPr lang="en-US" altLang="ko-KR" sz="12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)</a:t>
            </a:r>
            <a:r>
              <a:rPr lang="en-US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[S] </a:t>
            </a:r>
            <a:r>
              <a:rPr lang="ko-KR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유형</a:t>
            </a:r>
            <a:r>
              <a:rPr lang="en-US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: </a:t>
            </a:r>
            <a:r>
              <a:rPr lang="ko-KR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시나리오 기반 기능 결함</a:t>
            </a:r>
            <a:r>
              <a:rPr lang="en-US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- </a:t>
            </a:r>
            <a:r>
              <a:rPr lang="ko-KR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약</a:t>
            </a:r>
            <a:r>
              <a:rPr lang="en-US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60%</a:t>
            </a:r>
            <a:endParaRPr lang="ko-KR" altLang="ko-KR" sz="1200" kern="100" dirty="0"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  <a:p>
            <a:pPr marL="342900" lvl="0" indent="-342900" latinLnBrk="1"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ko-KR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주요 원인</a:t>
            </a:r>
            <a:r>
              <a:rPr lang="en-US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1: </a:t>
            </a:r>
            <a:r>
              <a:rPr lang="ko-KR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테스트 데이터 준비 미흡</a:t>
            </a:r>
            <a:r>
              <a:rPr lang="en-US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(Test Data)</a:t>
            </a:r>
            <a:endParaRPr lang="ko-KR" altLang="ko-KR" sz="1200" kern="100" dirty="0"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  <a:p>
            <a:pPr marL="742950" lvl="1" indent="-285750" latinLnBrk="1"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테스트를 수행할 기초 데이터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(Pre-condition)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가 없어 조회가 안 되거나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, 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버튼이 비활성화됨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. (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예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: "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조건에 맞는 데이터 없음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", "DEAL_STAT 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값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N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인 데이터 필요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")</a:t>
            </a:r>
            <a:endParaRPr lang="ko-KR" altLang="ko-KR" sz="1200" kern="100" dirty="0"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  <a:p>
            <a:pPr marL="342900" lvl="0" indent="-342900" latinLnBrk="1"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ko-KR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주요 원인</a:t>
            </a:r>
            <a:r>
              <a:rPr lang="en-US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2: </a:t>
            </a:r>
            <a:r>
              <a:rPr lang="ko-KR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로직 및 데이터 정합성 오류</a:t>
            </a:r>
            <a:r>
              <a:rPr lang="en-US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(Logic)</a:t>
            </a:r>
            <a:endParaRPr lang="ko-KR" altLang="ko-KR" sz="1200" kern="100" dirty="0"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  <a:p>
            <a:pPr marL="742950" lvl="1" indent="-285750" latinLnBrk="1"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ko-KR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리포트 집계</a:t>
            </a:r>
            <a:r>
              <a:rPr lang="en-US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: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전체 합계와 상세 합계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(T1+T2)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가 일치하지 않음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(GO 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모듈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).</a:t>
            </a:r>
            <a:endParaRPr lang="ko-KR" altLang="ko-KR" sz="1200" kern="100" dirty="0"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  <a:p>
            <a:pPr marL="742950" lvl="1" indent="-285750" latinLnBrk="1"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ko-KR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조회 범위</a:t>
            </a:r>
            <a:r>
              <a:rPr lang="en-US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: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미래 날짜 데이터가 실적에 포함되거나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, 1900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년 데이터가 조회되는 등 필터링 로직 부재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.</a:t>
            </a:r>
            <a:endParaRPr lang="ko-KR" altLang="ko-KR" sz="1200" kern="100" dirty="0"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  <a:p>
            <a:pPr marL="742950" lvl="1" indent="-285750" latinLnBrk="1"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ko-KR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서버 오류</a:t>
            </a:r>
            <a:r>
              <a:rPr lang="en-US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: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저장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/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수정 시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Server Error 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발생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(FP 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모듈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).</a:t>
            </a:r>
          </a:p>
          <a:p>
            <a:pPr marL="742950" lvl="1" indent="-285750" latinLnBrk="1"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endParaRPr lang="ko-KR" altLang="ko-KR" sz="1200" kern="100" dirty="0"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  <a:p>
            <a:pPr latinLnBrk="1">
              <a:spcAft>
                <a:spcPts val="800"/>
              </a:spcAft>
              <a:buNone/>
            </a:pPr>
            <a:r>
              <a:rPr lang="en-US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3) [C] </a:t>
            </a:r>
            <a:r>
              <a:rPr lang="ko-KR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유형</a:t>
            </a:r>
            <a:r>
              <a:rPr lang="en-US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: </a:t>
            </a:r>
            <a:r>
              <a:rPr lang="ko-KR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공통 체크리스트 위반</a:t>
            </a:r>
            <a:r>
              <a:rPr lang="en-US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- </a:t>
            </a:r>
            <a:r>
              <a:rPr lang="ko-KR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약</a:t>
            </a:r>
            <a:r>
              <a:rPr lang="en-US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10%</a:t>
            </a:r>
            <a:endParaRPr lang="ko-KR" altLang="ko-KR" sz="1200" kern="100" dirty="0"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  <a:p>
            <a:pPr marL="342900" lvl="0" indent="-342900" latinLnBrk="1"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ko-KR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주요 원인</a:t>
            </a:r>
            <a:r>
              <a:rPr lang="en-US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: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UI 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표준 </a:t>
            </a:r>
            <a:r>
              <a:rPr lang="ko-KR" altLang="ko-KR" sz="1200" kern="100" dirty="0" err="1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미준수</a:t>
            </a:r>
            <a:endParaRPr lang="ko-KR" altLang="ko-KR" sz="1200" kern="100" dirty="0"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  <a:p>
            <a:pPr marL="342900" lvl="0" indent="-342900" latinLnBrk="1"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ko-KR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현상 상세</a:t>
            </a:r>
            <a:r>
              <a:rPr lang="en-US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: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필수 </a:t>
            </a:r>
            <a:r>
              <a:rPr lang="ko-KR" altLang="ko-KR" sz="1200" kern="100" dirty="0" err="1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입력값의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라벨 색상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(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파란색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/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주황색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) </a:t>
            </a:r>
            <a:r>
              <a:rPr lang="ko-KR" altLang="ko-KR" sz="1200" kern="100" dirty="0" err="1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오표기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, 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해상도에 따른 버튼 </a:t>
            </a:r>
            <a:r>
              <a:rPr lang="ko-KR" altLang="ko-KR" sz="1200" kern="100" dirty="0" err="1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짤림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(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노트북 화면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), 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특수문자 입력 제한 미비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.</a:t>
            </a:r>
            <a:endParaRPr lang="ko-KR" altLang="ko-KR" sz="1200" kern="100" dirty="0"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0415186"/>
      </p:ext>
    </p:extLst>
  </p:cSld>
  <p:clrMapOvr>
    <a:masterClrMapping/>
  </p:clrMapOvr>
  <p:transition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>
            <a:extLst>
              <a:ext uri="{FF2B5EF4-FFF2-40B4-BE49-F238E27FC236}">
                <a16:creationId xmlns:a16="http://schemas.microsoft.com/office/drawing/2014/main" id="{C9ED3EB1-9AB1-4FBA-E43B-912930EB48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892" y="91161"/>
            <a:ext cx="5652516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indent="-354013" defTabSz="957743">
              <a:defRPr sz="2200" spc="-11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9pPr>
          </a:lstStyle>
          <a:p>
            <a:pPr lvl="0" latinLnBrk="0">
              <a:defRPr/>
            </a:pPr>
            <a:r>
              <a:rPr kumimoji="0" lang="ko-KR" altLang="en-US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  <a:r>
              <a:rPr lang="en-US" altLang="ko-KR" sz="2000" b="1" dirty="0">
                <a:solidFill>
                  <a:prstClr val="white"/>
                </a:solidFill>
              </a:rPr>
              <a:t>4</a:t>
            </a:r>
            <a:r>
              <a:rPr kumimoji="0" lang="en-US" altLang="ko-KR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.</a:t>
            </a:r>
            <a:r>
              <a:rPr kumimoji="0" lang="ko-KR" altLang="en-US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  <a:r>
              <a:rPr lang="ko-KR" altLang="en-US" sz="2000" b="1" dirty="0">
                <a:solidFill>
                  <a:prstClr val="white"/>
                </a:solidFill>
              </a:rPr>
              <a:t>결함 유형</a:t>
            </a:r>
            <a:r>
              <a:rPr lang="en-US" altLang="ko-KR" sz="2000" b="1" dirty="0">
                <a:solidFill>
                  <a:prstClr val="white"/>
                </a:solidFill>
              </a:rPr>
              <a:t>(</a:t>
            </a:r>
            <a:r>
              <a:rPr lang="ko-KR" altLang="en-US" sz="2000" b="1" dirty="0">
                <a:solidFill>
                  <a:prstClr val="white"/>
                </a:solidFill>
              </a:rPr>
              <a:t>사례</a:t>
            </a:r>
            <a:r>
              <a:rPr lang="en-US" altLang="ko-KR" sz="2000" b="1" dirty="0">
                <a:solidFill>
                  <a:prstClr val="white"/>
                </a:solidFill>
              </a:rPr>
              <a:t>)</a:t>
            </a:r>
            <a:endParaRPr kumimoji="0" lang="en-US" altLang="ko-KR" sz="2000" b="1" i="0" u="none" strike="noStrike" kern="1200" cap="none" spc="-11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7529517"/>
              </p:ext>
            </p:extLst>
          </p:nvPr>
        </p:nvGraphicFramePr>
        <p:xfrm>
          <a:off x="397150" y="1184988"/>
          <a:ext cx="11312767" cy="5160256"/>
        </p:xfrm>
        <a:graphic>
          <a:graphicData uri="http://schemas.openxmlformats.org/drawingml/2006/table">
            <a:tbl>
              <a:tblPr/>
              <a:tblGrid>
                <a:gridCol w="1104914">
                  <a:extLst>
                    <a:ext uri="{9D8B030D-6E8A-4147-A177-3AD203B41FA5}">
                      <a16:colId xmlns:a16="http://schemas.microsoft.com/office/drawing/2014/main" val="744682201"/>
                    </a:ext>
                  </a:extLst>
                </a:gridCol>
                <a:gridCol w="895903">
                  <a:extLst>
                    <a:ext uri="{9D8B030D-6E8A-4147-A177-3AD203B41FA5}">
                      <a16:colId xmlns:a16="http://schemas.microsoft.com/office/drawing/2014/main" val="198501053"/>
                    </a:ext>
                  </a:extLst>
                </a:gridCol>
                <a:gridCol w="3232985">
                  <a:extLst>
                    <a:ext uri="{9D8B030D-6E8A-4147-A177-3AD203B41FA5}">
                      <a16:colId xmlns:a16="http://schemas.microsoft.com/office/drawing/2014/main" val="2149134689"/>
                    </a:ext>
                  </a:extLst>
                </a:gridCol>
                <a:gridCol w="2977452">
                  <a:extLst>
                    <a:ext uri="{9D8B030D-6E8A-4147-A177-3AD203B41FA5}">
                      <a16:colId xmlns:a16="http://schemas.microsoft.com/office/drawing/2014/main" val="1223927045"/>
                    </a:ext>
                  </a:extLst>
                </a:gridCol>
                <a:gridCol w="3101513">
                  <a:extLst>
                    <a:ext uri="{9D8B030D-6E8A-4147-A177-3AD203B41FA5}">
                      <a16:colId xmlns:a16="http://schemas.microsoft.com/office/drawing/2014/main" val="2740114665"/>
                    </a:ext>
                  </a:extLst>
                </a:gridCol>
              </a:tblGrid>
              <a:tr h="331584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결함구분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4824" marR="4824" marT="48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결함유형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4824" marR="4824" marT="48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결함내용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4824" marR="4824" marT="48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결함발생원인</a:t>
                      </a:r>
                    </a:p>
                  </a:txBody>
                  <a:tcPr marL="4824" marR="4824" marT="48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재발방지방안</a:t>
                      </a:r>
                    </a:p>
                  </a:txBody>
                  <a:tcPr marL="4824" marR="4824" marT="48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1446131"/>
                  </a:ext>
                </a:extLst>
              </a:tr>
              <a:tr h="508268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결함</a:t>
                      </a:r>
                    </a:p>
                  </a:txBody>
                  <a:tcPr marL="36000" marR="4824" marT="48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UI</a:t>
                      </a:r>
                    </a:p>
                  </a:txBody>
                  <a:tcPr marL="36000" marR="4824" marT="48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필수입력값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구분이 안됨</a:t>
                      </a:r>
                      <a:b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2.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적용시작일자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적용종료일자 일자체크필요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1. </a:t>
                      </a:r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필수값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 </a:t>
                      </a:r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미표시</a:t>
                      </a:r>
                      <a:b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</a:b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2.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일자 </a:t>
                      </a:r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미체크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36000" marR="4824" marT="48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1. </a:t>
                      </a:r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필수값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 표시</a:t>
                      </a:r>
                      <a:b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</a:b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2.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기간의 경우 일자 체크</a:t>
                      </a:r>
                    </a:p>
                  </a:txBody>
                  <a:tcPr marL="36000" marR="4824" marT="48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9993047"/>
                  </a:ext>
                </a:extLst>
              </a:tr>
              <a:tr h="341994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결함</a:t>
                      </a:r>
                    </a:p>
                  </a:txBody>
                  <a:tcPr marL="36000" marR="4824" marT="48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UI</a:t>
                      </a:r>
                    </a:p>
                  </a:txBody>
                  <a:tcPr marL="36000" marR="4824" marT="48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수정시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일자를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20260229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로 수정하고 신청 수정을 누르면 아무런 반응이 없음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 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수정 불가시 액션 취하지 않음</a:t>
                      </a:r>
                    </a:p>
                  </a:txBody>
                  <a:tcPr marL="36000" marR="4824" marT="48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수정 불가시 안내문구 표시</a:t>
                      </a:r>
                    </a:p>
                  </a:txBody>
                  <a:tcPr marL="36000" marR="4824" marT="48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4097581"/>
                  </a:ext>
                </a:extLst>
              </a:tr>
              <a:tr h="674541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결함</a:t>
                      </a:r>
                    </a:p>
                  </a:txBody>
                  <a:tcPr marL="36000" marR="4824" marT="48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기능</a:t>
                      </a:r>
                    </a:p>
                  </a:txBody>
                  <a:tcPr marL="36000" marR="4824" marT="48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ADD </a:t>
                      </a:r>
                      <a:r>
                        <a:rPr lang="en-US" altLang="ko-KR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Assigment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를 하여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3p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를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a07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에 배정함 </a:t>
                      </a:r>
                      <a:b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배정된 바를 변경하려고 하면 변경신청을 누르면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해당값이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사라짐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 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배정 변경으로 인해 </a:t>
                      </a:r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배정바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 삭제</a:t>
                      </a:r>
                    </a:p>
                  </a:txBody>
                  <a:tcPr marL="36000" marR="4824" marT="48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배정 변경으로 바가 삭제될 경우 안내문구 표시</a:t>
                      </a:r>
                    </a:p>
                  </a:txBody>
                  <a:tcPr marL="36000" marR="4824" marT="48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2221263"/>
                  </a:ext>
                </a:extLst>
              </a:tr>
              <a:tr h="2171001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결함</a:t>
                      </a:r>
                    </a:p>
                  </a:txBody>
                  <a:tcPr marL="36000" marR="4824" marT="48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기능</a:t>
                      </a:r>
                    </a:p>
                  </a:txBody>
                  <a:tcPr marL="36000" marR="4824" marT="48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 Select Zone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에서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다중선택에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대한 시나리오 보안 필요</a:t>
                      </a:r>
                      <a:b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2. zone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을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여러개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선택하면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메세지는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반영디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되나 실제 값은 변동이 없음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b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--&gt; 1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개만 선택가능 하다면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개만 선택 가능하다고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메세지를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보여 주고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여러개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선택 가능하면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해당하느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값이 나와야 함</a:t>
                      </a:r>
                      <a:b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 Select Zone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상위 빈칸을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눌렀을땐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아무런 작동을 안함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 </a:t>
                      </a:r>
                      <a:b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--&gt;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빈칸을 누르면 선택한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ZONE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CLEAR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된다던지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필요 없으면 삭제를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한다던지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정의가 필요 함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 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결함 아님</a:t>
                      </a:r>
                      <a:b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</a:b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1. Select Zone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에서 </a:t>
                      </a:r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다중선택에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 대한 시나리오 보안 필요</a:t>
                      </a:r>
                      <a:b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</a:b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=&gt;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클릭하는 대로 선택되기 때문에 시나리오 보완 불필요</a:t>
                      </a:r>
                      <a:b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</a:br>
                      <a:b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</a:b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36000" marR="4824" marT="48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결함 아님</a:t>
                      </a:r>
                    </a:p>
                  </a:txBody>
                  <a:tcPr marL="36000" marR="4824" marT="48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1014671"/>
                  </a:ext>
                </a:extLst>
              </a:tr>
              <a:tr h="911731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결함</a:t>
                      </a:r>
                    </a:p>
                  </a:txBody>
                  <a:tcPr marL="36000" marR="4824" marT="48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표준</a:t>
                      </a:r>
                    </a:p>
                  </a:txBody>
                  <a:tcPr marL="36000" marR="4824" marT="48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 START DATE EDIT CHECK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필요</a:t>
                      </a:r>
                      <a:b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2. 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DURATION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에 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MIN, MAX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제한 필요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1.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일자 </a:t>
                      </a:r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미체크</a:t>
                      </a:r>
                      <a:b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</a:b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2. DURATION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에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MIN, MAX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제한 없음</a:t>
                      </a:r>
                    </a:p>
                  </a:txBody>
                  <a:tcPr marL="36000" marR="4824" marT="48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1.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일자 체크</a:t>
                      </a:r>
                      <a:b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</a:b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=&gt; YYYY-MM-DD HH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형식 </a:t>
                      </a:r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안맞을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 경우 초기값으로 </a:t>
                      </a:r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자동변경</a:t>
                      </a:r>
                      <a:b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</a:b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2. DURATION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에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MIN, MAX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제한</a:t>
                      </a:r>
                      <a:b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</a:b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=&gt;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최소값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5 (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차트의 기본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시간 단위 너비의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5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배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)</a:t>
                      </a:r>
                      <a:b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</a:b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    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최대값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48 (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차트의 기본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시간 단위 너비의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1/2)</a:t>
                      </a:r>
                    </a:p>
                  </a:txBody>
                  <a:tcPr marL="36000" marR="4824" marT="48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9960617"/>
                  </a:ext>
                </a:extLst>
              </a:tr>
              <a:tr h="210833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개선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/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변경</a:t>
                      </a:r>
                    </a:p>
                  </a:txBody>
                  <a:tcPr marL="36000" marR="4824" marT="48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문서화</a:t>
                      </a:r>
                    </a:p>
                  </a:txBody>
                  <a:tcPr marL="36000" marR="4824" marT="48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테스트결과서 없음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테스트 결과서 미작성</a:t>
                      </a:r>
                    </a:p>
                  </a:txBody>
                  <a:tcPr marL="36000" marR="4824" marT="48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기한 내 테스트 </a:t>
                      </a:r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결과서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 작성</a:t>
                      </a:r>
                    </a:p>
                  </a:txBody>
                  <a:tcPr marL="36000" marR="4824" marT="48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3138366"/>
                  </a:ext>
                </a:extLst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281073" y="699469"/>
            <a:ext cx="22204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[ </a:t>
            </a:r>
            <a:r>
              <a:rPr lang="ko-KR" altLang="en-US" b="1" dirty="0"/>
              <a:t>자원배정차트</a:t>
            </a:r>
            <a:r>
              <a:rPr lang="en-US" altLang="ko-KR" b="1" dirty="0"/>
              <a:t>(RC) ]</a:t>
            </a:r>
          </a:p>
        </p:txBody>
      </p:sp>
    </p:spTree>
    <p:extLst>
      <p:ext uri="{BB962C8B-B14F-4D97-AF65-F5344CB8AC3E}">
        <p14:creationId xmlns:p14="http://schemas.microsoft.com/office/powerpoint/2010/main" val="398665183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2">
            <a:extLst>
              <a:ext uri="{FF2B5EF4-FFF2-40B4-BE49-F238E27FC236}">
                <a16:creationId xmlns:a16="http://schemas.microsoft.com/office/drawing/2014/main" id="{C9ED3EB1-9AB1-4FBA-E43B-912930EB48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892" y="91161"/>
            <a:ext cx="5652516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indent="-354013" defTabSz="957743">
              <a:defRPr sz="2200" spc="-11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9pPr>
          </a:lstStyle>
          <a:p>
            <a:pPr lvl="0" latinLnBrk="0">
              <a:defRPr/>
            </a:pPr>
            <a:r>
              <a:rPr kumimoji="0" lang="ko-KR" altLang="en-US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  <a:r>
              <a:rPr lang="en-US" altLang="ko-KR" sz="2000" b="1" dirty="0">
                <a:solidFill>
                  <a:prstClr val="white"/>
                </a:solidFill>
              </a:rPr>
              <a:t>4</a:t>
            </a:r>
            <a:r>
              <a:rPr kumimoji="0" lang="en-US" altLang="ko-KR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.</a:t>
            </a:r>
            <a:r>
              <a:rPr kumimoji="0" lang="ko-KR" altLang="en-US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  <a:r>
              <a:rPr lang="ko-KR" altLang="en-US" sz="2000" b="1" dirty="0">
                <a:solidFill>
                  <a:prstClr val="white"/>
                </a:solidFill>
              </a:rPr>
              <a:t>결함 유형</a:t>
            </a:r>
            <a:r>
              <a:rPr lang="en-US" altLang="ko-KR" sz="2000" b="1" dirty="0">
                <a:solidFill>
                  <a:prstClr val="white"/>
                </a:solidFill>
              </a:rPr>
              <a:t>(</a:t>
            </a:r>
            <a:r>
              <a:rPr lang="ko-KR" altLang="en-US" sz="2000" b="1" dirty="0">
                <a:solidFill>
                  <a:prstClr val="white"/>
                </a:solidFill>
              </a:rPr>
              <a:t>사례</a:t>
            </a:r>
            <a:r>
              <a:rPr lang="en-US" altLang="ko-KR" sz="2000" b="1" dirty="0">
                <a:solidFill>
                  <a:prstClr val="white"/>
                </a:solidFill>
              </a:rPr>
              <a:t>)</a:t>
            </a:r>
            <a:endParaRPr kumimoji="0" lang="en-US" altLang="ko-KR" sz="2000" b="1" i="0" u="none" strike="noStrike" kern="1200" cap="none" spc="-11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graphicFrame>
        <p:nvGraphicFramePr>
          <p:cNvPr id="13" name="표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5426387"/>
              </p:ext>
            </p:extLst>
          </p:nvPr>
        </p:nvGraphicFramePr>
        <p:xfrm>
          <a:off x="359827" y="1228465"/>
          <a:ext cx="11266115" cy="4995054"/>
        </p:xfrm>
        <a:graphic>
          <a:graphicData uri="http://schemas.openxmlformats.org/drawingml/2006/table">
            <a:tbl>
              <a:tblPr/>
              <a:tblGrid>
                <a:gridCol w="1100358">
                  <a:extLst>
                    <a:ext uri="{9D8B030D-6E8A-4147-A177-3AD203B41FA5}">
                      <a16:colId xmlns:a16="http://schemas.microsoft.com/office/drawing/2014/main" val="744682201"/>
                    </a:ext>
                  </a:extLst>
                </a:gridCol>
                <a:gridCol w="975105">
                  <a:extLst>
                    <a:ext uri="{9D8B030D-6E8A-4147-A177-3AD203B41FA5}">
                      <a16:colId xmlns:a16="http://schemas.microsoft.com/office/drawing/2014/main" val="198501053"/>
                    </a:ext>
                  </a:extLst>
                </a:gridCol>
                <a:gridCol w="3136756">
                  <a:extLst>
                    <a:ext uri="{9D8B030D-6E8A-4147-A177-3AD203B41FA5}">
                      <a16:colId xmlns:a16="http://schemas.microsoft.com/office/drawing/2014/main" val="2149134689"/>
                    </a:ext>
                  </a:extLst>
                </a:gridCol>
                <a:gridCol w="2965173">
                  <a:extLst>
                    <a:ext uri="{9D8B030D-6E8A-4147-A177-3AD203B41FA5}">
                      <a16:colId xmlns:a16="http://schemas.microsoft.com/office/drawing/2014/main" val="1223927045"/>
                    </a:ext>
                  </a:extLst>
                </a:gridCol>
                <a:gridCol w="3088723">
                  <a:extLst>
                    <a:ext uri="{9D8B030D-6E8A-4147-A177-3AD203B41FA5}">
                      <a16:colId xmlns:a16="http://schemas.microsoft.com/office/drawing/2014/main" val="2740114665"/>
                    </a:ext>
                  </a:extLst>
                </a:gridCol>
              </a:tblGrid>
              <a:tr h="242399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결함구분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4824" marR="4824" marT="48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결함유형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4824" marR="4824" marT="48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결함내용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4824" marR="4824" marT="48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결함발생원인</a:t>
                      </a:r>
                    </a:p>
                  </a:txBody>
                  <a:tcPr marL="4824" marR="4824" marT="48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재발방지방안</a:t>
                      </a:r>
                    </a:p>
                  </a:txBody>
                  <a:tcPr marL="4824" marR="4824" marT="48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1446131"/>
                  </a:ext>
                </a:extLst>
              </a:tr>
              <a:tr h="716333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결함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UI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라벨과 텍스트 필드 사이에 간격이 너무 큼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b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모든 화면에 대해서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고정값을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사용하는 듯 보임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b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라벨 길이에 따라서 유연하게 적용되어야 함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디자인 표준 상세 파악 필요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디자인 표준에 맞춰 통일 유지</a:t>
                      </a:r>
                      <a:b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라벨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텍스트 박스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- 12px</a:t>
                      </a:r>
                      <a:b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텍스트 박스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라벨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50px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9993047"/>
                  </a:ext>
                </a:extLst>
              </a:tr>
              <a:tr h="539758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결함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UI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저장버튼 통일이 안되어있음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디자인 표준 상세 파악 필요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디자인 표준에 맞춰 통일 유지</a:t>
                      </a:r>
                      <a:b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cssclass - txtbtn_save02</a:t>
                      </a:r>
                      <a:b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Text : 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저장하기 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4097581"/>
                  </a:ext>
                </a:extLst>
              </a:tr>
              <a:tr h="775532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결함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UI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필드 길이에 대한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예외처리가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없어서 서버 오류 메시지가 나옴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디자인 표준 상세 파악 필요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디자인 표준에 맞춰 통일 유지</a:t>
                      </a:r>
                      <a:b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maxlength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: </a:t>
                      </a:r>
                      <a:r>
                        <a:rPr lang="en-US" altLang="ko-KR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db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설정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2221263"/>
                  </a:ext>
                </a:extLst>
              </a:tr>
              <a:tr h="619388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결함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기능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권힌이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없다고 나옴</a:t>
                      </a:r>
                      <a:b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접속 아이디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IDTTEST02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배포 미확인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배포 후 개발 서버 확인 숙지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1014671"/>
                  </a:ext>
                </a:extLst>
              </a:tr>
              <a:tr h="619388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결함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데이터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해당 화면에 대한 내용이나 데이터가 필요합니다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서류 미비로 인한 테스트 불가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서류 작성 보완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4467948"/>
                  </a:ext>
                </a:extLst>
              </a:tr>
              <a:tr h="412773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결함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성능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첨부한 사진과 같이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상태코드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404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가 나옴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배포 미확인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배포 후 개발 서버 확인 숙지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9960617"/>
                  </a:ext>
                </a:extLst>
              </a:tr>
              <a:tr h="1069483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개선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변경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문서화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테스트시니리오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문서상에 시나리오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id,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시나리오 명이 다름</a:t>
                      </a:r>
                      <a:b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2.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기능은 인터페이스 인데 시나리오상 인테페이스에 대한 기능 시나리오는 없음</a:t>
                      </a:r>
                      <a:b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  Flight Name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으로 값을 주고 검색하면 기능이 작동하지 않음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인터페이스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수정시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고려 미비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인터페이스 수정 시 동기화 필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3138366"/>
                  </a:ext>
                </a:extLst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281073" y="699469"/>
            <a:ext cx="9081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[ SLOT ]</a:t>
            </a:r>
          </a:p>
        </p:txBody>
      </p:sp>
    </p:spTree>
    <p:extLst>
      <p:ext uri="{BB962C8B-B14F-4D97-AF65-F5344CB8AC3E}">
        <p14:creationId xmlns:p14="http://schemas.microsoft.com/office/powerpoint/2010/main" val="209478785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2">
            <a:extLst>
              <a:ext uri="{FF2B5EF4-FFF2-40B4-BE49-F238E27FC236}">
                <a16:creationId xmlns:a16="http://schemas.microsoft.com/office/drawing/2014/main" id="{C9ED3EB1-9AB1-4FBA-E43B-912930EB48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892" y="91161"/>
            <a:ext cx="5652516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indent="-354013" defTabSz="957743">
              <a:defRPr sz="2200" spc="-11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9pPr>
          </a:lstStyle>
          <a:p>
            <a:pPr lvl="0" latinLnBrk="0">
              <a:defRPr/>
            </a:pPr>
            <a:r>
              <a:rPr kumimoji="0" lang="ko-KR" altLang="en-US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  <a:r>
              <a:rPr lang="en-US" altLang="ko-KR" sz="2000" b="1" dirty="0">
                <a:solidFill>
                  <a:prstClr val="white"/>
                </a:solidFill>
              </a:rPr>
              <a:t>4</a:t>
            </a:r>
            <a:r>
              <a:rPr kumimoji="0" lang="en-US" altLang="ko-KR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.</a:t>
            </a:r>
            <a:r>
              <a:rPr kumimoji="0" lang="ko-KR" altLang="en-US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  <a:r>
              <a:rPr lang="ko-KR" altLang="en-US" sz="2000" b="1" dirty="0">
                <a:solidFill>
                  <a:prstClr val="white"/>
                </a:solidFill>
              </a:rPr>
              <a:t>결함 유형</a:t>
            </a:r>
            <a:r>
              <a:rPr lang="en-US" altLang="ko-KR" sz="2000" b="1" dirty="0">
                <a:solidFill>
                  <a:prstClr val="white"/>
                </a:solidFill>
              </a:rPr>
              <a:t>(</a:t>
            </a:r>
            <a:r>
              <a:rPr lang="ko-KR" altLang="en-US" sz="2000" b="1" dirty="0">
                <a:solidFill>
                  <a:prstClr val="white"/>
                </a:solidFill>
              </a:rPr>
              <a:t>사례</a:t>
            </a:r>
            <a:r>
              <a:rPr lang="en-US" altLang="ko-KR" sz="2000" b="1" dirty="0">
                <a:solidFill>
                  <a:prstClr val="white"/>
                </a:solidFill>
              </a:rPr>
              <a:t>)</a:t>
            </a:r>
            <a:endParaRPr kumimoji="0" lang="en-US" altLang="ko-KR" sz="2000" b="1" i="0" u="none" strike="noStrike" kern="1200" cap="none" spc="-11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graphicFrame>
        <p:nvGraphicFramePr>
          <p:cNvPr id="13" name="표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4359371"/>
              </p:ext>
            </p:extLst>
          </p:nvPr>
        </p:nvGraphicFramePr>
        <p:xfrm>
          <a:off x="359827" y="1228465"/>
          <a:ext cx="11266115" cy="4995054"/>
        </p:xfrm>
        <a:graphic>
          <a:graphicData uri="http://schemas.openxmlformats.org/drawingml/2006/table">
            <a:tbl>
              <a:tblPr/>
              <a:tblGrid>
                <a:gridCol w="1100358">
                  <a:extLst>
                    <a:ext uri="{9D8B030D-6E8A-4147-A177-3AD203B41FA5}">
                      <a16:colId xmlns:a16="http://schemas.microsoft.com/office/drawing/2014/main" val="744682201"/>
                    </a:ext>
                  </a:extLst>
                </a:gridCol>
                <a:gridCol w="1146688">
                  <a:extLst>
                    <a:ext uri="{9D8B030D-6E8A-4147-A177-3AD203B41FA5}">
                      <a16:colId xmlns:a16="http://schemas.microsoft.com/office/drawing/2014/main" val="198501053"/>
                    </a:ext>
                  </a:extLst>
                </a:gridCol>
                <a:gridCol w="2965173">
                  <a:extLst>
                    <a:ext uri="{9D8B030D-6E8A-4147-A177-3AD203B41FA5}">
                      <a16:colId xmlns:a16="http://schemas.microsoft.com/office/drawing/2014/main" val="2149134689"/>
                    </a:ext>
                  </a:extLst>
                </a:gridCol>
                <a:gridCol w="2965173">
                  <a:extLst>
                    <a:ext uri="{9D8B030D-6E8A-4147-A177-3AD203B41FA5}">
                      <a16:colId xmlns:a16="http://schemas.microsoft.com/office/drawing/2014/main" val="1223927045"/>
                    </a:ext>
                  </a:extLst>
                </a:gridCol>
                <a:gridCol w="3088723">
                  <a:extLst>
                    <a:ext uri="{9D8B030D-6E8A-4147-A177-3AD203B41FA5}">
                      <a16:colId xmlns:a16="http://schemas.microsoft.com/office/drawing/2014/main" val="2740114665"/>
                    </a:ext>
                  </a:extLst>
                </a:gridCol>
              </a:tblGrid>
              <a:tr h="242399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결함구분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4824" marR="4824" marT="48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결함유형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4824" marR="4824" marT="48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결함내용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4824" marR="4824" marT="48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결함발생원인</a:t>
                      </a:r>
                    </a:p>
                  </a:txBody>
                  <a:tcPr marL="4824" marR="4824" marT="48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재발방지방안</a:t>
                      </a:r>
                    </a:p>
                  </a:txBody>
                  <a:tcPr marL="4824" marR="4824" marT="48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1446131"/>
                  </a:ext>
                </a:extLst>
              </a:tr>
              <a:tr h="716333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결함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UI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아래의 결함이미지는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출발편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운항정보에서 타임아웃 현상이 걸린 후</a:t>
                      </a:r>
                      <a:b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뒤로가기를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누르면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스피너가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계속 남아있는 현상입니다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UI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조치예정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로딩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스피너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화면 이동 시 초기화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9993047"/>
                  </a:ext>
                </a:extLst>
              </a:tr>
              <a:tr h="539758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결함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UI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TOBT 3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회이상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변경 시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alert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안나옵니다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결함아님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단위테스트결과서 현재 진행 상황안내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b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ESB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연계 진행 시 처리 가능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4097581"/>
                  </a:ext>
                </a:extLst>
              </a:tr>
              <a:tr h="775532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결함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UI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기존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TOBT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와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분 미만으로 차이나게 수정했지만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alert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 나오지 않습니다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b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(10:10 -&gt; 10:12 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변경 시도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조치예정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유효성 체크 재 확인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2221263"/>
                  </a:ext>
                </a:extLst>
              </a:tr>
              <a:tr h="619388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결함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UI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스피너가 돌 때 팝업과 겹쳐있음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UI 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 조치예정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로딩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스피너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최상단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배치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1014671"/>
                  </a:ext>
                </a:extLst>
              </a:tr>
              <a:tr h="619388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결함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기능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공지사항 등록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수정시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구분값이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바뀌지않음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조치예정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공지사항 추가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요청사항과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함께 일괄 변경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4467948"/>
                  </a:ext>
                </a:extLst>
              </a:tr>
              <a:tr h="412773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신규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데이터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마일스톤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변경이력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테스트 데이터 요청합니다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b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어떤 항공편이든 좋습니다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테스트 데이터 부족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ESB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연계 진행 시 처리 가능하지만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</a:t>
                      </a:r>
                      <a:b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테스트 전 데이터 입력 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9960617"/>
                  </a:ext>
                </a:extLst>
              </a:tr>
              <a:tr h="1069483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개선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변경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기능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권한이 없어 신규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(+)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버튼이 보이지 않음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타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개발건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진행 중 데이터를 변경해 놓아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불가하였음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로그인 개발완료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권한부분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3138366"/>
                  </a:ext>
                </a:extLst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281073" y="699469"/>
            <a:ext cx="14962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[ WES / MES ]</a:t>
            </a:r>
          </a:p>
        </p:txBody>
      </p:sp>
    </p:spTree>
    <p:extLst>
      <p:ext uri="{BB962C8B-B14F-4D97-AF65-F5344CB8AC3E}">
        <p14:creationId xmlns:p14="http://schemas.microsoft.com/office/powerpoint/2010/main" val="182903276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2">
            <a:extLst>
              <a:ext uri="{FF2B5EF4-FFF2-40B4-BE49-F238E27FC236}">
                <a16:creationId xmlns:a16="http://schemas.microsoft.com/office/drawing/2014/main" id="{C9ED3EB1-9AB1-4FBA-E43B-912930EB48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892" y="91161"/>
            <a:ext cx="5652516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indent="-354013" defTabSz="957743">
              <a:defRPr sz="2200" spc="-11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9pPr>
          </a:lstStyle>
          <a:p>
            <a:pPr lvl="0" latinLnBrk="0">
              <a:defRPr/>
            </a:pPr>
            <a:r>
              <a:rPr kumimoji="0" lang="ko-KR" altLang="en-US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  <a:r>
              <a:rPr lang="en-US" altLang="ko-KR" sz="2000" b="1" dirty="0">
                <a:solidFill>
                  <a:prstClr val="white"/>
                </a:solidFill>
              </a:rPr>
              <a:t>4</a:t>
            </a:r>
            <a:r>
              <a:rPr kumimoji="0" lang="en-US" altLang="ko-KR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.</a:t>
            </a:r>
            <a:r>
              <a:rPr kumimoji="0" lang="ko-KR" altLang="en-US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  <a:r>
              <a:rPr lang="ko-KR" altLang="en-US" sz="2000" b="1" dirty="0">
                <a:solidFill>
                  <a:prstClr val="white"/>
                </a:solidFill>
              </a:rPr>
              <a:t>결함 유형</a:t>
            </a:r>
            <a:r>
              <a:rPr lang="en-US" altLang="ko-KR" sz="2000" b="1" dirty="0">
                <a:solidFill>
                  <a:prstClr val="white"/>
                </a:solidFill>
              </a:rPr>
              <a:t>(</a:t>
            </a:r>
            <a:r>
              <a:rPr lang="ko-KR" altLang="en-US" sz="2000" b="1" dirty="0">
                <a:solidFill>
                  <a:prstClr val="white"/>
                </a:solidFill>
              </a:rPr>
              <a:t>사례</a:t>
            </a:r>
            <a:r>
              <a:rPr lang="en-US" altLang="ko-KR" sz="2000" b="1" dirty="0">
                <a:solidFill>
                  <a:prstClr val="white"/>
                </a:solidFill>
              </a:rPr>
              <a:t>)</a:t>
            </a:r>
            <a:endParaRPr kumimoji="0" lang="en-US" altLang="ko-KR" sz="2000" b="1" i="0" u="none" strike="noStrike" kern="1200" cap="none" spc="-11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graphicFrame>
        <p:nvGraphicFramePr>
          <p:cNvPr id="13" name="표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2937654"/>
              </p:ext>
            </p:extLst>
          </p:nvPr>
        </p:nvGraphicFramePr>
        <p:xfrm>
          <a:off x="359827" y="1228465"/>
          <a:ext cx="11266115" cy="4481871"/>
        </p:xfrm>
        <a:graphic>
          <a:graphicData uri="http://schemas.openxmlformats.org/drawingml/2006/table">
            <a:tbl>
              <a:tblPr/>
              <a:tblGrid>
                <a:gridCol w="1100358">
                  <a:extLst>
                    <a:ext uri="{9D8B030D-6E8A-4147-A177-3AD203B41FA5}">
                      <a16:colId xmlns:a16="http://schemas.microsoft.com/office/drawing/2014/main" val="744682201"/>
                    </a:ext>
                  </a:extLst>
                </a:gridCol>
                <a:gridCol w="1146688">
                  <a:extLst>
                    <a:ext uri="{9D8B030D-6E8A-4147-A177-3AD203B41FA5}">
                      <a16:colId xmlns:a16="http://schemas.microsoft.com/office/drawing/2014/main" val="198501053"/>
                    </a:ext>
                  </a:extLst>
                </a:gridCol>
                <a:gridCol w="2965173">
                  <a:extLst>
                    <a:ext uri="{9D8B030D-6E8A-4147-A177-3AD203B41FA5}">
                      <a16:colId xmlns:a16="http://schemas.microsoft.com/office/drawing/2014/main" val="2149134689"/>
                    </a:ext>
                  </a:extLst>
                </a:gridCol>
                <a:gridCol w="2965173">
                  <a:extLst>
                    <a:ext uri="{9D8B030D-6E8A-4147-A177-3AD203B41FA5}">
                      <a16:colId xmlns:a16="http://schemas.microsoft.com/office/drawing/2014/main" val="1223927045"/>
                    </a:ext>
                  </a:extLst>
                </a:gridCol>
                <a:gridCol w="3088723">
                  <a:extLst>
                    <a:ext uri="{9D8B030D-6E8A-4147-A177-3AD203B41FA5}">
                      <a16:colId xmlns:a16="http://schemas.microsoft.com/office/drawing/2014/main" val="2740114665"/>
                    </a:ext>
                  </a:extLst>
                </a:gridCol>
              </a:tblGrid>
              <a:tr h="277124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결함구분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4824" marR="4824" marT="48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결함유형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4824" marR="4824" marT="48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결함내용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4824" marR="4824" marT="48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결함발생원인</a:t>
                      </a:r>
                    </a:p>
                  </a:txBody>
                  <a:tcPr marL="4824" marR="4824" marT="48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재발방지방안</a:t>
                      </a:r>
                    </a:p>
                  </a:txBody>
                  <a:tcPr marL="4824" marR="4824" marT="48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1446131"/>
                  </a:ext>
                </a:extLst>
              </a:tr>
              <a:tr h="818951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결함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UI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아래의 빨간색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표시부분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오타수정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부탁드립니다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b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항공사별시간대별 수하물개수실적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-&gt;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항공사별 시간대별 수하물개수실적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개발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로직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오류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개발후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꼼꼼히 기능들 재점검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9993047"/>
                  </a:ext>
                </a:extLst>
              </a:tr>
              <a:tr h="617081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결함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기능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파일첨부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input box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에 텍스트 입력이 되고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alert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가 나타나지 않음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개발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로직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오류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개발후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꼼꼼히 기능들 재점검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4097581"/>
                  </a:ext>
                </a:extLst>
              </a:tr>
              <a:tr h="1352477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결함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프로세스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아래의 프로시저의 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parameter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를 부탁드립니다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b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b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CALL SP_GO_UPDATE_MASTERFILE_RSRV;</a:t>
                      </a:r>
                      <a:b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b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오류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]</a:t>
                      </a:r>
                      <a:b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SQL Error [ERREX]: JDBC-11029:No function matches the specified argument(s).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테스터에 프로시저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호출시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필요한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인수값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미제공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테스터에 프로시저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호출시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필요한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인수값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사전 확인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2221263"/>
                  </a:ext>
                </a:extLst>
              </a:tr>
              <a:tr h="708119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결함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기능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 SQL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에러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쿼리문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오류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테이블 컬럼 추가 </a:t>
                      </a:r>
                      <a:b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NOT NULL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컬럼 추가 안됨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키 컬럼 추가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표준화에 따른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컬럼명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변동 테이블 변동사항 신속 대처 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1014671"/>
                  </a:ext>
                </a:extLst>
              </a:tr>
              <a:tr h="708119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결함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데이터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레포트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타이틀 일부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안나옴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레포트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오류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레포트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담당자가 전반적 조치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4467948"/>
                  </a:ext>
                </a:extLst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281073" y="699469"/>
            <a:ext cx="18117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[ </a:t>
            </a:r>
            <a:r>
              <a:rPr lang="ko-KR" altLang="en-US" b="1" dirty="0"/>
              <a:t>공항운영</a:t>
            </a:r>
            <a:r>
              <a:rPr lang="en-US" altLang="ko-KR" b="1" dirty="0"/>
              <a:t>(GO) ]</a:t>
            </a:r>
          </a:p>
        </p:txBody>
      </p:sp>
    </p:spTree>
    <p:extLst>
      <p:ext uri="{BB962C8B-B14F-4D97-AF65-F5344CB8AC3E}">
        <p14:creationId xmlns:p14="http://schemas.microsoft.com/office/powerpoint/2010/main" val="181082942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2">
            <a:extLst>
              <a:ext uri="{FF2B5EF4-FFF2-40B4-BE49-F238E27FC236}">
                <a16:creationId xmlns:a16="http://schemas.microsoft.com/office/drawing/2014/main" id="{C9ED3EB1-9AB1-4FBA-E43B-912930EB48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892" y="91161"/>
            <a:ext cx="5652516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indent="-354013" defTabSz="957743">
              <a:defRPr sz="2200" spc="-11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9pPr>
          </a:lstStyle>
          <a:p>
            <a:pPr lvl="0" latinLnBrk="0">
              <a:defRPr/>
            </a:pPr>
            <a:r>
              <a:rPr kumimoji="0" lang="ko-KR" altLang="en-US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  <a:r>
              <a:rPr lang="en-US" altLang="ko-KR" sz="2000" b="1" dirty="0">
                <a:solidFill>
                  <a:prstClr val="white"/>
                </a:solidFill>
              </a:rPr>
              <a:t>4</a:t>
            </a:r>
            <a:r>
              <a:rPr kumimoji="0" lang="en-US" altLang="ko-KR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.</a:t>
            </a:r>
            <a:r>
              <a:rPr kumimoji="0" lang="ko-KR" altLang="en-US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  <a:r>
              <a:rPr lang="ko-KR" altLang="en-US" sz="2000" b="1" dirty="0">
                <a:solidFill>
                  <a:prstClr val="white"/>
                </a:solidFill>
              </a:rPr>
              <a:t>결함 유형</a:t>
            </a:r>
            <a:r>
              <a:rPr lang="en-US" altLang="ko-KR" sz="2000" b="1" dirty="0">
                <a:solidFill>
                  <a:prstClr val="white"/>
                </a:solidFill>
              </a:rPr>
              <a:t>(</a:t>
            </a:r>
            <a:r>
              <a:rPr lang="ko-KR" altLang="en-US" sz="2000" b="1" dirty="0">
                <a:solidFill>
                  <a:prstClr val="white"/>
                </a:solidFill>
              </a:rPr>
              <a:t>사례</a:t>
            </a:r>
            <a:r>
              <a:rPr lang="en-US" altLang="ko-KR" sz="2000" b="1" dirty="0">
                <a:solidFill>
                  <a:prstClr val="white"/>
                </a:solidFill>
              </a:rPr>
              <a:t>)</a:t>
            </a:r>
            <a:endParaRPr kumimoji="0" lang="en-US" altLang="ko-KR" sz="2000" b="1" i="0" u="none" strike="noStrike" kern="1200" cap="none" spc="-11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graphicFrame>
        <p:nvGraphicFramePr>
          <p:cNvPr id="13" name="표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3014059"/>
              </p:ext>
            </p:extLst>
          </p:nvPr>
        </p:nvGraphicFramePr>
        <p:xfrm>
          <a:off x="359827" y="1228465"/>
          <a:ext cx="11266115" cy="4967062"/>
        </p:xfrm>
        <a:graphic>
          <a:graphicData uri="http://schemas.openxmlformats.org/drawingml/2006/table">
            <a:tbl>
              <a:tblPr/>
              <a:tblGrid>
                <a:gridCol w="1100358">
                  <a:extLst>
                    <a:ext uri="{9D8B030D-6E8A-4147-A177-3AD203B41FA5}">
                      <a16:colId xmlns:a16="http://schemas.microsoft.com/office/drawing/2014/main" val="744682201"/>
                    </a:ext>
                  </a:extLst>
                </a:gridCol>
                <a:gridCol w="1146688">
                  <a:extLst>
                    <a:ext uri="{9D8B030D-6E8A-4147-A177-3AD203B41FA5}">
                      <a16:colId xmlns:a16="http://schemas.microsoft.com/office/drawing/2014/main" val="198501053"/>
                    </a:ext>
                  </a:extLst>
                </a:gridCol>
                <a:gridCol w="2965173">
                  <a:extLst>
                    <a:ext uri="{9D8B030D-6E8A-4147-A177-3AD203B41FA5}">
                      <a16:colId xmlns:a16="http://schemas.microsoft.com/office/drawing/2014/main" val="2149134689"/>
                    </a:ext>
                  </a:extLst>
                </a:gridCol>
                <a:gridCol w="2965173">
                  <a:extLst>
                    <a:ext uri="{9D8B030D-6E8A-4147-A177-3AD203B41FA5}">
                      <a16:colId xmlns:a16="http://schemas.microsoft.com/office/drawing/2014/main" val="1223927045"/>
                    </a:ext>
                  </a:extLst>
                </a:gridCol>
                <a:gridCol w="3088723">
                  <a:extLst>
                    <a:ext uri="{9D8B030D-6E8A-4147-A177-3AD203B41FA5}">
                      <a16:colId xmlns:a16="http://schemas.microsoft.com/office/drawing/2014/main" val="2740114665"/>
                    </a:ext>
                  </a:extLst>
                </a:gridCol>
              </a:tblGrid>
              <a:tr h="259675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결함구분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4824" marR="4824" marT="48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결함유형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4824" marR="4824" marT="48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결함내용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4824" marR="4824" marT="48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결함발생원인</a:t>
                      </a:r>
                    </a:p>
                  </a:txBody>
                  <a:tcPr marL="4824" marR="4824" marT="48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재발방지방안</a:t>
                      </a:r>
                    </a:p>
                  </a:txBody>
                  <a:tcPr marL="4824" marR="4824" marT="48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1446131"/>
                  </a:ext>
                </a:extLst>
              </a:tr>
              <a:tr h="767387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결함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기능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LIST1, LIST2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모두 삭제가 되지 않음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결함아님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데이터삭제가 아닌 사용여부 변경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9993047"/>
                  </a:ext>
                </a:extLst>
              </a:tr>
              <a:tr h="767387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결함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기능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1.CODE2 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값에 한글이 들어 감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  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한글로 최대삾을 넣으면 오류</a:t>
                      </a:r>
                      <a:b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2.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입력값과 보여주는 값이 짤려 나옴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 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넥사크로에서 제공하는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maxlength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가 글자 수만 체크하고 있어서 한글일 경우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byte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수가 초과되어 저장 시 오류발생</a:t>
                      </a:r>
                      <a:b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2. component 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사이즈가 길이에 비해 작음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 byte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체크 로직 추가 및 동일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component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에 적용</a:t>
                      </a:r>
                      <a:b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2. 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최대길이 입력 후 화면 체크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5678432"/>
                  </a:ext>
                </a:extLst>
              </a:tr>
              <a:tr h="578227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결함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기능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SORT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값을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자릿수 이상 입력 하면 오류가 남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validation 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누락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validation 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확인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4097581"/>
                  </a:ext>
                </a:extLst>
              </a:tr>
              <a:tr h="126732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결함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기능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list2 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저장시 오류발생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PK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오류 시 발생하는 현상임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기능공통에서 해당 케이스 발생 시 오류메시지 수정예정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기능공통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논의 후 결정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2221263"/>
                  </a:ext>
                </a:extLst>
              </a:tr>
              <a:tr h="663533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결함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기능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공지사항 저장 안됨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결함아님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정상작동함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N/A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1014671"/>
                  </a:ext>
                </a:extLst>
              </a:tr>
              <a:tr h="663533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개선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변경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기능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삭제시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useyn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만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으로 바뀜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.(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시나리오 상으로는 데이터가 보이지 않아야 함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결함아님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데이터삭제가 아닌 사용여부 변경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b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테스트케이스 수정 완료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테스트시나리오 확인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4467948"/>
                  </a:ext>
                </a:extLst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281073" y="699469"/>
            <a:ext cx="17700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[ </a:t>
            </a:r>
            <a:r>
              <a:rPr lang="ko-KR" altLang="en-US" b="1" dirty="0" err="1"/>
              <a:t>공통관리</a:t>
            </a:r>
            <a:r>
              <a:rPr lang="en-US" altLang="ko-KR" b="1" dirty="0"/>
              <a:t>(CA) ]</a:t>
            </a:r>
          </a:p>
        </p:txBody>
      </p:sp>
    </p:spTree>
    <p:extLst>
      <p:ext uri="{BB962C8B-B14F-4D97-AF65-F5344CB8AC3E}">
        <p14:creationId xmlns:p14="http://schemas.microsoft.com/office/powerpoint/2010/main" val="941466238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21028</TotalTime>
  <Words>5792</Words>
  <Application>Microsoft Office PowerPoint</Application>
  <PresentationFormat>와이드스크린</PresentationFormat>
  <Paragraphs>1276</Paragraphs>
  <Slides>53</Slides>
  <Notes>8</Notes>
  <HiddenSlides>18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53</vt:i4>
      </vt:variant>
    </vt:vector>
  </HeadingPairs>
  <TitlesOfParts>
    <vt:vector size="65" baseType="lpstr">
      <vt:lpstr>HY견고딕</vt:lpstr>
      <vt:lpstr>KoPub돋움체 Bold</vt:lpstr>
      <vt:lpstr>KoPub돋움체 Light</vt:lpstr>
      <vt:lpstr>KoPub돋움체 Medium</vt:lpstr>
      <vt:lpstr>맑은 고딕</vt:lpstr>
      <vt:lpstr>Arial</vt:lpstr>
      <vt:lpstr>Calibri</vt:lpstr>
      <vt:lpstr>Courier New</vt:lpstr>
      <vt:lpstr>Symbol</vt:lpstr>
      <vt:lpstr>Wingdings</vt:lpstr>
      <vt:lpstr>1_Office 테마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IDT-D-0001</dc:creator>
  <cp:lastModifiedBy>양수정</cp:lastModifiedBy>
  <cp:revision>945</cp:revision>
  <cp:lastPrinted>2025-06-13T01:30:37Z</cp:lastPrinted>
  <dcterms:created xsi:type="dcterms:W3CDTF">2024-06-13T01:42:00Z</dcterms:created>
  <dcterms:modified xsi:type="dcterms:W3CDTF">2026-04-02T05:57:09Z</dcterms:modified>
</cp:coreProperties>
</file>