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32"/>
  </p:notesMasterIdLst>
  <p:sldIdLst>
    <p:sldId id="289" r:id="rId3"/>
    <p:sldId id="344" r:id="rId4"/>
    <p:sldId id="325" r:id="rId5"/>
    <p:sldId id="328" r:id="rId6"/>
    <p:sldId id="340" r:id="rId7"/>
    <p:sldId id="343" r:id="rId8"/>
    <p:sldId id="319" r:id="rId9"/>
    <p:sldId id="341" r:id="rId10"/>
    <p:sldId id="342" r:id="rId11"/>
    <p:sldId id="349" r:id="rId12"/>
    <p:sldId id="345" r:id="rId13"/>
    <p:sldId id="346" r:id="rId14"/>
    <p:sldId id="347" r:id="rId15"/>
    <p:sldId id="352" r:id="rId16"/>
    <p:sldId id="353" r:id="rId17"/>
    <p:sldId id="354" r:id="rId18"/>
    <p:sldId id="356" r:id="rId19"/>
    <p:sldId id="348" r:id="rId20"/>
    <p:sldId id="326" r:id="rId21"/>
    <p:sldId id="339" r:id="rId22"/>
    <p:sldId id="327" r:id="rId23"/>
    <p:sldId id="329" r:id="rId24"/>
    <p:sldId id="358" r:id="rId25"/>
    <p:sldId id="357" r:id="rId26"/>
    <p:sldId id="331" r:id="rId27"/>
    <p:sldId id="332" r:id="rId28"/>
    <p:sldId id="336" r:id="rId29"/>
    <p:sldId id="337" r:id="rId30"/>
    <p:sldId id="338" r:id="rId3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421" autoAdjust="0"/>
  </p:normalViewPr>
  <p:slideViewPr>
    <p:cSldViewPr snapToGrid="0">
      <p:cViewPr varScale="1">
        <p:scale>
          <a:sx n="85" d="100"/>
          <a:sy n="85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0.%20&#51064;&#52380;&#44277;&#54637;\&#9733;%20ITR2_3&#51088;_1&#52264;_&#49688;&#54665;%20&#44208;&#44284;_1119_f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00.%20&#51064;&#52380;&#44277;&#54637;\&#9733;%20ITR2_3&#51088;_1&#52264;_&#49688;&#54665;%20&#44208;&#44284;_1119_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[★ ITR2_3자_1차_수행 결과_1119_f.xlsx]Sheet5!피벗 테이블7</c:name>
    <c:fmtId val="44"/>
  </c:pivotSource>
  <c:chart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0555555555555555E-2"/>
          <c:y val="3.6931897791964236E-2"/>
          <c:w val="0.93419891925648413"/>
          <c:h val="0.843688294431821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Sheet5!$G$16:$G$17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Sheet5!$F$18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Sheet5!$G$18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FF-43D3-8BFA-1644E3429DED}"/>
            </c:ext>
          </c:extLst>
        </c:ser>
        <c:ser>
          <c:idx val="1"/>
          <c:order val="1"/>
          <c:tx>
            <c:strRef>
              <c:f>Sheet5!$H$16:$H$17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Sheet5!$F$18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Sheet5!$H$18</c:f>
              <c:numCache>
                <c:formatCode>General</c:formatCode>
                <c:ptCount val="1"/>
                <c:pt idx="0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FF-43D3-8BFA-1644E3429DED}"/>
            </c:ext>
          </c:extLst>
        </c:ser>
        <c:ser>
          <c:idx val="2"/>
          <c:order val="2"/>
          <c:tx>
            <c:strRef>
              <c:f>Sheet5!$I$16:$I$17</c:f>
              <c:strCache>
                <c:ptCount val="1"/>
                <c:pt idx="0">
                  <c:v>Minor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Sheet5!$F$18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Sheet5!$I$18</c:f>
              <c:numCache>
                <c:formatCode>General</c:formatCode>
                <c:ptCount val="1"/>
                <c:pt idx="0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FF-43D3-8BFA-1644E3429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9629679"/>
        <c:axId val="1219630639"/>
      </c:barChart>
      <c:catAx>
        <c:axId val="12196296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19630639"/>
        <c:crosses val="autoZero"/>
        <c:auto val="1"/>
        <c:lblAlgn val="ctr"/>
        <c:lblOffset val="100"/>
        <c:noMultiLvlLbl val="0"/>
      </c:catAx>
      <c:valAx>
        <c:axId val="12196306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1962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0762587404764982"/>
          <c:y val="0.89320627232528327"/>
          <c:w val="0.51986592300962375"/>
          <c:h val="0.106793724379652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KoPub돋움체 Medium" panose="00000600000000000000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Sheet5!$J$4:$J$7</cx:f>
        <cx:lvl ptCount="4">
          <cx:pt idx="0">데이터</cx:pt>
          <cx:pt idx="1">기능</cx:pt>
          <cx:pt idx="2">문서화</cx:pt>
          <cx:pt idx="3">UI / 표준</cx:pt>
        </cx:lvl>
      </cx:strDim>
      <cx:numDim type="size">
        <cx:f>Sheet5!$K$4:$K$7</cx:f>
        <cx:lvl ptCount="4" formatCode="G/표준">
          <cx:pt idx="0">59</cx:pt>
          <cx:pt idx="1">108</cx:pt>
          <cx:pt idx="2">57</cx:pt>
          <cx:pt idx="3">21</cx:pt>
        </cx:lvl>
      </cx:numDim>
    </cx:data>
  </cx:chartData>
  <cx:chart>
    <cx:plotArea>
      <cx:plotAreaRegion>
        <cx:series layoutId="treemap" uniqueId="{D2AFC09C-BD8D-4BF7-869B-4EBAA29F7D9C}">
          <cx:tx>
            <cx:txData>
              <cx:f>Sheet5!$K$3</cx:f>
              <cx:v>건수</cx:v>
            </cx:txData>
          </cx:tx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200" b="1">
                    <a:solidFill>
                      <a:schemeClr val="bg1"/>
                    </a:solidFill>
                    <a:latin typeface="KoPub돋움체 Medium" panose="02020603020101020101"/>
                    <a:ea typeface="KoPub돋움체 Medium" panose="02020603020101020101"/>
                    <a:cs typeface="KoPub돋움체 Medium" panose="02020603020101020101"/>
                  </a:defRPr>
                </a:pPr>
                <a:endParaRPr lang="ko-KR" altLang="en-US" sz="1200" b="1" i="0" u="none" strike="noStrike" baseline="0">
                  <a:solidFill>
                    <a:schemeClr val="bg1"/>
                  </a:solidFill>
                  <a:latin typeface="Calibri"/>
                  <a:ea typeface="KoPub돋움체 Medium" panose="02020603020101020101"/>
                </a:endParaRPr>
              </a:p>
            </cx:txPr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200">
              <a:latin typeface="KoPub돋움체 Medium" panose="02020603020101020101"/>
              <a:ea typeface="KoPub돋움체 Medium" panose="02020603020101020101"/>
              <a:cs typeface="KoPub돋움체 Medium" panose="02020603020101020101"/>
            </a:defRPr>
          </a:pPr>
          <a:endParaRPr lang="ko-KR" altLang="en-US" sz="12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  <a:ea typeface="KoPub돋움체 Medium" panose="02020603020101020101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4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521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5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4FD8-F141-457E-9E54-C32A23416C70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DC9-7EB9-40B4-AF94-EAA07A156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429000"/>
            <a:ext cx="7308097" cy="5693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Iteration 2</a:t>
            </a:r>
          </a:p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 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자 단위테스트 수행 결과</a:t>
            </a:r>
            <a:endParaRPr lang="en-US" altLang="ko-KR" sz="160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KoPub돋움체 Medium" panose="02020603020101020101" pitchFamily="18" charset="-127"/>
              <a:ea typeface="KoPub돋움체 Medium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EDE0-7E00-77A9-70CF-18BACAB5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4F21C5D-1DEB-E254-59B2-5B2113A45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Contents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1D345610-EE29-DEBE-CE8D-ABC4EA9F2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52" y="692696"/>
            <a:ext cx="10567198" cy="1108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 .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수행  방식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II.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 결과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A62FBB2-FDCB-4B65-9E4A-96AC574B79D4}"/>
              </a:ext>
            </a:extLst>
          </p:cNvPr>
          <p:cNvSpPr/>
          <p:nvPr/>
        </p:nvSpPr>
        <p:spPr>
          <a:xfrm>
            <a:off x="8706600" y="636616"/>
            <a:ext cx="2518749" cy="255072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7975034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개발완료 된 기능에 대해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단위테스트를 통해 기능 적합성 및 사용자 사용성 측면에서 취약한 부분을 재점검하고 보완하여 개발 품질 수준을 높이고자 함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61045"/>
            <a:ext cx="52428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주요 기능에 대한 취약점을 사전 노출하여 고객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release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전</a:t>
            </a:r>
            <a:b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1360" y="3295674"/>
            <a:ext cx="496855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기능 확인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테스트 시나리오 기반한 기능 및 정상 동작 여부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1837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360" y="299710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58938" y="327696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0556" y="1338915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408134" y="1618783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0555" y="1665769"/>
            <a:ext cx="4904887" cy="29107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11/10 ~ 11/14 (5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신규기능검증 수행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(699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건 시나리오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(11/17, 13:00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리뷰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(11/14)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(~11/21)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Tester (6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신철진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김진협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박상기 사원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이상용사원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김민욱 주임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71360" y="5301780"/>
            <a:ext cx="5491481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화면기준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함수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프로시저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WES, MES, </a:t>
            </a:r>
            <a:b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자원배정엔진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자원배정차트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360" y="4979242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558938" y="5259110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1755B5-11EB-4A80-8D43-BE98ED4EE4AE}"/>
              </a:ext>
            </a:extLst>
          </p:cNvPr>
          <p:cNvSpPr txBox="1"/>
          <p:nvPr/>
        </p:nvSpPr>
        <p:spPr>
          <a:xfrm>
            <a:off x="6096000" y="5391868"/>
            <a:ext cx="6097554" cy="97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/>
              </a:rPr>
              <a:t>3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/>
              </a:rPr>
              <a:t>자 테스트 수행 대상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/>
              </a:rPr>
              <a:t>: 689 </a:t>
            </a:r>
            <a:r>
              <a:rPr lang="en-US" altLang="ko-KR" sz="1400" b="1" dirty="0">
                <a:latin typeface="맑은 고딕" panose="020B0503020000020004" pitchFamily="50" charset="-127"/>
                <a:ea typeface="KoPub돋움체 Medium" panose="00000600000000000000"/>
              </a:rPr>
              <a:t>→ 699</a:t>
            </a:r>
            <a:r>
              <a:rPr lang="ko-KR" altLang="en-US" sz="1400" b="1" dirty="0">
                <a:latin typeface="맑은 고딕" panose="020B0503020000020004" pitchFamily="50" charset="-127"/>
                <a:ea typeface="KoPub돋움체 Medium" panose="00000600000000000000"/>
              </a:rPr>
              <a:t>건</a:t>
            </a:r>
            <a:endParaRPr lang="en-US" altLang="ko-KR" sz="1400" b="1" dirty="0">
              <a:latin typeface="맑은 고딕" panose="020B0503020000020004" pitchFamily="50" charset="-127"/>
              <a:ea typeface="KoPub돋움체 Medium" panose="00000600000000000000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맑은 고딕" panose="020B0503020000020004" pitchFamily="50" charset="-127"/>
                <a:ea typeface="KoPub돋움체 Medium" panose="00000600000000000000"/>
              </a:rPr>
              <a:t>   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/>
              </a:rPr>
              <a:t>기 수립 계획 대비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+ 10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/>
              </a:rPr>
              <a:t>개증가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     - A-CDM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/>
              </a:rPr>
              <a:t>영역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/>
              </a:rPr>
              <a:t>개발 및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PL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/>
              </a:rPr>
              <a:t>테스트 완료 대상 추가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/>
              </a:rPr>
              <a:t>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5C2826-6582-4D14-84A0-E32F65C3F568}"/>
              </a:ext>
            </a:extLst>
          </p:cNvPr>
          <p:cNvSpPr txBox="1"/>
          <p:nvPr/>
        </p:nvSpPr>
        <p:spPr>
          <a:xfrm>
            <a:off x="6321333" y="4979242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비 고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126A37F-D35A-4D5C-B6CF-E242321E23F7}"/>
              </a:ext>
            </a:extLst>
          </p:cNvPr>
          <p:cNvCxnSpPr/>
          <p:nvPr/>
        </p:nvCxnSpPr>
        <p:spPr>
          <a:xfrm>
            <a:off x="6408911" y="5259110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방법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15412" y="764892"/>
            <a:ext cx="5413583" cy="654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테스트결과서를 기반으로 테스트케이스에 대하여 전수 테스트 진행 </a:t>
            </a: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6297561" y="770242"/>
            <a:ext cx="5021825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결함 등재 후 관리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차수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2-1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4" y="1900586"/>
            <a:ext cx="5126044" cy="317285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40774" y="3259394"/>
            <a:ext cx="5126044" cy="19025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D020227-5C68-4E3C-BDE5-2CF016B70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585" y="1900586"/>
            <a:ext cx="5537641" cy="39063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DF432-CEE5-46BD-AF34-7AE02AB63619}"/>
              </a:ext>
            </a:extLst>
          </p:cNvPr>
          <p:cNvSpPr/>
          <p:nvPr/>
        </p:nvSpPr>
        <p:spPr>
          <a:xfrm>
            <a:off x="6193342" y="2545076"/>
            <a:ext cx="1177842" cy="2914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 기록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294646" y="764892"/>
            <a:ext cx="11070040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단위 테스트 결과서 내 테스트 케이스 기록으로 결함을 명확하게 식별 할 수 있도록 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2D7466-18E7-4EDC-992B-95179C4B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4" y="1954620"/>
            <a:ext cx="6666042" cy="4305282"/>
          </a:xfrm>
          <a:prstGeom prst="rect">
            <a:avLst/>
          </a:prstGeom>
        </p:spPr>
      </p:pic>
      <p:sp>
        <p:nvSpPr>
          <p:cNvPr id="10" name="TextBox 27">
            <a:extLst>
              <a:ext uri="{FF2B5EF4-FFF2-40B4-BE49-F238E27FC236}">
                <a16:creationId xmlns:a16="http://schemas.microsoft.com/office/drawing/2014/main" id="{6E6203FB-83D8-46EF-9BF8-D69719BBB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317" y="389470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[S_6]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4C8E5CF-292A-4D50-9233-D47AF52C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05" y="2116884"/>
            <a:ext cx="836055" cy="4105297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88AB0A98-423E-4821-B6B8-33442D40964A}"/>
              </a:ext>
            </a:extLst>
          </p:cNvPr>
          <p:cNvSpPr/>
          <p:nvPr/>
        </p:nvSpPr>
        <p:spPr>
          <a:xfrm>
            <a:off x="8664470" y="3827957"/>
            <a:ext cx="582167" cy="5481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52C0B47-2F7E-486E-A1E0-E6D14C118F30}"/>
              </a:ext>
            </a:extLst>
          </p:cNvPr>
          <p:cNvSpPr/>
          <p:nvPr/>
        </p:nvSpPr>
        <p:spPr>
          <a:xfrm>
            <a:off x="8776717" y="4747043"/>
            <a:ext cx="547396" cy="3397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31251029-1576-4148-AEB4-B69CA0ADC4BF}"/>
              </a:ext>
            </a:extLst>
          </p:cNvPr>
          <p:cNvCxnSpPr>
            <a:cxnSpLocks/>
            <a:stCxn id="16" idx="6"/>
            <a:endCxn id="14" idx="6"/>
          </p:cNvCxnSpPr>
          <p:nvPr/>
        </p:nvCxnSpPr>
        <p:spPr>
          <a:xfrm flipH="1" flipV="1">
            <a:off x="9246637" y="4102007"/>
            <a:ext cx="77476" cy="814893"/>
          </a:xfrm>
          <a:prstGeom prst="curvedConnector3">
            <a:avLst>
              <a:gd name="adj1" fmla="val -295059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4BFCFAF-AFBC-4908-964E-8B1EA8444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826" y="2999400"/>
            <a:ext cx="944605" cy="3209987"/>
          </a:xfrm>
          <a:prstGeom prst="rect">
            <a:avLst/>
          </a:prstGeom>
        </p:spPr>
      </p:pic>
      <p:sp>
        <p:nvSpPr>
          <p:cNvPr id="22" name="TextBox 27">
            <a:extLst>
              <a:ext uri="{FF2B5EF4-FFF2-40B4-BE49-F238E27FC236}">
                <a16:creationId xmlns:a16="http://schemas.microsoft.com/office/drawing/2014/main" id="{C1936AF1-DEAC-4A12-8FDC-AB8E1DDAD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85" y="1248537"/>
            <a:ext cx="1110060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0D925F73-DE9E-4BA8-B545-F71A8A5B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019" y="1226664"/>
            <a:ext cx="165573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[C_#]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공통체크리스트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84F79483-5287-4C4A-B2D7-25D678B25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57" y="1248537"/>
            <a:ext cx="69979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[X_#]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C0E45B-2910-46F2-A99A-9EFDA4F274BE}"/>
              </a:ext>
            </a:extLst>
          </p:cNvPr>
          <p:cNvSpPr/>
          <p:nvPr/>
        </p:nvSpPr>
        <p:spPr>
          <a:xfrm>
            <a:off x="611525" y="1976493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188303-366B-49B5-8162-8C48B0DCBAFC}"/>
              </a:ext>
            </a:extLst>
          </p:cNvPr>
          <p:cNvSpPr/>
          <p:nvPr/>
        </p:nvSpPr>
        <p:spPr>
          <a:xfrm>
            <a:off x="2101880" y="1988021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626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08B8A4-402F-EB3A-76AE-6F2B0E8D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현황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F07B896A-493F-8469-C258-3750629EC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현황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27116F-117C-9D87-4797-D50F2C08CFAB}"/>
              </a:ext>
            </a:extLst>
          </p:cNvPr>
          <p:cNvSpPr/>
          <p:nvPr/>
        </p:nvSpPr>
        <p:spPr>
          <a:xfrm>
            <a:off x="399352" y="1244695"/>
            <a:ext cx="7341935" cy="1149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식별 결함 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245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기각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21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건 포함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 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: 35.1 %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테스트 대상 시나리오 기준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, 241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/ 698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핵심 요약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55E603D5-6CE3-B285-EEC2-278FA61B2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33" y="2575818"/>
            <a:ext cx="900729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결함의 약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**36%**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 데이터 부재 및 정합성 문제로 확인됨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오류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(31%)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못지않게 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DB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등 환경적 요인에 의한 문서화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결함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(22%)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비중이 높음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개발 기능의 문제보다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환경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(DB,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준비 상태 미흡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결함 수치를 높이는 주요 원인임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31206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859172" y="1262180"/>
            <a:ext cx="4167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(11/17, 13:00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A74809-D702-420A-AA2C-A6FEE88D0610}"/>
              </a:ext>
            </a:extLst>
          </p:cNvPr>
          <p:cNvSpPr/>
          <p:nvPr/>
        </p:nvSpPr>
        <p:spPr>
          <a:xfrm>
            <a:off x="6107334" y="777530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목표 조치완료 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  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7525CF7-B745-464E-B553-087A877D4E0A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3:$O$21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234" y="1703569"/>
            <a:ext cx="11258589" cy="470057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088075A6-642D-6A41-D00E-EE43FF1A8AC2}"/>
              </a:ext>
            </a:extLst>
          </p:cNvPr>
          <p:cNvSpPr/>
          <p:nvPr/>
        </p:nvSpPr>
        <p:spPr>
          <a:xfrm>
            <a:off x="8706600" y="636616"/>
            <a:ext cx="2518749" cy="255072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tx1"/>
                </a:solidFill>
              </a:rPr>
              <a:t>현행화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C2DCF-98AC-2CC7-5CDA-CF237E94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</a:t>
            </a:r>
            <a:r>
              <a:rPr lang="ko-KR" altLang="en-US" sz="2000" b="1" dirty="0">
                <a:solidFill>
                  <a:prstClr val="white"/>
                </a:solidFill>
              </a:rPr>
              <a:t>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0585D-508B-1DDC-9FAF-B5D9FDC02D2B}"/>
              </a:ext>
            </a:extLst>
          </p:cNvPr>
          <p:cNvSpPr/>
          <p:nvPr/>
        </p:nvSpPr>
        <p:spPr>
          <a:xfrm>
            <a:off x="426691" y="814831"/>
            <a:ext cx="734193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식별 결함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Medium" panose="00000600000000000000"/>
              </a:rPr>
              <a:t>: 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Medium" panose="00000600000000000000"/>
              </a:rPr>
              <a:t>245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건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Medium" panose="00000600000000000000"/>
              </a:rPr>
              <a:t>(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224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개 시나리오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)</a:t>
            </a:r>
          </a:p>
          <a:p>
            <a:pPr marL="285750" indent="-285750" defTabSz="457200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: 32.1 %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테스트 대상 시나리오 기준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, 224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/ 698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517237" y="767658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결함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변경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신규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- 241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C469C800-38F3-4F2F-8B5C-3843B931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31" y="1253464"/>
            <a:ext cx="4809669" cy="84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 후 테스터로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요청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PL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혹은 개발자 간 결함내용의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완료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결함등록기각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최종확인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6E0117-B596-42C1-9D5A-C1E6D5C5029F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Y$4:$AM$19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931" y="2342951"/>
            <a:ext cx="11325225" cy="355822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10" name="TextBox 27">
            <a:extLst>
              <a:ext uri="{FF2B5EF4-FFF2-40B4-BE49-F238E27FC236}">
                <a16:creationId xmlns:a16="http://schemas.microsoft.com/office/drawing/2014/main" id="{A41EDC2F-C987-4129-AC1D-BEFA8D61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707" y="208328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6FBF09BF-9F92-4A99-8DC0-81C8EFDC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382" y="2084030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0000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77877335-D6AB-405B-B552-6986C771E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533" y="2041928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8257CA-7CA8-424F-B796-FDC4AFCF7306}"/>
              </a:ext>
            </a:extLst>
          </p:cNvPr>
          <p:cNvSpPr/>
          <p:nvPr/>
        </p:nvSpPr>
        <p:spPr>
          <a:xfrm>
            <a:off x="5255565" y="767658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목표 조치완료 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  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7DF6544-7CE4-9DF6-2D49-1E34EA292D9E}"/>
              </a:ext>
            </a:extLst>
          </p:cNvPr>
          <p:cNvSpPr/>
          <p:nvPr/>
        </p:nvSpPr>
        <p:spPr>
          <a:xfrm>
            <a:off x="8706600" y="636616"/>
            <a:ext cx="2518749" cy="255072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tx1"/>
                </a:solidFill>
              </a:rPr>
              <a:t>현행화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AAC4E6-301D-DDDE-5854-F855813CC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09587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416841" y="1349295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결함조치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C8797B6-176E-4D25-B569-94B7745B1D19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Y$26:$AM$41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0583" y="1222727"/>
            <a:ext cx="10080000" cy="290450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58B4AEA-04B6-446C-8342-BF25620C1A7B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Y$47:$AM$58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80582" y="4267385"/>
            <a:ext cx="10080000" cy="218055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1EE422-AAAF-4641-A7EF-D0C91510B7FA}"/>
              </a:ext>
            </a:extLst>
          </p:cNvPr>
          <p:cNvSpPr/>
          <p:nvPr/>
        </p:nvSpPr>
        <p:spPr>
          <a:xfrm>
            <a:off x="416842" y="4389168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개선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,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신규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조치 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D469A6-CD31-4A8B-A28A-E63AE68E41E8}"/>
              </a:ext>
            </a:extLst>
          </p:cNvPr>
          <p:cNvSpPr/>
          <p:nvPr/>
        </p:nvSpPr>
        <p:spPr>
          <a:xfrm>
            <a:off x="5255565" y="767658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목표 조치완료 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  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054FA13E-896B-A988-C7D6-CA226CE43505}"/>
              </a:ext>
            </a:extLst>
          </p:cNvPr>
          <p:cNvSpPr/>
          <p:nvPr/>
        </p:nvSpPr>
        <p:spPr>
          <a:xfrm>
            <a:off x="8706600" y="636616"/>
            <a:ext cx="2518749" cy="255072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tx1"/>
                </a:solidFill>
              </a:rPr>
              <a:t>현행화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CD6434-C990-37E9-3D82-7A443C8B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795144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5D4D-E35F-ED69-AF91-3AAAE632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F781C7-76FB-9EA3-1E74-480C668C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7A53C9-920F-D333-9073-00196F95C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75" y="788536"/>
            <a:ext cx="10290242" cy="666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AutoNum type="arabicParenR"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(Severity)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  </a:t>
            </a:r>
            <a:endParaRPr lang="en-US" altLang="ko-KR" sz="1200" b="1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심각한 기능 장애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(Critical)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는 소수이나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진행을 막는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Major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결함의 비중이 높음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AA0B7F0-5B87-0DB9-9365-ADCBDF9C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44767"/>
              </p:ext>
            </p:extLst>
          </p:nvPr>
        </p:nvGraphicFramePr>
        <p:xfrm>
          <a:off x="1026520" y="1577302"/>
          <a:ext cx="6333504" cy="46945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15605">
                  <a:extLst>
                    <a:ext uri="{9D8B030D-6E8A-4147-A177-3AD203B41FA5}">
                      <a16:colId xmlns:a16="http://schemas.microsoft.com/office/drawing/2014/main" val="3775561322"/>
                    </a:ext>
                  </a:extLst>
                </a:gridCol>
                <a:gridCol w="584828">
                  <a:extLst>
                    <a:ext uri="{9D8B030D-6E8A-4147-A177-3AD203B41FA5}">
                      <a16:colId xmlns:a16="http://schemas.microsoft.com/office/drawing/2014/main" val="3207915394"/>
                    </a:ext>
                  </a:extLst>
                </a:gridCol>
                <a:gridCol w="635726">
                  <a:extLst>
                    <a:ext uri="{9D8B030D-6E8A-4147-A177-3AD203B41FA5}">
                      <a16:colId xmlns:a16="http://schemas.microsoft.com/office/drawing/2014/main" val="1761355692"/>
                    </a:ext>
                  </a:extLst>
                </a:gridCol>
                <a:gridCol w="4297345">
                  <a:extLst>
                    <a:ext uri="{9D8B030D-6E8A-4147-A177-3AD203B41FA5}">
                      <a16:colId xmlns:a16="http://schemas.microsoft.com/office/drawing/2014/main" val="80658915"/>
                    </a:ext>
                  </a:extLst>
                </a:gridCol>
              </a:tblGrid>
              <a:tr h="4082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및 영향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91826"/>
                  </a:ext>
                </a:extLst>
              </a:tr>
              <a:tr h="14287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Critical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로딩 불가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(White screen)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경고창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발생으로 진입 불가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영향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주로 항공보안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(FS),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통계포털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(AS)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일부 화면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69559"/>
                  </a:ext>
                </a:extLst>
              </a:tr>
              <a:tr h="14287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Major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109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44.5%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쿼리 실행 불가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뷰 없음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 버튼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저장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비활성화</a:t>
                      </a:r>
                    </a:p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영향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검증 자체가 불가능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결함조치 후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테스트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수행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011604"/>
                  </a:ext>
                </a:extLst>
              </a:tr>
              <a:tr h="14287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Minor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131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53.5%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단순 데이터 불일치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UI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깨짐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알림 메시지 등</a:t>
                      </a:r>
                    </a:p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영향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수행에는 지장이 없으나 품질 완성도 저하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1588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79C9CB3-84D2-69D0-DA41-E03D3161CC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33762"/>
              </p:ext>
            </p:extLst>
          </p:nvPr>
        </p:nvGraphicFramePr>
        <p:xfrm>
          <a:off x="7516238" y="1577301"/>
          <a:ext cx="4156953" cy="4852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80830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C98EA11-2724-5350-AEF3-2AE974A9D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1FF9E13-03EB-040E-EA70-BE5B8DF3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38" y="913493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주요 유형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(Defect Type)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0F0F5E-8AC5-36D9-79AC-C47E068B4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455903"/>
              </p:ext>
            </p:extLst>
          </p:nvPr>
        </p:nvGraphicFramePr>
        <p:xfrm>
          <a:off x="1019953" y="1358838"/>
          <a:ext cx="6356477" cy="467900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25388">
                  <a:extLst>
                    <a:ext uri="{9D8B030D-6E8A-4147-A177-3AD203B41FA5}">
                      <a16:colId xmlns:a16="http://schemas.microsoft.com/office/drawing/2014/main" val="3926118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6340524"/>
                    </a:ext>
                  </a:extLst>
                </a:gridCol>
                <a:gridCol w="627530">
                  <a:extLst>
                    <a:ext uri="{9D8B030D-6E8A-4147-A177-3AD203B41FA5}">
                      <a16:colId xmlns:a16="http://schemas.microsoft.com/office/drawing/2014/main" val="826301422"/>
                    </a:ext>
                  </a:extLst>
                </a:gridCol>
                <a:gridCol w="4193959">
                  <a:extLst>
                    <a:ext uri="{9D8B030D-6E8A-4147-A177-3AD203B41FA5}">
                      <a16:colId xmlns:a16="http://schemas.microsoft.com/office/drawing/2014/main" val="595994797"/>
                    </a:ext>
                  </a:extLst>
                </a:gridCol>
              </a:tblGrid>
              <a:tr h="38031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분석 내용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63542"/>
                  </a:ext>
                </a:extLst>
              </a:tr>
              <a:tr h="104141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59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24.1%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합계 불일치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(GO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테스트 기초 데이터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(Pre-condition)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없음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미래 날짜 데이터 조회 등 조회 범위 오류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920379"/>
                  </a:ext>
                </a:extLst>
              </a:tr>
              <a:tr h="104141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108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44.0%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 비활성화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클릭 무반응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저장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수정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Server Error (500)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프로시저 호출 실패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로직 오류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007"/>
                  </a:ext>
                </a:extLst>
              </a:tr>
              <a:tr h="116325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문서화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57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23.3%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[X]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유형 다수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: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쿼리 스키마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(Schema)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명시 누락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결과서 가이드 부족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파일명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테이블명 불일치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실제 기능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오류라기보다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실행 불가 사유에 해당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일부는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 데이터가 필요한 결함이 문서화로 분류 됨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68569"/>
                  </a:ext>
                </a:extLst>
              </a:tr>
              <a:tr h="68180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UI /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8.6%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해상도 문제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노트북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),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필수값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컬러 표기 오류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특수문자 입력 제한 미비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메시지 창 깨짐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109000"/>
                  </a:ext>
                </a:extLst>
              </a:tr>
              <a:tr h="37080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245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5122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차트 2">
                <a:extLst>
                  <a:ext uri="{FF2B5EF4-FFF2-40B4-BE49-F238E27FC236}">
                    <a16:creationId xmlns:a16="http://schemas.microsoft.com/office/drawing/2014/main" id="{A9998F07-F051-EDC2-7A0A-7AC775A207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07042209"/>
                  </p:ext>
                </p:extLst>
              </p:nvPr>
            </p:nvGraphicFramePr>
            <p:xfrm>
              <a:off x="7613196" y="1264919"/>
              <a:ext cx="4019550" cy="49007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차트 2">
                <a:extLst>
                  <a:ext uri="{FF2B5EF4-FFF2-40B4-BE49-F238E27FC236}">
                    <a16:creationId xmlns:a16="http://schemas.microsoft.com/office/drawing/2014/main" id="{A9998F07-F051-EDC2-7A0A-7AC775A207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13196" y="1264919"/>
                <a:ext cx="4019550" cy="4900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2114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DA652-9285-984E-0574-3B09E7112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43B4E6-A1CD-BFED-23B1-07D6B3455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9" y="891554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ts val="800"/>
              </a:spcBef>
              <a:spcAft>
                <a:spcPts val="800"/>
              </a:spcAft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모듈별 결함 조치 현황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B7B7229-E3BA-3F49-C91A-B403B75B8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71513"/>
              </p:ext>
            </p:extLst>
          </p:nvPr>
        </p:nvGraphicFramePr>
        <p:xfrm>
          <a:off x="902425" y="1326688"/>
          <a:ext cx="10444844" cy="417712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61508">
                  <a:extLst>
                    <a:ext uri="{9D8B030D-6E8A-4147-A177-3AD203B41FA5}">
                      <a16:colId xmlns:a16="http://schemas.microsoft.com/office/drawing/2014/main" val="130619889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38827903"/>
                    </a:ext>
                  </a:extLst>
                </a:gridCol>
                <a:gridCol w="808109">
                  <a:extLst>
                    <a:ext uri="{9D8B030D-6E8A-4147-A177-3AD203B41FA5}">
                      <a16:colId xmlns:a16="http://schemas.microsoft.com/office/drawing/2014/main" val="3209586441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176146514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3717851300"/>
                    </a:ext>
                  </a:extLst>
                </a:gridCol>
                <a:gridCol w="888238">
                  <a:extLst>
                    <a:ext uri="{9D8B030D-6E8A-4147-A177-3AD203B41FA5}">
                      <a16:colId xmlns:a16="http://schemas.microsoft.com/office/drawing/2014/main" val="1752925775"/>
                    </a:ext>
                  </a:extLst>
                </a:gridCol>
                <a:gridCol w="1103578">
                  <a:extLst>
                    <a:ext uri="{9D8B030D-6E8A-4147-A177-3AD203B41FA5}">
                      <a16:colId xmlns:a16="http://schemas.microsoft.com/office/drawing/2014/main" val="435457311"/>
                    </a:ext>
                  </a:extLst>
                </a:gridCol>
                <a:gridCol w="862241">
                  <a:extLst>
                    <a:ext uri="{9D8B030D-6E8A-4147-A177-3AD203B41FA5}">
                      <a16:colId xmlns:a16="http://schemas.microsoft.com/office/drawing/2014/main" val="688251982"/>
                    </a:ext>
                  </a:extLst>
                </a:gridCol>
                <a:gridCol w="2499266">
                  <a:extLst>
                    <a:ext uri="{9D8B030D-6E8A-4147-A177-3AD203B41FA5}">
                      <a16:colId xmlns:a16="http://schemas.microsoft.com/office/drawing/2014/main" val="77354026"/>
                    </a:ext>
                  </a:extLst>
                </a:gridCol>
              </a:tblGrid>
              <a:tr h="37973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모듈명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대상 시나리오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함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환경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로직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 완료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재테스트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완료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진척률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(%)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비고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이슈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010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모바일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(WES)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누락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부재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4846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합계 불일치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정합성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883549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운항계획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(FP)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서버 오류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(500),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미존재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698740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항공보안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로딩 불가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(Critical)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84023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통계포털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초기화 버튼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미동작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76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(CA)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54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설정</a:t>
                      </a: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코드 부재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27533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예측관리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(PM)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프로시저 실행 불가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281112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685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468358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698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환경 조치 선행 필수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790032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DBA94552-94FD-4365-3FA3-7945180CF7E5}"/>
              </a:ext>
            </a:extLst>
          </p:cNvPr>
          <p:cNvSpPr/>
          <p:nvPr/>
        </p:nvSpPr>
        <p:spPr>
          <a:xfrm>
            <a:off x="8706600" y="636616"/>
            <a:ext cx="2518749" cy="255072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조치 완료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현행화</a:t>
            </a:r>
          </a:p>
        </p:txBody>
      </p:sp>
    </p:spTree>
    <p:extLst>
      <p:ext uri="{BB962C8B-B14F-4D97-AF65-F5344CB8AC3E}">
        <p14:creationId xmlns:p14="http://schemas.microsoft.com/office/powerpoint/2010/main" val="291317589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CB0FA4-253E-4D9E-9208-2FB103B22E45}"/>
              </a:ext>
            </a:extLst>
          </p:cNvPr>
          <p:cNvSpPr/>
          <p:nvPr/>
        </p:nvSpPr>
        <p:spPr>
          <a:xfrm>
            <a:off x="1078787" y="1367632"/>
            <a:ext cx="2681650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DF25C5-76B6-4CD1-8A07-4C02AB6EDE3F}"/>
              </a:ext>
            </a:extLst>
          </p:cNvPr>
          <p:cNvSpPr/>
          <p:nvPr/>
        </p:nvSpPr>
        <p:spPr>
          <a:xfrm>
            <a:off x="1078786" y="2956139"/>
            <a:ext cx="2681650" cy="3454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39E8A3-A221-4DE6-902F-557E2C57EC9A}"/>
              </a:ext>
            </a:extLst>
          </p:cNvPr>
          <p:cNvSpPr/>
          <p:nvPr/>
        </p:nvSpPr>
        <p:spPr>
          <a:xfrm>
            <a:off x="3824231" y="1367632"/>
            <a:ext cx="5830134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CBA773-86FD-46EF-8111-3C815CF1667F}"/>
              </a:ext>
            </a:extLst>
          </p:cNvPr>
          <p:cNvSpPr/>
          <p:nvPr/>
        </p:nvSpPr>
        <p:spPr>
          <a:xfrm>
            <a:off x="3824230" y="2956139"/>
            <a:ext cx="2897706" cy="3454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4898B2-B906-4D7E-AAAD-ABD739AC8A22}"/>
              </a:ext>
            </a:extLst>
          </p:cNvPr>
          <p:cNvSpPr/>
          <p:nvPr/>
        </p:nvSpPr>
        <p:spPr>
          <a:xfrm>
            <a:off x="6756659" y="2956139"/>
            <a:ext cx="2897706" cy="3454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98BAF1-16A1-4310-9D82-5CCFEBBDA009}"/>
              </a:ext>
            </a:extLst>
          </p:cNvPr>
          <p:cNvSpPr/>
          <p:nvPr/>
        </p:nvSpPr>
        <p:spPr>
          <a:xfrm>
            <a:off x="9718158" y="1367632"/>
            <a:ext cx="2059940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84AB4C-A1C3-44F2-9550-6B692ABD3968}"/>
              </a:ext>
            </a:extLst>
          </p:cNvPr>
          <p:cNvSpPr/>
          <p:nvPr/>
        </p:nvSpPr>
        <p:spPr>
          <a:xfrm>
            <a:off x="9718157" y="2956139"/>
            <a:ext cx="2059940" cy="3454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238AAAD0-8376-4BDE-BF59-6B36CCAA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397" y="1779869"/>
            <a:ext cx="96011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26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7AC2A04-1CCD-4F50-B452-86F74B25D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805" y="1779869"/>
            <a:ext cx="96011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64%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C71FAC8C-03D8-4E8D-9360-AE120FD17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0958" y="1779869"/>
            <a:ext cx="127063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10%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51C79-F089-4BB9-AD8C-A5FABE907FA4}"/>
              </a:ext>
            </a:extLst>
          </p:cNvPr>
          <p:cNvSpPr txBox="1"/>
          <p:nvPr/>
        </p:nvSpPr>
        <p:spPr>
          <a:xfrm>
            <a:off x="904855" y="1389100"/>
            <a:ext cx="3083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시나리오</a:t>
            </a:r>
            <a:r>
              <a:rPr lang="en-US" altLang="ko-KR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외 환경적 </a:t>
            </a:r>
            <a:r>
              <a:rPr lang="en-US" altLang="ko-KR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Issue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3475C-044F-488A-B9A3-1D9427906773}"/>
              </a:ext>
            </a:extLst>
          </p:cNvPr>
          <p:cNvSpPr txBox="1"/>
          <p:nvPr/>
        </p:nvSpPr>
        <p:spPr>
          <a:xfrm>
            <a:off x="5316195" y="1408728"/>
            <a:ext cx="2811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시나리오 기반 기능 결함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5" name="부분 원형 24">
            <a:extLst>
              <a:ext uri="{FF2B5EF4-FFF2-40B4-BE49-F238E27FC236}">
                <a16:creationId xmlns:a16="http://schemas.microsoft.com/office/drawing/2014/main" id="{11A8B77A-633B-462A-8297-661349F8E334}"/>
              </a:ext>
            </a:extLst>
          </p:cNvPr>
          <p:cNvSpPr/>
          <p:nvPr/>
        </p:nvSpPr>
        <p:spPr>
          <a:xfrm rot="13794213">
            <a:off x="6972550" y="1707469"/>
            <a:ext cx="360000" cy="360000"/>
          </a:xfrm>
          <a:prstGeom prst="pie">
            <a:avLst>
              <a:gd name="adj1" fmla="val 3074875"/>
              <a:gd name="adj2" fmla="val 16909289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부분 원형 25">
            <a:extLst>
              <a:ext uri="{FF2B5EF4-FFF2-40B4-BE49-F238E27FC236}">
                <a16:creationId xmlns:a16="http://schemas.microsoft.com/office/drawing/2014/main" id="{E176CD99-66FF-4328-B59E-D969979A8B99}"/>
              </a:ext>
            </a:extLst>
          </p:cNvPr>
          <p:cNvSpPr/>
          <p:nvPr/>
        </p:nvSpPr>
        <p:spPr>
          <a:xfrm rot="19975360">
            <a:off x="2342355" y="1666661"/>
            <a:ext cx="360000" cy="360000"/>
          </a:xfrm>
          <a:prstGeom prst="pie">
            <a:avLst>
              <a:gd name="adj1" fmla="val 2357921"/>
              <a:gd name="adj2" fmla="val 7053171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부분 원형 26">
            <a:extLst>
              <a:ext uri="{FF2B5EF4-FFF2-40B4-BE49-F238E27FC236}">
                <a16:creationId xmlns:a16="http://schemas.microsoft.com/office/drawing/2014/main" id="{E5DAFAE4-4DE4-422C-82F4-0BEAA33F5E58}"/>
              </a:ext>
            </a:extLst>
          </p:cNvPr>
          <p:cNvSpPr/>
          <p:nvPr/>
        </p:nvSpPr>
        <p:spPr>
          <a:xfrm rot="20678441">
            <a:off x="10789376" y="1655844"/>
            <a:ext cx="360000" cy="360000"/>
          </a:xfrm>
          <a:prstGeom prst="pie">
            <a:avLst>
              <a:gd name="adj1" fmla="val 5014374"/>
              <a:gd name="adj2" fmla="val 7053171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91A3A3-DC16-40FD-B9DE-9A1965E8AEEE}"/>
              </a:ext>
            </a:extLst>
          </p:cNvPr>
          <p:cNvSpPr txBox="1"/>
          <p:nvPr/>
        </p:nvSpPr>
        <p:spPr>
          <a:xfrm>
            <a:off x="9342386" y="1388558"/>
            <a:ext cx="2811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4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 체크리스트 위반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6AF213-2824-432F-9155-F813D2D59837}"/>
              </a:ext>
            </a:extLst>
          </p:cNvPr>
          <p:cNvSpPr/>
          <p:nvPr/>
        </p:nvSpPr>
        <p:spPr>
          <a:xfrm>
            <a:off x="1078786" y="2127017"/>
            <a:ext cx="2681650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8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CAAE75-8A74-4964-9E68-8A1D0F3368BA}"/>
              </a:ext>
            </a:extLst>
          </p:cNvPr>
          <p:cNvSpPr/>
          <p:nvPr/>
        </p:nvSpPr>
        <p:spPr>
          <a:xfrm>
            <a:off x="3824230" y="2127017"/>
            <a:ext cx="2897706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EE817D-0F77-4A68-837B-7F7F4D35D9BF}"/>
              </a:ext>
            </a:extLst>
          </p:cNvPr>
          <p:cNvSpPr/>
          <p:nvPr/>
        </p:nvSpPr>
        <p:spPr>
          <a:xfrm>
            <a:off x="6756659" y="2127017"/>
            <a:ext cx="2897706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7D4D8E-BB1F-49E5-A5D2-1140041927DE}"/>
              </a:ext>
            </a:extLst>
          </p:cNvPr>
          <p:cNvSpPr/>
          <p:nvPr/>
        </p:nvSpPr>
        <p:spPr>
          <a:xfrm>
            <a:off x="9718157" y="2127017"/>
            <a:ext cx="2059940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C64D22-A0D8-4A36-A030-DB601147F5EC}"/>
              </a:ext>
            </a:extLst>
          </p:cNvPr>
          <p:cNvSpPr txBox="1"/>
          <p:nvPr/>
        </p:nvSpPr>
        <p:spPr>
          <a:xfrm>
            <a:off x="477577" y="2249174"/>
            <a:ext cx="601209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8A82F7-6697-4CF4-89AF-39877E57C4E4}"/>
              </a:ext>
            </a:extLst>
          </p:cNvPr>
          <p:cNvSpPr txBox="1"/>
          <p:nvPr/>
        </p:nvSpPr>
        <p:spPr>
          <a:xfrm>
            <a:off x="1475769" y="2236878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6D63F6-9FFF-4E60-A855-B6ABB9F4CEA7}"/>
              </a:ext>
            </a:extLst>
          </p:cNvPr>
          <p:cNvSpPr txBox="1"/>
          <p:nvPr/>
        </p:nvSpPr>
        <p:spPr>
          <a:xfrm>
            <a:off x="477577" y="3685854"/>
            <a:ext cx="77537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상세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79F490-E5BC-47B4-9FB5-A745F22CA7B5}"/>
              </a:ext>
            </a:extLst>
          </p:cNvPr>
          <p:cNvSpPr txBox="1"/>
          <p:nvPr/>
        </p:nvSpPr>
        <p:spPr>
          <a:xfrm>
            <a:off x="1181526" y="3002302"/>
            <a:ext cx="2599362" cy="3273579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대응 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기능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오류라기보다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관리 및 배포 프로세스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문제입니다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E044E2-023C-4822-A36C-5624A32FCC56}"/>
              </a:ext>
            </a:extLst>
          </p:cNvPr>
          <p:cNvSpPr txBox="1"/>
          <p:nvPr/>
        </p:nvSpPr>
        <p:spPr>
          <a:xfrm>
            <a:off x="4254329" y="2257426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(Test Data)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8E51C-5925-4881-8F61-ABE00F1052B3}"/>
              </a:ext>
            </a:extLst>
          </p:cNvPr>
          <p:cNvSpPr txBox="1"/>
          <p:nvPr/>
        </p:nvSpPr>
        <p:spPr>
          <a:xfrm>
            <a:off x="3960086" y="3022850"/>
            <a:ext cx="2599362" cy="1673141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조호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결과가 빈 값임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3A8317-2B34-4A66-B344-988C4A24D2EA}"/>
              </a:ext>
            </a:extLst>
          </p:cNvPr>
          <p:cNvSpPr txBox="1"/>
          <p:nvPr/>
        </p:nvSpPr>
        <p:spPr>
          <a:xfrm>
            <a:off x="7218654" y="2257426"/>
            <a:ext cx="2123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(Logic)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AC608-7419-48C5-864B-911CA21597AE}"/>
              </a:ext>
            </a:extLst>
          </p:cNvPr>
          <p:cNvSpPr txBox="1"/>
          <p:nvPr/>
        </p:nvSpPr>
        <p:spPr>
          <a:xfrm>
            <a:off x="6924411" y="3022850"/>
            <a:ext cx="2599362" cy="3294098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(GO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서버 오류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수정 시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Server Error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발생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(FP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2B2C52-C30D-49FF-873E-447CC4130651}"/>
              </a:ext>
            </a:extLst>
          </p:cNvPr>
          <p:cNvSpPr txBox="1"/>
          <p:nvPr/>
        </p:nvSpPr>
        <p:spPr>
          <a:xfrm>
            <a:off x="9804382" y="2236878"/>
            <a:ext cx="1844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0DAD3A-F446-4790-BF69-7BDFA07C554E}"/>
              </a:ext>
            </a:extLst>
          </p:cNvPr>
          <p:cNvSpPr txBox="1"/>
          <p:nvPr/>
        </p:nvSpPr>
        <p:spPr>
          <a:xfrm>
            <a:off x="9804381" y="3002302"/>
            <a:ext cx="1897207" cy="1775733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2BEC96C2-E6E3-4F45-BFF1-60B5D2F37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77" y="903180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에러 메시지를 기반으로 분석 </a:t>
            </a:r>
            <a:r>
              <a:rPr lang="ko-KR" alt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함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5154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DA79-DE9B-B9C9-F504-6B0F6DB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CA194-DF72-6361-C55A-C995979F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CF66D-F2CB-798D-9029-B0C18E3BE217}"/>
              </a:ext>
            </a:extLst>
          </p:cNvPr>
          <p:cNvSpPr txBox="1"/>
          <p:nvPr/>
        </p:nvSpPr>
        <p:spPr>
          <a:xfrm>
            <a:off x="597613" y="772411"/>
            <a:ext cx="11226833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분석 결과 도출된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 핵심 원인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대한 단기 조치와 장기적 예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방을 위한 계획안으로 상세 내용은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담당자와 충분한 협의 필요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228600" indent="-228600" latinLnBrk="1">
              <a:spcAft>
                <a:spcPts val="800"/>
              </a:spcAft>
              <a:buAutoNum type="arabicParenR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및 배포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 누락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DB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</a:t>
            </a:r>
            <a:r>
              <a:rPr lang="ko-KR" altLang="ko-KR" sz="12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미존재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- [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26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%]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Schema Name Missing, Table Not Found, View Not Found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에러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PC)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와 테스트 서버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간 형상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배포 프로세스 누락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EAFF03-9E06-0ACC-8B93-4C954D210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13287"/>
              </p:ext>
            </p:extLst>
          </p:nvPr>
        </p:nvGraphicFramePr>
        <p:xfrm>
          <a:off x="969195" y="2754483"/>
          <a:ext cx="10253609" cy="29671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91802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075488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86319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3168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32513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오브젝트 전수 동기화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개발계의 최신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DDL(Table, View, Proc, Func)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을 테스트계에 강제 적용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Synonym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일괄 생성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스키마명 하드코딩을 방지하기 위해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Public Synonym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또는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Private Synonym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일괄 생성 및 권한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(Grant)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부여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DA / DBA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32513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배포 자동화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(CI/CD)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소스 배포 시 관련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스크립트가 함께 배포되는지 파이프라인 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사용 금지 가이드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쿼리 작성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ESOWN.Table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Table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만 쓰도록 코딩 표준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(Coding Standard)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재교육 및 검수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PL / AA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0645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4505-67A9-4236-4DF3-73953F37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D9FCBC-F6F8-283B-69F4-D0511E234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295796"/>
              </p:ext>
            </p:extLst>
          </p:nvPr>
        </p:nvGraphicFramePr>
        <p:xfrm>
          <a:off x="786541" y="2311685"/>
          <a:ext cx="10618917" cy="310020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01949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882792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734176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3376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38129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생성 스크립트 첨부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 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없음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으로 반려된 결함 조치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개발자는 반드시 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INSERT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구문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이나 데이터 생성 가이드를 결함 조치 내역에 첨부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상태값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강제 변경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테스터에게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수정 권한이 없다면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DEAL_STAT = 'N'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등으로 데이터를 임의 세팅 후 인계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38129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단위 테스트 시나리오 보완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시나리오의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[Pre-condition]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항목에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**"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필요한 테스트 데이터 조건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"**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을 명시화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샘플 데이터셋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(Golden Record)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자주 쓰는 케이스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정상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취소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승인대기 등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별 표준 데이터를 만들어 공용으로 사용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14396C-BB35-78B6-2900-4D1A8C62CE6B}"/>
              </a:ext>
            </a:extLst>
          </p:cNvPr>
          <p:cNvSpPr txBox="1"/>
          <p:nvPr/>
        </p:nvSpPr>
        <p:spPr>
          <a:xfrm>
            <a:off x="591948" y="844181"/>
            <a:ext cx="107115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spcAft>
                <a:spcPts val="800"/>
              </a:spcAft>
              <a:buAutoNum type="arabicParenR" startAt="2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 충족 데이터 없음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- [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33%]</a:t>
            </a:r>
          </a:p>
          <a:p>
            <a:pPr marL="228600" indent="-228600" latinLnBrk="1">
              <a:spcAft>
                <a:spcPts val="800"/>
              </a:spcAft>
              <a:buAutoNum type="arabicParenR" startAt="2"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 비활성화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결과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개발자가 기능 구현 시 사용한 초기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(Initial Data)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테스트계에 이관되지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762C3D1-80C4-43A4-B098-F15F2AC0E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68637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A45A-1EA9-7CA6-DE63-3536DECE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F95743-AB46-F43F-E5D3-A8D452DBE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52799"/>
              </p:ext>
            </p:extLst>
          </p:nvPr>
        </p:nvGraphicFramePr>
        <p:xfrm>
          <a:off x="786541" y="2352782"/>
          <a:ext cx="10618917" cy="276843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01949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882792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734176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3712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0651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(Log)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분석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500 Error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시 웹서버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/WAS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로그를 확인하여 정확한 에러 라인 추적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검증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리포트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GO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모듈 등 리포트는 화면 결과와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쿼리 결과를 교차 검증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(Cross Check).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28885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(Peer Review)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복잡한 쿼리나 로직은 배포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 수행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Tunning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지원을 통한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Query Tunning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.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DA/PL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45DFB6-8D5E-DDBA-8A3A-B14C4A665F69}"/>
              </a:ext>
            </a:extLst>
          </p:cNvPr>
          <p:cNvSpPr txBox="1"/>
          <p:nvPr/>
        </p:nvSpPr>
        <p:spPr>
          <a:xfrm>
            <a:off x="693094" y="873364"/>
            <a:ext cx="1071236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및 로직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불일치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오작동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- [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31%]</a:t>
            </a: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합계 틀림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 시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검색 필터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미동작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비즈니스 로직 구현 미스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경계값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처리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(Boundary Value)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미흡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5B13E8-885F-4961-956E-5365EFE9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110725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7289C-8A2D-90DD-552C-C8C5D438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899CE-774F-E450-7FCB-182BF12BD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308613"/>
              </p:ext>
            </p:extLst>
          </p:nvPr>
        </p:nvGraphicFramePr>
        <p:xfrm>
          <a:off x="786541" y="2239765"/>
          <a:ext cx="10618917" cy="318498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58991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7879404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1580522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36748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실행 방안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40875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CSS/Layout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개별 화면 수정이 아닌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스타일시트 수정을 통해 일괄 반영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 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노트북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(1366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768) </a:t>
                      </a:r>
                      <a:r>
                        <a:rPr lang="ko-KR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및 모니터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(1920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1080)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UI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퍼블리셔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/ UI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0875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표준 체크리스트 배포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 화면 완료 시 자가 점검할 수 있는 간이 체크리스트 배포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반응형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적응형 테스트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주요 해상도 브라우저 에뮬레이션 테스트 수행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 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8F40C-2A1B-CE68-47B0-C39F490508C5}"/>
              </a:ext>
            </a:extLst>
          </p:cNvPr>
          <p:cNvSpPr txBox="1"/>
          <p:nvPr/>
        </p:nvSpPr>
        <p:spPr>
          <a:xfrm>
            <a:off x="786541" y="848806"/>
            <a:ext cx="1061891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spcAft>
                <a:spcPts val="800"/>
              </a:spcAft>
              <a:buAutoNum type="arabicParenR" startAt="4"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UI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표준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색상 등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- [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11%]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노트북에서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색상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가이드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및 다양한 해상도 테스트 부족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5A08BC-266B-4AC6-B945-E38B5AD15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903030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D60D2-4AD0-4BBF-E3A5-A453ACFE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A500C81-9AAD-AE9B-2CCE-1B1DDC16A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>
              <a:spcAft>
                <a:spcPts val="800"/>
              </a:spcAft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결론</a:t>
            </a:r>
            <a:endParaRPr lang="ko-KR" altLang="ko-KR" sz="20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C39D4-6662-9BC3-195E-83633088059A}"/>
              </a:ext>
            </a:extLst>
          </p:cNvPr>
          <p:cNvSpPr txBox="1"/>
          <p:nvPr/>
        </p:nvSpPr>
        <p:spPr>
          <a:xfrm>
            <a:off x="517148" y="845219"/>
            <a:ext cx="10768519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결함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245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중 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58%(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36% +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문서화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22%)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시스템 오류가 아닌 테스트 준비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환경설정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부족에서 기인했습니다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따라서 현재의 높은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결함률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(35.1%)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은 기능 품질의 심각한 저하보다는 프로젝트 형상 관리 및 배포 프로세스의 부재를 시사합니다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현행화 및 기초 데이터 셋업이 선행된다면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건수는 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100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이하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15%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수준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 급격히 감소할 것으로 예상됩니다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테스터 및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가이드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(Process) </a:t>
            </a: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리포팅 기준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문제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와 기능 오류를 명확히 구분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문제는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차원에서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PMO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혹은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TMDP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일괄 취합하여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담당자에게 요청하는 것이 효율적임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수행 전 사전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점검 기록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기존 사전 점검을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테스트관리자가 아닌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PL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직접 기록 →  테스트 환경 준비 철저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94567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문제점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/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개선점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464282" y="1149896"/>
            <a:ext cx="10567198" cy="442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프로시져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테스트 실행 권한 부여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수행을 위한 데이터 준비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 구성 미비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완료된 프로그램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미반영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 현행화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-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CHECKLIST,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표준문서양식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TEST CASE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증적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등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시나리오내 테스트를 위한 적절한 권한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미부여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6. SP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경우 값 검증 불가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3652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06D4AA-BBFC-4BB0-B4C5-2F4120FAE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12452"/>
              </p:ext>
            </p:extLst>
          </p:nvPr>
        </p:nvGraphicFramePr>
        <p:xfrm>
          <a:off x="1035699" y="1856980"/>
          <a:ext cx="10098800" cy="4114607"/>
        </p:xfrm>
        <a:graphic>
          <a:graphicData uri="http://schemas.openxmlformats.org/drawingml/2006/table">
            <a:tbl>
              <a:tblPr/>
              <a:tblGrid>
                <a:gridCol w="2147729">
                  <a:extLst>
                    <a:ext uri="{9D8B030D-6E8A-4147-A177-3AD203B41FA5}">
                      <a16:colId xmlns:a16="http://schemas.microsoft.com/office/drawing/2014/main" val="2016690265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5225476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15233099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7476107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542610492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24777821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98145820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01655934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992459896"/>
                    </a:ext>
                  </a:extLst>
                </a:gridCol>
                <a:gridCol w="791975">
                  <a:extLst>
                    <a:ext uri="{9D8B030D-6E8A-4147-A177-3AD203B41FA5}">
                      <a16:colId xmlns:a16="http://schemas.microsoft.com/office/drawing/2014/main" val="4270341195"/>
                    </a:ext>
                  </a:extLst>
                </a:gridCol>
              </a:tblGrid>
              <a:tr h="406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업무영역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406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1829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항공보안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79407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공항운영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70783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항공통계포털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980407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A-CDM(CM)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9650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51073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AOMS-CA)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71808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66107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81925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2305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운항계획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7018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80513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자원배정차트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56672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항공기관제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648596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874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45E5835-C84A-46FA-A742-D74E0DCFE780}"/>
              </a:ext>
            </a:extLst>
          </p:cNvPr>
          <p:cNvSpPr/>
          <p:nvPr/>
        </p:nvSpPr>
        <p:spPr>
          <a:xfrm>
            <a:off x="7665096" y="1838506"/>
            <a:ext cx="1777484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80FED9-A85C-4DEE-875B-32A6A35EC525}"/>
              </a:ext>
            </a:extLst>
          </p:cNvPr>
          <p:cNvSpPr/>
          <p:nvPr/>
        </p:nvSpPr>
        <p:spPr>
          <a:xfrm>
            <a:off x="4076027" y="1838506"/>
            <a:ext cx="884643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9AFEAA47-C982-4F39-8D4F-7E1A5AAFE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09" y="1073479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문서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등의 결함 처리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진행 필요함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11B556E-178D-4A6A-9C1E-84457C91B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656611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noProof="0" dirty="0">
                <a:solidFill>
                  <a:prstClr val="white"/>
                </a:solidFill>
              </a:rPr>
              <a:t>5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종합평가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68131"/>
              </p:ext>
            </p:extLst>
          </p:nvPr>
        </p:nvGraphicFramePr>
        <p:xfrm>
          <a:off x="324463" y="1340678"/>
          <a:ext cx="10881601" cy="491029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84310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869729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</a:tblGrid>
              <a:tr h="480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단위테스트시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쿼리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쿼리 제공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필요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있는 경우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상세하게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설정 또는 테스트 방법 가이드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 실행 권한이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유저별로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부여되어 있어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3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테스터가 수행할 수 있도록 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모듈별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유저 목록 또는 권한이 있는 하나의 계정 제공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프로시져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내 오브젝트 권한 부여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 검증 방법에 대해 상세한 가이드 제공 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단계별 시나리오 상세화</a:t>
                      </a:r>
                      <a:b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스텝별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실행 스크립트 제시 및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쿼리 제공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en-US" altLang="ko-KR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cron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tab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스케쥴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등록 확인 등의 테스트케이스는 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자테스트가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어려움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963935"/>
                  </a:ext>
                </a:extLst>
              </a:tr>
              <a:tr h="13227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온라인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경로를 확인할 수 있도록 증빙 이미지에 경로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포함 필요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특히 팝업과 탭 화면의 경우는 해당 화면만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캡춰하여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파악이 어려움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데이터 확보가 어려운 화면의 경우는 테스트 데이터 확보에 대한 가이드 제시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복잡한 화면 검증이 필요한 경우는 상세하게 시나리오 또는 검증 이미지에 설명 기술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요청 권한과 승인 권한이 필요한 화면에 대해서는 시나리오에 해당 사항을 기재 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505710"/>
                  </a:ext>
                </a:extLst>
              </a:tr>
              <a:tr h="8665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단위테스트결과서 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스크립트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대상에 대해 단위테스트결과서와 스크립트가 제공되는데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미흡한 부분이 발생되어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진행시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어려움 발생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93108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테스트시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필요 사항</a:t>
            </a:r>
          </a:p>
        </p:txBody>
      </p:sp>
    </p:spTree>
    <p:extLst>
      <p:ext uri="{BB962C8B-B14F-4D97-AF65-F5344CB8AC3E}">
        <p14:creationId xmlns:p14="http://schemas.microsoft.com/office/powerpoint/2010/main" val="104648743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후속조치 계획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28243"/>
              </p:ext>
            </p:extLst>
          </p:nvPr>
        </p:nvGraphicFramePr>
        <p:xfrm>
          <a:off x="324464" y="1340678"/>
          <a:ext cx="11536219" cy="24240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083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결함 조치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확인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해당 결함 처리 내역은 공사 테스트 일정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(8/4~)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이전에 확인 처리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근본 원인 파악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 처리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처리 확인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과정은 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TMS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활용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 내역은 주간 공정내 첨부 예정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개선방향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개발팀의 빠른 결함 조치 대응과 테스터의 재확인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절차가 빠르게 진행될 수 있는 방안 내부 논의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 일정과 결함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대응일정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조정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결함조치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개선방향에 대한 논의 진행</a:t>
            </a:r>
          </a:p>
        </p:txBody>
      </p:sp>
    </p:spTree>
    <p:extLst>
      <p:ext uri="{BB962C8B-B14F-4D97-AF65-F5344CB8AC3E}">
        <p14:creationId xmlns:p14="http://schemas.microsoft.com/office/powerpoint/2010/main" val="11988066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61888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6A98F-5316-1139-F95D-2533972228DB}"/>
              </a:ext>
            </a:extLst>
          </p:cNvPr>
          <p:cNvSpPr txBox="1"/>
          <p:nvPr/>
        </p:nvSpPr>
        <p:spPr>
          <a:xfrm>
            <a:off x="632298" y="849127"/>
            <a:ext cx="1137163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에러 메시지를 기반으로 분석한 근본 원인입니다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1) [X]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환경적 요인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(Blocking Issue)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대응 필요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기능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오류라기보다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관리 및 배포 프로세스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문제입니다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[S]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기반 기능 결함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60%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(Test Data)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 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N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(Logic)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(GO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서버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수정 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Server Error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(FP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[C]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 체크리스트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1518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529517"/>
              </p:ext>
            </p:extLst>
          </p:nvPr>
        </p:nvGraphicFramePr>
        <p:xfrm>
          <a:off x="397150" y="1184988"/>
          <a:ext cx="11312767" cy="5160256"/>
        </p:xfrm>
        <a:graphic>
          <a:graphicData uri="http://schemas.openxmlformats.org/drawingml/2006/table">
            <a:tbl>
              <a:tblPr/>
              <a:tblGrid>
                <a:gridCol w="1104914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895903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232985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77452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10151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3315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50826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필수입력값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구분이 안됨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적용시작일자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적용종료일자 일자체크필요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기간의 경우 일자 체크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34199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일자를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20260229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수정하고 신청 수정을 누르면 아무런 반응이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액션 취하지 않음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674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Assigment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a07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배정함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배정된 바를 변경하려고 하면 변경신청을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사라짐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인해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배정바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삭제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바가 삭제될 경우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21710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Select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다중선택에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시나리오 보안 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반영디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되나 실제 값은 변동이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--&gt; 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선택가능 하다면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 가능하다고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보여 주고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 가능하면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값이 나와야 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Select Zone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빈칸을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눌렀을땐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아무런 작동을 안함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빈칸을 누르면 선택한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된다던지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 없으면 삭제를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한다던지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정의가 필요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Select 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다중선택에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대한 시나리오 보안 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클릭하는 대로 선택되기 때문에 시나리오 보완 불필요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91173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START DATE EDIT CHECK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DURATION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MIN, MAX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 없음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YYYY-MM-DD HH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형식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안맞을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경우 초기값으로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자동변경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최소값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최대값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1/2)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2108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개선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변경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문서화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테스트결과서 없음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결과서 미작성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기한 내 테스트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결과서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81073" y="699469"/>
            <a:ext cx="222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자원배정차트</a:t>
            </a:r>
            <a:r>
              <a:rPr lang="en-US" altLang="ko-KR" b="1" dirty="0"/>
              <a:t>(RC) ]</a:t>
            </a:r>
          </a:p>
        </p:txBody>
      </p:sp>
    </p:spTree>
    <p:extLst>
      <p:ext uri="{BB962C8B-B14F-4D97-AF65-F5344CB8AC3E}">
        <p14:creationId xmlns:p14="http://schemas.microsoft.com/office/powerpoint/2010/main" val="3986651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26387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975105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136756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라벨과 텍스트 필드 사이에 간격이 너무 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화면에 대해서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고정값을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사용하는 듯 보임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길이에 따라서 유연하게 적용되어야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- 12px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50px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저장버튼 통일이 안되어있음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cssclass - txtbtn_save02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 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저장하기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길이에 대한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예외처리가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없어서 서버 오류 메시지가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권힌이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없다고 나옴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 아이디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IDTTEST02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화면에 대한 내용이나 데이터가 필요합니다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미비로 인한 테스트 불가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작성 보완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첨부한 사진과 같이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상태코드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테스트시니리오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문서상에 시나리오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명이 다름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기능은 인터페이스 인데 시나리오상 인테페이스에 대한 기능 시나리오는 없음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 Flight Name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값을 주고 검색하면 기능이 작동하지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고려 미비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수정 시 동기화 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90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SLOT ]</a:t>
            </a:r>
          </a:p>
        </p:txBody>
      </p:sp>
    </p:spTree>
    <p:extLst>
      <p:ext uri="{BB962C8B-B14F-4D97-AF65-F5344CB8AC3E}">
        <p14:creationId xmlns:p14="http://schemas.microsoft.com/office/powerpoint/2010/main" val="209478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359371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결함이미지는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운항정보에서 타임아웃 현상이 걸린 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뒤로가기를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계속 남아있는 현상입니다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이동 시 초기화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 3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회이상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단위테스트결과서 현재 진행 상황안내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미만으로 차이나게 수정했지만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나오지 않습니다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(10:10 -&gt; 10:12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시도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유효성 체크 재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 돌 때 팝업과 겹쳐있음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등록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바뀌지않음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추가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요청사항과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함께 일괄 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마일스톤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변경이력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테스트 데이터 요청합니다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항공편이든 좋습니다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데이터 부족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가능하지만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전 데이터 입력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권한이 없어 신규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버튼이 보이지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진행 중 데이터를 변경해 놓아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불가하였음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 개발완료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권한부분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49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WES / MES ]</a:t>
            </a:r>
          </a:p>
        </p:txBody>
      </p:sp>
    </p:spTree>
    <p:extLst>
      <p:ext uri="{BB962C8B-B14F-4D97-AF65-F5344CB8AC3E}">
        <p14:creationId xmlns:p14="http://schemas.microsoft.com/office/powerpoint/2010/main" val="1829032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37654"/>
              </p:ext>
            </p:extLst>
          </p:nvPr>
        </p:nvGraphicFramePr>
        <p:xfrm>
          <a:off x="359827" y="1228465"/>
          <a:ext cx="11266115" cy="4481871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771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8189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빨간색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표시부분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오타수정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항공사별시간대별 수하물개수실적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 시간대별 수하물개수실적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6170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파일첨부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box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텍스트 입력이 되고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나타나지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35247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프로시저의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SP_GO_UPDATE_MASTERFILE_RSRV;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Error [ERREX]: JDBC-11029:No function matches the specified argument(s).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미제공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사전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SQL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컬럼 추가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 NULL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추가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 컬럼 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표준화에 따른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변동 테이블 변동사항 신속 대처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타이틀 일부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담당자가 전반적 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공항운영</a:t>
            </a:r>
            <a:r>
              <a:rPr lang="en-US" altLang="ko-KR" b="1" dirty="0"/>
              <a:t>(GO) ]</a:t>
            </a:r>
          </a:p>
        </p:txBody>
      </p:sp>
    </p:spTree>
    <p:extLst>
      <p:ext uri="{BB962C8B-B14F-4D97-AF65-F5344CB8AC3E}">
        <p14:creationId xmlns:p14="http://schemas.microsoft.com/office/powerpoint/2010/main" val="1810829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14059"/>
              </p:ext>
            </p:extLst>
          </p:nvPr>
        </p:nvGraphicFramePr>
        <p:xfrm>
          <a:off x="359827" y="1228465"/>
          <a:ext cx="11266115" cy="4967062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596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LIST1, LIST2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 삭제가 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1.CODE2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값에 한글이 들어 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한글로 최대삾을 넣으면 오류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입력값과 보여주는 값이 짤려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넥사크로에서 제공하는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글자 수만 체크하고 있어서 한글일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수가 초과되어 저장 시 오류발생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component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사이즈가 길이에 비해 작음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 로직 추가 및 동일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적용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최대길이 입력 후 화면 체크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678432"/>
                  </a:ext>
                </a:extLst>
              </a:tr>
              <a:tr h="57822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자릿수 이상 입력 하면 오류가 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2673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저장시 오류발생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시 발생하는 현상임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기능공통에서 해당 케이스 발생 시 오류메시지 수정예정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논의 후 결정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저장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정상작동함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useyn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바뀜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상으로는 데이터가 보이지 않아야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테스트케이스 수정 완료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테스트시나리오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 err="1"/>
              <a:t>공통관리</a:t>
            </a:r>
            <a:r>
              <a:rPr lang="en-US" altLang="ko-KR" b="1" dirty="0"/>
              <a:t>(CA) ]</a:t>
            </a:r>
          </a:p>
        </p:txBody>
      </p:sp>
    </p:spTree>
    <p:extLst>
      <p:ext uri="{BB962C8B-B14F-4D97-AF65-F5344CB8AC3E}">
        <p14:creationId xmlns:p14="http://schemas.microsoft.com/office/powerpoint/2010/main" val="9414662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14801</TotalTime>
  <Words>4109</Words>
  <Application>Microsoft Office PowerPoint</Application>
  <PresentationFormat>와이드스크린</PresentationFormat>
  <Paragraphs>819</Paragraphs>
  <Slides>29</Slides>
  <Notes>6</Notes>
  <HiddenSlides>9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41" baseType="lpstr">
      <vt:lpstr>HY견고딕</vt:lpstr>
      <vt:lpstr>KoPub돋움체 Bold</vt:lpstr>
      <vt:lpstr>KoPub돋움체 Light</vt:lpstr>
      <vt:lpstr>KoPub돋움체 Medium</vt:lpstr>
      <vt:lpstr>맑은 고딕</vt:lpstr>
      <vt:lpstr>Arial</vt:lpstr>
      <vt:lpstr>Calibri</vt:lpstr>
      <vt:lpstr>Courier New</vt:lpstr>
      <vt:lpstr>Symbol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양수정</cp:lastModifiedBy>
  <cp:revision>829</cp:revision>
  <cp:lastPrinted>2025-06-13T01:30:37Z</cp:lastPrinted>
  <dcterms:created xsi:type="dcterms:W3CDTF">2024-06-13T01:42:00Z</dcterms:created>
  <dcterms:modified xsi:type="dcterms:W3CDTF">2025-11-20T09:58:10Z</dcterms:modified>
</cp:coreProperties>
</file>