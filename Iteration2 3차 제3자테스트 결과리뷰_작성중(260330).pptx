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56"/>
  </p:notesMasterIdLst>
  <p:sldIdLst>
    <p:sldId id="289" r:id="rId3"/>
    <p:sldId id="344" r:id="rId4"/>
    <p:sldId id="325" r:id="rId5"/>
    <p:sldId id="328" r:id="rId6"/>
    <p:sldId id="340" r:id="rId7"/>
    <p:sldId id="319" r:id="rId8"/>
    <p:sldId id="341" r:id="rId9"/>
    <p:sldId id="342" r:id="rId10"/>
    <p:sldId id="363" r:id="rId11"/>
    <p:sldId id="349" r:id="rId12"/>
    <p:sldId id="345" r:id="rId13"/>
    <p:sldId id="347" r:id="rId14"/>
    <p:sldId id="346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74" r:id="rId26"/>
    <p:sldId id="375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52" r:id="rId35"/>
    <p:sldId id="383" r:id="rId36"/>
    <p:sldId id="326" r:id="rId37"/>
    <p:sldId id="358" r:id="rId38"/>
    <p:sldId id="348" r:id="rId39"/>
    <p:sldId id="362" r:id="rId40"/>
    <p:sldId id="353" r:id="rId41"/>
    <p:sldId id="361" r:id="rId42"/>
    <p:sldId id="354" r:id="rId43"/>
    <p:sldId id="356" r:id="rId44"/>
    <p:sldId id="343" r:id="rId45"/>
    <p:sldId id="360" r:id="rId46"/>
    <p:sldId id="339" r:id="rId47"/>
    <p:sldId id="327" r:id="rId48"/>
    <p:sldId id="329" r:id="rId49"/>
    <p:sldId id="357" r:id="rId50"/>
    <p:sldId id="331" r:id="rId51"/>
    <p:sldId id="332" r:id="rId52"/>
    <p:sldId id="336" r:id="rId53"/>
    <p:sldId id="337" r:id="rId54"/>
    <p:sldId id="338" r:id="rId5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83" userDrawn="1">
          <p15:clr>
            <a:srgbClr val="A4A3A4"/>
          </p15:clr>
        </p15:guide>
        <p15:guide id="2" pos="1504" userDrawn="1">
          <p15:clr>
            <a:srgbClr val="A4A3A4"/>
          </p15:clr>
        </p15:guide>
        <p15:guide id="3" pos="7174" userDrawn="1">
          <p15:clr>
            <a:srgbClr val="A4A3A4"/>
          </p15:clr>
        </p15:guide>
        <p15:guide id="4" pos="6584" userDrawn="1">
          <p15:clr>
            <a:srgbClr val="A4A3A4"/>
          </p15:clr>
        </p15:guide>
        <p15:guide id="5" orient="horz" pos="1344" userDrawn="1">
          <p15:clr>
            <a:srgbClr val="A4A3A4"/>
          </p15:clr>
        </p15:guide>
        <p15:guide id="6" orient="horz" pos="2024" userDrawn="1">
          <p15:clr>
            <a:srgbClr val="A4A3A4"/>
          </p15:clr>
        </p15:guide>
        <p15:guide id="7" orient="horz" pos="3566" userDrawn="1">
          <p15:clr>
            <a:srgbClr val="A4A3A4"/>
          </p15:clr>
        </p15:guide>
        <p15:guide id="8" orient="horz" pos="595" userDrawn="1">
          <p15:clr>
            <a:srgbClr val="A4A3A4"/>
          </p15:clr>
        </p15:guide>
        <p15:guide id="9" orient="horz" pos="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8EC"/>
    <a:srgbClr val="FDE9E7"/>
    <a:srgbClr val="FDE1DF"/>
    <a:srgbClr val="FCCFCC"/>
    <a:srgbClr val="DDDDDD"/>
    <a:srgbClr val="ED7D3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421" autoAdjust="0"/>
  </p:normalViewPr>
  <p:slideViewPr>
    <p:cSldViewPr snapToGrid="0">
      <p:cViewPr varScale="1">
        <p:scale>
          <a:sx n="90" d="100"/>
          <a:sy n="90" d="100"/>
        </p:scale>
        <p:origin x="492" y="96"/>
      </p:cViewPr>
      <p:guideLst>
        <p:guide pos="483"/>
        <p:guide pos="1504"/>
        <p:guide pos="7174"/>
        <p:guide pos="6584"/>
        <p:guide orient="horz" pos="1344"/>
        <p:guide orient="horz" pos="2024"/>
        <p:guide orient="horz" pos="3566"/>
        <p:guide orient="horz" pos="595"/>
        <p:guide orient="horz" pos="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1.%20file%20trans\&#9733;%20ITR2_2&#52264;_&#49688;&#54665;%20&#44208;&#44284;_01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1.%20file%20trans\3&#51088;&#44208;&#54632;_&#48516;&#49437;&#50857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1.%20file%20trans\3&#51088;&#44208;&#54632;_&#48516;&#49437;&#50857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spPr>
            <a:solidFill>
              <a:srgbClr val="FF0000"/>
            </a:solidFill>
          </c:spPr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B6-4148-8E1B-DD68A3B1C173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B6-4148-8E1B-DD68A3B1C173}"/>
              </c:ext>
            </c:extLst>
          </c:dPt>
          <c:val>
            <c:numRef>
              <c:f>Itr2_2_결함_pivot!$AA$13:$AA$14</c:f>
              <c:numCache>
                <c:formatCode>General</c:formatCode>
                <c:ptCount val="2"/>
                <c:pt idx="0">
                  <c:v>161</c:v>
                </c:pt>
                <c:pt idx="1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B6-4148-8E1B-DD68A3B1C1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[3자결함_분석용.xlsx]Sheet2!피벗 테이블2</c:name>
    <c:fmtId val="23"/>
  </c:pivotSource>
  <c:chart>
    <c:autoTitleDeleted val="0"/>
    <c:pivotFmts>
      <c:pivotFmt>
        <c:idx val="0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0000C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000C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0000C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3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1"/>
          <c:showCatName val="0"/>
          <c:showSerName val="1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"/>
          <c:y val="2.9668139455121364E-2"/>
          <c:w val="1"/>
          <c:h val="0.940663721089757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Sheet2!$B$28:$B$29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1331675139376612E-3"/>
                  <c:y val="8.630731477853487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defRPr>
                    </a:pPr>
                    <a:r>
                      <a:rPr lang="en-US" altLang="ko-KR" sz="1200" b="1" dirty="0" err="1">
                        <a:solidFill>
                          <a:schemeClr val="tx1"/>
                        </a:solidFill>
                      </a:rPr>
                      <a:t>Critial</a:t>
                    </a:r>
                    <a:endParaRPr lang="en-US" altLang="ko-KR" sz="1200" b="1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86D-4F6B-B4C8-0ACC9DF94B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Sheet2!$A$30</c:f>
              <c:strCache>
                <c:ptCount val="1"/>
                <c:pt idx="0">
                  <c:v>요약</c:v>
                </c:pt>
              </c:strCache>
            </c:strRef>
          </c:cat>
          <c:val>
            <c:numRef>
              <c:f>Sheet2!$B$30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6D-4F6B-B4C8-0ACC9DF94BB5}"/>
            </c:ext>
          </c:extLst>
        </c:ser>
        <c:ser>
          <c:idx val="1"/>
          <c:order val="1"/>
          <c:tx>
            <c:strRef>
              <c:f>Sheet2!$C$28:$C$29</c:f>
              <c:strCache>
                <c:ptCount val="1"/>
                <c:pt idx="0">
                  <c:v>Major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0.15643200803609447"/>
                </c:manualLayout>
              </c:layout>
              <c:tx>
                <c:rich>
                  <a:bodyPr/>
                  <a:lstStyle/>
                  <a:p>
                    <a:fld id="{D4120DD7-C449-4C6F-9C14-B2C905792089}" type="SERIESNAME">
                      <a:rPr lang="en-US" altLang="ko-KR" smtClean="0"/>
                      <a:pPr/>
                      <a:t>[계열 이름]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86D-4F6B-B4C8-0ACC9DF94B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Sheet2!$A$30</c:f>
              <c:strCache>
                <c:ptCount val="1"/>
                <c:pt idx="0">
                  <c:v>요약</c:v>
                </c:pt>
              </c:strCache>
            </c:strRef>
          </c:cat>
          <c:val>
            <c:numRef>
              <c:f>Sheet2!$C$30</c:f>
              <c:numCache>
                <c:formatCode>General</c:formatCode>
                <c:ptCount val="1"/>
                <c:pt idx="0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6D-4F6B-B4C8-0ACC9DF94BB5}"/>
            </c:ext>
          </c:extLst>
        </c:ser>
        <c:ser>
          <c:idx val="2"/>
          <c:order val="2"/>
          <c:tx>
            <c:strRef>
              <c:f>Sheet2!$D$28:$D$29</c:f>
              <c:strCache>
                <c:ptCount val="1"/>
                <c:pt idx="0">
                  <c:v>Minor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1331675139376612E-3"/>
                  <c:y val="0.3452292591141394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defRPr>
                    </a:pPr>
                    <a:fld id="{21D3C1BF-BBDD-43CC-8A37-33F23A366253}" type="SERIESNAME">
                      <a:rPr lang="en-US" altLang="ko-KR" sz="1200" b="1" smtClean="0">
                        <a:solidFill>
                          <a:schemeClr val="tx1"/>
                        </a:solidFill>
                      </a:rPr>
                      <a:pPr>
                        <a:defRPr sz="1200" b="1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defRPr>
                      </a:pPr>
                      <a:t>[계열 이름]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86D-4F6B-B4C8-0ACC9DF94BB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Sheet2!$A$30</c:f>
              <c:strCache>
                <c:ptCount val="1"/>
                <c:pt idx="0">
                  <c:v>요약</c:v>
                </c:pt>
              </c:strCache>
            </c:strRef>
          </c:cat>
          <c:val>
            <c:numRef>
              <c:f>Sheet2!$D$30</c:f>
              <c:numCache>
                <c:formatCode>General</c:formatCode>
                <c:ptCount val="1"/>
                <c:pt idx="0">
                  <c:v>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6D-4F6B-B4C8-0ACC9DF94B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1266816"/>
        <c:axId val="521261824"/>
      </c:barChart>
      <c:catAx>
        <c:axId val="52126681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21261824"/>
        <c:crosses val="autoZero"/>
        <c:auto val="1"/>
        <c:lblAlgn val="ctr"/>
        <c:lblOffset val="100"/>
        <c:noMultiLvlLbl val="0"/>
      </c:catAx>
      <c:valAx>
        <c:axId val="521261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21266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Sheet2!$G$3:$G$9</cx:f>
        <cx:lvl ptCount="7">
          <cx:pt idx="0">UI</cx:pt>
          <cx:pt idx="1">기능</cx:pt>
          <cx:pt idx="2">기타</cx:pt>
          <cx:pt idx="3">데이터</cx:pt>
          <cx:pt idx="4">문서화</cx:pt>
          <cx:pt idx="5">인터페이스</cx:pt>
          <cx:pt idx="6">표준</cx:pt>
        </cx:lvl>
      </cx:strDim>
      <cx:numDim type="size">
        <cx:f>Sheet2!$H$3:$H$9</cx:f>
        <cx:lvl ptCount="7" formatCode="G/표준">
          <cx:pt idx="0">17</cx:pt>
          <cx:pt idx="1">110</cx:pt>
          <cx:pt idx="2">7</cx:pt>
          <cx:pt idx="3">13</cx:pt>
          <cx:pt idx="4">21</cx:pt>
          <cx:pt idx="5">1</cx:pt>
          <cx:pt idx="6">9</cx:pt>
        </cx:lvl>
      </cx:numDim>
    </cx:data>
  </cx:chartData>
  <cx:chart>
    <cx:plotArea>
      <cx:plotAreaRegion>
        <cx:series layoutId="treemap" uniqueId="{E358F8D6-C756-4520-BA1A-E3438288091D}"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100" b="1">
                    <a:solidFill>
                      <a:schemeClr val="bg1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KoPub돋움체 Medium" panose="00000600000000000000" pitchFamily="2" charset="-127"/>
                  </a:defRPr>
                </a:pPr>
                <a:endParaRPr lang="ko-KR" altLang="en-US" sz="1100" b="1" i="0" u="none" strike="noStrike" baseline="0"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cx:txPr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F5DBC-2D43-4714-A011-1B997A8654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2C630-A325-4356-BDAD-28F4716C49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86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B41CC7-FE31-4B6D-A108-F4AA61656A6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9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990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956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162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386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845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521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22C630-A325-4356-BDAD-28F4716C49E0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65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0585E34-5F14-45D3-BBB7-3055EB2B07EB}"/>
              </a:ext>
            </a:extLst>
          </p:cNvPr>
          <p:cNvSpPr/>
          <p:nvPr userDrawn="1"/>
        </p:nvSpPr>
        <p:spPr>
          <a:xfrm>
            <a:off x="8568267" y="93133"/>
            <a:ext cx="1439333" cy="406400"/>
          </a:xfrm>
          <a:prstGeom prst="roundRect">
            <a:avLst/>
          </a:prstGeom>
          <a:solidFill>
            <a:srgbClr val="FF000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ln w="76200">
                <a:solidFill>
                  <a:schemeClr val="tx1"/>
                </a:solidFill>
              </a:ln>
              <a:solidFill>
                <a:schemeClr val="bg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929F4-DC14-4DDE-A4E7-07CE78C35A4D}"/>
              </a:ext>
            </a:extLst>
          </p:cNvPr>
          <p:cNvSpPr txBox="1"/>
          <p:nvPr userDrawn="1"/>
        </p:nvSpPr>
        <p:spPr>
          <a:xfrm>
            <a:off x="8711653" y="13020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 dirty="0">
                <a:solidFill>
                  <a:schemeClr val="bg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내부 내포용</a:t>
            </a:r>
          </a:p>
        </p:txBody>
      </p:sp>
    </p:spTree>
    <p:extLst>
      <p:ext uri="{BB962C8B-B14F-4D97-AF65-F5344CB8AC3E}">
        <p14:creationId xmlns:p14="http://schemas.microsoft.com/office/powerpoint/2010/main" val="823767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3407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4FD8-F141-457E-9E54-C32A23416C70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1DC9-7EB9-40B4-AF94-EAA07A156A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36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839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717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5479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한쪽 모서리 20">
            <a:extLst>
              <a:ext uri="{FF2B5EF4-FFF2-40B4-BE49-F238E27FC236}">
                <a16:creationId xmlns:a16="http://schemas.microsoft.com/office/drawing/2014/main" id="{ECF79BE5-BD41-D2A8-271E-758B9CCD8DAE}"/>
              </a:ext>
            </a:extLst>
          </p:cNvPr>
          <p:cNvSpPr/>
          <p:nvPr userDrawn="1"/>
        </p:nvSpPr>
        <p:spPr>
          <a:xfrm flipV="1">
            <a:off x="0" y="0"/>
            <a:ext cx="12192000" cy="584200"/>
          </a:xfrm>
          <a:prstGeom prst="round1Rect">
            <a:avLst>
              <a:gd name="adj" fmla="val 0"/>
            </a:avLst>
          </a:prstGeom>
          <a:solidFill>
            <a:srgbClr val="0034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1800" noProof="0" dirty="0">
              <a:solidFill>
                <a:schemeClr val="lt1"/>
              </a:solidFill>
            </a:endParaRPr>
          </a:p>
        </p:txBody>
      </p:sp>
      <p:sp>
        <p:nvSpPr>
          <p:cNvPr id="4" name="Rectangle 59">
            <a:extLst>
              <a:ext uri="{FF2B5EF4-FFF2-40B4-BE49-F238E27FC236}">
                <a16:creationId xmlns:a16="http://schemas.microsoft.com/office/drawing/2014/main" id="{77B1A52D-67D2-512A-F1CD-8B280133ADA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9115F56-5BC3-861C-344B-286546EA85EA}"/>
              </a:ext>
            </a:extLst>
          </p:cNvPr>
          <p:cNvGrpSpPr/>
          <p:nvPr userDrawn="1"/>
        </p:nvGrpSpPr>
        <p:grpSpPr>
          <a:xfrm>
            <a:off x="468299" y="6571423"/>
            <a:ext cx="3048858" cy="155693"/>
            <a:chOff x="299815" y="6545448"/>
            <a:chExt cx="2477197" cy="155693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1A4676B3-4BA9-E359-B49F-A03AFC7065DA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53523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　통합정보시스템 고도화 구축 사업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D4A54F2-3B65-0FFC-4B3D-42D54653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  <p:grpSp>
        <p:nvGrpSpPr>
          <p:cNvPr id="2" name="그룹 1"/>
          <p:cNvGrpSpPr/>
          <p:nvPr userDrawn="1"/>
        </p:nvGrpSpPr>
        <p:grpSpPr>
          <a:xfrm>
            <a:off x="10499790" y="77413"/>
            <a:ext cx="1342769" cy="443379"/>
            <a:chOff x="10499790" y="77413"/>
            <a:chExt cx="1342769" cy="44337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D34A100D-B537-B83E-0F2C-531635203217}"/>
                </a:ext>
              </a:extLst>
            </p:cNvPr>
            <p:cNvGrpSpPr/>
            <p:nvPr userDrawn="1"/>
          </p:nvGrpSpPr>
          <p:grpSpPr>
            <a:xfrm>
              <a:off x="10499790" y="77413"/>
              <a:ext cx="1342769" cy="443379"/>
              <a:chOff x="8110620" y="0"/>
              <a:chExt cx="1342769" cy="44337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32C599-D17E-32B6-1EE9-346065250115}"/>
                  </a:ext>
                </a:extLst>
              </p:cNvPr>
              <p:cNvSpPr txBox="1"/>
              <p:nvPr/>
            </p:nvSpPr>
            <p:spPr>
              <a:xfrm>
                <a:off x="8110620" y="270441"/>
                <a:ext cx="1264770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defTabSz="914125" fontAlgn="base" latinLnBrk="0">
                  <a:spcBef>
                    <a:spcPct val="0"/>
                  </a:spcBef>
                  <a:spcAft>
                    <a:spcPts val="200"/>
                  </a:spcAft>
                  <a:defRPr sz="1100" spc="-2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Arial" charset="0"/>
                  </a:defRPr>
                </a:lvl1pPr>
              </a:lstStyle>
              <a:p>
                <a:pPr marL="0" marR="0" lvl="0" indent="0" algn="r" defTabSz="91412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2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3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자 </a:t>
                </a:r>
                <a:r>
                  <a:rPr kumimoji="0" lang="ko-KR" altLang="en-US" sz="1000" b="0" i="0" u="none" strike="noStrike" kern="1200" cap="none" spc="-40" normalizeH="0" baseline="0" noProof="0" dirty="0" err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단위테스트</a:t>
                </a:r>
                <a:r>
                  <a:rPr kumimoji="0" lang="ko-KR" altLang="en-US" sz="1000" b="0" i="0" u="none" strike="noStrike" kern="1200" cap="none" spc="-40" normalizeH="0" baseline="0" noProof="0" dirty="0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Arial" charset="0"/>
                  </a:rPr>
                  <a:t> 결과 리뷰 </a:t>
                </a:r>
              </a:p>
            </p:txBody>
          </p:sp>
          <p:cxnSp>
            <p:nvCxnSpPr>
              <p:cNvPr id="19" name="직선 연결선 109">
                <a:extLst>
                  <a:ext uri="{FF2B5EF4-FFF2-40B4-BE49-F238E27FC236}">
                    <a16:creationId xmlns:a16="http://schemas.microsoft.com/office/drawing/2014/main" id="{056C6A96-585D-F666-8E00-9B0A66536827}"/>
                  </a:ext>
                </a:extLst>
              </p:cNvPr>
              <p:cNvCxnSpPr/>
              <p:nvPr/>
            </p:nvCxnSpPr>
            <p:spPr>
              <a:xfrm>
                <a:off x="9453389" y="0"/>
                <a:ext cx="0" cy="443379"/>
              </a:xfrm>
              <a:prstGeom prst="line">
                <a:avLst/>
              </a:prstGeom>
              <a:ln w="9525" cap="flat">
                <a:solidFill>
                  <a:srgbClr val="9AA3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AC935BD-F940-7942-B750-837F8997D518}"/>
                </a:ext>
              </a:extLst>
            </p:cNvPr>
            <p:cNvSpPr/>
            <p:nvPr userDrawn="1"/>
          </p:nvSpPr>
          <p:spPr>
            <a:xfrm>
              <a:off x="116410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9B34389-9A8F-1649-6284-ACFAD5A8DA15}"/>
                </a:ext>
              </a:extLst>
            </p:cNvPr>
            <p:cNvSpPr/>
            <p:nvPr userDrawn="1"/>
          </p:nvSpPr>
          <p:spPr>
            <a:xfrm>
              <a:off x="114262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BF3E9267-D3B0-F322-8BDD-60A1AFD00E47}"/>
                </a:ext>
              </a:extLst>
            </p:cNvPr>
            <p:cNvSpPr/>
            <p:nvPr userDrawn="1"/>
          </p:nvSpPr>
          <p:spPr>
            <a:xfrm>
              <a:off x="11533654" y="248898"/>
              <a:ext cx="57600" cy="576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ko-KR" altLang="en-US" sz="160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02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20">
          <p15:clr>
            <a:srgbClr val="F26B43"/>
          </p15:clr>
        </p15:guide>
        <p15:guide id="3" pos="240">
          <p15:clr>
            <a:srgbClr val="F26B43"/>
          </p15:clr>
        </p15:guide>
        <p15:guide id="4" pos="6000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9">
            <a:extLst>
              <a:ext uri="{FF2B5EF4-FFF2-40B4-BE49-F238E27FC236}">
                <a16:creationId xmlns:a16="http://schemas.microsoft.com/office/drawing/2014/main" id="{9F82B906-B480-0852-246F-922BDA4EF5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31880" y="6587714"/>
            <a:ext cx="128240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FCDE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3500000" algn="ctr" rotWithShape="0">
                    <a:srgbClr val="697B8F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algn="ctr"/>
            <a:fld id="{B9BD96D4-FBDC-4909-BFD7-96760582A1EC}" type="slidenum">
              <a:rPr kumimoji="1" lang="en-US" altLang="ko-KR" sz="800" smtClean="0">
                <a:ln>
                  <a:solidFill>
                    <a:srgbClr val="00609F">
                      <a:alpha val="0"/>
                    </a:srgbClr>
                  </a:solidFill>
                </a:ln>
                <a:solidFill>
                  <a:srgbClr val="5F5F5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 algn="ctr"/>
              <a:t>‹#›</a:t>
            </a:fld>
            <a:endParaRPr kumimoji="1" lang="en-US" altLang="ko-KR" sz="800" dirty="0">
              <a:ln>
                <a:solidFill>
                  <a:srgbClr val="00609F">
                    <a:alpha val="0"/>
                  </a:srgbClr>
                </a:solidFill>
              </a:ln>
              <a:solidFill>
                <a:srgbClr val="5F5F5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E9D500-9CDC-13D5-156A-5731D9325E66}"/>
              </a:ext>
            </a:extLst>
          </p:cNvPr>
          <p:cNvGrpSpPr/>
          <p:nvPr userDrawn="1"/>
        </p:nvGrpSpPr>
        <p:grpSpPr>
          <a:xfrm>
            <a:off x="468298" y="6571423"/>
            <a:ext cx="2994356" cy="155693"/>
            <a:chOff x="299815" y="6545448"/>
            <a:chExt cx="2432914" cy="155693"/>
          </a:xfrm>
        </p:grpSpPr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3780E697-AC35-EDDF-4E4B-ED4F63A09AFD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323489" y="6585448"/>
              <a:ext cx="1409240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defTabSz="95747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| </a:t>
              </a:r>
              <a:r>
                <a:rPr kumimoji="1" lang="ko-KR" altLang="en-US" sz="7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Segoe UI" panose="020B0502040204020203" pitchFamily="34" charset="0"/>
                </a:rPr>
                <a:t>인천국제공항 통합정보시스템 고도화 구축 사업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867C7DB-6F2F-8438-8EB6-1EE2223D2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 bwMode="gray">
            <a:xfrm>
              <a:off x="299815" y="6545448"/>
              <a:ext cx="955164" cy="155693"/>
            </a:xfrm>
            <a:prstGeom prst="rect">
              <a:avLst/>
            </a:prstGeom>
          </p:spPr>
        </p:pic>
      </p:grpSp>
      <p:sp>
        <p:nvSpPr>
          <p:cNvPr id="22" name="Line 4"/>
          <p:cNvSpPr>
            <a:spLocks noChangeShapeType="1"/>
          </p:cNvSpPr>
          <p:nvPr userDrawn="1"/>
        </p:nvSpPr>
        <p:spPr bwMode="auto">
          <a:xfrm>
            <a:off x="0" y="5715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180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4A100D-B537-B83E-0F2C-531635203217}"/>
              </a:ext>
            </a:extLst>
          </p:cNvPr>
          <p:cNvGrpSpPr/>
          <p:nvPr userDrawn="1"/>
        </p:nvGrpSpPr>
        <p:grpSpPr>
          <a:xfrm>
            <a:off x="10719335" y="1"/>
            <a:ext cx="1153026" cy="443379"/>
            <a:chOff x="8516556" y="0"/>
            <a:chExt cx="936833" cy="4433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A32C599-D17E-32B6-1EE9-346065250115}"/>
                </a:ext>
              </a:extLst>
            </p:cNvPr>
            <p:cNvSpPr txBox="1"/>
            <p:nvPr/>
          </p:nvSpPr>
          <p:spPr>
            <a:xfrm>
              <a:off x="8516556" y="270441"/>
              <a:ext cx="858829" cy="153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defTabSz="914125" fontAlgn="base" latinLnBrk="0">
                <a:spcBef>
                  <a:spcPct val="0"/>
                </a:spcBef>
                <a:spcAft>
                  <a:spcPts val="200"/>
                </a:spcAft>
                <a:defRPr sz="1100" spc="-2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charset="0"/>
                </a:defRPr>
              </a:lvl1pPr>
            </a:lstStyle>
            <a:p>
              <a:pPr marL="0" marR="0" lvl="0" indent="0" algn="r" defTabSz="91412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제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3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자 테스트 계획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(</a:t>
              </a:r>
              <a:r>
                <a:rPr kumimoji="0" lang="ko-KR" altLang="en-US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안</a:t>
              </a:r>
              <a:r>
                <a:rPr kumimoji="0" lang="en-US" altLang="ko-KR" sz="1000" b="0" i="0" u="none" strike="noStrike" kern="1200" cap="none" spc="-40" normalizeH="0" baseline="0" noProof="0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Arial" charset="0"/>
                </a:rPr>
                <a:t>)</a:t>
              </a:r>
            </a:p>
          </p:txBody>
        </p:sp>
        <p:cxnSp>
          <p:nvCxnSpPr>
            <p:cNvPr id="30" name="직선 연결선 109">
              <a:extLst>
                <a:ext uri="{FF2B5EF4-FFF2-40B4-BE49-F238E27FC236}">
                  <a16:creationId xmlns:a16="http://schemas.microsoft.com/office/drawing/2014/main" id="{056C6A96-585D-F666-8E00-9B0A66536827}"/>
                </a:ext>
              </a:extLst>
            </p:cNvPr>
            <p:cNvCxnSpPr/>
            <p:nvPr/>
          </p:nvCxnSpPr>
          <p:spPr>
            <a:xfrm>
              <a:off x="9453389" y="0"/>
              <a:ext cx="0" cy="443379"/>
            </a:xfrm>
            <a:prstGeom prst="line">
              <a:avLst/>
            </a:prstGeom>
            <a:ln w="9525" cap="flat">
              <a:solidFill>
                <a:srgbClr val="9AA3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5AC935BD-F940-7942-B750-837F8997D518}"/>
              </a:ext>
            </a:extLst>
          </p:cNvPr>
          <p:cNvSpPr/>
          <p:nvPr userDrawn="1"/>
        </p:nvSpPr>
        <p:spPr>
          <a:xfrm>
            <a:off x="11624348" y="171485"/>
            <a:ext cx="70892" cy="57600"/>
          </a:xfrm>
          <a:prstGeom prst="ellipse">
            <a:avLst/>
          </a:prstGeom>
          <a:solidFill>
            <a:srgbClr val="EEF0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9B34389-9A8F-1649-6284-ACFAD5A8DA15}"/>
              </a:ext>
            </a:extLst>
          </p:cNvPr>
          <p:cNvSpPr/>
          <p:nvPr userDrawn="1"/>
        </p:nvSpPr>
        <p:spPr>
          <a:xfrm>
            <a:off x="11359979" y="171485"/>
            <a:ext cx="70892" cy="57600"/>
          </a:xfrm>
          <a:prstGeom prst="ellipse">
            <a:avLst/>
          </a:prstGeom>
          <a:solidFill>
            <a:srgbClr val="D8D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3E9267-D3B0-F322-8BDD-60A1AFD00E47}"/>
              </a:ext>
            </a:extLst>
          </p:cNvPr>
          <p:cNvSpPr/>
          <p:nvPr userDrawn="1"/>
        </p:nvSpPr>
        <p:spPr>
          <a:xfrm>
            <a:off x="11492164" y="171485"/>
            <a:ext cx="70892" cy="57600"/>
          </a:xfrm>
          <a:prstGeom prst="ellipse">
            <a:avLst/>
          </a:prstGeom>
          <a:solidFill>
            <a:srgbClr val="1774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600">
              <a:ln>
                <a:solidFill>
                  <a:srgbClr val="FF0000">
                    <a:alpha val="0"/>
                  </a:srgbClr>
                </a:solidFill>
              </a:ln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685" y="6511501"/>
            <a:ext cx="1450873" cy="2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>
          <p15:clr>
            <a:srgbClr val="F26B43"/>
          </p15:clr>
        </p15:guide>
        <p15:guide id="2" pos="6000">
          <p15:clr>
            <a:srgbClr val="F26B43"/>
          </p15:clr>
        </p15:guide>
        <p15:guide id="3" orient="horz" pos="482">
          <p15:clr>
            <a:srgbClr val="F26B43"/>
          </p15:clr>
        </p15:guide>
        <p15:guide id="4" orient="horz" pos="57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01AADF5-7B5D-4FC5-24AD-4BFEA5EC92B6}"/>
              </a:ext>
            </a:extLst>
          </p:cNvPr>
          <p:cNvSpPr/>
          <p:nvPr/>
        </p:nvSpPr>
        <p:spPr bwMode="gray">
          <a:xfrm>
            <a:off x="628206" y="1568095"/>
            <a:ext cx="5256584" cy="169277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28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인천국제공항</a:t>
            </a:r>
          </a:p>
          <a:p>
            <a:pPr defTabSz="685800" fontAlgn="base" latinLnBrk="0">
              <a:lnSpc>
                <a:spcPct val="110000"/>
              </a:lnSpc>
              <a:defRPr/>
            </a:pP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통합정보시스템 고도화</a:t>
            </a:r>
            <a:br>
              <a:rPr lang="en-US" altLang="ko-KR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3600" spc="-3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srgbClr val="4472C4">
                    <a:lumMod val="7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구축사업</a:t>
            </a:r>
            <a:endParaRPr lang="en-US" altLang="ko-KR" sz="3600" spc="-30" dirty="0">
              <a:ln>
                <a:solidFill>
                  <a:srgbClr val="9933FF">
                    <a:alpha val="0"/>
                  </a:srgbClr>
                </a:solidFill>
              </a:ln>
              <a:solidFill>
                <a:srgbClr val="4472C4">
                  <a:lumMod val="7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23B5E8-A9CC-1E60-922D-D50CC07BB6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8207" y="707036"/>
            <a:ext cx="1922885" cy="30969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0C92C1E-EAB5-2D3E-D989-AC05435A2A9A}"/>
              </a:ext>
            </a:extLst>
          </p:cNvPr>
          <p:cNvSpPr/>
          <p:nvPr/>
        </p:nvSpPr>
        <p:spPr bwMode="gray">
          <a:xfrm>
            <a:off x="628206" y="3429000"/>
            <a:ext cx="7308097" cy="5693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Iteration2   3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차</a:t>
            </a:r>
            <a:endParaRPr lang="en-US" altLang="ko-KR" sz="1600" dirty="0">
              <a:ln>
                <a:solidFill>
                  <a:srgbClr val="9933FF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KoPub돋움체 Medium" panose="02020603020101020101" pitchFamily="18" charset="-127"/>
              <a:ea typeface="KoPub돋움체 Medium" panose="02020603020101020101"/>
            </a:endParaRPr>
          </a:p>
          <a:p>
            <a:pPr defTabSz="685800" fontAlgn="base" latinLnBrk="0">
              <a:spcBef>
                <a:spcPts val="600"/>
              </a:spcBef>
              <a:spcAft>
                <a:spcPct val="0"/>
              </a:spcAft>
              <a:defRPr/>
            </a:pP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  3</a:t>
            </a:r>
            <a:r>
              <a:rPr lang="ko-KR" altLang="en-US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자 단위테스트 수행 결과 보고 </a:t>
            </a:r>
            <a:r>
              <a:rPr lang="en-US" altLang="ko-KR" sz="1600" dirty="0">
                <a:ln>
                  <a:solidFill>
                    <a:srgbClr val="9933FF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KoPub돋움체 Medium" panose="02020603020101020101" pitchFamily="18" charset="-127"/>
                <a:ea typeface="KoPub돋움체 Medium" panose="02020603020101020101"/>
              </a:rPr>
              <a:t>( 04. 03)</a:t>
            </a:r>
          </a:p>
        </p:txBody>
      </p:sp>
    </p:spTree>
    <p:extLst>
      <p:ext uri="{BB962C8B-B14F-4D97-AF65-F5344CB8AC3E}">
        <p14:creationId xmlns:p14="http://schemas.microsoft.com/office/powerpoint/2010/main" val="373908146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EDE0-7E00-77A9-70CF-18BACAB5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4F21C5D-1DEB-E254-59B2-5B2113A45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Contents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1D345610-EE29-DEBE-CE8D-ABC4EA9F2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944563"/>
            <a:ext cx="10567198" cy="332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 .  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테스트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수행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1.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개요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2.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방법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3.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 기록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400050" indent="-40005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romanUcPeriod" startAt="2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 결과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1.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2.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 현황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DCDD37-9CA1-4FEA-B80B-744FCAA10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036" y="6072188"/>
            <a:ext cx="429290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※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)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테스트 사전 점검결과 </a:t>
            </a:r>
            <a:endParaRPr kumimoji="0" lang="en-US" altLang="ko-KR" sz="12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lvl="0" latinLnBrk="0">
              <a:defRPr/>
            </a:pP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※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)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테스트 수행 중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테스터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Daily Review  : 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문제점  </a:t>
            </a:r>
            <a:r>
              <a:rPr kumimoji="0" lang="en-US" altLang="ko-KR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/ </a:t>
            </a:r>
            <a:r>
              <a:rPr kumimoji="0" lang="ko-KR" altLang="en-US" sz="12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effectLst/>
                <a:uLnTx/>
                <a:uFillTx/>
              </a:rPr>
              <a:t>개선점</a:t>
            </a:r>
            <a:endParaRPr kumimoji="0" lang="en-US" altLang="ko-KR" sz="12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3EF01A8C-E72F-4F83-97FD-8A76A9F10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6319" y="3126494"/>
            <a:ext cx="4018769" cy="2585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III.  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수행 결과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1.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 결함 현황 분석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2.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정량적 결함 분석 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3.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원인 분석</a:t>
            </a:r>
            <a:endParaRPr lang="en-US" altLang="ko-KR" sz="16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4. </a:t>
            </a:r>
            <a:r>
              <a:rPr lang="ko-KR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심각도별 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5. </a:t>
            </a:r>
            <a:r>
              <a:rPr lang="ko-KR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16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 6. </a:t>
            </a:r>
            <a:r>
              <a:rPr lang="ko-KR" altLang="ko-KR" sz="16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재발 방지 방안</a:t>
            </a:r>
            <a:endParaRPr lang="en-US" altLang="ko-KR" sz="16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5034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개요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99351" y="692696"/>
            <a:ext cx="11470595" cy="6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ts val="2000"/>
              </a:lnSpc>
              <a:spcBef>
                <a:spcPct val="30000"/>
              </a:spcBef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통합정보시스템 개발완료 된 기능에 대해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단위테스트를 통해 기능 적합성 및 사용자 사용성 측면에서 취약한 부분을 재점검하고 보완하여 개발 품질 수준을 높이고자 함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1360" y="1661045"/>
            <a:ext cx="524287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3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자 관점의 독립적인 테스트를 통한 현재 품질수준을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주요 기능에 대한 취약점을 사전 노출하여 고객 </a:t>
            </a: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release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전</a:t>
            </a:r>
            <a:b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</a:b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신뢰성 있는 품질 수준의 확보 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71360" y="3244304"/>
            <a:ext cx="496855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기능 확인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</a:t>
            </a:r>
            <a:r>
              <a:rPr kumimoji="1" lang="ko-KR" altLang="en-US" sz="14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테스트 시나리오 기반한 기능 및 정상 동작 여부 확인</a:t>
            </a:r>
            <a:endParaRPr kumimoji="1" lang="en-US" altLang="ko-KR" sz="1400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ko-KR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</a:t>
            </a:r>
            <a:r>
              <a:rPr kumimoji="1" lang="ko-KR" altLang="en-US" sz="14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    실 사용자 관점에서 사용 편의성 및 직관성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사용성 검증</a:t>
            </a:r>
            <a:endParaRPr kumimoji="1"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굴림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360" y="133851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</a:t>
            </a:r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58938" y="161837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1360" y="2945731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품질 측면의 검증 사항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558938" y="3225599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0556" y="1338915"/>
            <a:ext cx="316835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일정 및 조직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6408134" y="1618783"/>
            <a:ext cx="4680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0555" y="1665769"/>
            <a:ext cx="4904887" cy="29107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일정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 03/23 ~ 03/27 (5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신규기능검증 수행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(440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건 시나리오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(04/02, 08:00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리뷰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(04/03)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.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(~04/03)</a:t>
            </a:r>
          </a:p>
          <a:p>
            <a:pPr marL="87313" indent="-87313" latinLnBrk="0">
              <a:lnSpc>
                <a:spcPct val="120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Tester (6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윤성훈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김철현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박선용 차장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최유림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과장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82563" lvl="1" indent="-87313"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-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김승무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위원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최중혁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사원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71360" y="5116848"/>
            <a:ext cx="10529196" cy="1353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총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17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업무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온라인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(</a:t>
            </a:r>
            <a:r>
              <a:rPr kumimoji="1"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화면기준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),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함수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/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프로시저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: 440 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charset="-127"/>
              </a:rPr>
              <a:t>건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운항정보관리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운항계획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비상계획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A-CDM,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항공기관제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공항운영관리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예측관리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항공보안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공항운영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항공통계포털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공통관리 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-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상용 및 모바일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자원배정엔진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자원배정차트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SLOT , PUSH, WES, 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360" y="4794310"/>
            <a:ext cx="30235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sym typeface="Wingdings"/>
              </a:rPr>
              <a:t> 테스트 대상</a:t>
            </a:r>
            <a:endParaRPr lang="en-US" altLang="ko-KR" sz="1600" b="1" dirty="0">
              <a:solidFill>
                <a:srgbClr val="00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" name="직선 연결선 23"/>
          <p:cNvCxnSpPr>
            <a:cxnSpLocks/>
          </p:cNvCxnSpPr>
          <p:nvPr/>
        </p:nvCxnSpPr>
        <p:spPr>
          <a:xfrm>
            <a:off x="558938" y="5074178"/>
            <a:ext cx="1052919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929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AED8090-E958-4CF2-A6E4-68D7741CA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5205"/>
            <a:ext cx="5655226" cy="4392553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방법 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315412" y="764892"/>
            <a:ext cx="5652516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테스트결과서를 기반으로 테스트케이스에 대하여 테스트 진행 </a:t>
            </a:r>
          </a:p>
        </p:txBody>
      </p:sp>
      <p:sp>
        <p:nvSpPr>
          <p:cNvPr id="6" name="TextBox 27"/>
          <p:cNvSpPr txBox="1">
            <a:spLocks noChangeArrowheads="1"/>
          </p:cNvSpPr>
          <p:nvPr/>
        </p:nvSpPr>
        <p:spPr bwMode="auto">
          <a:xfrm>
            <a:off x="6297561" y="770242"/>
            <a:ext cx="5021825" cy="739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TMS(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테스트관리시스템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결함 등재 후 관리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차수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2-2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8DF432-CEE5-46BD-AF34-7AE02AB63619}"/>
              </a:ext>
            </a:extLst>
          </p:cNvPr>
          <p:cNvSpPr/>
          <p:nvPr/>
        </p:nvSpPr>
        <p:spPr>
          <a:xfrm>
            <a:off x="6221052" y="2388058"/>
            <a:ext cx="1066439" cy="2443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ED90D6F-324B-410B-8FB5-61815C192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99" y="1695205"/>
            <a:ext cx="5033319" cy="223919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47366-7E39-4825-913D-0D4707F872C2}"/>
              </a:ext>
            </a:extLst>
          </p:cNvPr>
          <p:cNvSpPr/>
          <p:nvPr/>
        </p:nvSpPr>
        <p:spPr>
          <a:xfrm>
            <a:off x="503550" y="2851744"/>
            <a:ext cx="5126044" cy="13138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87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41ABBB5-6B5F-4A50-BABB-12F39334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68" y="1382664"/>
            <a:ext cx="6688507" cy="5048996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1 - 3.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 기록 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TextBox 27"/>
          <p:cNvSpPr txBox="1">
            <a:spLocks noChangeArrowheads="1"/>
          </p:cNvSpPr>
          <p:nvPr/>
        </p:nvSpPr>
        <p:spPr bwMode="auto">
          <a:xfrm>
            <a:off x="294646" y="764892"/>
            <a:ext cx="11070040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단위 테스트 결과서 내 테스트 케이스 기록으로 결함을 명확하게 식별 할 수 있도록 함</a:t>
            </a: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6E6203FB-83D8-46EF-9BF8-D69719BBB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317" y="3894702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[S_5]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4C8E5CF-292A-4D50-9233-D47AF52C7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05" y="2116884"/>
            <a:ext cx="836055" cy="4105297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88AB0A98-423E-4821-B6B8-33442D40964A}"/>
              </a:ext>
            </a:extLst>
          </p:cNvPr>
          <p:cNvSpPr/>
          <p:nvPr/>
        </p:nvSpPr>
        <p:spPr>
          <a:xfrm>
            <a:off x="8664470" y="3827957"/>
            <a:ext cx="582167" cy="5481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52C0B47-2F7E-486E-A1E0-E6D14C118F30}"/>
              </a:ext>
            </a:extLst>
          </p:cNvPr>
          <p:cNvSpPr/>
          <p:nvPr/>
        </p:nvSpPr>
        <p:spPr>
          <a:xfrm>
            <a:off x="8709514" y="4604393"/>
            <a:ext cx="547396" cy="3397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31251029-1576-4148-AEB4-B69CA0ADC4BF}"/>
              </a:ext>
            </a:extLst>
          </p:cNvPr>
          <p:cNvCxnSpPr>
            <a:cxnSpLocks/>
            <a:stCxn id="16" idx="6"/>
            <a:endCxn id="14" idx="6"/>
          </p:cNvCxnSpPr>
          <p:nvPr/>
        </p:nvCxnSpPr>
        <p:spPr>
          <a:xfrm flipH="1" flipV="1">
            <a:off x="9246637" y="4102007"/>
            <a:ext cx="10273" cy="672243"/>
          </a:xfrm>
          <a:prstGeom prst="curvedConnector3">
            <a:avLst>
              <a:gd name="adj1" fmla="val -2225251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E4BFCFAF-AFBC-4908-964E-8B1EA8444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826" y="2999400"/>
            <a:ext cx="944605" cy="3209987"/>
          </a:xfrm>
          <a:prstGeom prst="rect">
            <a:avLst/>
          </a:prstGeom>
        </p:spPr>
      </p:pic>
      <p:sp>
        <p:nvSpPr>
          <p:cNvPr id="22" name="TextBox 27">
            <a:extLst>
              <a:ext uri="{FF2B5EF4-FFF2-40B4-BE49-F238E27FC236}">
                <a16:creationId xmlns:a16="http://schemas.microsoft.com/office/drawing/2014/main" id="{C1936AF1-DEAC-4A12-8FDC-AB8E1DDAD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185" y="1248537"/>
            <a:ext cx="1110060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시나리오</a:t>
            </a: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0D925F73-DE9E-4BA8-B545-F71A8A5BB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019" y="1226664"/>
            <a:ext cx="1655736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[C_#]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공통체크리스트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84F79483-5287-4C4A-B2D7-25D678B25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657" y="1248537"/>
            <a:ext cx="699796" cy="727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[X_#]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C0E45B-2910-46F2-A99A-9EFDA4F274BE}"/>
              </a:ext>
            </a:extLst>
          </p:cNvPr>
          <p:cNvSpPr/>
          <p:nvPr/>
        </p:nvSpPr>
        <p:spPr>
          <a:xfrm>
            <a:off x="611525" y="1976493"/>
            <a:ext cx="1294720" cy="44551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9188303-366B-49B5-8162-8C48B0DCBAFC}"/>
              </a:ext>
            </a:extLst>
          </p:cNvPr>
          <p:cNvSpPr/>
          <p:nvPr/>
        </p:nvSpPr>
        <p:spPr>
          <a:xfrm>
            <a:off x="2101880" y="1988021"/>
            <a:ext cx="1294720" cy="44551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86263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010359" y="1427928"/>
            <a:ext cx="28834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kumimoji="1" lang="en-US" altLang="ko-KR" sz="105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※</a:t>
            </a:r>
            <a:r>
              <a:rPr lang="ko-KR" altLang="en-US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성공률 및 결함 현황</a:t>
            </a:r>
            <a:r>
              <a: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(01/28, 09:00 </a:t>
            </a:r>
            <a:r>
              <a:rPr lang="ko-KR" altLang="en-US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A74809-D702-420A-AA2C-A6FEE88D0610}"/>
              </a:ext>
            </a:extLst>
          </p:cNvPr>
          <p:cNvSpPr/>
          <p:nvPr/>
        </p:nvSpPr>
        <p:spPr>
          <a:xfrm>
            <a:off x="7966957" y="671462"/>
            <a:ext cx="407435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조치기한 내 목표 조치완료율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</a:t>
            </a:r>
            <a:r>
              <a:rPr kumimoji="1" lang="ko-KR" altLang="en-US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전체 </a:t>
            </a:r>
            <a:r>
              <a:rPr kumimoji="1" lang="en-US" altLang="ko-KR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– 80% </a:t>
            </a:r>
          </a:p>
          <a:p>
            <a:pPr defTabSz="457200" latinLnBrk="0"/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95% </a:t>
            </a:r>
          </a:p>
          <a:p>
            <a:pPr defTabSz="457200" latinLnBrk="0"/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80%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1C2DCF-98AC-2CC7-5CDA-CF237E94C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테스트 </a:t>
            </a:r>
            <a:r>
              <a:rPr lang="ko-KR" altLang="en-US" sz="2000" b="1" dirty="0">
                <a:solidFill>
                  <a:prstClr val="white"/>
                </a:solidFill>
              </a:rPr>
              <a:t>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E0585D-508B-1DDC-9FAF-B5D9FDC02D2B}"/>
              </a:ext>
            </a:extLst>
          </p:cNvPr>
          <p:cNvSpPr/>
          <p:nvPr/>
        </p:nvSpPr>
        <p:spPr>
          <a:xfrm>
            <a:off x="405783" y="774650"/>
            <a:ext cx="7638522" cy="846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2000" indent="-285750" defTabSz="457200" latinLnBrk="0">
              <a:lnSpc>
                <a:spcPts val="2000"/>
              </a:lnSpc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  식별 결함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258</a:t>
            </a:r>
            <a:r>
              <a:rPr kumimoji="1"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건</a:t>
            </a:r>
            <a:r>
              <a:rPr kumimoji="1"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207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시나리오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252000" indent="-285750" defTabSz="457200" latinLnBrk="0">
              <a:lnSpc>
                <a:spcPts val="2000"/>
              </a:lnSpc>
              <a:buFontTx/>
              <a:buChar char="-"/>
            </a:pPr>
            <a:r>
              <a:rPr kumimoji="1" lang="ko-KR" altLang="en-US" sz="1100" kern="0" spc="-30" baseline="400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주</a:t>
            </a:r>
            <a:r>
              <a:rPr kumimoji="1" lang="en-US" altLang="ko-KR" sz="1100" kern="0" spc="-30" baseline="4000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1)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유효 결함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161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건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, 136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시나리오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252000" indent="-285750" defTabSz="457200" latinLnBrk="0">
              <a:lnSpc>
                <a:spcPts val="2000"/>
              </a:lnSpc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결함 </a:t>
            </a:r>
            <a:r>
              <a:rPr kumimoji="1" lang="ko-KR" altLang="en-US" sz="14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발생율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: 16.6 %  (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테스트 대상 시나리오 기준 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640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중 유효결함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136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개 시나리오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EF6F86-9C8A-44B3-9F34-9BC95C4CAD3F}"/>
              </a:ext>
            </a:extLst>
          </p:cNvPr>
          <p:cNvSpPr/>
          <p:nvPr/>
        </p:nvSpPr>
        <p:spPr>
          <a:xfrm>
            <a:off x="9010359" y="6014833"/>
            <a:ext cx="124932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완료 기준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C7D2D1-BEBE-4005-9549-EA25E801A087}"/>
              </a:ext>
            </a:extLst>
          </p:cNvPr>
          <p:cNvSpPr txBox="1"/>
          <p:nvPr/>
        </p:nvSpPr>
        <p:spPr>
          <a:xfrm>
            <a:off x="9943391" y="5832595"/>
            <a:ext cx="2136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결함 기각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결함조치 후 테스터 최종 확인 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결</a:t>
            </a:r>
            <a:r>
              <a:rPr kumimoji="1" lang="ko-KR" altLang="en-US" sz="1000" b="0" i="0" u="none" strike="noStrike" kern="0" cap="none" spc="-30" normalizeH="0" baseline="0" noProof="0" dirty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함조치</a:t>
            </a:r>
            <a:r>
              <a:rPr kumimoji="1" lang="ko-KR" altLang="en-US" sz="1000" b="0" i="0" u="none" strike="noStrike" kern="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Segoe UI" panose="020B0502040204020203" pitchFamily="34" charset="0"/>
              </a:rPr>
              <a:t> 후 테스터 확인 대기</a:t>
            </a:r>
            <a:endParaRPr lang="ko-KR" altLang="en-US" sz="10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CA8C75-8899-4130-B821-A9B9EDEB932E}"/>
              </a:ext>
            </a:extLst>
          </p:cNvPr>
          <p:cNvSpPr/>
          <p:nvPr/>
        </p:nvSpPr>
        <p:spPr>
          <a:xfrm>
            <a:off x="522279" y="6065038"/>
            <a:ext cx="374149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</a:t>
            </a:r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1)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 결함 </a:t>
            </a:r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결함이 기각 되지 않고</a:t>
            </a:r>
            <a:r>
              <a:rPr kumimoji="1"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kumimoji="1" lang="ko-KR" altLang="en-US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진행하는 결함</a:t>
            </a:r>
            <a:endParaRPr kumimoji="1" lang="en-US" altLang="ko-KR" sz="10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Medium" panose="00000600000000000000" pitchFamily="2" charset="-127"/>
              <a:ea typeface="KoPub돋움체 Medium" panose="00000600000000000000" pitchFamily="2" charset="-127"/>
              <a:cs typeface="Segoe UI" panose="020B0502040204020203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C12BC8A-3AF3-4015-8B03-447898A3D42E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H$1:$Z$20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763" y="1732088"/>
            <a:ext cx="11005314" cy="4239689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5947120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E79B89-4DF9-4986-813A-13BE60BCC7F1}"/>
              </a:ext>
            </a:extLst>
          </p:cNvPr>
          <p:cNvSpPr/>
          <p:nvPr/>
        </p:nvSpPr>
        <p:spPr>
          <a:xfrm>
            <a:off x="517237" y="767658"/>
            <a:ext cx="73419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전체 결함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변경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신규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- 258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건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C469C800-38F3-4F2F-8B5C-3843B931F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96" y="1107292"/>
            <a:ext cx="4809669" cy="84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 대기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조치 후 테스터로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확인요청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 요청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PL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혹은 개발자 간 결함내용의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확인요청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상태</a:t>
            </a:r>
            <a:endParaRPr lang="en-US" altLang="ko-KR" sz="12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71450" indent="-171450" latinLnBrk="0">
              <a:lnSpc>
                <a:spcPct val="12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 완료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결함등록기각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확인대기 </a:t>
            </a:r>
            <a:r>
              <a:rPr lang="en-US" altLang="ko-KR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최종확인 </a:t>
            </a: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A41EDC2F-C987-4129-AC1D-BEFA8D615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3707" y="2083282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1" name="TextBox 27">
            <a:extLst>
              <a:ext uri="{FF2B5EF4-FFF2-40B4-BE49-F238E27FC236}">
                <a16:creationId xmlns:a16="http://schemas.microsoft.com/office/drawing/2014/main" id="{6FBF09BF-9F92-4A99-8DC0-81C8EFDCC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9382" y="2084030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solidFill>
                  <a:srgbClr val="0000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solidFill>
                <a:srgbClr val="0000F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77877335-D6AB-405B-B552-6986C771E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6533" y="2041928"/>
            <a:ext cx="699796" cy="358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*</a:t>
            </a:r>
            <a:endParaRPr lang="ko-KR" altLang="en-US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2AAC4E6-301D-DDDE-5854-F855813CC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결함조치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  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1/2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E1D6112-AD28-4FAA-94D5-C5A8BFC499EE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Z$28:$AL$4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4997" y="2033933"/>
            <a:ext cx="10788361" cy="4151027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BF860F-275C-484A-911D-A74AC5689AE8}"/>
              </a:ext>
            </a:extLst>
          </p:cNvPr>
          <p:cNvSpPr/>
          <p:nvPr/>
        </p:nvSpPr>
        <p:spPr>
          <a:xfrm>
            <a:off x="7629521" y="791660"/>
            <a:ext cx="4074355" cy="828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>
              <a:lnSpc>
                <a:spcPts val="2000"/>
              </a:lnSpc>
            </a:pP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조치기한 내 목표 조치완료율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   </a:t>
            </a:r>
            <a:r>
              <a:rPr kumimoji="1" lang="ko-KR" altLang="en-US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전체 </a:t>
            </a:r>
            <a:r>
              <a:rPr kumimoji="1" lang="en-US" altLang="ko-KR" sz="14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– 80% </a:t>
            </a:r>
          </a:p>
          <a:p>
            <a:pPr defTabSz="457200" latinLnBrk="0">
              <a:lnSpc>
                <a:spcPts val="2000"/>
              </a:lnSpc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95% </a:t>
            </a:r>
          </a:p>
          <a:p>
            <a:pPr defTabSz="457200" latinLnBrk="0">
              <a:lnSpc>
                <a:spcPts val="2000"/>
              </a:lnSpc>
            </a:pP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                        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80%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0000FF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95873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9E79B89-4DF9-4986-813A-13BE60BCC7F1}"/>
              </a:ext>
            </a:extLst>
          </p:cNvPr>
          <p:cNvSpPr/>
          <p:nvPr/>
        </p:nvSpPr>
        <p:spPr>
          <a:xfrm>
            <a:off x="416840" y="1118497"/>
            <a:ext cx="7341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결함조치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현황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1EE422-AAAF-4641-A7EF-D0C91510B7FA}"/>
              </a:ext>
            </a:extLst>
          </p:cNvPr>
          <p:cNvSpPr/>
          <p:nvPr/>
        </p:nvSpPr>
        <p:spPr>
          <a:xfrm>
            <a:off x="416842" y="4389168"/>
            <a:ext cx="7341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개선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,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신규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  <a:p>
            <a:pPr defTabSz="457200" latinLnBrk="0"/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조치 현황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CD6434-C990-37E9-3D82-7A443C8B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결함조치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  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2/2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A265E3-BE08-4E2B-A7BE-EC47D7D46049}"/>
              </a:ext>
            </a:extLst>
          </p:cNvPr>
          <p:cNvSpPr/>
          <p:nvPr/>
        </p:nvSpPr>
        <p:spPr>
          <a:xfrm>
            <a:off x="9738452" y="944563"/>
            <a:ext cx="189051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조치완료율 </a:t>
            </a:r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결함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목표 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- 95.0 %</a:t>
            </a:r>
          </a:p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실적 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80.4 %</a:t>
            </a:r>
          </a:p>
          <a:p>
            <a:pPr defTabSz="457200" latinLnBrk="0"/>
            <a:endParaRPr kumimoji="1" lang="en-US" altLang="ko-K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[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개선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변경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pPr defTabSz="457200" latinLnBrk="0"/>
            <a:endParaRPr kumimoji="1"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defTabSz="457200" latinLnBrk="0"/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목표 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–  80.0 %</a:t>
            </a:r>
          </a:p>
          <a:p>
            <a:pPr defTabSz="457200" latinLnBrk="0"/>
            <a:r>
              <a:rPr kumimoji="1"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실적  </a:t>
            </a:r>
            <a:r>
              <a:rPr kumimoji="1"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–  </a:t>
            </a:r>
            <a:r>
              <a:rPr kumimoji="1" lang="en-US" altLang="ko-KR" sz="140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Segoe UI" panose="020B0502040204020203" pitchFamily="34" charset="0"/>
              </a:rPr>
              <a:t>81.8 %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egoe U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36C2550-DAB1-4FAD-B564-0F8FB6C88E44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Z$73:$AL$91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8290" y="3854967"/>
            <a:ext cx="8047603" cy="2598221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1588E0-4D31-4B48-B6C2-2D92C6923E44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Z$49:$AL$67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8290" y="869333"/>
            <a:ext cx="8016710" cy="2808815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79514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5">
            <a:extLst>
              <a:ext uri="{FF2B5EF4-FFF2-40B4-BE49-F238E27FC236}">
                <a16:creationId xmlns:a16="http://schemas.microsoft.com/office/drawing/2014/main" id="{4768BB41-9E6A-4DA3-B835-F28AA8D7D659}"/>
              </a:ext>
            </a:extLst>
          </p:cNvPr>
          <p:cNvGrpSpPr/>
          <p:nvPr/>
        </p:nvGrpSpPr>
        <p:grpSpPr>
          <a:xfrm>
            <a:off x="1027384" y="5328229"/>
            <a:ext cx="5632034" cy="704399"/>
            <a:chOff x="833764" y="5138588"/>
            <a:chExt cx="8847887" cy="788035"/>
          </a:xfrm>
        </p:grpSpPr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15867F43-9100-48ED-9ADA-65F23C7B0817}"/>
                </a:ext>
              </a:extLst>
            </p:cNvPr>
            <p:cNvSpPr/>
            <p:nvPr/>
          </p:nvSpPr>
          <p:spPr>
            <a:xfrm>
              <a:off x="833764" y="5152438"/>
              <a:ext cx="8847887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25E3A4CF-062C-4026-96AB-219ACCF04909}"/>
                </a:ext>
              </a:extLst>
            </p:cNvPr>
            <p:cNvSpPr/>
            <p:nvPr/>
          </p:nvSpPr>
          <p:spPr>
            <a:xfrm>
              <a:off x="833764" y="5138588"/>
              <a:ext cx="8847887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6C3D3A10-725E-41C1-960B-3C7F7C55ECEC}"/>
                </a:ext>
              </a:extLst>
            </p:cNvPr>
            <p:cNvSpPr/>
            <p:nvPr/>
          </p:nvSpPr>
          <p:spPr>
            <a:xfrm>
              <a:off x="1850614" y="5615426"/>
              <a:ext cx="62864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35331" y="62388"/>
                  </a:moveTo>
                  <a:lnTo>
                    <a:pt x="27057" y="62388"/>
                  </a:lnTo>
                  <a:lnTo>
                    <a:pt x="23078" y="61596"/>
                  </a:lnTo>
                  <a:lnTo>
                    <a:pt x="0" y="35330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35331" y="0"/>
                  </a:lnTo>
                  <a:lnTo>
                    <a:pt x="62388" y="27057"/>
                  </a:lnTo>
                  <a:lnTo>
                    <a:pt x="62388" y="31194"/>
                  </a:lnTo>
                  <a:lnTo>
                    <a:pt x="62388" y="35330"/>
                  </a:lnTo>
                  <a:lnTo>
                    <a:pt x="35331" y="6238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1" name="object 14">
            <a:extLst>
              <a:ext uri="{FF2B5EF4-FFF2-40B4-BE49-F238E27FC236}">
                <a16:creationId xmlns:a16="http://schemas.microsoft.com/office/drawing/2014/main" id="{94594726-C25B-4E05-9E45-F2DBD567E29D}"/>
              </a:ext>
            </a:extLst>
          </p:cNvPr>
          <p:cNvSpPr txBox="1"/>
          <p:nvPr/>
        </p:nvSpPr>
        <p:spPr>
          <a:xfrm>
            <a:off x="1706718" y="5649397"/>
            <a:ext cx="2452370" cy="2244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450"/>
              </a:spcBef>
              <a:tabLst>
                <a:tab pos="1456055" algn="l"/>
              </a:tabLst>
            </a:pP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공통관리 </a:t>
            </a:r>
            <a:r>
              <a:rPr lang="en-US" altLang="ko-KR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24</a:t>
            </a: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</a:t>
            </a:r>
            <a:r>
              <a:rPr lang="en-US" altLang="ko-KR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+23</a:t>
            </a: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</a:t>
            </a:r>
            <a:endParaRPr sz="11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21" name="object 24">
            <a:extLst>
              <a:ext uri="{FF2B5EF4-FFF2-40B4-BE49-F238E27FC236}">
                <a16:creationId xmlns:a16="http://schemas.microsoft.com/office/drawing/2014/main" id="{CC30C2A0-5D79-42C0-8ACE-7DA98E03C604}"/>
              </a:ext>
            </a:extLst>
          </p:cNvPr>
          <p:cNvSpPr txBox="1"/>
          <p:nvPr/>
        </p:nvSpPr>
        <p:spPr>
          <a:xfrm>
            <a:off x="3412387" y="5696758"/>
            <a:ext cx="1033780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자원배정 </a:t>
            </a:r>
            <a:r>
              <a:rPr lang="en-US" altLang="ko-KR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19</a:t>
            </a:r>
            <a:r>
              <a:rPr lang="ko-KR" altLang="en-US" sz="1100" b="1" spc="-3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건</a:t>
            </a:r>
            <a:endParaRPr sz="11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5751F4-5E5E-43EA-9B97-E2A582DAC332}"/>
              </a:ext>
            </a:extLst>
          </p:cNvPr>
          <p:cNvSpPr txBox="1"/>
          <p:nvPr/>
        </p:nvSpPr>
        <p:spPr>
          <a:xfrm>
            <a:off x="5166679" y="5663730"/>
            <a:ext cx="13859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spc="-1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A-CDM </a:t>
            </a:r>
            <a:r>
              <a:rPr lang="en-US" altLang="ko-KR" sz="1100" b="1" spc="-25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17</a:t>
            </a:r>
            <a:r>
              <a:rPr lang="ko-KR" altLang="en-US" sz="1100" b="1" spc="-25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</a:t>
            </a:r>
            <a:endParaRPr lang="ko-KR" altLang="en-US" sz="11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3F461A-2CFA-478C-9C21-BC6FD5671587}"/>
              </a:ext>
            </a:extLst>
          </p:cNvPr>
          <p:cNvSpPr txBox="1"/>
          <p:nvPr/>
        </p:nvSpPr>
        <p:spPr>
          <a:xfrm>
            <a:off x="1623094" y="5336205"/>
            <a:ext cx="3326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집중</a:t>
            </a:r>
            <a:r>
              <a:rPr lang="ko-KR" altLang="en-US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관리</a:t>
            </a:r>
            <a:r>
              <a:rPr lang="ko-KR" altLang="en-US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대상</a:t>
            </a:r>
            <a:r>
              <a:rPr lang="ko-KR" altLang="en-US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lang="en-US" altLang="ko-KR" sz="1400" b="1" spc="-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(</a:t>
            </a:r>
            <a:r>
              <a:rPr lang="en-US" altLang="ko-KR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OP</a:t>
            </a:r>
            <a:r>
              <a:rPr lang="ko-KR" altLang="en-US" sz="1400" b="1" spc="3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3</a:t>
            </a:r>
            <a:r>
              <a:rPr lang="ko-KR" altLang="en-US" sz="1400" b="1" spc="3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H</a:t>
            </a:r>
            <a:r>
              <a:rPr lang="en-US" altLang="ko-KR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OT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SP</a:t>
            </a:r>
            <a:r>
              <a:rPr lang="en-US" altLang="ko-KR" sz="1400" b="1" spc="-4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OT</a:t>
            </a:r>
            <a:r>
              <a:rPr lang="en-US" altLang="ko-KR" sz="1400" b="1" spc="-10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S)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C13F9F67-F9A4-48E4-9924-3D1659AF8B43}"/>
              </a:ext>
            </a:extLst>
          </p:cNvPr>
          <p:cNvGrpSpPr/>
          <p:nvPr/>
        </p:nvGrpSpPr>
        <p:grpSpPr>
          <a:xfrm>
            <a:off x="1203270" y="5478120"/>
            <a:ext cx="312420" cy="312420"/>
            <a:chOff x="1425522" y="5067716"/>
            <a:chExt cx="312420" cy="312420"/>
          </a:xfrm>
        </p:grpSpPr>
        <p:sp>
          <p:nvSpPr>
            <p:cNvPr id="67" name="object 9">
              <a:extLst>
                <a:ext uri="{FF2B5EF4-FFF2-40B4-BE49-F238E27FC236}">
                  <a16:creationId xmlns:a16="http://schemas.microsoft.com/office/drawing/2014/main" id="{94115178-CA54-41D6-879B-05E9FB7C9C61}"/>
                </a:ext>
              </a:extLst>
            </p:cNvPr>
            <p:cNvSpPr/>
            <p:nvPr/>
          </p:nvSpPr>
          <p:spPr>
            <a:xfrm>
              <a:off x="1425522" y="5067716"/>
              <a:ext cx="312420" cy="312420"/>
            </a:xfrm>
            <a:custGeom>
              <a:avLst/>
              <a:gdLst/>
              <a:ahLst/>
              <a:cxnLst/>
              <a:rect l="l" t="t" r="r" b="b"/>
              <a:pathLst>
                <a:path w="312419" h="312420">
                  <a:moveTo>
                    <a:pt x="155971" y="311943"/>
                  </a:moveTo>
                  <a:lnTo>
                    <a:pt x="118064" y="307267"/>
                  </a:lnTo>
                  <a:lnTo>
                    <a:pt x="82446" y="293527"/>
                  </a:lnTo>
                  <a:lnTo>
                    <a:pt x="51233" y="271545"/>
                  </a:lnTo>
                  <a:lnTo>
                    <a:pt x="26285" y="242624"/>
                  </a:lnTo>
                  <a:lnTo>
                    <a:pt x="9113" y="208507"/>
                  </a:lnTo>
                  <a:lnTo>
                    <a:pt x="749" y="171259"/>
                  </a:lnTo>
                  <a:lnTo>
                    <a:pt x="0" y="155971"/>
                  </a:lnTo>
                  <a:lnTo>
                    <a:pt x="187" y="148309"/>
                  </a:lnTo>
                  <a:lnTo>
                    <a:pt x="6714" y="110694"/>
                  </a:lnTo>
                  <a:lnTo>
                    <a:pt x="22184" y="75793"/>
                  </a:lnTo>
                  <a:lnTo>
                    <a:pt x="45683" y="45682"/>
                  </a:lnTo>
                  <a:lnTo>
                    <a:pt x="75793" y="22184"/>
                  </a:lnTo>
                  <a:lnTo>
                    <a:pt x="110695" y="6714"/>
                  </a:lnTo>
                  <a:lnTo>
                    <a:pt x="148309" y="187"/>
                  </a:lnTo>
                  <a:lnTo>
                    <a:pt x="155971" y="0"/>
                  </a:lnTo>
                  <a:lnTo>
                    <a:pt x="163634" y="187"/>
                  </a:lnTo>
                  <a:lnTo>
                    <a:pt x="201248" y="6714"/>
                  </a:lnTo>
                  <a:lnTo>
                    <a:pt x="236149" y="22184"/>
                  </a:lnTo>
                  <a:lnTo>
                    <a:pt x="266260" y="45682"/>
                  </a:lnTo>
                  <a:lnTo>
                    <a:pt x="289758" y="75793"/>
                  </a:lnTo>
                  <a:lnTo>
                    <a:pt x="305229" y="110694"/>
                  </a:lnTo>
                  <a:lnTo>
                    <a:pt x="311756" y="148309"/>
                  </a:lnTo>
                  <a:lnTo>
                    <a:pt x="311943" y="155971"/>
                  </a:lnTo>
                  <a:lnTo>
                    <a:pt x="311756" y="163634"/>
                  </a:lnTo>
                  <a:lnTo>
                    <a:pt x="305229" y="201247"/>
                  </a:lnTo>
                  <a:lnTo>
                    <a:pt x="289758" y="236148"/>
                  </a:lnTo>
                  <a:lnTo>
                    <a:pt x="266260" y="266259"/>
                  </a:lnTo>
                  <a:lnTo>
                    <a:pt x="236149" y="289758"/>
                  </a:lnTo>
                  <a:lnTo>
                    <a:pt x="201248" y="305228"/>
                  </a:lnTo>
                  <a:lnTo>
                    <a:pt x="163634" y="311756"/>
                  </a:lnTo>
                  <a:lnTo>
                    <a:pt x="155971" y="311943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68" name="object 10">
              <a:extLst>
                <a:ext uri="{FF2B5EF4-FFF2-40B4-BE49-F238E27FC236}">
                  <a16:creationId xmlns:a16="http://schemas.microsoft.com/office/drawing/2014/main" id="{7F52FBFA-380C-42F8-9604-9AA5B3DF47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9105" y="5159355"/>
              <a:ext cx="123824" cy="126999"/>
            </a:xfrm>
            <a:prstGeom prst="rect">
              <a:avLst/>
            </a:prstGeom>
          </p:spPr>
        </p:pic>
      </p:grpSp>
      <p:grpSp>
        <p:nvGrpSpPr>
          <p:cNvPr id="75" name="object 15">
            <a:extLst>
              <a:ext uri="{FF2B5EF4-FFF2-40B4-BE49-F238E27FC236}">
                <a16:creationId xmlns:a16="http://schemas.microsoft.com/office/drawing/2014/main" id="{D2758ED3-63E4-4BE0-B5EB-9EF88C5E96FA}"/>
              </a:ext>
            </a:extLst>
          </p:cNvPr>
          <p:cNvGrpSpPr/>
          <p:nvPr/>
        </p:nvGrpSpPr>
        <p:grpSpPr>
          <a:xfrm>
            <a:off x="2328471" y="1034375"/>
            <a:ext cx="2297856" cy="1316447"/>
            <a:chOff x="774192" y="2185416"/>
            <a:chExt cx="2959735" cy="2725420"/>
          </a:xfrm>
        </p:grpSpPr>
        <p:sp>
          <p:nvSpPr>
            <p:cNvPr id="105" name="object 18">
              <a:extLst>
                <a:ext uri="{FF2B5EF4-FFF2-40B4-BE49-F238E27FC236}">
                  <a16:creationId xmlns:a16="http://schemas.microsoft.com/office/drawing/2014/main" id="{B87B46F3-2609-4721-816C-821C7CF324FA}"/>
                </a:ext>
              </a:extLst>
            </p:cNvPr>
            <p:cNvSpPr/>
            <p:nvPr/>
          </p:nvSpPr>
          <p:spPr>
            <a:xfrm>
              <a:off x="792480" y="2188464"/>
              <a:ext cx="2923540" cy="2688590"/>
            </a:xfrm>
            <a:custGeom>
              <a:avLst/>
              <a:gdLst/>
              <a:ahLst/>
              <a:cxnLst/>
              <a:rect l="l" t="t" r="r" b="b"/>
              <a:pathLst>
                <a:path w="2923540" h="2688590">
                  <a:moveTo>
                    <a:pt x="2923032" y="2688336"/>
                  </a:moveTo>
                  <a:lnTo>
                    <a:pt x="0" y="2688336"/>
                  </a:lnTo>
                  <a:lnTo>
                    <a:pt x="0" y="0"/>
                  </a:lnTo>
                  <a:lnTo>
                    <a:pt x="2923032" y="0"/>
                  </a:lnTo>
                  <a:lnTo>
                    <a:pt x="2923032" y="29551"/>
                  </a:lnTo>
                  <a:lnTo>
                    <a:pt x="130968" y="29551"/>
                  </a:lnTo>
                  <a:lnTo>
                    <a:pt x="122518" y="29959"/>
                  </a:lnTo>
                  <a:lnTo>
                    <a:pt x="83300" y="43995"/>
                  </a:lnTo>
                  <a:lnTo>
                    <a:pt x="55324" y="74856"/>
                  </a:lnTo>
                  <a:lnTo>
                    <a:pt x="45184" y="115336"/>
                  </a:lnTo>
                  <a:lnTo>
                    <a:pt x="45184" y="2540698"/>
                  </a:lnTo>
                  <a:lnTo>
                    <a:pt x="55325" y="2581177"/>
                  </a:lnTo>
                  <a:lnTo>
                    <a:pt x="83300" y="2612038"/>
                  </a:lnTo>
                  <a:lnTo>
                    <a:pt x="122518" y="2626074"/>
                  </a:lnTo>
                  <a:lnTo>
                    <a:pt x="130968" y="2626483"/>
                  </a:lnTo>
                  <a:lnTo>
                    <a:pt x="2923032" y="2626483"/>
                  </a:lnTo>
                  <a:lnTo>
                    <a:pt x="2923032" y="2688336"/>
                  </a:lnTo>
                  <a:close/>
                </a:path>
                <a:path w="2923540" h="2688590">
                  <a:moveTo>
                    <a:pt x="2923032" y="2626483"/>
                  </a:moveTo>
                  <a:lnTo>
                    <a:pt x="2790289" y="2626483"/>
                  </a:lnTo>
                  <a:lnTo>
                    <a:pt x="2798739" y="2626074"/>
                  </a:lnTo>
                  <a:lnTo>
                    <a:pt x="2807027" y="2624850"/>
                  </a:lnTo>
                  <a:lnTo>
                    <a:pt x="2844683" y="2607043"/>
                  </a:lnTo>
                  <a:lnTo>
                    <a:pt x="2869543" y="2573526"/>
                  </a:lnTo>
                  <a:lnTo>
                    <a:pt x="2876073" y="2540698"/>
                  </a:lnTo>
                  <a:lnTo>
                    <a:pt x="2876073" y="115336"/>
                  </a:lnTo>
                  <a:lnTo>
                    <a:pt x="2865932" y="74856"/>
                  </a:lnTo>
                  <a:lnTo>
                    <a:pt x="2837957" y="43995"/>
                  </a:lnTo>
                  <a:lnTo>
                    <a:pt x="2798739" y="29959"/>
                  </a:lnTo>
                  <a:lnTo>
                    <a:pt x="2790289" y="29551"/>
                  </a:lnTo>
                  <a:lnTo>
                    <a:pt x="2923032" y="29551"/>
                  </a:lnTo>
                  <a:lnTo>
                    <a:pt x="2923032" y="2626483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6" name="object 19">
              <a:extLst>
                <a:ext uri="{FF2B5EF4-FFF2-40B4-BE49-F238E27FC236}">
                  <a16:creationId xmlns:a16="http://schemas.microsoft.com/office/drawing/2014/main" id="{B3BBA7AD-6A66-4726-BF90-5C4945E69486}"/>
                </a:ext>
              </a:extLst>
            </p:cNvPr>
            <p:cNvSpPr/>
            <p:nvPr/>
          </p:nvSpPr>
          <p:spPr>
            <a:xfrm>
              <a:off x="774192" y="2185416"/>
              <a:ext cx="2959735" cy="2725420"/>
            </a:xfrm>
            <a:custGeom>
              <a:avLst/>
              <a:gdLst/>
              <a:ahLst/>
              <a:cxnLst/>
              <a:rect l="l" t="t" r="r" b="b"/>
              <a:pathLst>
                <a:path w="2959735" h="2725420">
                  <a:moveTo>
                    <a:pt x="2959608" y="2724912"/>
                  </a:moveTo>
                  <a:lnTo>
                    <a:pt x="0" y="2724912"/>
                  </a:lnTo>
                  <a:lnTo>
                    <a:pt x="0" y="0"/>
                  </a:lnTo>
                  <a:lnTo>
                    <a:pt x="2959608" y="0"/>
                  </a:lnTo>
                  <a:lnTo>
                    <a:pt x="2959608" y="32599"/>
                  </a:lnTo>
                  <a:lnTo>
                    <a:pt x="149256" y="32599"/>
                  </a:lnTo>
                  <a:lnTo>
                    <a:pt x="140806" y="33007"/>
                  </a:lnTo>
                  <a:lnTo>
                    <a:pt x="101588" y="47043"/>
                  </a:lnTo>
                  <a:lnTo>
                    <a:pt x="73612" y="77904"/>
                  </a:lnTo>
                  <a:lnTo>
                    <a:pt x="63472" y="118384"/>
                  </a:lnTo>
                  <a:lnTo>
                    <a:pt x="63472" y="2543746"/>
                  </a:lnTo>
                  <a:lnTo>
                    <a:pt x="73613" y="2584225"/>
                  </a:lnTo>
                  <a:lnTo>
                    <a:pt x="101588" y="2615086"/>
                  </a:lnTo>
                  <a:lnTo>
                    <a:pt x="140806" y="2629122"/>
                  </a:lnTo>
                  <a:lnTo>
                    <a:pt x="149256" y="2629531"/>
                  </a:lnTo>
                  <a:lnTo>
                    <a:pt x="2959608" y="2629531"/>
                  </a:lnTo>
                  <a:lnTo>
                    <a:pt x="2959608" y="2724912"/>
                  </a:lnTo>
                  <a:close/>
                </a:path>
                <a:path w="2959735" h="2725420">
                  <a:moveTo>
                    <a:pt x="2959608" y="2629531"/>
                  </a:moveTo>
                  <a:lnTo>
                    <a:pt x="2808577" y="2629531"/>
                  </a:lnTo>
                  <a:lnTo>
                    <a:pt x="2817027" y="2629122"/>
                  </a:lnTo>
                  <a:lnTo>
                    <a:pt x="2825315" y="2627898"/>
                  </a:lnTo>
                  <a:lnTo>
                    <a:pt x="2862971" y="2610091"/>
                  </a:lnTo>
                  <a:lnTo>
                    <a:pt x="2887831" y="2576574"/>
                  </a:lnTo>
                  <a:lnTo>
                    <a:pt x="2894361" y="2543746"/>
                  </a:lnTo>
                  <a:lnTo>
                    <a:pt x="2894361" y="118384"/>
                  </a:lnTo>
                  <a:lnTo>
                    <a:pt x="2884220" y="77904"/>
                  </a:lnTo>
                  <a:lnTo>
                    <a:pt x="2856245" y="47043"/>
                  </a:lnTo>
                  <a:lnTo>
                    <a:pt x="2817027" y="33007"/>
                  </a:lnTo>
                  <a:lnTo>
                    <a:pt x="2808577" y="32599"/>
                  </a:lnTo>
                  <a:lnTo>
                    <a:pt x="2959608" y="32599"/>
                  </a:lnTo>
                  <a:lnTo>
                    <a:pt x="2959608" y="262953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7" name="object 20">
              <a:extLst>
                <a:ext uri="{FF2B5EF4-FFF2-40B4-BE49-F238E27FC236}">
                  <a16:creationId xmlns:a16="http://schemas.microsoft.com/office/drawing/2014/main" id="{8F68AEFF-B55E-445E-B482-DBE90F716CCC}"/>
                </a:ext>
              </a:extLst>
            </p:cNvPr>
            <p:cNvSpPr/>
            <p:nvPr/>
          </p:nvSpPr>
          <p:spPr>
            <a:xfrm>
              <a:off x="829865" y="2229713"/>
              <a:ext cx="2846705" cy="2593341"/>
            </a:xfrm>
            <a:custGeom>
              <a:avLst/>
              <a:gdLst/>
              <a:ahLst/>
              <a:cxnLst/>
              <a:rect l="l" t="t" r="r" b="b"/>
              <a:pathLst>
                <a:path w="2846704" h="2593340">
                  <a:moveTo>
                    <a:pt x="2759048" y="2593032"/>
                  </a:moveTo>
                  <a:lnTo>
                    <a:pt x="87438" y="2593032"/>
                  </a:lnTo>
                  <a:lnTo>
                    <a:pt x="81352" y="2592432"/>
                  </a:lnTo>
                  <a:lnTo>
                    <a:pt x="36481" y="2573846"/>
                  </a:lnTo>
                  <a:lnTo>
                    <a:pt x="9475" y="2540938"/>
                  </a:lnTo>
                  <a:lnTo>
                    <a:pt x="0" y="2505593"/>
                  </a:lnTo>
                  <a:lnTo>
                    <a:pt x="0" y="2499449"/>
                  </a:lnTo>
                  <a:lnTo>
                    <a:pt x="0" y="69221"/>
                  </a:lnTo>
                  <a:lnTo>
                    <a:pt x="19185" y="28881"/>
                  </a:lnTo>
                  <a:lnTo>
                    <a:pt x="52093" y="7500"/>
                  </a:lnTo>
                  <a:lnTo>
                    <a:pt x="87438" y="0"/>
                  </a:lnTo>
                  <a:lnTo>
                    <a:pt x="2759048" y="0"/>
                  </a:lnTo>
                  <a:lnTo>
                    <a:pt x="2799785" y="9783"/>
                  </a:lnTo>
                  <a:lnTo>
                    <a:pt x="2834128" y="36970"/>
                  </a:lnTo>
                  <a:lnTo>
                    <a:pt x="2846486" y="69221"/>
                  </a:lnTo>
                  <a:lnTo>
                    <a:pt x="2846486" y="2505593"/>
                  </a:lnTo>
                  <a:lnTo>
                    <a:pt x="2834128" y="2546331"/>
                  </a:lnTo>
                  <a:lnTo>
                    <a:pt x="2799785" y="2580674"/>
                  </a:lnTo>
                  <a:lnTo>
                    <a:pt x="2765133" y="2592432"/>
                  </a:lnTo>
                  <a:lnTo>
                    <a:pt x="2759048" y="2593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8" name="object 21">
              <a:extLst>
                <a:ext uri="{FF2B5EF4-FFF2-40B4-BE49-F238E27FC236}">
                  <a16:creationId xmlns:a16="http://schemas.microsoft.com/office/drawing/2014/main" id="{8148967F-0697-4CFA-853A-868A7CC293A2}"/>
                </a:ext>
              </a:extLst>
            </p:cNvPr>
            <p:cNvSpPr/>
            <p:nvPr/>
          </p:nvSpPr>
          <p:spPr>
            <a:xfrm>
              <a:off x="830272" y="2210217"/>
              <a:ext cx="2846070" cy="85725"/>
            </a:xfrm>
            <a:custGeom>
              <a:avLst/>
              <a:gdLst/>
              <a:ahLst/>
              <a:cxnLst/>
              <a:rect l="l" t="t" r="r" b="b"/>
              <a:pathLst>
                <a:path w="2846070" h="85725">
                  <a:moveTo>
                    <a:pt x="0" y="85149"/>
                  </a:moveTo>
                  <a:lnTo>
                    <a:pt x="15349" y="41581"/>
                  </a:lnTo>
                  <a:lnTo>
                    <a:pt x="49016" y="11062"/>
                  </a:lnTo>
                  <a:lnTo>
                    <a:pt x="93175" y="0"/>
                  </a:lnTo>
                  <a:lnTo>
                    <a:pt x="2752496" y="0"/>
                  </a:lnTo>
                  <a:lnTo>
                    <a:pt x="2796655" y="11062"/>
                  </a:lnTo>
                  <a:lnTo>
                    <a:pt x="2828400" y="38992"/>
                  </a:lnTo>
                  <a:lnTo>
                    <a:pt x="93175" y="38992"/>
                  </a:lnTo>
                  <a:lnTo>
                    <a:pt x="83956" y="39252"/>
                  </a:lnTo>
                  <a:lnTo>
                    <a:pt x="41174" y="48184"/>
                  </a:lnTo>
                  <a:lnTo>
                    <a:pt x="6716" y="72692"/>
                  </a:lnTo>
                  <a:lnTo>
                    <a:pt x="1967" y="79380"/>
                  </a:lnTo>
                  <a:lnTo>
                    <a:pt x="0" y="85149"/>
                  </a:lnTo>
                  <a:close/>
                </a:path>
                <a:path w="2846070" h="85725">
                  <a:moveTo>
                    <a:pt x="2845671" y="85150"/>
                  </a:moveTo>
                  <a:lnTo>
                    <a:pt x="2818669" y="54982"/>
                  </a:lnTo>
                  <a:lnTo>
                    <a:pt x="2779620" y="41330"/>
                  </a:lnTo>
                  <a:lnTo>
                    <a:pt x="2752496" y="38992"/>
                  </a:lnTo>
                  <a:lnTo>
                    <a:pt x="2828400" y="38992"/>
                  </a:lnTo>
                  <a:lnTo>
                    <a:pt x="2844298" y="75322"/>
                  </a:lnTo>
                  <a:lnTo>
                    <a:pt x="2845633" y="84364"/>
                  </a:lnTo>
                  <a:lnTo>
                    <a:pt x="2845671" y="85150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9" name="object 22">
              <a:extLst>
                <a:ext uri="{FF2B5EF4-FFF2-40B4-BE49-F238E27FC236}">
                  <a16:creationId xmlns:a16="http://schemas.microsoft.com/office/drawing/2014/main" id="{DEF23DDA-5558-45B5-8670-8B966631AC3B}"/>
                </a:ext>
              </a:extLst>
            </p:cNvPr>
            <p:cNvSpPr/>
            <p:nvPr/>
          </p:nvSpPr>
          <p:spPr>
            <a:xfrm>
              <a:off x="2091478" y="2440624"/>
              <a:ext cx="325017" cy="475590"/>
            </a:xfrm>
            <a:custGeom>
              <a:avLst/>
              <a:gdLst/>
              <a:ahLst/>
              <a:cxnLst/>
              <a:rect l="l" t="t" r="r" b="b"/>
              <a:pathLst>
                <a:path w="467994" h="467994">
                  <a:moveTo>
                    <a:pt x="241620" y="467915"/>
                  </a:moveTo>
                  <a:lnTo>
                    <a:pt x="226295" y="467915"/>
                  </a:lnTo>
                  <a:lnTo>
                    <a:pt x="218651" y="467539"/>
                  </a:lnTo>
                  <a:lnTo>
                    <a:pt x="180799" y="461925"/>
                  </a:lnTo>
                  <a:lnTo>
                    <a:pt x="137346" y="447173"/>
                  </a:lnTo>
                  <a:lnTo>
                    <a:pt x="97606" y="424229"/>
                  </a:lnTo>
                  <a:lnTo>
                    <a:pt x="63106" y="393972"/>
                  </a:lnTo>
                  <a:lnTo>
                    <a:pt x="35172" y="357566"/>
                  </a:lnTo>
                  <a:lnTo>
                    <a:pt x="14876" y="316410"/>
                  </a:lnTo>
                  <a:lnTo>
                    <a:pt x="3000" y="272085"/>
                  </a:lnTo>
                  <a:lnTo>
                    <a:pt x="0" y="241620"/>
                  </a:lnTo>
                  <a:lnTo>
                    <a:pt x="0" y="226295"/>
                  </a:lnTo>
                  <a:lnTo>
                    <a:pt x="5990" y="180799"/>
                  </a:lnTo>
                  <a:lnTo>
                    <a:pt x="20741" y="137346"/>
                  </a:lnTo>
                  <a:lnTo>
                    <a:pt x="43686" y="97606"/>
                  </a:lnTo>
                  <a:lnTo>
                    <a:pt x="73942" y="63106"/>
                  </a:lnTo>
                  <a:lnTo>
                    <a:pt x="110348" y="35171"/>
                  </a:lnTo>
                  <a:lnTo>
                    <a:pt x="151505" y="14876"/>
                  </a:lnTo>
                  <a:lnTo>
                    <a:pt x="195830" y="3000"/>
                  </a:lnTo>
                  <a:lnTo>
                    <a:pt x="226295" y="0"/>
                  </a:lnTo>
                  <a:lnTo>
                    <a:pt x="241620" y="0"/>
                  </a:lnTo>
                  <a:lnTo>
                    <a:pt x="287115" y="5990"/>
                  </a:lnTo>
                  <a:lnTo>
                    <a:pt x="330568" y="20740"/>
                  </a:lnTo>
                  <a:lnTo>
                    <a:pt x="370308" y="43685"/>
                  </a:lnTo>
                  <a:lnTo>
                    <a:pt x="404809" y="73942"/>
                  </a:lnTo>
                  <a:lnTo>
                    <a:pt x="432743" y="110348"/>
                  </a:lnTo>
                  <a:lnTo>
                    <a:pt x="453038" y="151504"/>
                  </a:lnTo>
                  <a:lnTo>
                    <a:pt x="464915" y="195829"/>
                  </a:lnTo>
                  <a:lnTo>
                    <a:pt x="467915" y="226295"/>
                  </a:lnTo>
                  <a:lnTo>
                    <a:pt x="467915" y="233957"/>
                  </a:lnTo>
                  <a:lnTo>
                    <a:pt x="467915" y="241620"/>
                  </a:lnTo>
                  <a:lnTo>
                    <a:pt x="461925" y="287115"/>
                  </a:lnTo>
                  <a:lnTo>
                    <a:pt x="447174" y="330568"/>
                  </a:lnTo>
                  <a:lnTo>
                    <a:pt x="424229" y="370308"/>
                  </a:lnTo>
                  <a:lnTo>
                    <a:pt x="393972" y="404808"/>
                  </a:lnTo>
                  <a:lnTo>
                    <a:pt x="357566" y="432743"/>
                  </a:lnTo>
                  <a:lnTo>
                    <a:pt x="316410" y="453038"/>
                  </a:lnTo>
                  <a:lnTo>
                    <a:pt x="272085" y="464914"/>
                  </a:lnTo>
                  <a:lnTo>
                    <a:pt x="249264" y="467539"/>
                  </a:lnTo>
                  <a:lnTo>
                    <a:pt x="241620" y="467915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110" name="object 23">
              <a:extLst>
                <a:ext uri="{FF2B5EF4-FFF2-40B4-BE49-F238E27FC236}">
                  <a16:creationId xmlns:a16="http://schemas.microsoft.com/office/drawing/2014/main" id="{2C77D1C0-14A7-456C-8B3A-5623DAE68D7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63919" y="2595548"/>
              <a:ext cx="184149" cy="155574"/>
            </a:xfrm>
            <a:prstGeom prst="rect">
              <a:avLst/>
            </a:prstGeom>
          </p:spPr>
        </p:pic>
      </p:grpSp>
      <p:sp>
        <p:nvSpPr>
          <p:cNvPr id="76" name="object 26">
            <a:extLst>
              <a:ext uri="{FF2B5EF4-FFF2-40B4-BE49-F238E27FC236}">
                <a16:creationId xmlns:a16="http://schemas.microsoft.com/office/drawing/2014/main" id="{F86FEDF3-48A6-4B72-B4DD-45DE72E656CD}"/>
              </a:ext>
            </a:extLst>
          </p:cNvPr>
          <p:cNvSpPr txBox="1"/>
          <p:nvPr/>
        </p:nvSpPr>
        <p:spPr>
          <a:xfrm>
            <a:off x="3018253" y="1388567"/>
            <a:ext cx="974044" cy="8486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1050" b="1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전체 등록 결함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77" name="object 27">
            <a:extLst>
              <a:ext uri="{FF2B5EF4-FFF2-40B4-BE49-F238E27FC236}">
                <a16:creationId xmlns:a16="http://schemas.microsoft.com/office/drawing/2014/main" id="{3A5D0324-53EC-41FC-AC32-63C7A57A23A2}"/>
              </a:ext>
            </a:extLst>
          </p:cNvPr>
          <p:cNvSpPr txBox="1"/>
          <p:nvPr/>
        </p:nvSpPr>
        <p:spPr>
          <a:xfrm>
            <a:off x="3020088" y="1541571"/>
            <a:ext cx="1050576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b="1" spc="15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25</a:t>
            </a:r>
            <a:r>
              <a:rPr b="1" spc="26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8</a:t>
            </a:r>
            <a:r>
              <a:rPr sz="1050" spc="-9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grpSp>
        <p:nvGrpSpPr>
          <p:cNvPr id="78" name="object 28">
            <a:extLst>
              <a:ext uri="{FF2B5EF4-FFF2-40B4-BE49-F238E27FC236}">
                <a16:creationId xmlns:a16="http://schemas.microsoft.com/office/drawing/2014/main" id="{5B4D3019-553C-4028-AF6A-3B8E89D9A6DB}"/>
              </a:ext>
            </a:extLst>
          </p:cNvPr>
          <p:cNvGrpSpPr/>
          <p:nvPr/>
        </p:nvGrpSpPr>
        <p:grpSpPr>
          <a:xfrm>
            <a:off x="4673555" y="993292"/>
            <a:ext cx="2413710" cy="1391392"/>
            <a:chOff x="3794759" y="2100362"/>
            <a:chExt cx="3108960" cy="2880577"/>
          </a:xfrm>
        </p:grpSpPr>
        <p:sp>
          <p:nvSpPr>
            <p:cNvPr id="99" name="object 29">
              <a:extLst>
                <a:ext uri="{FF2B5EF4-FFF2-40B4-BE49-F238E27FC236}">
                  <a16:creationId xmlns:a16="http://schemas.microsoft.com/office/drawing/2014/main" id="{D60F49E8-23FD-4707-BF80-8ADAD0DB555C}"/>
                </a:ext>
              </a:extLst>
            </p:cNvPr>
            <p:cNvSpPr/>
            <p:nvPr/>
          </p:nvSpPr>
          <p:spPr>
            <a:xfrm>
              <a:off x="3816095" y="2124455"/>
              <a:ext cx="3066415" cy="2816860"/>
            </a:xfrm>
            <a:custGeom>
              <a:avLst/>
              <a:gdLst/>
              <a:ahLst/>
              <a:cxnLst/>
              <a:rect l="l" t="t" r="r" b="b"/>
              <a:pathLst>
                <a:path w="3066415" h="2816860">
                  <a:moveTo>
                    <a:pt x="3066288" y="2816352"/>
                  </a:moveTo>
                  <a:lnTo>
                    <a:pt x="0" y="2816352"/>
                  </a:lnTo>
                  <a:lnTo>
                    <a:pt x="0" y="0"/>
                  </a:lnTo>
                  <a:lnTo>
                    <a:pt x="3066288" y="0"/>
                  </a:lnTo>
                  <a:lnTo>
                    <a:pt x="3066288" y="28636"/>
                  </a:lnTo>
                  <a:lnTo>
                    <a:pt x="136847" y="28636"/>
                  </a:lnTo>
                  <a:lnTo>
                    <a:pt x="127974" y="29064"/>
                  </a:lnTo>
                  <a:lnTo>
                    <a:pt x="86796" y="43802"/>
                  </a:lnTo>
                  <a:lnTo>
                    <a:pt x="57421" y="76206"/>
                  </a:lnTo>
                  <a:lnTo>
                    <a:pt x="46774" y="118710"/>
                  </a:lnTo>
                  <a:lnTo>
                    <a:pt x="46774" y="2665340"/>
                  </a:lnTo>
                  <a:lnTo>
                    <a:pt x="57421" y="2707844"/>
                  </a:lnTo>
                  <a:lnTo>
                    <a:pt x="86796" y="2740248"/>
                  </a:lnTo>
                  <a:lnTo>
                    <a:pt x="127974" y="2754985"/>
                  </a:lnTo>
                  <a:lnTo>
                    <a:pt x="136847" y="2755414"/>
                  </a:lnTo>
                  <a:lnTo>
                    <a:pt x="3066288" y="2755414"/>
                  </a:lnTo>
                  <a:lnTo>
                    <a:pt x="3066288" y="2816352"/>
                  </a:lnTo>
                  <a:close/>
                </a:path>
                <a:path w="3066415" h="2816860">
                  <a:moveTo>
                    <a:pt x="3066288" y="2755414"/>
                  </a:moveTo>
                  <a:lnTo>
                    <a:pt x="2929133" y="2755414"/>
                  </a:lnTo>
                  <a:lnTo>
                    <a:pt x="2938007" y="2754985"/>
                  </a:lnTo>
                  <a:lnTo>
                    <a:pt x="2946709" y="2753700"/>
                  </a:lnTo>
                  <a:lnTo>
                    <a:pt x="2986248" y="2735003"/>
                  </a:lnTo>
                  <a:lnTo>
                    <a:pt x="3012350" y="2699810"/>
                  </a:lnTo>
                  <a:lnTo>
                    <a:pt x="3019207" y="2665340"/>
                  </a:lnTo>
                  <a:lnTo>
                    <a:pt x="3019207" y="118710"/>
                  </a:lnTo>
                  <a:lnTo>
                    <a:pt x="3008559" y="76206"/>
                  </a:lnTo>
                  <a:lnTo>
                    <a:pt x="2979185" y="43802"/>
                  </a:lnTo>
                  <a:lnTo>
                    <a:pt x="2938007" y="29064"/>
                  </a:lnTo>
                  <a:lnTo>
                    <a:pt x="2929133" y="28636"/>
                  </a:lnTo>
                  <a:lnTo>
                    <a:pt x="3066288" y="28636"/>
                  </a:lnTo>
                  <a:lnTo>
                    <a:pt x="3066288" y="2755414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0" name="object 30">
              <a:extLst>
                <a:ext uri="{FF2B5EF4-FFF2-40B4-BE49-F238E27FC236}">
                  <a16:creationId xmlns:a16="http://schemas.microsoft.com/office/drawing/2014/main" id="{65BDE254-7E05-4D82-9A79-3FDD85FF702C}"/>
                </a:ext>
              </a:extLst>
            </p:cNvPr>
            <p:cNvSpPr/>
            <p:nvPr/>
          </p:nvSpPr>
          <p:spPr>
            <a:xfrm>
              <a:off x="3794759" y="2118359"/>
              <a:ext cx="3108960" cy="2862580"/>
            </a:xfrm>
            <a:custGeom>
              <a:avLst/>
              <a:gdLst/>
              <a:ahLst/>
              <a:cxnLst/>
              <a:rect l="l" t="t" r="r" b="b"/>
              <a:pathLst>
                <a:path w="3108959" h="2862579">
                  <a:moveTo>
                    <a:pt x="3108960" y="2862072"/>
                  </a:moveTo>
                  <a:lnTo>
                    <a:pt x="0" y="2862072"/>
                  </a:lnTo>
                  <a:lnTo>
                    <a:pt x="0" y="0"/>
                  </a:lnTo>
                  <a:lnTo>
                    <a:pt x="3108960" y="0"/>
                  </a:lnTo>
                  <a:lnTo>
                    <a:pt x="3108960" y="34732"/>
                  </a:lnTo>
                  <a:lnTo>
                    <a:pt x="158183" y="34732"/>
                  </a:lnTo>
                  <a:lnTo>
                    <a:pt x="149310" y="35160"/>
                  </a:lnTo>
                  <a:lnTo>
                    <a:pt x="108132" y="49898"/>
                  </a:lnTo>
                  <a:lnTo>
                    <a:pt x="78757" y="82302"/>
                  </a:lnTo>
                  <a:lnTo>
                    <a:pt x="68110" y="124806"/>
                  </a:lnTo>
                  <a:lnTo>
                    <a:pt x="68110" y="2671436"/>
                  </a:lnTo>
                  <a:lnTo>
                    <a:pt x="78757" y="2713940"/>
                  </a:lnTo>
                  <a:lnTo>
                    <a:pt x="108132" y="2746344"/>
                  </a:lnTo>
                  <a:lnTo>
                    <a:pt x="149310" y="2761081"/>
                  </a:lnTo>
                  <a:lnTo>
                    <a:pt x="158183" y="2761510"/>
                  </a:lnTo>
                  <a:lnTo>
                    <a:pt x="3108960" y="2761510"/>
                  </a:lnTo>
                  <a:lnTo>
                    <a:pt x="3108960" y="2862072"/>
                  </a:lnTo>
                  <a:close/>
                </a:path>
                <a:path w="3108959" h="2862579">
                  <a:moveTo>
                    <a:pt x="3108960" y="2761510"/>
                  </a:moveTo>
                  <a:lnTo>
                    <a:pt x="2950469" y="2761510"/>
                  </a:lnTo>
                  <a:lnTo>
                    <a:pt x="2959343" y="2761081"/>
                  </a:lnTo>
                  <a:lnTo>
                    <a:pt x="2968045" y="2759796"/>
                  </a:lnTo>
                  <a:lnTo>
                    <a:pt x="3007584" y="2741099"/>
                  </a:lnTo>
                  <a:lnTo>
                    <a:pt x="3033686" y="2705906"/>
                  </a:lnTo>
                  <a:lnTo>
                    <a:pt x="3040543" y="2671436"/>
                  </a:lnTo>
                  <a:lnTo>
                    <a:pt x="3040543" y="124806"/>
                  </a:lnTo>
                  <a:lnTo>
                    <a:pt x="3029895" y="82302"/>
                  </a:lnTo>
                  <a:lnTo>
                    <a:pt x="3000521" y="49898"/>
                  </a:lnTo>
                  <a:lnTo>
                    <a:pt x="2959343" y="35160"/>
                  </a:lnTo>
                  <a:lnTo>
                    <a:pt x="2950469" y="34732"/>
                  </a:lnTo>
                  <a:lnTo>
                    <a:pt x="3108960" y="34732"/>
                  </a:lnTo>
                  <a:lnTo>
                    <a:pt x="3108960" y="2761510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1" name="object 31">
              <a:extLst>
                <a:ext uri="{FF2B5EF4-FFF2-40B4-BE49-F238E27FC236}">
                  <a16:creationId xmlns:a16="http://schemas.microsoft.com/office/drawing/2014/main" id="{CD5C2031-E0C8-4EDD-8C9C-445B12DD0477}"/>
                </a:ext>
              </a:extLst>
            </p:cNvPr>
            <p:cNvSpPr/>
            <p:nvPr/>
          </p:nvSpPr>
          <p:spPr>
            <a:xfrm>
              <a:off x="3909331" y="2100362"/>
              <a:ext cx="2988945" cy="2722880"/>
            </a:xfrm>
            <a:custGeom>
              <a:avLst/>
              <a:gdLst/>
              <a:ahLst/>
              <a:cxnLst/>
              <a:rect l="l" t="t" r="r" b="b"/>
              <a:pathLst>
                <a:path w="2988945" h="2722879">
                  <a:moveTo>
                    <a:pt x="2897000" y="2722683"/>
                  </a:moveTo>
                  <a:lnTo>
                    <a:pt x="91810" y="2722683"/>
                  </a:lnTo>
                  <a:lnTo>
                    <a:pt x="85420" y="2722054"/>
                  </a:lnTo>
                  <a:lnTo>
                    <a:pt x="49035" y="2709707"/>
                  </a:lnTo>
                  <a:lnTo>
                    <a:pt x="20144" y="2684377"/>
                  </a:lnTo>
                  <a:lnTo>
                    <a:pt x="3146" y="2649919"/>
                  </a:lnTo>
                  <a:lnTo>
                    <a:pt x="0" y="2630873"/>
                  </a:lnTo>
                  <a:lnTo>
                    <a:pt x="0" y="2624421"/>
                  </a:lnTo>
                  <a:lnTo>
                    <a:pt x="0" y="72683"/>
                  </a:lnTo>
                  <a:lnTo>
                    <a:pt x="20144" y="30325"/>
                  </a:lnTo>
                  <a:lnTo>
                    <a:pt x="54698" y="7876"/>
                  </a:lnTo>
                  <a:lnTo>
                    <a:pt x="91810" y="0"/>
                  </a:lnTo>
                  <a:lnTo>
                    <a:pt x="2897000" y="0"/>
                  </a:lnTo>
                  <a:lnTo>
                    <a:pt x="2939775" y="10272"/>
                  </a:lnTo>
                  <a:lnTo>
                    <a:pt x="2975834" y="38819"/>
                  </a:lnTo>
                  <a:lnTo>
                    <a:pt x="2988810" y="72683"/>
                  </a:lnTo>
                  <a:lnTo>
                    <a:pt x="2988810" y="2630873"/>
                  </a:lnTo>
                  <a:lnTo>
                    <a:pt x="2978861" y="2667984"/>
                  </a:lnTo>
                  <a:lnTo>
                    <a:pt x="2955467" y="2698465"/>
                  </a:lnTo>
                  <a:lnTo>
                    <a:pt x="2922190" y="2717672"/>
                  </a:lnTo>
                  <a:lnTo>
                    <a:pt x="2903390" y="2722054"/>
                  </a:lnTo>
                  <a:lnTo>
                    <a:pt x="2897000" y="2722683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2" name="object 32">
              <a:extLst>
                <a:ext uri="{FF2B5EF4-FFF2-40B4-BE49-F238E27FC236}">
                  <a16:creationId xmlns:a16="http://schemas.microsoft.com/office/drawing/2014/main" id="{07C55F55-0E36-42BE-9F8C-12BAAFF338AC}"/>
                </a:ext>
              </a:extLst>
            </p:cNvPr>
            <p:cNvSpPr/>
            <p:nvPr/>
          </p:nvSpPr>
          <p:spPr>
            <a:xfrm>
              <a:off x="3855109" y="2144903"/>
              <a:ext cx="2988310" cy="89535"/>
            </a:xfrm>
            <a:custGeom>
              <a:avLst/>
              <a:gdLst/>
              <a:ahLst/>
              <a:cxnLst/>
              <a:rect l="l" t="t" r="r" b="b"/>
              <a:pathLst>
                <a:path w="2988309" h="89535">
                  <a:moveTo>
                    <a:pt x="0" y="89407"/>
                  </a:moveTo>
                  <a:lnTo>
                    <a:pt x="11188" y="51894"/>
                  </a:lnTo>
                  <a:lnTo>
                    <a:pt x="35527" y="22266"/>
                  </a:lnTo>
                  <a:lnTo>
                    <a:pt x="69353" y="4207"/>
                  </a:lnTo>
                  <a:lnTo>
                    <a:pt x="97834" y="0"/>
                  </a:lnTo>
                  <a:lnTo>
                    <a:pt x="2890120" y="0"/>
                  </a:lnTo>
                  <a:lnTo>
                    <a:pt x="2927723" y="7479"/>
                  </a:lnTo>
                  <a:lnTo>
                    <a:pt x="2959602" y="28780"/>
                  </a:lnTo>
                  <a:lnTo>
                    <a:pt x="2969819" y="40942"/>
                  </a:lnTo>
                  <a:lnTo>
                    <a:pt x="97834" y="40942"/>
                  </a:lnTo>
                  <a:lnTo>
                    <a:pt x="88154" y="41215"/>
                  </a:lnTo>
                  <a:lnTo>
                    <a:pt x="43232" y="50593"/>
                  </a:lnTo>
                  <a:lnTo>
                    <a:pt x="11188" y="71214"/>
                  </a:lnTo>
                  <a:lnTo>
                    <a:pt x="2065" y="83349"/>
                  </a:lnTo>
                  <a:lnTo>
                    <a:pt x="0" y="89407"/>
                  </a:lnTo>
                  <a:close/>
                </a:path>
                <a:path w="2988309" h="89535">
                  <a:moveTo>
                    <a:pt x="2987955" y="89407"/>
                  </a:moveTo>
                  <a:lnTo>
                    <a:pt x="2959602" y="57731"/>
                  </a:lnTo>
                  <a:lnTo>
                    <a:pt x="2918602" y="43396"/>
                  </a:lnTo>
                  <a:lnTo>
                    <a:pt x="2890120" y="40942"/>
                  </a:lnTo>
                  <a:lnTo>
                    <a:pt x="2969819" y="40942"/>
                  </a:lnTo>
                  <a:lnTo>
                    <a:pt x="2986513" y="79088"/>
                  </a:lnTo>
                  <a:lnTo>
                    <a:pt x="2987915" y="88582"/>
                  </a:lnTo>
                  <a:lnTo>
                    <a:pt x="2987955" y="89407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03" name="object 33">
              <a:extLst>
                <a:ext uri="{FF2B5EF4-FFF2-40B4-BE49-F238E27FC236}">
                  <a16:creationId xmlns:a16="http://schemas.microsoft.com/office/drawing/2014/main" id="{5ECE2732-039B-4490-9FFB-8AD72AEA6EC8}"/>
                </a:ext>
              </a:extLst>
            </p:cNvPr>
            <p:cNvSpPr/>
            <p:nvPr/>
          </p:nvSpPr>
          <p:spPr>
            <a:xfrm>
              <a:off x="5153146" y="2462507"/>
              <a:ext cx="383718" cy="443396"/>
            </a:xfrm>
            <a:custGeom>
              <a:avLst/>
              <a:gdLst/>
              <a:ahLst/>
              <a:cxnLst/>
              <a:rect l="l" t="t" r="r" b="b"/>
              <a:pathLst>
                <a:path w="491489" h="491489">
                  <a:moveTo>
                    <a:pt x="253701" y="491311"/>
                  </a:moveTo>
                  <a:lnTo>
                    <a:pt x="237610" y="491311"/>
                  </a:lnTo>
                  <a:lnTo>
                    <a:pt x="229583" y="490917"/>
                  </a:lnTo>
                  <a:lnTo>
                    <a:pt x="189839" y="485021"/>
                  </a:lnTo>
                  <a:lnTo>
                    <a:pt x="144213" y="469533"/>
                  </a:lnTo>
                  <a:lnTo>
                    <a:pt x="102486" y="445440"/>
                  </a:lnTo>
                  <a:lnTo>
                    <a:pt x="66261" y="413671"/>
                  </a:lnTo>
                  <a:lnTo>
                    <a:pt x="36930" y="375444"/>
                  </a:lnTo>
                  <a:lnTo>
                    <a:pt x="15620" y="332230"/>
                  </a:lnTo>
                  <a:lnTo>
                    <a:pt x="3150" y="285689"/>
                  </a:lnTo>
                  <a:lnTo>
                    <a:pt x="0" y="253701"/>
                  </a:lnTo>
                  <a:lnTo>
                    <a:pt x="0" y="237610"/>
                  </a:lnTo>
                  <a:lnTo>
                    <a:pt x="6289" y="189839"/>
                  </a:lnTo>
                  <a:lnTo>
                    <a:pt x="21778" y="144214"/>
                  </a:lnTo>
                  <a:lnTo>
                    <a:pt x="45870" y="102487"/>
                  </a:lnTo>
                  <a:lnTo>
                    <a:pt x="77639" y="66261"/>
                  </a:lnTo>
                  <a:lnTo>
                    <a:pt x="115866" y="36930"/>
                  </a:lnTo>
                  <a:lnTo>
                    <a:pt x="159080" y="15620"/>
                  </a:lnTo>
                  <a:lnTo>
                    <a:pt x="205621" y="3150"/>
                  </a:lnTo>
                  <a:lnTo>
                    <a:pt x="237610" y="0"/>
                  </a:lnTo>
                  <a:lnTo>
                    <a:pt x="253701" y="0"/>
                  </a:lnTo>
                  <a:lnTo>
                    <a:pt x="301471" y="6289"/>
                  </a:lnTo>
                  <a:lnTo>
                    <a:pt x="347096" y="21778"/>
                  </a:lnTo>
                  <a:lnTo>
                    <a:pt x="388824" y="45870"/>
                  </a:lnTo>
                  <a:lnTo>
                    <a:pt x="425049" y="77639"/>
                  </a:lnTo>
                  <a:lnTo>
                    <a:pt x="454380" y="115866"/>
                  </a:lnTo>
                  <a:lnTo>
                    <a:pt x="475690" y="159080"/>
                  </a:lnTo>
                  <a:lnTo>
                    <a:pt x="488160" y="205621"/>
                  </a:lnTo>
                  <a:lnTo>
                    <a:pt x="491311" y="245655"/>
                  </a:lnTo>
                  <a:lnTo>
                    <a:pt x="491311" y="253701"/>
                  </a:lnTo>
                  <a:lnTo>
                    <a:pt x="485021" y="301471"/>
                  </a:lnTo>
                  <a:lnTo>
                    <a:pt x="469532" y="347097"/>
                  </a:lnTo>
                  <a:lnTo>
                    <a:pt x="445440" y="388824"/>
                  </a:lnTo>
                  <a:lnTo>
                    <a:pt x="413671" y="425049"/>
                  </a:lnTo>
                  <a:lnTo>
                    <a:pt x="375444" y="454380"/>
                  </a:lnTo>
                  <a:lnTo>
                    <a:pt x="332230" y="475690"/>
                  </a:lnTo>
                  <a:lnTo>
                    <a:pt x="285689" y="488160"/>
                  </a:lnTo>
                  <a:lnTo>
                    <a:pt x="253701" y="491311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104" name="object 34">
              <a:extLst>
                <a:ext uri="{FF2B5EF4-FFF2-40B4-BE49-F238E27FC236}">
                  <a16:creationId xmlns:a16="http://schemas.microsoft.com/office/drawing/2014/main" id="{378C6821-5585-4E21-929B-293B760702F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48928" y="2588929"/>
              <a:ext cx="203199" cy="174624"/>
            </a:xfrm>
            <a:prstGeom prst="rect">
              <a:avLst/>
            </a:prstGeom>
          </p:spPr>
        </p:pic>
      </p:grpSp>
      <p:sp>
        <p:nvSpPr>
          <p:cNvPr id="79" name="object 35">
            <a:extLst>
              <a:ext uri="{FF2B5EF4-FFF2-40B4-BE49-F238E27FC236}">
                <a16:creationId xmlns:a16="http://schemas.microsoft.com/office/drawing/2014/main" id="{6131B8B3-4FDC-4F7E-858C-65AA445300A1}"/>
              </a:ext>
            </a:extLst>
          </p:cNvPr>
          <p:cNvSpPr txBox="1"/>
          <p:nvPr/>
        </p:nvSpPr>
        <p:spPr>
          <a:xfrm>
            <a:off x="5298967" y="1398841"/>
            <a:ext cx="2119397" cy="864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b="1" spc="-7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유효</a:t>
            </a:r>
            <a:r>
              <a:rPr sz="1050" b="1" spc="-65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sz="1050" b="1" spc="-7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결함</a:t>
            </a:r>
            <a:r>
              <a:rPr sz="1050" b="1" spc="-65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sz="1050" b="1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(</a:t>
            </a:r>
            <a:r>
              <a:rPr sz="1050" b="1" spc="-2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AC</a:t>
            </a:r>
            <a:r>
              <a:rPr sz="1050" b="1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TION</a:t>
            </a:r>
            <a:r>
              <a:rPr sz="1050" b="1" spc="45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sz="1050" b="1" spc="-50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</a:t>
            </a:r>
            <a:r>
              <a:rPr sz="1050" b="1" dirty="0">
                <a:solidFill>
                  <a:srgbClr val="B91B1B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ARGET)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grpSp>
        <p:nvGrpSpPr>
          <p:cNvPr id="80" name="object 36">
            <a:extLst>
              <a:ext uri="{FF2B5EF4-FFF2-40B4-BE49-F238E27FC236}">
                <a16:creationId xmlns:a16="http://schemas.microsoft.com/office/drawing/2014/main" id="{2AA076C0-0BA0-4A77-B707-A80315F73ECD}"/>
              </a:ext>
            </a:extLst>
          </p:cNvPr>
          <p:cNvGrpSpPr/>
          <p:nvPr/>
        </p:nvGrpSpPr>
        <p:grpSpPr>
          <a:xfrm>
            <a:off x="5518045" y="1835541"/>
            <a:ext cx="845952" cy="238595"/>
            <a:chOff x="6489254" y="509062"/>
            <a:chExt cx="868045" cy="447442"/>
          </a:xfrm>
        </p:grpSpPr>
        <p:sp>
          <p:nvSpPr>
            <p:cNvPr id="97" name="object 37">
              <a:extLst>
                <a:ext uri="{FF2B5EF4-FFF2-40B4-BE49-F238E27FC236}">
                  <a16:creationId xmlns:a16="http://schemas.microsoft.com/office/drawing/2014/main" id="{F3785861-0868-420F-905D-9CA370D1E214}"/>
                </a:ext>
              </a:extLst>
            </p:cNvPr>
            <p:cNvSpPr/>
            <p:nvPr/>
          </p:nvSpPr>
          <p:spPr>
            <a:xfrm>
              <a:off x="6489254" y="523005"/>
              <a:ext cx="868045" cy="433499"/>
            </a:xfrm>
            <a:custGeom>
              <a:avLst/>
              <a:gdLst/>
              <a:ahLst/>
              <a:cxnLst/>
              <a:rect l="l" t="t" r="r" b="b"/>
              <a:pathLst>
                <a:path w="868045" h="237489">
                  <a:moveTo>
                    <a:pt x="757045" y="237467"/>
                  </a:moveTo>
                  <a:lnTo>
                    <a:pt x="110937" y="237467"/>
                  </a:lnTo>
                  <a:lnTo>
                    <a:pt x="103216" y="236706"/>
                  </a:lnTo>
                  <a:lnTo>
                    <a:pt x="66093" y="225445"/>
                  </a:lnTo>
                  <a:lnTo>
                    <a:pt x="29263" y="197177"/>
                  </a:lnTo>
                  <a:lnTo>
                    <a:pt x="6054" y="156968"/>
                  </a:lnTo>
                  <a:lnTo>
                    <a:pt x="0" y="126529"/>
                  </a:lnTo>
                  <a:lnTo>
                    <a:pt x="0" y="118733"/>
                  </a:lnTo>
                  <a:lnTo>
                    <a:pt x="0" y="110937"/>
                  </a:lnTo>
                  <a:lnTo>
                    <a:pt x="12021" y="66093"/>
                  </a:lnTo>
                  <a:lnTo>
                    <a:pt x="40288" y="29263"/>
                  </a:lnTo>
                  <a:lnTo>
                    <a:pt x="80498" y="6054"/>
                  </a:lnTo>
                  <a:lnTo>
                    <a:pt x="110937" y="0"/>
                  </a:lnTo>
                  <a:lnTo>
                    <a:pt x="757045" y="0"/>
                  </a:lnTo>
                  <a:lnTo>
                    <a:pt x="801889" y="12021"/>
                  </a:lnTo>
                  <a:lnTo>
                    <a:pt x="838719" y="40288"/>
                  </a:lnTo>
                  <a:lnTo>
                    <a:pt x="861928" y="80498"/>
                  </a:lnTo>
                  <a:lnTo>
                    <a:pt x="867983" y="110937"/>
                  </a:lnTo>
                  <a:lnTo>
                    <a:pt x="867983" y="126529"/>
                  </a:lnTo>
                  <a:lnTo>
                    <a:pt x="855961" y="171373"/>
                  </a:lnTo>
                  <a:lnTo>
                    <a:pt x="827694" y="208203"/>
                  </a:lnTo>
                  <a:lnTo>
                    <a:pt x="787484" y="231412"/>
                  </a:lnTo>
                  <a:lnTo>
                    <a:pt x="764767" y="236706"/>
                  </a:lnTo>
                  <a:lnTo>
                    <a:pt x="757045" y="2374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8" name="object 38">
              <a:extLst>
                <a:ext uri="{FF2B5EF4-FFF2-40B4-BE49-F238E27FC236}">
                  <a16:creationId xmlns:a16="http://schemas.microsoft.com/office/drawing/2014/main" id="{934FE9F1-ACC4-44BB-A901-3B60F627F126}"/>
                </a:ext>
              </a:extLst>
            </p:cNvPr>
            <p:cNvSpPr/>
            <p:nvPr/>
          </p:nvSpPr>
          <p:spPr>
            <a:xfrm>
              <a:off x="6489254" y="509062"/>
              <a:ext cx="868045" cy="433499"/>
            </a:xfrm>
            <a:custGeom>
              <a:avLst/>
              <a:gdLst/>
              <a:ahLst/>
              <a:cxnLst/>
              <a:rect l="l" t="t" r="r" b="b"/>
              <a:pathLst>
                <a:path w="868045" h="237489">
                  <a:moveTo>
                    <a:pt x="0" y="118733"/>
                  </a:moveTo>
                  <a:lnTo>
                    <a:pt x="0" y="110937"/>
                  </a:lnTo>
                  <a:lnTo>
                    <a:pt x="760" y="103216"/>
                  </a:lnTo>
                  <a:lnTo>
                    <a:pt x="12021" y="66093"/>
                  </a:lnTo>
                  <a:lnTo>
                    <a:pt x="20010" y="52768"/>
                  </a:lnTo>
                  <a:lnTo>
                    <a:pt x="24341" y="46286"/>
                  </a:lnTo>
                  <a:lnTo>
                    <a:pt x="29263" y="40288"/>
                  </a:lnTo>
                  <a:lnTo>
                    <a:pt x="34776" y="34776"/>
                  </a:lnTo>
                  <a:lnTo>
                    <a:pt x="40288" y="29263"/>
                  </a:lnTo>
                  <a:lnTo>
                    <a:pt x="73296" y="9037"/>
                  </a:lnTo>
                  <a:lnTo>
                    <a:pt x="110937" y="0"/>
                  </a:lnTo>
                  <a:lnTo>
                    <a:pt x="118733" y="0"/>
                  </a:lnTo>
                  <a:lnTo>
                    <a:pt x="749249" y="0"/>
                  </a:lnTo>
                  <a:lnTo>
                    <a:pt x="757045" y="0"/>
                  </a:lnTo>
                  <a:lnTo>
                    <a:pt x="764767" y="760"/>
                  </a:lnTo>
                  <a:lnTo>
                    <a:pt x="801889" y="12021"/>
                  </a:lnTo>
                  <a:lnTo>
                    <a:pt x="833207" y="34776"/>
                  </a:lnTo>
                  <a:lnTo>
                    <a:pt x="847973" y="52768"/>
                  </a:lnTo>
                  <a:lnTo>
                    <a:pt x="852304" y="59250"/>
                  </a:lnTo>
                  <a:lnTo>
                    <a:pt x="855961" y="66093"/>
                  </a:lnTo>
                  <a:lnTo>
                    <a:pt x="858945" y="73295"/>
                  </a:lnTo>
                  <a:lnTo>
                    <a:pt x="861928" y="80498"/>
                  </a:lnTo>
                  <a:lnTo>
                    <a:pt x="864180" y="87923"/>
                  </a:lnTo>
                  <a:lnTo>
                    <a:pt x="865701" y="95569"/>
                  </a:lnTo>
                  <a:lnTo>
                    <a:pt x="867222" y="103216"/>
                  </a:lnTo>
                  <a:lnTo>
                    <a:pt x="867983" y="110937"/>
                  </a:lnTo>
                  <a:lnTo>
                    <a:pt x="867983" y="118733"/>
                  </a:lnTo>
                  <a:lnTo>
                    <a:pt x="867983" y="126529"/>
                  </a:lnTo>
                  <a:lnTo>
                    <a:pt x="867222" y="134250"/>
                  </a:lnTo>
                  <a:lnTo>
                    <a:pt x="865701" y="141897"/>
                  </a:lnTo>
                  <a:lnTo>
                    <a:pt x="864180" y="149543"/>
                  </a:lnTo>
                  <a:lnTo>
                    <a:pt x="861928" y="156968"/>
                  </a:lnTo>
                  <a:lnTo>
                    <a:pt x="858945" y="164170"/>
                  </a:lnTo>
                  <a:lnTo>
                    <a:pt x="855961" y="171373"/>
                  </a:lnTo>
                  <a:lnTo>
                    <a:pt x="833207" y="202690"/>
                  </a:lnTo>
                  <a:lnTo>
                    <a:pt x="801889" y="225445"/>
                  </a:lnTo>
                  <a:lnTo>
                    <a:pt x="764767" y="236706"/>
                  </a:lnTo>
                  <a:lnTo>
                    <a:pt x="757045" y="237467"/>
                  </a:lnTo>
                  <a:lnTo>
                    <a:pt x="749249" y="237467"/>
                  </a:lnTo>
                  <a:lnTo>
                    <a:pt x="118733" y="237467"/>
                  </a:lnTo>
                  <a:lnTo>
                    <a:pt x="110937" y="237467"/>
                  </a:lnTo>
                  <a:lnTo>
                    <a:pt x="103216" y="236706"/>
                  </a:lnTo>
                  <a:lnTo>
                    <a:pt x="95569" y="235185"/>
                  </a:lnTo>
                  <a:lnTo>
                    <a:pt x="87923" y="233664"/>
                  </a:lnTo>
                  <a:lnTo>
                    <a:pt x="52768" y="217456"/>
                  </a:lnTo>
                  <a:lnTo>
                    <a:pt x="24341" y="191180"/>
                  </a:lnTo>
                  <a:lnTo>
                    <a:pt x="6054" y="156968"/>
                  </a:lnTo>
                  <a:lnTo>
                    <a:pt x="0" y="126529"/>
                  </a:lnTo>
                  <a:lnTo>
                    <a:pt x="0" y="118733"/>
                  </a:lnTo>
                  <a:close/>
                </a:path>
              </a:pathLst>
            </a:custGeom>
            <a:ln w="8188">
              <a:solidFill>
                <a:srgbClr val="FEE2E2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81" name="object 39">
            <a:extLst>
              <a:ext uri="{FF2B5EF4-FFF2-40B4-BE49-F238E27FC236}">
                <a16:creationId xmlns:a16="http://schemas.microsoft.com/office/drawing/2014/main" id="{13288D60-9D18-4ED4-A15C-83A106C8E30D}"/>
              </a:ext>
            </a:extLst>
          </p:cNvPr>
          <p:cNvSpPr txBox="1"/>
          <p:nvPr/>
        </p:nvSpPr>
        <p:spPr>
          <a:xfrm>
            <a:off x="5495272" y="1136294"/>
            <a:ext cx="1056984" cy="696986"/>
          </a:xfrm>
          <a:prstGeom prst="rect">
            <a:avLst/>
          </a:prstGeom>
        </p:spPr>
        <p:txBody>
          <a:bodyPr vert="horz" wrap="square" lIns="0" tIns="415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75"/>
              </a:spcBef>
            </a:pPr>
            <a:r>
              <a:rPr b="1" spc="-1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1</a:t>
            </a:r>
            <a:r>
              <a:rPr lang="en-US" b="1" spc="-1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61</a:t>
            </a:r>
            <a:r>
              <a:rPr sz="1050" spc="-125" dirty="0">
                <a:solidFill>
                  <a:srgbClr val="FBA5A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lang="ko-KR" altLang="en-US" spc="-125" dirty="0">
              <a:solidFill>
                <a:srgbClr val="FBA5A5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2" name="object 40">
            <a:extLst>
              <a:ext uri="{FF2B5EF4-FFF2-40B4-BE49-F238E27FC236}">
                <a16:creationId xmlns:a16="http://schemas.microsoft.com/office/drawing/2014/main" id="{C4616573-FB7D-4A86-9F94-E43C86FFFD12}"/>
              </a:ext>
            </a:extLst>
          </p:cNvPr>
          <p:cNvSpPr txBox="1"/>
          <p:nvPr/>
        </p:nvSpPr>
        <p:spPr>
          <a:xfrm>
            <a:off x="5156590" y="2068981"/>
            <a:ext cx="2047182" cy="1938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marR="5080" indent="-243204">
              <a:lnSpc>
                <a:spcPct val="119400"/>
              </a:lnSpc>
              <a:spcBef>
                <a:spcPts val="100"/>
              </a:spcBef>
            </a:pPr>
            <a:r>
              <a:rPr sz="1050" spc="-7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실제 수정 및 </a:t>
            </a:r>
            <a:r>
              <a:rPr sz="1050" spc="-70" dirty="0" err="1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조치가</a:t>
            </a:r>
            <a:r>
              <a:rPr sz="1050" spc="-7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050" spc="-60" dirty="0" err="1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필요한</a:t>
            </a:r>
            <a:r>
              <a:rPr lang="en-US" sz="1050" spc="-6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050" spc="-7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항목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3" name="object 41">
            <a:extLst>
              <a:ext uri="{FF2B5EF4-FFF2-40B4-BE49-F238E27FC236}">
                <a16:creationId xmlns:a16="http://schemas.microsoft.com/office/drawing/2014/main" id="{AE766909-2FA0-48F7-AEE5-917C25E991B7}"/>
              </a:ext>
            </a:extLst>
          </p:cNvPr>
          <p:cNvSpPr/>
          <p:nvPr/>
        </p:nvSpPr>
        <p:spPr>
          <a:xfrm>
            <a:off x="6409789" y="1034582"/>
            <a:ext cx="631063" cy="102108"/>
          </a:xfrm>
          <a:custGeom>
            <a:avLst/>
            <a:gdLst/>
            <a:ahLst/>
            <a:cxnLst/>
            <a:rect l="l" t="t" r="r" b="b"/>
            <a:pathLst>
              <a:path w="524509" h="196850">
                <a:moveTo>
                  <a:pt x="524065" y="196524"/>
                </a:moveTo>
                <a:lnTo>
                  <a:pt x="61206" y="196524"/>
                </a:lnTo>
                <a:lnTo>
                  <a:pt x="25537" y="183094"/>
                </a:lnTo>
                <a:lnTo>
                  <a:pt x="3340" y="152111"/>
                </a:lnTo>
                <a:lnTo>
                  <a:pt x="0" y="135317"/>
                </a:lnTo>
                <a:lnTo>
                  <a:pt x="0" y="131016"/>
                </a:lnTo>
                <a:lnTo>
                  <a:pt x="0" y="0"/>
                </a:lnTo>
                <a:lnTo>
                  <a:pt x="524065" y="0"/>
                </a:lnTo>
                <a:lnTo>
                  <a:pt x="524065" y="196524"/>
                </a:lnTo>
                <a:close/>
              </a:path>
            </a:pathLst>
          </a:custGeom>
          <a:solidFill>
            <a:srgbClr val="DB2525"/>
          </a:solidFill>
        </p:spPr>
        <p:txBody>
          <a:bodyPr wrap="square" lIns="0" tIns="0" rIns="0" bIns="0" rtlCol="0"/>
          <a:lstStyle/>
          <a:p>
            <a:endParaRPr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4" name="object 42">
            <a:extLst>
              <a:ext uri="{FF2B5EF4-FFF2-40B4-BE49-F238E27FC236}">
                <a16:creationId xmlns:a16="http://schemas.microsoft.com/office/drawing/2014/main" id="{1C29FDD0-C381-4E1E-8901-79EE3A943C26}"/>
              </a:ext>
            </a:extLst>
          </p:cNvPr>
          <p:cNvSpPr txBox="1"/>
          <p:nvPr/>
        </p:nvSpPr>
        <p:spPr>
          <a:xfrm>
            <a:off x="6580022" y="1018606"/>
            <a:ext cx="494742" cy="1384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1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F</a:t>
            </a:r>
            <a:r>
              <a:rPr sz="800" b="1" spc="15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O</a:t>
            </a:r>
            <a:r>
              <a:rPr sz="800" b="1" spc="-15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C</a:t>
            </a:r>
            <a:r>
              <a:rPr sz="800" b="1" spc="5" dirty="0">
                <a:solidFill>
                  <a:srgbClr val="FFFFF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ahoma"/>
              </a:rPr>
              <a:t>US</a:t>
            </a:r>
            <a:endParaRPr sz="9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Tahoma"/>
            </a:endParaRPr>
          </a:p>
        </p:txBody>
      </p:sp>
      <p:grpSp>
        <p:nvGrpSpPr>
          <p:cNvPr id="85" name="object 43">
            <a:extLst>
              <a:ext uri="{FF2B5EF4-FFF2-40B4-BE49-F238E27FC236}">
                <a16:creationId xmlns:a16="http://schemas.microsoft.com/office/drawing/2014/main" id="{B04DE32B-860D-462D-A35D-4730F58A944E}"/>
              </a:ext>
            </a:extLst>
          </p:cNvPr>
          <p:cNvGrpSpPr/>
          <p:nvPr/>
        </p:nvGrpSpPr>
        <p:grpSpPr>
          <a:xfrm>
            <a:off x="7141693" y="1034375"/>
            <a:ext cx="2297856" cy="1316447"/>
            <a:chOff x="6973823" y="2185416"/>
            <a:chExt cx="2959735" cy="2725420"/>
          </a:xfrm>
        </p:grpSpPr>
        <p:sp>
          <p:nvSpPr>
            <p:cNvPr id="91" name="object 44">
              <a:extLst>
                <a:ext uri="{FF2B5EF4-FFF2-40B4-BE49-F238E27FC236}">
                  <a16:creationId xmlns:a16="http://schemas.microsoft.com/office/drawing/2014/main" id="{DC47048F-8B0B-4392-9858-6C91CBB49918}"/>
                </a:ext>
              </a:extLst>
            </p:cNvPr>
            <p:cNvSpPr/>
            <p:nvPr/>
          </p:nvSpPr>
          <p:spPr>
            <a:xfrm>
              <a:off x="6992111" y="2188464"/>
              <a:ext cx="2923540" cy="2688590"/>
            </a:xfrm>
            <a:custGeom>
              <a:avLst/>
              <a:gdLst/>
              <a:ahLst/>
              <a:cxnLst/>
              <a:rect l="l" t="t" r="r" b="b"/>
              <a:pathLst>
                <a:path w="2923540" h="2688590">
                  <a:moveTo>
                    <a:pt x="2923032" y="2688336"/>
                  </a:moveTo>
                  <a:lnTo>
                    <a:pt x="0" y="2688336"/>
                  </a:lnTo>
                  <a:lnTo>
                    <a:pt x="0" y="0"/>
                  </a:lnTo>
                  <a:lnTo>
                    <a:pt x="2923032" y="0"/>
                  </a:lnTo>
                  <a:lnTo>
                    <a:pt x="2923032" y="29551"/>
                  </a:lnTo>
                  <a:lnTo>
                    <a:pt x="131218" y="29551"/>
                  </a:lnTo>
                  <a:lnTo>
                    <a:pt x="122767" y="29959"/>
                  </a:lnTo>
                  <a:lnTo>
                    <a:pt x="83548" y="43995"/>
                  </a:lnTo>
                  <a:lnTo>
                    <a:pt x="55573" y="74856"/>
                  </a:lnTo>
                  <a:lnTo>
                    <a:pt x="45433" y="115336"/>
                  </a:lnTo>
                  <a:lnTo>
                    <a:pt x="45433" y="2540698"/>
                  </a:lnTo>
                  <a:lnTo>
                    <a:pt x="55573" y="2581177"/>
                  </a:lnTo>
                  <a:lnTo>
                    <a:pt x="83548" y="2612038"/>
                  </a:lnTo>
                  <a:lnTo>
                    <a:pt x="122767" y="2626074"/>
                  </a:lnTo>
                  <a:lnTo>
                    <a:pt x="131218" y="2626483"/>
                  </a:lnTo>
                  <a:lnTo>
                    <a:pt x="2923032" y="2626483"/>
                  </a:lnTo>
                  <a:lnTo>
                    <a:pt x="2923032" y="2688336"/>
                  </a:lnTo>
                  <a:close/>
                </a:path>
                <a:path w="2923540" h="2688590">
                  <a:moveTo>
                    <a:pt x="2923032" y="2626483"/>
                  </a:moveTo>
                  <a:lnTo>
                    <a:pt x="2790538" y="2626483"/>
                  </a:lnTo>
                  <a:lnTo>
                    <a:pt x="2798989" y="2626074"/>
                  </a:lnTo>
                  <a:lnTo>
                    <a:pt x="2807277" y="2624850"/>
                  </a:lnTo>
                  <a:lnTo>
                    <a:pt x="2844932" y="2607043"/>
                  </a:lnTo>
                  <a:lnTo>
                    <a:pt x="2869792" y="2573526"/>
                  </a:lnTo>
                  <a:lnTo>
                    <a:pt x="2876323" y="2540698"/>
                  </a:lnTo>
                  <a:lnTo>
                    <a:pt x="2876323" y="115336"/>
                  </a:lnTo>
                  <a:lnTo>
                    <a:pt x="2866181" y="74856"/>
                  </a:lnTo>
                  <a:lnTo>
                    <a:pt x="2838206" y="43995"/>
                  </a:lnTo>
                  <a:lnTo>
                    <a:pt x="2798989" y="29959"/>
                  </a:lnTo>
                  <a:lnTo>
                    <a:pt x="2790538" y="29551"/>
                  </a:lnTo>
                  <a:lnTo>
                    <a:pt x="2923032" y="29551"/>
                  </a:lnTo>
                  <a:lnTo>
                    <a:pt x="2923032" y="2626483"/>
                  </a:lnTo>
                  <a:close/>
                </a:path>
              </a:pathLst>
            </a:custGeom>
            <a:solidFill>
              <a:srgbClr val="000000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2" name="object 45">
              <a:extLst>
                <a:ext uri="{FF2B5EF4-FFF2-40B4-BE49-F238E27FC236}">
                  <a16:creationId xmlns:a16="http://schemas.microsoft.com/office/drawing/2014/main" id="{2CDEA752-D78F-4FC6-9EE3-5C5ABABAF040}"/>
                </a:ext>
              </a:extLst>
            </p:cNvPr>
            <p:cNvSpPr/>
            <p:nvPr/>
          </p:nvSpPr>
          <p:spPr>
            <a:xfrm>
              <a:off x="6973823" y="2185416"/>
              <a:ext cx="2959735" cy="2725420"/>
            </a:xfrm>
            <a:custGeom>
              <a:avLst/>
              <a:gdLst/>
              <a:ahLst/>
              <a:cxnLst/>
              <a:rect l="l" t="t" r="r" b="b"/>
              <a:pathLst>
                <a:path w="2959734" h="2725420">
                  <a:moveTo>
                    <a:pt x="2959608" y="2724912"/>
                  </a:moveTo>
                  <a:lnTo>
                    <a:pt x="0" y="2724912"/>
                  </a:lnTo>
                  <a:lnTo>
                    <a:pt x="0" y="0"/>
                  </a:lnTo>
                  <a:lnTo>
                    <a:pt x="2959608" y="0"/>
                  </a:lnTo>
                  <a:lnTo>
                    <a:pt x="2959608" y="32599"/>
                  </a:lnTo>
                  <a:lnTo>
                    <a:pt x="149506" y="32599"/>
                  </a:lnTo>
                  <a:lnTo>
                    <a:pt x="141055" y="33007"/>
                  </a:lnTo>
                  <a:lnTo>
                    <a:pt x="101836" y="47043"/>
                  </a:lnTo>
                  <a:lnTo>
                    <a:pt x="73861" y="77904"/>
                  </a:lnTo>
                  <a:lnTo>
                    <a:pt x="63721" y="118384"/>
                  </a:lnTo>
                  <a:lnTo>
                    <a:pt x="63721" y="2543746"/>
                  </a:lnTo>
                  <a:lnTo>
                    <a:pt x="73861" y="2584225"/>
                  </a:lnTo>
                  <a:lnTo>
                    <a:pt x="101836" y="2615086"/>
                  </a:lnTo>
                  <a:lnTo>
                    <a:pt x="141055" y="2629122"/>
                  </a:lnTo>
                  <a:lnTo>
                    <a:pt x="149506" y="2629531"/>
                  </a:lnTo>
                  <a:lnTo>
                    <a:pt x="2959608" y="2629531"/>
                  </a:lnTo>
                  <a:lnTo>
                    <a:pt x="2959608" y="2724912"/>
                  </a:lnTo>
                  <a:close/>
                </a:path>
                <a:path w="2959734" h="2725420">
                  <a:moveTo>
                    <a:pt x="2959608" y="2629531"/>
                  </a:moveTo>
                  <a:lnTo>
                    <a:pt x="2808826" y="2629531"/>
                  </a:lnTo>
                  <a:lnTo>
                    <a:pt x="2817277" y="2629122"/>
                  </a:lnTo>
                  <a:lnTo>
                    <a:pt x="2825565" y="2627898"/>
                  </a:lnTo>
                  <a:lnTo>
                    <a:pt x="2863220" y="2610091"/>
                  </a:lnTo>
                  <a:lnTo>
                    <a:pt x="2888080" y="2576574"/>
                  </a:lnTo>
                  <a:lnTo>
                    <a:pt x="2894611" y="2543746"/>
                  </a:lnTo>
                  <a:lnTo>
                    <a:pt x="2894611" y="118384"/>
                  </a:lnTo>
                  <a:lnTo>
                    <a:pt x="2884469" y="77904"/>
                  </a:lnTo>
                  <a:lnTo>
                    <a:pt x="2856494" y="47043"/>
                  </a:lnTo>
                  <a:lnTo>
                    <a:pt x="2817277" y="33007"/>
                  </a:lnTo>
                  <a:lnTo>
                    <a:pt x="2808826" y="32599"/>
                  </a:lnTo>
                  <a:lnTo>
                    <a:pt x="2959608" y="32599"/>
                  </a:lnTo>
                  <a:lnTo>
                    <a:pt x="2959608" y="2629531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3" name="object 46">
              <a:extLst>
                <a:ext uri="{FF2B5EF4-FFF2-40B4-BE49-F238E27FC236}">
                  <a16:creationId xmlns:a16="http://schemas.microsoft.com/office/drawing/2014/main" id="{C25A0518-BE14-472C-92D7-15BC2C6B878F}"/>
                </a:ext>
              </a:extLst>
            </p:cNvPr>
            <p:cNvSpPr/>
            <p:nvPr/>
          </p:nvSpPr>
          <p:spPr>
            <a:xfrm>
              <a:off x="7029746" y="2229713"/>
              <a:ext cx="2846705" cy="2593340"/>
            </a:xfrm>
            <a:custGeom>
              <a:avLst/>
              <a:gdLst/>
              <a:ahLst/>
              <a:cxnLst/>
              <a:rect l="l" t="t" r="r" b="b"/>
              <a:pathLst>
                <a:path w="2846704" h="2593340">
                  <a:moveTo>
                    <a:pt x="2759048" y="2593032"/>
                  </a:moveTo>
                  <a:lnTo>
                    <a:pt x="87439" y="2593032"/>
                  </a:lnTo>
                  <a:lnTo>
                    <a:pt x="81353" y="2592432"/>
                  </a:lnTo>
                  <a:lnTo>
                    <a:pt x="36481" y="2573846"/>
                  </a:lnTo>
                  <a:lnTo>
                    <a:pt x="9474" y="2540938"/>
                  </a:lnTo>
                  <a:lnTo>
                    <a:pt x="0" y="2505593"/>
                  </a:lnTo>
                  <a:lnTo>
                    <a:pt x="0" y="2499449"/>
                  </a:lnTo>
                  <a:lnTo>
                    <a:pt x="0" y="69221"/>
                  </a:lnTo>
                  <a:lnTo>
                    <a:pt x="19184" y="28881"/>
                  </a:lnTo>
                  <a:lnTo>
                    <a:pt x="52093" y="7500"/>
                  </a:lnTo>
                  <a:lnTo>
                    <a:pt x="87439" y="0"/>
                  </a:lnTo>
                  <a:lnTo>
                    <a:pt x="2759048" y="0"/>
                  </a:lnTo>
                  <a:lnTo>
                    <a:pt x="2799786" y="9783"/>
                  </a:lnTo>
                  <a:lnTo>
                    <a:pt x="2834128" y="36970"/>
                  </a:lnTo>
                  <a:lnTo>
                    <a:pt x="2846487" y="69221"/>
                  </a:lnTo>
                  <a:lnTo>
                    <a:pt x="2846487" y="2505593"/>
                  </a:lnTo>
                  <a:lnTo>
                    <a:pt x="2834128" y="2546331"/>
                  </a:lnTo>
                  <a:lnTo>
                    <a:pt x="2799786" y="2580674"/>
                  </a:lnTo>
                  <a:lnTo>
                    <a:pt x="2765134" y="2592432"/>
                  </a:lnTo>
                  <a:lnTo>
                    <a:pt x="2759048" y="25930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4" name="object 47">
              <a:extLst>
                <a:ext uri="{FF2B5EF4-FFF2-40B4-BE49-F238E27FC236}">
                  <a16:creationId xmlns:a16="http://schemas.microsoft.com/office/drawing/2014/main" id="{8BB8ECA4-3B06-4055-83E6-91CBBAACFA15}"/>
                </a:ext>
              </a:extLst>
            </p:cNvPr>
            <p:cNvSpPr/>
            <p:nvPr/>
          </p:nvSpPr>
          <p:spPr>
            <a:xfrm>
              <a:off x="7030154" y="2210217"/>
              <a:ext cx="2846070" cy="85725"/>
            </a:xfrm>
            <a:custGeom>
              <a:avLst/>
              <a:gdLst/>
              <a:ahLst/>
              <a:cxnLst/>
              <a:rect l="l" t="t" r="r" b="b"/>
              <a:pathLst>
                <a:path w="2846070" h="85725">
                  <a:moveTo>
                    <a:pt x="0" y="85147"/>
                  </a:moveTo>
                  <a:lnTo>
                    <a:pt x="15348" y="41581"/>
                  </a:lnTo>
                  <a:lnTo>
                    <a:pt x="49015" y="11062"/>
                  </a:lnTo>
                  <a:lnTo>
                    <a:pt x="93176" y="0"/>
                  </a:lnTo>
                  <a:lnTo>
                    <a:pt x="2752496" y="0"/>
                  </a:lnTo>
                  <a:lnTo>
                    <a:pt x="2796654" y="11062"/>
                  </a:lnTo>
                  <a:lnTo>
                    <a:pt x="2828399" y="38992"/>
                  </a:lnTo>
                  <a:lnTo>
                    <a:pt x="93176" y="38992"/>
                  </a:lnTo>
                  <a:lnTo>
                    <a:pt x="83956" y="39252"/>
                  </a:lnTo>
                  <a:lnTo>
                    <a:pt x="41173" y="48184"/>
                  </a:lnTo>
                  <a:lnTo>
                    <a:pt x="6715" y="72692"/>
                  </a:lnTo>
                  <a:lnTo>
                    <a:pt x="1966" y="79380"/>
                  </a:lnTo>
                  <a:lnTo>
                    <a:pt x="0" y="85147"/>
                  </a:lnTo>
                  <a:close/>
                </a:path>
                <a:path w="2846070" h="85725">
                  <a:moveTo>
                    <a:pt x="2845671" y="85151"/>
                  </a:moveTo>
                  <a:lnTo>
                    <a:pt x="2818668" y="54982"/>
                  </a:lnTo>
                  <a:lnTo>
                    <a:pt x="2779620" y="41330"/>
                  </a:lnTo>
                  <a:lnTo>
                    <a:pt x="2752496" y="38992"/>
                  </a:lnTo>
                  <a:lnTo>
                    <a:pt x="2828399" y="38992"/>
                  </a:lnTo>
                  <a:lnTo>
                    <a:pt x="2844297" y="75322"/>
                  </a:lnTo>
                  <a:lnTo>
                    <a:pt x="2845633" y="84364"/>
                  </a:lnTo>
                  <a:lnTo>
                    <a:pt x="2845671" y="85151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95" name="object 48">
              <a:extLst>
                <a:ext uri="{FF2B5EF4-FFF2-40B4-BE49-F238E27FC236}">
                  <a16:creationId xmlns:a16="http://schemas.microsoft.com/office/drawing/2014/main" id="{7DB8F87A-8D26-4D0F-8A7A-1E2D554DCF13}"/>
                </a:ext>
              </a:extLst>
            </p:cNvPr>
            <p:cNvSpPr/>
            <p:nvPr/>
          </p:nvSpPr>
          <p:spPr>
            <a:xfrm>
              <a:off x="8283563" y="2545179"/>
              <a:ext cx="326397" cy="343628"/>
            </a:xfrm>
            <a:custGeom>
              <a:avLst/>
              <a:gdLst/>
              <a:ahLst/>
              <a:cxnLst/>
              <a:rect l="l" t="t" r="r" b="b"/>
              <a:pathLst>
                <a:path w="467995" h="467994">
                  <a:moveTo>
                    <a:pt x="241620" y="467915"/>
                  </a:moveTo>
                  <a:lnTo>
                    <a:pt x="226295" y="467915"/>
                  </a:lnTo>
                  <a:lnTo>
                    <a:pt x="218651" y="467539"/>
                  </a:lnTo>
                  <a:lnTo>
                    <a:pt x="180798" y="461925"/>
                  </a:lnTo>
                  <a:lnTo>
                    <a:pt x="137345" y="447173"/>
                  </a:lnTo>
                  <a:lnTo>
                    <a:pt x="97606" y="424229"/>
                  </a:lnTo>
                  <a:lnTo>
                    <a:pt x="63106" y="393972"/>
                  </a:lnTo>
                  <a:lnTo>
                    <a:pt x="35170" y="357566"/>
                  </a:lnTo>
                  <a:lnTo>
                    <a:pt x="14875" y="316410"/>
                  </a:lnTo>
                  <a:lnTo>
                    <a:pt x="3000" y="272085"/>
                  </a:lnTo>
                  <a:lnTo>
                    <a:pt x="0" y="241620"/>
                  </a:lnTo>
                  <a:lnTo>
                    <a:pt x="0" y="226295"/>
                  </a:lnTo>
                  <a:lnTo>
                    <a:pt x="5989" y="180799"/>
                  </a:lnTo>
                  <a:lnTo>
                    <a:pt x="20740" y="137346"/>
                  </a:lnTo>
                  <a:lnTo>
                    <a:pt x="43685" y="97606"/>
                  </a:lnTo>
                  <a:lnTo>
                    <a:pt x="73942" y="63106"/>
                  </a:lnTo>
                  <a:lnTo>
                    <a:pt x="110347" y="35171"/>
                  </a:lnTo>
                  <a:lnTo>
                    <a:pt x="151504" y="14876"/>
                  </a:lnTo>
                  <a:lnTo>
                    <a:pt x="195830" y="3000"/>
                  </a:lnTo>
                  <a:lnTo>
                    <a:pt x="226295" y="0"/>
                  </a:lnTo>
                  <a:lnTo>
                    <a:pt x="241620" y="0"/>
                  </a:lnTo>
                  <a:lnTo>
                    <a:pt x="287115" y="5990"/>
                  </a:lnTo>
                  <a:lnTo>
                    <a:pt x="330568" y="20740"/>
                  </a:lnTo>
                  <a:lnTo>
                    <a:pt x="370307" y="43685"/>
                  </a:lnTo>
                  <a:lnTo>
                    <a:pt x="404808" y="73942"/>
                  </a:lnTo>
                  <a:lnTo>
                    <a:pt x="432743" y="110348"/>
                  </a:lnTo>
                  <a:lnTo>
                    <a:pt x="453039" y="151504"/>
                  </a:lnTo>
                  <a:lnTo>
                    <a:pt x="464914" y="195829"/>
                  </a:lnTo>
                  <a:lnTo>
                    <a:pt x="467915" y="233957"/>
                  </a:lnTo>
                  <a:lnTo>
                    <a:pt x="467914" y="241620"/>
                  </a:lnTo>
                  <a:lnTo>
                    <a:pt x="461924" y="287115"/>
                  </a:lnTo>
                  <a:lnTo>
                    <a:pt x="447172" y="330568"/>
                  </a:lnTo>
                  <a:lnTo>
                    <a:pt x="424229" y="370308"/>
                  </a:lnTo>
                  <a:lnTo>
                    <a:pt x="393972" y="404808"/>
                  </a:lnTo>
                  <a:lnTo>
                    <a:pt x="357565" y="432743"/>
                  </a:lnTo>
                  <a:lnTo>
                    <a:pt x="316409" y="453038"/>
                  </a:lnTo>
                  <a:lnTo>
                    <a:pt x="272084" y="464914"/>
                  </a:lnTo>
                  <a:lnTo>
                    <a:pt x="241620" y="467915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96" name="object 49">
              <a:extLst>
                <a:ext uri="{FF2B5EF4-FFF2-40B4-BE49-F238E27FC236}">
                  <a16:creationId xmlns:a16="http://schemas.microsoft.com/office/drawing/2014/main" id="{1A8F2303-30A3-407A-B17E-AA033FF3BA2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8067" y="2622212"/>
              <a:ext cx="187324" cy="190499"/>
            </a:xfrm>
            <a:prstGeom prst="rect">
              <a:avLst/>
            </a:prstGeom>
          </p:spPr>
        </p:pic>
      </p:grpSp>
      <p:sp>
        <p:nvSpPr>
          <p:cNvPr id="86" name="object 50">
            <a:extLst>
              <a:ext uri="{FF2B5EF4-FFF2-40B4-BE49-F238E27FC236}">
                <a16:creationId xmlns:a16="http://schemas.microsoft.com/office/drawing/2014/main" id="{C1E2DD75-1807-4387-87DF-5FC8A77D636F}"/>
              </a:ext>
            </a:extLst>
          </p:cNvPr>
          <p:cNvSpPr txBox="1"/>
          <p:nvPr/>
        </p:nvSpPr>
        <p:spPr>
          <a:xfrm>
            <a:off x="7939039" y="1429663"/>
            <a:ext cx="750713" cy="8486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기각 </a:t>
            </a:r>
            <a:r>
              <a:rPr sz="1050" b="1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/</a:t>
            </a:r>
            <a:r>
              <a:rPr sz="1050" b="1" spc="-2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Trebuchet MS"/>
              </a:rPr>
              <a:t> </a:t>
            </a:r>
            <a:r>
              <a:rPr sz="1050" b="1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제외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87" name="object 51">
            <a:extLst>
              <a:ext uri="{FF2B5EF4-FFF2-40B4-BE49-F238E27FC236}">
                <a16:creationId xmlns:a16="http://schemas.microsoft.com/office/drawing/2014/main" id="{13C974E3-0F69-450B-939C-5E72A1D61C29}"/>
              </a:ext>
            </a:extLst>
          </p:cNvPr>
          <p:cNvSpPr txBox="1"/>
          <p:nvPr/>
        </p:nvSpPr>
        <p:spPr>
          <a:xfrm>
            <a:off x="7742905" y="1603928"/>
            <a:ext cx="119995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b="1" spc="1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97</a:t>
            </a:r>
            <a:r>
              <a:rPr sz="1050" spc="-95" dirty="0">
                <a:solidFill>
                  <a:srgbClr val="D0D5DA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FFEB36-35A9-4822-A3C3-C741A21467B2}"/>
              </a:ext>
            </a:extLst>
          </p:cNvPr>
          <p:cNvSpPr txBox="1"/>
          <p:nvPr/>
        </p:nvSpPr>
        <p:spPr>
          <a:xfrm>
            <a:off x="2314920" y="1884434"/>
            <a:ext cx="24137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algn="ctr"/>
            <a:r>
              <a:rPr lang="ko-KR" altLang="en-US" sz="1050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테스트 수행 기간 동안 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등록된</a:t>
            </a:r>
            <a:endParaRPr lang="en-US" altLang="ko-KR" sz="1050" spc="-50" dirty="0">
              <a:solidFill>
                <a:srgbClr val="6A728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  <a:p>
            <a:pPr marL="12065" marR="5080" algn="ctr"/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모든 결함</a:t>
            </a:r>
            <a:r>
              <a:rPr lang="en-US" altLang="ko-KR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, 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개선</a:t>
            </a:r>
            <a:r>
              <a:rPr lang="en-US" altLang="ko-KR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/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변경</a:t>
            </a:r>
            <a:r>
              <a:rPr lang="en-US" altLang="ko-KR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, </a:t>
            </a:r>
            <a:r>
              <a:rPr lang="ko-KR" altLang="en-US" sz="1050" spc="-5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신규  </a:t>
            </a:r>
            <a:r>
              <a:rPr lang="ko-KR" altLang="en-US" sz="1050" spc="-60" dirty="0">
                <a:solidFill>
                  <a:srgbClr val="6A728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합계</a:t>
            </a:r>
            <a:endParaRPr lang="ko-KR" altLang="en-US"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3218EDB-164C-47A3-BABF-22AA325D3F35}"/>
              </a:ext>
            </a:extLst>
          </p:cNvPr>
          <p:cNvSpPr txBox="1"/>
          <p:nvPr/>
        </p:nvSpPr>
        <p:spPr>
          <a:xfrm>
            <a:off x="5419530" y="1834881"/>
            <a:ext cx="10793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lang="ko-KR" altLang="en-US" sz="1000" b="1" spc="-70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비중</a:t>
            </a:r>
            <a:r>
              <a:rPr lang="ko-KR" altLang="en-US" sz="1000" b="1" spc="-6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lang="en-US" altLang="ko-KR" sz="1000" b="1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62.4%</a:t>
            </a:r>
            <a:endParaRPr lang="ko-KR" altLang="en-US" sz="10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5435B1A-2D54-4B70-984C-5F7453C4FC4B}"/>
              </a:ext>
            </a:extLst>
          </p:cNvPr>
          <p:cNvSpPr txBox="1"/>
          <p:nvPr/>
        </p:nvSpPr>
        <p:spPr>
          <a:xfrm>
            <a:off x="7320532" y="1897068"/>
            <a:ext cx="195595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/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요건 변경</a:t>
            </a:r>
            <a:r>
              <a:rPr lang="en-US" altLang="ko-KR" sz="1050" spc="-1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,</a:t>
            </a:r>
            <a:r>
              <a:rPr lang="ko-KR" altLang="en-US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중복</a:t>
            </a:r>
            <a:r>
              <a:rPr lang="en-US" altLang="ko-KR" sz="1050" spc="-15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,</a:t>
            </a:r>
            <a:r>
              <a:rPr lang="ko-KR" altLang="en-US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오판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등으로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인한</a:t>
            </a:r>
            <a:endParaRPr lang="en-US" altLang="ko-KR" sz="1050" spc="-50" dirty="0">
              <a:solidFill>
                <a:srgbClr val="9CA2AF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  <a:p>
            <a:pPr marL="12700" marR="5080" algn="ctr"/>
            <a:r>
              <a:rPr lang="ko-KR" altLang="en-US" sz="1050" spc="-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50" dirty="0" err="1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비유효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데이터</a:t>
            </a:r>
            <a:r>
              <a:rPr lang="ko-KR" altLang="en-US" sz="105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en-US" altLang="ko-KR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(</a:t>
            </a:r>
            <a:r>
              <a:rPr lang="ko-KR" altLang="en-US" sz="1050" spc="-6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노이즈</a:t>
            </a:r>
            <a:r>
              <a:rPr lang="en-US" altLang="ko-KR" sz="1050" spc="-10" dirty="0">
                <a:solidFill>
                  <a:srgbClr val="9CA2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/>
              </a:rPr>
              <a:t>)</a:t>
            </a:r>
            <a:endParaRPr lang="ko-KR" altLang="en-US"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"/>
            </a:endParaRPr>
          </a:p>
        </p:txBody>
      </p:sp>
      <p:sp>
        <p:nvSpPr>
          <p:cNvPr id="111" name="object 62">
            <a:extLst>
              <a:ext uri="{FF2B5EF4-FFF2-40B4-BE49-F238E27FC236}">
                <a16:creationId xmlns:a16="http://schemas.microsoft.com/office/drawing/2014/main" id="{58C3BD52-21C8-4AFF-BF6D-7116FBA1A7BE}"/>
              </a:ext>
            </a:extLst>
          </p:cNvPr>
          <p:cNvSpPr txBox="1">
            <a:spLocks/>
          </p:cNvSpPr>
          <p:nvPr/>
        </p:nvSpPr>
        <p:spPr>
          <a:xfrm>
            <a:off x="641443" y="2954168"/>
            <a:ext cx="1746157" cy="225918"/>
          </a:xfrm>
          <a:prstGeom prst="rect">
            <a:avLst/>
          </a:prstGeom>
        </p:spPr>
        <p:txBody>
          <a:bodyPr vert="horz" wrap="square" lIns="0" tIns="10373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527">
              <a:lnSpc>
                <a:spcPct val="100000"/>
              </a:lnSpc>
              <a:spcBef>
                <a:spcPts val="82"/>
              </a:spcBef>
            </a:pP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</a:t>
            </a:r>
            <a:r>
              <a:rPr lang="ko-KR" altLang="en-US" sz="1400" b="1" spc="73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유효성</a:t>
            </a:r>
            <a:r>
              <a:rPr lang="ko-KR" altLang="en-US" sz="1400" b="1" spc="73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</a:t>
            </a:r>
            <a:r>
              <a:rPr lang="ko-KR" altLang="en-US" sz="1400" b="1" spc="73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b="1" spc="-9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</a:t>
            </a:r>
          </a:p>
        </p:txBody>
      </p:sp>
      <p:graphicFrame>
        <p:nvGraphicFramePr>
          <p:cNvPr id="112" name="차트 111">
            <a:extLst>
              <a:ext uri="{FF2B5EF4-FFF2-40B4-BE49-F238E27FC236}">
                <a16:creationId xmlns:a16="http://schemas.microsoft.com/office/drawing/2014/main" id="{F693B957-EA18-4C20-992F-B048D1011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0197474"/>
              </p:ext>
            </p:extLst>
          </p:nvPr>
        </p:nvGraphicFramePr>
        <p:xfrm>
          <a:off x="381000" y="3302596"/>
          <a:ext cx="2434634" cy="140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4" name="object 27">
            <a:extLst>
              <a:ext uri="{FF2B5EF4-FFF2-40B4-BE49-F238E27FC236}">
                <a16:creationId xmlns:a16="http://schemas.microsoft.com/office/drawing/2014/main" id="{301295CD-0520-4A1E-875B-C8D6E6D85D2F}"/>
              </a:ext>
            </a:extLst>
          </p:cNvPr>
          <p:cNvSpPr txBox="1"/>
          <p:nvPr/>
        </p:nvSpPr>
        <p:spPr>
          <a:xfrm>
            <a:off x="1027384" y="3830455"/>
            <a:ext cx="1219001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b="1" spc="15" dirty="0">
                <a:solidFill>
                  <a:schemeClr val="bg2">
                    <a:lumMod val="9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25</a:t>
            </a:r>
            <a:r>
              <a:rPr b="1" spc="260" dirty="0">
                <a:solidFill>
                  <a:schemeClr val="bg2">
                    <a:lumMod val="9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8</a:t>
            </a:r>
            <a:r>
              <a:rPr sz="1050" spc="-95" dirty="0">
                <a:solidFill>
                  <a:schemeClr val="bg2">
                    <a:lumMod val="9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dirty="0">
              <a:solidFill>
                <a:schemeClr val="bg2">
                  <a:lumMod val="9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sp>
        <p:nvSpPr>
          <p:cNvPr id="115" name="object 39">
            <a:extLst>
              <a:ext uri="{FF2B5EF4-FFF2-40B4-BE49-F238E27FC236}">
                <a16:creationId xmlns:a16="http://schemas.microsoft.com/office/drawing/2014/main" id="{7C33330A-CB4F-4197-840A-AE0B6C79560B}"/>
              </a:ext>
            </a:extLst>
          </p:cNvPr>
          <p:cNvSpPr txBox="1"/>
          <p:nvPr/>
        </p:nvSpPr>
        <p:spPr>
          <a:xfrm>
            <a:off x="1575133" y="3979459"/>
            <a:ext cx="1226437" cy="727763"/>
          </a:xfrm>
          <a:prstGeom prst="rect">
            <a:avLst/>
          </a:prstGeom>
        </p:spPr>
        <p:txBody>
          <a:bodyPr vert="horz" wrap="square" lIns="0" tIns="415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75"/>
              </a:spcBef>
            </a:pPr>
            <a:r>
              <a:rPr sz="2000" b="1" spc="-1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1</a:t>
            </a:r>
            <a:r>
              <a:rPr lang="en-US" sz="2000" b="1" spc="-15" dirty="0">
                <a:solidFill>
                  <a:srgbClr val="DB252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Comic Sans MS"/>
              </a:rPr>
              <a:t>61</a:t>
            </a:r>
            <a:r>
              <a:rPr sz="1100" spc="-125" dirty="0">
                <a:solidFill>
                  <a:srgbClr val="FBA5A5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건</a:t>
            </a:r>
            <a:endParaRPr lang="ko-KR" altLang="en-US" sz="2000" spc="-125" dirty="0">
              <a:solidFill>
                <a:srgbClr val="FBA5A5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Arial Unicode MS"/>
            </a:endParaRPr>
          </a:p>
        </p:txBody>
      </p:sp>
      <p:grpSp>
        <p:nvGrpSpPr>
          <p:cNvPr id="116" name="object 8">
            <a:extLst>
              <a:ext uri="{FF2B5EF4-FFF2-40B4-BE49-F238E27FC236}">
                <a16:creationId xmlns:a16="http://schemas.microsoft.com/office/drawing/2014/main" id="{95FC8A29-1193-41A9-BAF6-3D78CECE088A}"/>
              </a:ext>
            </a:extLst>
          </p:cNvPr>
          <p:cNvGrpSpPr/>
          <p:nvPr/>
        </p:nvGrpSpPr>
        <p:grpSpPr>
          <a:xfrm>
            <a:off x="2821725" y="3295501"/>
            <a:ext cx="3837693" cy="333103"/>
            <a:chOff x="1024830" y="4526398"/>
            <a:chExt cx="3228975" cy="367030"/>
          </a:xfrm>
        </p:grpSpPr>
        <p:sp>
          <p:nvSpPr>
            <p:cNvPr id="117" name="object 9">
              <a:extLst>
                <a:ext uri="{FF2B5EF4-FFF2-40B4-BE49-F238E27FC236}">
                  <a16:creationId xmlns:a16="http://schemas.microsoft.com/office/drawing/2014/main" id="{9C2A3FE4-8C0E-4775-B7CA-885EE4D8F706}"/>
                </a:ext>
              </a:extLst>
            </p:cNvPr>
            <p:cNvSpPr/>
            <p:nvPr/>
          </p:nvSpPr>
          <p:spPr>
            <a:xfrm>
              <a:off x="1024830" y="4526398"/>
              <a:ext cx="920750" cy="367030"/>
            </a:xfrm>
            <a:custGeom>
              <a:avLst/>
              <a:gdLst/>
              <a:ahLst/>
              <a:cxnLst/>
              <a:rect l="l" t="t" r="r" b="b"/>
              <a:pathLst>
                <a:path w="920750" h="367029">
                  <a:moveTo>
                    <a:pt x="920234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920234" y="0"/>
                  </a:lnTo>
                  <a:lnTo>
                    <a:pt x="920234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8" name="object 10">
              <a:extLst>
                <a:ext uri="{FF2B5EF4-FFF2-40B4-BE49-F238E27FC236}">
                  <a16:creationId xmlns:a16="http://schemas.microsoft.com/office/drawing/2014/main" id="{2A5BC102-77B7-4E46-9D21-10927CA5D1B7}"/>
                </a:ext>
              </a:extLst>
            </p:cNvPr>
            <p:cNvSpPr/>
            <p:nvPr/>
          </p:nvSpPr>
          <p:spPr>
            <a:xfrm>
              <a:off x="1024830" y="4877335"/>
              <a:ext cx="920750" cy="15875"/>
            </a:xfrm>
            <a:custGeom>
              <a:avLst/>
              <a:gdLst/>
              <a:ahLst/>
              <a:cxnLst/>
              <a:rect l="l" t="t" r="r" b="b"/>
              <a:pathLst>
                <a:path w="920750" h="15875">
                  <a:moveTo>
                    <a:pt x="920234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920234" y="0"/>
                  </a:lnTo>
                  <a:lnTo>
                    <a:pt x="920234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9" name="object 11">
              <a:extLst>
                <a:ext uri="{FF2B5EF4-FFF2-40B4-BE49-F238E27FC236}">
                  <a16:creationId xmlns:a16="http://schemas.microsoft.com/office/drawing/2014/main" id="{131C7F53-F5E4-4921-880F-CB7FFE7DFF4E}"/>
                </a:ext>
              </a:extLst>
            </p:cNvPr>
            <p:cNvSpPr/>
            <p:nvPr/>
          </p:nvSpPr>
          <p:spPr>
            <a:xfrm>
              <a:off x="1945064" y="4526398"/>
              <a:ext cx="452755" cy="367030"/>
            </a:xfrm>
            <a:custGeom>
              <a:avLst/>
              <a:gdLst/>
              <a:ahLst/>
              <a:cxnLst/>
              <a:rect l="l" t="t" r="r" b="b"/>
              <a:pathLst>
                <a:path w="452755" h="367029">
                  <a:moveTo>
                    <a:pt x="452318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452318" y="0"/>
                  </a:lnTo>
                  <a:lnTo>
                    <a:pt x="452318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0" name="object 12">
              <a:extLst>
                <a:ext uri="{FF2B5EF4-FFF2-40B4-BE49-F238E27FC236}">
                  <a16:creationId xmlns:a16="http://schemas.microsoft.com/office/drawing/2014/main" id="{FD554160-3717-42CE-80E2-56F652E1ABC7}"/>
                </a:ext>
              </a:extLst>
            </p:cNvPr>
            <p:cNvSpPr/>
            <p:nvPr/>
          </p:nvSpPr>
          <p:spPr>
            <a:xfrm>
              <a:off x="1945064" y="4877335"/>
              <a:ext cx="452755" cy="15875"/>
            </a:xfrm>
            <a:custGeom>
              <a:avLst/>
              <a:gdLst/>
              <a:ahLst/>
              <a:cxnLst/>
              <a:rect l="l" t="t" r="r" b="b"/>
              <a:pathLst>
                <a:path w="452755" h="15875">
                  <a:moveTo>
                    <a:pt x="452318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452318" y="0"/>
                  </a:lnTo>
                  <a:lnTo>
                    <a:pt x="452318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1" name="object 13">
              <a:extLst>
                <a:ext uri="{FF2B5EF4-FFF2-40B4-BE49-F238E27FC236}">
                  <a16:creationId xmlns:a16="http://schemas.microsoft.com/office/drawing/2014/main" id="{77F5B48D-28C0-45A9-B1B9-61D88A06AB19}"/>
                </a:ext>
              </a:extLst>
            </p:cNvPr>
            <p:cNvSpPr/>
            <p:nvPr/>
          </p:nvSpPr>
          <p:spPr>
            <a:xfrm>
              <a:off x="2397382" y="4526398"/>
              <a:ext cx="577215" cy="367030"/>
            </a:xfrm>
            <a:custGeom>
              <a:avLst/>
              <a:gdLst/>
              <a:ahLst/>
              <a:cxnLst/>
              <a:rect l="l" t="t" r="r" b="b"/>
              <a:pathLst>
                <a:path w="577214" h="367029">
                  <a:moveTo>
                    <a:pt x="577095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577095" y="0"/>
                  </a:lnTo>
                  <a:lnTo>
                    <a:pt x="577095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2" name="object 14">
              <a:extLst>
                <a:ext uri="{FF2B5EF4-FFF2-40B4-BE49-F238E27FC236}">
                  <a16:creationId xmlns:a16="http://schemas.microsoft.com/office/drawing/2014/main" id="{6D1F2D6A-36BC-4B04-8DEB-4D9A58AE3283}"/>
                </a:ext>
              </a:extLst>
            </p:cNvPr>
            <p:cNvSpPr/>
            <p:nvPr/>
          </p:nvSpPr>
          <p:spPr>
            <a:xfrm>
              <a:off x="2397382" y="4877335"/>
              <a:ext cx="577215" cy="15875"/>
            </a:xfrm>
            <a:custGeom>
              <a:avLst/>
              <a:gdLst/>
              <a:ahLst/>
              <a:cxnLst/>
              <a:rect l="l" t="t" r="r" b="b"/>
              <a:pathLst>
                <a:path w="577214" h="15875">
                  <a:moveTo>
                    <a:pt x="577095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577095" y="0"/>
                  </a:lnTo>
                  <a:lnTo>
                    <a:pt x="577095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3" name="object 15">
              <a:extLst>
                <a:ext uri="{FF2B5EF4-FFF2-40B4-BE49-F238E27FC236}">
                  <a16:creationId xmlns:a16="http://schemas.microsoft.com/office/drawing/2014/main" id="{EAE07D1A-1853-4013-BC30-A9FE89927853}"/>
                </a:ext>
              </a:extLst>
            </p:cNvPr>
            <p:cNvSpPr/>
            <p:nvPr/>
          </p:nvSpPr>
          <p:spPr>
            <a:xfrm>
              <a:off x="2974478" y="4526398"/>
              <a:ext cx="1279525" cy="367030"/>
            </a:xfrm>
            <a:custGeom>
              <a:avLst/>
              <a:gdLst/>
              <a:ahLst/>
              <a:cxnLst/>
              <a:rect l="l" t="t" r="r" b="b"/>
              <a:pathLst>
                <a:path w="1279525" h="367029">
                  <a:moveTo>
                    <a:pt x="1278969" y="366533"/>
                  </a:moveTo>
                  <a:lnTo>
                    <a:pt x="0" y="366533"/>
                  </a:lnTo>
                  <a:lnTo>
                    <a:pt x="0" y="0"/>
                  </a:lnTo>
                  <a:lnTo>
                    <a:pt x="1278969" y="0"/>
                  </a:lnTo>
                  <a:lnTo>
                    <a:pt x="1278969" y="366533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4" name="object 16">
              <a:extLst>
                <a:ext uri="{FF2B5EF4-FFF2-40B4-BE49-F238E27FC236}">
                  <a16:creationId xmlns:a16="http://schemas.microsoft.com/office/drawing/2014/main" id="{55F51667-8D35-49C4-B9C9-4B5CB0A5B0C1}"/>
                </a:ext>
              </a:extLst>
            </p:cNvPr>
            <p:cNvSpPr/>
            <p:nvPr/>
          </p:nvSpPr>
          <p:spPr>
            <a:xfrm>
              <a:off x="2974478" y="4877335"/>
              <a:ext cx="1279525" cy="15875"/>
            </a:xfrm>
            <a:custGeom>
              <a:avLst/>
              <a:gdLst/>
              <a:ahLst/>
              <a:cxnLst/>
              <a:rect l="l" t="t" r="r" b="b"/>
              <a:pathLst>
                <a:path w="1279525" h="15875">
                  <a:moveTo>
                    <a:pt x="1278969" y="15597"/>
                  </a:moveTo>
                  <a:lnTo>
                    <a:pt x="0" y="15597"/>
                  </a:lnTo>
                  <a:lnTo>
                    <a:pt x="0" y="0"/>
                  </a:lnTo>
                  <a:lnTo>
                    <a:pt x="1278969" y="0"/>
                  </a:lnTo>
                  <a:lnTo>
                    <a:pt x="1278969" y="15597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25" name="object 17">
            <a:extLst>
              <a:ext uri="{FF2B5EF4-FFF2-40B4-BE49-F238E27FC236}">
                <a16:creationId xmlns:a16="http://schemas.microsoft.com/office/drawing/2014/main" id="{D28F6447-DA7B-4D7B-B726-64C49F129FFC}"/>
              </a:ext>
            </a:extLst>
          </p:cNvPr>
          <p:cNvSpPr txBox="1"/>
          <p:nvPr/>
        </p:nvSpPr>
        <p:spPr>
          <a:xfrm>
            <a:off x="3208602" y="3381044"/>
            <a:ext cx="2487832" cy="182080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84720">
              <a:spcBef>
                <a:spcPts val="100"/>
              </a:spcBef>
              <a:tabLst>
                <a:tab pos="917510" algn="l"/>
                <a:tab pos="1327855" algn="l"/>
                <a:tab pos="1856922" algn="l"/>
              </a:tabLst>
            </a:pP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구분	</a:t>
            </a:r>
            <a:r>
              <a:rPr sz="1100" b="1" spc="-54" dirty="0" err="1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건수</a:t>
            </a: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	</a:t>
            </a:r>
            <a:r>
              <a:rPr 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      </a:t>
            </a:r>
            <a:r>
              <a:rPr lang="ko-KR" alt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비중</a:t>
            </a: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	</a:t>
            </a:r>
            <a:r>
              <a:rPr 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          </a:t>
            </a:r>
            <a:r>
              <a:rPr lang="ko-KR" altLang="en-US"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비</a:t>
            </a:r>
            <a:r>
              <a:rPr sz="1100" b="1" spc="-54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고</a:t>
            </a:r>
            <a:endParaRPr sz="11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graphicFrame>
        <p:nvGraphicFramePr>
          <p:cNvPr id="126" name="object 18">
            <a:extLst>
              <a:ext uri="{FF2B5EF4-FFF2-40B4-BE49-F238E27FC236}">
                <a16:creationId xmlns:a16="http://schemas.microsoft.com/office/drawing/2014/main" id="{080F0FC2-D7A0-4124-96CD-3C18CB0B0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536064"/>
              </p:ext>
            </p:extLst>
          </p:nvPr>
        </p:nvGraphicFramePr>
        <p:xfrm>
          <a:off x="2782659" y="3659506"/>
          <a:ext cx="3876759" cy="82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6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213">
                <a:tc>
                  <a:txBody>
                    <a:bodyPr/>
                    <a:lstStyle/>
                    <a:p>
                      <a:pPr marL="0" marR="180975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유효</a:t>
                      </a:r>
                      <a:r>
                        <a:rPr sz="1100" b="1" spc="-6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 </a:t>
                      </a:r>
                      <a:r>
                        <a:rPr sz="1100" b="1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결함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맑은 고딕"/>
                      </a:endParaRPr>
                    </a:p>
                  </a:txBody>
                  <a:tcPr marL="36000" marR="0" marT="0" marB="3600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1</a:t>
                      </a:r>
                      <a:r>
                        <a:rPr lang="en-US"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61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7314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62.4</a:t>
                      </a:r>
                      <a:r>
                        <a:rPr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%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실제 수정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/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조치 필요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 Unicode MS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45">
                <a:tc>
                  <a:txBody>
                    <a:bodyPr/>
                    <a:lstStyle/>
                    <a:p>
                      <a:pPr marL="0" marR="168910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spc="-50" dirty="0" err="1">
                          <a:solidFill>
                            <a:srgbClr val="6A728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기각</a:t>
                      </a:r>
                      <a:r>
                        <a:rPr sz="1100" spc="-50" dirty="0">
                          <a:solidFill>
                            <a:srgbClr val="6A728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Calibri"/>
                        </a:rPr>
                        <a:t>/</a:t>
                      </a:r>
                      <a:r>
                        <a:rPr sz="1100" spc="-50" dirty="0">
                          <a:solidFill>
                            <a:srgbClr val="6A728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제외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 Unicode MS"/>
                      </a:endParaRPr>
                    </a:p>
                  </a:txBody>
                  <a:tcPr marL="36000" marR="0" marT="0" marB="3600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Georgia"/>
                        </a:rPr>
                        <a:t> 97</a:t>
                      </a: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7314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37.6</a:t>
                      </a:r>
                      <a:r>
                        <a:rPr sz="1100" spc="-2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%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Times New Roman"/>
                        </a:rPr>
                        <a:t>결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함 아님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,</a:t>
                      </a:r>
                      <a:r>
                        <a:rPr sz="1100" spc="3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 </a:t>
                      </a:r>
                      <a:r>
                        <a:rPr sz="1100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Arial Unicode MS"/>
                        </a:rPr>
                        <a:t>중복 등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Arial Unicode MS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812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spc="-60" dirty="0" err="1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맑은 고딕"/>
                        </a:rPr>
                        <a:t>총계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맑은 고딕"/>
                      </a:endParaRPr>
                    </a:p>
                  </a:txBody>
                  <a:tcPr marL="36000" marR="0" marT="0" marB="36000" anchor="ctr">
                    <a:lnL>
                      <a:noFill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258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3664" algn="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100" b="1" spc="5" dirty="0">
                          <a:solidFill>
                            <a:srgbClr val="1F2937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Noto Sans KR"/>
                        </a:rPr>
                        <a:t>100%</a:t>
                      </a: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Noto Sans KR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1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Times New Roman"/>
                      </a:endParaRPr>
                    </a:p>
                  </a:txBody>
                  <a:tcPr marL="36000" marR="0" marT="0" marB="3600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7" name="object 19">
            <a:extLst>
              <a:ext uri="{FF2B5EF4-FFF2-40B4-BE49-F238E27FC236}">
                <a16:creationId xmlns:a16="http://schemas.microsoft.com/office/drawing/2014/main" id="{7A2326DD-BF43-41C8-9C8C-8403CFFAB08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06658" y="3761946"/>
            <a:ext cx="84932" cy="84932"/>
          </a:xfrm>
          <a:prstGeom prst="rect">
            <a:avLst/>
          </a:prstGeom>
        </p:spPr>
      </p:pic>
      <p:pic>
        <p:nvPicPr>
          <p:cNvPr id="128" name="object 20">
            <a:extLst>
              <a:ext uri="{FF2B5EF4-FFF2-40B4-BE49-F238E27FC236}">
                <a16:creationId xmlns:a16="http://schemas.microsoft.com/office/drawing/2014/main" id="{11041900-40A1-4A3C-BC97-37DFD54872E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6658" y="4046424"/>
            <a:ext cx="84932" cy="84932"/>
          </a:xfrm>
          <a:prstGeom prst="rect">
            <a:avLst/>
          </a:prstGeom>
        </p:spPr>
      </p:pic>
      <p:sp>
        <p:nvSpPr>
          <p:cNvPr id="129" name="object 11">
            <a:extLst>
              <a:ext uri="{FF2B5EF4-FFF2-40B4-BE49-F238E27FC236}">
                <a16:creationId xmlns:a16="http://schemas.microsoft.com/office/drawing/2014/main" id="{45BEE570-70C4-4496-920F-0874C00F2BFB}"/>
              </a:ext>
            </a:extLst>
          </p:cNvPr>
          <p:cNvSpPr/>
          <p:nvPr/>
        </p:nvSpPr>
        <p:spPr>
          <a:xfrm>
            <a:off x="3289947" y="5755468"/>
            <a:ext cx="62865" cy="56193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35331" y="62388"/>
                </a:moveTo>
                <a:lnTo>
                  <a:pt x="27057" y="62388"/>
                </a:lnTo>
                <a:lnTo>
                  <a:pt x="23078" y="61596"/>
                </a:lnTo>
                <a:lnTo>
                  <a:pt x="0" y="35330"/>
                </a:lnTo>
                <a:lnTo>
                  <a:pt x="0" y="27057"/>
                </a:lnTo>
                <a:lnTo>
                  <a:pt x="27057" y="0"/>
                </a:lnTo>
                <a:lnTo>
                  <a:pt x="35331" y="0"/>
                </a:lnTo>
                <a:lnTo>
                  <a:pt x="62388" y="27057"/>
                </a:lnTo>
                <a:lnTo>
                  <a:pt x="62388" y="31194"/>
                </a:lnTo>
                <a:lnTo>
                  <a:pt x="62388" y="35330"/>
                </a:lnTo>
                <a:lnTo>
                  <a:pt x="35331" y="62388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>
            <a:endParaRPr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0" name="object 11">
            <a:extLst>
              <a:ext uri="{FF2B5EF4-FFF2-40B4-BE49-F238E27FC236}">
                <a16:creationId xmlns:a16="http://schemas.microsoft.com/office/drawing/2014/main" id="{36411B17-E0D2-41F8-B8E8-B5FED3CF5C30}"/>
              </a:ext>
            </a:extLst>
          </p:cNvPr>
          <p:cNvSpPr/>
          <p:nvPr/>
        </p:nvSpPr>
        <p:spPr>
          <a:xfrm>
            <a:off x="5125158" y="5764032"/>
            <a:ext cx="62865" cy="56193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35331" y="62388"/>
                </a:moveTo>
                <a:lnTo>
                  <a:pt x="27057" y="62388"/>
                </a:lnTo>
                <a:lnTo>
                  <a:pt x="23078" y="61596"/>
                </a:lnTo>
                <a:lnTo>
                  <a:pt x="0" y="35330"/>
                </a:lnTo>
                <a:lnTo>
                  <a:pt x="0" y="27057"/>
                </a:lnTo>
                <a:lnTo>
                  <a:pt x="27057" y="0"/>
                </a:lnTo>
                <a:lnTo>
                  <a:pt x="35331" y="0"/>
                </a:lnTo>
                <a:lnTo>
                  <a:pt x="62388" y="27057"/>
                </a:lnTo>
                <a:lnTo>
                  <a:pt x="62388" y="31194"/>
                </a:lnTo>
                <a:lnTo>
                  <a:pt x="62388" y="35330"/>
                </a:lnTo>
                <a:lnTo>
                  <a:pt x="35331" y="62388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>
            <a:endParaRPr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7" name="object 32">
            <a:extLst>
              <a:ext uri="{FF2B5EF4-FFF2-40B4-BE49-F238E27FC236}">
                <a16:creationId xmlns:a16="http://schemas.microsoft.com/office/drawing/2014/main" id="{0B7CA510-4955-4173-863C-F81DC6B757E7}"/>
              </a:ext>
            </a:extLst>
          </p:cNvPr>
          <p:cNvSpPr txBox="1"/>
          <p:nvPr/>
        </p:nvSpPr>
        <p:spPr>
          <a:xfrm>
            <a:off x="7243999" y="3070800"/>
            <a:ext cx="2999127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5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기각</a:t>
            </a:r>
            <a:r>
              <a:rPr sz="1400" b="1" spc="-4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(</a:t>
            </a:r>
            <a:r>
              <a:rPr sz="1400" b="1" spc="-11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R</a:t>
            </a:r>
            <a:r>
              <a:rPr sz="1400" b="1" spc="-6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eje</a:t>
            </a:r>
            <a:r>
              <a:rPr sz="1400" b="1" spc="-9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c</a:t>
            </a:r>
            <a:r>
              <a:rPr sz="1400" b="1" spc="-8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</a:t>
            </a:r>
            <a:r>
              <a:rPr sz="1400" b="1" spc="-7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ed)</a:t>
            </a:r>
            <a:r>
              <a:rPr sz="1400" b="1" spc="2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sz="1400" b="1" spc="-85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사유</a:t>
            </a:r>
            <a:r>
              <a:rPr sz="1400" b="1" spc="-8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r>
              <a:rPr sz="1400" b="1" spc="-85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분석</a:t>
            </a:r>
            <a:endParaRPr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148" name="object 33">
            <a:extLst>
              <a:ext uri="{FF2B5EF4-FFF2-40B4-BE49-F238E27FC236}">
                <a16:creationId xmlns:a16="http://schemas.microsoft.com/office/drawing/2014/main" id="{A1E532BA-50B3-40A2-B310-079E71648A6C}"/>
              </a:ext>
            </a:extLst>
          </p:cNvPr>
          <p:cNvSpPr/>
          <p:nvPr/>
        </p:nvSpPr>
        <p:spPr>
          <a:xfrm>
            <a:off x="10340987" y="3052455"/>
            <a:ext cx="964321" cy="243045"/>
          </a:xfrm>
          <a:custGeom>
            <a:avLst/>
            <a:gdLst/>
            <a:ahLst/>
            <a:cxnLst/>
            <a:rect l="l" t="t" r="r" b="b"/>
            <a:pathLst>
              <a:path w="709929" h="218439">
                <a:moveTo>
                  <a:pt x="607661" y="218360"/>
                </a:moveTo>
                <a:lnTo>
                  <a:pt x="102011" y="218360"/>
                </a:lnTo>
                <a:lnTo>
                  <a:pt x="94912" y="217661"/>
                </a:lnTo>
                <a:lnTo>
                  <a:pt x="54483" y="203943"/>
                </a:lnTo>
                <a:lnTo>
                  <a:pt x="22382" y="175798"/>
                </a:lnTo>
                <a:lnTo>
                  <a:pt x="3496" y="137511"/>
                </a:lnTo>
                <a:lnTo>
                  <a:pt x="0" y="116349"/>
                </a:lnTo>
                <a:lnTo>
                  <a:pt x="0" y="109180"/>
                </a:lnTo>
                <a:lnTo>
                  <a:pt x="0" y="102011"/>
                </a:lnTo>
                <a:lnTo>
                  <a:pt x="11053" y="60775"/>
                </a:lnTo>
                <a:lnTo>
                  <a:pt x="37048" y="26908"/>
                </a:lnTo>
                <a:lnTo>
                  <a:pt x="74020" y="5567"/>
                </a:lnTo>
                <a:lnTo>
                  <a:pt x="102011" y="0"/>
                </a:lnTo>
                <a:lnTo>
                  <a:pt x="607661" y="0"/>
                </a:lnTo>
                <a:lnTo>
                  <a:pt x="648895" y="11054"/>
                </a:lnTo>
                <a:lnTo>
                  <a:pt x="682763" y="37047"/>
                </a:lnTo>
                <a:lnTo>
                  <a:pt x="704103" y="74021"/>
                </a:lnTo>
                <a:lnTo>
                  <a:pt x="709672" y="102011"/>
                </a:lnTo>
                <a:lnTo>
                  <a:pt x="709672" y="116349"/>
                </a:lnTo>
                <a:lnTo>
                  <a:pt x="698617" y="157584"/>
                </a:lnTo>
                <a:lnTo>
                  <a:pt x="672623" y="191451"/>
                </a:lnTo>
                <a:lnTo>
                  <a:pt x="635650" y="212792"/>
                </a:lnTo>
                <a:lnTo>
                  <a:pt x="614761" y="217661"/>
                </a:lnTo>
                <a:lnTo>
                  <a:pt x="607661" y="218360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sz="28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9" name="object 34">
            <a:extLst>
              <a:ext uri="{FF2B5EF4-FFF2-40B4-BE49-F238E27FC236}">
                <a16:creationId xmlns:a16="http://schemas.microsoft.com/office/drawing/2014/main" id="{27FE276F-D5CD-4E58-A1D7-979B241BA2E4}"/>
              </a:ext>
            </a:extLst>
          </p:cNvPr>
          <p:cNvSpPr txBox="1"/>
          <p:nvPr/>
        </p:nvSpPr>
        <p:spPr>
          <a:xfrm>
            <a:off x="10483761" y="3094289"/>
            <a:ext cx="821547" cy="17568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b="1" spc="-25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Total</a:t>
            </a:r>
            <a:r>
              <a:rPr sz="1050" b="1" spc="5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 </a:t>
            </a:r>
            <a:r>
              <a:rPr lang="en-US" sz="1050" b="1" spc="5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97</a:t>
            </a:r>
            <a:r>
              <a:rPr sz="1050" b="1" spc="-20" dirty="0">
                <a:solidFill>
                  <a:srgbClr val="4A5462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건</a:t>
            </a:r>
            <a:endParaRPr sz="105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grpSp>
        <p:nvGrpSpPr>
          <p:cNvPr id="150" name="object 35">
            <a:extLst>
              <a:ext uri="{FF2B5EF4-FFF2-40B4-BE49-F238E27FC236}">
                <a16:creationId xmlns:a16="http://schemas.microsoft.com/office/drawing/2014/main" id="{0363B1F7-E72E-4AD5-817B-FA2832030E68}"/>
              </a:ext>
            </a:extLst>
          </p:cNvPr>
          <p:cNvGrpSpPr/>
          <p:nvPr/>
        </p:nvGrpSpPr>
        <p:grpSpPr>
          <a:xfrm>
            <a:off x="7131922" y="3538190"/>
            <a:ext cx="2889434" cy="374650"/>
            <a:chOff x="4994314" y="2241411"/>
            <a:chExt cx="2889434" cy="374650"/>
          </a:xfrm>
        </p:grpSpPr>
        <p:sp>
          <p:nvSpPr>
            <p:cNvPr id="151" name="object 36">
              <a:extLst>
                <a:ext uri="{FF2B5EF4-FFF2-40B4-BE49-F238E27FC236}">
                  <a16:creationId xmlns:a16="http://schemas.microsoft.com/office/drawing/2014/main" id="{7258BA29-4BD7-4914-93B5-EBA6B3581467}"/>
                </a:ext>
              </a:extLst>
            </p:cNvPr>
            <p:cNvSpPr/>
            <p:nvPr/>
          </p:nvSpPr>
          <p:spPr>
            <a:xfrm>
              <a:off x="4994314" y="2241411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374650" h="374650">
                  <a:moveTo>
                    <a:pt x="301466" y="374332"/>
                  </a:moveTo>
                  <a:lnTo>
                    <a:pt x="72865" y="374332"/>
                  </a:lnTo>
                  <a:lnTo>
                    <a:pt x="67793" y="373832"/>
                  </a:lnTo>
                  <a:lnTo>
                    <a:pt x="30400" y="358344"/>
                  </a:lnTo>
                  <a:lnTo>
                    <a:pt x="3976" y="321459"/>
                  </a:lnTo>
                  <a:lnTo>
                    <a:pt x="0" y="301467"/>
                  </a:lnTo>
                  <a:lnTo>
                    <a:pt x="0" y="296346"/>
                  </a:lnTo>
                  <a:lnTo>
                    <a:pt x="0" y="72865"/>
                  </a:lnTo>
                  <a:lnTo>
                    <a:pt x="15987" y="30401"/>
                  </a:lnTo>
                  <a:lnTo>
                    <a:pt x="52872" y="3976"/>
                  </a:lnTo>
                  <a:lnTo>
                    <a:pt x="72865" y="0"/>
                  </a:lnTo>
                  <a:lnTo>
                    <a:pt x="301466" y="0"/>
                  </a:lnTo>
                  <a:lnTo>
                    <a:pt x="343930" y="15987"/>
                  </a:lnTo>
                  <a:lnTo>
                    <a:pt x="370355" y="52872"/>
                  </a:lnTo>
                  <a:lnTo>
                    <a:pt x="374332" y="72865"/>
                  </a:lnTo>
                  <a:lnTo>
                    <a:pt x="374332" y="301467"/>
                  </a:lnTo>
                  <a:lnTo>
                    <a:pt x="358344" y="343930"/>
                  </a:lnTo>
                  <a:lnTo>
                    <a:pt x="321458" y="370355"/>
                  </a:lnTo>
                  <a:lnTo>
                    <a:pt x="306538" y="373832"/>
                  </a:lnTo>
                  <a:lnTo>
                    <a:pt x="301466" y="374332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 sz="32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pic>
          <p:nvPicPr>
            <p:cNvPr id="152" name="object 37">
              <a:extLst>
                <a:ext uri="{FF2B5EF4-FFF2-40B4-BE49-F238E27FC236}">
                  <a16:creationId xmlns:a16="http://schemas.microsoft.com/office/drawing/2014/main" id="{9A1CD7DD-12BD-42C3-BFE8-523CB9CB5CAD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22991" y="2346642"/>
              <a:ext cx="117474" cy="158749"/>
            </a:xfrm>
            <a:prstGeom prst="rect">
              <a:avLst/>
            </a:prstGeom>
          </p:spPr>
        </p:pic>
        <p:sp>
          <p:nvSpPr>
            <p:cNvPr id="153" name="object 38">
              <a:extLst>
                <a:ext uri="{FF2B5EF4-FFF2-40B4-BE49-F238E27FC236}">
                  <a16:creationId xmlns:a16="http://schemas.microsoft.com/office/drawing/2014/main" id="{9B243592-07F4-47B8-BBCE-B66E7055FE26}"/>
                </a:ext>
              </a:extLst>
            </p:cNvPr>
            <p:cNvSpPr/>
            <p:nvPr/>
          </p:nvSpPr>
          <p:spPr>
            <a:xfrm>
              <a:off x="5478391" y="2257007"/>
              <a:ext cx="2405357" cy="267563"/>
            </a:xfrm>
            <a:custGeom>
              <a:avLst/>
              <a:gdLst/>
              <a:ahLst/>
              <a:cxnLst/>
              <a:rect l="l" t="t" r="r" b="b"/>
              <a:pathLst>
                <a:path w="608329" h="156210">
                  <a:moveTo>
                    <a:pt x="581232" y="155971"/>
                  </a:moveTo>
                  <a:lnTo>
                    <a:pt x="27057" y="155971"/>
                  </a:lnTo>
                  <a:lnTo>
                    <a:pt x="23077" y="155180"/>
                  </a:lnTo>
                  <a:lnTo>
                    <a:pt x="0" y="128914"/>
                  </a:lnTo>
                  <a:lnTo>
                    <a:pt x="0" y="124777"/>
                  </a:lnTo>
                  <a:lnTo>
                    <a:pt x="0" y="27057"/>
                  </a:lnTo>
                  <a:lnTo>
                    <a:pt x="27057" y="0"/>
                  </a:lnTo>
                  <a:lnTo>
                    <a:pt x="581232" y="0"/>
                  </a:lnTo>
                  <a:lnTo>
                    <a:pt x="608290" y="27057"/>
                  </a:lnTo>
                  <a:lnTo>
                    <a:pt x="608290" y="128914"/>
                  </a:lnTo>
                  <a:lnTo>
                    <a:pt x="585211" y="155180"/>
                  </a:lnTo>
                  <a:lnTo>
                    <a:pt x="581232" y="155971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 sz="32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54" name="object 39">
            <a:extLst>
              <a:ext uri="{FF2B5EF4-FFF2-40B4-BE49-F238E27FC236}">
                <a16:creationId xmlns:a16="http://schemas.microsoft.com/office/drawing/2014/main" id="{56982C19-B27C-4F87-9362-87914E33B8D5}"/>
              </a:ext>
            </a:extLst>
          </p:cNvPr>
          <p:cNvSpPr txBox="1"/>
          <p:nvPr/>
        </p:nvSpPr>
        <p:spPr>
          <a:xfrm>
            <a:off x="7651359" y="3590932"/>
            <a:ext cx="2000641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ko-KR" altLang="en-US" sz="1200" b="1" spc="-5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결함 오판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166" name="object 51">
            <a:extLst>
              <a:ext uri="{FF2B5EF4-FFF2-40B4-BE49-F238E27FC236}">
                <a16:creationId xmlns:a16="http://schemas.microsoft.com/office/drawing/2014/main" id="{FED8F06C-38B0-4868-8AE6-C769D053B808}"/>
              </a:ext>
            </a:extLst>
          </p:cNvPr>
          <p:cNvSpPr/>
          <p:nvPr/>
        </p:nvSpPr>
        <p:spPr>
          <a:xfrm>
            <a:off x="7133858" y="4835014"/>
            <a:ext cx="374650" cy="374650"/>
          </a:xfrm>
          <a:custGeom>
            <a:avLst/>
            <a:gdLst/>
            <a:ahLst/>
            <a:cxnLst/>
            <a:rect l="l" t="t" r="r" b="b"/>
            <a:pathLst>
              <a:path w="374650" h="374650">
                <a:moveTo>
                  <a:pt x="301466" y="374332"/>
                </a:moveTo>
                <a:lnTo>
                  <a:pt x="72865" y="374332"/>
                </a:lnTo>
                <a:lnTo>
                  <a:pt x="67793" y="373832"/>
                </a:lnTo>
                <a:lnTo>
                  <a:pt x="30400" y="358344"/>
                </a:lnTo>
                <a:lnTo>
                  <a:pt x="3976" y="321458"/>
                </a:lnTo>
                <a:lnTo>
                  <a:pt x="0" y="301466"/>
                </a:lnTo>
                <a:lnTo>
                  <a:pt x="0" y="296346"/>
                </a:lnTo>
                <a:lnTo>
                  <a:pt x="0" y="72864"/>
                </a:lnTo>
                <a:lnTo>
                  <a:pt x="15987" y="30400"/>
                </a:lnTo>
                <a:lnTo>
                  <a:pt x="52872" y="3976"/>
                </a:lnTo>
                <a:lnTo>
                  <a:pt x="72865" y="0"/>
                </a:lnTo>
                <a:lnTo>
                  <a:pt x="301466" y="0"/>
                </a:lnTo>
                <a:lnTo>
                  <a:pt x="343930" y="15987"/>
                </a:lnTo>
                <a:lnTo>
                  <a:pt x="370355" y="52872"/>
                </a:lnTo>
                <a:lnTo>
                  <a:pt x="374332" y="72864"/>
                </a:lnTo>
                <a:lnTo>
                  <a:pt x="374332" y="301466"/>
                </a:lnTo>
                <a:lnTo>
                  <a:pt x="358344" y="343929"/>
                </a:lnTo>
                <a:lnTo>
                  <a:pt x="321458" y="370355"/>
                </a:lnTo>
                <a:lnTo>
                  <a:pt x="306538" y="373832"/>
                </a:lnTo>
                <a:lnTo>
                  <a:pt x="301466" y="374332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sz="3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67" name="object 52">
            <a:extLst>
              <a:ext uri="{FF2B5EF4-FFF2-40B4-BE49-F238E27FC236}">
                <a16:creationId xmlns:a16="http://schemas.microsoft.com/office/drawing/2014/main" id="{A1D32145-9B89-4335-887C-C23A1CDAB6C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43038" y="4940246"/>
            <a:ext cx="155574" cy="158749"/>
          </a:xfrm>
          <a:prstGeom prst="rect">
            <a:avLst/>
          </a:prstGeom>
        </p:spPr>
      </p:pic>
      <p:sp>
        <p:nvSpPr>
          <p:cNvPr id="171" name="object 56">
            <a:extLst>
              <a:ext uri="{FF2B5EF4-FFF2-40B4-BE49-F238E27FC236}">
                <a16:creationId xmlns:a16="http://schemas.microsoft.com/office/drawing/2014/main" id="{BF0E00FE-BA1C-40F0-AD6B-EBAC462F6FD5}"/>
              </a:ext>
            </a:extLst>
          </p:cNvPr>
          <p:cNvSpPr txBox="1"/>
          <p:nvPr/>
        </p:nvSpPr>
        <p:spPr>
          <a:xfrm>
            <a:off x="7689918" y="3858495"/>
            <a:ext cx="4370739" cy="2169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5"/>
              </a:spcBef>
            </a:pPr>
            <a:r>
              <a:rPr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테스터의 로직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이해</a:t>
            </a:r>
            <a:r>
              <a:rPr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부족</a:t>
            </a:r>
            <a:r>
              <a:rPr lang="ko-KR" altLang="en-US"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으로</a:t>
            </a:r>
            <a:r>
              <a:rPr lang="ko-KR" altLang="en-US"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정상</a:t>
            </a:r>
            <a:r>
              <a:rPr sz="1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5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기능을  결함으로</a:t>
            </a:r>
            <a:r>
              <a:rPr sz="1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오판한</a:t>
            </a:r>
            <a:r>
              <a:rPr sz="1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사례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32" name="object 38">
            <a:extLst>
              <a:ext uri="{FF2B5EF4-FFF2-40B4-BE49-F238E27FC236}">
                <a16:creationId xmlns:a16="http://schemas.microsoft.com/office/drawing/2014/main" id="{2FE7A133-5424-4D22-8FDC-52CABE14A3FA}"/>
              </a:ext>
            </a:extLst>
          </p:cNvPr>
          <p:cNvSpPr/>
          <p:nvPr/>
        </p:nvSpPr>
        <p:spPr>
          <a:xfrm>
            <a:off x="7601524" y="4855521"/>
            <a:ext cx="2372227" cy="267563"/>
          </a:xfrm>
          <a:custGeom>
            <a:avLst/>
            <a:gdLst/>
            <a:ahLst/>
            <a:cxnLst/>
            <a:rect l="l" t="t" r="r" b="b"/>
            <a:pathLst>
              <a:path w="608329" h="156210">
                <a:moveTo>
                  <a:pt x="581232" y="155971"/>
                </a:moveTo>
                <a:lnTo>
                  <a:pt x="27057" y="155971"/>
                </a:lnTo>
                <a:lnTo>
                  <a:pt x="23077" y="155180"/>
                </a:lnTo>
                <a:lnTo>
                  <a:pt x="0" y="128914"/>
                </a:lnTo>
                <a:lnTo>
                  <a:pt x="0" y="124777"/>
                </a:lnTo>
                <a:lnTo>
                  <a:pt x="0" y="27057"/>
                </a:lnTo>
                <a:lnTo>
                  <a:pt x="27057" y="0"/>
                </a:lnTo>
                <a:lnTo>
                  <a:pt x="581232" y="0"/>
                </a:lnTo>
                <a:lnTo>
                  <a:pt x="608290" y="27057"/>
                </a:lnTo>
                <a:lnTo>
                  <a:pt x="608290" y="128914"/>
                </a:lnTo>
                <a:lnTo>
                  <a:pt x="585211" y="155180"/>
                </a:lnTo>
                <a:lnTo>
                  <a:pt x="581232" y="155971"/>
                </a:lnTo>
                <a:close/>
              </a:path>
            </a:pathLst>
          </a:custGeom>
          <a:solidFill>
            <a:srgbClr val="E4E7EB"/>
          </a:solidFill>
        </p:spPr>
        <p:txBody>
          <a:bodyPr wrap="square" lIns="0" tIns="0" rIns="0" bIns="0" rtlCol="0"/>
          <a:lstStyle/>
          <a:p>
            <a:endParaRPr sz="320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31" name="object 39">
            <a:extLst>
              <a:ext uri="{FF2B5EF4-FFF2-40B4-BE49-F238E27FC236}">
                <a16:creationId xmlns:a16="http://schemas.microsoft.com/office/drawing/2014/main" id="{05D54838-F72E-42CA-92D7-A441D33DC6EF}"/>
              </a:ext>
            </a:extLst>
          </p:cNvPr>
          <p:cNvSpPr txBox="1"/>
          <p:nvPr/>
        </p:nvSpPr>
        <p:spPr>
          <a:xfrm>
            <a:off x="7656475" y="4885603"/>
            <a:ext cx="2000641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ko-KR" altLang="en-US" sz="1200" b="1" spc="-50" dirty="0">
                <a:solidFill>
                  <a:srgbClr val="1F2937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환경  설정 미흡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맑은 고딕"/>
            </a:endParaRPr>
          </a:p>
        </p:txBody>
      </p:sp>
      <p:sp>
        <p:nvSpPr>
          <p:cNvPr id="134" name="object 56">
            <a:extLst>
              <a:ext uri="{FF2B5EF4-FFF2-40B4-BE49-F238E27FC236}">
                <a16:creationId xmlns:a16="http://schemas.microsoft.com/office/drawing/2014/main" id="{DE742B17-A101-4D1A-91FD-3781843E75D1}"/>
              </a:ext>
            </a:extLst>
          </p:cNvPr>
          <p:cNvSpPr txBox="1"/>
          <p:nvPr/>
        </p:nvSpPr>
        <p:spPr>
          <a:xfrm>
            <a:off x="7668945" y="5145720"/>
            <a:ext cx="4370739" cy="2169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95"/>
              </a:spcBef>
            </a:pPr>
            <a:r>
              <a:rPr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테스터의</a:t>
            </a:r>
            <a:r>
              <a:rPr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</a:t>
            </a:r>
            <a:r>
              <a:rPr lang="ko-KR" altLang="en-US"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프로시져</a:t>
            </a:r>
            <a:r>
              <a:rPr lang="ko-KR" altLang="en-US"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실행 </a:t>
            </a:r>
            <a:r>
              <a:rPr lang="ko-KR" altLang="en-US" sz="1100" spc="-60" dirty="0" err="1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전처리</a:t>
            </a:r>
            <a:r>
              <a:rPr lang="ko-KR" altLang="en-US" sz="1100" spc="-6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Arial Unicode MS"/>
              </a:rPr>
              <a:t> 미흡</a:t>
            </a:r>
            <a:endParaRPr sz="12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AF46F9D-C4D6-472A-868B-81C95A717523}"/>
              </a:ext>
            </a:extLst>
          </p:cNvPr>
          <p:cNvSpPr txBox="1"/>
          <p:nvPr/>
        </p:nvSpPr>
        <p:spPr>
          <a:xfrm>
            <a:off x="7615999" y="5432464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DEF-03705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</a:p>
          <a:p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테이블에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INSERT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안됨	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 </a:t>
            </a:r>
          </a:p>
          <a:p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테스트 내용은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UT-SP_ESB_SMSRQSTAOMS_SND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내용을 잘못 처리 함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0EA1305-A476-4FBB-8512-A90906A112F8}"/>
              </a:ext>
            </a:extLst>
          </p:cNvPr>
          <p:cNvSpPr txBox="1"/>
          <p:nvPr/>
        </p:nvSpPr>
        <p:spPr>
          <a:xfrm>
            <a:off x="7599588" y="4053394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DEF-03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387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</a:p>
          <a:p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초기 화면 진입 시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검색을 하지 않았는데도</a:t>
            </a:r>
            <a:endParaRPr lang="en-US" altLang="ko-KR" sz="1100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검색된 결과가 없습니다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'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란 팝업이 뜸</a:t>
            </a:r>
          </a:p>
        </p:txBody>
      </p:sp>
      <p:sp>
        <p:nvSpPr>
          <p:cNvPr id="137" name="Rectangle 2">
            <a:extLst>
              <a:ext uri="{FF2B5EF4-FFF2-40B4-BE49-F238E27FC236}">
                <a16:creationId xmlns:a16="http://schemas.microsoft.com/office/drawing/2014/main" id="{CCA6574E-23B6-4E45-92FD-5E845D436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유효 결함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현황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2951054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5D4D-E35F-ED69-AF91-3AAAE632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F781C7-76FB-9EA3-1E74-480C668CB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- </a:t>
            </a:r>
            <a:r>
              <a:rPr lang="en-US" altLang="ko-KR" sz="2000" b="1" dirty="0">
                <a:solidFill>
                  <a:prstClr val="white"/>
                </a:solidFill>
              </a:rPr>
              <a:t>2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정량적 결함 분석  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1/2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47A53C9-920F-D333-9073-00196F95C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101" y="944563"/>
            <a:ext cx="102902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AutoNum type="arabicParenR"/>
              <a:tabLst/>
            </a:pP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(Severity)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별 분포  </a:t>
            </a:r>
            <a:endParaRPr lang="en-US" altLang="ko-KR" sz="1200" b="1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AA0B7F0-5B87-0DB9-9365-ADCBDF9C8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82751"/>
              </p:ext>
            </p:extLst>
          </p:nvPr>
        </p:nvGraphicFramePr>
        <p:xfrm>
          <a:off x="766763" y="1341438"/>
          <a:ext cx="8162633" cy="511175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642160">
                  <a:extLst>
                    <a:ext uri="{9D8B030D-6E8A-4147-A177-3AD203B41FA5}">
                      <a16:colId xmlns:a16="http://schemas.microsoft.com/office/drawing/2014/main" val="3775561322"/>
                    </a:ext>
                  </a:extLst>
                </a:gridCol>
                <a:gridCol w="531845">
                  <a:extLst>
                    <a:ext uri="{9D8B030D-6E8A-4147-A177-3AD203B41FA5}">
                      <a16:colId xmlns:a16="http://schemas.microsoft.com/office/drawing/2014/main" val="3207915394"/>
                    </a:ext>
                  </a:extLst>
                </a:gridCol>
                <a:gridCol w="597160">
                  <a:extLst>
                    <a:ext uri="{9D8B030D-6E8A-4147-A177-3AD203B41FA5}">
                      <a16:colId xmlns:a16="http://schemas.microsoft.com/office/drawing/2014/main" val="1761355692"/>
                    </a:ext>
                  </a:extLst>
                </a:gridCol>
                <a:gridCol w="6391468">
                  <a:extLst>
                    <a:ext uri="{9D8B030D-6E8A-4147-A177-3AD203B41FA5}">
                      <a16:colId xmlns:a16="http://schemas.microsoft.com/office/drawing/2014/main" val="80658915"/>
                    </a:ext>
                  </a:extLst>
                </a:gridCol>
              </a:tblGrid>
              <a:tr h="33207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건수</a:t>
                      </a:r>
                      <a:endParaRPr lang="ko-KR" sz="1200" b="1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비중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091826"/>
                  </a:ext>
                </a:extLst>
              </a:tr>
              <a:tr h="13502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Critical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6.2%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DEF-03527 : STY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가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NEW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이지만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5) via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입력 불가능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DEF-03605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날짜 포맷에 맞지 않는 형식이 저장됨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업무영역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latinLnBrk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운항계획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(FP),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자원배정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(RS)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일부 화면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369559"/>
                  </a:ext>
                </a:extLst>
              </a:tr>
              <a:tr h="180335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Major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38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23.6%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DEF-03506 : TYS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값이 </a:t>
                      </a:r>
                      <a:r>
                        <a:rPr lang="en-US" alt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readonly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가 아니라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reg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랑 상관없이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TYS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값을 변경하고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submit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 서버오류가 발생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필수 버튼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저장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비활성화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DEF-03760 : excel Upload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check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없이 그대로 저장됨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DEF-03446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선택한 라디오와 전체 값을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비교했을때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헤더도 다르고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숫자값도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다름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업무영역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운항계획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(FP),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예측관리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(PM),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자원배정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(RS) 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011604"/>
                  </a:ext>
                </a:extLst>
              </a:tr>
              <a:tr h="162605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Minor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113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70.2%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현상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DEF-03401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: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영문단어수정필요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</a:t>
                      </a:r>
                      <a:r>
                        <a:rPr lang="en-US" alt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Defination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-&gt;Definition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DEF-03721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오후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-&gt;  14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시로 표시되면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좋을것같습니다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출국장 페이지 동일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DEF-03455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Set focus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가  첫 화면에 위치하지 않음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[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업무영역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</a:p>
                    <a:p>
                      <a:pPr marL="171450" indent="-171450" latinLnBrk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A-CDM(CM),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공통관리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(FIMS-CA, AOMS-CA),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예측관리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(PM)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44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1588"/>
                  </a:ext>
                </a:extLst>
              </a:tr>
            </a:tbl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6FAB430F-1734-46D3-91A6-5ACC083282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194287"/>
              </p:ext>
            </p:extLst>
          </p:nvPr>
        </p:nvGraphicFramePr>
        <p:xfrm>
          <a:off x="8419801" y="1358323"/>
          <a:ext cx="3961929" cy="4708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80830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C98EA11-2724-5350-AEF3-2AE974A9D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- 2.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정량적 결함 분석    </a:t>
            </a:r>
            <a:r>
              <a:rPr lang="en-US" altLang="ko-KR" sz="2000" b="1" dirty="0">
                <a:solidFill>
                  <a:prstClr val="white"/>
                </a:solidFill>
              </a:rPr>
              <a:t>2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/2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1FF9E13-03EB-040E-EA70-BE5B8DF33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38" y="913493"/>
            <a:ext cx="102902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주요 유형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(Defect Type) </a:t>
            </a:r>
            <a:r>
              <a:rPr kumimoji="0" lang="ko-KR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별 분포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40F0F5E-8AC5-36D9-79AC-C47E068B4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523415"/>
              </p:ext>
            </p:extLst>
          </p:nvPr>
        </p:nvGraphicFramePr>
        <p:xfrm>
          <a:off x="766763" y="1358838"/>
          <a:ext cx="7341539" cy="495976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754127">
                  <a:extLst>
                    <a:ext uri="{9D8B030D-6E8A-4147-A177-3AD203B41FA5}">
                      <a16:colId xmlns:a16="http://schemas.microsoft.com/office/drawing/2014/main" val="392611826"/>
                    </a:ext>
                  </a:extLst>
                </a:gridCol>
                <a:gridCol w="541175">
                  <a:extLst>
                    <a:ext uri="{9D8B030D-6E8A-4147-A177-3AD203B41FA5}">
                      <a16:colId xmlns:a16="http://schemas.microsoft.com/office/drawing/2014/main" val="3656340524"/>
                    </a:ext>
                  </a:extLst>
                </a:gridCol>
                <a:gridCol w="578498">
                  <a:extLst>
                    <a:ext uri="{9D8B030D-6E8A-4147-A177-3AD203B41FA5}">
                      <a16:colId xmlns:a16="http://schemas.microsoft.com/office/drawing/2014/main" val="826301422"/>
                    </a:ext>
                  </a:extLst>
                </a:gridCol>
                <a:gridCol w="5467739">
                  <a:extLst>
                    <a:ext uri="{9D8B030D-6E8A-4147-A177-3AD203B41FA5}">
                      <a16:colId xmlns:a16="http://schemas.microsoft.com/office/drawing/2014/main" val="595994797"/>
                    </a:ext>
                  </a:extLst>
                </a:gridCol>
              </a:tblGrid>
              <a:tr h="32511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유형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건수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비중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분석 내용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363542"/>
                  </a:ext>
                </a:extLst>
              </a:tr>
              <a:tr h="111006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기능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110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68.3%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DEF-03582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최대 조회기간이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일을 초과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할수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없는데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Timestamp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에 값을 넣지 않으면 전체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Data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를 다 가져 옴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DEF-03403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조회에서 주기장이 필수항목으로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푯되여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있으나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입력없이도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조회됨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DEF-03454 :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행추가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저장시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오류 발생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4920379"/>
                  </a:ext>
                </a:extLst>
              </a:tr>
              <a:tr h="111006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UI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10.6%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DEF-03412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테이블 초기 선택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row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가 마지막 행으로 되어있음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DEF-03381 : 1920*1080,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크롬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100%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배율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최초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조회시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그래프 이미지 사이즈가 맞지 않음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스크롤바도 안보임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DEF-03759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검색 조건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UI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없음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5312007"/>
                  </a:ext>
                </a:extLst>
              </a:tr>
              <a:tr h="114460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8.1%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DEF-03671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테스트 결과서의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3515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기대결과값과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다르게 나옴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45-&gt; 90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DEF-03515 : DECLARE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문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실행시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계속 실행되고 종료가 안됨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DEF-03423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 시 오류 발생 기준일자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2025-10-01, 2025-10-02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로 조회 시 오류 발생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그외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몇개 일자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조회시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정상 조회됨</a:t>
                      </a:r>
                      <a:endParaRPr lang="ko-KR" altLang="en-US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168569"/>
                  </a:ext>
                </a:extLst>
              </a:tr>
              <a:tr h="96750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표준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기타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21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DEF-03677 :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실행결과 행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선택할때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Stand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값이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 경우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‘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검색 결과가 없습니다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‘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대신 개수가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이라는 의미의 문구를 명시적으로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보여주는게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적절할 것 같음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144000" indent="-171450" latinLnBrk="1">
                        <a:lnSpc>
                          <a:spcPts val="14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DEF-03461 : </a:t>
                      </a:r>
                      <a:r>
                        <a:rPr lang="en-US" alt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order_number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가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부터 시작하지 않고 지정한 페이지당 출력할 숫자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+ 1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부터 시작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프린트 결과는 정상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109000"/>
                  </a:ext>
                </a:extLst>
              </a:tr>
              <a:tr h="30240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161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건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100%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85122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차트 5">
                <a:extLst>
                  <a:ext uri="{FF2B5EF4-FFF2-40B4-BE49-F238E27FC236}">
                    <a16:creationId xmlns:a16="http://schemas.microsoft.com/office/drawing/2014/main" id="{FE141655-1569-4B27-8AFC-36260A1575C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78192110"/>
                  </p:ext>
                </p:extLst>
              </p:nvPr>
            </p:nvGraphicFramePr>
            <p:xfrm>
              <a:off x="8229600" y="1193799"/>
              <a:ext cx="3718830" cy="525938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차트 5">
                <a:extLst>
                  <a:ext uri="{FF2B5EF4-FFF2-40B4-BE49-F238E27FC236}">
                    <a16:creationId xmlns:a16="http://schemas.microsoft.com/office/drawing/2014/main" id="{FE141655-1569-4B27-8AFC-36260A1575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29600" y="1193799"/>
                <a:ext cx="3718830" cy="52593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12114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3.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분석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–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주요 원인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6" name="Rectangle 1">
            <a:extLst>
              <a:ext uri="{FF2B5EF4-FFF2-40B4-BE49-F238E27FC236}">
                <a16:creationId xmlns:a16="http://schemas.microsoft.com/office/drawing/2014/main" id="{2BEC96C2-E6E3-4F45-BFF1-60B5D2F37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77" y="887791"/>
            <a:ext cx="72481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식별 태그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([S], [C], [X])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결함 내용을 기반으로 분석 </a:t>
            </a: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결과를 </a:t>
            </a:r>
            <a:r>
              <a:rPr lang="en-US" altLang="ko-KR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차 테스트와 비교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F19DA92-DFD1-405C-A111-B44E84049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691816"/>
              </p:ext>
            </p:extLst>
          </p:nvPr>
        </p:nvGraphicFramePr>
        <p:xfrm>
          <a:off x="766763" y="1359478"/>
          <a:ext cx="5951278" cy="4846885"/>
        </p:xfrm>
        <a:graphic>
          <a:graphicData uri="http://schemas.openxmlformats.org/drawingml/2006/table">
            <a:tbl>
              <a:tblPr/>
              <a:tblGrid>
                <a:gridCol w="476051">
                  <a:extLst>
                    <a:ext uri="{9D8B030D-6E8A-4147-A177-3AD203B41FA5}">
                      <a16:colId xmlns:a16="http://schemas.microsoft.com/office/drawing/2014/main" val="2708785272"/>
                    </a:ext>
                  </a:extLst>
                </a:gridCol>
                <a:gridCol w="687305">
                  <a:extLst>
                    <a:ext uri="{9D8B030D-6E8A-4147-A177-3AD203B41FA5}">
                      <a16:colId xmlns:a16="http://schemas.microsoft.com/office/drawing/2014/main" val="2057820993"/>
                    </a:ext>
                  </a:extLst>
                </a:gridCol>
                <a:gridCol w="3628942">
                  <a:extLst>
                    <a:ext uri="{9D8B030D-6E8A-4147-A177-3AD203B41FA5}">
                      <a16:colId xmlns:a16="http://schemas.microsoft.com/office/drawing/2014/main" val="28137482"/>
                    </a:ext>
                  </a:extLst>
                </a:gridCol>
                <a:gridCol w="594189">
                  <a:extLst>
                    <a:ext uri="{9D8B030D-6E8A-4147-A177-3AD203B41FA5}">
                      <a16:colId xmlns:a16="http://schemas.microsoft.com/office/drawing/2014/main" val="1528279867"/>
                    </a:ext>
                  </a:extLst>
                </a:gridCol>
                <a:gridCol w="564791">
                  <a:extLst>
                    <a:ext uri="{9D8B030D-6E8A-4147-A177-3AD203B41FA5}">
                      <a16:colId xmlns:a16="http://schemas.microsoft.com/office/drawing/2014/main" val="3034272683"/>
                    </a:ext>
                  </a:extLst>
                </a:gridCol>
              </a:tblGrid>
              <a:tr h="37472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유형 구분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6600"/>
                  </a:ext>
                </a:extLst>
              </a:tr>
              <a:tr h="40968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환경적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환경미비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 로딩 불가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475438"/>
                  </a:ext>
                </a:extLst>
              </a:tr>
              <a:tr h="35255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스키마 권한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결과서 쿼리에 스키마명 보완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스키마 권한 필요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34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648353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프로세스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 호출 오류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753651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문서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결과서 내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증적이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미흡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32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576271"/>
                  </a:ext>
                </a:extLst>
              </a:tr>
              <a:tr h="40968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기능적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이슈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시나리오 내 테스트 케이스 비정상 동작</a:t>
                      </a:r>
                      <a:endParaRPr lang="en-US" altLang="ko-KR" sz="1200" b="1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87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044250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값검증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 값 오류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769233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구현 화면의 비정상 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859351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기능적 이슈</a:t>
                      </a:r>
                    </a:p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데이터누락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테스트를 위한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테이터가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불충분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26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003454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권한누락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테스트를 위한 요구 권한 누락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224878"/>
                  </a:ext>
                </a:extLst>
              </a:tr>
              <a:tr h="40968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공통화면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 체크리스트의 구현 불충분</a:t>
                      </a:r>
                      <a:endParaRPr lang="en-US" altLang="ko-KR" sz="1200" b="1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664874"/>
                  </a:ext>
                </a:extLst>
              </a:tr>
              <a:tr h="40968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결함아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결함이 아님 →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테스터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오기입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또는 로직 이해 부족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97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808097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A047E390-6182-4411-A8F3-738AC0C7F20E}"/>
              </a:ext>
            </a:extLst>
          </p:cNvPr>
          <p:cNvGrpSpPr/>
          <p:nvPr/>
        </p:nvGrpSpPr>
        <p:grpSpPr>
          <a:xfrm>
            <a:off x="7679092" y="2133600"/>
            <a:ext cx="669470" cy="429729"/>
            <a:chOff x="8057762" y="2133600"/>
            <a:chExt cx="669470" cy="429729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31C811F3-96E5-42D2-A6D9-803EBA494B7B}"/>
                </a:ext>
              </a:extLst>
            </p:cNvPr>
            <p:cNvCxnSpPr/>
            <p:nvPr/>
          </p:nvCxnSpPr>
          <p:spPr>
            <a:xfrm>
              <a:off x="8224933" y="2563329"/>
              <a:ext cx="457200" cy="0"/>
            </a:xfrm>
            <a:prstGeom prst="line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365E80-5636-4A32-9BE0-EA1696308DEE}"/>
                </a:ext>
              </a:extLst>
            </p:cNvPr>
            <p:cNvSpPr txBox="1"/>
            <p:nvPr/>
          </p:nvSpPr>
          <p:spPr>
            <a:xfrm>
              <a:off x="8057762" y="2133600"/>
              <a:ext cx="6694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</a:t>
              </a:r>
              <a:r>
                <a:rPr lang="ko-KR" altLang="en-US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1CF252D-28CE-41F7-B86A-12293932121C}"/>
              </a:ext>
            </a:extLst>
          </p:cNvPr>
          <p:cNvGrpSpPr/>
          <p:nvPr/>
        </p:nvGrpSpPr>
        <p:grpSpPr>
          <a:xfrm>
            <a:off x="10318881" y="2133600"/>
            <a:ext cx="669470" cy="429729"/>
            <a:chOff x="10318881" y="2133600"/>
            <a:chExt cx="669470" cy="429729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2443664-E923-469C-87A9-9597502C3DA9}"/>
                </a:ext>
              </a:extLst>
            </p:cNvPr>
            <p:cNvCxnSpPr/>
            <p:nvPr/>
          </p:nvCxnSpPr>
          <p:spPr>
            <a:xfrm>
              <a:off x="10411408" y="2563329"/>
              <a:ext cx="457200" cy="0"/>
            </a:xfrm>
            <a:prstGeom prst="line">
              <a:avLst/>
            </a:prstGeom>
            <a:ln w="41275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7CDE9F-5656-4853-9FAA-3B1EAD63F52F}"/>
                </a:ext>
              </a:extLst>
            </p:cNvPr>
            <p:cNvSpPr txBox="1"/>
            <p:nvPr/>
          </p:nvSpPr>
          <p:spPr>
            <a:xfrm>
              <a:off x="10318881" y="2133600"/>
              <a:ext cx="6694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</a:t>
              </a:r>
              <a:r>
                <a:rPr lang="ko-KR" altLang="en-US" sz="1800" b="0" i="0" u="none" strike="noStrike" dirty="0">
                  <a:solidFill>
                    <a:srgbClr val="000000"/>
                  </a:solidFill>
                  <a:effectLst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차</a:t>
              </a:r>
            </a:p>
          </p:txBody>
        </p:sp>
      </p:grpSp>
      <p:sp>
        <p:nvSpPr>
          <p:cNvPr id="22" name="Rectangle 1">
            <a:extLst>
              <a:ext uri="{FF2B5EF4-FFF2-40B4-BE49-F238E27FC236}">
                <a16:creationId xmlns:a16="http://schemas.microsoft.com/office/drawing/2014/main" id="{CEE1BAEF-10B3-4478-BDAD-10A4F26B2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477" y="5057330"/>
            <a:ext cx="4607326" cy="1149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환경적 이슈로 발생하는 결함은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감소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테스트 수행에 집중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하며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결함을 도출 함</a:t>
            </a:r>
            <a:endParaRPr lang="en-US" altLang="ko-KR" sz="1400" b="1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난이도가 높아 업무에 대한 판단이 필요한 기능이 다수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7094024" y="4058815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7499510" y="4104688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8466678" y="4058816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10160260" y="4058815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7A88592-D48D-4727-89C7-3CD2C21CD700}"/>
              </a:ext>
            </a:extLst>
          </p:cNvPr>
          <p:cNvSpPr/>
          <p:nvPr/>
        </p:nvSpPr>
        <p:spPr>
          <a:xfrm rot="2576893">
            <a:off x="10667054" y="4058816"/>
            <a:ext cx="317241" cy="75577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271FA90-A8E6-4F0E-B48B-20244A01A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287" y="1165035"/>
            <a:ext cx="4907705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1544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6D521385-3946-482F-BE99-15F386556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3.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분석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–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업무영역별 결함 유형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4B366E2-2D2D-4CC0-9380-B4A9070CA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621534"/>
              </p:ext>
            </p:extLst>
          </p:nvPr>
        </p:nvGraphicFramePr>
        <p:xfrm>
          <a:off x="766763" y="1250302"/>
          <a:ext cx="10877845" cy="5131853"/>
        </p:xfrm>
        <a:graphic>
          <a:graphicData uri="http://schemas.openxmlformats.org/drawingml/2006/table">
            <a:tbl>
              <a:tblPr/>
              <a:tblGrid>
                <a:gridCol w="1372744">
                  <a:extLst>
                    <a:ext uri="{9D8B030D-6E8A-4147-A177-3AD203B41FA5}">
                      <a16:colId xmlns:a16="http://schemas.microsoft.com/office/drawing/2014/main" val="1842592351"/>
                    </a:ext>
                  </a:extLst>
                </a:gridCol>
                <a:gridCol w="1781484">
                  <a:extLst>
                    <a:ext uri="{9D8B030D-6E8A-4147-A177-3AD203B41FA5}">
                      <a16:colId xmlns:a16="http://schemas.microsoft.com/office/drawing/2014/main" val="3139878753"/>
                    </a:ext>
                  </a:extLst>
                </a:gridCol>
                <a:gridCol w="910022">
                  <a:extLst>
                    <a:ext uri="{9D8B030D-6E8A-4147-A177-3AD203B41FA5}">
                      <a16:colId xmlns:a16="http://schemas.microsoft.com/office/drawing/2014/main" val="3580246111"/>
                    </a:ext>
                  </a:extLst>
                </a:gridCol>
                <a:gridCol w="910022">
                  <a:extLst>
                    <a:ext uri="{9D8B030D-6E8A-4147-A177-3AD203B41FA5}">
                      <a16:colId xmlns:a16="http://schemas.microsoft.com/office/drawing/2014/main" val="4037581696"/>
                    </a:ext>
                  </a:extLst>
                </a:gridCol>
                <a:gridCol w="694084">
                  <a:extLst>
                    <a:ext uri="{9D8B030D-6E8A-4147-A177-3AD203B41FA5}">
                      <a16:colId xmlns:a16="http://schemas.microsoft.com/office/drawing/2014/main" val="3671033048"/>
                    </a:ext>
                  </a:extLst>
                </a:gridCol>
                <a:gridCol w="694084">
                  <a:extLst>
                    <a:ext uri="{9D8B030D-6E8A-4147-A177-3AD203B41FA5}">
                      <a16:colId xmlns:a16="http://schemas.microsoft.com/office/drawing/2014/main" val="2839907166"/>
                    </a:ext>
                  </a:extLst>
                </a:gridCol>
                <a:gridCol w="728789">
                  <a:extLst>
                    <a:ext uri="{9D8B030D-6E8A-4147-A177-3AD203B41FA5}">
                      <a16:colId xmlns:a16="http://schemas.microsoft.com/office/drawing/2014/main" val="478584609"/>
                    </a:ext>
                  </a:extLst>
                </a:gridCol>
                <a:gridCol w="694084">
                  <a:extLst>
                    <a:ext uri="{9D8B030D-6E8A-4147-A177-3AD203B41FA5}">
                      <a16:colId xmlns:a16="http://schemas.microsoft.com/office/drawing/2014/main" val="3819463394"/>
                    </a:ext>
                  </a:extLst>
                </a:gridCol>
                <a:gridCol w="910022">
                  <a:extLst>
                    <a:ext uri="{9D8B030D-6E8A-4147-A177-3AD203B41FA5}">
                      <a16:colId xmlns:a16="http://schemas.microsoft.com/office/drawing/2014/main" val="3055261315"/>
                    </a:ext>
                  </a:extLst>
                </a:gridCol>
                <a:gridCol w="728789">
                  <a:extLst>
                    <a:ext uri="{9D8B030D-6E8A-4147-A177-3AD203B41FA5}">
                      <a16:colId xmlns:a16="http://schemas.microsoft.com/office/drawing/2014/main" val="2177449803"/>
                    </a:ext>
                  </a:extLst>
                </a:gridCol>
                <a:gridCol w="910022">
                  <a:extLst>
                    <a:ext uri="{9D8B030D-6E8A-4147-A177-3AD203B41FA5}">
                      <a16:colId xmlns:a16="http://schemas.microsoft.com/office/drawing/2014/main" val="1890360216"/>
                    </a:ext>
                  </a:extLst>
                </a:gridCol>
                <a:gridCol w="543699">
                  <a:extLst>
                    <a:ext uri="{9D8B030D-6E8A-4147-A177-3AD203B41FA5}">
                      <a16:colId xmlns:a16="http://schemas.microsoft.com/office/drawing/2014/main" val="3424368336"/>
                    </a:ext>
                  </a:extLst>
                </a:gridCol>
              </a:tblGrid>
              <a:tr h="40577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업무영역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총 대상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프로세스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문서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값검증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권한누락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데이터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공통화면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계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493710"/>
                  </a:ext>
                </a:extLst>
              </a:tr>
              <a:tr h="26256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공항운영관리</a:t>
                      </a:r>
                      <a:b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예측관리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PM)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747547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항공보안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FS)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330027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공항운영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65611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항공통계포털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(AS)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803874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AOMS-CA)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042733"/>
                  </a:ext>
                </a:extLst>
              </a:tr>
              <a:tr h="26256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운항정보관리</a:t>
                      </a:r>
                      <a:b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FIMS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A-CDM(CM)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78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17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242085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공통관리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FIMS-CA)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23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9196203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비상계획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CP)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18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989065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운항계획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FP)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90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388625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RS)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19849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항공기관제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AC)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57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512392"/>
                  </a:ext>
                </a:extLst>
              </a:tr>
              <a:tr h="26256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상용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자원배정차트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(RC)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128614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SLOT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관리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SLOT)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206591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MES)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496489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모바일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WES)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19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792382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자원배정엔진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(RE)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188086"/>
                  </a:ext>
                </a:extLst>
              </a:tr>
              <a:tr h="2625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푸시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SW(PUSH)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1972579"/>
                  </a:ext>
                </a:extLst>
              </a:tr>
              <a:tr h="26256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계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640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87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6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8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39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161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430514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EDC026D-05B3-41EC-B260-EF0FA821A463}"/>
              </a:ext>
            </a:extLst>
          </p:cNvPr>
          <p:cNvSpPr/>
          <p:nvPr/>
        </p:nvSpPr>
        <p:spPr>
          <a:xfrm>
            <a:off x="6419279" y="1250302"/>
            <a:ext cx="737301" cy="513185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547829-8CDA-4E81-8EEE-2DA36F83FAAA}"/>
              </a:ext>
            </a:extLst>
          </p:cNvPr>
          <p:cNvSpPr/>
          <p:nvPr/>
        </p:nvSpPr>
        <p:spPr>
          <a:xfrm>
            <a:off x="10163965" y="1244082"/>
            <a:ext cx="930133" cy="513185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7589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582027"/>
            <a:chOff x="833764" y="5138588"/>
            <a:chExt cx="2386254" cy="788035"/>
          </a:xfrm>
          <a:solidFill>
            <a:srgbClr val="FDE1DF"/>
          </a:solidFill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790674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Critical</a:t>
            </a:r>
            <a:endParaRPr lang="ko-KR" altLang="en-US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43387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DEF-03527 :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STY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NEW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이지만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5) via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입력 불가능</a:t>
            </a:r>
            <a:endParaRPr lang="ko-KR" altLang="en-US" sz="1050" b="1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13B6076-364F-4960-926D-767DF9996C6B}"/>
              </a:ext>
            </a:extLst>
          </p:cNvPr>
          <p:cNvGrpSpPr/>
          <p:nvPr/>
        </p:nvGrpSpPr>
        <p:grpSpPr>
          <a:xfrm>
            <a:off x="766762" y="1642872"/>
            <a:ext cx="10621963" cy="4810316"/>
            <a:chOff x="766762" y="1642872"/>
            <a:chExt cx="10621963" cy="4810316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E21F2684-F367-42B6-B604-120861776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62" y="1642872"/>
              <a:ext cx="8426175" cy="382305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BAC7F38-60B8-4BA0-B7B4-B942DACC6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4976" y="2442603"/>
              <a:ext cx="8773749" cy="4010585"/>
            </a:xfrm>
            <a:prstGeom prst="rect">
              <a:avLst/>
            </a:prstGeom>
          </p:spPr>
        </p:pic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2BB8BD-8E71-4CCB-8930-A604D69B901F}"/>
              </a:ext>
            </a:extLst>
          </p:cNvPr>
          <p:cNvSpPr/>
          <p:nvPr/>
        </p:nvSpPr>
        <p:spPr>
          <a:xfrm>
            <a:off x="2723463" y="5444426"/>
            <a:ext cx="983496" cy="62664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27A2E670-439A-4C60-A00D-6D5E994B8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9420219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object 5">
            <a:extLst>
              <a:ext uri="{FF2B5EF4-FFF2-40B4-BE49-F238E27FC236}">
                <a16:creationId xmlns:a16="http://schemas.microsoft.com/office/drawing/2014/main" id="{2FF46634-341D-454B-A3FD-FFE8D415789B}"/>
              </a:ext>
            </a:extLst>
          </p:cNvPr>
          <p:cNvGrpSpPr/>
          <p:nvPr/>
        </p:nvGrpSpPr>
        <p:grpSpPr>
          <a:xfrm>
            <a:off x="463965" y="766503"/>
            <a:ext cx="8587568" cy="582027"/>
            <a:chOff x="833764" y="5138588"/>
            <a:chExt cx="2386254" cy="788035"/>
          </a:xfrm>
          <a:solidFill>
            <a:srgbClr val="FDE1DF"/>
          </a:solidFill>
        </p:grpSpPr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DE6BCFE1-1E72-4D16-A6FE-209C83481B30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object 8">
              <a:extLst>
                <a:ext uri="{FF2B5EF4-FFF2-40B4-BE49-F238E27FC236}">
                  <a16:creationId xmlns:a16="http://schemas.microsoft.com/office/drawing/2014/main" id="{09720FC5-DD06-46D6-BA74-171AD1365BF1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EB5859F-2F9F-459D-944E-74E486983527}"/>
              </a:ext>
            </a:extLst>
          </p:cNvPr>
          <p:cNvSpPr txBox="1"/>
          <p:nvPr/>
        </p:nvSpPr>
        <p:spPr>
          <a:xfrm>
            <a:off x="583466" y="790674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Critical</a:t>
            </a:r>
            <a:endParaRPr lang="ko-KR" altLang="en-US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90EF771-CA76-4066-AC0B-B6A3E5CCD0C4}"/>
              </a:ext>
            </a:extLst>
          </p:cNvPr>
          <p:cNvGrpSpPr/>
          <p:nvPr/>
        </p:nvGrpSpPr>
        <p:grpSpPr>
          <a:xfrm>
            <a:off x="783001" y="1642872"/>
            <a:ext cx="10605450" cy="4810318"/>
            <a:chOff x="783001" y="1642872"/>
            <a:chExt cx="10605450" cy="481031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EFC5CB4-E8B0-4E11-B431-2BC957E0C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3001" y="1642872"/>
              <a:ext cx="9328297" cy="40550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F2E234-70C0-4813-8E95-75B0F4A72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0859" y="2575974"/>
              <a:ext cx="8897592" cy="387721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43387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DEF-03605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날짜 포맷에 맞지 않는 형식이 저장됨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6CBDB8-AAF5-4C1A-B37D-1C9BF9AAE892}"/>
              </a:ext>
            </a:extLst>
          </p:cNvPr>
          <p:cNvSpPr/>
          <p:nvPr/>
        </p:nvSpPr>
        <p:spPr>
          <a:xfrm>
            <a:off x="7266223" y="4751488"/>
            <a:ext cx="920847" cy="37047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C530066C-09AE-4E71-B64F-48F31AC7A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2/8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46390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F0CCE1-6F90-443D-B6C5-C1ED5A0AC485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Major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DEF-03506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: TYS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값이 </a:t>
            </a:r>
            <a:r>
              <a:rPr lang="en-US" altLang="ko-KR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readonly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아니라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reg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랑 상관없이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TYS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값을 변경하고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submit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 서버오류가 발생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필수 버튼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저장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 </a:t>
            </a:r>
            <a:r>
              <a:rPr lang="ko-KR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비활성화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D6A2F77-E4F2-4628-850C-4628B8362679}"/>
              </a:ext>
            </a:extLst>
          </p:cNvPr>
          <p:cNvGrpSpPr/>
          <p:nvPr/>
        </p:nvGrpSpPr>
        <p:grpSpPr>
          <a:xfrm>
            <a:off x="1045855" y="1724003"/>
            <a:ext cx="10501552" cy="4600016"/>
            <a:chOff x="770374" y="1786633"/>
            <a:chExt cx="10501552" cy="4600016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58C12F3-C3C4-4196-AF75-15C1AA4D8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74" y="1786633"/>
              <a:ext cx="7416696" cy="4055676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B75B4DC-F7CC-48BD-B525-E0694B0B0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6229" y="1861643"/>
              <a:ext cx="8935697" cy="4525006"/>
            </a:xfrm>
            <a:prstGeom prst="rect">
              <a:avLst/>
            </a:prstGeom>
          </p:spPr>
        </p:pic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5AC265-714A-483E-9B80-D951E8C149DB}"/>
              </a:ext>
            </a:extLst>
          </p:cNvPr>
          <p:cNvSpPr/>
          <p:nvPr/>
        </p:nvSpPr>
        <p:spPr>
          <a:xfrm>
            <a:off x="9294760" y="2565400"/>
            <a:ext cx="1157340" cy="42438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C88582D9-21B4-4E8A-8A6C-5B8BA0212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3/8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355115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85CD9FF1-9FDB-4C3B-A543-25790D07BE6C}"/>
              </a:ext>
            </a:extLst>
          </p:cNvPr>
          <p:cNvSpPr/>
          <p:nvPr/>
        </p:nvSpPr>
        <p:spPr>
          <a:xfrm>
            <a:off x="777047" y="1179278"/>
            <a:ext cx="1060140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FBA21D-738B-462B-84EF-398C0A419C9C}"/>
              </a:ext>
            </a:extLst>
          </p:cNvPr>
          <p:cNvGrpSpPr/>
          <p:nvPr/>
        </p:nvGrpSpPr>
        <p:grpSpPr>
          <a:xfrm>
            <a:off x="993049" y="1799013"/>
            <a:ext cx="10205901" cy="4493295"/>
            <a:chOff x="766763" y="1393303"/>
            <a:chExt cx="10611687" cy="502458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9B4C964-B479-4155-B198-A64845218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6763" y="1796719"/>
              <a:ext cx="9225000" cy="462117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2F37955-B514-4642-A74C-75D284D0A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90882" y="1393303"/>
              <a:ext cx="8587568" cy="4844701"/>
            </a:xfrm>
            <a:prstGeom prst="rect">
              <a:avLst/>
            </a:prstGeom>
          </p:spPr>
        </p:pic>
      </p:grpSp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Major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latinLnBrk="1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DEF-03760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excel Upload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check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없이 그대로 저장됨 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05359ABF-E709-4056-B628-1B19B54D9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4/8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2991076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Major</a:t>
            </a:r>
            <a:r>
              <a:rPr lang="ko-KR" altLang="en-US" sz="1400" b="1" spc="-25" dirty="0">
                <a:solidFill>
                  <a:srgbClr val="1D40AF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맑은 고딕"/>
              </a:rPr>
              <a:t> </a:t>
            </a:r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DEF-03446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선택한 라디오와 전체 값을 비교했을 때 헤더도 다르고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숫자값도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다름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27255E7-06DA-41EB-A57F-DFC6ABA2B279}"/>
              </a:ext>
            </a:extLst>
          </p:cNvPr>
          <p:cNvGrpSpPr/>
          <p:nvPr/>
        </p:nvGrpSpPr>
        <p:grpSpPr>
          <a:xfrm>
            <a:off x="766763" y="1733485"/>
            <a:ext cx="10619815" cy="4771483"/>
            <a:chOff x="291341" y="1712096"/>
            <a:chExt cx="10619815" cy="4771483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8E27027-665A-4C8C-9312-CA9B9E284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341" y="1712096"/>
              <a:ext cx="8717431" cy="426756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72E6E60-611A-4950-AF45-074461A03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0136" y="2660991"/>
              <a:ext cx="9011020" cy="3822588"/>
            </a:xfrm>
            <a:prstGeom prst="rect">
              <a:avLst/>
            </a:prstGeom>
          </p:spPr>
        </p:pic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id="{2D687CD3-302A-406C-93D0-E8313E0F5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5/8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07041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Minor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DEF-03401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영문단어수정필요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</a:t>
            </a:r>
            <a:r>
              <a:rPr lang="en-US" altLang="ko-KR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Defination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-&gt;Definition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109F89-CCDA-4B49-8C6F-BD79D86C8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44" y="1664261"/>
            <a:ext cx="9344953" cy="4788927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20535E-23A4-407E-B399-F54F589EAB4E}"/>
              </a:ext>
            </a:extLst>
          </p:cNvPr>
          <p:cNvSpPr/>
          <p:nvPr/>
        </p:nvSpPr>
        <p:spPr>
          <a:xfrm>
            <a:off x="6096000" y="5193739"/>
            <a:ext cx="1750828" cy="69669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7BF876E-26C4-493C-A99B-E09215EA6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6/8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4271459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FD9A5D-BD15-4420-B960-A30D25DCA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1733485"/>
            <a:ext cx="9766784" cy="4719703"/>
          </a:xfrm>
          <a:prstGeom prst="rect">
            <a:avLst/>
          </a:prstGeom>
        </p:spPr>
      </p:pic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Minor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DEF-03721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오후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-&gt;  14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시로 표시되면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좋을것같습니다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(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출국장 페이지 동일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20535E-23A4-407E-B399-F54F589EAB4E}"/>
              </a:ext>
            </a:extLst>
          </p:cNvPr>
          <p:cNvSpPr/>
          <p:nvPr/>
        </p:nvSpPr>
        <p:spPr>
          <a:xfrm>
            <a:off x="6468139" y="5491450"/>
            <a:ext cx="3654055" cy="1051477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9D28CD56-20A5-4D80-98EE-8D2943FE7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7/8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37205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5">
            <a:extLst>
              <a:ext uri="{FF2B5EF4-FFF2-40B4-BE49-F238E27FC236}">
                <a16:creationId xmlns:a16="http://schemas.microsoft.com/office/drawing/2014/main" id="{7226E383-FD44-4302-A4B5-15C2BBE239C6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9A1252A-2616-4C2F-B675-FED43C4C1BE1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D8EC6A9-F836-4E3E-A396-0CB84DF764B9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11F3544-C21E-4169-82F9-E22EAAC049F2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Minor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6B358-03B0-45E5-A019-D42057979D30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DEF-03455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Set focus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 첫 화면에 위치하지 않음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627B1F-FEF3-4AD5-85A1-080DCA3B2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1868417"/>
            <a:ext cx="9425573" cy="4205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71EAEC-E774-4944-A712-D3052ABEA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163" y="1875256"/>
            <a:ext cx="8038252" cy="464398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627C36-E318-4E61-B4CB-76B563F99C51}"/>
              </a:ext>
            </a:extLst>
          </p:cNvPr>
          <p:cNvSpPr/>
          <p:nvPr/>
        </p:nvSpPr>
        <p:spPr>
          <a:xfrm>
            <a:off x="3586876" y="3551274"/>
            <a:ext cx="1048919" cy="43593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891EFC2A-386E-478E-B209-1E96238AD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심각도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8/8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5943568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DEF-03582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최대 조회기간이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일을 초과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할수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없는데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Timestamp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값을 넣지 않으면 전체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Data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다 가져 옴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419355-92DE-4F81-AE48-0FD41F5FF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14" y="1903009"/>
            <a:ext cx="9126633" cy="425796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6EE1EDB-495F-48BF-9802-53E9FB593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92" y="2283526"/>
            <a:ext cx="9650172" cy="3915321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5A80DDDA-22B0-4735-9627-68554F7BC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5213831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object 5">
            <a:extLst>
              <a:ext uri="{FF2B5EF4-FFF2-40B4-BE49-F238E27FC236}">
                <a16:creationId xmlns:a16="http://schemas.microsoft.com/office/drawing/2014/main" id="{C4EF7903-FC91-489F-A3A1-9E56F9B34E3F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7C90B3BE-C87F-4533-8D1F-A43369B5D01A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0EDE018F-6003-42EE-9BEF-5BF4A271B488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4859AC3-F50E-4C42-BBC3-D09C89EB0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1882332"/>
            <a:ext cx="10056836" cy="43779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DEF-03403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조회에서 주기장이 필수항목으로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푯되여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있으나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입력없이도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조회됨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C5A01C60-0BC3-413A-9AFE-3186CD4DB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2/11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2137007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" name="object 5">
            <a:extLst>
              <a:ext uri="{FF2B5EF4-FFF2-40B4-BE49-F238E27FC236}">
                <a16:creationId xmlns:a16="http://schemas.microsoft.com/office/drawing/2014/main" id="{B6839716-ECC4-47C8-BFB6-B0CE9FA546FE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2B068138-8668-4006-B843-7525989BC389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D38763DE-61DA-4FFE-9B4F-2D7E1DADBF4D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DEF-03454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행추가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저장시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오류 발생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BC2B6A-C585-45C0-A874-94A97D658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60" y="1816146"/>
            <a:ext cx="9075794" cy="40571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2E852FD-4622-42DA-9E5E-42D83794D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08" y="2565400"/>
            <a:ext cx="9075795" cy="3707141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2EA759CC-BFDB-487E-A9F6-E41299DD7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3/11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2180751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UI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DEF-03412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테이블 초기 선택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row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마지막 행으로 되어있음</a:t>
            </a:r>
            <a:endParaRPr lang="en-US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30AE3B-7F18-4BE1-AABA-04B7A29E0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43" y="1586547"/>
            <a:ext cx="8934263" cy="40924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543DC92-2938-48C9-9F19-39B8FCAF3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10" y="2268467"/>
            <a:ext cx="9480651" cy="4089157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31BC5C3C-7DB0-43AD-B4A1-2A9D1F92C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4/11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463496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UI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510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DEF-03381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1920*1080,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크롬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100%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배율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최초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그래프 이미지 사이즈가 맞지 않음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스크롤바도 안보임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pPr>
              <a:spcAft>
                <a:spcPts val="600"/>
              </a:spcAft>
            </a:pP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5E56E9-937A-40B4-8154-667BBDA95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1733485"/>
            <a:ext cx="9443098" cy="4668198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581E1BF2-E4D8-4784-8B42-D9F03456F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5/11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833893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UI</a:t>
            </a:r>
            <a:endParaRPr lang="ko-KR" altLang="en-US" sz="1400" b="1" dirty="0">
              <a:solidFill>
                <a:schemeClr val="bg2">
                  <a:lumMod val="50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Noto Sans K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DEF-03759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검색 조건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UI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없음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555440-9337-4ECA-9873-7FBCB610B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1765244"/>
            <a:ext cx="10193173" cy="4286848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F12C10F2-91E1-4ADC-B8A3-A97351250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6/11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4860460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DEF-03671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테스트 결과서의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3515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기대결과값과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다르게 나옴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45-&gt; 90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574F20-20C9-4DD3-909A-B4405C55F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1658625"/>
            <a:ext cx="10212225" cy="4715533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3CCA8F01-282E-4BEB-8457-11DB91BD7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7/11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22528738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DEF-03515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DECLARE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문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실행시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계속 실행되고 종료가 안됨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74D655-C2B2-4F1E-8C43-5492DE72F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40" y="1517211"/>
            <a:ext cx="10072736" cy="45153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BDB288-5D9F-4D09-A079-49C7EB15E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191" y="2266396"/>
            <a:ext cx="9764488" cy="402963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056F89C-6A24-4A6F-A679-329041189FA1}"/>
              </a:ext>
            </a:extLst>
          </p:cNvPr>
          <p:cNvSpPr/>
          <p:nvPr/>
        </p:nvSpPr>
        <p:spPr>
          <a:xfrm>
            <a:off x="6096000" y="5460753"/>
            <a:ext cx="2399414" cy="919943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EA26EE5-B901-4E18-B022-5D9ABEF72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8/11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3184679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04399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grpFill/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87360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DEF-03423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 시 오류 발생 기준일자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2025-10-01, 2025-10-02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 조회 시 오류 발생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그외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몇개 일자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조회시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정상 조회됨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8A7E50-9E0A-47BF-BF18-A1169C63C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57" y="1687093"/>
            <a:ext cx="9853872" cy="4587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246229-FB43-42E7-951C-D36EECA28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462" y="2017691"/>
            <a:ext cx="8923003" cy="434642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CFA1A1-7E83-4E26-BD41-A1A3D426C0BE}"/>
              </a:ext>
            </a:extLst>
          </p:cNvPr>
          <p:cNvSpPr/>
          <p:nvPr/>
        </p:nvSpPr>
        <p:spPr>
          <a:xfrm>
            <a:off x="3696585" y="4401876"/>
            <a:ext cx="7241879" cy="204690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AB27E9-C7FA-42E1-87B5-A809DF699D39}"/>
              </a:ext>
            </a:extLst>
          </p:cNvPr>
          <p:cNvSpPr/>
          <p:nvPr/>
        </p:nvSpPr>
        <p:spPr>
          <a:xfrm>
            <a:off x="2185576" y="2276533"/>
            <a:ext cx="1907953" cy="29950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6F022E7A-5706-472D-B4BD-3B1680C6A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9/11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0883440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D3569D1-D944-48D0-8B5A-ED7C17D22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55" y="2118242"/>
            <a:ext cx="9154341" cy="40465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916180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solidFill>
              <a:srgbClr val="F1F8EC"/>
            </a:solidFill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표준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/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70136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DEF-03677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실행결과 행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선택할때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Stand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값이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 경우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</a:p>
          <a:p>
            <a:pPr>
              <a:spcAft>
                <a:spcPts val="600"/>
              </a:spcAft>
            </a:pP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검색 결과가 없습니다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대신 개수가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0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이라는 의미의 문구를 명시적으로 </a:t>
            </a:r>
            <a:r>
              <a:rPr lang="ko-KR" altLang="en-US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보여주는게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적절할 것 같음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11CD71-560A-4DD6-A228-356D9F258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" r="16222"/>
          <a:stretch/>
        </p:blipFill>
        <p:spPr>
          <a:xfrm>
            <a:off x="4774019" y="3253563"/>
            <a:ext cx="6614706" cy="2995890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4CF2FF32-9004-4ACE-9779-D4EBD8EC2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10/11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38274617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CD25-C31C-C671-775F-F1F7D3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DEF0B9E-7DCA-438F-8E6F-B826E03B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5.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사례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유형별  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   11/11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EFB788-EB00-4C09-A1E3-BEC6ADF29347}"/>
              </a:ext>
            </a:extLst>
          </p:cNvPr>
          <p:cNvSpPr/>
          <p:nvPr/>
        </p:nvSpPr>
        <p:spPr>
          <a:xfrm>
            <a:off x="787321" y="1179278"/>
            <a:ext cx="10940714" cy="527391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object 5">
            <a:extLst>
              <a:ext uri="{FF2B5EF4-FFF2-40B4-BE49-F238E27FC236}">
                <a16:creationId xmlns:a16="http://schemas.microsoft.com/office/drawing/2014/main" id="{B0BC8524-1161-4881-BD28-24AB213A1F05}"/>
              </a:ext>
            </a:extLst>
          </p:cNvPr>
          <p:cNvGrpSpPr/>
          <p:nvPr/>
        </p:nvGrpSpPr>
        <p:grpSpPr>
          <a:xfrm>
            <a:off x="463965" y="766503"/>
            <a:ext cx="8587568" cy="779988"/>
            <a:chOff x="833764" y="5138588"/>
            <a:chExt cx="2386254" cy="788035"/>
          </a:xfrm>
          <a:solidFill>
            <a:srgbClr val="FDE9E7"/>
          </a:solidFill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B03F133-6D33-48CD-AA9D-0841C84F17EE}"/>
                </a:ext>
              </a:extLst>
            </p:cNvPr>
            <p:cNvSpPr/>
            <p:nvPr/>
          </p:nvSpPr>
          <p:spPr>
            <a:xfrm>
              <a:off x="833764" y="5152438"/>
              <a:ext cx="2386254" cy="766534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8983920" y="787657"/>
                  </a:moveTo>
                  <a:lnTo>
                    <a:pt x="54648" y="787657"/>
                  </a:lnTo>
                  <a:lnTo>
                    <a:pt x="50845" y="787283"/>
                  </a:lnTo>
                  <a:lnTo>
                    <a:pt x="14415" y="767811"/>
                  </a:lnTo>
                  <a:lnTo>
                    <a:pt x="0" y="733008"/>
                  </a:lnTo>
                  <a:lnTo>
                    <a:pt x="0" y="729168"/>
                  </a:lnTo>
                  <a:lnTo>
                    <a:pt x="0" y="54648"/>
                  </a:lnTo>
                  <a:lnTo>
                    <a:pt x="19846" y="14414"/>
                  </a:lnTo>
                  <a:lnTo>
                    <a:pt x="54648" y="0"/>
                  </a:lnTo>
                  <a:lnTo>
                    <a:pt x="8983920" y="0"/>
                  </a:lnTo>
                  <a:lnTo>
                    <a:pt x="9024153" y="19846"/>
                  </a:lnTo>
                  <a:lnTo>
                    <a:pt x="9038569" y="54648"/>
                  </a:lnTo>
                  <a:lnTo>
                    <a:pt x="9038569" y="733008"/>
                  </a:lnTo>
                  <a:lnTo>
                    <a:pt x="9018722" y="773242"/>
                  </a:lnTo>
                  <a:lnTo>
                    <a:pt x="8987723" y="787283"/>
                  </a:lnTo>
                  <a:lnTo>
                    <a:pt x="8983920" y="787657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7FBEF369-9C9F-4244-8149-4F4EACD555F4}"/>
                </a:ext>
              </a:extLst>
            </p:cNvPr>
            <p:cNvSpPr/>
            <p:nvPr/>
          </p:nvSpPr>
          <p:spPr>
            <a:xfrm>
              <a:off x="833764" y="5138588"/>
              <a:ext cx="2386254" cy="788035"/>
            </a:xfrm>
            <a:custGeom>
              <a:avLst/>
              <a:gdLst/>
              <a:ahLst/>
              <a:cxnLst/>
              <a:rect l="l" t="t" r="r" b="b"/>
              <a:pathLst>
                <a:path w="9038590" h="788035">
                  <a:moveTo>
                    <a:pt x="0" y="729168"/>
                  </a:moveTo>
                  <a:lnTo>
                    <a:pt x="0" y="58489"/>
                  </a:lnTo>
                  <a:lnTo>
                    <a:pt x="0" y="54648"/>
                  </a:lnTo>
                  <a:lnTo>
                    <a:pt x="374" y="50845"/>
                  </a:lnTo>
                  <a:lnTo>
                    <a:pt x="17131" y="17130"/>
                  </a:lnTo>
                  <a:lnTo>
                    <a:pt x="19846" y="14414"/>
                  </a:lnTo>
                  <a:lnTo>
                    <a:pt x="22801" y="11990"/>
                  </a:lnTo>
                  <a:lnTo>
                    <a:pt x="25994" y="9856"/>
                  </a:lnTo>
                  <a:lnTo>
                    <a:pt x="29187" y="7722"/>
                  </a:lnTo>
                  <a:lnTo>
                    <a:pt x="47078" y="1123"/>
                  </a:lnTo>
                  <a:lnTo>
                    <a:pt x="50845" y="374"/>
                  </a:lnTo>
                  <a:lnTo>
                    <a:pt x="54648" y="0"/>
                  </a:lnTo>
                  <a:lnTo>
                    <a:pt x="58489" y="0"/>
                  </a:lnTo>
                  <a:lnTo>
                    <a:pt x="8980080" y="0"/>
                  </a:lnTo>
                  <a:lnTo>
                    <a:pt x="8983920" y="0"/>
                  </a:lnTo>
                  <a:lnTo>
                    <a:pt x="8987723" y="374"/>
                  </a:lnTo>
                  <a:lnTo>
                    <a:pt x="8991490" y="1123"/>
                  </a:lnTo>
                  <a:lnTo>
                    <a:pt x="8995257" y="1872"/>
                  </a:lnTo>
                  <a:lnTo>
                    <a:pt x="9012574" y="9857"/>
                  </a:lnTo>
                  <a:lnTo>
                    <a:pt x="9015768" y="11990"/>
                  </a:lnTo>
                  <a:lnTo>
                    <a:pt x="9028710" y="25993"/>
                  </a:lnTo>
                  <a:lnTo>
                    <a:pt x="9030844" y="29187"/>
                  </a:lnTo>
                  <a:lnTo>
                    <a:pt x="9038569" y="58489"/>
                  </a:lnTo>
                  <a:lnTo>
                    <a:pt x="9038569" y="729168"/>
                  </a:lnTo>
                  <a:lnTo>
                    <a:pt x="9038569" y="733008"/>
                  </a:lnTo>
                  <a:lnTo>
                    <a:pt x="9038193" y="736812"/>
                  </a:lnTo>
                  <a:lnTo>
                    <a:pt x="9037444" y="740578"/>
                  </a:lnTo>
                  <a:lnTo>
                    <a:pt x="9036695" y="744345"/>
                  </a:lnTo>
                  <a:lnTo>
                    <a:pt x="9028710" y="761662"/>
                  </a:lnTo>
                  <a:lnTo>
                    <a:pt x="9026576" y="764856"/>
                  </a:lnTo>
                  <a:lnTo>
                    <a:pt x="9012574" y="777800"/>
                  </a:lnTo>
                  <a:lnTo>
                    <a:pt x="9009381" y="779934"/>
                  </a:lnTo>
                  <a:lnTo>
                    <a:pt x="8991490" y="786533"/>
                  </a:lnTo>
                  <a:lnTo>
                    <a:pt x="8987723" y="787283"/>
                  </a:lnTo>
                  <a:lnTo>
                    <a:pt x="8983920" y="787657"/>
                  </a:lnTo>
                  <a:lnTo>
                    <a:pt x="8980080" y="787657"/>
                  </a:lnTo>
                  <a:lnTo>
                    <a:pt x="58489" y="787657"/>
                  </a:lnTo>
                  <a:lnTo>
                    <a:pt x="54648" y="787657"/>
                  </a:lnTo>
                  <a:lnTo>
                    <a:pt x="50845" y="787283"/>
                  </a:lnTo>
                  <a:lnTo>
                    <a:pt x="17131" y="770526"/>
                  </a:lnTo>
                  <a:lnTo>
                    <a:pt x="14415" y="767811"/>
                  </a:lnTo>
                  <a:lnTo>
                    <a:pt x="1123" y="740578"/>
                  </a:lnTo>
                  <a:lnTo>
                    <a:pt x="374" y="736812"/>
                  </a:lnTo>
                  <a:lnTo>
                    <a:pt x="0" y="733008"/>
                  </a:lnTo>
                  <a:lnTo>
                    <a:pt x="0" y="729168"/>
                  </a:lnTo>
                  <a:close/>
                </a:path>
              </a:pathLst>
            </a:custGeom>
            <a:solidFill>
              <a:srgbClr val="F1F8EC"/>
            </a:solidFill>
            <a:ln w="7798">
              <a:solidFill>
                <a:schemeClr val="bg1">
                  <a:lumMod val="75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AEB79FF-1177-470D-A509-8D98C55ABBC0}"/>
              </a:ext>
            </a:extLst>
          </p:cNvPr>
          <p:cNvSpPr txBox="1"/>
          <p:nvPr/>
        </p:nvSpPr>
        <p:spPr>
          <a:xfrm>
            <a:off x="583466" y="825192"/>
            <a:ext cx="924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표준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/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Noto Sans KR"/>
              </a:rPr>
              <a:t>기타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AE9BCC-3164-4B18-B54D-E4CE37A77068}"/>
              </a:ext>
            </a:extLst>
          </p:cNvPr>
          <p:cNvSpPr txBox="1"/>
          <p:nvPr/>
        </p:nvSpPr>
        <p:spPr>
          <a:xfrm>
            <a:off x="1045855" y="1094614"/>
            <a:ext cx="701362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05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DEF-03461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en-US" altLang="ko-KR" sz="105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order_number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부터 시작하지 않고 지정한 페이지당 출력할 숫자 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+ 1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부터 시작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  <a:r>
              <a:rPr lang="ko-KR" altLang="en-US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프린트 결과는 정상</a:t>
            </a:r>
            <a:r>
              <a:rPr lang="en-US" altLang="ko-KR" sz="105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05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396A2D-66A5-45F5-B901-DDB92DB34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40" y="2053056"/>
            <a:ext cx="9612066" cy="41850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C17495-6F77-4145-BB4D-96AF9328F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50" y="2333590"/>
            <a:ext cx="9612066" cy="390579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3CC21F-5690-4F23-9A64-69F5E21F0DE1}"/>
              </a:ext>
            </a:extLst>
          </p:cNvPr>
          <p:cNvSpPr/>
          <p:nvPr/>
        </p:nvSpPr>
        <p:spPr>
          <a:xfrm>
            <a:off x="1894350" y="2350964"/>
            <a:ext cx="859483" cy="3905794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06522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DA79-DE9B-B9C9-F504-6B0F6DB3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3CA194-DF72-6361-C55A-C995979F8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III –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재발 방지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CEAFF03-9E06-0ACC-8B93-4C954D210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57127"/>
              </p:ext>
            </p:extLst>
          </p:nvPr>
        </p:nvGraphicFramePr>
        <p:xfrm>
          <a:off x="766763" y="1184703"/>
          <a:ext cx="10884131" cy="497498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179806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3193601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26849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  <a:gridCol w="2246602">
                  <a:extLst>
                    <a:ext uri="{9D8B030D-6E8A-4147-A177-3AD203B41FA5}">
                      <a16:colId xmlns:a16="http://schemas.microsoft.com/office/drawing/2014/main" val="43782860"/>
                    </a:ext>
                  </a:extLst>
                </a:gridCol>
                <a:gridCol w="2337273">
                  <a:extLst>
                    <a:ext uri="{9D8B030D-6E8A-4147-A177-3AD203B41FA5}">
                      <a16:colId xmlns:a16="http://schemas.microsoft.com/office/drawing/2014/main" val="3697340516"/>
                    </a:ext>
                  </a:extLst>
                </a:gridCol>
              </a:tblGrid>
              <a:tr h="40493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결함 내용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재발방지 방안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이행 여부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 결과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( 2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차 테스트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후속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계획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00645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환경 및 배포 오류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스키마 누락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DB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오브젝트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미존재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배포 </a:t>
                      </a:r>
                      <a:r>
                        <a:rPr lang="ko-KR" altLang="en-US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프로세스</a:t>
                      </a: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(CI/CD)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점검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</a:t>
                      </a:r>
                      <a:r>
                        <a:rPr lang="ko-KR" altLang="en-US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임의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사용 금지 가이드</a:t>
                      </a: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</a:t>
                      </a:r>
                      <a:endParaRPr lang="ko-KR" altLang="ko-KR" sz="1200" b="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이행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이행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없음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없음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 수행 시 체크리스트 지속 점검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10260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테스트 데이터 미흡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조건 충족 데이터 없음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 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단위 테스트 시나리오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샘플 데이터셋</a:t>
                      </a:r>
                      <a:r>
                        <a:rPr lang="en-US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(Golden Record) </a:t>
                      </a:r>
                      <a:r>
                        <a:rPr lang="ko-KR" altLang="ko-KR" sz="1200" b="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구축</a:t>
                      </a:r>
                      <a:endParaRPr lang="ko-KR" sz="1200" b="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이행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발생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발생 빈도 낮음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유사 결함 발생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발생 빈도 낮음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지속 보완 수행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 데이터 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재이관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  <a:tr h="189594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및 로직 오류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리포트 불일치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기능 오작동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(Peer Review) </a:t>
                      </a:r>
                    </a:p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산출물 기반 기능 구현 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쿼리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Tunning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DA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지원을 통한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Query Tunning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.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 필요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강화된  활동 수행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675127"/>
                  </a:ext>
                </a:extLst>
              </a:tr>
              <a:tr h="56505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Checklist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개발 가이드 반복 교육 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월간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보완필요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 발생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공통항목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집중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점검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으로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사전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조치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8227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7C26F8-2BC4-47C6-ABF7-80570A2E09FF}"/>
              </a:ext>
            </a:extLst>
          </p:cNvPr>
          <p:cNvSpPr txBox="1"/>
          <p:nvPr/>
        </p:nvSpPr>
        <p:spPr>
          <a:xfrm>
            <a:off x="773105" y="772411"/>
            <a:ext cx="112268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차 테스트 수행 시 도출된 결함에 대한 재발 방지 계획안과 비교하여 이행을 점검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함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A302C8-2788-479C-B008-CEE5F5E43E3A}"/>
              </a:ext>
            </a:extLst>
          </p:cNvPr>
          <p:cNvSpPr/>
          <p:nvPr/>
        </p:nvSpPr>
        <p:spPr>
          <a:xfrm>
            <a:off x="766763" y="3672196"/>
            <a:ext cx="10884131" cy="24874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06456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1BFF0E4-5473-42BF-B13C-5CD6DC6DBC7A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J$6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23407" y="718256"/>
            <a:ext cx="7497092" cy="99144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4928CD0-D245-44F7-A576-661221427FE6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0:$K$28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" y="1955853"/>
            <a:ext cx="11048999" cy="449738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9EE138E-93E0-4595-9A33-8B13ED47E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>
              <a:spcAft>
                <a:spcPts val="800"/>
              </a:spcAft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※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)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테스트 사전 점검결과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(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작성일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: 2026.01.15)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lang="ko-KR" altLang="ko-KR" sz="20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 Box 56" descr="엠보싱 작은상자(Gray_Ver)">
            <a:extLst>
              <a:ext uri="{FF2B5EF4-FFF2-40B4-BE49-F238E27FC236}">
                <a16:creationId xmlns:a16="http://schemas.microsoft.com/office/drawing/2014/main" id="{F15B961C-FDD2-4E1F-AA13-11187DF87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7794" y="1739392"/>
            <a:ext cx="1289805" cy="15708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r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점검일 </a:t>
            </a:r>
            <a:r>
              <a:rPr kumimoji="1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: 2026.01.15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DEA7B-5A0E-478B-9634-E6516CB551B1}"/>
              </a:ext>
            </a:extLst>
          </p:cNvPr>
          <p:cNvSpPr txBox="1"/>
          <p:nvPr/>
        </p:nvSpPr>
        <p:spPr>
          <a:xfrm>
            <a:off x="0" y="1079828"/>
            <a:ext cx="42854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/>
            </a:pPr>
            <a:r>
              <a:rPr kumimoji="0" lang="ko-KR" altLang="en-US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테스트관리자가 아닌 </a:t>
            </a:r>
            <a:r>
              <a:rPr kumimoji="0" lang="en-US" altLang="ko-KR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PL</a:t>
            </a:r>
            <a:r>
              <a:rPr kumimoji="0" lang="ko-KR" altLang="en-US" sz="11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직접 사전점검 결과 기록</a:t>
            </a:r>
            <a:endParaRPr lang="en-US" altLang="ko-KR" sz="11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45196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1" y="91161"/>
            <a:ext cx="750041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lang="en-US" altLang="ko-KR" sz="2000" b="1" dirty="0">
                <a:solidFill>
                  <a:prstClr val="white"/>
                </a:solidFill>
              </a:rPr>
              <a:t>※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참고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)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테스트 수행 중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테스터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Daily Review  : 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문제점 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/ 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개선점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766762" y="1218362"/>
            <a:ext cx="9394379" cy="2955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AutoNum type="arabicPeriod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공통 기능이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모듈별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동일하지 않음 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사용자 요청에 의한 것인지 판단이 쉽지 않음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342900" indent="-342900" latinLnBrk="0">
              <a:lnSpc>
                <a:spcPct val="120000"/>
              </a:lnSpc>
              <a:spcBef>
                <a:spcPct val="30000"/>
              </a:spcBef>
              <a:buAutoNum type="arabicPeriod" startAt="2"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업무 전문가가 아님에 따라 일부 기능의 경우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결과 값 등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대한 검증이 제한 됨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3.   UI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경우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실무자의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사용성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사용 편이성을 테스터가 임의 판단이 어려움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20000"/>
              </a:lnSpc>
              <a:spcBef>
                <a:spcPct val="30000"/>
              </a:spcBef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endParaRPr lang="en-US" altLang="ko-KR" sz="16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43652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C1BCBBA-FE7F-4E5B-A886-0ACDADA6F667}"/>
              </a:ext>
            </a:extLst>
          </p:cNvPr>
          <p:cNvSpPr/>
          <p:nvPr/>
        </p:nvSpPr>
        <p:spPr bwMode="gray">
          <a:xfrm>
            <a:off x="4351543" y="2847396"/>
            <a:ext cx="5256584" cy="1295483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 anchorCtr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defTabSz="685800" fontAlgn="base" latinLnBrk="0">
              <a:lnSpc>
                <a:spcPct val="110000"/>
              </a:lnSpc>
              <a:defRPr/>
            </a:pPr>
            <a:r>
              <a:rPr lang="en-US" altLang="ko-KR" sz="8000" spc="-30" dirty="0">
                <a:ln>
                  <a:solidFill>
                    <a:srgbClr val="9933FF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 O D</a:t>
            </a:r>
            <a:endParaRPr lang="en-US" altLang="ko-KR" sz="9600" spc="-30" dirty="0">
              <a:ln>
                <a:solidFill>
                  <a:srgbClr val="9933FF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661888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2D60D2-4AD0-4BBF-E3A5-A453ACFE3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A500C81-9AAD-AE9B-2CCE-1B1DDC16A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>
              <a:spcAft>
                <a:spcPts val="800"/>
              </a:spcAft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결론</a:t>
            </a:r>
            <a:endParaRPr lang="ko-KR" altLang="ko-KR" sz="20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C39D4-6662-9BC3-195E-83633088059A}"/>
              </a:ext>
            </a:extLst>
          </p:cNvPr>
          <p:cNvSpPr txBox="1"/>
          <p:nvPr/>
        </p:nvSpPr>
        <p:spPr>
          <a:xfrm>
            <a:off x="517148" y="845219"/>
            <a:ext cx="10768519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결함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245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 중 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48.1%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단위 기능 자체의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오류가 아닌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환경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문서 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에서 기인했습니다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따라서 현재의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시나리오별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결함률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(32.1%)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품질의 심각한 저하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 판단할 만큼의 수준은 아닙니다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오브젝트 현행화 및 기초 데이터 셋업이 선행된다면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건수는 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100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 이하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15%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수준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 급격히 감소할 것으로 예상됩니다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테스터 및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PL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가이드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(Process) </a:t>
            </a: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보완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리포팅 기준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보완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문제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와 기능 오류를 명확히 구분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수행 전 사전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점검 기록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  <a:defRPr/>
            </a:pPr>
            <a:r>
              <a:rPr kumimoji="0" lang="ko-KR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기존 사전 점검을 테스트관리자가 아닌 </a:t>
            </a:r>
            <a:r>
              <a:rPr kumimoji="0" lang="en-US" altLang="ko-KR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PL</a:t>
            </a:r>
            <a:r>
              <a:rPr kumimoji="0" lang="ko-KR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직접 기록 </a:t>
            </a:r>
            <a:endParaRPr kumimoji="0" lang="en-US" altLang="ko-KR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R="0" lvl="1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tabLst>
                <a:tab pos="914400" algn="l"/>
              </a:tabLst>
              <a:defRPr/>
            </a:pPr>
            <a:r>
              <a:rPr lang="en-US" altLang="ko-KR" sz="1200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</a:t>
            </a:r>
            <a:r>
              <a:rPr kumimoji="0" lang="ko-KR" altLang="en-US" sz="12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→  테스트 환경 준비 철저</a:t>
            </a:r>
            <a:endParaRPr lang="en-US" altLang="ko-KR" sz="12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 절차 재교육</a:t>
            </a:r>
            <a:endParaRPr lang="ko-KR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 프로세스 준수 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DB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 등의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문제는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PL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차원에서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DA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요청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EB9BA0-80B2-4FCF-B899-0ED9357D8268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C$19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9570" y="2133600"/>
            <a:ext cx="3985282" cy="431958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CF9B1B73-C18B-4062-9533-9666EE19E999}"/>
              </a:ext>
            </a:extLst>
          </p:cNvPr>
          <p:cNvSpPr/>
          <p:nvPr/>
        </p:nvSpPr>
        <p:spPr>
          <a:xfrm>
            <a:off x="5236389" y="3144285"/>
            <a:ext cx="1330036" cy="12007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59DBC6-6372-4BCE-B935-21C40496C08D}"/>
              </a:ext>
            </a:extLst>
          </p:cNvPr>
          <p:cNvSpPr/>
          <p:nvPr/>
        </p:nvSpPr>
        <p:spPr>
          <a:xfrm>
            <a:off x="6829571" y="3001818"/>
            <a:ext cx="3985281" cy="11545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8DB96-C211-42ED-A25B-7F30C6869D60}"/>
              </a:ext>
            </a:extLst>
          </p:cNvPr>
          <p:cNvSpPr txBox="1"/>
          <p:nvPr/>
        </p:nvSpPr>
        <p:spPr>
          <a:xfrm>
            <a:off x="8063145" y="1797580"/>
            <a:ext cx="3222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[</a:t>
            </a:r>
            <a:r>
              <a:rPr lang="ko-KR" altLang="en-US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12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</a:t>
            </a:r>
            <a:r>
              <a:rPr lang="ko-KR" altLang="en-US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준비 </a:t>
            </a:r>
            <a:r>
              <a:rPr lang="en-US" altLang="ko-KR" sz="1200" b="1" kern="100" dirty="0"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CHECK LIST ] 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838945675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72DA79-DE9B-B9C9-F504-6B0F6DB3B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E3CA194-DF72-6361-C55A-C995979F8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CF66D-F2CB-798D-9029-B0C18E3BE217}"/>
              </a:ext>
            </a:extLst>
          </p:cNvPr>
          <p:cNvSpPr txBox="1"/>
          <p:nvPr/>
        </p:nvSpPr>
        <p:spPr>
          <a:xfrm>
            <a:off x="597613" y="772411"/>
            <a:ext cx="11226833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분석 결과 도출된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대 핵심 원인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대한 단기 조치와 장기적 예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방을 위한 계획안으로 상세 내용은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담당자와 충분한 협의 필요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228600" indent="-228600" latinLnBrk="1">
              <a:buAutoNum type="arabicParenR"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및 배포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스키마 누락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DB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오브젝트 </a:t>
            </a:r>
            <a:r>
              <a:rPr lang="ko-KR" altLang="ko-KR" sz="12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미존재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latinLnBrk="1">
              <a:spcAft>
                <a:spcPts val="800"/>
              </a:spcAf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Schema Name Missing, Table Not Found, View Not Found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에러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계정과 개발 계정간 권한 불일치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CEAFF03-9E06-0ACC-8B93-4C954D210D24}"/>
              </a:ext>
            </a:extLst>
          </p:cNvPr>
          <p:cNvGraphicFramePr>
            <a:graphicFrameLocks noGrp="1"/>
          </p:cNvGraphicFramePr>
          <p:nvPr/>
        </p:nvGraphicFramePr>
        <p:xfrm>
          <a:off x="774603" y="2553347"/>
          <a:ext cx="10613833" cy="340563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09615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62109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42109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1152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55853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오브젝트 전수 동기화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개발계의 최신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DDL(Table, View, Proc, Func)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을 테스트계에 강제 적용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부여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TEST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계정 내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별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(Grant)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부여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DA / DBA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43557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배포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프로세스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(CI/CD)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소스 배포 시 관련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스크립트가 함께 배포되는지 파이프라인 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임의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사용 금지 가이드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쿼리 작성 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ESOWN.Table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대신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Table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만 쓰도록 코딩 표준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(Coding Standard)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재교육 및 검수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PL / AA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26658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FB4505-67A9-4236-4DF3-73953F37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FD9FCBC-F6F8-283B-69F4-D0511E234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612109"/>
              </p:ext>
            </p:extLst>
          </p:nvPr>
        </p:nvGraphicFramePr>
        <p:xfrm>
          <a:off x="768069" y="2136195"/>
          <a:ext cx="10618917" cy="332163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93630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99469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25818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5242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43460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 생성 스크립트 첨부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-  '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데이터 없음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'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으로 반려된 결함 조치 시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개발자는 반드시 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INSERT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구문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이나 데이터 생성 가이드를 결함 조치 내역에 첨부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상태값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강제 변경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-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테스터에게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직접 수정 권한이 없다면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DEAL_STAT = 'N'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등으로 데이터를 임의 세팅 후 인계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434606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단위 테스트 시나리오 보완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시나리오의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[Pre-condition]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항목에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"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필요한 테스트 데이터 조건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을 명시화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샘플 데이터셋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(Golden Record)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구축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자주 쓰는 케이스별 표준 데이터를 만들어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사용 </a:t>
                      </a:r>
                      <a:r>
                        <a:rPr lang="ko-KR" altLang="en-US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할수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있는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Script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등을 관리하여 수시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Test Record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생성 할 수 있도록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사용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테스트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14396C-BB35-78B6-2900-4D1A8C62CE6B}"/>
              </a:ext>
            </a:extLst>
          </p:cNvPr>
          <p:cNvSpPr txBox="1"/>
          <p:nvPr/>
        </p:nvSpPr>
        <p:spPr>
          <a:xfrm>
            <a:off x="703102" y="900554"/>
            <a:ext cx="10711592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latinLnBrk="1">
              <a:buAutoNum type="arabicParenR" startAt="2"/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미흡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 충족 데이터 없음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marL="228600" indent="-228600" latinLnBrk="1">
              <a:spcAft>
                <a:spcPts val="800"/>
              </a:spcAft>
              <a:buAutoNum type="arabicParenR" startAt="2"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 비활성화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결과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0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개발자가 기능 구현 시 사용한 초기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(Initial Data)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테스트계에 이관되지 않음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5C16C8E-8C5C-445B-9CAD-2BE8221E8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8686372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분석</a:t>
            </a:r>
            <a:r>
              <a:rPr lang="en-US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– </a:t>
            </a:r>
            <a:r>
              <a:rPr lang="ko-KR" altLang="en-US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유형별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CB0FA4-253E-4D9E-9208-2FB103B22E45}"/>
              </a:ext>
            </a:extLst>
          </p:cNvPr>
          <p:cNvSpPr/>
          <p:nvPr/>
        </p:nvSpPr>
        <p:spPr>
          <a:xfrm>
            <a:off x="772191" y="951809"/>
            <a:ext cx="2881300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DF25C5-76B6-4CD1-8A07-4C02AB6EDE3F}"/>
              </a:ext>
            </a:extLst>
          </p:cNvPr>
          <p:cNvSpPr/>
          <p:nvPr/>
        </p:nvSpPr>
        <p:spPr>
          <a:xfrm>
            <a:off x="772190" y="2586500"/>
            <a:ext cx="2881300" cy="2713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39E8A3-A221-4DE6-902F-557E2C57EC9A}"/>
              </a:ext>
            </a:extLst>
          </p:cNvPr>
          <p:cNvSpPr/>
          <p:nvPr/>
        </p:nvSpPr>
        <p:spPr>
          <a:xfrm>
            <a:off x="3717601" y="951809"/>
            <a:ext cx="5374582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CBA773-86FD-46EF-8111-3C815CF1667F}"/>
              </a:ext>
            </a:extLst>
          </p:cNvPr>
          <p:cNvSpPr/>
          <p:nvPr/>
        </p:nvSpPr>
        <p:spPr>
          <a:xfrm>
            <a:off x="3717601" y="2586501"/>
            <a:ext cx="2599362" cy="27134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4898B2-B906-4D7E-AAAD-ABD739AC8A22}"/>
              </a:ext>
            </a:extLst>
          </p:cNvPr>
          <p:cNvSpPr/>
          <p:nvPr/>
        </p:nvSpPr>
        <p:spPr>
          <a:xfrm>
            <a:off x="6348470" y="2586500"/>
            <a:ext cx="2743713" cy="2713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98BAF1-16A1-4310-9D82-5CCFEBBDA009}"/>
              </a:ext>
            </a:extLst>
          </p:cNvPr>
          <p:cNvSpPr/>
          <p:nvPr/>
        </p:nvSpPr>
        <p:spPr>
          <a:xfrm>
            <a:off x="9142205" y="951809"/>
            <a:ext cx="2423828" cy="7417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84AB4C-A1C3-44F2-9550-6B692ABD3968}"/>
              </a:ext>
            </a:extLst>
          </p:cNvPr>
          <p:cNvSpPr/>
          <p:nvPr/>
        </p:nvSpPr>
        <p:spPr>
          <a:xfrm>
            <a:off x="9142204" y="2586501"/>
            <a:ext cx="2423827" cy="27134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238AAAD0-8376-4BDE-BF59-6B36CCAA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093" y="1364046"/>
            <a:ext cx="7894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35.1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67AC2A04-1CCD-4F50-B452-86F74B25D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774" y="1364046"/>
            <a:ext cx="96011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58.4 %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C71FAC8C-03D8-4E8D-9360-AE120FD17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1867" y="1364046"/>
            <a:ext cx="81054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6.5 </a:t>
            </a:r>
            <a:r>
              <a:rPr kumimoji="0" lang="en-US" altLang="ko-K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%</a:t>
            </a:r>
            <a:endParaRPr kumimoji="0" lang="en-US" alt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51C79-F089-4BB9-AD8C-A5FABE907FA4}"/>
              </a:ext>
            </a:extLst>
          </p:cNvPr>
          <p:cNvSpPr txBox="1"/>
          <p:nvPr/>
        </p:nvSpPr>
        <p:spPr>
          <a:xfrm>
            <a:off x="672905" y="973277"/>
            <a:ext cx="3083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환경적 </a:t>
            </a:r>
            <a:r>
              <a:rPr lang="en-US" altLang="ko-KR" sz="1400" b="1" kern="100" dirty="0"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Issue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3475C-044F-488A-B9A3-1D9427906773}"/>
              </a:ext>
            </a:extLst>
          </p:cNvPr>
          <p:cNvSpPr txBox="1"/>
          <p:nvPr/>
        </p:nvSpPr>
        <p:spPr>
          <a:xfrm>
            <a:off x="5009599" y="992905"/>
            <a:ext cx="2811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latin typeface="KoPub돋움체 Medium" panose="00000600000000000000" pitchFamily="2" charset="-127"/>
                <a:ea typeface="KoPub돋움체 Medium" panose="00000600000000000000" pitchFamily="2" charset="-127"/>
                <a:cs typeface="Times New Roman" panose="02020603050405020304" pitchFamily="18" charset="0"/>
              </a:rPr>
              <a:t>시나리오 기반 기능 결함</a:t>
            </a:r>
            <a:endParaRPr lang="en-US" altLang="ko-KR" sz="1400" b="1" kern="100" dirty="0"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91A3A3-DC16-40FD-B9DE-9A1965E8AEEE}"/>
              </a:ext>
            </a:extLst>
          </p:cNvPr>
          <p:cNvSpPr txBox="1"/>
          <p:nvPr/>
        </p:nvSpPr>
        <p:spPr>
          <a:xfrm>
            <a:off x="9640621" y="991397"/>
            <a:ext cx="1403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기타</a:t>
            </a:r>
            <a:endParaRPr lang="en-US" altLang="ko-KR" sz="1400" b="1" kern="100" dirty="0"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Times New Roman" panose="02020603050405020304" pitchFamily="18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06AF213-2824-432F-9155-F813D2D59837}"/>
              </a:ext>
            </a:extLst>
          </p:cNvPr>
          <p:cNvSpPr/>
          <p:nvPr/>
        </p:nvSpPr>
        <p:spPr>
          <a:xfrm>
            <a:off x="772190" y="1711194"/>
            <a:ext cx="2881300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불일치</a:t>
            </a:r>
            <a:r>
              <a:rPr lang="en-US" altLang="ko-KR" sz="1800" kern="10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8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CAAE75-8A74-4964-9E68-8A1D0F3368BA}"/>
              </a:ext>
            </a:extLst>
          </p:cNvPr>
          <p:cNvSpPr/>
          <p:nvPr/>
        </p:nvSpPr>
        <p:spPr>
          <a:xfrm>
            <a:off x="3717601" y="1711194"/>
            <a:ext cx="2599362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EE817D-0F77-4A68-837B-7F7F4D35D9BF}"/>
              </a:ext>
            </a:extLst>
          </p:cNvPr>
          <p:cNvSpPr/>
          <p:nvPr/>
        </p:nvSpPr>
        <p:spPr>
          <a:xfrm>
            <a:off x="6348470" y="1711194"/>
            <a:ext cx="2743713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7D4D8E-BB1F-49E5-A5D2-1140041927DE}"/>
              </a:ext>
            </a:extLst>
          </p:cNvPr>
          <p:cNvSpPr/>
          <p:nvPr/>
        </p:nvSpPr>
        <p:spPr>
          <a:xfrm>
            <a:off x="9142204" y="1711194"/>
            <a:ext cx="2423827" cy="8085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C64D22-A0D8-4A36-A030-DB601147F5EC}"/>
              </a:ext>
            </a:extLst>
          </p:cNvPr>
          <p:cNvSpPr txBox="1"/>
          <p:nvPr/>
        </p:nvSpPr>
        <p:spPr>
          <a:xfrm>
            <a:off x="319521" y="1805829"/>
            <a:ext cx="601209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8A82F7-6697-4CF4-89AF-39877E57C4E4}"/>
              </a:ext>
            </a:extLst>
          </p:cNvPr>
          <p:cNvSpPr txBox="1"/>
          <p:nvPr/>
        </p:nvSpPr>
        <p:spPr>
          <a:xfrm>
            <a:off x="1005474" y="1839527"/>
            <a:ext cx="2431748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 ↔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: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불일치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6D63F6-9FFF-4E60-A855-B6ABB9F4CEA7}"/>
              </a:ext>
            </a:extLst>
          </p:cNvPr>
          <p:cNvSpPr txBox="1"/>
          <p:nvPr/>
        </p:nvSpPr>
        <p:spPr>
          <a:xfrm>
            <a:off x="319521" y="2864743"/>
            <a:ext cx="77537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상세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79F490-E5BC-47B4-9FB5-A745F22CA7B5}"/>
              </a:ext>
            </a:extLst>
          </p:cNvPr>
          <p:cNvSpPr txBox="1"/>
          <p:nvPr/>
        </p:nvSpPr>
        <p:spPr>
          <a:xfrm>
            <a:off x="828749" y="2632663"/>
            <a:ext cx="2811122" cy="2104028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Schema Name Missing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쿼리문에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ESOWN.TABLE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처럼 스키마를 명시하지 않아 실행 불가하거나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반대로 로컬 스키마가 하드코딩 되어 권한 오류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UT-ES-SP8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WES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 다수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Object Not Found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테이블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프로시저가 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배포되지 않았거나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Synonym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설정이 누락됨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UT-FP-SP188).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E044E2-023C-4822-A36C-5624A32FCC56}"/>
              </a:ext>
            </a:extLst>
          </p:cNvPr>
          <p:cNvSpPr txBox="1"/>
          <p:nvPr/>
        </p:nvSpPr>
        <p:spPr>
          <a:xfrm>
            <a:off x="3947733" y="1850839"/>
            <a:ext cx="212373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준비 미흡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(Test Data)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78E51C-5925-4881-8F61-ABE00F1052B3}"/>
              </a:ext>
            </a:extLst>
          </p:cNvPr>
          <p:cNvSpPr txBox="1"/>
          <p:nvPr/>
        </p:nvSpPr>
        <p:spPr>
          <a:xfrm>
            <a:off x="3745850" y="2653211"/>
            <a:ext cx="2599362" cy="1365365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테스트를 수행할 기초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(Pre-condition)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없어 조회가 안되거나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조호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결과가 빈 값임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버튼이 비활성화됨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"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"DEAL_STAT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값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N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인 데이터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3A8317-2B34-4A66-B344-988C4A24D2EA}"/>
              </a:ext>
            </a:extLst>
          </p:cNvPr>
          <p:cNvSpPr txBox="1"/>
          <p:nvPr/>
        </p:nvSpPr>
        <p:spPr>
          <a:xfrm>
            <a:off x="6681057" y="1841603"/>
            <a:ext cx="212373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로직 및 데이터 정합성 오류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algn="ctr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(Logic)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CAC608-7419-48C5-864B-911CA21597AE}"/>
              </a:ext>
            </a:extLst>
          </p:cNvPr>
          <p:cNvSpPr txBox="1"/>
          <p:nvPr/>
        </p:nvSpPr>
        <p:spPr>
          <a:xfrm>
            <a:off x="6396144" y="2653211"/>
            <a:ext cx="2639645" cy="2288694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집계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합계와 상세 합계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(T1+T2)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일치하지 않음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(GO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범위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미래 날짜 데이터가 실적에 포함되거나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1900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년 데이터가 조회되는 등 필터링 로직 부재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누락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 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엑셀로 다운로드시  </a:t>
            </a:r>
            <a:r>
              <a:rPr lang="ko-KR" altLang="en-US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채번번호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보이지 않음 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(FS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2B2C52-C30D-49FF-873E-447CC4130651}"/>
              </a:ext>
            </a:extLst>
          </p:cNvPr>
          <p:cNvSpPr txBox="1"/>
          <p:nvPr/>
        </p:nvSpPr>
        <p:spPr>
          <a:xfrm>
            <a:off x="9220699" y="1821055"/>
            <a:ext cx="2059940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latinLnBrk="1"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공통체크리스트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171450" lvl="0" indent="-171450" latinLnBrk="1"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en-US" sz="1200" kern="100" dirty="0" err="1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오기입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0DAD3A-F446-4790-BF69-7BDFA07C554E}"/>
              </a:ext>
            </a:extLst>
          </p:cNvPr>
          <p:cNvSpPr txBox="1"/>
          <p:nvPr/>
        </p:nvSpPr>
        <p:spPr>
          <a:xfrm>
            <a:off x="9169913" y="2641902"/>
            <a:ext cx="2396118" cy="2658026"/>
          </a:xfrm>
          <a:prstGeom prst="rect">
            <a:avLst/>
          </a:prstGeom>
          <a:noFill/>
        </p:spPr>
        <p:txBody>
          <a:bodyPr wrap="square" lIns="72000" tIns="36000" rIns="72000" bIns="36000">
            <a:spAutoFit/>
          </a:bodyPr>
          <a:lstStyle/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입력값의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라벨 색상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파란색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주황색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오표기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해상도에 따른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 화면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특수문자 입력 제한 미비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0" lvl="1" indent="-285750" latinLnBrk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테스트결과서 상 데이터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INSERT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후 확인하는 테이블이 달라서 조회 불가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 업데이트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marL="0" lvl="1" latinLnBrk="1">
              <a:buSzPts val="1000"/>
              <a:tabLst>
                <a:tab pos="914400" algn="l"/>
              </a:tabLst>
            </a:pP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→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확인 결과 순서 맞는 것으로 확인되었습니다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(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해당 내용 무시해도 됩니다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D5C916-681B-4A72-B09E-0E5A8705E474}"/>
              </a:ext>
            </a:extLst>
          </p:cNvPr>
          <p:cNvSpPr/>
          <p:nvPr/>
        </p:nvSpPr>
        <p:spPr>
          <a:xfrm>
            <a:off x="772190" y="5340419"/>
            <a:ext cx="2881300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2DCB66-E03E-44F4-9161-7623424439F6}"/>
              </a:ext>
            </a:extLst>
          </p:cNvPr>
          <p:cNvSpPr txBox="1"/>
          <p:nvPr/>
        </p:nvSpPr>
        <p:spPr>
          <a:xfrm>
            <a:off x="828749" y="5410290"/>
            <a:ext cx="2811122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권한 부여</a:t>
            </a:r>
            <a:endParaRPr lang="en-US" altLang="ko-KR" sz="1200" b="1" kern="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- 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TEST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계정 내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스키마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별 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Grant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진행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963FD5A-E0D6-42F2-8E7C-EEA25C5F5E3B}"/>
              </a:ext>
            </a:extLst>
          </p:cNvPr>
          <p:cNvSpPr/>
          <p:nvPr/>
        </p:nvSpPr>
        <p:spPr>
          <a:xfrm>
            <a:off x="3717601" y="5340419"/>
            <a:ext cx="2599362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9774A0D-2E04-4229-B3D8-4A69252CDD2C}"/>
              </a:ext>
            </a:extLst>
          </p:cNvPr>
          <p:cNvSpPr/>
          <p:nvPr/>
        </p:nvSpPr>
        <p:spPr>
          <a:xfrm>
            <a:off x="6345211" y="5340418"/>
            <a:ext cx="2743713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733EB40-9431-460F-AF04-861C126CC982}"/>
              </a:ext>
            </a:extLst>
          </p:cNvPr>
          <p:cNvSpPr/>
          <p:nvPr/>
        </p:nvSpPr>
        <p:spPr>
          <a:xfrm>
            <a:off x="9142204" y="5334705"/>
            <a:ext cx="2423827" cy="11127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8E8521-ACF7-48CF-A4D1-0E303C0AA70C}"/>
              </a:ext>
            </a:extLst>
          </p:cNvPr>
          <p:cNvSpPr txBox="1"/>
          <p:nvPr/>
        </p:nvSpPr>
        <p:spPr>
          <a:xfrm>
            <a:off x="9220699" y="5453802"/>
            <a:ext cx="20599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자가 점검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체크리스트 </a:t>
            </a:r>
            <a:r>
              <a:rPr lang="ko-KR" altLang="en-US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재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점검</a:t>
            </a:r>
            <a:endParaRPr lang="en-US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E1BC37-3EA4-489B-B897-D444DC8E8A75}"/>
              </a:ext>
            </a:extLst>
          </p:cNvPr>
          <p:cNvSpPr txBox="1"/>
          <p:nvPr/>
        </p:nvSpPr>
        <p:spPr>
          <a:xfrm>
            <a:off x="303516" y="5507753"/>
            <a:ext cx="775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조치</a:t>
            </a:r>
            <a:endParaRPr lang="en-US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1A9193-F203-400F-AA37-9C545E054301}"/>
              </a:ext>
            </a:extLst>
          </p:cNvPr>
          <p:cNvSpPr txBox="1"/>
          <p:nvPr/>
        </p:nvSpPr>
        <p:spPr>
          <a:xfrm>
            <a:off x="3679620" y="5410290"/>
            <a:ext cx="2665591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상태값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강제 변경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- 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테스터에게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직접 수정 권한이 없다면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개발자가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DEAL_STAT = 'N'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등으로 데이터를 임의 세팅 후 인계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FD5922-A4D7-4E3D-B201-81275D41C420}"/>
              </a:ext>
            </a:extLst>
          </p:cNvPr>
          <p:cNvSpPr txBox="1"/>
          <p:nvPr/>
        </p:nvSpPr>
        <p:spPr>
          <a:xfrm>
            <a:off x="6332669" y="5432317"/>
            <a:ext cx="2665591" cy="56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 수정</a:t>
            </a:r>
            <a:endParaRPr lang="en-US" altLang="ko-KR" sz="1200" b="1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 - 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 내용 확인 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수정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72965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47A45A-1EA9-7CA6-DE63-3536DECE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6F95743-AB46-F43F-E5D3-A8D452DBE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086674"/>
              </p:ext>
            </p:extLst>
          </p:nvPr>
        </p:nvGraphicFramePr>
        <p:xfrm>
          <a:off x="766763" y="2133600"/>
          <a:ext cx="10618917" cy="368587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088441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89818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40658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45835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계획</a:t>
                      </a:r>
                      <a:r>
                        <a:rPr lang="ko-KR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안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299838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1. 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로그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(Log)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분석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500 Error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발생 시 웹서버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/WAS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로그를 확인하여 정확한 에러 라인 추적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리 검증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리포트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GO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모듈 등 리포트는 화면 결과와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DB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직접 쿼리 결과를 교차 검증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(Cross Check).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94020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(Peer Review)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복잡한 쿼리나 로직은 배포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전 </a:t>
                      </a:r>
                      <a:r>
                        <a:rPr lang="ko-KR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코드 리뷰 수행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산출물 기반 기능 구현 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요구사항 정의서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UI/UX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설계서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등 기능 구현을 위한 사전 설계서 분석 강화</a:t>
                      </a:r>
                      <a:endParaRPr lang="en-US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3.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쿼리 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Tunning</a:t>
                      </a: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DA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지원을 통한 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Query Tunning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.</a:t>
                      </a:r>
                      <a:endParaRPr lang="ko-KR" alt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DA/PL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45DFB6-8D5E-DDBA-8A3A-B14C4A665F69}"/>
              </a:ext>
            </a:extLst>
          </p:cNvPr>
          <p:cNvSpPr txBox="1"/>
          <p:nvPr/>
        </p:nvSpPr>
        <p:spPr>
          <a:xfrm>
            <a:off x="702330" y="891836"/>
            <a:ext cx="10712363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3)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및 로직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불일치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오작동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</a:p>
          <a:p>
            <a:pPr latinLnBrk="1">
              <a:spcAft>
                <a:spcPts val="800"/>
              </a:spcAft>
              <a:buNone/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합계 틀림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저장 시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검색 필터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미동작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비즈니스 로직 구현 미스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경계값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처리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(Boundary Value)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미흡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5B13E8-885F-4961-956E-5365EFE9E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1107251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C7289C-8A2D-90DD-552C-C8C5D438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F899CE-774F-E450-7FCB-182BF12BD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191582"/>
              </p:ext>
            </p:extLst>
          </p:nvPr>
        </p:nvGraphicFramePr>
        <p:xfrm>
          <a:off x="768069" y="2138166"/>
          <a:ext cx="10618917" cy="33453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58991">
                  <a:extLst>
                    <a:ext uri="{9D8B030D-6E8A-4147-A177-3AD203B41FA5}">
                      <a16:colId xmlns:a16="http://schemas.microsoft.com/office/drawing/2014/main" val="2274574519"/>
                    </a:ext>
                  </a:extLst>
                </a:gridCol>
                <a:gridCol w="8500795">
                  <a:extLst>
                    <a:ext uri="{9D8B030D-6E8A-4147-A177-3AD203B41FA5}">
                      <a16:colId xmlns:a16="http://schemas.microsoft.com/office/drawing/2014/main" val="3501454989"/>
                    </a:ext>
                  </a:extLst>
                </a:gridCol>
                <a:gridCol w="959131">
                  <a:extLst>
                    <a:ext uri="{9D8B030D-6E8A-4147-A177-3AD203B41FA5}">
                      <a16:colId xmlns:a16="http://schemas.microsoft.com/office/drawing/2014/main" val="3157739317"/>
                    </a:ext>
                  </a:extLst>
                </a:gridCol>
              </a:tblGrid>
              <a:tr h="457252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실행 방안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담당자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229965"/>
                  </a:ext>
                </a:extLst>
              </a:tr>
              <a:tr h="14440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즉시 조치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(Action Plan)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CSS/Layout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수정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개별 화면 수정이 아닌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공통 스타일시트 수정을 통해 일괄 반영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</a:b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해상도별 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노트북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(1366</a:t>
                      </a:r>
                      <a:r>
                        <a:rPr lang="en-US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768) </a:t>
                      </a:r>
                      <a:r>
                        <a:rPr lang="ko-KR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및 모니터</a:t>
                      </a:r>
                      <a:r>
                        <a:rPr lang="en-US" sz="1200" i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(1920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1080)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해상도별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UI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UI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206888"/>
                  </a:ext>
                </a:extLst>
              </a:tr>
              <a:tr h="1444064"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재발 방지</a:t>
                      </a:r>
                    </a:p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(Prevention)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spcAft>
                          <a:spcPts val="800"/>
                        </a:spcAft>
                        <a:buAutoNum type="arabicPeriod"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UI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표준 체크리스트 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재점검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marL="0" indent="0" latinLnBrk="1"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개발 화면 완료 시 자가 점검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체크리스트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수행 점검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</a:b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2.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반응형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적응형 테스트</a:t>
                      </a:r>
                      <a:endParaRPr lang="en-US" alt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  -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주요 해상도 브라우저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기본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 테스트 수행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PL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032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F8F40C-2A1B-CE68-47B0-C39F490508C5}"/>
              </a:ext>
            </a:extLst>
          </p:cNvPr>
          <p:cNvSpPr txBox="1"/>
          <p:nvPr/>
        </p:nvSpPr>
        <p:spPr>
          <a:xfrm>
            <a:off x="703413" y="904222"/>
            <a:ext cx="10618916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latinLnBrk="1">
              <a:buAutoNum type="arabicParenR" startAt="4"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UI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표준 위반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색상 등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</a:p>
          <a:p>
            <a:pPr latinLnBrk="1">
              <a:spcAft>
                <a:spcPts val="800"/>
              </a:spcAf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노트북에서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필수값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색상 오류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UI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가이드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및 다양한 해상도 테스트 부족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5A08BC-266B-4AC6-B945-E38B5AD15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5. 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</a:t>
            </a:r>
            <a:r>
              <a:rPr lang="ko-KR" altLang="ko-KR" sz="2000" b="1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원인별</a:t>
            </a:r>
            <a:r>
              <a:rPr lang="ko-KR" altLang="ko-KR" sz="20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조치 계획 및 재발 방지 방안</a:t>
            </a:r>
            <a:endParaRPr lang="ko-KR" altLang="ko-KR" sz="20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vl="0" latinLnBrk="0">
              <a:defRPr/>
            </a:pP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903030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F08B8A4-402F-EB3A-76AE-6F2B0E8DB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- 1.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현황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F07B896A-493F-8469-C258-3750629EC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52" y="692696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 현황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27116F-117C-9D87-4797-D50F2C08CFAB}"/>
              </a:ext>
            </a:extLst>
          </p:cNvPr>
          <p:cNvSpPr/>
          <p:nvPr/>
        </p:nvSpPr>
        <p:spPr>
          <a:xfrm>
            <a:off x="399352" y="1244695"/>
            <a:ext cx="7341935" cy="1149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식별 결함  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245</a:t>
            </a:r>
            <a:r>
              <a:rPr kumimoji="1"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 </a:t>
            </a:r>
            <a:r>
              <a:rPr kumimoji="1"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결함 기각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21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건 포함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) </a:t>
            </a:r>
          </a:p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결함 </a:t>
            </a:r>
            <a:r>
              <a:rPr kumimoji="1" lang="ko-KR" altLang="en-US" sz="1400" kern="0" spc="-30" dirty="0" err="1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발생율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:  32.1% ( 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테스트 대상 시나리오 기준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, 224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/ 698</a:t>
            </a: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개 </a:t>
            </a:r>
            <a:r>
              <a:rPr kumimoji="1" lang="en-US" altLang="ko-KR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)</a:t>
            </a:r>
          </a:p>
          <a:p>
            <a:pPr marL="285750" indent="-285750" defTabSz="457200" latinLnBrk="0">
              <a:spcBef>
                <a:spcPts val="800"/>
              </a:spcBef>
              <a:spcAft>
                <a:spcPts val="800"/>
              </a:spcAft>
              <a:buFontTx/>
              <a:buChar char="-"/>
            </a:pPr>
            <a:r>
              <a:rPr kumimoji="1" lang="ko-KR" altLang="en-US" sz="1400" kern="0" spc="-30" dirty="0">
                <a:ln>
                  <a:solidFill>
                    <a:prstClr val="white">
                      <a:alpha val="0"/>
                    </a:prst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  <a:cs typeface="Segoe UI" panose="020B0502040204020203" pitchFamily="34" charset="0"/>
              </a:rPr>
              <a:t>핵심 요약 </a:t>
            </a:r>
            <a:endParaRPr kumimoji="1" lang="en-US" altLang="ko-KR" sz="1400" kern="0" spc="-30" dirty="0">
              <a:ln>
                <a:solidFill>
                  <a:prstClr val="white">
                    <a:alpha val="0"/>
                  </a:prst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  <a:cs typeface="Segoe UI" panose="020B0502040204020203" pitchFamily="34" charset="0"/>
            </a:endParaRP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55E603D5-6CE3-B285-EEC2-278FA61B2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33" y="2575818"/>
            <a:ext cx="900729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결함의 약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**36%**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테스트 데이터 부재 및 정합성 문제로 확인됨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기능 오류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(31%) 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못지않게 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DB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스키마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권한 등 환경적 요인에 의한 문서화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결함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(22%)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비중이 높음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이는 개발 기능의 문제보다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환경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(DB, 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데이터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의 준비 상태 미흡</a:t>
            </a:r>
            <a:r>
              <a:rPr lang="ko-KR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 결함 수치를 높이는 주요 원인임</a:t>
            </a:r>
            <a:r>
              <a:rPr lang="en-US" altLang="ko-KR" sz="1200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31206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5DE482-5851-A864-A45F-7CC49DBC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F643B4E6-A1CD-BFED-23B1-07D6B3455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99" y="876165"/>
            <a:ext cx="1029024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ts val="800"/>
              </a:spcBef>
              <a:spcAft>
                <a:spcPts val="800"/>
              </a:spcAft>
            </a:pPr>
            <a:r>
              <a:rPr lang="ko-KR" altLang="en-US" sz="1400" b="1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업무 영역별 주요 결함</a:t>
            </a:r>
            <a:endParaRPr lang="en-US" altLang="ko-KR" sz="14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B7B7229-E3BA-3F49-C91A-B403B75B848D}"/>
              </a:ext>
            </a:extLst>
          </p:cNvPr>
          <p:cNvGraphicFramePr>
            <a:graphicFrameLocks noGrp="1"/>
          </p:cNvGraphicFramePr>
          <p:nvPr/>
        </p:nvGraphicFramePr>
        <p:xfrm>
          <a:off x="902425" y="1326688"/>
          <a:ext cx="10444844" cy="4409213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580754">
                  <a:extLst>
                    <a:ext uri="{9D8B030D-6E8A-4147-A177-3AD203B41FA5}">
                      <a16:colId xmlns:a16="http://schemas.microsoft.com/office/drawing/2014/main" val="1306198890"/>
                    </a:ext>
                  </a:extLst>
                </a:gridCol>
                <a:gridCol w="982930">
                  <a:extLst>
                    <a:ext uri="{9D8B030D-6E8A-4147-A177-3AD203B41FA5}">
                      <a16:colId xmlns:a16="http://schemas.microsoft.com/office/drawing/2014/main" val="359235125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38827903"/>
                    </a:ext>
                  </a:extLst>
                </a:gridCol>
                <a:gridCol w="710733">
                  <a:extLst>
                    <a:ext uri="{9D8B030D-6E8A-4147-A177-3AD203B41FA5}">
                      <a16:colId xmlns:a16="http://schemas.microsoft.com/office/drawing/2014/main" val="3209586441"/>
                    </a:ext>
                  </a:extLst>
                </a:gridCol>
                <a:gridCol w="951352">
                  <a:extLst>
                    <a:ext uri="{9D8B030D-6E8A-4147-A177-3AD203B41FA5}">
                      <a16:colId xmlns:a16="http://schemas.microsoft.com/office/drawing/2014/main" val="176146514"/>
                    </a:ext>
                  </a:extLst>
                </a:gridCol>
                <a:gridCol w="951352">
                  <a:extLst>
                    <a:ext uri="{9D8B030D-6E8A-4147-A177-3AD203B41FA5}">
                      <a16:colId xmlns:a16="http://schemas.microsoft.com/office/drawing/2014/main" val="3717851300"/>
                    </a:ext>
                  </a:extLst>
                </a:gridCol>
                <a:gridCol w="888238">
                  <a:extLst>
                    <a:ext uri="{9D8B030D-6E8A-4147-A177-3AD203B41FA5}">
                      <a16:colId xmlns:a16="http://schemas.microsoft.com/office/drawing/2014/main" val="1752925775"/>
                    </a:ext>
                  </a:extLst>
                </a:gridCol>
                <a:gridCol w="1103578">
                  <a:extLst>
                    <a:ext uri="{9D8B030D-6E8A-4147-A177-3AD203B41FA5}">
                      <a16:colId xmlns:a16="http://schemas.microsoft.com/office/drawing/2014/main" val="435457311"/>
                    </a:ext>
                  </a:extLst>
                </a:gridCol>
                <a:gridCol w="862241">
                  <a:extLst>
                    <a:ext uri="{9D8B030D-6E8A-4147-A177-3AD203B41FA5}">
                      <a16:colId xmlns:a16="http://schemas.microsoft.com/office/drawing/2014/main" val="688251982"/>
                    </a:ext>
                  </a:extLst>
                </a:gridCol>
                <a:gridCol w="2499266">
                  <a:extLst>
                    <a:ext uri="{9D8B030D-6E8A-4147-A177-3AD203B41FA5}">
                      <a16:colId xmlns:a16="http://schemas.microsoft.com/office/drawing/2014/main" val="77354026"/>
                    </a:ext>
                  </a:extLst>
                </a:gridCol>
              </a:tblGrid>
              <a:tr h="379739">
                <a:tc grid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모듈명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대상 시나리오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결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함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결함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개선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/</a:t>
                      </a: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변경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재테스트</a:t>
                      </a: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완료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조치율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(%)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비고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주요 이슈</a:t>
                      </a: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301074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공항운영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모바일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(WES)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194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52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스키마 누락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데이터 부재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48464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공항운영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(GO)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120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리포트 합계 불일치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</a:t>
                      </a:r>
                      <a:r>
                        <a:rPr lang="ko-KR" alt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정합성</a:t>
                      </a: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883549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운항계획</a:t>
                      </a: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(FP)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67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22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서버 오류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(500), </a:t>
                      </a: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테이블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미존재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698740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항공보안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(FS)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40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화면 로딩 불가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(Critical)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7584023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통계포털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(AS)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초기화 버튼 </a:t>
                      </a:r>
                      <a:r>
                        <a:rPr lang="ko-KR" sz="1200" kern="100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미동작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7674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공통관리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(CA)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54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권한 설정</a:t>
                      </a:r>
                      <a:r>
                        <a:rPr lang="en-US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200" kern="10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공통 코드 부재</a:t>
                      </a:r>
                      <a:endParaRPr lang="ko-KR" sz="1200" kern="10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27533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예측관리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(PM)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46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프로시저 실행 불가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281112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자원배정</a:t>
                      </a: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(RS)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30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068547"/>
                  </a:ext>
                </a:extLst>
              </a:tr>
              <a:tr h="37973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기타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128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15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endParaRPr lang="ko-KR" sz="1200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468358"/>
                  </a:ext>
                </a:extLst>
              </a:tr>
              <a:tr h="379739">
                <a:tc gridSpan="2">
                  <a:txBody>
                    <a:bodyPr/>
                    <a:lstStyle/>
                    <a:p>
                      <a:pPr algn="ctr" latinLnBrk="1">
                        <a:spcAft>
                          <a:spcPts val="800"/>
                        </a:spcAft>
                        <a:buNone/>
                      </a:pPr>
                      <a:r>
                        <a:rPr lang="ko-KR" alt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합계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Times New Roman" panose="02020603050405020304" pitchFamily="18" charset="0"/>
                        </a:rPr>
                        <a:t>698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245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125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120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0%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108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200" b="1" kern="100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환경 조치 선행 필수</a:t>
                      </a:r>
                      <a:endParaRPr lang="ko-KR" sz="1200" b="1" kern="100" dirty="0"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790032"/>
                  </a:ext>
                </a:extLst>
              </a:tr>
            </a:tbl>
          </a:graphicData>
        </a:graphic>
      </p:graphicFrame>
      <p:sp>
        <p:nvSpPr>
          <p:cNvPr id="5" name="타원 4">
            <a:extLst>
              <a:ext uri="{FF2B5EF4-FFF2-40B4-BE49-F238E27FC236}">
                <a16:creationId xmlns:a16="http://schemas.microsoft.com/office/drawing/2014/main" id="{DBA94552-94FD-4365-3FA3-7945180CF7E5}"/>
              </a:ext>
            </a:extLst>
          </p:cNvPr>
          <p:cNvSpPr/>
          <p:nvPr/>
        </p:nvSpPr>
        <p:spPr>
          <a:xfrm>
            <a:off x="10452101" y="1"/>
            <a:ext cx="1491008" cy="151476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조치 완료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현행화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D521385-3946-482F-BE99-15F386556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상세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6538274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06D4AA-BBFC-4BB0-B4C5-2F4120FAE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412452"/>
              </p:ext>
            </p:extLst>
          </p:nvPr>
        </p:nvGraphicFramePr>
        <p:xfrm>
          <a:off x="1035699" y="1856980"/>
          <a:ext cx="10098800" cy="4114607"/>
        </p:xfrm>
        <a:graphic>
          <a:graphicData uri="http://schemas.openxmlformats.org/drawingml/2006/table">
            <a:tbl>
              <a:tblPr/>
              <a:tblGrid>
                <a:gridCol w="2147729">
                  <a:extLst>
                    <a:ext uri="{9D8B030D-6E8A-4147-A177-3AD203B41FA5}">
                      <a16:colId xmlns:a16="http://schemas.microsoft.com/office/drawing/2014/main" val="2016690265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152254766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152330996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174761079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542610492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247778219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1981458207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016559347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3992459896"/>
                    </a:ext>
                  </a:extLst>
                </a:gridCol>
                <a:gridCol w="791975">
                  <a:extLst>
                    <a:ext uri="{9D8B030D-6E8A-4147-A177-3AD203B41FA5}">
                      <a16:colId xmlns:a16="http://schemas.microsoft.com/office/drawing/2014/main" val="4270341195"/>
                    </a:ext>
                  </a:extLst>
                </a:gridCol>
              </a:tblGrid>
              <a:tr h="40674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업무영역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4060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18290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항공보안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79407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공항운영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707833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항공통계포털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4980407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A-CDM(CM)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965088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510739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AOMS-CA)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71808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66107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819253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230588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운항계획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70180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공통관리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FIMS-CA)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805130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자원배정차트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566724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항공기관제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648596"/>
                  </a:ext>
                </a:extLst>
              </a:tr>
              <a:tr h="24719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6874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945E5835-C84A-46FA-A742-D74E0DCFE780}"/>
              </a:ext>
            </a:extLst>
          </p:cNvPr>
          <p:cNvSpPr/>
          <p:nvPr/>
        </p:nvSpPr>
        <p:spPr>
          <a:xfrm>
            <a:off x="7665096" y="1838506"/>
            <a:ext cx="1777484" cy="4133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80FED9-A85C-4DEE-875B-32A6A35EC525}"/>
              </a:ext>
            </a:extLst>
          </p:cNvPr>
          <p:cNvSpPr/>
          <p:nvPr/>
        </p:nvSpPr>
        <p:spPr>
          <a:xfrm>
            <a:off x="4076027" y="1838506"/>
            <a:ext cx="884643" cy="41330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9AFEAA47-C982-4F39-8D4F-7E1A5AAFE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09" y="1073479"/>
            <a:ext cx="10567198" cy="369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기능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오류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문서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결과서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등의 결함 처리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개선 진행 필요함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11B556E-178D-4A6A-9C1E-84457C91B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3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테스트 결과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4656611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noProof="0" dirty="0">
                <a:solidFill>
                  <a:prstClr val="white"/>
                </a:solidFill>
              </a:rPr>
              <a:t>5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종합평가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68131"/>
              </p:ext>
            </p:extLst>
          </p:nvPr>
        </p:nvGraphicFramePr>
        <p:xfrm>
          <a:off x="324463" y="1340678"/>
          <a:ext cx="10881601" cy="491029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184310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869729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</a:tblGrid>
              <a:tr h="480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검증 구분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101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단위테스트시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실행전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쿼리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실행후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확인 쿼리 제공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필요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</a:t>
                      </a: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파라미터가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있는 경우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상세하게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파라미터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설정 또는 테스트 방법 가이드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프로시저 실행 권한이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유저별로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부여되어 있어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3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테스터가 수행할 수 있도록 </a:t>
                      </a:r>
                      <a:b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모듈별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유저 목록 또는 권한이 있는 하나의 계정 제공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프로시져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내 오브젝트 권한 부여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  <a:tr h="11017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배치 검증 방법에 대해 상세한 가이드 제공 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342900" marR="0" lvl="0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  <a:tabLst/>
                        <a:defRPr/>
                      </a:pP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필요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단계별 시나리오 상세화</a:t>
                      </a:r>
                      <a:b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스텝별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실행 스크립트 제시 및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검증 쿼리 제공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en-US" altLang="ko-KR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cron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tab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스케쥴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등록 확인 등의 테스트케이스는 </a:t>
                      </a: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자테스트가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확인 어려움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963935"/>
                  </a:ext>
                </a:extLst>
              </a:tr>
              <a:tr h="13227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온라인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화면 경로를 확인할 수 있도록 증빙 이미지에 경로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포함 필요</a:t>
                      </a:r>
                      <a:b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-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특히 팝업과 탭 화면의 경우는 해당 화면만 </a:t>
                      </a:r>
                      <a:r>
                        <a:rPr lang="ko-KR" altLang="en-US" sz="1350" baseline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캡춰하여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파악이 어려움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데이터 확보가 어려운 화면의 경우는 테스트 데이터 확보에 대한 가이드 제시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복잡한 화면 검증이 필요한 경우는 상세하게 시나리오 또는 검증 이미지에 설명 기술 필요</a:t>
                      </a:r>
                      <a:endParaRPr lang="en-US" altLang="ko-KR" sz="135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4. </a:t>
                      </a:r>
                      <a:r>
                        <a:rPr lang="ko-KR" altLang="en-US" sz="135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요청 권한과 승인 권한이 필요한 화면에 대해서는 시나리오에 해당 사항을 기재 필요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505710"/>
                  </a:ext>
                </a:extLst>
              </a:tr>
              <a:tr h="8665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단위테스트결과서 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latinLnBrk="1"/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 </a:t>
                      </a: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스크립트 제공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테스트시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대상에 대해 단위테스트결과서와 스크립트가 제공되는데</a:t>
                      </a:r>
                      <a:r>
                        <a:rPr lang="en-US" altLang="ko-KR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미흡한 부분이 발생되어 </a:t>
                      </a:r>
                      <a:r>
                        <a:rPr lang="ko-KR" altLang="en-US" sz="135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진행시</a:t>
                      </a:r>
                      <a:r>
                        <a:rPr lang="ko-KR" altLang="en-US" sz="135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어려움 발생</a:t>
                      </a:r>
                      <a:endParaRPr lang="en-US" altLang="ko-KR" sz="135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93108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테스트시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필요 사항</a:t>
            </a:r>
          </a:p>
        </p:txBody>
      </p:sp>
    </p:spTree>
    <p:extLst>
      <p:ext uri="{BB962C8B-B14F-4D97-AF65-F5344CB8AC3E}">
        <p14:creationId xmlns:p14="http://schemas.microsoft.com/office/powerpoint/2010/main" val="1046487434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6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후속조치 계획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928243"/>
              </p:ext>
            </p:extLst>
          </p:nvPr>
        </p:nvGraphicFramePr>
        <p:xfrm>
          <a:off x="324464" y="1340678"/>
          <a:ext cx="11536219" cy="24240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130459">
                  <a:extLst>
                    <a:ext uri="{9D8B030D-6E8A-4147-A177-3AD203B41FA5}">
                      <a16:colId xmlns:a16="http://schemas.microsoft.com/office/drawing/2014/main" val="4234438739"/>
                    </a:ext>
                  </a:extLst>
                </a:gridCol>
                <a:gridCol w="4782051">
                  <a:extLst>
                    <a:ext uri="{9D8B030D-6E8A-4147-A177-3AD203B41FA5}">
                      <a16:colId xmlns:a16="http://schemas.microsoft.com/office/drawing/2014/main" val="2323507257"/>
                    </a:ext>
                  </a:extLst>
                </a:gridCol>
                <a:gridCol w="3623709">
                  <a:extLst>
                    <a:ext uri="{9D8B030D-6E8A-4147-A177-3AD203B41FA5}">
                      <a16:colId xmlns:a16="http://schemas.microsoft.com/office/drawing/2014/main" val="3191043330"/>
                    </a:ext>
                  </a:extLst>
                </a:gridCol>
              </a:tblGrid>
              <a:tr h="40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참고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793833"/>
                  </a:ext>
                </a:extLst>
              </a:tr>
              <a:tr h="10839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</a:t>
                      </a:r>
                      <a:r>
                        <a:rPr lang="ko-KR" altLang="en-US" sz="140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결함조치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개발자</a:t>
                      </a:r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/PL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결함 조치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확인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해당 결함 처리 내역은 공사 테스트 일정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(8/4~)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이전에 확인 처리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결함의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근본 원인 파악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대응 처리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처리 확인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과정은 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TMS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활용</a:t>
                      </a:r>
                      <a:r>
                        <a:rPr lang="en-US" altLang="ko-KR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</a:t>
                      </a:r>
                      <a:endParaRPr lang="en-US" altLang="ko-KR" sz="1400" baseline="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집계 내역은 주간 공정내 첨부 예정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32683"/>
                  </a:ext>
                </a:extLst>
              </a:tr>
              <a:tr h="933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개선방향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개발팀의 빠른 결함 조치 대응과 테스터의 재확인</a:t>
                      </a:r>
                      <a:r>
                        <a:rPr lang="ko-KR" altLang="en-US" sz="1400" baseline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절차가 빠르게 진행될 수 있는 방안 내부 논의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개발 일정과 결함 </a:t>
                      </a:r>
                      <a:r>
                        <a:rPr lang="ko-KR" altLang="en-US" sz="140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대응일정</a:t>
                      </a:r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조정</a:t>
                      </a:r>
                      <a:endParaRPr lang="en-US" altLang="ko-KR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819825"/>
                  </a:ext>
                </a:extLst>
              </a:tr>
            </a:tbl>
          </a:graphicData>
        </a:graphic>
      </p:graphicFrame>
      <p:sp>
        <p:nvSpPr>
          <p:cNvPr id="13" name="TextBox 27"/>
          <p:cNvSpPr txBox="1">
            <a:spLocks noChangeArrowheads="1"/>
          </p:cNvSpPr>
          <p:nvPr/>
        </p:nvSpPr>
        <p:spPr bwMode="auto">
          <a:xfrm>
            <a:off x="399352" y="692696"/>
            <a:ext cx="1056719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2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</a:t>
            </a:r>
            <a:r>
              <a:rPr lang="ko-KR" altLang="en-US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결함조치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테스트 개선방향에 대한 논의 진행</a:t>
            </a:r>
          </a:p>
        </p:txBody>
      </p:sp>
    </p:spTree>
    <p:extLst>
      <p:ext uri="{BB962C8B-B14F-4D97-AF65-F5344CB8AC3E}">
        <p14:creationId xmlns:p14="http://schemas.microsoft.com/office/powerpoint/2010/main" val="119880666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8F2477-8D5C-0C44-F68C-5E35E50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7E9F424-D81D-B996-3BAC-2ABEA552B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II – 4. </a:t>
            </a:r>
            <a:r>
              <a:rPr lang="ko-KR" altLang="ko-KR" sz="20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결함 원인 상세 분석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6A98F-5316-1139-F95D-2533972228DB}"/>
              </a:ext>
            </a:extLst>
          </p:cNvPr>
          <p:cNvSpPr txBox="1"/>
          <p:nvPr/>
        </p:nvSpPr>
        <p:spPr>
          <a:xfrm>
            <a:off x="632298" y="849127"/>
            <a:ext cx="1137163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식별 태그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([S], [C], [X])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및 에러 메시지를 기반으로 분석한 근본 원인입니다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1) [X]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 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환경적 요인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(Blocking Issue)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30%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개발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환경 불일치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(Environment Mismatch)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 상세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Schema Name Missing: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쿼리문에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ESOWN.TABLE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처럼 스키마를 명시하지 않아 실행 불가하거나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반대로 로컬 스키마가 하드코딩 되어 권한 오류 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UT-ES-SP8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등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WES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 다수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Object Not Found: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테이블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프로시저가 테스트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DB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에 배포되지 않았거나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Synonym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설정이 누락됨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UT-FP-SP188).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대응 필요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이는 기능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오류라기보다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관리 및 배포 프로세스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의 문제입니다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1200" b="1" kern="100" dirty="0"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[S]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시나리오 기반 기능 결함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60%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 데이터 준비 미흡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(Test Data)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테스트를 수행할 기초 데이터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(Pre-condition)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없어 조회가 안 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버튼이 비활성화됨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 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"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조건에 맞는 데이터 없음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", "DEAL_STAT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값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N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인 데이터 필요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")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2: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로직 및 데이터 정합성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(Logic)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리포트 집계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전체 합계와 상세 합계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(T1+T2)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가 일치하지 않음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(GO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조회 범위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미래 날짜 데이터가 실적에 포함되거나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1900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년 데이터가 조회되는 등 필터링 로직 부재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서버 오류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저장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수정 시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Server Error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발생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(FP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모듈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).</a:t>
            </a:r>
          </a:p>
          <a:p>
            <a:pPr marL="742950" lvl="1" indent="-285750" latinLnBrk="1"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3) [C]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유형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공통 체크리스트 위반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- </a:t>
            </a: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약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10%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주요 원인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UI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표준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미준수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  <a:p>
            <a:pPr marL="342900" lvl="0" indent="-342900" latinLnBrk="1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ko-KR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현상 상세</a:t>
            </a:r>
            <a:r>
              <a:rPr lang="en-US" altLang="ko-KR" sz="1200" b="1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: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필수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입력값의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 라벨 색상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파란색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/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주황색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오표기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해상도에 따른 버튼 </a:t>
            </a:r>
            <a:r>
              <a:rPr lang="ko-KR" altLang="ko-KR" sz="1200" kern="100" dirty="0" err="1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짤림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노트북 화면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), </a:t>
            </a:r>
            <a:r>
              <a:rPr lang="ko-KR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특수문자 입력 제한 미비</a:t>
            </a:r>
            <a:r>
              <a:rPr lang="en-US" altLang="ko-KR" sz="1200" kern="100" dirty="0">
                <a:effectLst/>
                <a:latin typeface="KoPub돋움체 Medium" panose="02020603020101020101" pitchFamily="18" charset="-127"/>
                <a:ea typeface="KoPub돋움체 Medium" panose="02020603020101020101" pitchFamily="18" charset="-127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effectLst/>
              <a:latin typeface="KoPub돋움체 Medium" panose="02020603020101020101" pitchFamily="18" charset="-127"/>
              <a:ea typeface="KoPub돋움체 Medium" panose="0202060302010102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41518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529517"/>
              </p:ext>
            </p:extLst>
          </p:nvPr>
        </p:nvGraphicFramePr>
        <p:xfrm>
          <a:off x="397150" y="1184988"/>
          <a:ext cx="11312767" cy="5160256"/>
        </p:xfrm>
        <a:graphic>
          <a:graphicData uri="http://schemas.openxmlformats.org/drawingml/2006/table">
            <a:tbl>
              <a:tblPr/>
              <a:tblGrid>
                <a:gridCol w="1104914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895903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3232985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77452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10151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33158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50826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UI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필수입력값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구분이 안됨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적용시작일자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적용종료일자 일자체크필요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필수값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미표시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미체크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필수값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표시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기간의 경우 일자 체크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341994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UI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일자를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20260229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수정하고 신청 수정을 누르면 아무런 반응이 없음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수정 불가시 액션 취하지 않음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수정 불가시 안내문구 표시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6745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Assigment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하여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3p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a07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배정함 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배정된 바를 변경하려고 하면 변경신청을 누르면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해당값이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사라짐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 변경으로 인해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배정바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삭제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배정 변경으로 바가 삭제될 경우 안내문구 표시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217100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기능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Select 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다중선택에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시나리오 보안 필요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선택하면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메세지는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반영디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되나 실제 값은 변동이 없음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--&gt; 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개만 선택가능 하다면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개만 선택 가능하다고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메세지를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보여 주고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 가능하면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해당하느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값이 나와야 함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Select Zone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빈칸을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눌렀을땐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아무런 작동을 안함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--&gt;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빈칸을 누르면 선택한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ZONE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된다던지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 없으면 삭제를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한다던지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정의가 필요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아님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Select 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다중선택에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대한 시나리오 보안 필요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클릭하는 대로 선택되기 때문에 시나리오 보완 불필요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 아님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91173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표준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START DATE EDIT CHECK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DURATION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MIN, MAX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미체크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DURATION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MIN, MAX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제한 없음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1.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일자 체크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YYYY-MM-DD HH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형식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안맞을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경우 초기값으로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자동변경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2. DURATION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에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MIN, MAX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제한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=&gt;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최소값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차트의 기본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시간 단위 너비의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   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최대값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48 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차트의 기본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시간 단위 너비의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1/2)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2108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개선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변경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문서화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테스트결과서 없음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테스트 결과서 미작성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기한 내 테스트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결과서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작성</a:t>
                      </a:r>
                    </a:p>
                  </a:txBody>
                  <a:tcPr marL="36000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81073" y="699469"/>
            <a:ext cx="2220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/>
              <a:t>자원배정차트</a:t>
            </a:r>
            <a:r>
              <a:rPr lang="en-US" altLang="ko-KR" b="1" dirty="0"/>
              <a:t>(RC) ]</a:t>
            </a:r>
          </a:p>
        </p:txBody>
      </p:sp>
    </p:spTree>
    <p:extLst>
      <p:ext uri="{BB962C8B-B14F-4D97-AF65-F5344CB8AC3E}">
        <p14:creationId xmlns:p14="http://schemas.microsoft.com/office/powerpoint/2010/main" val="39866518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26387"/>
              </p:ext>
            </p:extLst>
          </p:nvPr>
        </p:nvGraphicFramePr>
        <p:xfrm>
          <a:off x="359827" y="1228465"/>
          <a:ext cx="11266115" cy="4995054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975105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3136756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423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163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라벨과 텍스트 필드 사이에 간격이 너무 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모든 화면에 대해서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고정값을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사용하는 듯 보임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길이에 따라서 유연하게 적용되어야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박스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- 12px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박스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50px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53975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저장버튼 통일이 안되어있음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cssclass - txtbtn_save02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 :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저장하기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77553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 길이에 대한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예외처리가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없어서 서버 오류 메시지가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 상세 파악 필요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표준에 맞춰 통일 유지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maxlength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: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권힌이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없다고 나옴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접속 아이디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IDTTEST02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미확인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후 개발 서버 확인 숙지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 화면에 대한 내용이나 데이터가 필요합니다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 미비로 인한 테스트 불가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서류 작성 보완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  <a:tr h="4127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첨부한 사진과 같이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상태코드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404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미확인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후 개발 서버 확인 숙지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106948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테스트시니리오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문서상에 시나리오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명이 다름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기능은 인터페이스 인데 시나리오상 인테페이스에 대한 기능 시나리오는 없음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 Flight Name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값을 주고 검색하면 기능이 작동하지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고려 미비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수정 시 동기화 필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90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SLOT ]</a:t>
            </a:r>
          </a:p>
        </p:txBody>
      </p:sp>
    </p:spTree>
    <p:extLst>
      <p:ext uri="{BB962C8B-B14F-4D97-AF65-F5344CB8AC3E}">
        <p14:creationId xmlns:p14="http://schemas.microsoft.com/office/powerpoint/2010/main" val="2094787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359371"/>
              </p:ext>
            </p:extLst>
          </p:nvPr>
        </p:nvGraphicFramePr>
        <p:xfrm>
          <a:off x="359827" y="1228465"/>
          <a:ext cx="11266115" cy="4995054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423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163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결함이미지는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출발편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운항정보에서 타임아웃 현상이 걸린 후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뒤로가기를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누르면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스피너가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계속 남아있는 현상입니다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로딩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화면 이동 시 초기화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53975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TOBT 3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회이상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 시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안나옵니다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단위테스트결과서 현재 진행 상황안내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ESB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진행 시 처리 가능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77553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TOBT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미만으로 차이나게 수정했지만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나오지 않습니다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(10:10 -&gt; 10:12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시도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유효성 체크 재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스피너가 돌 때 팝업과 겹쳐있음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 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로딩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스피너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최상단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배치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1938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등록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구분값이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바뀌지않음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추가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요청사항과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함께 일괄 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  <a:tr h="41277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마일스톤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변경이력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테스트 데이터 요청합니다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항공편이든 좋습니다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데이터 부족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ESB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 진행 시 처리 가능하지만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전 데이터 입력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960617"/>
                  </a:ext>
                </a:extLst>
              </a:tr>
              <a:tr h="106948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권한이 없어 신규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(+)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버튼이 보이지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개발건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진행 중 데이터를 변경해 놓아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불가하였음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 개발완료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권한부분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3836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49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WES / MES ]</a:t>
            </a:r>
          </a:p>
        </p:txBody>
      </p:sp>
    </p:spTree>
    <p:extLst>
      <p:ext uri="{BB962C8B-B14F-4D97-AF65-F5344CB8AC3E}">
        <p14:creationId xmlns:p14="http://schemas.microsoft.com/office/powerpoint/2010/main" val="1829032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937654"/>
              </p:ext>
            </p:extLst>
          </p:nvPr>
        </p:nvGraphicFramePr>
        <p:xfrm>
          <a:off x="359827" y="1228465"/>
          <a:ext cx="11266115" cy="4481871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771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81895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빨간색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표시부분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오타수정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부탁드립니다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항공사별시간대별 수하물개수실적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항공사별 시간대별 수하물개수실적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꼼꼼히 기능들 재점검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61708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파일첨부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box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텍스트 입력이 되고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alert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나타나지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개발후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꼼꼼히 기능들 재점검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135247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아래의 프로시저의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부탁드립니다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 SP_GO_UPDATE_MASTERFILE_RSRV;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b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 Error [ERREX]: JDBC-11029:No function matches the specified argument(s).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테스터에 프로시저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인수값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미제공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테스터에 프로시저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필요한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인수값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사전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SQL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에러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쿼리문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컬럼 추가 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 NULL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 추가 안됨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 컬럼 추가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표준화에 따른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컬럼명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변동 테이블 변동사항 신속 대처 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70811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타이틀 일부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안나옴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오류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레포트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담당자가 전반적 조치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/>
              <a:t>공항운영</a:t>
            </a:r>
            <a:r>
              <a:rPr lang="en-US" altLang="ko-KR" b="1" dirty="0"/>
              <a:t>(GO) ]</a:t>
            </a:r>
          </a:p>
        </p:txBody>
      </p:sp>
    </p:spTree>
    <p:extLst>
      <p:ext uri="{BB962C8B-B14F-4D97-AF65-F5344CB8AC3E}">
        <p14:creationId xmlns:p14="http://schemas.microsoft.com/office/powerpoint/2010/main" val="18108294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C9ED3EB1-9AB1-4FBA-E43B-912930EB4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892" y="91161"/>
            <a:ext cx="565251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indent="-354013" defTabSz="957743">
              <a:defRPr sz="2200" spc="-11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lvl="0" latinLnBrk="0">
              <a:defRPr/>
            </a:pP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en-US" altLang="ko-KR" sz="2000" b="1" dirty="0">
                <a:solidFill>
                  <a:prstClr val="white"/>
                </a:solidFill>
              </a:rPr>
              <a:t>4</a:t>
            </a:r>
            <a:r>
              <a:rPr kumimoji="0" lang="en-US" altLang="ko-KR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.</a:t>
            </a:r>
            <a:r>
              <a:rPr kumimoji="0" lang="ko-KR" altLang="en-US" sz="2000" b="1" i="0" u="none" strike="noStrike" kern="1200" cap="none" spc="-11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r>
              <a:rPr lang="ko-KR" altLang="en-US" sz="2000" b="1" dirty="0">
                <a:solidFill>
                  <a:prstClr val="white"/>
                </a:solidFill>
              </a:rPr>
              <a:t>결함 유형</a:t>
            </a:r>
            <a:r>
              <a:rPr lang="en-US" altLang="ko-KR" sz="2000" b="1" dirty="0">
                <a:solidFill>
                  <a:prstClr val="white"/>
                </a:solidFill>
              </a:rPr>
              <a:t>(</a:t>
            </a:r>
            <a:r>
              <a:rPr lang="ko-KR" altLang="en-US" sz="2000" b="1" dirty="0">
                <a:solidFill>
                  <a:prstClr val="white"/>
                </a:solidFill>
              </a:rPr>
              <a:t>사례</a:t>
            </a:r>
            <a:r>
              <a:rPr lang="en-US" altLang="ko-KR" sz="2000" b="1" dirty="0">
                <a:solidFill>
                  <a:prstClr val="white"/>
                </a:solidFill>
              </a:rPr>
              <a:t>)</a:t>
            </a:r>
            <a:endParaRPr kumimoji="0" lang="en-US" altLang="ko-KR" sz="2000" b="1" i="0" u="none" strike="noStrike" kern="1200" cap="none" spc="-11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014059"/>
              </p:ext>
            </p:extLst>
          </p:nvPr>
        </p:nvGraphicFramePr>
        <p:xfrm>
          <a:off x="359827" y="1228465"/>
          <a:ext cx="11266115" cy="4967062"/>
        </p:xfrm>
        <a:graphic>
          <a:graphicData uri="http://schemas.openxmlformats.org/drawingml/2006/table">
            <a:tbl>
              <a:tblPr/>
              <a:tblGrid>
                <a:gridCol w="1100358">
                  <a:extLst>
                    <a:ext uri="{9D8B030D-6E8A-4147-A177-3AD203B41FA5}">
                      <a16:colId xmlns:a16="http://schemas.microsoft.com/office/drawing/2014/main" val="744682201"/>
                    </a:ext>
                  </a:extLst>
                </a:gridCol>
                <a:gridCol w="1146688">
                  <a:extLst>
                    <a:ext uri="{9D8B030D-6E8A-4147-A177-3AD203B41FA5}">
                      <a16:colId xmlns:a16="http://schemas.microsoft.com/office/drawing/2014/main" val="198501053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2149134689"/>
                    </a:ext>
                  </a:extLst>
                </a:gridCol>
                <a:gridCol w="2965173">
                  <a:extLst>
                    <a:ext uri="{9D8B030D-6E8A-4147-A177-3AD203B41FA5}">
                      <a16:colId xmlns:a16="http://schemas.microsoft.com/office/drawing/2014/main" val="1223927045"/>
                    </a:ext>
                  </a:extLst>
                </a:gridCol>
                <a:gridCol w="3088723">
                  <a:extLst>
                    <a:ext uri="{9D8B030D-6E8A-4147-A177-3AD203B41FA5}">
                      <a16:colId xmlns:a16="http://schemas.microsoft.com/office/drawing/2014/main" val="2740114665"/>
                    </a:ext>
                  </a:extLst>
                </a:gridCol>
              </a:tblGrid>
              <a:tr h="2596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결함구분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결함유형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결함내용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결함발생원인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재발방지방안</a:t>
                      </a:r>
                    </a:p>
                  </a:txBody>
                  <a:tcPr marL="4824" marR="4824" marT="48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446131"/>
                  </a:ext>
                </a:extLst>
              </a:tr>
              <a:tr h="767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LIST1, LIST2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모두 삭제가 되지 않음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데이터삭제가 아닌 사용여부 변경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93047"/>
                  </a:ext>
                </a:extLst>
              </a:tr>
              <a:tr h="767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1.CODE2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값에 한글이 들어 감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한글로 최대삾을 넣으면 오류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입력값과 보여주는 값이 짤려 나옴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넥사크로에서 제공하는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maxlength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글자 수만 체크하고 있어서 한글일 경우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수가 초과되어 저장 시 오류발생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component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사이즈가 길이에 비해 작음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byte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 로직 추가 및 동일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component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적용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최대길이 입력 후 화면 체크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678432"/>
                  </a:ext>
                </a:extLst>
              </a:tr>
              <a:tr h="57822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SORT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값을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자릿수 이상 입력 하면 오류가 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97581"/>
                  </a:ext>
                </a:extLst>
              </a:tr>
              <a:tr h="12673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list2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저장시 오류발생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시 발생하는 현상임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기능공통에서 해당 케이스 발생 시 오류메시지 수정예정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기능공통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논의 후 결정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21263"/>
                  </a:ext>
                </a:extLst>
              </a:tr>
              <a:tr h="66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저장 안됨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정상작동함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N/A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014671"/>
                  </a:ext>
                </a:extLst>
              </a:tr>
              <a:tr h="66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삭제시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useyn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바뀜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상으로는 데이터가 보이지 않아야 함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결함아님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데이터삭제가 아닌 사용여부 변경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테스트케이스 수정 완료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테스트시나리오 확인</a:t>
                      </a: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6794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81073" y="69946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 err="1"/>
              <a:t>공통관리</a:t>
            </a:r>
            <a:r>
              <a:rPr lang="en-US" altLang="ko-KR" b="1" dirty="0"/>
              <a:t>(CA) ]</a:t>
            </a:r>
          </a:p>
        </p:txBody>
      </p:sp>
    </p:spTree>
    <p:extLst>
      <p:ext uri="{BB962C8B-B14F-4D97-AF65-F5344CB8AC3E}">
        <p14:creationId xmlns:p14="http://schemas.microsoft.com/office/powerpoint/2010/main" val="9414662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20719</TotalTime>
  <Words>5799</Words>
  <Application>Microsoft Office PowerPoint</Application>
  <PresentationFormat>와이드스크린</PresentationFormat>
  <Paragraphs>1303</Paragraphs>
  <Slides>53</Slides>
  <Notes>8</Notes>
  <HiddenSlides>17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53</vt:i4>
      </vt:variant>
    </vt:vector>
  </HeadingPairs>
  <TitlesOfParts>
    <vt:vector size="66" baseType="lpstr">
      <vt:lpstr>HY견고딕</vt:lpstr>
      <vt:lpstr>KoPub돋움체 Bold</vt:lpstr>
      <vt:lpstr>KoPub돋움체 Light</vt:lpstr>
      <vt:lpstr>KoPub돋움체 Medium</vt:lpstr>
      <vt:lpstr>맑은 고딕</vt:lpstr>
      <vt:lpstr>Arial</vt:lpstr>
      <vt:lpstr>Calibri</vt:lpstr>
      <vt:lpstr>Calibri Light</vt:lpstr>
      <vt:lpstr>Courier New</vt:lpstr>
      <vt:lpstr>Symbol</vt:lpstr>
      <vt:lpstr>Wingdings</vt:lpstr>
      <vt:lpstr>1_Office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IDT-D-0001</dc:creator>
  <cp:lastModifiedBy>IIS-IDT-N-0063-U</cp:lastModifiedBy>
  <cp:revision>943</cp:revision>
  <cp:lastPrinted>2025-06-13T01:30:37Z</cp:lastPrinted>
  <dcterms:created xsi:type="dcterms:W3CDTF">2024-06-13T01:42:00Z</dcterms:created>
  <dcterms:modified xsi:type="dcterms:W3CDTF">2026-04-01T23:08:12Z</dcterms:modified>
</cp:coreProperties>
</file>